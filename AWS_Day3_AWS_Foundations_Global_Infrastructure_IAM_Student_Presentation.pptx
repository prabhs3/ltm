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aws.amazon.com/global-infrastructure/latest/regions/aws-regions-availability-zones.html" TargetMode="External"/><Relationship Id="rId3" Type="http://schemas.openxmlformats.org/officeDocument/2006/relationships/hyperlink" Target="https://docs.aws.amazon.com/global-infrastructure/latest/regions/aws-regions.html" TargetMode="External"/><Relationship Id="rId4" Type="http://schemas.openxmlformats.org/officeDocument/2006/relationships/hyperlink" Target="https://docs.aws.amazon.com/AWSEC2/latest/UserGuide/ec2-security.html" TargetMode="External"/><Relationship Id="rId5" Type="http://schemas.openxmlformats.org/officeDocument/2006/relationships/hyperlink" Target="https://docs.aws.amazon.com/AmazonRDS/latest/UserGuide/" TargetMode="External"/><Relationship Id="rId6" Type="http://schemas.openxmlformats.org/officeDocument/2006/relationships/hyperlink" Target="https://docs.aws.amazon.com/IAM/latest/UserGuide/best-practices.html" TargetMode="External"/><Relationship Id="rId7" Type="http://schemas.openxmlformats.org/officeDocument/2006/relationships/hyperlink" Target="https://docs.aws.amazon.com/IAM/latest/UserGuide/reference_policies_evaluation-logic.html" TargetMode="External"/><Relationship Id="rId8" Type="http://schemas.openxmlformats.org/officeDocument/2006/relationships/hyperlink" Target="https://docs.aws.amazon.com/organizations/latest/userguide/orgs_manage_policies_scps.html" TargetMode="External"/><Relationship Id="rId9" Type="http://schemas.openxmlformats.org/officeDocument/2006/relationships/hyperlink" Target="https://docs.aws.amazon.com/IAM/latest/UserGuide/access_policies_testing-policies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reliability/availability-zones-overview" TargetMode="External"/><Relationship Id="rId3" Type="http://schemas.openxmlformats.org/officeDocument/2006/relationships/hyperlink" Target="https://learn.microsoft.com/en-us/azure/virtual-machines/availability-set-overview" TargetMode="External"/><Relationship Id="rId4" Type="http://schemas.openxmlformats.org/officeDocument/2006/relationships/hyperlink" Target="https://learn.microsoft.com/en-us/azure/cloud-adoption-framework/ready/azure-setup-guide/organize-resources" TargetMode="External"/><Relationship Id="rId5" Type="http://schemas.openxmlformats.org/officeDocument/2006/relationships/hyperlink" Target="https://kodekloud.com/learning-path/aws" TargetMode="External"/><Relationship Id="rId6" Type="http://schemas.openxmlformats.org/officeDocument/2006/relationships/hyperlink" Target="https://kodekloud.com/courses/amazon-elastic-compute-cloud-ec2/" TargetMode="External"/><Relationship Id="rId7" Type="http://schemas.openxmlformats.org/officeDocument/2006/relationships/hyperlink" Target="https://kodekloud.com/courses/aws-iam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822960"/>
            <a:ext cx="2103120" cy="2103120"/>
          </a:xfrm>
          <a:prstGeom prst="ellipse">
            <a:avLst/>
          </a:prstGeom>
          <a:solidFill>
            <a:srgbClr val="202D44"/>
          </a:solidFill>
          <a:ln>
            <a:solidFill>
              <a:srgbClr val="2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920240"/>
            <a:ext cx="1645920" cy="1645920"/>
          </a:xfrm>
          <a:prstGeom prst="ellipse">
            <a:avLst/>
          </a:prstGeom>
          <a:solidFill>
            <a:srgbClr val="2D3F5B"/>
          </a:solidFill>
          <a:ln>
            <a:solidFill>
              <a:srgbClr val="2D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3200400"/>
            <a:ext cx="1920240" cy="1920240"/>
          </a:xfrm>
          <a:prstGeom prst="ellipse">
            <a:avLst/>
          </a:prstGeom>
          <a:solidFill>
            <a:srgbClr val="26354D"/>
          </a:solidFill>
          <a:ln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2194560"/>
            <a:ext cx="1325880" cy="132588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1691640"/>
            <a:ext cx="1645920" cy="1645920"/>
          </a:xfrm>
          <a:prstGeom prst="ellipse">
            <a:avLst/>
          </a:prstGeom>
          <a:solidFill>
            <a:srgbClr val="FFB542"/>
          </a:solidFill>
          <a:ln>
            <a:solidFill>
              <a:srgbClr val="FFB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04120" y="2423160"/>
            <a:ext cx="1188720" cy="1188720"/>
          </a:xfrm>
          <a:prstGeom prst="ellipse">
            <a:avLst/>
          </a:prstGeom>
          <a:solidFill>
            <a:srgbClr val="FFCF73"/>
          </a:solidFill>
          <a:ln>
            <a:solidFill>
              <a:srgbClr val="FFC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900"/>
                </a:solidFill>
                <a:latin typeface="Aptos"/>
              </a:rPr>
              <a:t>CLOUD PLATFORM FUNDAMENTALS  •  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6995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AWS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70632"/>
            <a:ext cx="6720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DAE3F0"/>
                </a:solidFill>
                <a:latin typeface="Aptos"/>
              </a:rPr>
              <a:t>Service Models • Global Infrastructure • IAM Least Privilege • Policy Precedence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069080"/>
            <a:ext cx="5623560" cy="3200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370832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ptos"/>
              </a:rPr>
              <a:t>A beginner-friendly bridge from Azure concepts to AWS operations and the Day 3 hands-on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4476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  <a:latin typeface="Aptos"/>
              </a:rPr>
              <a:t>Theory foundations for the four Day 3 incident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By the end of the theory block, you should be able to explain the concepts behind each Day 3 lab task.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" y="1609344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099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1536192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IaaS vs PaaS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86537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Use the guest-OS access test to compare EC2 and 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1609344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099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1536192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Shared 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186537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Identify which tasks belong to AWS and which remain yours.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78608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2770632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871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2697480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Region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3026664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Use the Region selector and resource filters to find “missing” resources.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78608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9944" y="2770632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2871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4" y="2697480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Global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3026664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Explain Region and Availability Zone choices and compare them with Azure.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39896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9224" y="3931920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032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9304" y="385876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Least privilege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" y="4187952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Read a policy and reduce permissions to the actual job need.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39896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9944" y="3931920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4032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385876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IAM policy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4187952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Understand implicit deny, Allow, explicit Deny and policy boundaries.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901184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" y="5093208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" y="519379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9304" y="5020056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SCP precedence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9304" y="5349240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Explain how an organization guardrail can limit account permissions.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901184"/>
            <a:ext cx="54864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9944" y="5093208"/>
            <a:ext cx="502920" cy="502920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519379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0024" y="5020056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Lab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0024" y="5349240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D697B"/>
                </a:solidFill>
                <a:latin typeface="Aptos"/>
              </a:rPr>
              <a:t>Capture console/CLI proof instead of assuming a command succeeded.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How the theory connects to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Your practical tasks become easier when you understand what each setting controls and what evidence proves the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423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1490472"/>
            <a:ext cx="658368" cy="658368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6642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33172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SERVICE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EC2 vs RDS; responsibility boundaries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4952" y="2743200"/>
            <a:ext cx="338327" cy="0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4720" y="1828800"/>
            <a:ext cx="2423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3400" y="1490472"/>
            <a:ext cx="658368" cy="658368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642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33172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RESOURCE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614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Region → VPC → filters → resource 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25312" y="2743200"/>
            <a:ext cx="338328" cy="0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55080" y="1828800"/>
            <a:ext cx="2423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1490472"/>
            <a:ext cx="658368" cy="658368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6642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233172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614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Principal → policy → allowed actions/resources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05672" y="2743200"/>
            <a:ext cx="338328" cy="0"/>
          </a:xfrm>
          <a:prstGeom prst="line">
            <a:avLst/>
          </a:prstGeom>
          <a:ln w="254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40" y="1828800"/>
            <a:ext cx="2423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04119" y="1490472"/>
            <a:ext cx="658368" cy="658368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19" y="16642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33172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POLICY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7614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SCP / explicit Deny → final 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97680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389120"/>
            <a:ext cx="10405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TEACHING 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4663440"/>
            <a:ext cx="10405872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For every ticket: state the symptom → identify the scope → inspect evidence → form a hypothesis → change only what is needed → verify the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AZURE → AWS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You already know the cloud patterns — now learn AWS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operational question is usually the same even when the product name and configuration model differ.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2788920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17904"/>
            <a:ext cx="256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79" y="1417320"/>
            <a:ext cx="3977639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517904"/>
            <a:ext cx="3758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Azure (Day 1–2)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1417320"/>
            <a:ext cx="3977639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7" y="1517904"/>
            <a:ext cx="3758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AWS (Day 3–4)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828800"/>
            <a:ext cx="27889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938528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Virtual 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1828800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1938528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Azure Virtual Machines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828800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7" y="1938528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Amazon EC2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404872"/>
            <a:ext cx="2788920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514600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Managed relational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79" y="2404872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2514600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Azure SQL Database / Azure Database for 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19" y="2404872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7" y="2514600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Amazon 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980944"/>
            <a:ext cx="27889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090672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Network boundary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79" y="2980944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090672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VNet + NSG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19" y="2980944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0647" y="3090672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VPC + Security Group / Network ACL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557016"/>
            <a:ext cx="2788920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666744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Object storage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79" y="3557016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3666744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Azure Blob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19" y="3557016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0647" y="3666744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Amazon S3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133087"/>
            <a:ext cx="27889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242816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Identity permissions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4133087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4242816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Microsoft Entra ID + Azure RBAC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19" y="4133087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7" y="4242816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AWS IAM policies and roles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709160"/>
            <a:ext cx="2788920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818888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Organization-level guardrail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79" y="4709160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93008" y="4818888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Management groups / Azure Policy / deny assignments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19" y="4709160"/>
            <a:ext cx="3977639" cy="576072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70647" y="4818888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AWS Organizations + SCPs (different semantics)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5285232"/>
            <a:ext cx="27889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394960"/>
            <a:ext cx="25694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62F3F"/>
                </a:solidFill>
                <a:latin typeface="Aptos"/>
              </a:rPr>
              <a:t>Monitoring &amp; alerting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79" y="5285232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93008" y="5394960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Azure Monitor + Action Groups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60919" y="5285232"/>
            <a:ext cx="3977639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70647" y="5394960"/>
            <a:ext cx="37581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Amazon CloudWatch + SNS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925312"/>
            <a:ext cx="10789920" cy="39319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" y="596646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KEY MESSAGE — </a:t>
            </a:r>
            <a:r>
              <a:rPr sz="969">
                <a:solidFill>
                  <a:srgbClr val="262F3F"/>
                </a:solidFill>
                <a:latin typeface="Aptos"/>
              </a:rPr>
              <a:t>Transfer your troubleshooting method—not assumptions of a 1:1 service match.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Cloud computing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Cloud is an operating model: request resources on demand, configure them, observe them and pay according to the service/pricing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74519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63347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60" b="0" i="0">
                <a:solidFill>
                  <a:srgbClr val="5D697B"/>
                </a:solidFill>
                <a:latin typeface="Aptos"/>
              </a:rPr>
              <a:t>Choose a service, Region, size and configuration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4952" y="2670048"/>
            <a:ext cx="640080" cy="0"/>
          </a:xfrm>
          <a:prstGeom prst="line">
            <a:avLst/>
          </a:prstGeom>
          <a:ln w="29209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4760" y="1874519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PROVISION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63347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60" b="0" i="0">
                <a:solidFill>
                  <a:srgbClr val="5D697B"/>
                </a:solidFill>
                <a:latin typeface="Aptos"/>
              </a:rPr>
              <a:t>API / Console / CLI creates a resource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2670048"/>
            <a:ext cx="640080" cy="0"/>
          </a:xfrm>
          <a:prstGeom prst="line">
            <a:avLst/>
          </a:prstGeom>
          <a:ln w="29209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29400" y="1874519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63347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60" b="0" i="0">
                <a:solidFill>
                  <a:srgbClr val="5D697B"/>
                </a:solidFill>
                <a:latin typeface="Aptos"/>
              </a:rPr>
              <a:t>Secure, monitor, scale, back up and patch as required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14232" y="2670048"/>
            <a:ext cx="640080" cy="0"/>
          </a:xfrm>
          <a:prstGeom prst="line">
            <a:avLst/>
          </a:prstGeom>
          <a:ln w="29209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4040" y="1874519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148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263347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60" b="0" i="0">
                <a:solidFill>
                  <a:srgbClr val="5D697B"/>
                </a:solidFill>
                <a:latin typeface="Aptos"/>
              </a:rPr>
              <a:t>Track usage, cost, availability and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251960"/>
            <a:ext cx="3337560" cy="1024128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251960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370832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Elasticity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754880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Scale capacity up/down when demand changes.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251960"/>
            <a:ext cx="3337560" cy="1024128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34840" y="4251960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370832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Shared responsibility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754880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Provider manages some layers; customer configures others.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251960"/>
            <a:ext cx="3337560" cy="1024128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0" y="4251960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370832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Measured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754880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Tags, budgets and monitoring make usage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IaaS, PaaS and SaaS: who manages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 useful first test is whether you manage the guest operating system and installed runtime yourself.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164592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385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2033"/>
                </a:solidFill>
                <a:latin typeface="Aptos"/>
              </a:rPr>
              <a:t>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14600"/>
            <a:ext cx="305409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2F3F"/>
                </a:solidFill>
                <a:latin typeface="Aptos"/>
              </a:rPr>
              <a:t>You manage OS, patches, runtime and apps. Provider manages physical infrastructure and virtualization.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4114800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270248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72033"/>
                </a:solidFill>
                <a:latin typeface="Aptos"/>
              </a:rPr>
              <a:t>Amazon EC2 • Azure VM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002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600200"/>
            <a:ext cx="3520440" cy="164592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9385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2033"/>
                </a:solidFill>
                <a:latin typeface="Aptos"/>
              </a:rPr>
              <a:t>PaaS / managed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514600"/>
            <a:ext cx="305409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2F3F"/>
                </a:solidFill>
                <a:latin typeface="Aptos"/>
              </a:rPr>
              <a:t>Provider manages platform layers such as host OS and service patching. You manage data, access, schema and application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4114800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1456" y="4270248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72033"/>
                </a:solidFill>
                <a:latin typeface="Aptos"/>
              </a:rPr>
              <a:t>Amazon RDS • Azure SQL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6002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600200"/>
            <a:ext cx="3520440" cy="164592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19385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2033"/>
                </a:solidFill>
                <a:latin typeface="Aptos"/>
              </a:rPr>
              <a:t>SaaS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2514600"/>
            <a:ext cx="305409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2F3F"/>
                </a:solidFill>
                <a:latin typeface="Aptos"/>
              </a:rPr>
              <a:t>Provider operates the full application; you configure users, data, integrations and settings.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4114800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EBF0F7"/>
          </a:solidFill>
          <a:ln>
            <a:solidFill>
              <a:srgbClr val="EB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1936" y="4270248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72033"/>
                </a:solidFill>
                <a:latin typeface="Aptos"/>
              </a:rPr>
              <a:t>Microsoft 365 • hosted business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49240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390388"/>
            <a:ext cx="103601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REMEMBER — </a:t>
            </a:r>
            <a:r>
              <a:rPr sz="969">
                <a:solidFill>
                  <a:srgbClr val="262F3F"/>
                </a:solidFill>
                <a:latin typeface="Aptos"/>
              </a:rPr>
              <a:t>PaaS is a responsibility model, not simply “a service with a Portal.” AWS classifies RDS as a managed database service; the PaaS label is a useful teaching analogy.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AWS SERVICE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services you will see in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lab is intentionally small: use only the service required by the troubleshooting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691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FF9900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EC2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FF9900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Virtual machine; guest OS is yours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7276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57276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691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Managed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066543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0078D4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RDS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0078D4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Database endpoint without host shell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57276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57276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691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066543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008787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VPC / Subnet / SG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008787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Isolation, addressing and traffic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8444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58444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7033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78224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5B2D91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EBS / S3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5B2D91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Block disk for a VM; object storage for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8444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60" y="358444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7033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78224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C33737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IAM / Organizations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C33737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Identity policies and account guardrails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584448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3584448"/>
            <a:ext cx="68580" cy="1645920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7033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078224"/>
            <a:ext cx="320954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208B5B"/>
                </a:solidFill>
                <a:latin typeface="Aptos"/>
              </a:rPr>
              <a:t>• </a:t>
            </a:r>
            <a:r>
              <a:rPr sz="1200" b="1">
                <a:solidFill>
                  <a:srgbClr val="262F3F"/>
                </a:solidFill>
                <a:latin typeface="Aptos"/>
              </a:rPr>
              <a:t>Service</a:t>
            </a:r>
            <a:r>
              <a:rPr sz="1200">
                <a:solidFill>
                  <a:srgbClr val="262F3F"/>
                </a:solidFill>
                <a:latin typeface="Aptos"/>
              </a:rPr>
              <a:t>: CloudWatch</a:t>
            </a:r>
          </a:p>
          <a:p>
            <a:pPr>
              <a:spcAft>
                <a:spcPts val="400"/>
              </a:spcAft>
              <a:defRPr sz="1200">
                <a:solidFill>
                  <a:srgbClr val="262F3F"/>
                </a:solidFill>
                <a:latin typeface="Aptos"/>
              </a:defRPr>
            </a:pPr>
            <a:r>
              <a:rPr sz="1300" b="1">
                <a:solidFill>
                  <a:srgbClr val="208B5B"/>
                </a:solidFill>
                <a:latin typeface="Aptos"/>
              </a:rPr>
              <a:t>• </a:t>
            </a:r>
            <a:r>
              <a:rPr sz="1200">
                <a:solidFill>
                  <a:srgbClr val="262F3F"/>
                </a:solidFill>
                <a:latin typeface="Aptos"/>
              </a:rPr>
              <a:t>Metrics, alarms, logs and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global infrastructure: the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Choose a Region first; many resources are regional, and Availability Zones are isolated locations within that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728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7863840" cy="329184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47672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72033"/>
                </a:solidFill>
                <a:latin typeface="Aptos"/>
              </a:rPr>
              <a:t>AWS REGION  •  a separate geographic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606040"/>
            <a:ext cx="21488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8803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078D4"/>
                </a:solidFill>
                <a:latin typeface="Aptos"/>
              </a:rPr>
              <a:t>Availability Zone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4290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D697B"/>
                </a:solidFill>
                <a:latin typeface="Aptos"/>
              </a:rPr>
              <a:t>One or more separate data centres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606040"/>
            <a:ext cx="21488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28803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078D4"/>
                </a:solidFill>
                <a:latin typeface="Aptos"/>
              </a:rPr>
              <a:t>Availability Zone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290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D697B"/>
                </a:solidFill>
                <a:latin typeface="Aptos"/>
              </a:rPr>
              <a:t>Independent fault-isolation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06040"/>
            <a:ext cx="21488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8803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0078D4"/>
                </a:solidFill>
                <a:latin typeface="Aptos"/>
              </a:rPr>
              <a:t>Availability Zone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D697B"/>
                </a:solidFill>
                <a:latin typeface="Aptos"/>
              </a:rPr>
              <a:t>Another isolated 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3172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EDGE 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62F3F"/>
                </a:solidFill>
                <a:latin typeface="Aptos"/>
              </a:rPr>
              <a:t>Used by services such as CloudFront to serve content near users. Not the same thing as an AZ.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023360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17880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900"/>
                </a:solidFill>
                <a:latin typeface="Aptos"/>
              </a:rPr>
              <a:t>GLOBAL SERVICES*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70916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 i="0">
                <a:solidFill>
                  <a:srgbClr val="5D697B"/>
                </a:solidFill>
                <a:latin typeface="Aptos"/>
              </a:rPr>
              <a:t>Some services have global scope; always verify service-specific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How to choose an AWS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Region selector is an important first check when a resource appears to be missing.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65960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Locate resources near the users or dependent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8191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Service 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65960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Confirm the required service, feature and instance type exist there.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52928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2852928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971800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Compliance / residency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355848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Meet legal, policy and data-location constraints.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52928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852928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971800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355848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Compare service pricing, data transfer and regional differences.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42816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242816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361688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745736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Choose a multi-Region design only when the recovery objective requires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42816"/>
            <a:ext cx="52120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4242816"/>
            <a:ext cx="68580" cy="111556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361688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Sandbox 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745736"/>
            <a:ext cx="4901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Use the Region permitted by the lab account or training environment.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561320" cy="43891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847588"/>
            <a:ext cx="102687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LAB-SPECIFIC — </a:t>
            </a:r>
            <a:r>
              <a:rPr sz="969">
                <a:solidFill>
                  <a:srgbClr val="262F3F"/>
                </a:solidFill>
                <a:latin typeface="Aptos"/>
              </a:rPr>
              <a:t>The supplied Day 3 deployment uses us-east-1 (N. Virginia). If your sandbox permits only another Region, use its permitted Region and choose an available AMI / instance type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High availability: spread across Availability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An Availability Zone failure should not remove every copy of a critical workload.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212080" cy="342900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C33737"/>
                </a:solidFill>
                <a:latin typeface="Aptos"/>
              </a:rPr>
              <a:t>FRAGILE: everything in one AZ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423160"/>
            <a:ext cx="3749039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Availability Zone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54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Web + database + storage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43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33737"/>
                </a:solidFill>
                <a:latin typeface="Aptos"/>
              </a:rPr>
              <a:t>One AZ issue can affect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54480"/>
            <a:ext cx="5212080" cy="3429000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783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208B5B"/>
                </a:solidFill>
                <a:latin typeface="Aptos"/>
              </a:rPr>
              <a:t>MORE RESILIENT: multi-AZ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42316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E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697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ptos"/>
              </a:rPr>
              <a:t>Zone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108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D697B"/>
                </a:solidFill>
                <a:latin typeface="Aptos"/>
              </a:rPr>
              <a:t>Healthy app 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42316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AE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697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ptos"/>
              </a:rPr>
              <a:t>Zone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10896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D697B"/>
                </a:solidFill>
                <a:latin typeface="Aptos"/>
              </a:rPr>
              <a:t>Healthy app tier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3127248"/>
            <a:ext cx="457200" cy="0"/>
          </a:xfrm>
          <a:prstGeom prst="line">
            <a:avLst/>
          </a:prstGeom>
          <a:ln w="25400">
            <a:solidFill>
              <a:srgbClr val="20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95160" y="42062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208B5B"/>
                </a:solidFill>
                <a:latin typeface="Aptos"/>
              </a:rPr>
              <a:t>Load balance / failover across zones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03520"/>
            <a:ext cx="10561320" cy="6858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344668"/>
            <a:ext cx="102687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DO NOT CONFUSE THE TERMS — </a:t>
            </a:r>
            <a:r>
              <a:rPr sz="969">
                <a:solidFill>
                  <a:srgbClr val="262F3F"/>
                </a:solidFill>
                <a:latin typeface="Aptos"/>
              </a:rPr>
              <a:t>Multi-AZ improves availability within a Region. Disaster recovery across Regions is a separate design with data replication, recovery objectives and additional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AZURE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Availability Zones vs Azure Availability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concepts overlap in fault isolation, but they are not interchangeable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68580" cy="84124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10479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AWS Availability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20240"/>
            <a:ext cx="10479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 distinct isolated location inside a Region. Place replicas in different AZs to reduce correlated failure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8880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68880"/>
            <a:ext cx="68580" cy="84124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587752"/>
            <a:ext cx="10479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Azure Availability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971800"/>
            <a:ext cx="10479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 physically separate zone within a supported Azure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39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520439"/>
            <a:ext cx="68580" cy="84124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639311"/>
            <a:ext cx="10479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Azure Availability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023359"/>
            <a:ext cx="10479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 logical grouping that spreads VMs across fault domains and update domains within a datacenter/zone availability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68580" cy="84124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690872"/>
            <a:ext cx="10479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AWS closest operational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074920"/>
            <a:ext cx="10479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Place instances across AZs, often using an Auto Scaling Group and load balancer. AWS placement groups solve different placement goals; they are not a direct Availability Set clone.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42432"/>
            <a:ext cx="1056132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783580"/>
            <a:ext cx="102687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RULE OF THUMB — </a:t>
            </a:r>
            <a:r>
              <a:rPr sz="969">
                <a:solidFill>
                  <a:srgbClr val="262F3F"/>
                </a:solidFill>
                <a:latin typeface="Aptos"/>
              </a:rPr>
              <a:t>Compare the failure domain and service behavior, not just the feature name.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RESOURCE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structure: Organization → OU → Account →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An AWS account is the primary boundary for resource ownership, permissions and consolidated billing within an Organization.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89888"/>
            <a:ext cx="3246120" cy="566928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5448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AWS ORGANIZATION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3328" y="1965960"/>
            <a:ext cx="0" cy="338328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2331720"/>
            <a:ext cx="2697480" cy="530352"/>
          </a:xfrm>
          <a:prstGeom prst="roundRect">
            <a:avLst>
              <a:gd name="adj" fmla="val 12000"/>
            </a:avLst>
          </a:prstGeom>
          <a:solidFill>
            <a:srgbClr val="F1EBF9"/>
          </a:solidFill>
          <a:ln>
            <a:solidFill>
              <a:srgbClr val="F1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47802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72033"/>
                </a:solidFill>
                <a:latin typeface="Aptos"/>
              </a:rPr>
              <a:t>Organizational Unit (OU)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63240" y="2880360"/>
            <a:ext cx="2990088" cy="36576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53328" y="2880360"/>
            <a:ext cx="3044952" cy="36576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1560" y="3273552"/>
            <a:ext cx="3749039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39" y="3520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Sandbox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6908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Day 3 lab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8787"/>
                </a:solidFill>
                <a:latin typeface="Aptos"/>
              </a:rPr>
              <a:t>VPC • EC2 • RDS • S3 • IAM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273552"/>
            <a:ext cx="3749039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520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Production 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6908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B"/>
                </a:solidFill>
                <a:latin typeface="Aptos"/>
              </a:rPr>
              <a:t>Separate team / workload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262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8787"/>
                </a:solidFill>
                <a:latin typeface="Aptos"/>
              </a:rPr>
              <a:t>VPC • EC2 • RDS • S3 • IAM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49240"/>
            <a:ext cx="10561320" cy="59436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687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IMPORTANT DISTINCTION — </a:t>
            </a:r>
            <a:r>
              <a:rPr sz="969">
                <a:solidFill>
                  <a:srgbClr val="262F3F"/>
                </a:solidFill>
                <a:latin typeface="Aptos"/>
              </a:rPr>
              <a:t>The Organization root is not the same as the account root user. The account root user is a highly privileged sign-in identity; avoid using it for routine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AZURE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Azure hierarchy and AWS structure: practical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There is no exact one-to-one mapping. Use this matrix as a mental model, not as an architecture translation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210312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1883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508760"/>
            <a:ext cx="3749039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618488"/>
            <a:ext cx="35295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08760"/>
            <a:ext cx="507492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618488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29384"/>
            <a:ext cx="2103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020824"/>
            <a:ext cx="18836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Identity 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929384"/>
            <a:ext cx="3749039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020824"/>
            <a:ext cx="352958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Microsoft Entra 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29384"/>
            <a:ext cx="5074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020824"/>
            <a:ext cx="48554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IAM identities / federation; Organization is account governance, not an identity tenant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60904"/>
            <a:ext cx="2103120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752344"/>
            <a:ext cx="18836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Billing &amp; resource 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660904"/>
            <a:ext cx="3749039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2752344"/>
            <a:ext cx="352958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Azure subscription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60904"/>
            <a:ext cx="5074920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752344"/>
            <a:ext cx="48554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AWS account is the closest practical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392424"/>
            <a:ext cx="2103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483864"/>
            <a:ext cx="18836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Resource grouping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392424"/>
            <a:ext cx="3749039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3483864"/>
            <a:ext cx="352958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Resource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392424"/>
            <a:ext cx="5074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483864"/>
            <a:ext cx="48554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Tags and service stacks can organize resources; not equivalent to a resource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123944"/>
            <a:ext cx="2103120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215383"/>
            <a:ext cx="18836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Policy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123944"/>
            <a:ext cx="3749039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52928" y="4215383"/>
            <a:ext cx="352958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Azure RBAC scopes / Azure Policy / Deny assignments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123944"/>
            <a:ext cx="5074920" cy="731520"/>
          </a:xfrm>
          <a:prstGeom prst="rect">
            <a:avLst/>
          </a:prstGeom>
          <a:solidFill>
            <a:srgbClr val="F1F5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215383"/>
            <a:ext cx="48554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IAM identity/resource policies + SCPs + permissions boundaries; semantics differ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855464"/>
            <a:ext cx="2103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946904"/>
            <a:ext cx="18836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Geography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855464"/>
            <a:ext cx="3749039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8" y="4946904"/>
            <a:ext cx="352958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Azure Region / Availability Zone / Availability Set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55464"/>
            <a:ext cx="5074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946904"/>
            <a:ext cx="48554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AWS Region / Availability Zone / Auto Scaling across AZs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806440"/>
            <a:ext cx="10515600" cy="41148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5847588"/>
            <a:ext cx="10222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ARCHITECTURE CAUTION — </a:t>
            </a:r>
            <a:r>
              <a:rPr sz="969">
                <a:solidFill>
                  <a:srgbClr val="262F3F"/>
                </a:solidFill>
                <a:latin typeface="Aptos"/>
              </a:rPr>
              <a:t>Do not translate an Azure Resource Group directly into an AWS account. Accounts are much stronger isolation/billing boundaries.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Region selector: your first troubleshooting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If the Console appears empty, verify the Region before creating a replacement resource.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14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08760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Read the Region selector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508760"/>
            <a:ext cx="6949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Example: US East (N. Virginia) = us-east-1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32888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Set the intended 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32888"/>
            <a:ext cx="6949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Switch to the Region where the resource is expected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673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57016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Repeat the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557016"/>
            <a:ext cx="6949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Use name, tag, VPC ID and instance state filters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654296"/>
            <a:ext cx="502920" cy="50292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9145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81144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Confirm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581144"/>
            <a:ext cx="6949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Check account, permissions and service scope before declaring “missing”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87568"/>
            <a:ext cx="10378440" cy="50292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5728716"/>
            <a:ext cx="100858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0078D4"/>
                </a:solidFill>
                <a:latin typeface="Aptos"/>
              </a:rPr>
              <a:t>GLOBAL VS REGIONAL — </a:t>
            </a:r>
            <a:r>
              <a:rPr sz="969">
                <a:solidFill>
                  <a:srgbClr val="262F3F"/>
                </a:solidFill>
                <a:latin typeface="Aptos"/>
              </a:rPr>
              <a:t>IAM is generally a global service; EC2 instances, VPCs and RDS databases are Region-scoped. Check the documentation for every service rather than assuming.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RESPONSIBILITY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Shared Responsibility Model: security of vs security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AWS operates the cloud infrastructure; customers remain responsible for how they configure and use services.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5120640" cy="352044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0078D4"/>
                </a:solidFill>
                <a:latin typeface="Aptos"/>
              </a:rPr>
              <a:t>AWS: SECURITY OF THE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4389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F"/>
                </a:solidFill>
                <a:latin typeface="Aptos"/>
              </a:defRPr>
            </a:pPr>
            <a:r>
              <a:rPr sz="1500" b="1">
                <a:solidFill>
                  <a:srgbClr val="0078D4"/>
                </a:solidFill>
                <a:latin typeface="Aptos"/>
              </a:rPr>
              <a:t>• </a:t>
            </a:r>
            <a:r>
              <a:rPr sz="1400">
                <a:solidFill>
                  <a:srgbClr val="262F3F"/>
                </a:solidFill>
                <a:latin typeface="Aptos"/>
              </a:rPr>
              <a:t>Physical facilities and hardware</a:t>
            </a:r>
          </a:p>
          <a:p>
            <a:pPr>
              <a:spcAft>
                <a:spcPts val="1200"/>
              </a:spcAft>
              <a:defRPr sz="1400">
                <a:solidFill>
                  <a:srgbClr val="262F3F"/>
                </a:solidFill>
                <a:latin typeface="Aptos"/>
              </a:defRPr>
            </a:pPr>
            <a:r>
              <a:rPr sz="1500" b="1">
                <a:solidFill>
                  <a:srgbClr val="0078D4"/>
                </a:solidFill>
                <a:latin typeface="Aptos"/>
              </a:rPr>
              <a:t>• </a:t>
            </a:r>
            <a:r>
              <a:rPr sz="1400">
                <a:solidFill>
                  <a:srgbClr val="262F3F"/>
                </a:solidFill>
                <a:latin typeface="Aptos"/>
              </a:rPr>
              <a:t>Underlying networking and host infrastructure</a:t>
            </a:r>
          </a:p>
          <a:p>
            <a:pPr>
              <a:spcAft>
                <a:spcPts val="1200"/>
              </a:spcAft>
              <a:defRPr sz="1400">
                <a:solidFill>
                  <a:srgbClr val="262F3F"/>
                </a:solidFill>
                <a:latin typeface="Aptos"/>
              </a:defRPr>
            </a:pPr>
            <a:r>
              <a:rPr sz="1500" b="1">
                <a:solidFill>
                  <a:srgbClr val="0078D4"/>
                </a:solidFill>
                <a:latin typeface="Aptos"/>
              </a:rPr>
              <a:t>• </a:t>
            </a:r>
            <a:r>
              <a:rPr sz="1400">
                <a:solidFill>
                  <a:srgbClr val="262F3F"/>
                </a:solidFill>
                <a:latin typeface="Aptos"/>
              </a:rPr>
              <a:t>Virtualization layer and managed service platform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36192"/>
            <a:ext cx="5120640" cy="35204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9900"/>
                </a:solidFill>
                <a:latin typeface="Aptos"/>
              </a:rPr>
              <a:t>CUSTOMER: SECURITY IN THE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423160"/>
            <a:ext cx="4389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62F3F"/>
                </a:solidFill>
                <a:latin typeface="Aptos"/>
              </a:defRPr>
            </a:pPr>
            <a:r>
              <a:rPr sz="1450" b="1">
                <a:solidFill>
                  <a:srgbClr val="FF9900"/>
                </a:solidFill>
                <a:latin typeface="Aptos"/>
              </a:rPr>
              <a:t>• </a:t>
            </a:r>
            <a:r>
              <a:rPr sz="1350">
                <a:solidFill>
                  <a:srgbClr val="262F3F"/>
                </a:solidFill>
                <a:latin typeface="Aptos"/>
              </a:rPr>
              <a:t>Identity, permissions and MFA</a:t>
            </a:r>
          </a:p>
          <a:p>
            <a:pPr>
              <a:spcAft>
                <a:spcPts val="900"/>
              </a:spcAft>
              <a:defRPr sz="1350">
                <a:solidFill>
                  <a:srgbClr val="262F3F"/>
                </a:solidFill>
                <a:latin typeface="Aptos"/>
              </a:defRPr>
            </a:pPr>
            <a:r>
              <a:rPr sz="1450" b="1">
                <a:solidFill>
                  <a:srgbClr val="FF9900"/>
                </a:solidFill>
                <a:latin typeface="Aptos"/>
              </a:rPr>
              <a:t>• </a:t>
            </a:r>
            <a:r>
              <a:rPr sz="1350">
                <a:solidFill>
                  <a:srgbClr val="262F3F"/>
                </a:solidFill>
                <a:latin typeface="Aptos"/>
              </a:rPr>
              <a:t>Network configuration and exposure</a:t>
            </a:r>
          </a:p>
          <a:p>
            <a:pPr>
              <a:spcAft>
                <a:spcPts val="900"/>
              </a:spcAft>
              <a:defRPr sz="1350">
                <a:solidFill>
                  <a:srgbClr val="262F3F"/>
                </a:solidFill>
                <a:latin typeface="Aptos"/>
              </a:defRPr>
            </a:pPr>
            <a:r>
              <a:rPr sz="1450" b="1">
                <a:solidFill>
                  <a:srgbClr val="FF9900"/>
                </a:solidFill>
                <a:latin typeface="Aptos"/>
              </a:rPr>
              <a:t>• </a:t>
            </a:r>
            <a:r>
              <a:rPr sz="1350">
                <a:solidFill>
                  <a:srgbClr val="262F3F"/>
                </a:solidFill>
                <a:latin typeface="Aptos"/>
              </a:rPr>
              <a:t>Data classification, encryption choices and backups</a:t>
            </a:r>
          </a:p>
          <a:p>
            <a:pPr>
              <a:spcAft>
                <a:spcPts val="900"/>
              </a:spcAft>
              <a:defRPr sz="1350">
                <a:solidFill>
                  <a:srgbClr val="262F3F"/>
                </a:solidFill>
                <a:latin typeface="Aptos"/>
              </a:defRPr>
            </a:pPr>
            <a:r>
              <a:rPr sz="1450" b="1">
                <a:solidFill>
                  <a:srgbClr val="FF9900"/>
                </a:solidFill>
                <a:latin typeface="Aptos"/>
              </a:rPr>
              <a:t>• </a:t>
            </a:r>
            <a:r>
              <a:rPr sz="1350">
                <a:solidFill>
                  <a:srgbClr val="262F3F"/>
                </a:solidFill>
                <a:latin typeface="Aptos"/>
              </a:rPr>
              <a:t>Guest OS / applications for EC2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394960"/>
            <a:ext cx="10378440" cy="612648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5436108"/>
            <a:ext cx="1008583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EXAM / LAB INSIGHT — </a:t>
            </a:r>
            <a:r>
              <a:rPr sz="969">
                <a:solidFill>
                  <a:srgbClr val="262F3F"/>
                </a:solidFill>
                <a:latin typeface="Aptos"/>
              </a:rPr>
              <a:t>Your responsibilities change by service. Managed services reduce the amount you operate—but do not remove responsibility for access, data and secure configuration.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RESPONSIBILITY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EC2 vs RDS: same cloud, different operating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the service choice to predict which layers your team must patch, secure and troubleshoot.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2743200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18488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FFFFFF"/>
                </a:solidFill>
                <a:latin typeface="Aptos"/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3794760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618488"/>
            <a:ext cx="3575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FFFFFF"/>
                </a:solidFill>
                <a:latin typeface="Aptos"/>
              </a:rPr>
              <a:t>Database on EC2 (IaaS)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508760"/>
            <a:ext cx="4160520" cy="41148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1618488"/>
            <a:ext cx="39410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FFFFFF"/>
                </a:solidFill>
                <a:latin typeface="Aptos"/>
              </a:rPr>
              <a:t>Amazon RDS (managed DB)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2024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011680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Physical datacenter / 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920240"/>
            <a:ext cx="3794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011680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92024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011680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514600"/>
            <a:ext cx="274320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606040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Guest operating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514600"/>
            <a:ext cx="379476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606040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514600"/>
            <a:ext cx="416052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606040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AWS manages underlying host 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10896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200400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Database engine patching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108960"/>
            <a:ext cx="3794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8" y="3200400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 installs/maintains database on EC2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10896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3200400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AWS-managed process; customer schedules/configures options as offered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703320"/>
            <a:ext cx="274320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794760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DB schema, users and query tuning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703320"/>
            <a:ext cx="379476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3794760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03320"/>
            <a:ext cx="416052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488" y="3794760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297680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4389120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Security groups / network exposure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297680"/>
            <a:ext cx="3794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8728" y="4389120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429768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4389120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892040"/>
            <a:ext cx="274320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4983479"/>
            <a:ext cx="25237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Application data / access policy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29000" y="4892040"/>
            <a:ext cx="379476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38728" y="4983479"/>
            <a:ext cx="35753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4892040"/>
            <a:ext cx="4160520" cy="594360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33488" y="4983479"/>
            <a:ext cx="394106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Customer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742432"/>
            <a:ext cx="10607040" cy="475488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5783580"/>
            <a:ext cx="10314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0078D4"/>
                </a:solidFill>
                <a:latin typeface="Aptos"/>
              </a:rPr>
              <a:t>NUANCE — </a:t>
            </a:r>
            <a:r>
              <a:rPr sz="969">
                <a:solidFill>
                  <a:srgbClr val="262F3F"/>
                </a:solidFill>
                <a:latin typeface="Aptos"/>
              </a:rPr>
              <a:t>Responsibilities vary by engine and features. RDS Custom is a different product option when supported OS-level administration is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1 • SERVICE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AWS-INC-1001: is this IaaS or PaaS?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 design review incorrectly assumes the team must patch the OS of a managed PostgreSQL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68580" cy="196596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627631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3026664" cy="1380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Can the engineer open a shell on the underlying database host and patch its 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508760"/>
            <a:ext cx="68580" cy="196596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627631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What to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002536"/>
            <a:ext cx="302666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RDS Console details</a:t>
            </a:r>
          </a:p>
          <a:p>
            <a:pPr>
              <a:spcAft>
                <a:spcPts val="4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Endpoint and database port</a:t>
            </a:r>
          </a:p>
          <a:p>
            <a:pPr>
              <a:spcAft>
                <a:spcPts val="4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No EC2 key pair / SSH host path</a:t>
            </a:r>
          </a:p>
          <a:p>
            <a:pPr>
              <a:spcAft>
                <a:spcPts val="4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Service-specific responsibility 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508760"/>
            <a:ext cx="33375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1508760"/>
            <a:ext cx="68580" cy="1965960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627631"/>
            <a:ext cx="3026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011680"/>
            <a:ext cx="3026664" cy="1380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Standard RDS is a managed database service; clients connect to the database endpoint, not to its host 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10515600" cy="105156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160520"/>
            <a:ext cx="10222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GUEST-OS ACCESS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434840"/>
            <a:ext cx="10222992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262F3F"/>
                </a:solidFill>
                <a:latin typeface="Aptos"/>
              </a:rPr>
              <a:t>EC2: SSH/RDP to the guest OS and manage it.  |  RDS: connect with a SQL client to the database endpoint; underlying host shell access is not provided for standard 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Do not confuse “no SSH” with “no database access.” SQL connectivity is the product interface; host administration is abstracted.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1 • SERVICE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Amazon EC2: what does IaaS expose?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An EC2 instance gives you a virtual server. You choose its OS image and are responsible for the guest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08760"/>
            <a:ext cx="5715000" cy="56692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664207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Your application /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258568"/>
            <a:ext cx="5715000" cy="56692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414015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Guest operating system + patching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08376"/>
            <a:ext cx="5715000" cy="56692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163824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EC2 virtual instance configuration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58183"/>
            <a:ext cx="5715000" cy="56692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913631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AWS host, physical network, datacenter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6459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Aptos"/>
              </a:rPr>
              <a:t>CUSTOMER OPERATES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520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FF9900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Guest OS updates</a:t>
            </a:r>
          </a:p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FF9900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Installed packages and agents</a:t>
            </a:r>
          </a:p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FF9900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OS users / SSH keys</a:t>
            </a:r>
          </a:p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FF9900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Application runtime and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8862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8787"/>
                </a:solidFill>
                <a:latin typeface="Aptos"/>
              </a:rPr>
              <a:t>AWS OPERATES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279392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878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Physical infrastructure</a:t>
            </a:r>
          </a:p>
          <a:p>
            <a:pPr>
              <a:spcAft>
                <a:spcPts val="7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00878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Underlying host / virtualization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1 • SERVICE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Amazon RDS: a managed database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RDS manages the database host platform so the customer can focus on database usage, data and application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ptos"/>
              </a:rPr>
              <a:t>Application / SQL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D697B"/>
                </a:solidFill>
                <a:latin typeface="Aptos"/>
              </a:rPr>
              <a:t>TCP 5432 (PostgreSQL)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2697480"/>
            <a:ext cx="1005840" cy="0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86200" y="1691640"/>
            <a:ext cx="37033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72033"/>
                </a:solidFill>
                <a:latin typeface="Aptos"/>
              </a:rPr>
              <a:t>RDS database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5146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2F3F"/>
                </a:solidFill>
                <a:latin typeface="Aptos"/>
              </a:rPr>
              <a:t>Managed endpoint, engine and storage configuration; DB authentication and network access still need correct configuration.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2926080" cy="20574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65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9900"/>
                </a:solidFill>
                <a:latin typeface="Aptos"/>
              </a:rPr>
              <a:t>Not exposed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4688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F"/>
                </a:solidFill>
                <a:latin typeface="Aptos"/>
              </a:defRPr>
            </a:pPr>
            <a:r>
              <a:rPr sz="1250" b="1">
                <a:solidFill>
                  <a:srgbClr val="FF9900"/>
                </a:solidFill>
                <a:latin typeface="Aptos"/>
              </a:rPr>
              <a:t>• </a:t>
            </a:r>
            <a:r>
              <a:rPr sz="1150">
                <a:solidFill>
                  <a:srgbClr val="262F3F"/>
                </a:solidFill>
                <a:latin typeface="Aptos"/>
              </a:rPr>
              <a:t>Host SSH / RDP</a:t>
            </a:r>
          </a:p>
          <a:p>
            <a:pPr>
              <a:spcAft>
                <a:spcPts val="500"/>
              </a:spcAft>
              <a:defRPr sz="1150">
                <a:solidFill>
                  <a:srgbClr val="262F3F"/>
                </a:solidFill>
                <a:latin typeface="Aptos"/>
              </a:defRPr>
            </a:pPr>
            <a:r>
              <a:rPr sz="1250" b="1">
                <a:solidFill>
                  <a:srgbClr val="FF9900"/>
                </a:solidFill>
                <a:latin typeface="Aptos"/>
              </a:rPr>
              <a:t>• </a:t>
            </a:r>
            <a:r>
              <a:rPr sz="1150">
                <a:solidFill>
                  <a:srgbClr val="262F3F"/>
                </a:solidFill>
                <a:latin typeface="Aptos"/>
              </a:rPr>
              <a:t>Direct host OS administration</a:t>
            </a:r>
          </a:p>
          <a:p>
            <a:pPr>
              <a:spcAft>
                <a:spcPts val="500"/>
              </a:spcAft>
              <a:defRPr sz="1150">
                <a:solidFill>
                  <a:srgbClr val="262F3F"/>
                </a:solidFill>
                <a:latin typeface="Aptos"/>
              </a:defRPr>
            </a:pPr>
            <a:r>
              <a:rPr sz="1250" b="1">
                <a:solidFill>
                  <a:srgbClr val="FF9900"/>
                </a:solidFill>
                <a:latin typeface="Aptos"/>
              </a:rPr>
              <a:t>• </a:t>
            </a:r>
            <a:r>
              <a:rPr sz="1150">
                <a:solidFill>
                  <a:srgbClr val="262F3F"/>
                </a:solidFill>
                <a:latin typeface="Aptos"/>
              </a:rPr>
              <a:t>Customer host patch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97680"/>
            <a:ext cx="5074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297680"/>
            <a:ext cx="68580" cy="105156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416552"/>
            <a:ext cx="4764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Aptos"/>
              </a:rPr>
              <a:t>Customer still 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800600"/>
            <a:ext cx="4764024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262F3F"/>
                </a:solidFill>
                <a:latin typeface="Aptos"/>
              </a:rPr>
              <a:t>DB users, schema, data security, access controls, query tuning and application-side connectivity.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97680"/>
            <a:ext cx="5074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68580" cy="1051560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4416552"/>
            <a:ext cx="47640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Aptos"/>
              </a:rPr>
              <a:t>AWS manages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4800600"/>
            <a:ext cx="4764024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262F3F"/>
                </a:solidFill>
                <a:latin typeface="Aptos"/>
              </a:rPr>
              <a:t>Underlying RDS host infrastructure and managed database platform tasks as defined by the service.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1 • SERVICE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1: evidence that supports the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the console and CLI together. The output below is illustrative and will contain your own endpoint and status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760720" cy="155448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00200"/>
            <a:ext cx="54315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AWS CLI • READ-ONLY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19"/>
            <a:ext cx="54315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EBF2FA"/>
                </a:solidFill>
                <a:latin typeface="Consolas"/>
              </a:rPr>
              <a:t>aws rds describe-db-instances \
  --db-instance-identifier rds-prod-01 \
  --query 'DBInstances[0].[Engine,DBInstanceStatus,Endpoint.Port]' \
  --output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08760"/>
            <a:ext cx="45720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19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Aptos"/>
              </a:rPr>
              <a:t>Example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14884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2033"/>
                </a:solidFill>
                <a:latin typeface="Consolas"/>
              </a:rPr>
              <a:t>postgres   available   5432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4320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Values depend on the actual lab resource.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F3F"/>
                </a:solidFill>
                <a:latin typeface="Aptos"/>
              </a:defRPr>
            </a:pPr>
            <a:r>
              <a:rPr sz="1400" b="1">
                <a:solidFill>
                  <a:srgbClr val="FF9900"/>
                </a:solidFill>
                <a:latin typeface="Aptos"/>
              </a:rPr>
              <a:t>• </a:t>
            </a:r>
            <a:r>
              <a:rPr sz="1300" b="1">
                <a:solidFill>
                  <a:srgbClr val="262F3F"/>
                </a:solidFill>
                <a:latin typeface="Aptos"/>
              </a:rPr>
              <a:t>Console: </a:t>
            </a:r>
            <a:r>
              <a:rPr sz="1300">
                <a:solidFill>
                  <a:srgbClr val="262F3F"/>
                </a:solidFill>
                <a:latin typeface="Aptos"/>
              </a:rPr>
              <a:t>RDS → Databases → select instance → Connectivity &amp; security / Configuration.</a:t>
            </a:r>
          </a:p>
          <a:p>
            <a:pPr>
              <a:spcAft>
                <a:spcPts val="900"/>
              </a:spcAft>
              <a:defRPr sz="1300">
                <a:solidFill>
                  <a:srgbClr val="262F3F"/>
                </a:solidFill>
                <a:latin typeface="Aptos"/>
              </a:defRPr>
            </a:pPr>
            <a:r>
              <a:rPr sz="1400" b="1">
                <a:solidFill>
                  <a:srgbClr val="FF9900"/>
                </a:solidFill>
                <a:latin typeface="Aptos"/>
              </a:rPr>
              <a:t>• </a:t>
            </a:r>
            <a:r>
              <a:rPr sz="1300" b="1">
                <a:solidFill>
                  <a:srgbClr val="262F3F"/>
                </a:solidFill>
                <a:latin typeface="Aptos"/>
              </a:rPr>
              <a:t>Interpretation: </a:t>
            </a:r>
            <a:r>
              <a:rPr sz="1300">
                <a:solidFill>
                  <a:srgbClr val="262F3F"/>
                </a:solidFill>
                <a:latin typeface="Aptos"/>
              </a:rPr>
              <a:t>database endpoint and port are exposed; no underlying host shell path is offered for standard RDS.</a:t>
            </a:r>
          </a:p>
          <a:p>
            <a:pPr>
              <a:spcAft>
                <a:spcPts val="900"/>
              </a:spcAft>
              <a:defRPr sz="1300">
                <a:solidFill>
                  <a:srgbClr val="262F3F"/>
                </a:solidFill>
                <a:latin typeface="Aptos"/>
              </a:defRPr>
            </a:pPr>
            <a:r>
              <a:rPr sz="1400" b="1">
                <a:solidFill>
                  <a:srgbClr val="FF9900"/>
                </a:solidFill>
                <a:latin typeface="Aptos"/>
              </a:rPr>
              <a:t>• </a:t>
            </a:r>
            <a:r>
              <a:rPr sz="1300" b="1">
                <a:solidFill>
                  <a:srgbClr val="262F3F"/>
                </a:solidFill>
                <a:latin typeface="Aptos"/>
              </a:rPr>
              <a:t>Do not overclaim: </a:t>
            </a:r>
            <a:r>
              <a:rPr sz="1300">
                <a:solidFill>
                  <a:srgbClr val="262F3F"/>
                </a:solidFill>
                <a:latin typeface="Aptos"/>
              </a:rPr>
              <a:t>a single CLI engine string alone does not prove every responsibility; combine with service docs and console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74920"/>
            <a:ext cx="10469880" cy="64008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5116068"/>
            <a:ext cx="101772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VALIDATION NOTE — </a:t>
            </a:r>
            <a:r>
              <a:rPr sz="969">
                <a:solidFill>
                  <a:srgbClr val="262F3F"/>
                </a:solidFill>
                <a:latin typeface="Aptos"/>
              </a:rPr>
              <a:t>The supplied lab template creates RDS in its own VPC while the sample EC2 discovery instance is in a second VPC. A live database connection requires intentional network reachability and a matching security-group rule.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2 • RESOURCE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AWS-INC-1002: the “missing” EC2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Console shows no target in the expected view. Before launching a replacement, check scope and filters.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44752"/>
            <a:ext cx="1874519" cy="50292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910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545336"/>
            <a:ext cx="8001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Is the console set to the Region where the instance was created?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9424"/>
            <a:ext cx="1874519" cy="50292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957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50008"/>
            <a:ext cx="8001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Are you signed into the expected AWS account / role?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1874519" cy="502920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004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VPC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54679"/>
            <a:ext cx="8001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Is the instance in a different VPC than the one selected in your mental model?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58768"/>
            <a:ext cx="1874519" cy="502920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0507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State /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59352"/>
            <a:ext cx="8001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Are filters hiding a stopped or differently tagged instance?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874519" cy="502920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80974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764024"/>
            <a:ext cx="8001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Can your principal describe instances and VPCs?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23560"/>
            <a:ext cx="10515600" cy="53035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664708"/>
            <a:ext cx="1022299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CORE PRINCIPLE — </a:t>
            </a:r>
            <a:r>
              <a:rPr sz="969">
                <a:solidFill>
                  <a:srgbClr val="262F3F"/>
                </a:solidFill>
                <a:latin typeface="Aptos"/>
              </a:rPr>
              <a:t>Search for existing infrastructure before provisioning a replacement. Duplicate resources create duplicate cost and can produce conflicting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2 • RESOURCE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Resource-discovery workflow: follow the scope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Troubleshoot top-down. Do not jump straight to creating a new VM.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93852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481328"/>
            <a:ext cx="603504" cy="603504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6550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72033"/>
                </a:solidFill>
                <a:latin typeface="Aptos"/>
              </a:rPr>
              <a:t>Account /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60" b="0" i="0">
                <a:solidFill>
                  <a:srgbClr val="5D697B"/>
                </a:solidFill>
                <a:latin typeface="Aptos"/>
              </a:rPr>
              <a:t>aws sts get-caller-identity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88336" y="2926080"/>
            <a:ext cx="256032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0088" y="1828800"/>
            <a:ext cx="193852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48456" y="1481328"/>
            <a:ext cx="603504" cy="603504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6550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3042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72033"/>
                </a:solidFill>
                <a:latin typeface="Aptos"/>
              </a:rPr>
              <a:t>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60" b="0" i="0">
                <a:solidFill>
                  <a:srgbClr val="5D697B"/>
                </a:solidFill>
                <a:latin typeface="Aptos"/>
              </a:rPr>
              <a:t>Check Console selector or pass --region explicitly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46904" y="2926080"/>
            <a:ext cx="256032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48656" y="1828800"/>
            <a:ext cx="193852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1481328"/>
            <a:ext cx="603504" cy="603504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16550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3042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72033"/>
                </a:solidFill>
                <a:latin typeface="Aptos"/>
              </a:rPr>
              <a:t>VPC / subnet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60" b="0" i="0">
                <a:solidFill>
                  <a:srgbClr val="5D697B"/>
                </a:solidFill>
                <a:latin typeface="Aptos"/>
              </a:rPr>
              <a:t>Find VPC by tag, then search instances inside that VPC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05472" y="2926080"/>
            <a:ext cx="256032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07224" y="1828800"/>
            <a:ext cx="193852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65592" y="1481328"/>
            <a:ext cx="603504" cy="603504"/>
          </a:xfrm>
          <a:prstGeom prst="ellipse">
            <a:avLst/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16550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23042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72033"/>
                </a:solidFill>
                <a:latin typeface="Aptos"/>
              </a:rPr>
              <a:t>Filters /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60" b="0" i="0">
                <a:solidFill>
                  <a:srgbClr val="5D697B"/>
                </a:solidFill>
                <a:latin typeface="Aptos"/>
              </a:rPr>
              <a:t>Clear filters; include running, stopped and pending as appropriate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64040" y="2926080"/>
            <a:ext cx="256032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65792" y="1828800"/>
            <a:ext cx="193852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60" y="1481328"/>
            <a:ext cx="603504" cy="603504"/>
          </a:xfrm>
          <a:prstGeom prst="ellipse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6550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2304288"/>
            <a:ext cx="1664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172033"/>
                </a:solidFill>
                <a:latin typeface="Aptos"/>
              </a:rPr>
              <a:t>Permissions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60" b="0" i="0">
                <a:solidFill>
                  <a:srgbClr val="5D697B"/>
                </a:solidFill>
                <a:latin typeface="Aptos"/>
              </a:rPr>
              <a:t>Confirm describe permissions; access denied is not absence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754880"/>
            <a:ext cx="10469880" cy="75895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4796028"/>
            <a:ext cx="10177272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POWERSHELL-FRIENDLY SYNTAX — </a:t>
            </a:r>
            <a:r>
              <a:rPr sz="969">
                <a:solidFill>
                  <a:srgbClr val="262F3F"/>
                </a:solidFill>
                <a:latin typeface="Aptos"/>
              </a:rPr>
              <a:t>AWS CLI commands can be run from PowerShell or CloudShell. Use quotes carefully, and add --region us-east-1 to remove ambiguity.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2 • RESOURCE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2: find the VPC, then list its 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supplied lab blueprint creates a VPC named hidden-lab-vpc and tags the instance vm-prod-isolated-04.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760720" cy="196596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08760"/>
            <a:ext cx="54315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STEP A • LOCATE THE VPC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83080"/>
            <a:ext cx="543153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BF2FA"/>
                </a:solidFill>
                <a:latin typeface="Consolas"/>
              </a:rPr>
              <a:t>$TargetVPC = aws ec2 describe-vpcs `
  --region us-east-1 `
  --filters 'Name=tag:Name,Values=hidden-lab-vpc' `
  --query 'Vpcs[0].VpcId' --output text
$TargetVPC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4709160" cy="196596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1508760"/>
            <a:ext cx="4379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STEP B • SEARCH THE VPC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1783080"/>
            <a:ext cx="437997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EBF2FA"/>
                </a:solidFill>
                <a:latin typeface="Consolas"/>
              </a:rPr>
              <a:t>aws ec2 describe-instances `
  --region us-east-1 `
  --filters "Name=vpc-id,Values=$TargetVPC" `
  --query 'Reservations[].Instances[].Tags[?Key==`Name`].Value' `
  --output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10561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900"/>
                </a:solidFill>
                <a:latin typeface="Aptos"/>
              </a:rPr>
              <a:t>Illustrative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68496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Consolas"/>
              </a:rPr>
              <a:t>"vm-prod-isolated-04"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9875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5D697B"/>
                </a:solidFill>
                <a:latin typeface="Aptos"/>
              </a:rPr>
              <a:t>Use the actual VpcId and instance tags returned from your sandbox; IDs are not portable across accounts.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469880" cy="50292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5344668"/>
            <a:ext cx="101772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SOURCE-GUIDE DISTINCTION — </a:t>
            </a:r>
            <a:r>
              <a:rPr sz="969">
                <a:solidFill>
                  <a:srgbClr val="262F3F"/>
                </a:solidFill>
                <a:latin typeface="Aptos"/>
              </a:rPr>
              <a:t>The sample Terraform places hidden-lab-vpc and its EC2 instance in the same us-east-1 Region. That run demonstrates VPC-scope filtering, not a true cross-Region hunt.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IDENTITY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IAM: identities, policies and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IAM answers: who is making the request, what action is requested, and on which resource under which conditions?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0078D4"/>
                </a:solidFill>
                <a:latin typeface="Aptos"/>
              </a:rPr>
              <a:t>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70" b="0" i="0">
                <a:solidFill>
                  <a:srgbClr val="5D697B"/>
                </a:solidFill>
                <a:latin typeface="Aptos"/>
              </a:rPr>
              <a:t>User • role • federated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4952" y="2578608"/>
            <a:ext cx="630935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196596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2585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  <a:latin typeface="Aptos"/>
              </a:rPr>
              <a:t>Policy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65176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70" b="0" i="0">
                <a:solidFill>
                  <a:srgbClr val="5D697B"/>
                </a:solidFill>
                <a:latin typeface="Aptos"/>
              </a:rPr>
              <a:t>Actions • resources • conditions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2578608"/>
            <a:ext cx="621792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12280" y="196596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2585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208B5B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65176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D697B"/>
                </a:solidFill>
                <a:latin typeface="Aptos"/>
              </a:rPr>
              <a:t>Allow or Deny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96596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2585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65176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70" b="0" i="0">
                <a:solidFill>
                  <a:srgbClr val="D2DDED"/>
                </a:solidFill>
                <a:latin typeface="Aptos"/>
              </a:rPr>
              <a:t>API / Console / CLI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62288" y="2578608"/>
            <a:ext cx="237744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406908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069080"/>
            <a:ext cx="68580" cy="11430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187952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Aptos"/>
              </a:rPr>
              <a:t>IAM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572000"/>
            <a:ext cx="298094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Identity associated with credentials. Use modern federation/roles where possible.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06908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34840" y="4069080"/>
            <a:ext cx="68580" cy="11430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187952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Aptos"/>
              </a:rPr>
              <a:t>IAM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572000"/>
            <a:ext cx="298094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Assumed identity with temporary credentials, often used by workloads or federated users.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06908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2440" y="4069080"/>
            <a:ext cx="68580" cy="1143000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4187952"/>
            <a:ext cx="29809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Aptos"/>
              </a:rPr>
              <a:t>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572000"/>
            <a:ext cx="298094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JSON rules describing Effect, Action, Resource and optional Condition.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IDENTITY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Read an IAM policy like a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 policy is a structured rule—not just a list of service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333756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5340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EXAMPLE: ALLOW OBJECT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5340096" cy="289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BF2FA"/>
                </a:solidFill>
                <a:latin typeface="Consolas"/>
              </a:rPr>
              <a:t>{
  "Version": "2012-10-17",
  "Statement": [{
    "Effect": "Allow",
    "Action": "s3:GetObject",
    "Resource": "arn:aws:s3:::lab-reports/*"
  }]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0876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36776"/>
            <a:ext cx="1143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9900"/>
                </a:solidFill>
                <a:latin typeface="Aptos"/>
              </a:rPr>
              <a:t>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What happens: Allow or Deny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267712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395728"/>
            <a:ext cx="1143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9900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408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Which API action, e.g. s3:GetObject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026663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154679"/>
            <a:ext cx="1143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9900"/>
                </a:solidFill>
                <a:latin typeface="Aptos"/>
              </a:rPr>
              <a:t>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99815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Which ARN is covered by the 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785615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913631"/>
            <a:ext cx="1143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9900"/>
                </a:solidFill>
                <a:latin typeface="Aptos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58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Optional extra rule, e.g. source IP or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54456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672583"/>
            <a:ext cx="1143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1" i="0">
                <a:solidFill>
                  <a:srgbClr val="FF9900"/>
                </a:solidFill>
                <a:latin typeface="Aptos"/>
              </a:rPr>
              <a:t>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177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62F3F"/>
                </a:solidFill>
                <a:latin typeface="Aptos"/>
              </a:rPr>
              <a:t>Who is named in a resource-based policy or trust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66360"/>
            <a:ext cx="10378440" cy="68580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207508"/>
            <a:ext cx="1008583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LEAST PRIVILEGE REMINDER — </a:t>
            </a:r>
            <a:r>
              <a:rPr sz="969">
                <a:solidFill>
                  <a:srgbClr val="262F3F"/>
                </a:solidFill>
                <a:latin typeface="Aptos"/>
              </a:rPr>
              <a:t>Use a specific action and resource wherever supported. “*” can make a policy broader than expected; inspect it rather than assuming a friendly policy name makes it safe.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IDENTITY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Least privilege: design for the job, not the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Grant only the permissions needed for the documented task, at the narrowest useful resource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C33737"/>
                </a:solidFill>
                <a:latin typeface="Aptos"/>
              </a:rPr>
              <a:t>Too broad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2F3F"/>
                </a:solidFill>
                <a:latin typeface="Aptos"/>
              </a:rPr>
              <a:t>AdministratorAccess or broad * 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87952" y="2788920"/>
            <a:ext cx="246888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44568" y="173736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299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  <a:latin typeface="Aptos"/>
              </a:rPr>
              <a:t>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61518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2F3F"/>
                </a:solidFill>
                <a:latin typeface="Aptos"/>
              </a:rPr>
              <a:t>Only the needed service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2788920"/>
            <a:ext cx="246888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57616" y="173736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0299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08B5B"/>
                </a:solidFill>
                <a:latin typeface="Aptos"/>
              </a:rPr>
              <a:t>Best practical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2615184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2F3F"/>
                </a:solidFill>
                <a:latin typeface="Aptos"/>
              </a:rPr>
              <a:t>Required actions + specific resource ARNs + conditions where appropriate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A safe least-privilege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488289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78D4"/>
                </a:solidFill>
                <a:latin typeface="Aptos"/>
              </a:rPr>
              <a:t>Discover required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4846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488289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  <a:latin typeface="Aptos"/>
              </a:rPr>
              <a:t>Draft narrow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4376" y="4846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88289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8B5B"/>
                </a:solidFill>
                <a:latin typeface="Aptos"/>
              </a:rPr>
              <a:t>Test Allowed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2944" y="4846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488289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33737"/>
                </a:solidFill>
                <a:latin typeface="Aptos"/>
              </a:rPr>
              <a:t>Test prohibited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11512" y="4846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F1EBF9"/>
          </a:solidFill>
          <a:ln>
            <a:solidFill>
              <a:srgbClr val="F1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6376" y="488289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2D91"/>
                </a:solidFill>
                <a:latin typeface="Aptos"/>
              </a:rPr>
              <a:t>Review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77840"/>
            <a:ext cx="10378440" cy="45720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3" y="5618988"/>
            <a:ext cx="1008583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0078D4"/>
                </a:solidFill>
                <a:latin typeface="Aptos"/>
              </a:rPr>
              <a:t>BEST PRACTICE — </a:t>
            </a:r>
            <a:r>
              <a:rPr sz="969">
                <a:solidFill>
                  <a:srgbClr val="262F3F"/>
                </a:solidFill>
                <a:latin typeface="Aptos"/>
              </a:rPr>
              <a:t>Prefer temporary role credentials and review/retire unused permissions. Do not use root credentials for everyday work.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3 •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AWS-INC-1003: audit an over-permissioned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task is to confirm the current access and compare it with the minimum permissions required for the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166360" cy="214884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C33737"/>
                </a:solidFill>
                <a:latin typeface="Aptos"/>
              </a:rPr>
              <a:t>BEFORE: FIND THE EXCESS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04288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C3373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List attached managed policies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C3373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Check groups and inline policies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C3373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Inspect permissions boundary and effective access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C33737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Record scope and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66360" cy="2148840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208B5B"/>
                </a:solidFill>
                <a:latin typeface="Aptos"/>
              </a:rPr>
              <a:t>AFTER: VERIFY THE JOB STILL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04288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208B5B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Allow only required read actions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208B5B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Scope action to intended resource where supported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208B5B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Prove required action succeeds</a:t>
            </a:r>
          </a:p>
          <a:p>
            <a:pPr>
              <a:spcAft>
                <a:spcPts val="600"/>
              </a:spcAft>
              <a:defRPr sz="1250">
                <a:solidFill>
                  <a:srgbClr val="262F3F"/>
                </a:solidFill>
                <a:latin typeface="Aptos"/>
              </a:defRPr>
            </a:pPr>
            <a:r>
              <a:rPr sz="1350" b="1">
                <a:solidFill>
                  <a:srgbClr val="208B5B"/>
                </a:solidFill>
                <a:latin typeface="Aptos"/>
              </a:rPr>
              <a:t>• </a:t>
            </a:r>
            <a:r>
              <a:rPr sz="1250">
                <a:solidFill>
                  <a:srgbClr val="262F3F"/>
                </a:solidFill>
                <a:latin typeface="Aptos"/>
              </a:rPr>
              <a:t>Prove unrelated / destructive action is denied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10287000" cy="91440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51959"/>
            <a:ext cx="99578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READ-ONLY INSPECTION • EXAMPLE FROM LAB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526280"/>
            <a:ext cx="99578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BF2FA"/>
                </a:solidFill>
                <a:latin typeface="Consolas"/>
              </a:rPr>
              <a:t>aws iam list-attached-user-policies --user-name svc-nightops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A result of AttachedPolicies: [] means no managed policies are attached directly to that user; it does not by itself rule out group or inline policies.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3 •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Policy review: test positive and negative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 policy is not proven correct by reading its JSON. Evaluate the intended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749039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64207"/>
            <a:ext cx="35295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Test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554480"/>
            <a:ext cx="214884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64207"/>
            <a:ext cx="1929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399" y="1554480"/>
            <a:ext cx="475488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7" y="1664207"/>
            <a:ext cx="4535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975104"/>
            <a:ext cx="3749039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084832"/>
            <a:ext cx="352958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Read the required lab log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1975104"/>
            <a:ext cx="2148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84832"/>
            <a:ext cx="19293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08B5B"/>
                </a:solidFill>
                <a:latin typeface="Aptos"/>
              </a:rPr>
              <a:t>Allowed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399" y="1975104"/>
            <a:ext cx="47548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7" y="2084832"/>
            <a:ext cx="4535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Required work continues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51760"/>
            <a:ext cx="3749039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761488"/>
            <a:ext cx="352958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Describe the designated instance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2651760"/>
            <a:ext cx="2148840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2761488"/>
            <a:ext cx="19293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08B5B"/>
                </a:solidFill>
                <a:latin typeface="Aptos"/>
              </a:rPr>
              <a:t>Allowed if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399" y="2651760"/>
            <a:ext cx="4754880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7" y="2761488"/>
            <a:ext cx="4535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Visibility for the 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28416"/>
            <a:ext cx="3749039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438144"/>
            <a:ext cx="352958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Stop / terminate an instance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328416"/>
            <a:ext cx="2148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438144"/>
            <a:ext cx="19293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33737"/>
                </a:solidFill>
                <a:latin typeface="Aptos"/>
              </a:rPr>
              <a:t>Denied unless explicitly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399" y="3328416"/>
            <a:ext cx="47548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7" y="3438144"/>
            <a:ext cx="4535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Reduce operational blast radius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05072"/>
            <a:ext cx="3749039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114800"/>
            <a:ext cx="352958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Modify IAM / create credentials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4005072"/>
            <a:ext cx="2148840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4114800"/>
            <a:ext cx="19293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33737"/>
                </a:solidFill>
                <a:latin typeface="Aptos"/>
              </a:rPr>
              <a:t>Denied unless explicitly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399" y="4005072"/>
            <a:ext cx="4754880" cy="676656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9127" y="4114800"/>
            <a:ext cx="4535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Prevent privilege escalation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681728"/>
            <a:ext cx="3749039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791456"/>
            <a:ext cx="352958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Access another team’s resource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59" y="4681728"/>
            <a:ext cx="214884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0288" y="4791456"/>
            <a:ext cx="192938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33737"/>
                </a:solidFill>
                <a:latin typeface="Aptos"/>
              </a:rPr>
              <a:t>Denied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399" y="4681728"/>
            <a:ext cx="47548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9127" y="4791456"/>
            <a:ext cx="45354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62F3F"/>
                </a:solidFill>
                <a:latin typeface="Aptos"/>
              </a:rPr>
              <a:t>Enforce resource boundary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623560"/>
            <a:ext cx="10469880" cy="475488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5664708"/>
            <a:ext cx="101772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EVIDENCE TO CAPTURE — </a:t>
            </a:r>
            <a:r>
              <a:rPr sz="969">
                <a:solidFill>
                  <a:srgbClr val="262F3F"/>
                </a:solidFill>
                <a:latin typeface="Aptos"/>
              </a:rPr>
              <a:t>Policy name and version, identity context, target resource ARN, simulator results for both success and denial cases.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LAB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Read the supplied lab blueprint critically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the lab manual as the exercise specification; verify that the deployed resources and policies actually implement the stated learning goal.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68580" cy="1417320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4946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Policy name vs 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20240"/>
            <a:ext cx="4946904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262F3F"/>
                </a:solidFill>
                <a:latin typeface="Aptos"/>
              </a:rPr>
              <a:t>The name NightOpsReadRestart suggests logs + restart. The sample policy actually shows ec2:Describe*, StartInstances and StopInstances, with Resource="*". It does not show log-read or RebootInstances.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68580" cy="141732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4946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Catalogue vs effective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20240"/>
            <a:ext cx="4946904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262F3F"/>
                </a:solidFill>
                <a:latin typeface="Aptos"/>
              </a:rPr>
              <a:t>A customer-managed policy may exist but not be attached. The supplied manual expects AttachedPolicies: []. Do not claim permission enforcement until identity attachments/effective tests are checked.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27248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27248"/>
            <a:ext cx="68580" cy="141732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246120"/>
            <a:ext cx="4946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VPC hunt vs Region hunt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30168"/>
            <a:ext cx="4946904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262F3F"/>
                </a:solidFill>
                <a:latin typeface="Aptos"/>
              </a:rPr>
              <a:t>The example blueprint places hidden-lab-vpc and the instance in us-east-1. It demonstrates VPC/filter discovery, not a cross-Region resource hunt by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27248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127248"/>
            <a:ext cx="68580" cy="1417320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246120"/>
            <a:ext cx="4946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Deployment hygiene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630168"/>
            <a:ext cx="4946904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262F3F"/>
                </a:solidFill>
                <a:latin typeface="Aptos"/>
              </a:rPr>
              <a:t>Use a unique bucket name, avoid hard-coded passwords, verify AMI availability in the selected Region, and never expose SSH to everyone. These examples should be adapted, not copied blindly.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10424160" cy="676656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116068"/>
            <a:ext cx="101315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INSTRUCTOR GUIDANCE — </a:t>
            </a:r>
            <a:r>
              <a:rPr sz="969">
                <a:solidFill>
                  <a:srgbClr val="262F3F"/>
                </a:solidFill>
                <a:latin typeface="Aptos"/>
              </a:rPr>
              <a:t>If the sandbox blocks IAM writes, label the exercise as a read-only code/catalogue audit and simulator demonstration. That is safer than claiming a live role change was applied.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4 • POLICY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AWS Organizations and Service Control Policies (SCPs)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An SCP sets a permission guardrail for member accounts; it does not grant the account’s users or roles permission by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Organization / Root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48840" y="2194560"/>
            <a:ext cx="0" cy="32004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542032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1EBF9"/>
          </a:solidFill>
          <a:ln>
            <a:solidFill>
              <a:srgbClr val="F1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Organizational Unit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3191256"/>
            <a:ext cx="0" cy="329184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547872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49039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78D4"/>
                </a:solidFill>
                <a:latin typeface="Aptos"/>
              </a:rPr>
              <a:t>Member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840480"/>
            <a:ext cx="64008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97680" y="3310128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204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72033"/>
                </a:solidFill>
                <a:latin typeface="Aptos"/>
              </a:rPr>
              <a:t>IAM identity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8862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0" i="0">
                <a:solidFill>
                  <a:srgbClr val="208B5B"/>
                </a:solidFill>
                <a:latin typeface="Aptos"/>
              </a:rPr>
              <a:t>Can grant permitted actions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3840480"/>
            <a:ext cx="54864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310128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3520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33737"/>
                </a:solidFill>
                <a:latin typeface="Aptos"/>
              </a:rPr>
              <a:t>SCP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8862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0" i="0">
                <a:solidFill>
                  <a:srgbClr val="262F3F"/>
                </a:solidFill>
                <a:latin typeface="Aptos"/>
              </a:rPr>
              <a:t>Can restrict maximum 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983480"/>
            <a:ext cx="10469880" cy="749808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024628"/>
            <a:ext cx="1017727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C33737"/>
                </a:solidFill>
                <a:latin typeface="Aptos"/>
              </a:rPr>
              <a:t>SCOPE AND PREREQUISITES — </a:t>
            </a:r>
            <a:r>
              <a:rPr sz="969">
                <a:solidFill>
                  <a:srgbClr val="262F3F"/>
                </a:solidFill>
                <a:latin typeface="Aptos"/>
              </a:rPr>
              <a:t>SCPs require AWS Organizations and apply to member accounts, not the management account. Use only an isolated test OU/account; never attach a deny policy to a production hierarchy for a training demo.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4 • POLICY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Policy precedence: an explicit Deny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If an applicable explicit Deny is found in any relevant policy, an Allow in another policy cannot override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31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490472"/>
            <a:ext cx="502920" cy="502920"/>
          </a:xfrm>
          <a:prstGeom prst="ellipse">
            <a:avLst/>
          </a:prstGeom>
          <a:solidFill>
            <a:srgbClr val="5D697B"/>
          </a:solidFill>
          <a:ln>
            <a:solidFill>
              <a:srgbClr val="5D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173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435608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No matching Allow → Implicit Deny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5568" y="2011680"/>
            <a:ext cx="0" cy="320040"/>
          </a:xfrm>
          <a:prstGeom prst="line">
            <a:avLst/>
          </a:prstGeom>
          <a:ln w="2032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8680" y="2478024"/>
            <a:ext cx="502920" cy="502920"/>
          </a:xfrm>
          <a:prstGeom prst="ellipse">
            <a:avLst/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1518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0487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IAM identity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2F3F"/>
                </a:solidFill>
                <a:latin typeface="Aptos"/>
              </a:rPr>
              <a:t>Allow s3:GetObject on lab bucket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15568" y="2999232"/>
            <a:ext cx="0" cy="320040"/>
          </a:xfrm>
          <a:prstGeom prst="line">
            <a:avLst/>
          </a:prstGeom>
          <a:ln w="2032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68680" y="3465576"/>
            <a:ext cx="502920" cy="502920"/>
          </a:xfrm>
          <a:prstGeom prst="ellipse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0273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924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SCP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10712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3737"/>
                </a:solidFill>
                <a:latin typeface="Aptos"/>
              </a:rPr>
              <a:t>Explicit Deny s3:GetObject on lab bucket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5568" y="3986784"/>
            <a:ext cx="0" cy="320040"/>
          </a:xfrm>
          <a:prstGeom prst="line">
            <a:avLst/>
          </a:prstGeom>
          <a:ln w="2032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8680" y="4453128"/>
            <a:ext cx="502920" cy="502920"/>
          </a:xfrm>
          <a:prstGeom prst="ellipse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9028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3799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Final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98264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33737"/>
                </a:solidFill>
                <a:latin typeface="Aptos"/>
              </a:rPr>
              <a:t>DENY — explicit Deny takes precedence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440680"/>
            <a:ext cx="10378440" cy="50292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5481828"/>
            <a:ext cx="100858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REMEMBER — </a:t>
            </a:r>
            <a:r>
              <a:rPr sz="969">
                <a:solidFill>
                  <a:srgbClr val="262F3F"/>
                </a:solidFill>
                <a:latin typeface="Aptos"/>
              </a:rPr>
              <a:t>SCPs restrict the maximum permissions available to member accounts. They do not grant s3:GetObject; an IAM/resource policy must still allow the operation.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AZURE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Azure RBAC / Deny assignments vs AWS IAM / SCPs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Similar purpose does not mean identical mechanics or scopes.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233172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91056"/>
            <a:ext cx="21122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79" y="1481328"/>
            <a:ext cx="429768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591056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Azure (already covered)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481328"/>
            <a:ext cx="475488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1591056"/>
            <a:ext cx="4535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AWS (today)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01952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993392"/>
            <a:ext cx="21122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Main permission unit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79" y="1901952"/>
            <a:ext cx="4297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1993392"/>
            <a:ext cx="4078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Role assignment: principal + role +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901952"/>
            <a:ext cx="4754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993392"/>
            <a:ext cx="4535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Identity/resource policy: Effect + Action + Resource + Condition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688336"/>
            <a:ext cx="233172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79776"/>
            <a:ext cx="21122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Org / account guardrail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79" y="2688336"/>
            <a:ext cx="429768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779776"/>
            <a:ext cx="4078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Management groups, Azure Policy and platform-managed deny assignments (service-specific)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688336"/>
            <a:ext cx="475488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779776"/>
            <a:ext cx="4535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AWS Organizations SCPs set max permissions for member accounts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474720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566160"/>
            <a:ext cx="21122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Explicit Deny behavior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79" y="3474720"/>
            <a:ext cx="4297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3566160"/>
            <a:ext cx="4078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Azure deny assignment can block specified actions at applicable scope; created/managed by Azure services in many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474720"/>
            <a:ext cx="4754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3566160"/>
            <a:ext cx="4535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Applicable IAM explicit Deny overrides an Allow; SCP Deny limits member-account permissions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61104"/>
            <a:ext cx="233172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352544"/>
            <a:ext cx="21122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What grants access?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79" y="4261104"/>
            <a:ext cx="429768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4352544"/>
            <a:ext cx="4078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Azure RBAC role assignment / data-plane role where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261104"/>
            <a:ext cx="475488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488" y="4352544"/>
            <a:ext cx="4535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IAM/resource policy must grant access, within applicable boundaries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047488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138927"/>
            <a:ext cx="21122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1" i="0">
                <a:solidFill>
                  <a:srgbClr val="262F3F"/>
                </a:solidFill>
                <a:latin typeface="Aptos"/>
              </a:rPr>
              <a:t>Lab takeaway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79" y="5047488"/>
            <a:ext cx="4297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5138927"/>
            <a:ext cx="40782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Use Check Access; distinguish resource plane from data plane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047488"/>
            <a:ext cx="4754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5138927"/>
            <a:ext cx="4535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262F3F"/>
                </a:solidFill>
                <a:latin typeface="Aptos"/>
              </a:rPr>
              <a:t>Use Policy Simulator; distinguish IAM identity Allow from SCP restriction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879592"/>
            <a:ext cx="10607040" cy="365760"/>
          </a:xfrm>
          <a:prstGeom prst="roundRect">
            <a:avLst>
              <a:gd name="adj" fmla="val 12000"/>
            </a:avLst>
          </a:prstGeom>
          <a:solidFill>
            <a:srgbClr val="F1EBF9"/>
          </a:solidFill>
          <a:ln>
            <a:solidFill>
              <a:srgbClr val="F1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" y="5920740"/>
            <a:ext cx="103144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5B2D91"/>
                </a:solidFill>
                <a:latin typeface="Aptos"/>
              </a:rPr>
              <a:t>DO NOT MAP 1:1 — </a:t>
            </a:r>
            <a:r>
              <a:rPr sz="969">
                <a:solidFill>
                  <a:srgbClr val="262F3F"/>
                </a:solidFill>
                <a:latin typeface="Aptos"/>
              </a:rPr>
              <a:t>Azure deny assignment and AWS SCP are both constraints, but differ in who creates them, where they attach and which requests they govern.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4 • POLICY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Scenario AWS-INC-1004: use the IAM Policy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simulator lets you test access decisions without making a live S3 request or attaching the test policy.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45389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356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Choose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426464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Use svc-nightops if available, or Custom mode for a simulated identity.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31136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" y="2267712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2494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Test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40279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Without an Allow, s3:GetObject is implicitly denied.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44952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3081528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632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Add local Allow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54096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Simulate an identity policy allowing GetObject on the test bucket.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58768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3895344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77055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Include SCP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67911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Enable organization controls or supply SCP policy in supported mode.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72584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" y="4709160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6908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Compare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681728"/>
            <a:ext cx="74980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Allow → explicit Deny, demonstrating the guardrail effect.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623560"/>
            <a:ext cx="10424160" cy="50292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5664708"/>
            <a:ext cx="101315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CURRENT CONSOLE LOCATION — </a:t>
            </a:r>
            <a:r>
              <a:rPr sz="969">
                <a:solidFill>
                  <a:srgbClr val="262F3F"/>
                </a:solidFill>
                <a:latin typeface="Aptos"/>
              </a:rPr>
              <a:t>Use IAM Console → Policy simulator. AWS announced the simulator’s move into the IAM console in July 2026; older standalone URLs may redirect or change.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SCENARIO 4 • POLICY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What each simulator result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simulator evaluates the policies and inputs you include; it does not execute the real service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74320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64207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FFFFF"/>
                </a:solidFill>
                <a:latin typeface="Aptos"/>
              </a:rPr>
              <a:t>Policy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219456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64207"/>
            <a:ext cx="1975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554480"/>
            <a:ext cx="6263640" cy="420624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1664207"/>
            <a:ext cx="60441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975104"/>
            <a:ext cx="27432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084832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No Allow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975104"/>
            <a:ext cx="219456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084832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C33737"/>
                </a:solidFill>
                <a:latin typeface="Aptos"/>
              </a:rPr>
              <a:t>Implicit Deny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975104"/>
            <a:ext cx="6263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084832"/>
            <a:ext cx="6044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The default is deny unless applicable policies allow the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61488"/>
            <a:ext cx="274320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871216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Identity Allow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761488"/>
            <a:ext cx="219456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2871216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08B5B"/>
                </a:solidFill>
                <a:latin typeface="Aptos"/>
              </a:rPr>
              <a:t>Allowed*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761488"/>
            <a:ext cx="626364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2871216"/>
            <a:ext cx="6044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The local policy permits the action if no other applicable control blocks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47872"/>
            <a:ext cx="27432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6576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Identity Allow + SCP Deny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547872"/>
            <a:ext cx="219456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365760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C33737"/>
                </a:solidFill>
                <a:latin typeface="Aptos"/>
              </a:rPr>
              <a:t>Explicit Deny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547872"/>
            <a:ext cx="6263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8" y="3657600"/>
            <a:ext cx="6044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The organization guardrail blocks the action; Allow cannot override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34256"/>
            <a:ext cx="274320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43984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Simulator allows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334256"/>
            <a:ext cx="219456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4443984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262F3F"/>
                </a:solidFill>
                <a:latin typeface="Aptos"/>
              </a:rPr>
              <a:t>Still validate safely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334256"/>
            <a:ext cx="6263640" cy="786384"/>
          </a:xfrm>
          <a:prstGeom prst="rect">
            <a:avLst/>
          </a:prstGeom>
          <a:solidFill>
            <a:srgbClr val="F2F6F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4443984"/>
            <a:ext cx="6044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262F3F"/>
                </a:solidFill>
                <a:latin typeface="Aptos"/>
              </a:rPr>
              <a:t>Context and service behavior can differ; use a controlled live check when authorized.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40680"/>
            <a:ext cx="10378440" cy="53035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3" y="5481828"/>
            <a:ext cx="1008583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POLICY TRUTH — </a:t>
            </a:r>
            <a:r>
              <a:rPr sz="969">
                <a:solidFill>
                  <a:srgbClr val="262F3F"/>
                </a:solidFill>
                <a:latin typeface="Aptos"/>
              </a:rPr>
              <a:t>SCPs set maximum available permissions and do not grant access. The principal still needs an IAM or resource-based Allow that applies to the requested operation.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LAB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Four Day 3 incidents: repeatable investigation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For every scenario, write down the hypothesis before changing settings, then attach evidence to the ticket.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0992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80" b="1" i="0">
                <a:solidFill>
                  <a:srgbClr val="FF9900"/>
                </a:solidFill>
                <a:latin typeface="Aptos"/>
              </a:rPr>
              <a:t>AWS-INC-1001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4533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EC2 vs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27048"/>
            <a:ext cx="6355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10" b="0" i="0">
                <a:solidFill>
                  <a:srgbClr val="262F3F"/>
                </a:solidFill>
                <a:latin typeface="Aptos"/>
              </a:rPr>
              <a:t>Prove service boundary with console details, endpoint/port and AWS docs.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76148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80" b="1" i="0">
                <a:solidFill>
                  <a:srgbClr val="0078D4"/>
                </a:solidFill>
                <a:latin typeface="Aptos"/>
              </a:rPr>
              <a:t>AWS-INC-1002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Resource hunt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78608"/>
            <a:ext cx="6355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10" b="0" i="0">
                <a:solidFill>
                  <a:srgbClr val="262F3F"/>
                </a:solidFill>
                <a:latin typeface="Aptos"/>
              </a:rPr>
              <a:t>Verify account + Region + VPC filter + instance tags/state; avoid duplicate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79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81304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80" b="1" i="0">
                <a:solidFill>
                  <a:srgbClr val="208B5B"/>
                </a:solidFill>
                <a:latin typeface="Aptos"/>
              </a:rPr>
              <a:t>AWS-INC-1003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4845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Least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630168"/>
            <a:ext cx="6355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10" b="0" i="0">
                <a:solidFill>
                  <a:srgbClr val="262F3F"/>
                </a:solidFill>
                <a:latin typeface="Aptos"/>
              </a:rPr>
              <a:t>Review attached/group/inline policies and boundaries; test required and prohibited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DEBEB"/>
          </a:solidFill>
          <a:ln>
            <a:solidFill>
              <a:srgbClr val="FD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864607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80" b="1" i="0">
                <a:solidFill>
                  <a:srgbClr val="C33737"/>
                </a:solidFill>
                <a:latin typeface="Aptos"/>
              </a:rPr>
              <a:t>AWS-INC-1004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70001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033"/>
                </a:solidFill>
                <a:latin typeface="Aptos"/>
              </a:rPr>
              <a:t>SCP precedence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681727"/>
            <a:ext cx="6355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10" b="0" i="0">
                <a:solidFill>
                  <a:srgbClr val="262F3F"/>
                </a:solidFill>
                <a:latin typeface="Aptos"/>
              </a:rPr>
              <a:t>Simulate baseline, local Allow and organization Deny; capture the final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60720"/>
            <a:ext cx="10469880" cy="41148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801868"/>
            <a:ext cx="10177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EVIDENCE STANDARD — </a:t>
            </a:r>
            <a:r>
              <a:rPr sz="969">
                <a:solidFill>
                  <a:srgbClr val="262F3F"/>
                </a:solidFill>
                <a:latin typeface="Aptos"/>
              </a:rPr>
              <a:t>Record timestamps, Region, resource IDs, command/output or Console screenshot, conclusion and any limitation.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Common misconceptions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These are frequent reasons cloud support teams make the wrong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C33737"/>
                </a:solidFill>
                <a:latin typeface="Aptos"/>
              </a:rPr>
              <a:t>“No EC2 rows means the VM is gone.”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62F3F"/>
                </a:solidFill>
                <a:latin typeface="Aptos"/>
              </a:rPr>
              <a:t>First verify Region, account, VPC and filters.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11680"/>
            <a:ext cx="10378440" cy="9144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C33737"/>
                </a:solidFill>
                <a:latin typeface="Aptos"/>
              </a:rPr>
              <a:t>“RDS is a VM, so I should SSH to it.”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62F3F"/>
                </a:solidFill>
                <a:latin typeface="Aptos"/>
              </a:rPr>
              <a:t>Use the database endpoint and SQL client; standard RDS does not expose host SSH.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10378440" cy="9144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C33737"/>
                </a:solidFill>
                <a:latin typeface="Aptos"/>
              </a:rPr>
              <a:t>“The policy exists, so the user has access.”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15468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62F3F"/>
                </a:solidFill>
                <a:latin typeface="Aptos"/>
              </a:rPr>
              <a:t>A policy may not be attached; effective access depends on all applicable policies.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40"/>
            <a:ext cx="10378440" cy="9144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5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C33737"/>
                </a:solidFill>
                <a:latin typeface="Aptos"/>
              </a:rPr>
              <a:t>“An SCP grants access.”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23359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62F3F"/>
                </a:solidFill>
                <a:latin typeface="Aptos"/>
              </a:rPr>
              <a:t>An SCP only constrains the maximum permissions available to member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617720"/>
            <a:ext cx="10378440" cy="9144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 i="0">
                <a:solidFill>
                  <a:srgbClr val="C33737"/>
                </a:solidFill>
                <a:latin typeface="Aptos"/>
              </a:rPr>
              <a:t>“The simulator says Allow, so production will work.”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89204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62F3F"/>
                </a:solidFill>
                <a:latin typeface="Aptos"/>
              </a:rPr>
              <a:t>Simulator is a test of included policies/inputs; validate authorized live behavior when appropriate.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LAB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Before the hands-on lab: preflight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a disposable training account. Some scenarios are intentionally read-only when sandbox permissions are restricted.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27631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11680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Confirm account, role and authorized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627631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011680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Check budget alerts; RDS and other provisioned resources can incur charges.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70632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770632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89503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Use synthetic data and disposable credentials; never attach broad SCPs to production.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70632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2770632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889503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Resource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273552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Verify Terraform state vs actual Console resources; check policy attachment, not just policy catalogue.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32504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032504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151376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535424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Capture console screenshot or CLI output before and after; record any blocked action as a constraint.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032504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032504"/>
            <a:ext cx="68580" cy="102412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151376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Cleanup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535424"/>
            <a:ext cx="4855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 i="0">
                <a:solidFill>
                  <a:srgbClr val="262F3F"/>
                </a:solidFill>
                <a:latin typeface="Aptos"/>
              </a:rPr>
              <a:t>Delete disposable resources/snapshots and review billing when exercises finish.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Knowledge check: pause and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Try answering before opening the answer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44752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481328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630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What single console fact most strongly separates standard RDS from EC2 for OS responsibility?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04288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340864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22576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A resource is missing from the EC2 Console—what are the first three scope checks?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63824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0400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8211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What is the difference between IAM Allow and an SCP?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6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05993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41648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Why does an explicit Deny win over a local Allow?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82896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5B2D91"/>
          </a:solidFill>
          <a:ln>
            <a:solidFill>
              <a:srgbClr val="5B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919472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01183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Why should the lab’s NightOps policy name not be treated as proof of its effective permissions?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Knowledge check: suggested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The reasoning matters more than memorizing a service name.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45389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26464"/>
            <a:ext cx="9784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62F3F"/>
                </a:solidFill>
                <a:latin typeface="Aptos"/>
              </a:rPr>
              <a:t>Standard RDS exposes a database endpoint / port but not a customer SSH session to its underlying host 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32257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9784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62F3F"/>
                </a:solidFill>
                <a:latin typeface="Aptos"/>
              </a:rPr>
              <a:t>Verify account/role, selected Region and VPC/filter scope; then state and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5468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19125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63824"/>
            <a:ext cx="9784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62F3F"/>
                </a:solidFill>
                <a:latin typeface="Aptos"/>
              </a:rPr>
              <a:t>IAM policies can grant actions. SCPs define maximum permissions for member accounts and do not grant access on their 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59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059935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32503"/>
            <a:ext cx="9784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62F3F"/>
                </a:solidFill>
                <a:latin typeface="Aptos"/>
              </a:rPr>
              <a:t>AWS evaluates applicable policies; any applicable explicit Deny overrides Allow.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208B5B"/>
          </a:solidFill>
          <a:ln>
            <a:solidFill>
              <a:srgbClr val="2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92861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01183"/>
            <a:ext cx="9784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62F3F"/>
                </a:solidFill>
                <a:latin typeface="Aptos"/>
              </a:rPr>
              <a:t>The sample policy’s actions do not fully match its name, and an unattached policy does not grant its permissions.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LAB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From theory to the Day 3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Suggested flow for an 8-hour day: 4 hours theory + 4 hours hands-on.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2331720" cy="521207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9344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78D4"/>
                </a:solidFill>
                <a:latin typeface="Aptos"/>
              </a:rPr>
              <a:t>Theory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45336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AWS/Azure comparison, service models and shared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59105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20" b="1" i="0">
                <a:solidFill>
                  <a:srgbClr val="172033"/>
                </a:solidFill>
                <a:latin typeface="Aptos"/>
              </a:rPr>
              <a:t>45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95144"/>
            <a:ext cx="2331720" cy="521207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78D4"/>
                </a:solidFill>
                <a:latin typeface="Aptos"/>
              </a:rPr>
              <a:t>Global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Region selector, Region/AZ concepts and resource scopes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42316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20" b="1" i="0">
                <a:solidFill>
                  <a:srgbClr val="172033"/>
                </a:solidFill>
                <a:latin typeface="Aptos"/>
              </a:rPr>
              <a:t>45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27248"/>
            <a:ext cx="2331720" cy="521207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78D4"/>
                </a:solidFill>
                <a:latin typeface="Aptos"/>
              </a:rPr>
              <a:t>IAM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09544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Policy anatomy, least privilege, policy-evaluation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25526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20" b="1" i="0">
                <a:solidFill>
                  <a:srgbClr val="172033"/>
                </a:solidFill>
                <a:latin typeface="Aptos"/>
              </a:rPr>
              <a:t>60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59352"/>
            <a:ext cx="2331720" cy="521207"/>
          </a:xfrm>
          <a:prstGeom prst="roundRect">
            <a:avLst>
              <a:gd name="adj" fmla="val 12000"/>
            </a:avLst>
          </a:prstGeom>
          <a:solidFill>
            <a:srgbClr val="E6F3FD"/>
          </a:solidFill>
          <a:ln>
            <a:solidFill>
              <a:srgbClr val="E6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05656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78D4"/>
                </a:solidFill>
                <a:latin typeface="Aptos"/>
              </a:rPr>
              <a:t>Scenario walkthroughs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41648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Read-only demo for all 4 incident tickets and evidence expectations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0873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20" b="1" i="0">
                <a:solidFill>
                  <a:srgbClr val="172033"/>
                </a:solidFill>
                <a:latin typeface="Aptos"/>
              </a:rPr>
              <a:t>60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91456"/>
            <a:ext cx="2331720" cy="521207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9900"/>
                </a:solidFill>
                <a:latin typeface="Aptos"/>
              </a:rPr>
              <a:t>Practical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2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62F3F"/>
                </a:solidFill>
                <a:latin typeface="Aptos"/>
              </a:rPr>
              <a:t>AWS-INC-1001 to 1004, evidence capture, review and 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49194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20" b="1" i="0">
                <a:solidFill>
                  <a:srgbClr val="172033"/>
                </a:solidFill>
                <a:latin typeface="Aptos"/>
              </a:rPr>
              <a:t>4 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806440"/>
            <a:ext cx="10469880" cy="402336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5847588"/>
            <a:ext cx="101772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HANDOFF — </a:t>
            </a:r>
            <a:r>
              <a:rPr sz="969">
                <a:solidFill>
                  <a:srgbClr val="262F3F"/>
                </a:solidFill>
                <a:latin typeface="Aptos"/>
              </a:rPr>
              <a:t>Keep the scenario code visible to students, but let them explain the fault and evidence before copying commands.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Reference shelf 1: official AWS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these sources as the technical authority when a lab example, Console label or account behavior differs.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89888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0876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2"/>
              </a:rPr>
              <a:t>AWS global infrastructure — Regions &amp; AZs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1837943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Region and Availability Zone definitions.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89888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150876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3"/>
              </a:rPr>
              <a:t>AWS 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3" y="1837943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Region selection and account Region availability.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560320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679191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4"/>
              </a:rPr>
              <a:t>Shared responsibility for EC2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008376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Customer / AWS responsibilities for EC2.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2560320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2679191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5"/>
              </a:rPr>
              <a:t>Amazon RDS 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3" y="3008376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RDS architecture, operations and managed responsibilities.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3075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84962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6"/>
              </a:rPr>
              <a:t>IAM best practices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17880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Least privilege, temporary credentials and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373075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384962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7"/>
              </a:rPr>
              <a:t>IAM policy evaluation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17880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Evaluation of identity, resource, boundary and SCP policy types.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901183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5020055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8"/>
              </a:rPr>
              <a:t>SCPs in AWS Organizations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5349240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SCP scope and constraints for member accounts.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79" y="4901183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5020055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1" i="0" u="sng">
                <a:solidFill>
                  <a:srgbClr val="0078D4"/>
                </a:solidFill>
                <a:latin typeface="Aptos"/>
                <a:hlinkClick r:id="rId9"/>
              </a:rPr>
              <a:t>Testing IAM policies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3" y="5349240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5D697B"/>
                </a:solidFill>
                <a:latin typeface="Aptos"/>
              </a:rPr>
              <a:t>Current Policy Simulator workflow and limitations.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9900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1206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72033"/>
                </a:solidFill>
                <a:latin typeface="Aptos"/>
              </a:rPr>
              <a:t>Reference shelf 2: Azure comparison &amp; KodeKloud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B"/>
                </a:solidFill>
                <a:latin typeface="Aptos"/>
              </a:rPr>
              <a:t>Use the Azure pages as a comparison from Day 1, then choose KodeKloud modules that reinforce the AWS concepts.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691639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2"/>
              </a:rPr>
              <a:t>Azure availability zones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039112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Azure Region / Availability Zone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554480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3" y="1691639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3"/>
              </a:rPr>
              <a:t>Azure Availability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3" y="2039112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Fault domains and update domains.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16352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95351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4"/>
              </a:rPr>
              <a:t>Azure resource 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300984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Tenant, subscription and resource group organization.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2816352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295351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5"/>
              </a:rPr>
              <a:t>KodeKloud AWS learning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3" y="3300984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Cloud Practitioner, IAM, EC2, S3 and AWS core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78224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421538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6"/>
              </a:rPr>
              <a:t>KodeKloud EC2 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562856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EC2 basics, VPC, security groups, instance lifecycle and ASG.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4078224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421538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 u="sng">
                <a:solidFill>
                  <a:srgbClr val="0078D4"/>
                </a:solidFill>
                <a:latin typeface="Aptos"/>
                <a:hlinkClick r:id="rId7"/>
              </a:rPr>
              <a:t>KodeKloud IAM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562856"/>
            <a:ext cx="48006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97B"/>
                </a:solidFill>
                <a:latin typeface="Aptos"/>
              </a:rPr>
              <a:t>IAM policies, roles, federation, Organizations and policy concepts.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69280"/>
            <a:ext cx="10469880" cy="493776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710428"/>
            <a:ext cx="101772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1">
                <a:solidFill>
                  <a:srgbClr val="FF9900"/>
                </a:solidFill>
                <a:latin typeface="Aptos"/>
              </a:rPr>
              <a:t>SUGGESTED KODEKLOUD SEQUENCE — </a:t>
            </a:r>
            <a:r>
              <a:rPr sz="969">
                <a:solidFill>
                  <a:srgbClr val="262F3F"/>
                </a:solidFill>
                <a:latin typeface="Aptos"/>
              </a:rPr>
              <a:t>AWS Cloud Practitioner → IAM → EC2 Essentials. Course access and lesson availability may depend on the learner’s subscription.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900"/>
                </a:solidFill>
                <a:latin typeface="Aptos"/>
              </a:rPr>
              <a:t>DAY 3 • AWS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Think in layers. Verify the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DAE3F0"/>
                </a:solidFill>
                <a:latin typeface="Aptos"/>
              </a:rPr>
              <a:t>EC2 vs RDS • Region vs VPC • IAM Allow vs SCP Deny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703320"/>
            <a:ext cx="5394960" cy="3200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069080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A strong cloud operator does not guess, blindly copy commands, or provision a duplicate. They inspect evidence, test the hypothesis and make the smallest safe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53328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  <a:latin typeface="Aptos"/>
              </a:rPr>
              <a:t>Student presentation • Source-linked • Beginner-friendly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537960"/>
            <a:ext cx="11311128" cy="10972"/>
          </a:xfrm>
          <a:prstGeom prst="rect">
            <a:avLst/>
          </a:prstGeom>
          <a:solidFill>
            <a:srgbClr val="D8E0EA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92824"/>
            <a:ext cx="6126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97B"/>
                </a:solidFill>
                <a:latin typeface="Aptos"/>
              </a:rPr>
              <a:t>DAY 3 • AWS FOUNDATIONS  |  STUDENT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5D697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Day 3: Foundations, Global Infrastructure and IAM Precedence</dc:title>
  <dc:subject>Student presentation bridging Azure Day 1 concepts to AWS Day 3 lab scenarios</dc:subject>
  <dc:creator>Cloud Training Materials</dc:creator>
  <cp:keywords>AWS, EC2, RDS, Regions, Availability Zones, IAM, SCP, least privilege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