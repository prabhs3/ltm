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Default Extension="png" ContentType="image/png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rgbClr val="758399"/>
                </a:solidFill>
                <a:latin typeface="Arial Black"/>
                <a:cs typeface="Arial Black"/>
              </a:defRPr>
            </a:lvl1pPr>
          </a:lstStyle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 spc="-100"/>
              <a:t>DAY</a:t>
            </a:r>
            <a:r>
              <a:rPr dirty="0" spc="-55"/>
              <a:t> </a:t>
            </a:r>
            <a:r>
              <a:rPr dirty="0"/>
              <a:t>1</a:t>
            </a:r>
            <a:r>
              <a:rPr dirty="0" spc="105"/>
              <a:t> </a:t>
            </a:r>
            <a:r>
              <a:rPr dirty="0"/>
              <a:t>•</a:t>
            </a:r>
            <a:r>
              <a:rPr dirty="0" spc="130"/>
              <a:t> </a:t>
            </a:r>
            <a:r>
              <a:rPr dirty="0" spc="-70"/>
              <a:t>CLOUD</a:t>
            </a:r>
            <a:r>
              <a:rPr dirty="0" spc="-55"/>
              <a:t> </a:t>
            </a:r>
            <a:r>
              <a:rPr dirty="0" spc="-65"/>
              <a:t>FOUNDATIONS</a:t>
            </a:r>
            <a:r>
              <a:rPr dirty="0" spc="-55"/>
              <a:t> </a:t>
            </a:r>
            <a:r>
              <a:rPr dirty="0" spc="-105"/>
              <a:t>&amp;</a:t>
            </a:r>
            <a:r>
              <a:rPr dirty="0" spc="-50"/>
              <a:t> </a:t>
            </a:r>
            <a:r>
              <a:rPr dirty="0" spc="-95"/>
              <a:t>AZURE</a:t>
            </a:r>
            <a:r>
              <a:rPr dirty="0" spc="-55"/>
              <a:t> </a:t>
            </a:r>
            <a:r>
              <a:rPr dirty="0" spc="-50"/>
              <a:t>BASICS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0077D3"/>
                </a:solidFill>
                <a:latin typeface="Arial Black"/>
                <a:cs typeface="Arial Black"/>
              </a:defRPr>
            </a:lvl1pPr>
          </a:lstStyle>
          <a:p>
            <a:pPr marL="63500">
              <a:lnSpc>
                <a:spcPct val="100000"/>
              </a:lnSpc>
              <a:spcBef>
                <a:spcPts val="160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rgbClr val="758399"/>
                </a:solidFill>
                <a:latin typeface="Arial Black"/>
                <a:cs typeface="Arial Black"/>
              </a:defRPr>
            </a:lvl1pPr>
          </a:lstStyle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 spc="-100"/>
              <a:t>DAY</a:t>
            </a:r>
            <a:r>
              <a:rPr dirty="0" spc="-55"/>
              <a:t> </a:t>
            </a:r>
            <a:r>
              <a:rPr dirty="0"/>
              <a:t>1</a:t>
            </a:r>
            <a:r>
              <a:rPr dirty="0" spc="105"/>
              <a:t> </a:t>
            </a:r>
            <a:r>
              <a:rPr dirty="0"/>
              <a:t>•</a:t>
            </a:r>
            <a:r>
              <a:rPr dirty="0" spc="130"/>
              <a:t> </a:t>
            </a:r>
            <a:r>
              <a:rPr dirty="0" spc="-70"/>
              <a:t>CLOUD</a:t>
            </a:r>
            <a:r>
              <a:rPr dirty="0" spc="-55"/>
              <a:t> </a:t>
            </a:r>
            <a:r>
              <a:rPr dirty="0" spc="-65"/>
              <a:t>FOUNDATIONS</a:t>
            </a:r>
            <a:r>
              <a:rPr dirty="0" spc="-55"/>
              <a:t> </a:t>
            </a:r>
            <a:r>
              <a:rPr dirty="0" spc="-105"/>
              <a:t>&amp;</a:t>
            </a:r>
            <a:r>
              <a:rPr dirty="0" spc="-50"/>
              <a:t> </a:t>
            </a:r>
            <a:r>
              <a:rPr dirty="0" spc="-95"/>
              <a:t>AZURE</a:t>
            </a:r>
            <a:r>
              <a:rPr dirty="0" spc="-55"/>
              <a:t> </a:t>
            </a:r>
            <a:r>
              <a:rPr dirty="0" spc="-50"/>
              <a:t>BASICS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0077D3"/>
                </a:solidFill>
                <a:latin typeface="Arial Black"/>
                <a:cs typeface="Arial Black"/>
              </a:defRPr>
            </a:lvl1pPr>
          </a:lstStyle>
          <a:p>
            <a:pPr marL="63500">
              <a:lnSpc>
                <a:spcPct val="100000"/>
              </a:lnSpc>
              <a:spcBef>
                <a:spcPts val="160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rgbClr val="758399"/>
                </a:solidFill>
                <a:latin typeface="Arial Black"/>
                <a:cs typeface="Arial Black"/>
              </a:defRPr>
            </a:lvl1pPr>
          </a:lstStyle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 spc="-100"/>
              <a:t>DAY</a:t>
            </a:r>
            <a:r>
              <a:rPr dirty="0" spc="-55"/>
              <a:t> </a:t>
            </a:r>
            <a:r>
              <a:rPr dirty="0"/>
              <a:t>1</a:t>
            </a:r>
            <a:r>
              <a:rPr dirty="0" spc="105"/>
              <a:t> </a:t>
            </a:r>
            <a:r>
              <a:rPr dirty="0"/>
              <a:t>•</a:t>
            </a:r>
            <a:r>
              <a:rPr dirty="0" spc="130"/>
              <a:t> </a:t>
            </a:r>
            <a:r>
              <a:rPr dirty="0" spc="-70"/>
              <a:t>CLOUD</a:t>
            </a:r>
            <a:r>
              <a:rPr dirty="0" spc="-55"/>
              <a:t> </a:t>
            </a:r>
            <a:r>
              <a:rPr dirty="0" spc="-65"/>
              <a:t>FOUNDATIONS</a:t>
            </a:r>
            <a:r>
              <a:rPr dirty="0" spc="-55"/>
              <a:t> </a:t>
            </a:r>
            <a:r>
              <a:rPr dirty="0" spc="-105"/>
              <a:t>&amp;</a:t>
            </a:r>
            <a:r>
              <a:rPr dirty="0" spc="-50"/>
              <a:t> </a:t>
            </a:r>
            <a:r>
              <a:rPr dirty="0" spc="-95"/>
              <a:t>AZURE</a:t>
            </a:r>
            <a:r>
              <a:rPr dirty="0" spc="-55"/>
              <a:t> </a:t>
            </a:r>
            <a:r>
              <a:rPr dirty="0" spc="-50"/>
              <a:t>BASICS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0077D3"/>
                </a:solidFill>
                <a:latin typeface="Arial Black"/>
                <a:cs typeface="Arial Black"/>
              </a:defRPr>
            </a:lvl1pPr>
          </a:lstStyle>
          <a:p>
            <a:pPr marL="63500">
              <a:lnSpc>
                <a:spcPct val="100000"/>
              </a:lnSpc>
              <a:spcBef>
                <a:spcPts val="160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rgbClr val="758399"/>
                </a:solidFill>
                <a:latin typeface="Arial Black"/>
                <a:cs typeface="Arial Black"/>
              </a:defRPr>
            </a:lvl1pPr>
          </a:lstStyle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 spc="-100"/>
              <a:t>DAY</a:t>
            </a:r>
            <a:r>
              <a:rPr dirty="0" spc="-55"/>
              <a:t> </a:t>
            </a:r>
            <a:r>
              <a:rPr dirty="0"/>
              <a:t>1</a:t>
            </a:r>
            <a:r>
              <a:rPr dirty="0" spc="105"/>
              <a:t> </a:t>
            </a:r>
            <a:r>
              <a:rPr dirty="0"/>
              <a:t>•</a:t>
            </a:r>
            <a:r>
              <a:rPr dirty="0" spc="130"/>
              <a:t> </a:t>
            </a:r>
            <a:r>
              <a:rPr dirty="0" spc="-70"/>
              <a:t>CLOUD</a:t>
            </a:r>
            <a:r>
              <a:rPr dirty="0" spc="-55"/>
              <a:t> </a:t>
            </a:r>
            <a:r>
              <a:rPr dirty="0" spc="-65"/>
              <a:t>FOUNDATIONS</a:t>
            </a:r>
            <a:r>
              <a:rPr dirty="0" spc="-55"/>
              <a:t> </a:t>
            </a:r>
            <a:r>
              <a:rPr dirty="0" spc="-105"/>
              <a:t>&amp;</a:t>
            </a:r>
            <a:r>
              <a:rPr dirty="0" spc="-50"/>
              <a:t> </a:t>
            </a:r>
            <a:r>
              <a:rPr dirty="0" spc="-95"/>
              <a:t>AZURE</a:t>
            </a:r>
            <a:r>
              <a:rPr dirty="0" spc="-55"/>
              <a:t> </a:t>
            </a:r>
            <a:r>
              <a:rPr dirty="0" spc="-50"/>
              <a:t>BASICS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0077D3"/>
                </a:solidFill>
                <a:latin typeface="Arial Black"/>
                <a:cs typeface="Arial Black"/>
              </a:defRPr>
            </a:lvl1pPr>
          </a:lstStyle>
          <a:p>
            <a:pPr marL="63500">
              <a:lnSpc>
                <a:spcPct val="100000"/>
              </a:lnSpc>
              <a:spcBef>
                <a:spcPts val="160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rgbClr val="758399"/>
                </a:solidFill>
                <a:latin typeface="Arial Black"/>
                <a:cs typeface="Arial Black"/>
              </a:defRPr>
            </a:lvl1pPr>
          </a:lstStyle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 spc="-100"/>
              <a:t>DAY</a:t>
            </a:r>
            <a:r>
              <a:rPr dirty="0" spc="-55"/>
              <a:t> </a:t>
            </a:r>
            <a:r>
              <a:rPr dirty="0"/>
              <a:t>1</a:t>
            </a:r>
            <a:r>
              <a:rPr dirty="0" spc="105"/>
              <a:t> </a:t>
            </a:r>
            <a:r>
              <a:rPr dirty="0"/>
              <a:t>•</a:t>
            </a:r>
            <a:r>
              <a:rPr dirty="0" spc="130"/>
              <a:t> </a:t>
            </a:r>
            <a:r>
              <a:rPr dirty="0" spc="-70"/>
              <a:t>CLOUD</a:t>
            </a:r>
            <a:r>
              <a:rPr dirty="0" spc="-55"/>
              <a:t> </a:t>
            </a:r>
            <a:r>
              <a:rPr dirty="0" spc="-65"/>
              <a:t>FOUNDATIONS</a:t>
            </a:r>
            <a:r>
              <a:rPr dirty="0" spc="-55"/>
              <a:t> </a:t>
            </a:r>
            <a:r>
              <a:rPr dirty="0" spc="-105"/>
              <a:t>&amp;</a:t>
            </a:r>
            <a:r>
              <a:rPr dirty="0" spc="-50"/>
              <a:t> </a:t>
            </a:r>
            <a:r>
              <a:rPr dirty="0" spc="-95"/>
              <a:t>AZURE</a:t>
            </a:r>
            <a:r>
              <a:rPr dirty="0" spc="-55"/>
              <a:t> </a:t>
            </a:r>
            <a:r>
              <a:rPr dirty="0" spc="-50"/>
              <a:t>BASICS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0077D3"/>
                </a:solidFill>
                <a:latin typeface="Arial Black"/>
                <a:cs typeface="Arial Black"/>
              </a:defRPr>
            </a:lvl1pPr>
          </a:lstStyle>
          <a:p>
            <a:pPr marL="63500">
              <a:lnSpc>
                <a:spcPct val="100000"/>
              </a:lnSpc>
              <a:spcBef>
                <a:spcPts val="160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758" y="0"/>
                </a:moveTo>
                <a:lnTo>
                  <a:pt x="0" y="0"/>
                </a:lnTo>
                <a:lnTo>
                  <a:pt x="0" y="6858000"/>
                </a:lnTo>
                <a:lnTo>
                  <a:pt x="12191758" y="6858000"/>
                </a:lnTo>
                <a:lnTo>
                  <a:pt x="12191758" y="0"/>
                </a:lnTo>
                <a:close/>
              </a:path>
            </a:pathLst>
          </a:custGeom>
          <a:solidFill>
            <a:srgbClr val="F2F6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18464" y="1404619"/>
            <a:ext cx="6121400" cy="1092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61455" y="1823404"/>
            <a:ext cx="10281285" cy="3746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53935" y="6507158"/>
            <a:ext cx="2291715" cy="1555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50" b="0" i="0">
                <a:solidFill>
                  <a:srgbClr val="758399"/>
                </a:solidFill>
                <a:latin typeface="Arial Black"/>
                <a:cs typeface="Arial Black"/>
              </a:defRPr>
            </a:lvl1pPr>
          </a:lstStyle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 spc="-100"/>
              <a:t>DAY</a:t>
            </a:r>
            <a:r>
              <a:rPr dirty="0" spc="-55"/>
              <a:t> </a:t>
            </a:r>
            <a:r>
              <a:rPr dirty="0"/>
              <a:t>1</a:t>
            </a:r>
            <a:r>
              <a:rPr dirty="0" spc="105"/>
              <a:t> </a:t>
            </a:r>
            <a:r>
              <a:rPr dirty="0"/>
              <a:t>•</a:t>
            </a:r>
            <a:r>
              <a:rPr dirty="0" spc="130"/>
              <a:t> </a:t>
            </a:r>
            <a:r>
              <a:rPr dirty="0" spc="-70"/>
              <a:t>CLOUD</a:t>
            </a:r>
            <a:r>
              <a:rPr dirty="0" spc="-55"/>
              <a:t> </a:t>
            </a:r>
            <a:r>
              <a:rPr dirty="0" spc="-65"/>
              <a:t>FOUNDATIONS</a:t>
            </a:r>
            <a:r>
              <a:rPr dirty="0" spc="-55"/>
              <a:t> </a:t>
            </a:r>
            <a:r>
              <a:rPr dirty="0" spc="-105"/>
              <a:t>&amp;</a:t>
            </a:r>
            <a:r>
              <a:rPr dirty="0" spc="-50"/>
              <a:t> </a:t>
            </a:r>
            <a:r>
              <a:rPr dirty="0" spc="-95"/>
              <a:t>AZURE</a:t>
            </a:r>
            <a:r>
              <a:rPr dirty="0" spc="-55"/>
              <a:t> </a:t>
            </a:r>
            <a:r>
              <a:rPr dirty="0" spc="-50"/>
              <a:t>BASICS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1425897" y="6494402"/>
            <a:ext cx="314325" cy="1727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0" b="0" i="0">
                <a:solidFill>
                  <a:srgbClr val="0077D3"/>
                </a:solidFill>
                <a:latin typeface="Arial Black"/>
                <a:cs typeface="Arial Black"/>
              </a:defRPr>
            </a:lvl1pPr>
          </a:lstStyle>
          <a:p>
            <a:pPr marL="63500">
              <a:lnSpc>
                <a:spcPct val="100000"/>
              </a:lnSpc>
              <a:spcBef>
                <a:spcPts val="160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learn.microsoft.com/en-in/azure/security/fundamentals/shared-responsibility" TargetMode="External"/><Relationship Id="rId3" Type="http://schemas.openxmlformats.org/officeDocument/2006/relationships/hyperlink" Target="https://learn.microsoft.com/en-us/azure/reliability/regions-list" TargetMode="External"/><Relationship Id="rId4" Type="http://schemas.openxmlformats.org/officeDocument/2006/relationships/hyperlink" Target="https://learn.microsoft.com/en-us/azure/reliability/availability-zones-overview" TargetMode="External"/><Relationship Id="rId5" Type="http://schemas.openxmlformats.org/officeDocument/2006/relationships/hyperlink" Target="https://learn.microsoft.com/en-us/azure/virtual-machines/availability-set-overview" TargetMode="External"/><Relationship Id="rId6" Type="http://schemas.openxmlformats.org/officeDocument/2006/relationships/hyperlink" Target="https://learn.microsoft.com/en-us/azure/azure-resource-manager/management/overview" TargetMode="External"/><Relationship Id="rId7" Type="http://schemas.openxmlformats.org/officeDocument/2006/relationships/hyperlink" Target="https://learn.microsoft.com/en-us/azure/azure-resource-manager/management/manage-resource-groups-portal" TargetMode="External"/><Relationship Id="rId8" Type="http://schemas.openxmlformats.org/officeDocument/2006/relationships/hyperlink" Target="https://learn.microsoft.com/en-us/azure/role-based-access-control/" TargetMode="External"/><Relationship Id="rId9" Type="http://schemas.openxmlformats.org/officeDocument/2006/relationships/hyperlink" Target="https://learn.microsoft.com/en-us/azure/role-based-access-control/deny-assignments" TargetMode="External"/><Relationship Id="rId10" Type="http://schemas.openxmlformats.org/officeDocument/2006/relationships/hyperlink" Target="https://kodekloud.com/courses/az900-microsoft-azure-fundamentals/" TargetMode="External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758" y="0"/>
                </a:moveTo>
                <a:lnTo>
                  <a:pt x="0" y="0"/>
                </a:lnTo>
                <a:lnTo>
                  <a:pt x="0" y="6858000"/>
                </a:lnTo>
                <a:lnTo>
                  <a:pt x="12191758" y="6858000"/>
                </a:lnTo>
                <a:lnTo>
                  <a:pt x="12191758" y="0"/>
                </a:lnTo>
                <a:close/>
              </a:path>
            </a:pathLst>
          </a:custGeom>
          <a:solidFill>
            <a:srgbClr val="0F2339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9" name="object 19"/>
          <p:cNvGrpSpPr/>
          <p:nvPr/>
        </p:nvGrpSpPr>
        <p:grpSpPr>
          <a:xfrm>
            <a:off x="725756" y="680404"/>
            <a:ext cx="2205355" cy="303530"/>
            <a:chOff x="725756" y="680404"/>
            <a:chExt cx="2205355" cy="303530"/>
          </a:xfrm>
        </p:grpSpPr>
        <p:sp>
          <p:nvSpPr>
            <p:cNvPr id="20" name="object 20"/>
            <p:cNvSpPr/>
            <p:nvPr/>
          </p:nvSpPr>
          <p:spPr>
            <a:xfrm>
              <a:off x="730796" y="685444"/>
              <a:ext cx="2195195" cy="293370"/>
            </a:xfrm>
            <a:custGeom>
              <a:avLst/>
              <a:gdLst/>
              <a:ahLst/>
              <a:cxnLst/>
              <a:rect l="l" t="t" r="r" b="b"/>
              <a:pathLst>
                <a:path w="2195195" h="293369">
                  <a:moveTo>
                    <a:pt x="110159" y="0"/>
                  </a:moveTo>
                  <a:lnTo>
                    <a:pt x="68095" y="8352"/>
                  </a:lnTo>
                  <a:lnTo>
                    <a:pt x="32535" y="32213"/>
                  </a:lnTo>
                  <a:lnTo>
                    <a:pt x="8721" y="67882"/>
                  </a:lnTo>
                  <a:lnTo>
                    <a:pt x="368" y="109791"/>
                  </a:lnTo>
                  <a:lnTo>
                    <a:pt x="0" y="183235"/>
                  </a:lnTo>
                  <a:lnTo>
                    <a:pt x="939" y="197665"/>
                  </a:lnTo>
                  <a:lnTo>
                    <a:pt x="3736" y="211723"/>
                  </a:lnTo>
                  <a:lnTo>
                    <a:pt x="8307" y="225156"/>
                  </a:lnTo>
                  <a:lnTo>
                    <a:pt x="8358" y="225306"/>
                  </a:lnTo>
                  <a:lnTo>
                    <a:pt x="14770" y="238315"/>
                  </a:lnTo>
                  <a:lnTo>
                    <a:pt x="22686" y="250028"/>
                  </a:lnTo>
                  <a:lnTo>
                    <a:pt x="22788" y="250178"/>
                  </a:lnTo>
                  <a:lnTo>
                    <a:pt x="55079" y="278269"/>
                  </a:lnTo>
                  <a:lnTo>
                    <a:pt x="95379" y="292100"/>
                  </a:lnTo>
                  <a:lnTo>
                    <a:pt x="109804" y="293039"/>
                  </a:lnTo>
                  <a:lnTo>
                    <a:pt x="2085124" y="293039"/>
                  </a:lnTo>
                  <a:lnTo>
                    <a:pt x="2127195" y="284681"/>
                  </a:lnTo>
                  <a:lnTo>
                    <a:pt x="2162697" y="260859"/>
                  </a:lnTo>
                  <a:lnTo>
                    <a:pt x="2186494" y="225306"/>
                  </a:lnTo>
                  <a:lnTo>
                    <a:pt x="2194928" y="183235"/>
                  </a:lnTo>
                  <a:lnTo>
                    <a:pt x="2194904" y="109791"/>
                  </a:lnTo>
                  <a:lnTo>
                    <a:pt x="2186570" y="68088"/>
                  </a:lnTo>
                  <a:lnTo>
                    <a:pt x="2162703" y="32534"/>
                  </a:lnTo>
                  <a:lnTo>
                    <a:pt x="2127045" y="8708"/>
                  </a:lnTo>
                  <a:lnTo>
                    <a:pt x="208512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24435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730796" y="685444"/>
              <a:ext cx="2195195" cy="293370"/>
            </a:xfrm>
            <a:custGeom>
              <a:avLst/>
              <a:gdLst/>
              <a:ahLst/>
              <a:cxnLst/>
              <a:rect l="l" t="t" r="r" b="b"/>
              <a:pathLst>
                <a:path w="2195195" h="293369">
                  <a:moveTo>
                    <a:pt x="368" y="109791"/>
                  </a:moveTo>
                  <a:lnTo>
                    <a:pt x="1307" y="95374"/>
                  </a:lnTo>
                  <a:lnTo>
                    <a:pt x="4103" y="81359"/>
                  </a:lnTo>
                  <a:lnTo>
                    <a:pt x="23138" y="43003"/>
                  </a:lnTo>
                  <a:lnTo>
                    <a:pt x="55079" y="14757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2085124" y="355"/>
                  </a:lnTo>
                  <a:lnTo>
                    <a:pt x="2127045" y="8708"/>
                  </a:lnTo>
                  <a:lnTo>
                    <a:pt x="2162703" y="32534"/>
                  </a:lnTo>
                  <a:lnTo>
                    <a:pt x="2186570" y="68088"/>
                  </a:lnTo>
                  <a:lnTo>
                    <a:pt x="2194928" y="110159"/>
                  </a:lnTo>
                  <a:lnTo>
                    <a:pt x="2194928" y="183235"/>
                  </a:lnTo>
                  <a:lnTo>
                    <a:pt x="2193988" y="197660"/>
                  </a:lnTo>
                  <a:lnTo>
                    <a:pt x="2191191" y="211678"/>
                  </a:lnTo>
                  <a:lnTo>
                    <a:pt x="2172145" y="250028"/>
                  </a:lnTo>
                  <a:lnTo>
                    <a:pt x="2140204" y="278269"/>
                  </a:lnTo>
                  <a:lnTo>
                    <a:pt x="2099554" y="292100"/>
                  </a:lnTo>
                  <a:lnTo>
                    <a:pt x="2085124" y="293039"/>
                  </a:lnTo>
                  <a:lnTo>
                    <a:pt x="109804" y="293039"/>
                  </a:lnTo>
                  <a:lnTo>
                    <a:pt x="67882" y="284681"/>
                  </a:lnTo>
                  <a:lnTo>
                    <a:pt x="32224" y="260859"/>
                  </a:lnTo>
                  <a:lnTo>
                    <a:pt x="8358" y="225306"/>
                  </a:lnTo>
                  <a:lnTo>
                    <a:pt x="0" y="183235"/>
                  </a:lnTo>
                  <a:lnTo>
                    <a:pt x="368" y="109791"/>
                  </a:lnTo>
                  <a:close/>
                </a:path>
              </a:pathLst>
            </a:custGeom>
            <a:ln w="10079">
              <a:solidFill>
                <a:srgbClr val="24435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1037056" y="738263"/>
            <a:ext cx="158432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25">
                <a:solidFill>
                  <a:srgbClr val="BEE8FF"/>
                </a:solidFill>
                <a:latin typeface="Arial Black"/>
                <a:cs typeface="Arial Black"/>
              </a:rPr>
              <a:t>STUDENT</a:t>
            </a:r>
            <a:r>
              <a:rPr dirty="0" sz="1000" spc="-30">
                <a:solidFill>
                  <a:srgbClr val="BEE8FF"/>
                </a:solidFill>
                <a:latin typeface="Arial Black"/>
                <a:cs typeface="Arial Black"/>
              </a:rPr>
              <a:t> </a:t>
            </a:r>
            <a:r>
              <a:rPr dirty="0" sz="1000" spc="-105">
                <a:solidFill>
                  <a:srgbClr val="BEE8FF"/>
                </a:solidFill>
                <a:latin typeface="Arial Black"/>
                <a:cs typeface="Arial Black"/>
              </a:rPr>
              <a:t>PRESENTATION</a:t>
            </a:r>
            <a:endParaRPr sz="1000">
              <a:latin typeface="Arial Black"/>
              <a:cs typeface="Arial Black"/>
            </a:endParaRPr>
          </a:p>
        </p:txBody>
      </p:sp>
      <p:sp>
        <p:nvSpPr>
          <p:cNvPr id="23" name="object 2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pc="-200"/>
              <a:t>Cloud</a:t>
            </a:r>
            <a:r>
              <a:rPr dirty="0" spc="-245"/>
              <a:t> </a:t>
            </a:r>
            <a:r>
              <a:rPr dirty="0" spc="-25"/>
              <a:t>Computing </a:t>
            </a:r>
            <a:r>
              <a:rPr dirty="0" spc="-175"/>
              <a:t>Foundations</a:t>
            </a:r>
            <a:r>
              <a:rPr dirty="0" spc="-250"/>
              <a:t> </a:t>
            </a:r>
            <a:r>
              <a:rPr dirty="0" spc="-500"/>
              <a:t>&amp;</a:t>
            </a:r>
            <a:r>
              <a:rPr dirty="0" spc="-245"/>
              <a:t> </a:t>
            </a:r>
            <a:r>
              <a:rPr dirty="0" spc="-190"/>
              <a:t>Azure</a:t>
            </a:r>
            <a:r>
              <a:rPr dirty="0" spc="-245"/>
              <a:t> </a:t>
            </a:r>
            <a:r>
              <a:rPr dirty="0" spc="-355"/>
              <a:t>Basics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401559" y="498754"/>
            <a:ext cx="4124960" cy="3255645"/>
            <a:chOff x="7401559" y="498754"/>
            <a:chExt cx="4124960" cy="3255645"/>
          </a:xfrm>
        </p:grpSpPr>
        <p:sp>
          <p:nvSpPr>
            <p:cNvPr id="4" name="object 4"/>
            <p:cNvSpPr/>
            <p:nvPr/>
          </p:nvSpPr>
          <p:spPr>
            <a:xfrm>
              <a:off x="9098279" y="502564"/>
              <a:ext cx="2331720" cy="2332355"/>
            </a:xfrm>
            <a:custGeom>
              <a:avLst/>
              <a:gdLst/>
              <a:ahLst/>
              <a:cxnLst/>
              <a:rect l="l" t="t" r="r" b="b"/>
              <a:pathLst>
                <a:path w="2331720" h="2332355">
                  <a:moveTo>
                    <a:pt x="1166037" y="0"/>
                  </a:moveTo>
                  <a:lnTo>
                    <a:pt x="1114922" y="1121"/>
                  </a:lnTo>
                  <a:lnTo>
                    <a:pt x="1064038" y="4473"/>
                  </a:lnTo>
                  <a:lnTo>
                    <a:pt x="1013455" y="10034"/>
                  </a:lnTo>
                  <a:lnTo>
                    <a:pt x="963239" y="17786"/>
                  </a:lnTo>
                  <a:lnTo>
                    <a:pt x="913459" y="27708"/>
                  </a:lnTo>
                  <a:lnTo>
                    <a:pt x="864181" y="39779"/>
                  </a:lnTo>
                  <a:lnTo>
                    <a:pt x="815472" y="53980"/>
                  </a:lnTo>
                  <a:lnTo>
                    <a:pt x="767401" y="70292"/>
                  </a:lnTo>
                  <a:lnTo>
                    <a:pt x="720035" y="88693"/>
                  </a:lnTo>
                  <a:lnTo>
                    <a:pt x="673441" y="109164"/>
                  </a:lnTo>
                  <a:lnTo>
                    <a:pt x="627687" y="131684"/>
                  </a:lnTo>
                  <a:lnTo>
                    <a:pt x="582841" y="156235"/>
                  </a:lnTo>
                  <a:lnTo>
                    <a:pt x="539190" y="182800"/>
                  </a:lnTo>
                  <a:lnTo>
                    <a:pt x="496838" y="211163"/>
                  </a:lnTo>
                  <a:lnTo>
                    <a:pt x="455837" y="241275"/>
                  </a:lnTo>
                  <a:lnTo>
                    <a:pt x="416238" y="273089"/>
                  </a:lnTo>
                  <a:lnTo>
                    <a:pt x="378094" y="306559"/>
                  </a:lnTo>
                  <a:lnTo>
                    <a:pt x="341458" y="341636"/>
                  </a:lnTo>
                  <a:lnTo>
                    <a:pt x="306382" y="378273"/>
                  </a:lnTo>
                  <a:lnTo>
                    <a:pt x="272918" y="416422"/>
                  </a:lnTo>
                  <a:lnTo>
                    <a:pt x="241119" y="456037"/>
                  </a:lnTo>
                  <a:lnTo>
                    <a:pt x="211038" y="497069"/>
                  </a:lnTo>
                  <a:lnTo>
                    <a:pt x="182725" y="539471"/>
                  </a:lnTo>
                  <a:lnTo>
                    <a:pt x="156235" y="583196"/>
                  </a:lnTo>
                  <a:lnTo>
                    <a:pt x="131684" y="627965"/>
                  </a:lnTo>
                  <a:lnTo>
                    <a:pt x="109164" y="673667"/>
                  </a:lnTo>
                  <a:lnTo>
                    <a:pt x="88693" y="720230"/>
                  </a:lnTo>
                  <a:lnTo>
                    <a:pt x="70292" y="767580"/>
                  </a:lnTo>
                  <a:lnTo>
                    <a:pt x="53980" y="815645"/>
                  </a:lnTo>
                  <a:lnTo>
                    <a:pt x="39779" y="864354"/>
                  </a:lnTo>
                  <a:lnTo>
                    <a:pt x="27708" y="913632"/>
                  </a:lnTo>
                  <a:lnTo>
                    <a:pt x="17786" y="963408"/>
                  </a:lnTo>
                  <a:lnTo>
                    <a:pt x="10034" y="1013609"/>
                  </a:lnTo>
                  <a:lnTo>
                    <a:pt x="4473" y="1064163"/>
                  </a:lnTo>
                  <a:lnTo>
                    <a:pt x="1121" y="1114996"/>
                  </a:lnTo>
                  <a:lnTo>
                    <a:pt x="0" y="1166037"/>
                  </a:lnTo>
                  <a:lnTo>
                    <a:pt x="1121" y="1217078"/>
                  </a:lnTo>
                  <a:lnTo>
                    <a:pt x="4473" y="1267911"/>
                  </a:lnTo>
                  <a:lnTo>
                    <a:pt x="10034" y="1318464"/>
                  </a:lnTo>
                  <a:lnTo>
                    <a:pt x="17786" y="1368664"/>
                  </a:lnTo>
                  <a:lnTo>
                    <a:pt x="27708" y="1418439"/>
                  </a:lnTo>
                  <a:lnTo>
                    <a:pt x="39779" y="1467716"/>
                  </a:lnTo>
                  <a:lnTo>
                    <a:pt x="53980" y="1516424"/>
                  </a:lnTo>
                  <a:lnTo>
                    <a:pt x="70292" y="1564489"/>
                  </a:lnTo>
                  <a:lnTo>
                    <a:pt x="88693" y="1611839"/>
                  </a:lnTo>
                  <a:lnTo>
                    <a:pt x="109164" y="1658403"/>
                  </a:lnTo>
                  <a:lnTo>
                    <a:pt x="131684" y="1704107"/>
                  </a:lnTo>
                  <a:lnTo>
                    <a:pt x="156235" y="1748878"/>
                  </a:lnTo>
                  <a:lnTo>
                    <a:pt x="182725" y="1792603"/>
                  </a:lnTo>
                  <a:lnTo>
                    <a:pt x="211038" y="1835006"/>
                  </a:lnTo>
                  <a:lnTo>
                    <a:pt x="241119" y="1876038"/>
                  </a:lnTo>
                  <a:lnTo>
                    <a:pt x="272918" y="1915652"/>
                  </a:lnTo>
                  <a:lnTo>
                    <a:pt x="306382" y="1953802"/>
                  </a:lnTo>
                  <a:lnTo>
                    <a:pt x="341458" y="1990439"/>
                  </a:lnTo>
                  <a:lnTo>
                    <a:pt x="378094" y="2025516"/>
                  </a:lnTo>
                  <a:lnTo>
                    <a:pt x="416238" y="2058985"/>
                  </a:lnTo>
                  <a:lnTo>
                    <a:pt x="455837" y="2090800"/>
                  </a:lnTo>
                  <a:lnTo>
                    <a:pt x="496838" y="2120912"/>
                  </a:lnTo>
                  <a:lnTo>
                    <a:pt x="539190" y="2149274"/>
                  </a:lnTo>
                  <a:lnTo>
                    <a:pt x="582841" y="2175840"/>
                  </a:lnTo>
                  <a:lnTo>
                    <a:pt x="627687" y="2200390"/>
                  </a:lnTo>
                  <a:lnTo>
                    <a:pt x="673441" y="2222911"/>
                  </a:lnTo>
                  <a:lnTo>
                    <a:pt x="720035" y="2243382"/>
                  </a:lnTo>
                  <a:lnTo>
                    <a:pt x="767401" y="2261783"/>
                  </a:lnTo>
                  <a:lnTo>
                    <a:pt x="815472" y="2278094"/>
                  </a:lnTo>
                  <a:lnTo>
                    <a:pt x="864181" y="2292296"/>
                  </a:lnTo>
                  <a:lnTo>
                    <a:pt x="913459" y="2304367"/>
                  </a:lnTo>
                  <a:lnTo>
                    <a:pt x="963239" y="2314289"/>
                  </a:lnTo>
                  <a:lnTo>
                    <a:pt x="1013455" y="2322040"/>
                  </a:lnTo>
                  <a:lnTo>
                    <a:pt x="1064038" y="2327602"/>
                  </a:lnTo>
                  <a:lnTo>
                    <a:pt x="1114922" y="2330953"/>
                  </a:lnTo>
                  <a:lnTo>
                    <a:pt x="1166037" y="2332075"/>
                  </a:lnTo>
                  <a:lnTo>
                    <a:pt x="1217071" y="2330953"/>
                  </a:lnTo>
                  <a:lnTo>
                    <a:pt x="1267886" y="2327602"/>
                  </a:lnTo>
                  <a:lnTo>
                    <a:pt x="1318414" y="2322040"/>
                  </a:lnTo>
                  <a:lnTo>
                    <a:pt x="1368585" y="2314289"/>
                  </a:lnTo>
                  <a:lnTo>
                    <a:pt x="1418331" y="2304367"/>
                  </a:lnTo>
                  <a:lnTo>
                    <a:pt x="1467583" y="2292296"/>
                  </a:lnTo>
                  <a:lnTo>
                    <a:pt x="1516273" y="2278094"/>
                  </a:lnTo>
                  <a:lnTo>
                    <a:pt x="1564331" y="2261783"/>
                  </a:lnTo>
                  <a:lnTo>
                    <a:pt x="1611689" y="2243382"/>
                  </a:lnTo>
                  <a:lnTo>
                    <a:pt x="1658279" y="2222911"/>
                  </a:lnTo>
                  <a:lnTo>
                    <a:pt x="1704032" y="2200390"/>
                  </a:lnTo>
                  <a:lnTo>
                    <a:pt x="1748878" y="2175840"/>
                  </a:lnTo>
                  <a:lnTo>
                    <a:pt x="1792529" y="2149274"/>
                  </a:lnTo>
                  <a:lnTo>
                    <a:pt x="1834881" y="2120912"/>
                  </a:lnTo>
                  <a:lnTo>
                    <a:pt x="1875882" y="2090800"/>
                  </a:lnTo>
                  <a:lnTo>
                    <a:pt x="1915481" y="2058985"/>
                  </a:lnTo>
                  <a:lnTo>
                    <a:pt x="1953625" y="2025516"/>
                  </a:lnTo>
                  <a:lnTo>
                    <a:pt x="1990261" y="1990439"/>
                  </a:lnTo>
                  <a:lnTo>
                    <a:pt x="2025337" y="1953802"/>
                  </a:lnTo>
                  <a:lnTo>
                    <a:pt x="2058801" y="1915652"/>
                  </a:lnTo>
                  <a:lnTo>
                    <a:pt x="2090600" y="1876038"/>
                  </a:lnTo>
                  <a:lnTo>
                    <a:pt x="2120681" y="1835006"/>
                  </a:lnTo>
                  <a:lnTo>
                    <a:pt x="2148994" y="1792603"/>
                  </a:lnTo>
                  <a:lnTo>
                    <a:pt x="2175484" y="1748878"/>
                  </a:lnTo>
                  <a:lnTo>
                    <a:pt x="2200035" y="1704107"/>
                  </a:lnTo>
                  <a:lnTo>
                    <a:pt x="2222555" y="1658403"/>
                  </a:lnTo>
                  <a:lnTo>
                    <a:pt x="2243026" y="1611839"/>
                  </a:lnTo>
                  <a:lnTo>
                    <a:pt x="2261427" y="1564489"/>
                  </a:lnTo>
                  <a:lnTo>
                    <a:pt x="2277739" y="1516424"/>
                  </a:lnTo>
                  <a:lnTo>
                    <a:pt x="2291940" y="1467716"/>
                  </a:lnTo>
                  <a:lnTo>
                    <a:pt x="2304011" y="1418439"/>
                  </a:lnTo>
                  <a:lnTo>
                    <a:pt x="2313933" y="1368664"/>
                  </a:lnTo>
                  <a:lnTo>
                    <a:pt x="2321685" y="1318464"/>
                  </a:lnTo>
                  <a:lnTo>
                    <a:pt x="2327246" y="1267911"/>
                  </a:lnTo>
                  <a:lnTo>
                    <a:pt x="2330598" y="1217078"/>
                  </a:lnTo>
                  <a:lnTo>
                    <a:pt x="2331720" y="1166037"/>
                  </a:lnTo>
                  <a:lnTo>
                    <a:pt x="2330598" y="1114996"/>
                  </a:lnTo>
                  <a:lnTo>
                    <a:pt x="2327246" y="1064163"/>
                  </a:lnTo>
                  <a:lnTo>
                    <a:pt x="2321685" y="1013609"/>
                  </a:lnTo>
                  <a:lnTo>
                    <a:pt x="2313933" y="963408"/>
                  </a:lnTo>
                  <a:lnTo>
                    <a:pt x="2304011" y="913632"/>
                  </a:lnTo>
                  <a:lnTo>
                    <a:pt x="2291940" y="864354"/>
                  </a:lnTo>
                  <a:lnTo>
                    <a:pt x="2277739" y="815645"/>
                  </a:lnTo>
                  <a:lnTo>
                    <a:pt x="2261427" y="767580"/>
                  </a:lnTo>
                  <a:lnTo>
                    <a:pt x="2243026" y="720230"/>
                  </a:lnTo>
                  <a:lnTo>
                    <a:pt x="2222555" y="673667"/>
                  </a:lnTo>
                  <a:lnTo>
                    <a:pt x="2200035" y="627965"/>
                  </a:lnTo>
                  <a:lnTo>
                    <a:pt x="2175484" y="583196"/>
                  </a:lnTo>
                  <a:lnTo>
                    <a:pt x="2148994" y="539471"/>
                  </a:lnTo>
                  <a:lnTo>
                    <a:pt x="2120681" y="497069"/>
                  </a:lnTo>
                  <a:lnTo>
                    <a:pt x="2090600" y="456037"/>
                  </a:lnTo>
                  <a:lnTo>
                    <a:pt x="2058801" y="416422"/>
                  </a:lnTo>
                  <a:lnTo>
                    <a:pt x="2025337" y="378273"/>
                  </a:lnTo>
                  <a:lnTo>
                    <a:pt x="1990261" y="341636"/>
                  </a:lnTo>
                  <a:lnTo>
                    <a:pt x="1953625" y="306559"/>
                  </a:lnTo>
                  <a:lnTo>
                    <a:pt x="1915481" y="273089"/>
                  </a:lnTo>
                  <a:lnTo>
                    <a:pt x="1875882" y="241275"/>
                  </a:lnTo>
                  <a:lnTo>
                    <a:pt x="1834881" y="211163"/>
                  </a:lnTo>
                  <a:lnTo>
                    <a:pt x="1792529" y="182800"/>
                  </a:lnTo>
                  <a:lnTo>
                    <a:pt x="1748878" y="156235"/>
                  </a:lnTo>
                  <a:lnTo>
                    <a:pt x="1704032" y="131684"/>
                  </a:lnTo>
                  <a:lnTo>
                    <a:pt x="1658279" y="109164"/>
                  </a:lnTo>
                  <a:lnTo>
                    <a:pt x="1611689" y="88693"/>
                  </a:lnTo>
                  <a:lnTo>
                    <a:pt x="1564331" y="70292"/>
                  </a:lnTo>
                  <a:lnTo>
                    <a:pt x="1516273" y="53980"/>
                  </a:lnTo>
                  <a:lnTo>
                    <a:pt x="1467583" y="39779"/>
                  </a:lnTo>
                  <a:lnTo>
                    <a:pt x="1418331" y="27708"/>
                  </a:lnTo>
                  <a:lnTo>
                    <a:pt x="1368585" y="17786"/>
                  </a:lnTo>
                  <a:lnTo>
                    <a:pt x="1318414" y="10034"/>
                  </a:lnTo>
                  <a:lnTo>
                    <a:pt x="1267886" y="4473"/>
                  </a:lnTo>
                  <a:lnTo>
                    <a:pt x="1217071" y="1121"/>
                  </a:lnTo>
                  <a:lnTo>
                    <a:pt x="1166037" y="0"/>
                  </a:lnTo>
                  <a:close/>
                </a:path>
              </a:pathLst>
            </a:custGeom>
            <a:solidFill>
              <a:srgbClr val="163A5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9098279" y="502564"/>
              <a:ext cx="2331720" cy="2332355"/>
            </a:xfrm>
            <a:custGeom>
              <a:avLst/>
              <a:gdLst/>
              <a:ahLst/>
              <a:cxnLst/>
              <a:rect l="l" t="t" r="r" b="b"/>
              <a:pathLst>
                <a:path w="2331720" h="2332355">
                  <a:moveTo>
                    <a:pt x="0" y="1166037"/>
                  </a:moveTo>
                  <a:lnTo>
                    <a:pt x="1121" y="1114996"/>
                  </a:lnTo>
                  <a:lnTo>
                    <a:pt x="4473" y="1064163"/>
                  </a:lnTo>
                  <a:lnTo>
                    <a:pt x="10034" y="1013609"/>
                  </a:lnTo>
                  <a:lnTo>
                    <a:pt x="17786" y="963408"/>
                  </a:lnTo>
                  <a:lnTo>
                    <a:pt x="27708" y="913632"/>
                  </a:lnTo>
                  <a:lnTo>
                    <a:pt x="39779" y="864354"/>
                  </a:lnTo>
                  <a:lnTo>
                    <a:pt x="53980" y="815645"/>
                  </a:lnTo>
                  <a:lnTo>
                    <a:pt x="70292" y="767580"/>
                  </a:lnTo>
                  <a:lnTo>
                    <a:pt x="88693" y="720230"/>
                  </a:lnTo>
                  <a:lnTo>
                    <a:pt x="109164" y="673667"/>
                  </a:lnTo>
                  <a:lnTo>
                    <a:pt x="131684" y="627965"/>
                  </a:lnTo>
                  <a:lnTo>
                    <a:pt x="156235" y="583196"/>
                  </a:lnTo>
                  <a:lnTo>
                    <a:pt x="182725" y="539471"/>
                  </a:lnTo>
                  <a:lnTo>
                    <a:pt x="211038" y="497069"/>
                  </a:lnTo>
                  <a:lnTo>
                    <a:pt x="241119" y="456037"/>
                  </a:lnTo>
                  <a:lnTo>
                    <a:pt x="272918" y="416422"/>
                  </a:lnTo>
                  <a:lnTo>
                    <a:pt x="306382" y="378273"/>
                  </a:lnTo>
                  <a:lnTo>
                    <a:pt x="341458" y="341636"/>
                  </a:lnTo>
                  <a:lnTo>
                    <a:pt x="378094" y="306559"/>
                  </a:lnTo>
                  <a:lnTo>
                    <a:pt x="416238" y="273089"/>
                  </a:lnTo>
                  <a:lnTo>
                    <a:pt x="455837" y="241275"/>
                  </a:lnTo>
                  <a:lnTo>
                    <a:pt x="496838" y="211163"/>
                  </a:lnTo>
                  <a:lnTo>
                    <a:pt x="539190" y="182800"/>
                  </a:lnTo>
                  <a:lnTo>
                    <a:pt x="582841" y="156235"/>
                  </a:lnTo>
                  <a:lnTo>
                    <a:pt x="627687" y="131684"/>
                  </a:lnTo>
                  <a:lnTo>
                    <a:pt x="673441" y="109164"/>
                  </a:lnTo>
                  <a:lnTo>
                    <a:pt x="720035" y="88693"/>
                  </a:lnTo>
                  <a:lnTo>
                    <a:pt x="767401" y="70292"/>
                  </a:lnTo>
                  <a:lnTo>
                    <a:pt x="815472" y="53980"/>
                  </a:lnTo>
                  <a:lnTo>
                    <a:pt x="864181" y="39779"/>
                  </a:lnTo>
                  <a:lnTo>
                    <a:pt x="913459" y="27708"/>
                  </a:lnTo>
                  <a:lnTo>
                    <a:pt x="963239" y="17786"/>
                  </a:lnTo>
                  <a:lnTo>
                    <a:pt x="1013455" y="10034"/>
                  </a:lnTo>
                  <a:lnTo>
                    <a:pt x="1064038" y="4473"/>
                  </a:lnTo>
                  <a:lnTo>
                    <a:pt x="1114922" y="1121"/>
                  </a:lnTo>
                  <a:lnTo>
                    <a:pt x="1166037" y="0"/>
                  </a:lnTo>
                  <a:lnTo>
                    <a:pt x="1217071" y="1121"/>
                  </a:lnTo>
                  <a:lnTo>
                    <a:pt x="1267886" y="4473"/>
                  </a:lnTo>
                  <a:lnTo>
                    <a:pt x="1318414" y="10034"/>
                  </a:lnTo>
                  <a:lnTo>
                    <a:pt x="1368585" y="17786"/>
                  </a:lnTo>
                  <a:lnTo>
                    <a:pt x="1418331" y="27708"/>
                  </a:lnTo>
                  <a:lnTo>
                    <a:pt x="1467583" y="39779"/>
                  </a:lnTo>
                  <a:lnTo>
                    <a:pt x="1516273" y="53980"/>
                  </a:lnTo>
                  <a:lnTo>
                    <a:pt x="1564331" y="70292"/>
                  </a:lnTo>
                  <a:lnTo>
                    <a:pt x="1611689" y="88693"/>
                  </a:lnTo>
                  <a:lnTo>
                    <a:pt x="1658279" y="109164"/>
                  </a:lnTo>
                  <a:lnTo>
                    <a:pt x="1704032" y="131684"/>
                  </a:lnTo>
                  <a:lnTo>
                    <a:pt x="1748878" y="156235"/>
                  </a:lnTo>
                  <a:lnTo>
                    <a:pt x="1792529" y="182800"/>
                  </a:lnTo>
                  <a:lnTo>
                    <a:pt x="1834881" y="211163"/>
                  </a:lnTo>
                  <a:lnTo>
                    <a:pt x="1875882" y="241275"/>
                  </a:lnTo>
                  <a:lnTo>
                    <a:pt x="1915481" y="273089"/>
                  </a:lnTo>
                  <a:lnTo>
                    <a:pt x="1953625" y="306559"/>
                  </a:lnTo>
                  <a:lnTo>
                    <a:pt x="1990261" y="341636"/>
                  </a:lnTo>
                  <a:lnTo>
                    <a:pt x="2025337" y="378273"/>
                  </a:lnTo>
                  <a:lnTo>
                    <a:pt x="2058801" y="416422"/>
                  </a:lnTo>
                  <a:lnTo>
                    <a:pt x="2090600" y="456037"/>
                  </a:lnTo>
                  <a:lnTo>
                    <a:pt x="2120681" y="497069"/>
                  </a:lnTo>
                  <a:lnTo>
                    <a:pt x="2148994" y="539471"/>
                  </a:lnTo>
                  <a:lnTo>
                    <a:pt x="2175484" y="583196"/>
                  </a:lnTo>
                  <a:lnTo>
                    <a:pt x="2200035" y="627965"/>
                  </a:lnTo>
                  <a:lnTo>
                    <a:pt x="2222555" y="673667"/>
                  </a:lnTo>
                  <a:lnTo>
                    <a:pt x="2243026" y="720230"/>
                  </a:lnTo>
                  <a:lnTo>
                    <a:pt x="2261427" y="767580"/>
                  </a:lnTo>
                  <a:lnTo>
                    <a:pt x="2277739" y="815645"/>
                  </a:lnTo>
                  <a:lnTo>
                    <a:pt x="2291940" y="864354"/>
                  </a:lnTo>
                  <a:lnTo>
                    <a:pt x="2304011" y="913632"/>
                  </a:lnTo>
                  <a:lnTo>
                    <a:pt x="2313933" y="963408"/>
                  </a:lnTo>
                  <a:lnTo>
                    <a:pt x="2321685" y="1013609"/>
                  </a:lnTo>
                  <a:lnTo>
                    <a:pt x="2327246" y="1064163"/>
                  </a:lnTo>
                  <a:lnTo>
                    <a:pt x="2330598" y="1114996"/>
                  </a:lnTo>
                  <a:lnTo>
                    <a:pt x="2331720" y="1166037"/>
                  </a:lnTo>
                  <a:lnTo>
                    <a:pt x="2330598" y="1217078"/>
                  </a:lnTo>
                  <a:lnTo>
                    <a:pt x="2327246" y="1267911"/>
                  </a:lnTo>
                  <a:lnTo>
                    <a:pt x="2321685" y="1318464"/>
                  </a:lnTo>
                  <a:lnTo>
                    <a:pt x="2313933" y="1368664"/>
                  </a:lnTo>
                  <a:lnTo>
                    <a:pt x="2304011" y="1418439"/>
                  </a:lnTo>
                  <a:lnTo>
                    <a:pt x="2291940" y="1467716"/>
                  </a:lnTo>
                  <a:lnTo>
                    <a:pt x="2277739" y="1516424"/>
                  </a:lnTo>
                  <a:lnTo>
                    <a:pt x="2261427" y="1564489"/>
                  </a:lnTo>
                  <a:lnTo>
                    <a:pt x="2243026" y="1611839"/>
                  </a:lnTo>
                  <a:lnTo>
                    <a:pt x="2222555" y="1658403"/>
                  </a:lnTo>
                  <a:lnTo>
                    <a:pt x="2200035" y="1704107"/>
                  </a:lnTo>
                  <a:lnTo>
                    <a:pt x="2175484" y="1748878"/>
                  </a:lnTo>
                  <a:lnTo>
                    <a:pt x="2148994" y="1792603"/>
                  </a:lnTo>
                  <a:lnTo>
                    <a:pt x="2120681" y="1835006"/>
                  </a:lnTo>
                  <a:lnTo>
                    <a:pt x="2090600" y="1876038"/>
                  </a:lnTo>
                  <a:lnTo>
                    <a:pt x="2058801" y="1915652"/>
                  </a:lnTo>
                  <a:lnTo>
                    <a:pt x="2025337" y="1953802"/>
                  </a:lnTo>
                  <a:lnTo>
                    <a:pt x="1990261" y="1990439"/>
                  </a:lnTo>
                  <a:lnTo>
                    <a:pt x="1953625" y="2025516"/>
                  </a:lnTo>
                  <a:lnTo>
                    <a:pt x="1915481" y="2058985"/>
                  </a:lnTo>
                  <a:lnTo>
                    <a:pt x="1875882" y="2090800"/>
                  </a:lnTo>
                  <a:lnTo>
                    <a:pt x="1834881" y="2120912"/>
                  </a:lnTo>
                  <a:lnTo>
                    <a:pt x="1792529" y="2149274"/>
                  </a:lnTo>
                  <a:lnTo>
                    <a:pt x="1748878" y="2175840"/>
                  </a:lnTo>
                  <a:lnTo>
                    <a:pt x="1704032" y="2200390"/>
                  </a:lnTo>
                  <a:lnTo>
                    <a:pt x="1658279" y="2222911"/>
                  </a:lnTo>
                  <a:lnTo>
                    <a:pt x="1611689" y="2243382"/>
                  </a:lnTo>
                  <a:lnTo>
                    <a:pt x="1564331" y="2261783"/>
                  </a:lnTo>
                  <a:lnTo>
                    <a:pt x="1516273" y="2278094"/>
                  </a:lnTo>
                  <a:lnTo>
                    <a:pt x="1467583" y="2292296"/>
                  </a:lnTo>
                  <a:lnTo>
                    <a:pt x="1418331" y="2304367"/>
                  </a:lnTo>
                  <a:lnTo>
                    <a:pt x="1368585" y="2314289"/>
                  </a:lnTo>
                  <a:lnTo>
                    <a:pt x="1318414" y="2322040"/>
                  </a:lnTo>
                  <a:lnTo>
                    <a:pt x="1267886" y="2327602"/>
                  </a:lnTo>
                  <a:lnTo>
                    <a:pt x="1217071" y="2330953"/>
                  </a:lnTo>
                  <a:lnTo>
                    <a:pt x="1166037" y="2332075"/>
                  </a:lnTo>
                  <a:lnTo>
                    <a:pt x="1114922" y="2330953"/>
                  </a:lnTo>
                  <a:lnTo>
                    <a:pt x="1064038" y="2327602"/>
                  </a:lnTo>
                  <a:lnTo>
                    <a:pt x="1013455" y="2322040"/>
                  </a:lnTo>
                  <a:lnTo>
                    <a:pt x="963239" y="2314289"/>
                  </a:lnTo>
                  <a:lnTo>
                    <a:pt x="913459" y="2304367"/>
                  </a:lnTo>
                  <a:lnTo>
                    <a:pt x="864181" y="2292296"/>
                  </a:lnTo>
                  <a:lnTo>
                    <a:pt x="815472" y="2278094"/>
                  </a:lnTo>
                  <a:lnTo>
                    <a:pt x="767401" y="2261783"/>
                  </a:lnTo>
                  <a:lnTo>
                    <a:pt x="720035" y="2243382"/>
                  </a:lnTo>
                  <a:lnTo>
                    <a:pt x="673441" y="2222911"/>
                  </a:lnTo>
                  <a:lnTo>
                    <a:pt x="627687" y="2200390"/>
                  </a:lnTo>
                  <a:lnTo>
                    <a:pt x="582841" y="2175840"/>
                  </a:lnTo>
                  <a:lnTo>
                    <a:pt x="539190" y="2149274"/>
                  </a:lnTo>
                  <a:lnTo>
                    <a:pt x="496838" y="2120912"/>
                  </a:lnTo>
                  <a:lnTo>
                    <a:pt x="455837" y="2090800"/>
                  </a:lnTo>
                  <a:lnTo>
                    <a:pt x="416238" y="2058985"/>
                  </a:lnTo>
                  <a:lnTo>
                    <a:pt x="378094" y="2025516"/>
                  </a:lnTo>
                  <a:lnTo>
                    <a:pt x="341458" y="1990439"/>
                  </a:lnTo>
                  <a:lnTo>
                    <a:pt x="306382" y="1953802"/>
                  </a:lnTo>
                  <a:lnTo>
                    <a:pt x="272918" y="1915652"/>
                  </a:lnTo>
                  <a:lnTo>
                    <a:pt x="241119" y="1876038"/>
                  </a:lnTo>
                  <a:lnTo>
                    <a:pt x="211038" y="1835006"/>
                  </a:lnTo>
                  <a:lnTo>
                    <a:pt x="182725" y="1792603"/>
                  </a:lnTo>
                  <a:lnTo>
                    <a:pt x="156235" y="1748878"/>
                  </a:lnTo>
                  <a:lnTo>
                    <a:pt x="131684" y="1704107"/>
                  </a:lnTo>
                  <a:lnTo>
                    <a:pt x="109164" y="1658403"/>
                  </a:lnTo>
                  <a:lnTo>
                    <a:pt x="88693" y="1611839"/>
                  </a:lnTo>
                  <a:lnTo>
                    <a:pt x="70292" y="1564489"/>
                  </a:lnTo>
                  <a:lnTo>
                    <a:pt x="53980" y="1516424"/>
                  </a:lnTo>
                  <a:lnTo>
                    <a:pt x="39779" y="1467716"/>
                  </a:lnTo>
                  <a:lnTo>
                    <a:pt x="27708" y="1418439"/>
                  </a:lnTo>
                  <a:lnTo>
                    <a:pt x="17786" y="1368664"/>
                  </a:lnTo>
                  <a:lnTo>
                    <a:pt x="10034" y="1318464"/>
                  </a:lnTo>
                  <a:lnTo>
                    <a:pt x="4473" y="1267911"/>
                  </a:lnTo>
                  <a:lnTo>
                    <a:pt x="1121" y="1217078"/>
                  </a:lnTo>
                  <a:lnTo>
                    <a:pt x="0" y="1166037"/>
                  </a:lnTo>
                  <a:close/>
                </a:path>
              </a:pathLst>
            </a:custGeom>
            <a:ln w="7559">
              <a:solidFill>
                <a:srgbClr val="163A5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9921239" y="1600199"/>
              <a:ext cx="1508760" cy="1508760"/>
            </a:xfrm>
            <a:custGeom>
              <a:avLst/>
              <a:gdLst/>
              <a:ahLst/>
              <a:cxnLst/>
              <a:rect l="l" t="t" r="r" b="b"/>
              <a:pathLst>
                <a:path w="1508759" h="1508760">
                  <a:moveTo>
                    <a:pt x="754557" y="0"/>
                  </a:moveTo>
                  <a:lnTo>
                    <a:pt x="705007" y="1614"/>
                  </a:lnTo>
                  <a:lnTo>
                    <a:pt x="655819" y="6434"/>
                  </a:lnTo>
                  <a:lnTo>
                    <a:pt x="607152" y="14427"/>
                  </a:lnTo>
                  <a:lnTo>
                    <a:pt x="559169" y="25558"/>
                  </a:lnTo>
                  <a:lnTo>
                    <a:pt x="512030" y="39795"/>
                  </a:lnTo>
                  <a:lnTo>
                    <a:pt x="465894" y="57103"/>
                  </a:lnTo>
                  <a:lnTo>
                    <a:pt x="420924" y="77449"/>
                  </a:lnTo>
                  <a:lnTo>
                    <a:pt x="377278" y="100799"/>
                  </a:lnTo>
                  <a:lnTo>
                    <a:pt x="335161" y="126988"/>
                  </a:lnTo>
                  <a:lnTo>
                    <a:pt x="295004" y="155792"/>
                  </a:lnTo>
                  <a:lnTo>
                    <a:pt x="256914" y="187093"/>
                  </a:lnTo>
                  <a:lnTo>
                    <a:pt x="220995" y="220773"/>
                  </a:lnTo>
                  <a:lnTo>
                    <a:pt x="187355" y="256714"/>
                  </a:lnTo>
                  <a:lnTo>
                    <a:pt x="156097" y="294799"/>
                  </a:lnTo>
                  <a:lnTo>
                    <a:pt x="127329" y="334907"/>
                  </a:lnTo>
                  <a:lnTo>
                    <a:pt x="101155" y="376923"/>
                  </a:lnTo>
                  <a:lnTo>
                    <a:pt x="77793" y="420670"/>
                  </a:lnTo>
                  <a:lnTo>
                    <a:pt x="57408" y="465687"/>
                  </a:lnTo>
                  <a:lnTo>
                    <a:pt x="40044" y="511827"/>
                  </a:lnTo>
                  <a:lnTo>
                    <a:pt x="25741" y="558942"/>
                  </a:lnTo>
                  <a:lnTo>
                    <a:pt x="14543" y="606885"/>
                  </a:lnTo>
                  <a:lnTo>
                    <a:pt x="6491" y="655508"/>
                  </a:lnTo>
                  <a:lnTo>
                    <a:pt x="1630" y="704662"/>
                  </a:lnTo>
                  <a:lnTo>
                    <a:pt x="0" y="754202"/>
                  </a:lnTo>
                  <a:lnTo>
                    <a:pt x="1630" y="803737"/>
                  </a:lnTo>
                  <a:lnTo>
                    <a:pt x="6491" y="852889"/>
                  </a:lnTo>
                  <a:lnTo>
                    <a:pt x="14543" y="901509"/>
                  </a:lnTo>
                  <a:lnTo>
                    <a:pt x="25741" y="949451"/>
                  </a:lnTo>
                  <a:lnTo>
                    <a:pt x="40044" y="996567"/>
                  </a:lnTo>
                  <a:lnTo>
                    <a:pt x="57408" y="1042709"/>
                  </a:lnTo>
                  <a:lnTo>
                    <a:pt x="77793" y="1087729"/>
                  </a:lnTo>
                  <a:lnTo>
                    <a:pt x="101155" y="1131481"/>
                  </a:lnTo>
                  <a:lnTo>
                    <a:pt x="127329" y="1173496"/>
                  </a:lnTo>
                  <a:lnTo>
                    <a:pt x="156097" y="1213605"/>
                  </a:lnTo>
                  <a:lnTo>
                    <a:pt x="187355" y="1251689"/>
                  </a:lnTo>
                  <a:lnTo>
                    <a:pt x="220995" y="1287630"/>
                  </a:lnTo>
                  <a:lnTo>
                    <a:pt x="256914" y="1321311"/>
                  </a:lnTo>
                  <a:lnTo>
                    <a:pt x="295004" y="1352612"/>
                  </a:lnTo>
                  <a:lnTo>
                    <a:pt x="335161" y="1381416"/>
                  </a:lnTo>
                  <a:lnTo>
                    <a:pt x="377278" y="1407604"/>
                  </a:lnTo>
                  <a:lnTo>
                    <a:pt x="420924" y="1430966"/>
                  </a:lnTo>
                  <a:lnTo>
                    <a:pt x="465894" y="1451351"/>
                  </a:lnTo>
                  <a:lnTo>
                    <a:pt x="512030" y="1468715"/>
                  </a:lnTo>
                  <a:lnTo>
                    <a:pt x="559169" y="1483018"/>
                  </a:lnTo>
                  <a:lnTo>
                    <a:pt x="607152" y="1494216"/>
                  </a:lnTo>
                  <a:lnTo>
                    <a:pt x="655819" y="1502268"/>
                  </a:lnTo>
                  <a:lnTo>
                    <a:pt x="705007" y="1507129"/>
                  </a:lnTo>
                  <a:lnTo>
                    <a:pt x="754557" y="1508760"/>
                  </a:lnTo>
                  <a:lnTo>
                    <a:pt x="803990" y="1507129"/>
                  </a:lnTo>
                  <a:lnTo>
                    <a:pt x="853090" y="1502268"/>
                  </a:lnTo>
                  <a:lnTo>
                    <a:pt x="901693" y="1494216"/>
                  </a:lnTo>
                  <a:lnTo>
                    <a:pt x="949634" y="1483018"/>
                  </a:lnTo>
                  <a:lnTo>
                    <a:pt x="996748" y="1468715"/>
                  </a:lnTo>
                  <a:lnTo>
                    <a:pt x="1042870" y="1451351"/>
                  </a:lnTo>
                  <a:lnTo>
                    <a:pt x="1087836" y="1430966"/>
                  </a:lnTo>
                  <a:lnTo>
                    <a:pt x="1131481" y="1407604"/>
                  </a:lnTo>
                  <a:lnTo>
                    <a:pt x="1173598" y="1381416"/>
                  </a:lnTo>
                  <a:lnTo>
                    <a:pt x="1213755" y="1352612"/>
                  </a:lnTo>
                  <a:lnTo>
                    <a:pt x="1251845" y="1321311"/>
                  </a:lnTo>
                  <a:lnTo>
                    <a:pt x="1287764" y="1287630"/>
                  </a:lnTo>
                  <a:lnTo>
                    <a:pt x="1321404" y="1251689"/>
                  </a:lnTo>
                  <a:lnTo>
                    <a:pt x="1352662" y="1213605"/>
                  </a:lnTo>
                  <a:lnTo>
                    <a:pt x="1381430" y="1173496"/>
                  </a:lnTo>
                  <a:lnTo>
                    <a:pt x="1407604" y="1131481"/>
                  </a:lnTo>
                  <a:lnTo>
                    <a:pt x="1430966" y="1087729"/>
                  </a:lnTo>
                  <a:lnTo>
                    <a:pt x="1451351" y="1042709"/>
                  </a:lnTo>
                  <a:lnTo>
                    <a:pt x="1468715" y="996567"/>
                  </a:lnTo>
                  <a:lnTo>
                    <a:pt x="1483018" y="949451"/>
                  </a:lnTo>
                  <a:lnTo>
                    <a:pt x="1494216" y="901509"/>
                  </a:lnTo>
                  <a:lnTo>
                    <a:pt x="1502268" y="852889"/>
                  </a:lnTo>
                  <a:lnTo>
                    <a:pt x="1507129" y="803737"/>
                  </a:lnTo>
                  <a:lnTo>
                    <a:pt x="1508759" y="754202"/>
                  </a:lnTo>
                  <a:lnTo>
                    <a:pt x="1507129" y="704662"/>
                  </a:lnTo>
                  <a:lnTo>
                    <a:pt x="1502268" y="655508"/>
                  </a:lnTo>
                  <a:lnTo>
                    <a:pt x="1494216" y="606885"/>
                  </a:lnTo>
                  <a:lnTo>
                    <a:pt x="1483018" y="558942"/>
                  </a:lnTo>
                  <a:lnTo>
                    <a:pt x="1468715" y="511827"/>
                  </a:lnTo>
                  <a:lnTo>
                    <a:pt x="1451351" y="465687"/>
                  </a:lnTo>
                  <a:lnTo>
                    <a:pt x="1430966" y="420670"/>
                  </a:lnTo>
                  <a:lnTo>
                    <a:pt x="1407604" y="376923"/>
                  </a:lnTo>
                  <a:lnTo>
                    <a:pt x="1381430" y="334907"/>
                  </a:lnTo>
                  <a:lnTo>
                    <a:pt x="1352662" y="294799"/>
                  </a:lnTo>
                  <a:lnTo>
                    <a:pt x="1321404" y="256714"/>
                  </a:lnTo>
                  <a:lnTo>
                    <a:pt x="1287764" y="220773"/>
                  </a:lnTo>
                  <a:lnTo>
                    <a:pt x="1251845" y="187093"/>
                  </a:lnTo>
                  <a:lnTo>
                    <a:pt x="1213755" y="155792"/>
                  </a:lnTo>
                  <a:lnTo>
                    <a:pt x="1173598" y="126988"/>
                  </a:lnTo>
                  <a:lnTo>
                    <a:pt x="1131481" y="100799"/>
                  </a:lnTo>
                  <a:lnTo>
                    <a:pt x="1087836" y="77449"/>
                  </a:lnTo>
                  <a:lnTo>
                    <a:pt x="1042870" y="57103"/>
                  </a:lnTo>
                  <a:lnTo>
                    <a:pt x="996748" y="39795"/>
                  </a:lnTo>
                  <a:lnTo>
                    <a:pt x="949634" y="25558"/>
                  </a:lnTo>
                  <a:lnTo>
                    <a:pt x="901693" y="14427"/>
                  </a:lnTo>
                  <a:lnTo>
                    <a:pt x="853090" y="6434"/>
                  </a:lnTo>
                  <a:lnTo>
                    <a:pt x="803990" y="1614"/>
                  </a:lnTo>
                  <a:lnTo>
                    <a:pt x="754557" y="0"/>
                  </a:lnTo>
                  <a:close/>
                </a:path>
              </a:pathLst>
            </a:custGeom>
            <a:solidFill>
              <a:srgbClr val="1A4B7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9921239" y="1600199"/>
              <a:ext cx="1508760" cy="1508760"/>
            </a:xfrm>
            <a:custGeom>
              <a:avLst/>
              <a:gdLst/>
              <a:ahLst/>
              <a:cxnLst/>
              <a:rect l="l" t="t" r="r" b="b"/>
              <a:pathLst>
                <a:path w="1508759" h="1508760">
                  <a:moveTo>
                    <a:pt x="0" y="754202"/>
                  </a:moveTo>
                  <a:lnTo>
                    <a:pt x="1630" y="704662"/>
                  </a:lnTo>
                  <a:lnTo>
                    <a:pt x="6491" y="655508"/>
                  </a:lnTo>
                  <a:lnTo>
                    <a:pt x="14543" y="606885"/>
                  </a:lnTo>
                  <a:lnTo>
                    <a:pt x="25741" y="558942"/>
                  </a:lnTo>
                  <a:lnTo>
                    <a:pt x="40044" y="511827"/>
                  </a:lnTo>
                  <a:lnTo>
                    <a:pt x="57408" y="465687"/>
                  </a:lnTo>
                  <a:lnTo>
                    <a:pt x="77793" y="420670"/>
                  </a:lnTo>
                  <a:lnTo>
                    <a:pt x="101155" y="376923"/>
                  </a:lnTo>
                  <a:lnTo>
                    <a:pt x="127329" y="334907"/>
                  </a:lnTo>
                  <a:lnTo>
                    <a:pt x="156097" y="294799"/>
                  </a:lnTo>
                  <a:lnTo>
                    <a:pt x="187355" y="256714"/>
                  </a:lnTo>
                  <a:lnTo>
                    <a:pt x="220995" y="220773"/>
                  </a:lnTo>
                  <a:lnTo>
                    <a:pt x="256914" y="187093"/>
                  </a:lnTo>
                  <a:lnTo>
                    <a:pt x="295004" y="155792"/>
                  </a:lnTo>
                  <a:lnTo>
                    <a:pt x="335161" y="126988"/>
                  </a:lnTo>
                  <a:lnTo>
                    <a:pt x="377278" y="100799"/>
                  </a:lnTo>
                  <a:lnTo>
                    <a:pt x="420924" y="77449"/>
                  </a:lnTo>
                  <a:lnTo>
                    <a:pt x="465894" y="57103"/>
                  </a:lnTo>
                  <a:lnTo>
                    <a:pt x="512030" y="39795"/>
                  </a:lnTo>
                  <a:lnTo>
                    <a:pt x="559169" y="25558"/>
                  </a:lnTo>
                  <a:lnTo>
                    <a:pt x="607152" y="14427"/>
                  </a:lnTo>
                  <a:lnTo>
                    <a:pt x="655819" y="6434"/>
                  </a:lnTo>
                  <a:lnTo>
                    <a:pt x="705007" y="1614"/>
                  </a:lnTo>
                  <a:lnTo>
                    <a:pt x="754557" y="0"/>
                  </a:lnTo>
                  <a:lnTo>
                    <a:pt x="803990" y="1614"/>
                  </a:lnTo>
                  <a:lnTo>
                    <a:pt x="853090" y="6434"/>
                  </a:lnTo>
                  <a:lnTo>
                    <a:pt x="901693" y="14427"/>
                  </a:lnTo>
                  <a:lnTo>
                    <a:pt x="949634" y="25558"/>
                  </a:lnTo>
                  <a:lnTo>
                    <a:pt x="996748" y="39795"/>
                  </a:lnTo>
                  <a:lnTo>
                    <a:pt x="1042870" y="57103"/>
                  </a:lnTo>
                  <a:lnTo>
                    <a:pt x="1087836" y="77449"/>
                  </a:lnTo>
                  <a:lnTo>
                    <a:pt x="1131481" y="100799"/>
                  </a:lnTo>
                  <a:lnTo>
                    <a:pt x="1173598" y="126988"/>
                  </a:lnTo>
                  <a:lnTo>
                    <a:pt x="1213755" y="155792"/>
                  </a:lnTo>
                  <a:lnTo>
                    <a:pt x="1251845" y="187093"/>
                  </a:lnTo>
                  <a:lnTo>
                    <a:pt x="1287764" y="220773"/>
                  </a:lnTo>
                  <a:lnTo>
                    <a:pt x="1321404" y="256714"/>
                  </a:lnTo>
                  <a:lnTo>
                    <a:pt x="1352662" y="294799"/>
                  </a:lnTo>
                  <a:lnTo>
                    <a:pt x="1381430" y="334907"/>
                  </a:lnTo>
                  <a:lnTo>
                    <a:pt x="1407604" y="376923"/>
                  </a:lnTo>
                  <a:lnTo>
                    <a:pt x="1430966" y="420670"/>
                  </a:lnTo>
                  <a:lnTo>
                    <a:pt x="1451351" y="465687"/>
                  </a:lnTo>
                  <a:lnTo>
                    <a:pt x="1468715" y="511827"/>
                  </a:lnTo>
                  <a:lnTo>
                    <a:pt x="1483018" y="558942"/>
                  </a:lnTo>
                  <a:lnTo>
                    <a:pt x="1494216" y="606885"/>
                  </a:lnTo>
                  <a:lnTo>
                    <a:pt x="1502268" y="655508"/>
                  </a:lnTo>
                  <a:lnTo>
                    <a:pt x="1507129" y="704662"/>
                  </a:lnTo>
                  <a:lnTo>
                    <a:pt x="1508759" y="754202"/>
                  </a:lnTo>
                  <a:lnTo>
                    <a:pt x="1507129" y="803737"/>
                  </a:lnTo>
                  <a:lnTo>
                    <a:pt x="1502268" y="852889"/>
                  </a:lnTo>
                  <a:lnTo>
                    <a:pt x="1494216" y="901509"/>
                  </a:lnTo>
                  <a:lnTo>
                    <a:pt x="1483018" y="949451"/>
                  </a:lnTo>
                  <a:lnTo>
                    <a:pt x="1468715" y="996567"/>
                  </a:lnTo>
                  <a:lnTo>
                    <a:pt x="1451351" y="1042709"/>
                  </a:lnTo>
                  <a:lnTo>
                    <a:pt x="1430966" y="1087729"/>
                  </a:lnTo>
                  <a:lnTo>
                    <a:pt x="1407604" y="1131481"/>
                  </a:lnTo>
                  <a:lnTo>
                    <a:pt x="1381430" y="1173496"/>
                  </a:lnTo>
                  <a:lnTo>
                    <a:pt x="1352662" y="1213605"/>
                  </a:lnTo>
                  <a:lnTo>
                    <a:pt x="1321404" y="1251689"/>
                  </a:lnTo>
                  <a:lnTo>
                    <a:pt x="1287764" y="1287630"/>
                  </a:lnTo>
                  <a:lnTo>
                    <a:pt x="1251845" y="1321311"/>
                  </a:lnTo>
                  <a:lnTo>
                    <a:pt x="1213755" y="1352612"/>
                  </a:lnTo>
                  <a:lnTo>
                    <a:pt x="1173598" y="1381416"/>
                  </a:lnTo>
                  <a:lnTo>
                    <a:pt x="1131481" y="1407604"/>
                  </a:lnTo>
                  <a:lnTo>
                    <a:pt x="1087836" y="1430966"/>
                  </a:lnTo>
                  <a:lnTo>
                    <a:pt x="1042870" y="1451351"/>
                  </a:lnTo>
                  <a:lnTo>
                    <a:pt x="996748" y="1468715"/>
                  </a:lnTo>
                  <a:lnTo>
                    <a:pt x="949634" y="1483018"/>
                  </a:lnTo>
                  <a:lnTo>
                    <a:pt x="901693" y="1494216"/>
                  </a:lnTo>
                  <a:lnTo>
                    <a:pt x="853090" y="1502268"/>
                  </a:lnTo>
                  <a:lnTo>
                    <a:pt x="803990" y="1507129"/>
                  </a:lnTo>
                  <a:lnTo>
                    <a:pt x="754557" y="1508760"/>
                  </a:lnTo>
                  <a:lnTo>
                    <a:pt x="705007" y="1507129"/>
                  </a:lnTo>
                  <a:lnTo>
                    <a:pt x="655819" y="1502268"/>
                  </a:lnTo>
                  <a:lnTo>
                    <a:pt x="607152" y="1494216"/>
                  </a:lnTo>
                  <a:lnTo>
                    <a:pt x="559169" y="1483018"/>
                  </a:lnTo>
                  <a:lnTo>
                    <a:pt x="512030" y="1468715"/>
                  </a:lnTo>
                  <a:lnTo>
                    <a:pt x="465894" y="1451351"/>
                  </a:lnTo>
                  <a:lnTo>
                    <a:pt x="420924" y="1430966"/>
                  </a:lnTo>
                  <a:lnTo>
                    <a:pt x="377278" y="1407604"/>
                  </a:lnTo>
                  <a:lnTo>
                    <a:pt x="335161" y="1381416"/>
                  </a:lnTo>
                  <a:lnTo>
                    <a:pt x="295004" y="1352612"/>
                  </a:lnTo>
                  <a:lnTo>
                    <a:pt x="256914" y="1321311"/>
                  </a:lnTo>
                  <a:lnTo>
                    <a:pt x="220995" y="1287630"/>
                  </a:lnTo>
                  <a:lnTo>
                    <a:pt x="187355" y="1251689"/>
                  </a:lnTo>
                  <a:lnTo>
                    <a:pt x="156097" y="1213605"/>
                  </a:lnTo>
                  <a:lnTo>
                    <a:pt x="127329" y="1173496"/>
                  </a:lnTo>
                  <a:lnTo>
                    <a:pt x="101155" y="1131481"/>
                  </a:lnTo>
                  <a:lnTo>
                    <a:pt x="77793" y="1087729"/>
                  </a:lnTo>
                  <a:lnTo>
                    <a:pt x="57408" y="1042709"/>
                  </a:lnTo>
                  <a:lnTo>
                    <a:pt x="40044" y="996567"/>
                  </a:lnTo>
                  <a:lnTo>
                    <a:pt x="25741" y="949451"/>
                  </a:lnTo>
                  <a:lnTo>
                    <a:pt x="14543" y="901509"/>
                  </a:lnTo>
                  <a:lnTo>
                    <a:pt x="6491" y="852889"/>
                  </a:lnTo>
                  <a:lnTo>
                    <a:pt x="1630" y="803737"/>
                  </a:lnTo>
                  <a:lnTo>
                    <a:pt x="0" y="754202"/>
                  </a:lnTo>
                  <a:close/>
                </a:path>
              </a:pathLst>
            </a:custGeom>
            <a:ln w="7559">
              <a:solidFill>
                <a:srgbClr val="1A4B7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8229244" y="2194204"/>
              <a:ext cx="1188720" cy="1188720"/>
            </a:xfrm>
            <a:custGeom>
              <a:avLst/>
              <a:gdLst/>
              <a:ahLst/>
              <a:cxnLst/>
              <a:rect l="l" t="t" r="r" b="b"/>
              <a:pathLst>
                <a:path w="1188720" h="1188720">
                  <a:moveTo>
                    <a:pt x="594360" y="0"/>
                  </a:moveTo>
                  <a:lnTo>
                    <a:pt x="542355" y="2268"/>
                  </a:lnTo>
                  <a:lnTo>
                    <a:pt x="490941" y="9025"/>
                  </a:lnTo>
                  <a:lnTo>
                    <a:pt x="440407" y="20202"/>
                  </a:lnTo>
                  <a:lnTo>
                    <a:pt x="391044" y="35729"/>
                  </a:lnTo>
                  <a:lnTo>
                    <a:pt x="343141" y="55536"/>
                  </a:lnTo>
                  <a:lnTo>
                    <a:pt x="296989" y="79552"/>
                  </a:lnTo>
                  <a:lnTo>
                    <a:pt x="253260" y="107533"/>
                  </a:lnTo>
                  <a:lnTo>
                    <a:pt x="212219" y="139125"/>
                  </a:lnTo>
                  <a:lnTo>
                    <a:pt x="174097" y="174097"/>
                  </a:lnTo>
                  <a:lnTo>
                    <a:pt x="139125" y="212219"/>
                  </a:lnTo>
                  <a:lnTo>
                    <a:pt x="107533" y="253260"/>
                  </a:lnTo>
                  <a:lnTo>
                    <a:pt x="79552" y="296989"/>
                  </a:lnTo>
                  <a:lnTo>
                    <a:pt x="55536" y="343141"/>
                  </a:lnTo>
                  <a:lnTo>
                    <a:pt x="35729" y="391044"/>
                  </a:lnTo>
                  <a:lnTo>
                    <a:pt x="20202" y="440407"/>
                  </a:lnTo>
                  <a:lnTo>
                    <a:pt x="9025" y="490941"/>
                  </a:lnTo>
                  <a:lnTo>
                    <a:pt x="2268" y="542355"/>
                  </a:lnTo>
                  <a:lnTo>
                    <a:pt x="0" y="594360"/>
                  </a:lnTo>
                  <a:lnTo>
                    <a:pt x="2268" y="646359"/>
                  </a:lnTo>
                  <a:lnTo>
                    <a:pt x="9025" y="697769"/>
                  </a:lnTo>
                  <a:lnTo>
                    <a:pt x="20202" y="748301"/>
                  </a:lnTo>
                  <a:lnTo>
                    <a:pt x="35729" y="797663"/>
                  </a:lnTo>
                  <a:lnTo>
                    <a:pt x="55536" y="845565"/>
                  </a:lnTo>
                  <a:lnTo>
                    <a:pt x="79552" y="891717"/>
                  </a:lnTo>
                  <a:lnTo>
                    <a:pt x="107533" y="935446"/>
                  </a:lnTo>
                  <a:lnTo>
                    <a:pt x="139125" y="976487"/>
                  </a:lnTo>
                  <a:lnTo>
                    <a:pt x="174097" y="1014609"/>
                  </a:lnTo>
                  <a:lnTo>
                    <a:pt x="212219" y="1049581"/>
                  </a:lnTo>
                  <a:lnTo>
                    <a:pt x="253260" y="1081173"/>
                  </a:lnTo>
                  <a:lnTo>
                    <a:pt x="296989" y="1109154"/>
                  </a:lnTo>
                  <a:lnTo>
                    <a:pt x="343141" y="1133172"/>
                  </a:lnTo>
                  <a:lnTo>
                    <a:pt x="391044" y="1152981"/>
                  </a:lnTo>
                  <a:lnTo>
                    <a:pt x="440407" y="1168511"/>
                  </a:lnTo>
                  <a:lnTo>
                    <a:pt x="490941" y="1179691"/>
                  </a:lnTo>
                  <a:lnTo>
                    <a:pt x="542355" y="1186451"/>
                  </a:lnTo>
                  <a:lnTo>
                    <a:pt x="594360" y="1188720"/>
                  </a:lnTo>
                  <a:lnTo>
                    <a:pt x="646357" y="1186451"/>
                  </a:lnTo>
                  <a:lnTo>
                    <a:pt x="697756" y="1179691"/>
                  </a:lnTo>
                  <a:lnTo>
                    <a:pt x="748255" y="1168511"/>
                  </a:lnTo>
                  <a:lnTo>
                    <a:pt x="797554" y="1152981"/>
                  </a:lnTo>
                  <a:lnTo>
                    <a:pt x="845352" y="1133172"/>
                  </a:lnTo>
                  <a:lnTo>
                    <a:pt x="891349" y="1109154"/>
                  </a:lnTo>
                  <a:lnTo>
                    <a:pt x="935233" y="1081173"/>
                  </a:lnTo>
                  <a:lnTo>
                    <a:pt x="976378" y="1049581"/>
                  </a:lnTo>
                  <a:lnTo>
                    <a:pt x="1014563" y="1014609"/>
                  </a:lnTo>
                  <a:lnTo>
                    <a:pt x="1049567" y="976487"/>
                  </a:lnTo>
                  <a:lnTo>
                    <a:pt x="1081171" y="935446"/>
                  </a:lnTo>
                  <a:lnTo>
                    <a:pt x="1109154" y="891717"/>
                  </a:lnTo>
                  <a:lnTo>
                    <a:pt x="1133172" y="845565"/>
                  </a:lnTo>
                  <a:lnTo>
                    <a:pt x="1152981" y="797663"/>
                  </a:lnTo>
                  <a:lnTo>
                    <a:pt x="1168511" y="748301"/>
                  </a:lnTo>
                  <a:lnTo>
                    <a:pt x="1179691" y="697769"/>
                  </a:lnTo>
                  <a:lnTo>
                    <a:pt x="1186451" y="646359"/>
                  </a:lnTo>
                  <a:lnTo>
                    <a:pt x="1188720" y="594360"/>
                  </a:lnTo>
                  <a:lnTo>
                    <a:pt x="1186451" y="542355"/>
                  </a:lnTo>
                  <a:lnTo>
                    <a:pt x="1179691" y="490941"/>
                  </a:lnTo>
                  <a:lnTo>
                    <a:pt x="1168511" y="440407"/>
                  </a:lnTo>
                  <a:lnTo>
                    <a:pt x="1152981" y="391044"/>
                  </a:lnTo>
                  <a:lnTo>
                    <a:pt x="1133172" y="343141"/>
                  </a:lnTo>
                  <a:lnTo>
                    <a:pt x="1109154" y="296989"/>
                  </a:lnTo>
                  <a:lnTo>
                    <a:pt x="1081171" y="253260"/>
                  </a:lnTo>
                  <a:lnTo>
                    <a:pt x="1049567" y="212219"/>
                  </a:lnTo>
                  <a:lnTo>
                    <a:pt x="1014563" y="174097"/>
                  </a:lnTo>
                  <a:lnTo>
                    <a:pt x="976378" y="139125"/>
                  </a:lnTo>
                  <a:lnTo>
                    <a:pt x="935233" y="107533"/>
                  </a:lnTo>
                  <a:lnTo>
                    <a:pt x="891349" y="79552"/>
                  </a:lnTo>
                  <a:lnTo>
                    <a:pt x="845352" y="55536"/>
                  </a:lnTo>
                  <a:lnTo>
                    <a:pt x="797554" y="35729"/>
                  </a:lnTo>
                  <a:lnTo>
                    <a:pt x="748255" y="20202"/>
                  </a:lnTo>
                  <a:lnTo>
                    <a:pt x="697756" y="9025"/>
                  </a:lnTo>
                  <a:lnTo>
                    <a:pt x="646357" y="2268"/>
                  </a:lnTo>
                  <a:lnTo>
                    <a:pt x="594360" y="0"/>
                  </a:lnTo>
                  <a:close/>
                </a:path>
              </a:pathLst>
            </a:custGeom>
            <a:solidFill>
              <a:srgbClr val="1B547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8229244" y="2194204"/>
              <a:ext cx="1188720" cy="1188720"/>
            </a:xfrm>
            <a:custGeom>
              <a:avLst/>
              <a:gdLst/>
              <a:ahLst/>
              <a:cxnLst/>
              <a:rect l="l" t="t" r="r" b="b"/>
              <a:pathLst>
                <a:path w="1188720" h="1188720">
                  <a:moveTo>
                    <a:pt x="0" y="594360"/>
                  </a:moveTo>
                  <a:lnTo>
                    <a:pt x="2268" y="542355"/>
                  </a:lnTo>
                  <a:lnTo>
                    <a:pt x="9025" y="490941"/>
                  </a:lnTo>
                  <a:lnTo>
                    <a:pt x="20202" y="440407"/>
                  </a:lnTo>
                  <a:lnTo>
                    <a:pt x="35729" y="391044"/>
                  </a:lnTo>
                  <a:lnTo>
                    <a:pt x="55536" y="343141"/>
                  </a:lnTo>
                  <a:lnTo>
                    <a:pt x="79552" y="296989"/>
                  </a:lnTo>
                  <a:lnTo>
                    <a:pt x="107533" y="253260"/>
                  </a:lnTo>
                  <a:lnTo>
                    <a:pt x="139125" y="212219"/>
                  </a:lnTo>
                  <a:lnTo>
                    <a:pt x="174097" y="174097"/>
                  </a:lnTo>
                  <a:lnTo>
                    <a:pt x="212219" y="139125"/>
                  </a:lnTo>
                  <a:lnTo>
                    <a:pt x="253260" y="107533"/>
                  </a:lnTo>
                  <a:lnTo>
                    <a:pt x="296989" y="79552"/>
                  </a:lnTo>
                  <a:lnTo>
                    <a:pt x="343141" y="55536"/>
                  </a:lnTo>
                  <a:lnTo>
                    <a:pt x="391044" y="35729"/>
                  </a:lnTo>
                  <a:lnTo>
                    <a:pt x="440407" y="20202"/>
                  </a:lnTo>
                  <a:lnTo>
                    <a:pt x="490941" y="9025"/>
                  </a:lnTo>
                  <a:lnTo>
                    <a:pt x="542355" y="2268"/>
                  </a:lnTo>
                  <a:lnTo>
                    <a:pt x="594360" y="0"/>
                  </a:lnTo>
                  <a:lnTo>
                    <a:pt x="646357" y="2268"/>
                  </a:lnTo>
                  <a:lnTo>
                    <a:pt x="697756" y="9025"/>
                  </a:lnTo>
                  <a:lnTo>
                    <a:pt x="748255" y="20202"/>
                  </a:lnTo>
                  <a:lnTo>
                    <a:pt x="797554" y="35729"/>
                  </a:lnTo>
                  <a:lnTo>
                    <a:pt x="845352" y="55536"/>
                  </a:lnTo>
                  <a:lnTo>
                    <a:pt x="891349" y="79552"/>
                  </a:lnTo>
                  <a:lnTo>
                    <a:pt x="935233" y="107533"/>
                  </a:lnTo>
                  <a:lnTo>
                    <a:pt x="976378" y="139125"/>
                  </a:lnTo>
                  <a:lnTo>
                    <a:pt x="1014563" y="174097"/>
                  </a:lnTo>
                  <a:lnTo>
                    <a:pt x="1049567" y="212219"/>
                  </a:lnTo>
                  <a:lnTo>
                    <a:pt x="1081171" y="253260"/>
                  </a:lnTo>
                  <a:lnTo>
                    <a:pt x="1109154" y="296989"/>
                  </a:lnTo>
                  <a:lnTo>
                    <a:pt x="1133172" y="343141"/>
                  </a:lnTo>
                  <a:lnTo>
                    <a:pt x="1152981" y="391044"/>
                  </a:lnTo>
                  <a:lnTo>
                    <a:pt x="1168511" y="440407"/>
                  </a:lnTo>
                  <a:lnTo>
                    <a:pt x="1179691" y="490941"/>
                  </a:lnTo>
                  <a:lnTo>
                    <a:pt x="1186451" y="542355"/>
                  </a:lnTo>
                  <a:lnTo>
                    <a:pt x="1188720" y="594360"/>
                  </a:lnTo>
                  <a:lnTo>
                    <a:pt x="1186451" y="646359"/>
                  </a:lnTo>
                  <a:lnTo>
                    <a:pt x="1179691" y="697769"/>
                  </a:lnTo>
                  <a:lnTo>
                    <a:pt x="1168511" y="748301"/>
                  </a:lnTo>
                  <a:lnTo>
                    <a:pt x="1152981" y="797663"/>
                  </a:lnTo>
                  <a:lnTo>
                    <a:pt x="1133172" y="845565"/>
                  </a:lnTo>
                  <a:lnTo>
                    <a:pt x="1109154" y="891717"/>
                  </a:lnTo>
                  <a:lnTo>
                    <a:pt x="1081171" y="935446"/>
                  </a:lnTo>
                  <a:lnTo>
                    <a:pt x="1049567" y="976487"/>
                  </a:lnTo>
                  <a:lnTo>
                    <a:pt x="1014563" y="1014609"/>
                  </a:lnTo>
                  <a:lnTo>
                    <a:pt x="976378" y="1049581"/>
                  </a:lnTo>
                  <a:lnTo>
                    <a:pt x="935233" y="1081173"/>
                  </a:lnTo>
                  <a:lnTo>
                    <a:pt x="891349" y="1109154"/>
                  </a:lnTo>
                  <a:lnTo>
                    <a:pt x="845352" y="1133172"/>
                  </a:lnTo>
                  <a:lnTo>
                    <a:pt x="797554" y="1152981"/>
                  </a:lnTo>
                  <a:lnTo>
                    <a:pt x="748255" y="1168511"/>
                  </a:lnTo>
                  <a:lnTo>
                    <a:pt x="697756" y="1179691"/>
                  </a:lnTo>
                  <a:lnTo>
                    <a:pt x="646357" y="1186451"/>
                  </a:lnTo>
                  <a:lnTo>
                    <a:pt x="594360" y="1188720"/>
                  </a:lnTo>
                  <a:lnTo>
                    <a:pt x="542355" y="1186451"/>
                  </a:lnTo>
                  <a:lnTo>
                    <a:pt x="490941" y="1179691"/>
                  </a:lnTo>
                  <a:lnTo>
                    <a:pt x="440407" y="1168511"/>
                  </a:lnTo>
                  <a:lnTo>
                    <a:pt x="391044" y="1152981"/>
                  </a:lnTo>
                  <a:lnTo>
                    <a:pt x="343141" y="1133172"/>
                  </a:lnTo>
                  <a:lnTo>
                    <a:pt x="296989" y="1109154"/>
                  </a:lnTo>
                  <a:lnTo>
                    <a:pt x="253260" y="1081173"/>
                  </a:lnTo>
                  <a:lnTo>
                    <a:pt x="212219" y="1049581"/>
                  </a:lnTo>
                  <a:lnTo>
                    <a:pt x="174097" y="1014609"/>
                  </a:lnTo>
                  <a:lnTo>
                    <a:pt x="139125" y="976487"/>
                  </a:lnTo>
                  <a:lnTo>
                    <a:pt x="107533" y="935446"/>
                  </a:lnTo>
                  <a:lnTo>
                    <a:pt x="79552" y="891717"/>
                  </a:lnTo>
                  <a:lnTo>
                    <a:pt x="55536" y="845565"/>
                  </a:lnTo>
                  <a:lnTo>
                    <a:pt x="35729" y="797663"/>
                  </a:lnTo>
                  <a:lnTo>
                    <a:pt x="20202" y="748301"/>
                  </a:lnTo>
                  <a:lnTo>
                    <a:pt x="9025" y="697769"/>
                  </a:lnTo>
                  <a:lnTo>
                    <a:pt x="2268" y="646359"/>
                  </a:lnTo>
                  <a:lnTo>
                    <a:pt x="0" y="594360"/>
                  </a:lnTo>
                  <a:close/>
                </a:path>
              </a:pathLst>
            </a:custGeom>
            <a:ln w="7559">
              <a:solidFill>
                <a:srgbClr val="1B547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7406639" y="868679"/>
              <a:ext cx="4114800" cy="2880360"/>
            </a:xfrm>
            <a:custGeom>
              <a:avLst/>
              <a:gdLst/>
              <a:ahLst/>
              <a:cxnLst/>
              <a:rect l="l" t="t" r="r" b="b"/>
              <a:pathLst>
                <a:path w="4114800" h="2880360">
                  <a:moveTo>
                    <a:pt x="0" y="320040"/>
                  </a:moveTo>
                  <a:lnTo>
                    <a:pt x="4114800" y="320395"/>
                  </a:lnTo>
                </a:path>
                <a:path w="4114800" h="2880360">
                  <a:moveTo>
                    <a:pt x="0" y="822960"/>
                  </a:moveTo>
                  <a:lnTo>
                    <a:pt x="4114800" y="823315"/>
                  </a:lnTo>
                </a:path>
                <a:path w="4114800" h="2880360">
                  <a:moveTo>
                    <a:pt x="0" y="1325880"/>
                  </a:moveTo>
                  <a:lnTo>
                    <a:pt x="4114800" y="1326235"/>
                  </a:lnTo>
                </a:path>
                <a:path w="4114800" h="2880360">
                  <a:moveTo>
                    <a:pt x="0" y="1828800"/>
                  </a:moveTo>
                  <a:lnTo>
                    <a:pt x="4114800" y="1829155"/>
                  </a:lnTo>
                </a:path>
                <a:path w="4114800" h="2880360">
                  <a:moveTo>
                    <a:pt x="0" y="2331720"/>
                  </a:moveTo>
                  <a:lnTo>
                    <a:pt x="4114800" y="2332075"/>
                  </a:lnTo>
                </a:path>
                <a:path w="4114800" h="2880360">
                  <a:moveTo>
                    <a:pt x="411479" y="0"/>
                  </a:moveTo>
                  <a:lnTo>
                    <a:pt x="411835" y="2880360"/>
                  </a:lnTo>
                </a:path>
                <a:path w="4114800" h="2880360">
                  <a:moveTo>
                    <a:pt x="1280159" y="0"/>
                  </a:moveTo>
                  <a:lnTo>
                    <a:pt x="1280515" y="2880360"/>
                  </a:lnTo>
                </a:path>
                <a:path w="4114800" h="2880360">
                  <a:moveTo>
                    <a:pt x="2148839" y="0"/>
                  </a:moveTo>
                  <a:lnTo>
                    <a:pt x="2149195" y="2880360"/>
                  </a:lnTo>
                </a:path>
                <a:path w="4114800" h="2880360">
                  <a:moveTo>
                    <a:pt x="3017519" y="0"/>
                  </a:moveTo>
                  <a:lnTo>
                    <a:pt x="3017875" y="2880360"/>
                  </a:lnTo>
                </a:path>
              </a:pathLst>
            </a:custGeom>
            <a:ln w="10079">
              <a:solidFill>
                <a:srgbClr val="2E628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7817395" y="1416964"/>
              <a:ext cx="1189355" cy="503555"/>
            </a:xfrm>
            <a:custGeom>
              <a:avLst/>
              <a:gdLst/>
              <a:ahLst/>
              <a:cxnLst/>
              <a:rect l="l" t="t" r="r" b="b"/>
              <a:pathLst>
                <a:path w="1189354" h="503555">
                  <a:moveTo>
                    <a:pt x="110159" y="0"/>
                  </a:moveTo>
                  <a:lnTo>
                    <a:pt x="68095" y="8352"/>
                  </a:lnTo>
                  <a:lnTo>
                    <a:pt x="32535" y="32213"/>
                  </a:lnTo>
                  <a:lnTo>
                    <a:pt x="8721" y="67882"/>
                  </a:lnTo>
                  <a:lnTo>
                    <a:pt x="368" y="109791"/>
                  </a:lnTo>
                  <a:lnTo>
                    <a:pt x="0" y="393471"/>
                  </a:lnTo>
                  <a:lnTo>
                    <a:pt x="939" y="407901"/>
                  </a:lnTo>
                  <a:lnTo>
                    <a:pt x="3736" y="421959"/>
                  </a:lnTo>
                  <a:lnTo>
                    <a:pt x="8307" y="435392"/>
                  </a:lnTo>
                  <a:lnTo>
                    <a:pt x="8358" y="435542"/>
                  </a:lnTo>
                  <a:lnTo>
                    <a:pt x="32224" y="471096"/>
                  </a:lnTo>
                  <a:lnTo>
                    <a:pt x="67882" y="494922"/>
                  </a:lnTo>
                  <a:lnTo>
                    <a:pt x="109804" y="503275"/>
                  </a:lnTo>
                  <a:lnTo>
                    <a:pt x="1079284" y="503275"/>
                  </a:lnTo>
                  <a:lnTo>
                    <a:pt x="1121355" y="494922"/>
                  </a:lnTo>
                  <a:lnTo>
                    <a:pt x="1156857" y="471096"/>
                  </a:lnTo>
                  <a:lnTo>
                    <a:pt x="1180654" y="435542"/>
                  </a:lnTo>
                  <a:lnTo>
                    <a:pt x="1189088" y="393471"/>
                  </a:lnTo>
                  <a:lnTo>
                    <a:pt x="1189064" y="109791"/>
                  </a:lnTo>
                  <a:lnTo>
                    <a:pt x="1180730" y="68088"/>
                  </a:lnTo>
                  <a:lnTo>
                    <a:pt x="1156863" y="32534"/>
                  </a:lnTo>
                  <a:lnTo>
                    <a:pt x="1121205" y="8708"/>
                  </a:lnTo>
                  <a:lnTo>
                    <a:pt x="107928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0077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7817395" y="1416964"/>
              <a:ext cx="1189355" cy="503555"/>
            </a:xfrm>
            <a:custGeom>
              <a:avLst/>
              <a:gdLst/>
              <a:ahLst/>
              <a:cxnLst/>
              <a:rect l="l" t="t" r="r" b="b"/>
              <a:pathLst>
                <a:path w="1189354" h="503555">
                  <a:moveTo>
                    <a:pt x="368" y="109791"/>
                  </a:moveTo>
                  <a:lnTo>
                    <a:pt x="1307" y="95374"/>
                  </a:lnTo>
                  <a:lnTo>
                    <a:pt x="4103" y="81359"/>
                  </a:lnTo>
                  <a:lnTo>
                    <a:pt x="23138" y="43003"/>
                  </a:lnTo>
                  <a:lnTo>
                    <a:pt x="55079" y="14757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1079284" y="355"/>
                  </a:lnTo>
                  <a:lnTo>
                    <a:pt x="1121205" y="8708"/>
                  </a:lnTo>
                  <a:lnTo>
                    <a:pt x="1156863" y="32534"/>
                  </a:lnTo>
                  <a:lnTo>
                    <a:pt x="1180730" y="68088"/>
                  </a:lnTo>
                  <a:lnTo>
                    <a:pt x="1189088" y="110159"/>
                  </a:lnTo>
                  <a:lnTo>
                    <a:pt x="1189088" y="393471"/>
                  </a:lnTo>
                  <a:lnTo>
                    <a:pt x="1188148" y="407896"/>
                  </a:lnTo>
                  <a:lnTo>
                    <a:pt x="1185351" y="421914"/>
                  </a:lnTo>
                  <a:lnTo>
                    <a:pt x="1166305" y="460264"/>
                  </a:lnTo>
                  <a:lnTo>
                    <a:pt x="1134364" y="488518"/>
                  </a:lnTo>
                  <a:lnTo>
                    <a:pt x="1093714" y="502335"/>
                  </a:lnTo>
                  <a:lnTo>
                    <a:pt x="1079284" y="503275"/>
                  </a:lnTo>
                  <a:lnTo>
                    <a:pt x="109804" y="503275"/>
                  </a:lnTo>
                  <a:lnTo>
                    <a:pt x="67882" y="494922"/>
                  </a:lnTo>
                  <a:lnTo>
                    <a:pt x="32224" y="471096"/>
                  </a:lnTo>
                  <a:lnTo>
                    <a:pt x="8358" y="435542"/>
                  </a:lnTo>
                  <a:lnTo>
                    <a:pt x="0" y="393471"/>
                  </a:lnTo>
                  <a:lnTo>
                    <a:pt x="368" y="109791"/>
                  </a:lnTo>
                  <a:close/>
                </a:path>
              </a:pathLst>
            </a:custGeom>
            <a:ln w="10079">
              <a:solidFill>
                <a:srgbClr val="0077D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7823515" y="1556537"/>
            <a:ext cx="875665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02260">
              <a:lnSpc>
                <a:spcPct val="100000"/>
              </a:lnSpc>
              <a:spcBef>
                <a:spcPts val="100"/>
              </a:spcBef>
            </a:pPr>
            <a:r>
              <a:rPr dirty="0" sz="1300" spc="-125">
                <a:solidFill>
                  <a:srgbClr val="FFFFFF"/>
                </a:solidFill>
                <a:latin typeface="Arial Black"/>
                <a:cs typeface="Arial Black"/>
              </a:rPr>
              <a:t>CLOUD</a:t>
            </a:r>
            <a:endParaRPr sz="1300">
              <a:latin typeface="Arial Black"/>
              <a:cs typeface="Arial Black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9275356" y="2234844"/>
            <a:ext cx="1199515" cy="513715"/>
            <a:chOff x="9275356" y="2234844"/>
            <a:chExt cx="1199515" cy="513715"/>
          </a:xfrm>
        </p:grpSpPr>
        <p:sp>
          <p:nvSpPr>
            <p:cNvPr id="15" name="object 15"/>
            <p:cNvSpPr/>
            <p:nvPr/>
          </p:nvSpPr>
          <p:spPr>
            <a:xfrm>
              <a:off x="9280436" y="2239924"/>
              <a:ext cx="1189355" cy="503555"/>
            </a:xfrm>
            <a:custGeom>
              <a:avLst/>
              <a:gdLst/>
              <a:ahLst/>
              <a:cxnLst/>
              <a:rect l="l" t="t" r="r" b="b"/>
              <a:pathLst>
                <a:path w="1189354" h="503555">
                  <a:moveTo>
                    <a:pt x="110159" y="0"/>
                  </a:moveTo>
                  <a:lnTo>
                    <a:pt x="68095" y="8352"/>
                  </a:lnTo>
                  <a:lnTo>
                    <a:pt x="32535" y="32213"/>
                  </a:lnTo>
                  <a:lnTo>
                    <a:pt x="8721" y="67882"/>
                  </a:lnTo>
                  <a:lnTo>
                    <a:pt x="368" y="109791"/>
                  </a:lnTo>
                  <a:lnTo>
                    <a:pt x="0" y="393471"/>
                  </a:lnTo>
                  <a:lnTo>
                    <a:pt x="939" y="407901"/>
                  </a:lnTo>
                  <a:lnTo>
                    <a:pt x="3736" y="421959"/>
                  </a:lnTo>
                  <a:lnTo>
                    <a:pt x="8307" y="435392"/>
                  </a:lnTo>
                  <a:lnTo>
                    <a:pt x="8358" y="435542"/>
                  </a:lnTo>
                  <a:lnTo>
                    <a:pt x="14770" y="448551"/>
                  </a:lnTo>
                  <a:lnTo>
                    <a:pt x="22686" y="460264"/>
                  </a:lnTo>
                  <a:lnTo>
                    <a:pt x="22788" y="460414"/>
                  </a:lnTo>
                  <a:lnTo>
                    <a:pt x="55079" y="488518"/>
                  </a:lnTo>
                  <a:lnTo>
                    <a:pt x="95379" y="502335"/>
                  </a:lnTo>
                  <a:lnTo>
                    <a:pt x="109804" y="503275"/>
                  </a:lnTo>
                  <a:lnTo>
                    <a:pt x="1079284" y="503275"/>
                  </a:lnTo>
                  <a:lnTo>
                    <a:pt x="1121355" y="494922"/>
                  </a:lnTo>
                  <a:lnTo>
                    <a:pt x="1156857" y="471096"/>
                  </a:lnTo>
                  <a:lnTo>
                    <a:pt x="1180654" y="435542"/>
                  </a:lnTo>
                  <a:lnTo>
                    <a:pt x="1180730" y="435392"/>
                  </a:lnTo>
                  <a:lnTo>
                    <a:pt x="1185336" y="421959"/>
                  </a:lnTo>
                  <a:lnTo>
                    <a:pt x="1188147" y="407901"/>
                  </a:lnTo>
                  <a:lnTo>
                    <a:pt x="1189088" y="393471"/>
                  </a:lnTo>
                  <a:lnTo>
                    <a:pt x="1189064" y="109791"/>
                  </a:lnTo>
                  <a:lnTo>
                    <a:pt x="1180730" y="68088"/>
                  </a:lnTo>
                  <a:lnTo>
                    <a:pt x="1156863" y="32534"/>
                  </a:lnTo>
                  <a:lnTo>
                    <a:pt x="1121205" y="8708"/>
                  </a:lnTo>
                  <a:lnTo>
                    <a:pt x="107928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34B3C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9280436" y="2239924"/>
              <a:ext cx="1189355" cy="503555"/>
            </a:xfrm>
            <a:custGeom>
              <a:avLst/>
              <a:gdLst/>
              <a:ahLst/>
              <a:cxnLst/>
              <a:rect l="l" t="t" r="r" b="b"/>
              <a:pathLst>
                <a:path w="1189354" h="503555">
                  <a:moveTo>
                    <a:pt x="368" y="109791"/>
                  </a:moveTo>
                  <a:lnTo>
                    <a:pt x="1307" y="95374"/>
                  </a:lnTo>
                  <a:lnTo>
                    <a:pt x="4103" y="81359"/>
                  </a:lnTo>
                  <a:lnTo>
                    <a:pt x="23138" y="43003"/>
                  </a:lnTo>
                  <a:lnTo>
                    <a:pt x="55079" y="14757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1079284" y="355"/>
                  </a:lnTo>
                  <a:lnTo>
                    <a:pt x="1121205" y="8708"/>
                  </a:lnTo>
                  <a:lnTo>
                    <a:pt x="1156863" y="32534"/>
                  </a:lnTo>
                  <a:lnTo>
                    <a:pt x="1180730" y="68088"/>
                  </a:lnTo>
                  <a:lnTo>
                    <a:pt x="1189088" y="110159"/>
                  </a:lnTo>
                  <a:lnTo>
                    <a:pt x="1189088" y="393471"/>
                  </a:lnTo>
                  <a:lnTo>
                    <a:pt x="1188148" y="407896"/>
                  </a:lnTo>
                  <a:lnTo>
                    <a:pt x="1185351" y="421914"/>
                  </a:lnTo>
                  <a:lnTo>
                    <a:pt x="1166305" y="460264"/>
                  </a:lnTo>
                  <a:lnTo>
                    <a:pt x="1134363" y="488518"/>
                  </a:lnTo>
                  <a:lnTo>
                    <a:pt x="1093714" y="502335"/>
                  </a:lnTo>
                  <a:lnTo>
                    <a:pt x="1079284" y="503275"/>
                  </a:lnTo>
                  <a:lnTo>
                    <a:pt x="109804" y="503275"/>
                  </a:lnTo>
                  <a:lnTo>
                    <a:pt x="67882" y="494922"/>
                  </a:lnTo>
                  <a:lnTo>
                    <a:pt x="32224" y="471096"/>
                  </a:lnTo>
                  <a:lnTo>
                    <a:pt x="8358" y="435542"/>
                  </a:lnTo>
                  <a:lnTo>
                    <a:pt x="0" y="393471"/>
                  </a:lnTo>
                  <a:lnTo>
                    <a:pt x="368" y="109791"/>
                  </a:lnTo>
                  <a:close/>
                </a:path>
              </a:pathLst>
            </a:custGeom>
            <a:ln w="10079">
              <a:solidFill>
                <a:srgbClr val="34B3C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/>
          <p:nvPr/>
        </p:nvSpPr>
        <p:spPr>
          <a:xfrm>
            <a:off x="8412480" y="1920239"/>
            <a:ext cx="1371600" cy="411480"/>
          </a:xfrm>
          <a:custGeom>
            <a:avLst/>
            <a:gdLst/>
            <a:ahLst/>
            <a:cxnLst/>
            <a:rect l="l" t="t" r="r" b="b"/>
            <a:pathLst>
              <a:path w="1371600" h="411480">
                <a:moveTo>
                  <a:pt x="0" y="0"/>
                </a:moveTo>
                <a:lnTo>
                  <a:pt x="914400" y="411480"/>
                </a:lnTo>
              </a:path>
              <a:path w="1371600" h="411480">
                <a:moveTo>
                  <a:pt x="731520" y="0"/>
                </a:moveTo>
                <a:lnTo>
                  <a:pt x="1371600" y="320039"/>
                </a:lnTo>
              </a:path>
            </a:pathLst>
          </a:custGeom>
          <a:ln w="19079">
            <a:solidFill>
              <a:srgbClr val="FFFFFF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9560875" y="2379497"/>
            <a:ext cx="858519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990">
              <a:lnSpc>
                <a:spcPct val="100000"/>
              </a:lnSpc>
              <a:spcBef>
                <a:spcPts val="100"/>
              </a:spcBef>
            </a:pPr>
            <a:r>
              <a:rPr dirty="0" sz="1300" spc="-10">
                <a:solidFill>
                  <a:srgbClr val="0F2339"/>
                </a:solidFill>
                <a:latin typeface="Arial Black"/>
                <a:cs typeface="Arial Black"/>
              </a:rPr>
              <a:t>AZURE</a:t>
            </a:r>
            <a:endParaRPr sz="1300">
              <a:latin typeface="Arial Black"/>
              <a:cs typeface="Arial Black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64184" y="3233420"/>
            <a:ext cx="6115685" cy="544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700">
                <a:solidFill>
                  <a:srgbClr val="D4E5F2"/>
                </a:solidFill>
                <a:latin typeface="Noto Sans"/>
                <a:cs typeface="Noto Sans"/>
              </a:rPr>
              <a:t>Day</a:t>
            </a:r>
            <a:r>
              <a:rPr dirty="0" sz="1700" spc="-25">
                <a:solidFill>
                  <a:srgbClr val="D4E5F2"/>
                </a:solidFill>
                <a:latin typeface="Noto Sans"/>
                <a:cs typeface="Noto Sans"/>
              </a:rPr>
              <a:t> </a:t>
            </a:r>
            <a:r>
              <a:rPr dirty="0" sz="1700">
                <a:solidFill>
                  <a:srgbClr val="D4E5F2"/>
                </a:solidFill>
                <a:latin typeface="Noto Sans"/>
                <a:cs typeface="Noto Sans"/>
              </a:rPr>
              <a:t>1</a:t>
            </a:r>
            <a:r>
              <a:rPr dirty="0" sz="1700" spc="-20">
                <a:solidFill>
                  <a:srgbClr val="D4E5F2"/>
                </a:solidFill>
                <a:latin typeface="Noto Sans"/>
                <a:cs typeface="Noto Sans"/>
              </a:rPr>
              <a:t> </a:t>
            </a:r>
            <a:r>
              <a:rPr dirty="0" sz="1700">
                <a:solidFill>
                  <a:srgbClr val="D4E5F2"/>
                </a:solidFill>
                <a:latin typeface="Noto Sans"/>
                <a:cs typeface="Noto Sans"/>
              </a:rPr>
              <a:t>Theory</a:t>
            </a:r>
            <a:r>
              <a:rPr dirty="0" sz="1700" spc="-25">
                <a:solidFill>
                  <a:srgbClr val="D4E5F2"/>
                </a:solidFill>
                <a:latin typeface="Noto Sans"/>
                <a:cs typeface="Noto Sans"/>
              </a:rPr>
              <a:t> </a:t>
            </a:r>
            <a:r>
              <a:rPr dirty="0" sz="1700">
                <a:solidFill>
                  <a:srgbClr val="D4E5F2"/>
                </a:solidFill>
                <a:latin typeface="Noto Sans"/>
                <a:cs typeface="Noto Sans"/>
              </a:rPr>
              <a:t>•</a:t>
            </a:r>
            <a:r>
              <a:rPr dirty="0" sz="1700" spc="-20">
                <a:solidFill>
                  <a:srgbClr val="D4E5F2"/>
                </a:solidFill>
                <a:latin typeface="Noto Sans"/>
                <a:cs typeface="Noto Sans"/>
              </a:rPr>
              <a:t> </a:t>
            </a:r>
            <a:r>
              <a:rPr dirty="0" sz="1700">
                <a:solidFill>
                  <a:srgbClr val="D4E5F2"/>
                </a:solidFill>
                <a:latin typeface="Noto Sans"/>
                <a:cs typeface="Noto Sans"/>
              </a:rPr>
              <a:t>Cloud</a:t>
            </a:r>
            <a:r>
              <a:rPr dirty="0" sz="1700" spc="-25">
                <a:solidFill>
                  <a:srgbClr val="D4E5F2"/>
                </a:solidFill>
                <a:latin typeface="Noto Sans"/>
                <a:cs typeface="Noto Sans"/>
              </a:rPr>
              <a:t> </a:t>
            </a:r>
            <a:r>
              <a:rPr dirty="0" sz="1700">
                <a:solidFill>
                  <a:srgbClr val="D4E5F2"/>
                </a:solidFill>
                <a:latin typeface="Noto Sans"/>
                <a:cs typeface="Noto Sans"/>
              </a:rPr>
              <a:t>concepts</a:t>
            </a:r>
            <a:r>
              <a:rPr dirty="0" sz="1700" spc="-20">
                <a:solidFill>
                  <a:srgbClr val="D4E5F2"/>
                </a:solidFill>
                <a:latin typeface="Noto Sans"/>
                <a:cs typeface="Noto Sans"/>
              </a:rPr>
              <a:t> </a:t>
            </a:r>
            <a:r>
              <a:rPr dirty="0" sz="1700">
                <a:solidFill>
                  <a:srgbClr val="D4E5F2"/>
                </a:solidFill>
                <a:latin typeface="Noto Sans"/>
                <a:cs typeface="Noto Sans"/>
              </a:rPr>
              <a:t>first,</a:t>
            </a:r>
            <a:r>
              <a:rPr dirty="0" sz="1700" spc="-25">
                <a:solidFill>
                  <a:srgbClr val="D4E5F2"/>
                </a:solidFill>
                <a:latin typeface="Noto Sans"/>
                <a:cs typeface="Noto Sans"/>
              </a:rPr>
              <a:t> </a:t>
            </a:r>
            <a:r>
              <a:rPr dirty="0" sz="1700">
                <a:solidFill>
                  <a:srgbClr val="D4E5F2"/>
                </a:solidFill>
                <a:latin typeface="Noto Sans"/>
                <a:cs typeface="Noto Sans"/>
              </a:rPr>
              <a:t>then</a:t>
            </a:r>
            <a:r>
              <a:rPr dirty="0" sz="1700" spc="-20">
                <a:solidFill>
                  <a:srgbClr val="D4E5F2"/>
                </a:solidFill>
                <a:latin typeface="Noto Sans"/>
                <a:cs typeface="Noto Sans"/>
              </a:rPr>
              <a:t> </a:t>
            </a:r>
            <a:r>
              <a:rPr dirty="0" sz="1700">
                <a:solidFill>
                  <a:srgbClr val="D4E5F2"/>
                </a:solidFill>
                <a:latin typeface="Noto Sans"/>
                <a:cs typeface="Noto Sans"/>
              </a:rPr>
              <a:t>Azure</a:t>
            </a:r>
            <a:r>
              <a:rPr dirty="0" sz="1700" spc="-25">
                <a:solidFill>
                  <a:srgbClr val="D4E5F2"/>
                </a:solidFill>
                <a:latin typeface="Noto Sans"/>
                <a:cs typeface="Noto Sans"/>
              </a:rPr>
              <a:t> </a:t>
            </a:r>
            <a:r>
              <a:rPr dirty="0" sz="1700" spc="-10">
                <a:solidFill>
                  <a:srgbClr val="D4E5F2"/>
                </a:solidFill>
                <a:latin typeface="Noto Sans"/>
                <a:cs typeface="Noto Sans"/>
              </a:rPr>
              <a:t>architecture, </a:t>
            </a:r>
            <a:r>
              <a:rPr dirty="0" sz="1700">
                <a:solidFill>
                  <a:srgbClr val="D4E5F2"/>
                </a:solidFill>
                <a:latin typeface="Noto Sans"/>
                <a:cs typeface="Noto Sans"/>
              </a:rPr>
              <a:t>hierarchy</a:t>
            </a:r>
            <a:r>
              <a:rPr dirty="0" sz="1700" spc="-40">
                <a:solidFill>
                  <a:srgbClr val="D4E5F2"/>
                </a:solidFill>
                <a:latin typeface="Noto Sans"/>
                <a:cs typeface="Noto Sans"/>
              </a:rPr>
              <a:t> </a:t>
            </a:r>
            <a:r>
              <a:rPr dirty="0" sz="1700">
                <a:solidFill>
                  <a:srgbClr val="D4E5F2"/>
                </a:solidFill>
                <a:latin typeface="Noto Sans"/>
                <a:cs typeface="Noto Sans"/>
              </a:rPr>
              <a:t>and</a:t>
            </a:r>
            <a:r>
              <a:rPr dirty="0" sz="1700" spc="-35">
                <a:solidFill>
                  <a:srgbClr val="D4E5F2"/>
                </a:solidFill>
                <a:latin typeface="Noto Sans"/>
                <a:cs typeface="Noto Sans"/>
              </a:rPr>
              <a:t> </a:t>
            </a:r>
            <a:r>
              <a:rPr dirty="0" sz="1700">
                <a:solidFill>
                  <a:srgbClr val="D4E5F2"/>
                </a:solidFill>
                <a:latin typeface="Noto Sans"/>
                <a:cs typeface="Noto Sans"/>
              </a:rPr>
              <a:t>access</a:t>
            </a:r>
            <a:r>
              <a:rPr dirty="0" sz="1700" spc="-40">
                <a:solidFill>
                  <a:srgbClr val="D4E5F2"/>
                </a:solidFill>
                <a:latin typeface="Noto Sans"/>
                <a:cs typeface="Noto Sans"/>
              </a:rPr>
              <a:t> </a:t>
            </a:r>
            <a:r>
              <a:rPr dirty="0" sz="1700" spc="-10">
                <a:solidFill>
                  <a:srgbClr val="D4E5F2"/>
                </a:solidFill>
                <a:latin typeface="Noto Sans"/>
                <a:cs typeface="Noto Sans"/>
              </a:rPr>
              <a:t>control</a:t>
            </a:r>
            <a:endParaRPr sz="1700">
              <a:latin typeface="Noto Sans"/>
              <a:cs typeface="Noto Sans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777240" y="4160520"/>
            <a:ext cx="5349240" cy="635"/>
          </a:xfrm>
          <a:custGeom>
            <a:avLst/>
            <a:gdLst/>
            <a:ahLst/>
            <a:cxnLst/>
            <a:rect l="l" t="t" r="r" b="b"/>
            <a:pathLst>
              <a:path w="5349240" h="635">
                <a:moveTo>
                  <a:pt x="0" y="0"/>
                </a:moveTo>
                <a:lnTo>
                  <a:pt x="5349240" y="355"/>
                </a:lnTo>
              </a:path>
            </a:pathLst>
          </a:custGeom>
          <a:ln w="29159">
            <a:solidFill>
              <a:srgbClr val="34B3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764184" y="4421060"/>
            <a:ext cx="5761355" cy="4362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350">
                <a:solidFill>
                  <a:srgbClr val="FFFFFF"/>
                </a:solidFill>
                <a:latin typeface="Noto Sans"/>
                <a:cs typeface="Noto Sans"/>
              </a:rPr>
              <a:t>IaaS</a:t>
            </a:r>
            <a:r>
              <a:rPr dirty="0" sz="1350" spc="-30">
                <a:solidFill>
                  <a:srgbClr val="FFFFFF"/>
                </a:solidFill>
                <a:latin typeface="Noto Sans"/>
                <a:cs typeface="Noto Sans"/>
              </a:rPr>
              <a:t> </a:t>
            </a:r>
            <a:r>
              <a:rPr dirty="0" sz="1350">
                <a:solidFill>
                  <a:srgbClr val="FFFFFF"/>
                </a:solidFill>
                <a:latin typeface="Noto Sans"/>
                <a:cs typeface="Noto Sans"/>
              </a:rPr>
              <a:t>vs</a:t>
            </a:r>
            <a:r>
              <a:rPr dirty="0" sz="1350" spc="-35">
                <a:solidFill>
                  <a:srgbClr val="FFFFFF"/>
                </a:solidFill>
                <a:latin typeface="Noto Sans"/>
                <a:cs typeface="Noto Sans"/>
              </a:rPr>
              <a:t> </a:t>
            </a:r>
            <a:r>
              <a:rPr dirty="0" sz="1350">
                <a:solidFill>
                  <a:srgbClr val="FFFFFF"/>
                </a:solidFill>
                <a:latin typeface="Noto Sans"/>
                <a:cs typeface="Noto Sans"/>
              </a:rPr>
              <a:t>PaaS</a:t>
            </a:r>
            <a:r>
              <a:rPr dirty="0" sz="1350" spc="295">
                <a:solidFill>
                  <a:srgbClr val="FFFFFF"/>
                </a:solidFill>
                <a:latin typeface="Noto Sans"/>
                <a:cs typeface="Noto Sans"/>
              </a:rPr>
              <a:t> </a:t>
            </a:r>
            <a:r>
              <a:rPr dirty="0" sz="1350">
                <a:solidFill>
                  <a:srgbClr val="FFFFFF"/>
                </a:solidFill>
                <a:latin typeface="Noto Sans"/>
                <a:cs typeface="Noto Sans"/>
              </a:rPr>
              <a:t>•</a:t>
            </a:r>
            <a:r>
              <a:rPr dirty="0" sz="1350" spc="295">
                <a:solidFill>
                  <a:srgbClr val="FFFFFF"/>
                </a:solidFill>
                <a:latin typeface="Noto Sans"/>
                <a:cs typeface="Noto Sans"/>
              </a:rPr>
              <a:t> </a:t>
            </a:r>
            <a:r>
              <a:rPr dirty="0" sz="1350" spc="-10">
                <a:solidFill>
                  <a:srgbClr val="FFFFFF"/>
                </a:solidFill>
                <a:latin typeface="Noto Sans"/>
                <a:cs typeface="Noto Sans"/>
              </a:rPr>
              <a:t>Shared</a:t>
            </a:r>
            <a:r>
              <a:rPr dirty="0" sz="1350" spc="-35">
                <a:solidFill>
                  <a:srgbClr val="FFFFFF"/>
                </a:solidFill>
                <a:latin typeface="Noto Sans"/>
                <a:cs typeface="Noto Sans"/>
              </a:rPr>
              <a:t> </a:t>
            </a:r>
            <a:r>
              <a:rPr dirty="0" sz="1350">
                <a:solidFill>
                  <a:srgbClr val="FFFFFF"/>
                </a:solidFill>
                <a:latin typeface="Noto Sans"/>
                <a:cs typeface="Noto Sans"/>
              </a:rPr>
              <a:t>Responsibility</a:t>
            </a:r>
            <a:r>
              <a:rPr dirty="0" sz="1350" spc="295">
                <a:solidFill>
                  <a:srgbClr val="FFFFFF"/>
                </a:solidFill>
                <a:latin typeface="Noto Sans"/>
                <a:cs typeface="Noto Sans"/>
              </a:rPr>
              <a:t> </a:t>
            </a:r>
            <a:r>
              <a:rPr dirty="0" sz="1350">
                <a:solidFill>
                  <a:srgbClr val="FFFFFF"/>
                </a:solidFill>
                <a:latin typeface="Noto Sans"/>
                <a:cs typeface="Noto Sans"/>
              </a:rPr>
              <a:t>•</a:t>
            </a:r>
            <a:r>
              <a:rPr dirty="0" sz="1350" spc="295">
                <a:solidFill>
                  <a:srgbClr val="FFFFFF"/>
                </a:solidFill>
                <a:latin typeface="Noto Sans"/>
                <a:cs typeface="Noto Sans"/>
              </a:rPr>
              <a:t> </a:t>
            </a:r>
            <a:r>
              <a:rPr dirty="0" sz="1350">
                <a:solidFill>
                  <a:srgbClr val="FFFFFF"/>
                </a:solidFill>
                <a:latin typeface="Noto Sans"/>
                <a:cs typeface="Noto Sans"/>
              </a:rPr>
              <a:t>Regions</a:t>
            </a:r>
            <a:r>
              <a:rPr dirty="0" sz="1350" spc="-35">
                <a:solidFill>
                  <a:srgbClr val="FFFFFF"/>
                </a:solidFill>
                <a:latin typeface="Noto Sans"/>
                <a:cs typeface="Noto Sans"/>
              </a:rPr>
              <a:t> </a:t>
            </a:r>
            <a:r>
              <a:rPr dirty="0" sz="1350">
                <a:solidFill>
                  <a:srgbClr val="FFFFFF"/>
                </a:solidFill>
                <a:latin typeface="Noto Sans"/>
                <a:cs typeface="Noto Sans"/>
              </a:rPr>
              <a:t>&amp;</a:t>
            </a:r>
            <a:r>
              <a:rPr dirty="0" sz="1350" spc="-25">
                <a:solidFill>
                  <a:srgbClr val="FFFFFF"/>
                </a:solidFill>
                <a:latin typeface="Noto Sans"/>
                <a:cs typeface="Noto Sans"/>
              </a:rPr>
              <a:t> </a:t>
            </a:r>
            <a:r>
              <a:rPr dirty="0" sz="1350">
                <a:solidFill>
                  <a:srgbClr val="FFFFFF"/>
                </a:solidFill>
                <a:latin typeface="Noto Sans"/>
                <a:cs typeface="Noto Sans"/>
              </a:rPr>
              <a:t>Resilience</a:t>
            </a:r>
            <a:r>
              <a:rPr dirty="0" sz="1350" spc="290">
                <a:solidFill>
                  <a:srgbClr val="FFFFFF"/>
                </a:solidFill>
                <a:latin typeface="Noto Sans"/>
                <a:cs typeface="Noto Sans"/>
              </a:rPr>
              <a:t> </a:t>
            </a:r>
            <a:r>
              <a:rPr dirty="0" sz="1350">
                <a:solidFill>
                  <a:srgbClr val="FFFFFF"/>
                </a:solidFill>
                <a:latin typeface="Noto Sans"/>
                <a:cs typeface="Noto Sans"/>
              </a:rPr>
              <a:t>•</a:t>
            </a:r>
            <a:r>
              <a:rPr dirty="0" sz="1350" spc="295">
                <a:solidFill>
                  <a:srgbClr val="FFFFFF"/>
                </a:solidFill>
                <a:latin typeface="Noto Sans"/>
                <a:cs typeface="Noto Sans"/>
              </a:rPr>
              <a:t> </a:t>
            </a:r>
            <a:r>
              <a:rPr dirty="0" sz="1350" spc="-20">
                <a:solidFill>
                  <a:srgbClr val="FFFFFF"/>
                </a:solidFill>
                <a:latin typeface="Noto Sans"/>
                <a:cs typeface="Noto Sans"/>
              </a:rPr>
              <a:t>Tenant</a:t>
            </a:r>
            <a:r>
              <a:rPr dirty="0" sz="1350" spc="-30">
                <a:solidFill>
                  <a:srgbClr val="FFFFFF"/>
                </a:solidFill>
                <a:latin typeface="Noto Sans"/>
                <a:cs typeface="Noto Sans"/>
              </a:rPr>
              <a:t> </a:t>
            </a:r>
            <a:r>
              <a:rPr dirty="0" sz="1350" spc="-50">
                <a:solidFill>
                  <a:srgbClr val="FFFFFF"/>
                </a:solidFill>
                <a:latin typeface="Noto Sans"/>
                <a:cs typeface="Noto Sans"/>
              </a:rPr>
              <a:t>/ </a:t>
            </a:r>
            <a:r>
              <a:rPr dirty="0" sz="1350" spc="-10">
                <a:solidFill>
                  <a:srgbClr val="FFFFFF"/>
                </a:solidFill>
                <a:latin typeface="Noto Sans"/>
                <a:cs typeface="Noto Sans"/>
              </a:rPr>
              <a:t>Subscription</a:t>
            </a:r>
            <a:r>
              <a:rPr dirty="0" sz="1350" spc="-25">
                <a:solidFill>
                  <a:srgbClr val="FFFFFF"/>
                </a:solidFill>
                <a:latin typeface="Noto Sans"/>
                <a:cs typeface="Noto Sans"/>
              </a:rPr>
              <a:t> </a:t>
            </a:r>
            <a:r>
              <a:rPr dirty="0" sz="1350">
                <a:solidFill>
                  <a:srgbClr val="FFFFFF"/>
                </a:solidFill>
                <a:latin typeface="Noto Sans"/>
                <a:cs typeface="Noto Sans"/>
              </a:rPr>
              <a:t>/</a:t>
            </a:r>
            <a:r>
              <a:rPr dirty="0" sz="1350" spc="-15">
                <a:solidFill>
                  <a:srgbClr val="FFFFFF"/>
                </a:solidFill>
                <a:latin typeface="Noto Sans"/>
                <a:cs typeface="Noto Sans"/>
              </a:rPr>
              <a:t> </a:t>
            </a:r>
            <a:r>
              <a:rPr dirty="0" sz="1350" spc="-10">
                <a:solidFill>
                  <a:srgbClr val="FFFFFF"/>
                </a:solidFill>
                <a:latin typeface="Noto Sans"/>
                <a:cs typeface="Noto Sans"/>
              </a:rPr>
              <a:t>Resource</a:t>
            </a:r>
            <a:r>
              <a:rPr dirty="0" sz="1350" spc="-15">
                <a:solidFill>
                  <a:srgbClr val="FFFFFF"/>
                </a:solidFill>
                <a:latin typeface="Noto Sans"/>
                <a:cs typeface="Noto Sans"/>
              </a:rPr>
              <a:t> </a:t>
            </a:r>
            <a:r>
              <a:rPr dirty="0" sz="1350">
                <a:solidFill>
                  <a:srgbClr val="FFFFFF"/>
                </a:solidFill>
                <a:latin typeface="Noto Sans"/>
                <a:cs typeface="Noto Sans"/>
              </a:rPr>
              <a:t>Group</a:t>
            </a:r>
            <a:r>
              <a:rPr dirty="0" sz="1350" spc="315">
                <a:solidFill>
                  <a:srgbClr val="FFFFFF"/>
                </a:solidFill>
                <a:latin typeface="Noto Sans"/>
                <a:cs typeface="Noto Sans"/>
              </a:rPr>
              <a:t> </a:t>
            </a:r>
            <a:r>
              <a:rPr dirty="0" sz="1350">
                <a:solidFill>
                  <a:srgbClr val="FFFFFF"/>
                </a:solidFill>
                <a:latin typeface="Noto Sans"/>
                <a:cs typeface="Noto Sans"/>
              </a:rPr>
              <a:t>•</a:t>
            </a:r>
            <a:r>
              <a:rPr dirty="0" sz="1350" spc="315">
                <a:solidFill>
                  <a:srgbClr val="FFFFFF"/>
                </a:solidFill>
                <a:latin typeface="Noto Sans"/>
                <a:cs typeface="Noto Sans"/>
              </a:rPr>
              <a:t> </a:t>
            </a:r>
            <a:r>
              <a:rPr dirty="0" sz="1350" spc="-20">
                <a:solidFill>
                  <a:srgbClr val="FFFFFF"/>
                </a:solidFill>
                <a:latin typeface="Noto Sans"/>
                <a:cs typeface="Noto Sans"/>
              </a:rPr>
              <a:t>RBAC</a:t>
            </a:r>
            <a:endParaRPr sz="1350">
              <a:latin typeface="Noto Sans"/>
              <a:cs typeface="Noto San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64184" y="6197307"/>
            <a:ext cx="328993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AEC5D8"/>
                </a:solidFill>
                <a:latin typeface="Noto Sans"/>
                <a:cs typeface="Noto Sans"/>
              </a:rPr>
              <a:t>Designed</a:t>
            </a:r>
            <a:r>
              <a:rPr dirty="0" sz="1000" spc="-25">
                <a:solidFill>
                  <a:srgbClr val="AEC5D8"/>
                </a:solidFill>
                <a:latin typeface="Noto Sans"/>
                <a:cs typeface="Noto Sans"/>
              </a:rPr>
              <a:t> </a:t>
            </a:r>
            <a:r>
              <a:rPr dirty="0" sz="1000">
                <a:solidFill>
                  <a:srgbClr val="AEC5D8"/>
                </a:solidFill>
                <a:latin typeface="Noto Sans"/>
                <a:cs typeface="Noto Sans"/>
              </a:rPr>
              <a:t>for</a:t>
            </a:r>
            <a:r>
              <a:rPr dirty="0" sz="1000" spc="-20">
                <a:solidFill>
                  <a:srgbClr val="AEC5D8"/>
                </a:solidFill>
                <a:latin typeface="Noto Sans"/>
                <a:cs typeface="Noto Sans"/>
              </a:rPr>
              <a:t> </a:t>
            </a:r>
            <a:r>
              <a:rPr dirty="0" sz="1000">
                <a:solidFill>
                  <a:srgbClr val="AEC5D8"/>
                </a:solidFill>
                <a:latin typeface="Noto Sans"/>
                <a:cs typeface="Noto Sans"/>
              </a:rPr>
              <a:t>a</a:t>
            </a:r>
            <a:r>
              <a:rPr dirty="0" sz="1000" spc="-25">
                <a:solidFill>
                  <a:srgbClr val="AEC5D8"/>
                </a:solidFill>
                <a:latin typeface="Noto Sans"/>
                <a:cs typeface="Noto Sans"/>
              </a:rPr>
              <a:t> </a:t>
            </a:r>
            <a:r>
              <a:rPr dirty="0" sz="1000" spc="-10">
                <a:solidFill>
                  <a:srgbClr val="AEC5D8"/>
                </a:solidFill>
                <a:latin typeface="Noto Sans"/>
                <a:cs typeface="Noto Sans"/>
              </a:rPr>
              <a:t>beginner-</a:t>
            </a:r>
            <a:r>
              <a:rPr dirty="0" sz="1000">
                <a:solidFill>
                  <a:srgbClr val="AEC5D8"/>
                </a:solidFill>
                <a:latin typeface="Noto Sans"/>
                <a:cs typeface="Noto Sans"/>
              </a:rPr>
              <a:t>friendly</a:t>
            </a:r>
            <a:r>
              <a:rPr dirty="0" sz="1000" spc="-20">
                <a:solidFill>
                  <a:srgbClr val="AEC5D8"/>
                </a:solidFill>
                <a:latin typeface="Noto Sans"/>
                <a:cs typeface="Noto Sans"/>
              </a:rPr>
              <a:t> </a:t>
            </a:r>
            <a:r>
              <a:rPr dirty="0" sz="1000" spc="-10">
                <a:solidFill>
                  <a:srgbClr val="AEC5D8"/>
                </a:solidFill>
                <a:latin typeface="Noto Sans"/>
                <a:cs typeface="Noto Sans"/>
              </a:rPr>
              <a:t>4-</a:t>
            </a:r>
            <a:r>
              <a:rPr dirty="0" sz="1000">
                <a:solidFill>
                  <a:srgbClr val="AEC5D8"/>
                </a:solidFill>
                <a:latin typeface="Noto Sans"/>
                <a:cs typeface="Noto Sans"/>
              </a:rPr>
              <a:t>hour</a:t>
            </a:r>
            <a:r>
              <a:rPr dirty="0" sz="1000" spc="-20">
                <a:solidFill>
                  <a:srgbClr val="AEC5D8"/>
                </a:solidFill>
                <a:latin typeface="Noto Sans"/>
                <a:cs typeface="Noto Sans"/>
              </a:rPr>
              <a:t> </a:t>
            </a:r>
            <a:r>
              <a:rPr dirty="0" sz="1000">
                <a:solidFill>
                  <a:srgbClr val="AEC5D8"/>
                </a:solidFill>
                <a:latin typeface="Noto Sans"/>
                <a:cs typeface="Noto Sans"/>
              </a:rPr>
              <a:t>theory</a:t>
            </a:r>
            <a:r>
              <a:rPr dirty="0" sz="1000" spc="-25">
                <a:solidFill>
                  <a:srgbClr val="AEC5D8"/>
                </a:solidFill>
                <a:latin typeface="Noto Sans"/>
                <a:cs typeface="Noto Sans"/>
              </a:rPr>
              <a:t> </a:t>
            </a:r>
            <a:r>
              <a:rPr dirty="0" sz="1000" spc="-10">
                <a:solidFill>
                  <a:srgbClr val="AEC5D8"/>
                </a:solidFill>
                <a:latin typeface="Noto Sans"/>
                <a:cs typeface="Noto Sans"/>
              </a:rPr>
              <a:t>session</a:t>
            </a:r>
            <a:endParaRPr sz="1000">
              <a:latin typeface="Noto Sans"/>
              <a:cs typeface="Noto San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1378056" y="6483502"/>
            <a:ext cx="156210" cy="163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60">
                <a:solidFill>
                  <a:srgbClr val="34B3CE"/>
                </a:solidFill>
                <a:latin typeface="Arial Black"/>
                <a:cs typeface="Arial Black"/>
              </a:rPr>
              <a:t>01</a:t>
            </a:r>
            <a:endParaRPr sz="9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3935" y="299427"/>
            <a:ext cx="161417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5">
                <a:solidFill>
                  <a:srgbClr val="0077D3"/>
                </a:solidFill>
                <a:latin typeface="Arial Black"/>
                <a:cs typeface="Arial Black"/>
              </a:rPr>
              <a:t>L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75">
                <a:solidFill>
                  <a:srgbClr val="0077D3"/>
                </a:solidFill>
                <a:latin typeface="Arial Black"/>
                <a:cs typeface="Arial Black"/>
              </a:rPr>
              <a:t>E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95">
                <a:solidFill>
                  <a:srgbClr val="0077D3"/>
                </a:solidFill>
                <a:latin typeface="Arial Black"/>
                <a:cs typeface="Arial Black"/>
              </a:rPr>
              <a:t>A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25">
                <a:solidFill>
                  <a:srgbClr val="0077D3"/>
                </a:solidFill>
                <a:latin typeface="Arial Black"/>
                <a:cs typeface="Arial Black"/>
              </a:rPr>
              <a:t>R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35">
                <a:solidFill>
                  <a:srgbClr val="0077D3"/>
                </a:solidFill>
                <a:latin typeface="Arial Black"/>
                <a:cs typeface="Arial Black"/>
              </a:rPr>
              <a:t>N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>
                <a:solidFill>
                  <a:srgbClr val="0077D3"/>
                </a:solidFill>
                <a:latin typeface="Arial Black"/>
                <a:cs typeface="Arial Black"/>
              </a:rPr>
              <a:t>I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35">
                <a:solidFill>
                  <a:srgbClr val="0077D3"/>
                </a:solidFill>
                <a:latin typeface="Arial Black"/>
                <a:cs typeface="Arial Black"/>
              </a:rPr>
              <a:t>N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>
                <a:solidFill>
                  <a:srgbClr val="0077D3"/>
                </a:solidFill>
                <a:latin typeface="Arial Black"/>
                <a:cs typeface="Arial Black"/>
              </a:rPr>
              <a:t>G</a:t>
            </a:r>
            <a:r>
              <a:rPr dirty="0" sz="1000" spc="15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25">
                <a:solidFill>
                  <a:srgbClr val="0077D3"/>
                </a:solidFill>
                <a:latin typeface="Arial Black"/>
                <a:cs typeface="Arial Black"/>
              </a:rPr>
              <a:t>R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20">
                <a:solidFill>
                  <a:srgbClr val="0077D3"/>
                </a:solidFill>
                <a:latin typeface="Arial Black"/>
                <a:cs typeface="Arial Black"/>
              </a:rPr>
              <a:t>OA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45">
                <a:solidFill>
                  <a:srgbClr val="0077D3"/>
                </a:solidFill>
                <a:latin typeface="Arial Black"/>
                <a:cs typeface="Arial Black"/>
              </a:rPr>
              <a:t>D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0">
                <a:solidFill>
                  <a:srgbClr val="0077D3"/>
                </a:solidFill>
                <a:latin typeface="Arial Black"/>
                <a:cs typeface="Arial Black"/>
              </a:rPr>
              <a:t>M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95">
                <a:solidFill>
                  <a:srgbClr val="0077D3"/>
                </a:solidFill>
                <a:latin typeface="Arial Black"/>
                <a:cs typeface="Arial Black"/>
              </a:rPr>
              <a:t>A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50">
                <a:solidFill>
                  <a:srgbClr val="0077D3"/>
                </a:solidFill>
                <a:latin typeface="Arial Black"/>
                <a:cs typeface="Arial Black"/>
              </a:rPr>
              <a:t>P</a:t>
            </a:r>
            <a:endParaRPr sz="1000">
              <a:latin typeface="Arial Black"/>
              <a:cs typeface="Arial Black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54304" y="428977"/>
            <a:ext cx="6884034" cy="814705"/>
          </a:xfrm>
          <a:prstGeom prst="rect"/>
        </p:spPr>
        <p:txBody>
          <a:bodyPr wrap="square" lIns="0" tIns="133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0"/>
              </a:spcBef>
            </a:pPr>
            <a:r>
              <a:rPr dirty="0" sz="2700" spc="-90">
                <a:solidFill>
                  <a:srgbClr val="0F2339"/>
                </a:solidFill>
              </a:rPr>
              <a:t>What</a:t>
            </a:r>
            <a:r>
              <a:rPr dirty="0" sz="2700" spc="-185">
                <a:solidFill>
                  <a:srgbClr val="0F2339"/>
                </a:solidFill>
              </a:rPr>
              <a:t> </a:t>
            </a:r>
            <a:r>
              <a:rPr dirty="0" sz="2700" spc="-95">
                <a:solidFill>
                  <a:srgbClr val="0F2339"/>
                </a:solidFill>
              </a:rPr>
              <a:t>you</a:t>
            </a:r>
            <a:r>
              <a:rPr dirty="0" sz="2700" spc="-180">
                <a:solidFill>
                  <a:srgbClr val="0F2339"/>
                </a:solidFill>
              </a:rPr>
              <a:t> </a:t>
            </a:r>
            <a:r>
              <a:rPr dirty="0" sz="2700" spc="-120">
                <a:solidFill>
                  <a:srgbClr val="0F2339"/>
                </a:solidFill>
              </a:rPr>
              <a:t>should</a:t>
            </a:r>
            <a:r>
              <a:rPr dirty="0" sz="2700" spc="-185">
                <a:solidFill>
                  <a:srgbClr val="0F2339"/>
                </a:solidFill>
              </a:rPr>
              <a:t> </a:t>
            </a:r>
            <a:r>
              <a:rPr dirty="0" sz="2700" spc="-105">
                <a:solidFill>
                  <a:srgbClr val="0F2339"/>
                </a:solidFill>
              </a:rPr>
              <a:t>understand</a:t>
            </a:r>
            <a:r>
              <a:rPr dirty="0" sz="2700" spc="-185">
                <a:solidFill>
                  <a:srgbClr val="0F2339"/>
                </a:solidFill>
              </a:rPr>
              <a:t> </a:t>
            </a:r>
            <a:r>
              <a:rPr dirty="0" sz="2700" spc="-145">
                <a:solidFill>
                  <a:srgbClr val="0F2339"/>
                </a:solidFill>
              </a:rPr>
              <a:t>by</a:t>
            </a:r>
            <a:r>
              <a:rPr dirty="0" sz="2700" spc="-185">
                <a:solidFill>
                  <a:srgbClr val="0F2339"/>
                </a:solidFill>
              </a:rPr>
              <a:t> </a:t>
            </a:r>
            <a:r>
              <a:rPr dirty="0" sz="2700" spc="-95">
                <a:solidFill>
                  <a:srgbClr val="0F2339"/>
                </a:solidFill>
              </a:rPr>
              <a:t>the</a:t>
            </a:r>
            <a:r>
              <a:rPr dirty="0" sz="2700" spc="-180">
                <a:solidFill>
                  <a:srgbClr val="0F2339"/>
                </a:solidFill>
              </a:rPr>
              <a:t> </a:t>
            </a:r>
            <a:r>
              <a:rPr dirty="0" sz="2700" spc="-25">
                <a:solidFill>
                  <a:srgbClr val="0F2339"/>
                </a:solidFill>
              </a:rPr>
              <a:t>end</a:t>
            </a:r>
            <a:endParaRPr sz="2700"/>
          </a:p>
          <a:p>
            <a:pPr marL="30480">
              <a:lnSpc>
                <a:spcPct val="100000"/>
              </a:lnSpc>
              <a:spcBef>
                <a:spcPts val="459"/>
              </a:spcBef>
            </a:pP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The</a:t>
            </a:r>
            <a:r>
              <a:rPr dirty="0" sz="1300" spc="-6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lesson</a:t>
            </a:r>
            <a:r>
              <a:rPr dirty="0" sz="1300" spc="-5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deliberately</a:t>
            </a:r>
            <a:r>
              <a:rPr dirty="0" sz="1300" spc="-5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moves</a:t>
            </a:r>
            <a:r>
              <a:rPr dirty="0" sz="1300" spc="-5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from</a:t>
            </a:r>
            <a:r>
              <a:rPr dirty="0" sz="1300" spc="-5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general</a:t>
            </a:r>
            <a:r>
              <a:rPr dirty="0" sz="1300" spc="-5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cloud</a:t>
            </a:r>
            <a:r>
              <a:rPr dirty="0" sz="1300" spc="-5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concepts</a:t>
            </a:r>
            <a:r>
              <a:rPr dirty="0" sz="1300" spc="-5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into</a:t>
            </a:r>
            <a:r>
              <a:rPr dirty="0" sz="1300" spc="-5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the</a:t>
            </a:r>
            <a:r>
              <a:rPr dirty="0" sz="1300" spc="-5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Azure</a:t>
            </a:r>
            <a:r>
              <a:rPr dirty="0" sz="1300" spc="-5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control</a:t>
            </a:r>
            <a:r>
              <a:rPr dirty="0" sz="1300" spc="-5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plane.</a:t>
            </a:r>
            <a:endParaRPr sz="1300">
              <a:latin typeface="Noto Sans"/>
              <a:cs typeface="Noto San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66635" y="1417319"/>
            <a:ext cx="11064240" cy="635"/>
          </a:xfrm>
          <a:custGeom>
            <a:avLst/>
            <a:gdLst/>
            <a:ahLst/>
            <a:cxnLst/>
            <a:rect l="l" t="t" r="r" b="b"/>
            <a:pathLst>
              <a:path w="11064240" h="634">
                <a:moveTo>
                  <a:pt x="0" y="0"/>
                </a:moveTo>
                <a:lnTo>
                  <a:pt x="11064240" y="355"/>
                </a:lnTo>
              </a:path>
            </a:pathLst>
          </a:custGeom>
          <a:ln w="10079">
            <a:solidFill>
              <a:srgbClr val="DBE4ED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6" name="object 6"/>
          <p:cNvGrpSpPr/>
          <p:nvPr/>
        </p:nvGrpSpPr>
        <p:grpSpPr>
          <a:xfrm>
            <a:off x="680404" y="1686244"/>
            <a:ext cx="5268595" cy="970915"/>
            <a:chOff x="680404" y="1686244"/>
            <a:chExt cx="5268595" cy="970915"/>
          </a:xfrm>
        </p:grpSpPr>
        <p:sp>
          <p:nvSpPr>
            <p:cNvPr id="7" name="object 7"/>
            <p:cNvSpPr/>
            <p:nvPr/>
          </p:nvSpPr>
          <p:spPr>
            <a:xfrm>
              <a:off x="685444" y="1691284"/>
              <a:ext cx="5258435" cy="960755"/>
            </a:xfrm>
            <a:custGeom>
              <a:avLst/>
              <a:gdLst/>
              <a:ahLst/>
              <a:cxnLst/>
              <a:rect l="l" t="t" r="r" b="b"/>
              <a:pathLst>
                <a:path w="5258435" h="960755">
                  <a:moveTo>
                    <a:pt x="110159" y="0"/>
                  </a:moveTo>
                  <a:lnTo>
                    <a:pt x="68088" y="8352"/>
                  </a:lnTo>
                  <a:lnTo>
                    <a:pt x="32534" y="32213"/>
                  </a:lnTo>
                  <a:lnTo>
                    <a:pt x="8708" y="67882"/>
                  </a:lnTo>
                  <a:lnTo>
                    <a:pt x="355" y="109791"/>
                  </a:lnTo>
                  <a:lnTo>
                    <a:pt x="0" y="850671"/>
                  </a:lnTo>
                  <a:lnTo>
                    <a:pt x="939" y="865101"/>
                  </a:lnTo>
                  <a:lnTo>
                    <a:pt x="14757" y="905751"/>
                  </a:lnTo>
                  <a:lnTo>
                    <a:pt x="22674" y="917464"/>
                  </a:lnTo>
                  <a:lnTo>
                    <a:pt x="22775" y="917614"/>
                  </a:lnTo>
                  <a:lnTo>
                    <a:pt x="55079" y="945718"/>
                  </a:lnTo>
                  <a:lnTo>
                    <a:pt x="95374" y="959535"/>
                  </a:lnTo>
                  <a:lnTo>
                    <a:pt x="109791" y="960475"/>
                  </a:lnTo>
                  <a:lnTo>
                    <a:pt x="5148351" y="960475"/>
                  </a:lnTo>
                  <a:lnTo>
                    <a:pt x="5190422" y="952122"/>
                  </a:lnTo>
                  <a:lnTo>
                    <a:pt x="5225926" y="928296"/>
                  </a:lnTo>
                  <a:lnTo>
                    <a:pt x="5249727" y="892742"/>
                  </a:lnTo>
                  <a:lnTo>
                    <a:pt x="5258155" y="850671"/>
                  </a:lnTo>
                  <a:lnTo>
                    <a:pt x="5258131" y="109791"/>
                  </a:lnTo>
                  <a:lnTo>
                    <a:pt x="5249802" y="68088"/>
                  </a:lnTo>
                  <a:lnTo>
                    <a:pt x="5225932" y="32534"/>
                  </a:lnTo>
                  <a:lnTo>
                    <a:pt x="5190272" y="8708"/>
                  </a:lnTo>
                  <a:lnTo>
                    <a:pt x="5148351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685444" y="1691284"/>
              <a:ext cx="5258435" cy="960755"/>
            </a:xfrm>
            <a:custGeom>
              <a:avLst/>
              <a:gdLst/>
              <a:ahLst/>
              <a:cxnLst/>
              <a:rect l="l" t="t" r="r" b="b"/>
              <a:pathLst>
                <a:path w="5258435" h="960755">
                  <a:moveTo>
                    <a:pt x="355" y="109791"/>
                  </a:moveTo>
                  <a:lnTo>
                    <a:pt x="1295" y="95374"/>
                  </a:lnTo>
                  <a:lnTo>
                    <a:pt x="4090" y="81359"/>
                  </a:lnTo>
                  <a:lnTo>
                    <a:pt x="23133" y="43003"/>
                  </a:lnTo>
                  <a:lnTo>
                    <a:pt x="55079" y="14757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5148351" y="355"/>
                  </a:lnTo>
                  <a:lnTo>
                    <a:pt x="5190272" y="8708"/>
                  </a:lnTo>
                  <a:lnTo>
                    <a:pt x="5225932" y="32534"/>
                  </a:lnTo>
                  <a:lnTo>
                    <a:pt x="5249802" y="68088"/>
                  </a:lnTo>
                  <a:lnTo>
                    <a:pt x="5258155" y="110159"/>
                  </a:lnTo>
                  <a:lnTo>
                    <a:pt x="5258155" y="850671"/>
                  </a:lnTo>
                  <a:lnTo>
                    <a:pt x="5257215" y="865096"/>
                  </a:lnTo>
                  <a:lnTo>
                    <a:pt x="5254420" y="879114"/>
                  </a:lnTo>
                  <a:lnTo>
                    <a:pt x="5235378" y="917464"/>
                  </a:lnTo>
                  <a:lnTo>
                    <a:pt x="5203431" y="945718"/>
                  </a:lnTo>
                  <a:lnTo>
                    <a:pt x="5162781" y="959535"/>
                  </a:lnTo>
                  <a:lnTo>
                    <a:pt x="5148351" y="960475"/>
                  </a:lnTo>
                  <a:lnTo>
                    <a:pt x="109791" y="960475"/>
                  </a:lnTo>
                  <a:lnTo>
                    <a:pt x="67882" y="952122"/>
                  </a:lnTo>
                  <a:lnTo>
                    <a:pt x="32213" y="928296"/>
                  </a:lnTo>
                  <a:lnTo>
                    <a:pt x="8352" y="892742"/>
                  </a:lnTo>
                  <a:lnTo>
                    <a:pt x="0" y="850671"/>
                  </a:lnTo>
                  <a:lnTo>
                    <a:pt x="355" y="109791"/>
                  </a:lnTo>
                  <a:close/>
                </a:path>
              </a:pathLst>
            </a:custGeom>
            <a:ln w="10079">
              <a:solidFill>
                <a:srgbClr val="DBE4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868324" y="1874164"/>
              <a:ext cx="329565" cy="329565"/>
            </a:xfrm>
            <a:custGeom>
              <a:avLst/>
              <a:gdLst/>
              <a:ahLst/>
              <a:cxnLst/>
              <a:rect l="l" t="t" r="r" b="b"/>
              <a:pathLst>
                <a:path w="329565" h="329564">
                  <a:moveTo>
                    <a:pt x="164515" y="0"/>
                  </a:moveTo>
                  <a:lnTo>
                    <a:pt x="121945" y="5578"/>
                  </a:lnTo>
                  <a:lnTo>
                    <a:pt x="82080" y="21958"/>
                  </a:lnTo>
                  <a:lnTo>
                    <a:pt x="48104" y="48148"/>
                  </a:lnTo>
                  <a:lnTo>
                    <a:pt x="21958" y="82435"/>
                  </a:lnTo>
                  <a:lnTo>
                    <a:pt x="5578" y="121989"/>
                  </a:lnTo>
                  <a:lnTo>
                    <a:pt x="0" y="164515"/>
                  </a:lnTo>
                  <a:lnTo>
                    <a:pt x="1405" y="186004"/>
                  </a:lnTo>
                  <a:lnTo>
                    <a:pt x="12451" y="227491"/>
                  </a:lnTo>
                  <a:lnTo>
                    <a:pt x="33934" y="264800"/>
                  </a:lnTo>
                  <a:lnTo>
                    <a:pt x="64231" y="295096"/>
                  </a:lnTo>
                  <a:lnTo>
                    <a:pt x="101540" y="316580"/>
                  </a:lnTo>
                  <a:lnTo>
                    <a:pt x="143027" y="327625"/>
                  </a:lnTo>
                  <a:lnTo>
                    <a:pt x="164515" y="329031"/>
                  </a:lnTo>
                  <a:lnTo>
                    <a:pt x="185999" y="327625"/>
                  </a:lnTo>
                  <a:lnTo>
                    <a:pt x="227341" y="316580"/>
                  </a:lnTo>
                  <a:lnTo>
                    <a:pt x="264650" y="295096"/>
                  </a:lnTo>
                  <a:lnTo>
                    <a:pt x="295091" y="264800"/>
                  </a:lnTo>
                  <a:lnTo>
                    <a:pt x="316580" y="227491"/>
                  </a:lnTo>
                  <a:lnTo>
                    <a:pt x="327625" y="186004"/>
                  </a:lnTo>
                  <a:lnTo>
                    <a:pt x="329031" y="164515"/>
                  </a:lnTo>
                  <a:lnTo>
                    <a:pt x="327625" y="143032"/>
                  </a:lnTo>
                  <a:lnTo>
                    <a:pt x="316580" y="101690"/>
                  </a:lnTo>
                  <a:lnTo>
                    <a:pt x="295091" y="64381"/>
                  </a:lnTo>
                  <a:lnTo>
                    <a:pt x="264650" y="33940"/>
                  </a:lnTo>
                  <a:lnTo>
                    <a:pt x="227341" y="12451"/>
                  </a:lnTo>
                  <a:lnTo>
                    <a:pt x="185999" y="1405"/>
                  </a:lnTo>
                  <a:lnTo>
                    <a:pt x="164515" y="0"/>
                  </a:lnTo>
                  <a:close/>
                </a:path>
              </a:pathLst>
            </a:custGeom>
            <a:solidFill>
              <a:srgbClr val="0077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868324" y="1874164"/>
              <a:ext cx="329565" cy="329565"/>
            </a:xfrm>
            <a:custGeom>
              <a:avLst/>
              <a:gdLst/>
              <a:ahLst/>
              <a:cxnLst/>
              <a:rect l="l" t="t" r="r" b="b"/>
              <a:pathLst>
                <a:path w="329565" h="329564">
                  <a:moveTo>
                    <a:pt x="0" y="164515"/>
                  </a:moveTo>
                  <a:lnTo>
                    <a:pt x="1405" y="143032"/>
                  </a:lnTo>
                  <a:lnTo>
                    <a:pt x="5578" y="121989"/>
                  </a:lnTo>
                  <a:lnTo>
                    <a:pt x="21958" y="82435"/>
                  </a:lnTo>
                  <a:lnTo>
                    <a:pt x="48104" y="48148"/>
                  </a:lnTo>
                  <a:lnTo>
                    <a:pt x="82080" y="21958"/>
                  </a:lnTo>
                  <a:lnTo>
                    <a:pt x="121945" y="5578"/>
                  </a:lnTo>
                  <a:lnTo>
                    <a:pt x="164515" y="0"/>
                  </a:lnTo>
                  <a:lnTo>
                    <a:pt x="207041" y="5578"/>
                  </a:lnTo>
                  <a:lnTo>
                    <a:pt x="246595" y="21958"/>
                  </a:lnTo>
                  <a:lnTo>
                    <a:pt x="280882" y="48148"/>
                  </a:lnTo>
                  <a:lnTo>
                    <a:pt x="307073" y="82435"/>
                  </a:lnTo>
                  <a:lnTo>
                    <a:pt x="323453" y="121989"/>
                  </a:lnTo>
                  <a:lnTo>
                    <a:pt x="329031" y="164515"/>
                  </a:lnTo>
                  <a:lnTo>
                    <a:pt x="327625" y="186004"/>
                  </a:lnTo>
                  <a:lnTo>
                    <a:pt x="323453" y="207086"/>
                  </a:lnTo>
                  <a:lnTo>
                    <a:pt x="307073" y="246951"/>
                  </a:lnTo>
                  <a:lnTo>
                    <a:pt x="280882" y="280927"/>
                  </a:lnTo>
                  <a:lnTo>
                    <a:pt x="246595" y="307073"/>
                  </a:lnTo>
                  <a:lnTo>
                    <a:pt x="207041" y="323453"/>
                  </a:lnTo>
                  <a:lnTo>
                    <a:pt x="164515" y="329031"/>
                  </a:lnTo>
                  <a:lnTo>
                    <a:pt x="121945" y="323453"/>
                  </a:lnTo>
                  <a:lnTo>
                    <a:pt x="82080" y="307073"/>
                  </a:lnTo>
                  <a:lnTo>
                    <a:pt x="48104" y="280927"/>
                  </a:lnTo>
                  <a:lnTo>
                    <a:pt x="21958" y="246951"/>
                  </a:lnTo>
                  <a:lnTo>
                    <a:pt x="5578" y="207086"/>
                  </a:lnTo>
                  <a:lnTo>
                    <a:pt x="1405" y="186004"/>
                  </a:lnTo>
                  <a:lnTo>
                    <a:pt x="0" y="164515"/>
                  </a:lnTo>
                  <a:close/>
                </a:path>
              </a:pathLst>
            </a:custGeom>
            <a:ln w="7559">
              <a:solidFill>
                <a:srgbClr val="0077D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969378" y="1915096"/>
            <a:ext cx="12763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90">
                <a:solidFill>
                  <a:srgbClr val="FFFFFF"/>
                </a:solidFill>
                <a:latin typeface="Arial Black"/>
                <a:cs typeface="Arial Black"/>
              </a:rPr>
              <a:t>1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31175" y="1719771"/>
            <a:ext cx="3757295" cy="635635"/>
          </a:xfrm>
          <a:prstGeom prst="rect">
            <a:avLst/>
          </a:prstGeom>
        </p:spPr>
        <p:txBody>
          <a:bodyPr wrap="square" lIns="0" tIns="12318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69"/>
              </a:spcBef>
            </a:pPr>
            <a:r>
              <a:rPr dirty="0" sz="1600" spc="-135">
                <a:solidFill>
                  <a:srgbClr val="0F2339"/>
                </a:solidFill>
                <a:latin typeface="Arial Black"/>
                <a:cs typeface="Arial Black"/>
              </a:rPr>
              <a:t>IaaS</a:t>
            </a:r>
            <a:r>
              <a:rPr dirty="0" sz="1600" spc="-11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600" spc="-130">
                <a:solidFill>
                  <a:srgbClr val="0F2339"/>
                </a:solidFill>
                <a:latin typeface="Arial Black"/>
                <a:cs typeface="Arial Black"/>
              </a:rPr>
              <a:t>vs</a:t>
            </a:r>
            <a:r>
              <a:rPr dirty="0" sz="1600" spc="-10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600" spc="-20">
                <a:solidFill>
                  <a:srgbClr val="0F2339"/>
                </a:solidFill>
                <a:latin typeface="Arial Black"/>
                <a:cs typeface="Arial Black"/>
              </a:rPr>
              <a:t>PaaS</a:t>
            </a:r>
            <a:endParaRPr sz="16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dirty="0" sz="1150">
                <a:solidFill>
                  <a:srgbClr val="556478"/>
                </a:solidFill>
                <a:latin typeface="Noto Sans"/>
                <a:cs typeface="Noto Sans"/>
              </a:rPr>
              <a:t>Use</a:t>
            </a:r>
            <a:r>
              <a:rPr dirty="0" sz="1150" spc="-2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50" spc="-10">
                <a:solidFill>
                  <a:srgbClr val="556478"/>
                </a:solidFill>
                <a:latin typeface="Noto Sans"/>
                <a:cs typeface="Noto Sans"/>
              </a:rPr>
              <a:t>guest-</a:t>
            </a:r>
            <a:r>
              <a:rPr dirty="0" sz="1150">
                <a:solidFill>
                  <a:srgbClr val="556478"/>
                </a:solidFill>
                <a:latin typeface="Noto Sans"/>
                <a:cs typeface="Noto Sans"/>
              </a:rPr>
              <a:t>OS</a:t>
            </a:r>
            <a:r>
              <a:rPr dirty="0" sz="1150" spc="-1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50">
                <a:solidFill>
                  <a:srgbClr val="556478"/>
                </a:solidFill>
                <a:latin typeface="Noto Sans"/>
                <a:cs typeface="Noto Sans"/>
              </a:rPr>
              <a:t>access</a:t>
            </a:r>
            <a:r>
              <a:rPr dirty="0" sz="1150" spc="-2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50">
                <a:solidFill>
                  <a:srgbClr val="556478"/>
                </a:solidFill>
                <a:latin typeface="Noto Sans"/>
                <a:cs typeface="Noto Sans"/>
              </a:rPr>
              <a:t>as</a:t>
            </a:r>
            <a:r>
              <a:rPr dirty="0" sz="1150" spc="-1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50">
                <a:solidFill>
                  <a:srgbClr val="556478"/>
                </a:solidFill>
                <a:latin typeface="Noto Sans"/>
                <a:cs typeface="Noto Sans"/>
              </a:rPr>
              <a:t>a</a:t>
            </a:r>
            <a:r>
              <a:rPr dirty="0" sz="1150" spc="-1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50">
                <a:solidFill>
                  <a:srgbClr val="556478"/>
                </a:solidFill>
                <a:latin typeface="Noto Sans"/>
                <a:cs typeface="Noto Sans"/>
              </a:rPr>
              <a:t>useful</a:t>
            </a:r>
            <a:r>
              <a:rPr dirty="0" sz="1150" spc="-2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50">
                <a:solidFill>
                  <a:srgbClr val="556478"/>
                </a:solidFill>
                <a:latin typeface="Noto Sans"/>
                <a:cs typeface="Noto Sans"/>
              </a:rPr>
              <a:t>clue,</a:t>
            </a:r>
            <a:r>
              <a:rPr dirty="0" sz="1150" spc="-1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50">
                <a:solidFill>
                  <a:srgbClr val="556478"/>
                </a:solidFill>
                <a:latin typeface="Noto Sans"/>
                <a:cs typeface="Noto Sans"/>
              </a:rPr>
              <a:t>not</a:t>
            </a:r>
            <a:r>
              <a:rPr dirty="0" sz="1150" spc="-2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50">
                <a:solidFill>
                  <a:srgbClr val="556478"/>
                </a:solidFill>
                <a:latin typeface="Noto Sans"/>
                <a:cs typeface="Noto Sans"/>
              </a:rPr>
              <a:t>the</a:t>
            </a:r>
            <a:r>
              <a:rPr dirty="0" sz="1150" spc="-2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50">
                <a:solidFill>
                  <a:srgbClr val="556478"/>
                </a:solidFill>
                <a:latin typeface="Noto Sans"/>
                <a:cs typeface="Noto Sans"/>
              </a:rPr>
              <a:t>only</a:t>
            </a:r>
            <a:r>
              <a:rPr dirty="0" sz="1150" spc="-2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50" spc="-10">
                <a:solidFill>
                  <a:srgbClr val="556478"/>
                </a:solidFill>
                <a:latin typeface="Noto Sans"/>
                <a:cs typeface="Noto Sans"/>
              </a:rPr>
              <a:t>test.</a:t>
            </a:r>
            <a:endParaRPr sz="1150">
              <a:latin typeface="Noto Sans"/>
              <a:cs typeface="Noto Sans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258244" y="1686244"/>
            <a:ext cx="5268595" cy="970915"/>
            <a:chOff x="6258244" y="1686244"/>
            <a:chExt cx="5268595" cy="970915"/>
          </a:xfrm>
        </p:grpSpPr>
        <p:sp>
          <p:nvSpPr>
            <p:cNvPr id="14" name="object 14"/>
            <p:cNvSpPr/>
            <p:nvPr/>
          </p:nvSpPr>
          <p:spPr>
            <a:xfrm>
              <a:off x="6263284" y="1691284"/>
              <a:ext cx="5258435" cy="960755"/>
            </a:xfrm>
            <a:custGeom>
              <a:avLst/>
              <a:gdLst/>
              <a:ahLst/>
              <a:cxnLst/>
              <a:rect l="l" t="t" r="r" b="b"/>
              <a:pathLst>
                <a:path w="5258434" h="960755">
                  <a:moveTo>
                    <a:pt x="110159" y="0"/>
                  </a:moveTo>
                  <a:lnTo>
                    <a:pt x="68088" y="8352"/>
                  </a:lnTo>
                  <a:lnTo>
                    <a:pt x="32534" y="32213"/>
                  </a:lnTo>
                  <a:lnTo>
                    <a:pt x="8708" y="67882"/>
                  </a:lnTo>
                  <a:lnTo>
                    <a:pt x="355" y="109791"/>
                  </a:lnTo>
                  <a:lnTo>
                    <a:pt x="0" y="850671"/>
                  </a:lnTo>
                  <a:lnTo>
                    <a:pt x="939" y="865101"/>
                  </a:lnTo>
                  <a:lnTo>
                    <a:pt x="3735" y="879159"/>
                  </a:lnTo>
                  <a:lnTo>
                    <a:pt x="8301" y="892592"/>
                  </a:lnTo>
                  <a:lnTo>
                    <a:pt x="8352" y="892742"/>
                  </a:lnTo>
                  <a:lnTo>
                    <a:pt x="14757" y="905751"/>
                  </a:lnTo>
                  <a:lnTo>
                    <a:pt x="22674" y="917464"/>
                  </a:lnTo>
                  <a:lnTo>
                    <a:pt x="22775" y="917614"/>
                  </a:lnTo>
                  <a:lnTo>
                    <a:pt x="55079" y="945718"/>
                  </a:lnTo>
                  <a:lnTo>
                    <a:pt x="95374" y="959535"/>
                  </a:lnTo>
                  <a:lnTo>
                    <a:pt x="109791" y="960475"/>
                  </a:lnTo>
                  <a:lnTo>
                    <a:pt x="5148351" y="960475"/>
                  </a:lnTo>
                  <a:lnTo>
                    <a:pt x="5190422" y="952122"/>
                  </a:lnTo>
                  <a:lnTo>
                    <a:pt x="5225926" y="928296"/>
                  </a:lnTo>
                  <a:lnTo>
                    <a:pt x="5249727" y="892742"/>
                  </a:lnTo>
                  <a:lnTo>
                    <a:pt x="5258155" y="850671"/>
                  </a:lnTo>
                  <a:lnTo>
                    <a:pt x="5258131" y="109791"/>
                  </a:lnTo>
                  <a:lnTo>
                    <a:pt x="5249802" y="68088"/>
                  </a:lnTo>
                  <a:lnTo>
                    <a:pt x="5225932" y="32534"/>
                  </a:lnTo>
                  <a:lnTo>
                    <a:pt x="5190272" y="8708"/>
                  </a:lnTo>
                  <a:lnTo>
                    <a:pt x="5148351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6263284" y="1691284"/>
              <a:ext cx="5258435" cy="960755"/>
            </a:xfrm>
            <a:custGeom>
              <a:avLst/>
              <a:gdLst/>
              <a:ahLst/>
              <a:cxnLst/>
              <a:rect l="l" t="t" r="r" b="b"/>
              <a:pathLst>
                <a:path w="5258434" h="960755">
                  <a:moveTo>
                    <a:pt x="355" y="109791"/>
                  </a:moveTo>
                  <a:lnTo>
                    <a:pt x="1295" y="95374"/>
                  </a:lnTo>
                  <a:lnTo>
                    <a:pt x="4090" y="81359"/>
                  </a:lnTo>
                  <a:lnTo>
                    <a:pt x="23133" y="43003"/>
                  </a:lnTo>
                  <a:lnTo>
                    <a:pt x="55079" y="14757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5148351" y="355"/>
                  </a:lnTo>
                  <a:lnTo>
                    <a:pt x="5190272" y="8708"/>
                  </a:lnTo>
                  <a:lnTo>
                    <a:pt x="5225932" y="32534"/>
                  </a:lnTo>
                  <a:lnTo>
                    <a:pt x="5249802" y="68088"/>
                  </a:lnTo>
                  <a:lnTo>
                    <a:pt x="5258155" y="110159"/>
                  </a:lnTo>
                  <a:lnTo>
                    <a:pt x="5258155" y="850671"/>
                  </a:lnTo>
                  <a:lnTo>
                    <a:pt x="5257215" y="865096"/>
                  </a:lnTo>
                  <a:lnTo>
                    <a:pt x="5254420" y="879114"/>
                  </a:lnTo>
                  <a:lnTo>
                    <a:pt x="5235378" y="917464"/>
                  </a:lnTo>
                  <a:lnTo>
                    <a:pt x="5203431" y="945718"/>
                  </a:lnTo>
                  <a:lnTo>
                    <a:pt x="5162781" y="959535"/>
                  </a:lnTo>
                  <a:lnTo>
                    <a:pt x="5148351" y="960475"/>
                  </a:lnTo>
                  <a:lnTo>
                    <a:pt x="109791" y="960475"/>
                  </a:lnTo>
                  <a:lnTo>
                    <a:pt x="67882" y="952122"/>
                  </a:lnTo>
                  <a:lnTo>
                    <a:pt x="32213" y="928296"/>
                  </a:lnTo>
                  <a:lnTo>
                    <a:pt x="8352" y="892742"/>
                  </a:lnTo>
                  <a:lnTo>
                    <a:pt x="0" y="850671"/>
                  </a:lnTo>
                  <a:lnTo>
                    <a:pt x="355" y="109791"/>
                  </a:lnTo>
                  <a:close/>
                </a:path>
              </a:pathLst>
            </a:custGeom>
            <a:ln w="10079">
              <a:solidFill>
                <a:srgbClr val="DBE4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6446164" y="1874164"/>
              <a:ext cx="329565" cy="329565"/>
            </a:xfrm>
            <a:custGeom>
              <a:avLst/>
              <a:gdLst/>
              <a:ahLst/>
              <a:cxnLst/>
              <a:rect l="l" t="t" r="r" b="b"/>
              <a:pathLst>
                <a:path w="329565" h="329564">
                  <a:moveTo>
                    <a:pt x="164515" y="0"/>
                  </a:moveTo>
                  <a:lnTo>
                    <a:pt x="121989" y="5578"/>
                  </a:lnTo>
                  <a:lnTo>
                    <a:pt x="82435" y="21958"/>
                  </a:lnTo>
                  <a:lnTo>
                    <a:pt x="48148" y="48148"/>
                  </a:lnTo>
                  <a:lnTo>
                    <a:pt x="21958" y="82435"/>
                  </a:lnTo>
                  <a:lnTo>
                    <a:pt x="5578" y="121989"/>
                  </a:lnTo>
                  <a:lnTo>
                    <a:pt x="0" y="164515"/>
                  </a:lnTo>
                  <a:lnTo>
                    <a:pt x="1405" y="186004"/>
                  </a:lnTo>
                  <a:lnTo>
                    <a:pt x="12451" y="227491"/>
                  </a:lnTo>
                  <a:lnTo>
                    <a:pt x="33940" y="264800"/>
                  </a:lnTo>
                  <a:lnTo>
                    <a:pt x="64381" y="295096"/>
                  </a:lnTo>
                  <a:lnTo>
                    <a:pt x="101690" y="316580"/>
                  </a:lnTo>
                  <a:lnTo>
                    <a:pt x="143032" y="327625"/>
                  </a:lnTo>
                  <a:lnTo>
                    <a:pt x="164515" y="329031"/>
                  </a:lnTo>
                  <a:lnTo>
                    <a:pt x="186004" y="327625"/>
                  </a:lnTo>
                  <a:lnTo>
                    <a:pt x="227491" y="316580"/>
                  </a:lnTo>
                  <a:lnTo>
                    <a:pt x="264800" y="295096"/>
                  </a:lnTo>
                  <a:lnTo>
                    <a:pt x="295096" y="264800"/>
                  </a:lnTo>
                  <a:lnTo>
                    <a:pt x="316580" y="227491"/>
                  </a:lnTo>
                  <a:lnTo>
                    <a:pt x="327625" y="186004"/>
                  </a:lnTo>
                  <a:lnTo>
                    <a:pt x="329031" y="164515"/>
                  </a:lnTo>
                  <a:lnTo>
                    <a:pt x="327625" y="143032"/>
                  </a:lnTo>
                  <a:lnTo>
                    <a:pt x="316580" y="101690"/>
                  </a:lnTo>
                  <a:lnTo>
                    <a:pt x="295096" y="64381"/>
                  </a:lnTo>
                  <a:lnTo>
                    <a:pt x="264800" y="33940"/>
                  </a:lnTo>
                  <a:lnTo>
                    <a:pt x="227491" y="12451"/>
                  </a:lnTo>
                  <a:lnTo>
                    <a:pt x="186004" y="1405"/>
                  </a:lnTo>
                  <a:lnTo>
                    <a:pt x="164515" y="0"/>
                  </a:lnTo>
                  <a:close/>
                </a:path>
              </a:pathLst>
            </a:custGeom>
            <a:solidFill>
              <a:srgbClr val="0077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6446164" y="1874164"/>
              <a:ext cx="329565" cy="329565"/>
            </a:xfrm>
            <a:custGeom>
              <a:avLst/>
              <a:gdLst/>
              <a:ahLst/>
              <a:cxnLst/>
              <a:rect l="l" t="t" r="r" b="b"/>
              <a:pathLst>
                <a:path w="329565" h="329564">
                  <a:moveTo>
                    <a:pt x="0" y="164515"/>
                  </a:moveTo>
                  <a:lnTo>
                    <a:pt x="1405" y="143032"/>
                  </a:lnTo>
                  <a:lnTo>
                    <a:pt x="5578" y="121989"/>
                  </a:lnTo>
                  <a:lnTo>
                    <a:pt x="21958" y="82435"/>
                  </a:lnTo>
                  <a:lnTo>
                    <a:pt x="48148" y="48148"/>
                  </a:lnTo>
                  <a:lnTo>
                    <a:pt x="82435" y="21958"/>
                  </a:lnTo>
                  <a:lnTo>
                    <a:pt x="121989" y="5578"/>
                  </a:lnTo>
                  <a:lnTo>
                    <a:pt x="164515" y="0"/>
                  </a:lnTo>
                  <a:lnTo>
                    <a:pt x="207086" y="5578"/>
                  </a:lnTo>
                  <a:lnTo>
                    <a:pt x="246951" y="21958"/>
                  </a:lnTo>
                  <a:lnTo>
                    <a:pt x="280927" y="48148"/>
                  </a:lnTo>
                  <a:lnTo>
                    <a:pt x="307073" y="82435"/>
                  </a:lnTo>
                  <a:lnTo>
                    <a:pt x="323453" y="121989"/>
                  </a:lnTo>
                  <a:lnTo>
                    <a:pt x="329031" y="164515"/>
                  </a:lnTo>
                  <a:lnTo>
                    <a:pt x="327625" y="186004"/>
                  </a:lnTo>
                  <a:lnTo>
                    <a:pt x="323453" y="207086"/>
                  </a:lnTo>
                  <a:lnTo>
                    <a:pt x="307073" y="246951"/>
                  </a:lnTo>
                  <a:lnTo>
                    <a:pt x="280927" y="280927"/>
                  </a:lnTo>
                  <a:lnTo>
                    <a:pt x="246951" y="307073"/>
                  </a:lnTo>
                  <a:lnTo>
                    <a:pt x="207086" y="323453"/>
                  </a:lnTo>
                  <a:lnTo>
                    <a:pt x="164515" y="329031"/>
                  </a:lnTo>
                  <a:lnTo>
                    <a:pt x="121989" y="323453"/>
                  </a:lnTo>
                  <a:lnTo>
                    <a:pt x="82435" y="307073"/>
                  </a:lnTo>
                  <a:lnTo>
                    <a:pt x="48148" y="280927"/>
                  </a:lnTo>
                  <a:lnTo>
                    <a:pt x="21958" y="246951"/>
                  </a:lnTo>
                  <a:lnTo>
                    <a:pt x="5578" y="207086"/>
                  </a:lnTo>
                  <a:lnTo>
                    <a:pt x="1405" y="186004"/>
                  </a:lnTo>
                  <a:lnTo>
                    <a:pt x="0" y="164515"/>
                  </a:lnTo>
                  <a:close/>
                </a:path>
              </a:pathLst>
            </a:custGeom>
            <a:ln w="7559">
              <a:solidFill>
                <a:srgbClr val="0077D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6547218" y="1915096"/>
            <a:ext cx="12763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90">
                <a:solidFill>
                  <a:srgbClr val="FFFFFF"/>
                </a:solidFill>
                <a:latin typeface="Arial Black"/>
                <a:cs typeface="Arial Black"/>
              </a:rPr>
              <a:t>2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909016" y="1719771"/>
            <a:ext cx="3147060" cy="635635"/>
          </a:xfrm>
          <a:prstGeom prst="rect">
            <a:avLst/>
          </a:prstGeom>
        </p:spPr>
        <p:txBody>
          <a:bodyPr wrap="square" lIns="0" tIns="12318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69"/>
              </a:spcBef>
            </a:pPr>
            <a:r>
              <a:rPr dirty="0" sz="1600" spc="-110">
                <a:solidFill>
                  <a:srgbClr val="0F2339"/>
                </a:solidFill>
                <a:latin typeface="Arial Black"/>
                <a:cs typeface="Arial Black"/>
              </a:rPr>
              <a:t>Shared</a:t>
            </a:r>
            <a:r>
              <a:rPr dirty="0" sz="1600" spc="-10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600" spc="-10">
                <a:solidFill>
                  <a:srgbClr val="0F2339"/>
                </a:solidFill>
                <a:latin typeface="Arial Black"/>
                <a:cs typeface="Arial Black"/>
              </a:rPr>
              <a:t>responsibility</a:t>
            </a:r>
            <a:endParaRPr sz="16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dirty="0" sz="1150">
                <a:solidFill>
                  <a:srgbClr val="556478"/>
                </a:solidFill>
                <a:latin typeface="Noto Sans"/>
                <a:cs typeface="Noto Sans"/>
              </a:rPr>
              <a:t>Explain</a:t>
            </a:r>
            <a:r>
              <a:rPr dirty="0" sz="1150" spc="-2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50">
                <a:solidFill>
                  <a:srgbClr val="556478"/>
                </a:solidFill>
                <a:latin typeface="Noto Sans"/>
                <a:cs typeface="Noto Sans"/>
              </a:rPr>
              <a:t>who</a:t>
            </a:r>
            <a:r>
              <a:rPr dirty="0" sz="1150" spc="-2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50" spc="-10">
                <a:solidFill>
                  <a:srgbClr val="556478"/>
                </a:solidFill>
                <a:latin typeface="Noto Sans"/>
                <a:cs typeface="Noto Sans"/>
              </a:rPr>
              <a:t>operates</a:t>
            </a:r>
            <a:r>
              <a:rPr dirty="0" sz="1150" spc="-2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50">
                <a:solidFill>
                  <a:srgbClr val="556478"/>
                </a:solidFill>
                <a:latin typeface="Noto Sans"/>
                <a:cs typeface="Noto Sans"/>
              </a:rPr>
              <a:t>each</a:t>
            </a:r>
            <a:r>
              <a:rPr dirty="0" sz="1150" spc="-2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50">
                <a:solidFill>
                  <a:srgbClr val="556478"/>
                </a:solidFill>
                <a:latin typeface="Noto Sans"/>
                <a:cs typeface="Noto Sans"/>
              </a:rPr>
              <a:t>layer</a:t>
            </a:r>
            <a:r>
              <a:rPr dirty="0" sz="1150" spc="-2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50">
                <a:solidFill>
                  <a:srgbClr val="556478"/>
                </a:solidFill>
                <a:latin typeface="Noto Sans"/>
                <a:cs typeface="Noto Sans"/>
              </a:rPr>
              <a:t>for</a:t>
            </a:r>
            <a:r>
              <a:rPr dirty="0" sz="1150" spc="-2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50">
                <a:solidFill>
                  <a:srgbClr val="556478"/>
                </a:solidFill>
                <a:latin typeface="Noto Sans"/>
                <a:cs typeface="Noto Sans"/>
              </a:rPr>
              <a:t>a</a:t>
            </a:r>
            <a:r>
              <a:rPr dirty="0" sz="1150" spc="-2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50" spc="-10">
                <a:solidFill>
                  <a:srgbClr val="556478"/>
                </a:solidFill>
                <a:latin typeface="Noto Sans"/>
                <a:cs typeface="Noto Sans"/>
              </a:rPr>
              <a:t>service.</a:t>
            </a:r>
            <a:endParaRPr sz="1150">
              <a:latin typeface="Noto Sans"/>
              <a:cs typeface="Noto Sans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80404" y="2939036"/>
            <a:ext cx="5268595" cy="970915"/>
            <a:chOff x="680404" y="2939036"/>
            <a:chExt cx="5268595" cy="970915"/>
          </a:xfrm>
        </p:grpSpPr>
        <p:sp>
          <p:nvSpPr>
            <p:cNvPr id="21" name="object 21"/>
            <p:cNvSpPr/>
            <p:nvPr/>
          </p:nvSpPr>
          <p:spPr>
            <a:xfrm>
              <a:off x="685444" y="2944075"/>
              <a:ext cx="5258435" cy="960755"/>
            </a:xfrm>
            <a:custGeom>
              <a:avLst/>
              <a:gdLst/>
              <a:ahLst/>
              <a:cxnLst/>
              <a:rect l="l" t="t" r="r" b="b"/>
              <a:pathLst>
                <a:path w="5258435" h="960754">
                  <a:moveTo>
                    <a:pt x="110159" y="0"/>
                  </a:moveTo>
                  <a:lnTo>
                    <a:pt x="68088" y="8358"/>
                  </a:lnTo>
                  <a:lnTo>
                    <a:pt x="32534" y="32224"/>
                  </a:lnTo>
                  <a:lnTo>
                    <a:pt x="8708" y="67882"/>
                  </a:lnTo>
                  <a:lnTo>
                    <a:pt x="355" y="109804"/>
                  </a:lnTo>
                  <a:lnTo>
                    <a:pt x="0" y="850684"/>
                  </a:lnTo>
                  <a:lnTo>
                    <a:pt x="939" y="865114"/>
                  </a:lnTo>
                  <a:lnTo>
                    <a:pt x="14757" y="905763"/>
                  </a:lnTo>
                  <a:lnTo>
                    <a:pt x="22674" y="917477"/>
                  </a:lnTo>
                  <a:lnTo>
                    <a:pt x="22775" y="917627"/>
                  </a:lnTo>
                  <a:lnTo>
                    <a:pt x="55079" y="945718"/>
                  </a:lnTo>
                  <a:lnTo>
                    <a:pt x="95374" y="959548"/>
                  </a:lnTo>
                  <a:lnTo>
                    <a:pt x="109791" y="960488"/>
                  </a:lnTo>
                  <a:lnTo>
                    <a:pt x="5148351" y="960488"/>
                  </a:lnTo>
                  <a:lnTo>
                    <a:pt x="5190422" y="952130"/>
                  </a:lnTo>
                  <a:lnTo>
                    <a:pt x="5225926" y="928308"/>
                  </a:lnTo>
                  <a:lnTo>
                    <a:pt x="5249727" y="892755"/>
                  </a:lnTo>
                  <a:lnTo>
                    <a:pt x="5249802" y="892605"/>
                  </a:lnTo>
                  <a:lnTo>
                    <a:pt x="5254404" y="879171"/>
                  </a:lnTo>
                  <a:lnTo>
                    <a:pt x="5257214" y="865114"/>
                  </a:lnTo>
                  <a:lnTo>
                    <a:pt x="5258155" y="850684"/>
                  </a:lnTo>
                  <a:lnTo>
                    <a:pt x="5258132" y="109804"/>
                  </a:lnTo>
                  <a:lnTo>
                    <a:pt x="5249802" y="68095"/>
                  </a:lnTo>
                  <a:lnTo>
                    <a:pt x="5225932" y="32535"/>
                  </a:lnTo>
                  <a:lnTo>
                    <a:pt x="5190272" y="8721"/>
                  </a:lnTo>
                  <a:lnTo>
                    <a:pt x="5148351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685444" y="2944075"/>
              <a:ext cx="5258435" cy="960755"/>
            </a:xfrm>
            <a:custGeom>
              <a:avLst/>
              <a:gdLst/>
              <a:ahLst/>
              <a:cxnLst/>
              <a:rect l="l" t="t" r="r" b="b"/>
              <a:pathLst>
                <a:path w="5258435" h="960754">
                  <a:moveTo>
                    <a:pt x="355" y="109804"/>
                  </a:moveTo>
                  <a:lnTo>
                    <a:pt x="1295" y="95379"/>
                  </a:lnTo>
                  <a:lnTo>
                    <a:pt x="4090" y="81360"/>
                  </a:lnTo>
                  <a:lnTo>
                    <a:pt x="23133" y="43011"/>
                  </a:lnTo>
                  <a:lnTo>
                    <a:pt x="55079" y="14770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5148351" y="368"/>
                  </a:lnTo>
                  <a:lnTo>
                    <a:pt x="5190272" y="8721"/>
                  </a:lnTo>
                  <a:lnTo>
                    <a:pt x="5225932" y="32535"/>
                  </a:lnTo>
                  <a:lnTo>
                    <a:pt x="5249802" y="68095"/>
                  </a:lnTo>
                  <a:lnTo>
                    <a:pt x="5258155" y="110159"/>
                  </a:lnTo>
                  <a:lnTo>
                    <a:pt x="5258155" y="850684"/>
                  </a:lnTo>
                  <a:lnTo>
                    <a:pt x="5257215" y="865108"/>
                  </a:lnTo>
                  <a:lnTo>
                    <a:pt x="5254420" y="879127"/>
                  </a:lnTo>
                  <a:lnTo>
                    <a:pt x="5235378" y="917477"/>
                  </a:lnTo>
                  <a:lnTo>
                    <a:pt x="5203431" y="945718"/>
                  </a:lnTo>
                  <a:lnTo>
                    <a:pt x="5162781" y="959548"/>
                  </a:lnTo>
                  <a:lnTo>
                    <a:pt x="5148351" y="960488"/>
                  </a:lnTo>
                  <a:lnTo>
                    <a:pt x="109791" y="960488"/>
                  </a:lnTo>
                  <a:lnTo>
                    <a:pt x="67882" y="952130"/>
                  </a:lnTo>
                  <a:lnTo>
                    <a:pt x="32213" y="928308"/>
                  </a:lnTo>
                  <a:lnTo>
                    <a:pt x="8352" y="892755"/>
                  </a:lnTo>
                  <a:lnTo>
                    <a:pt x="0" y="850684"/>
                  </a:lnTo>
                  <a:lnTo>
                    <a:pt x="355" y="109804"/>
                  </a:lnTo>
                  <a:close/>
                </a:path>
              </a:pathLst>
            </a:custGeom>
            <a:ln w="10079">
              <a:solidFill>
                <a:srgbClr val="DBE4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868324" y="3126955"/>
              <a:ext cx="329565" cy="329565"/>
            </a:xfrm>
            <a:custGeom>
              <a:avLst/>
              <a:gdLst/>
              <a:ahLst/>
              <a:cxnLst/>
              <a:rect l="l" t="t" r="r" b="b"/>
              <a:pathLst>
                <a:path w="329565" h="329564">
                  <a:moveTo>
                    <a:pt x="164515" y="0"/>
                  </a:moveTo>
                  <a:lnTo>
                    <a:pt x="121945" y="5583"/>
                  </a:lnTo>
                  <a:lnTo>
                    <a:pt x="82080" y="21958"/>
                  </a:lnTo>
                  <a:lnTo>
                    <a:pt x="48104" y="48150"/>
                  </a:lnTo>
                  <a:lnTo>
                    <a:pt x="21958" y="82448"/>
                  </a:lnTo>
                  <a:lnTo>
                    <a:pt x="5578" y="122002"/>
                  </a:lnTo>
                  <a:lnTo>
                    <a:pt x="0" y="164528"/>
                  </a:lnTo>
                  <a:lnTo>
                    <a:pt x="1405" y="186011"/>
                  </a:lnTo>
                  <a:lnTo>
                    <a:pt x="12451" y="227502"/>
                  </a:lnTo>
                  <a:lnTo>
                    <a:pt x="33934" y="264812"/>
                  </a:lnTo>
                  <a:lnTo>
                    <a:pt x="64231" y="295109"/>
                  </a:lnTo>
                  <a:lnTo>
                    <a:pt x="101540" y="316592"/>
                  </a:lnTo>
                  <a:lnTo>
                    <a:pt x="143027" y="327638"/>
                  </a:lnTo>
                  <a:lnTo>
                    <a:pt x="164515" y="329044"/>
                  </a:lnTo>
                  <a:lnTo>
                    <a:pt x="185999" y="327638"/>
                  </a:lnTo>
                  <a:lnTo>
                    <a:pt x="227341" y="316592"/>
                  </a:lnTo>
                  <a:lnTo>
                    <a:pt x="264650" y="295109"/>
                  </a:lnTo>
                  <a:lnTo>
                    <a:pt x="295091" y="264812"/>
                  </a:lnTo>
                  <a:lnTo>
                    <a:pt x="316580" y="227502"/>
                  </a:lnTo>
                  <a:lnTo>
                    <a:pt x="327625" y="186011"/>
                  </a:lnTo>
                  <a:lnTo>
                    <a:pt x="329031" y="164528"/>
                  </a:lnTo>
                  <a:lnTo>
                    <a:pt x="327625" y="143045"/>
                  </a:lnTo>
                  <a:lnTo>
                    <a:pt x="316580" y="101702"/>
                  </a:lnTo>
                  <a:lnTo>
                    <a:pt x="295091" y="64386"/>
                  </a:lnTo>
                  <a:lnTo>
                    <a:pt x="264650" y="33940"/>
                  </a:lnTo>
                  <a:lnTo>
                    <a:pt x="227341" y="12456"/>
                  </a:lnTo>
                  <a:lnTo>
                    <a:pt x="185999" y="1407"/>
                  </a:lnTo>
                  <a:lnTo>
                    <a:pt x="164515" y="0"/>
                  </a:lnTo>
                  <a:close/>
                </a:path>
              </a:pathLst>
            </a:custGeom>
            <a:solidFill>
              <a:srgbClr val="34B3C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868324" y="3126955"/>
              <a:ext cx="329565" cy="329565"/>
            </a:xfrm>
            <a:custGeom>
              <a:avLst/>
              <a:gdLst/>
              <a:ahLst/>
              <a:cxnLst/>
              <a:rect l="l" t="t" r="r" b="b"/>
              <a:pathLst>
                <a:path w="329565" h="329564">
                  <a:moveTo>
                    <a:pt x="0" y="164528"/>
                  </a:moveTo>
                  <a:lnTo>
                    <a:pt x="1405" y="143045"/>
                  </a:lnTo>
                  <a:lnTo>
                    <a:pt x="5578" y="122002"/>
                  </a:lnTo>
                  <a:lnTo>
                    <a:pt x="21958" y="82448"/>
                  </a:lnTo>
                  <a:lnTo>
                    <a:pt x="48104" y="48150"/>
                  </a:lnTo>
                  <a:lnTo>
                    <a:pt x="82080" y="21958"/>
                  </a:lnTo>
                  <a:lnTo>
                    <a:pt x="121945" y="5583"/>
                  </a:lnTo>
                  <a:lnTo>
                    <a:pt x="164515" y="0"/>
                  </a:lnTo>
                  <a:lnTo>
                    <a:pt x="207041" y="5583"/>
                  </a:lnTo>
                  <a:lnTo>
                    <a:pt x="246595" y="21958"/>
                  </a:lnTo>
                  <a:lnTo>
                    <a:pt x="280882" y="48150"/>
                  </a:lnTo>
                  <a:lnTo>
                    <a:pt x="307073" y="82448"/>
                  </a:lnTo>
                  <a:lnTo>
                    <a:pt x="323453" y="122002"/>
                  </a:lnTo>
                  <a:lnTo>
                    <a:pt x="329031" y="164528"/>
                  </a:lnTo>
                  <a:lnTo>
                    <a:pt x="327625" y="186011"/>
                  </a:lnTo>
                  <a:lnTo>
                    <a:pt x="323453" y="207094"/>
                  </a:lnTo>
                  <a:lnTo>
                    <a:pt x="307073" y="246964"/>
                  </a:lnTo>
                  <a:lnTo>
                    <a:pt x="280882" y="280939"/>
                  </a:lnTo>
                  <a:lnTo>
                    <a:pt x="246595" y="307086"/>
                  </a:lnTo>
                  <a:lnTo>
                    <a:pt x="207041" y="323465"/>
                  </a:lnTo>
                  <a:lnTo>
                    <a:pt x="164515" y="329044"/>
                  </a:lnTo>
                  <a:lnTo>
                    <a:pt x="121945" y="323465"/>
                  </a:lnTo>
                  <a:lnTo>
                    <a:pt x="82080" y="307086"/>
                  </a:lnTo>
                  <a:lnTo>
                    <a:pt x="48104" y="280939"/>
                  </a:lnTo>
                  <a:lnTo>
                    <a:pt x="21958" y="246964"/>
                  </a:lnTo>
                  <a:lnTo>
                    <a:pt x="5578" y="207094"/>
                  </a:lnTo>
                  <a:lnTo>
                    <a:pt x="1405" y="186011"/>
                  </a:lnTo>
                  <a:lnTo>
                    <a:pt x="0" y="164528"/>
                  </a:lnTo>
                  <a:close/>
                </a:path>
              </a:pathLst>
            </a:custGeom>
            <a:ln w="7559">
              <a:solidFill>
                <a:srgbClr val="34B3C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969378" y="3167900"/>
            <a:ext cx="12763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90">
                <a:solidFill>
                  <a:srgbClr val="FFFFFF"/>
                </a:solidFill>
                <a:latin typeface="Arial Black"/>
                <a:cs typeface="Arial Black"/>
              </a:rPr>
              <a:t>3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331175" y="2972546"/>
            <a:ext cx="3445510" cy="635635"/>
          </a:xfrm>
          <a:prstGeom prst="rect">
            <a:avLst/>
          </a:prstGeom>
        </p:spPr>
        <p:txBody>
          <a:bodyPr wrap="square" lIns="0" tIns="12318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69"/>
              </a:spcBef>
            </a:pPr>
            <a:r>
              <a:rPr dirty="0" sz="1600" spc="-95">
                <a:solidFill>
                  <a:srgbClr val="0F2339"/>
                </a:solidFill>
                <a:latin typeface="Arial Black"/>
                <a:cs typeface="Arial Black"/>
              </a:rPr>
              <a:t>Subscription</a:t>
            </a:r>
            <a:r>
              <a:rPr dirty="0" sz="1600" spc="-8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600" spc="-235">
                <a:solidFill>
                  <a:srgbClr val="0F2339"/>
                </a:solidFill>
                <a:latin typeface="Arial Black"/>
                <a:cs typeface="Arial Black"/>
              </a:rPr>
              <a:t>&amp;</a:t>
            </a:r>
            <a:r>
              <a:rPr dirty="0" sz="1600" spc="-8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600" spc="-114">
                <a:solidFill>
                  <a:srgbClr val="0F2339"/>
                </a:solidFill>
                <a:latin typeface="Arial Black"/>
                <a:cs typeface="Arial Black"/>
              </a:rPr>
              <a:t>resource</a:t>
            </a:r>
            <a:r>
              <a:rPr dirty="0" sz="1600" spc="-8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600" spc="-10">
                <a:solidFill>
                  <a:srgbClr val="0F2339"/>
                </a:solidFill>
                <a:latin typeface="Arial Black"/>
                <a:cs typeface="Arial Black"/>
              </a:rPr>
              <a:t>groups</a:t>
            </a:r>
            <a:endParaRPr sz="16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dirty="0" sz="1150">
                <a:solidFill>
                  <a:srgbClr val="556478"/>
                </a:solidFill>
                <a:latin typeface="Noto Sans"/>
                <a:cs typeface="Noto Sans"/>
              </a:rPr>
              <a:t>Find</a:t>
            </a:r>
            <a:r>
              <a:rPr dirty="0" sz="115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50">
                <a:solidFill>
                  <a:srgbClr val="556478"/>
                </a:solidFill>
                <a:latin typeface="Noto Sans"/>
                <a:cs typeface="Noto Sans"/>
              </a:rPr>
              <a:t>where</a:t>
            </a:r>
            <a:r>
              <a:rPr dirty="0" sz="115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50">
                <a:solidFill>
                  <a:srgbClr val="556478"/>
                </a:solidFill>
                <a:latin typeface="Noto Sans"/>
                <a:cs typeface="Noto Sans"/>
              </a:rPr>
              <a:t>a</a:t>
            </a:r>
            <a:r>
              <a:rPr dirty="0" sz="1150" spc="-2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50" spc="-10">
                <a:solidFill>
                  <a:srgbClr val="556478"/>
                </a:solidFill>
                <a:latin typeface="Noto Sans"/>
                <a:cs typeface="Noto Sans"/>
              </a:rPr>
              <a:t>resource</a:t>
            </a:r>
            <a:r>
              <a:rPr dirty="0" sz="115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50">
                <a:solidFill>
                  <a:srgbClr val="556478"/>
                </a:solidFill>
                <a:latin typeface="Noto Sans"/>
                <a:cs typeface="Noto Sans"/>
              </a:rPr>
              <a:t>is</a:t>
            </a:r>
            <a:r>
              <a:rPr dirty="0" sz="1150" spc="-2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50">
                <a:solidFill>
                  <a:srgbClr val="556478"/>
                </a:solidFill>
                <a:latin typeface="Noto Sans"/>
                <a:cs typeface="Noto Sans"/>
              </a:rPr>
              <a:t>organized</a:t>
            </a:r>
            <a:r>
              <a:rPr dirty="0" sz="115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50">
                <a:solidFill>
                  <a:srgbClr val="556478"/>
                </a:solidFill>
                <a:latin typeface="Noto Sans"/>
                <a:cs typeface="Noto Sans"/>
              </a:rPr>
              <a:t>and</a:t>
            </a:r>
            <a:r>
              <a:rPr dirty="0" sz="1150" spc="-2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50" spc="-10">
                <a:solidFill>
                  <a:srgbClr val="556478"/>
                </a:solidFill>
                <a:latin typeface="Noto Sans"/>
                <a:cs typeface="Noto Sans"/>
              </a:rPr>
              <a:t>managed.</a:t>
            </a:r>
            <a:endParaRPr sz="1150">
              <a:latin typeface="Noto Sans"/>
              <a:cs typeface="Noto Sans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6258244" y="2939036"/>
            <a:ext cx="5268595" cy="970915"/>
            <a:chOff x="6258244" y="2939036"/>
            <a:chExt cx="5268595" cy="970915"/>
          </a:xfrm>
        </p:grpSpPr>
        <p:sp>
          <p:nvSpPr>
            <p:cNvPr id="28" name="object 28"/>
            <p:cNvSpPr/>
            <p:nvPr/>
          </p:nvSpPr>
          <p:spPr>
            <a:xfrm>
              <a:off x="6263284" y="2944075"/>
              <a:ext cx="5258435" cy="960755"/>
            </a:xfrm>
            <a:custGeom>
              <a:avLst/>
              <a:gdLst/>
              <a:ahLst/>
              <a:cxnLst/>
              <a:rect l="l" t="t" r="r" b="b"/>
              <a:pathLst>
                <a:path w="5258434" h="960754">
                  <a:moveTo>
                    <a:pt x="110159" y="0"/>
                  </a:moveTo>
                  <a:lnTo>
                    <a:pt x="68088" y="8358"/>
                  </a:lnTo>
                  <a:lnTo>
                    <a:pt x="32534" y="32224"/>
                  </a:lnTo>
                  <a:lnTo>
                    <a:pt x="8708" y="67882"/>
                  </a:lnTo>
                  <a:lnTo>
                    <a:pt x="355" y="109804"/>
                  </a:lnTo>
                  <a:lnTo>
                    <a:pt x="0" y="850684"/>
                  </a:lnTo>
                  <a:lnTo>
                    <a:pt x="939" y="865114"/>
                  </a:lnTo>
                  <a:lnTo>
                    <a:pt x="14757" y="905763"/>
                  </a:lnTo>
                  <a:lnTo>
                    <a:pt x="22674" y="917477"/>
                  </a:lnTo>
                  <a:lnTo>
                    <a:pt x="22775" y="917627"/>
                  </a:lnTo>
                  <a:lnTo>
                    <a:pt x="55079" y="945718"/>
                  </a:lnTo>
                  <a:lnTo>
                    <a:pt x="95374" y="959548"/>
                  </a:lnTo>
                  <a:lnTo>
                    <a:pt x="109791" y="960488"/>
                  </a:lnTo>
                  <a:lnTo>
                    <a:pt x="5148351" y="960488"/>
                  </a:lnTo>
                  <a:lnTo>
                    <a:pt x="5190422" y="952130"/>
                  </a:lnTo>
                  <a:lnTo>
                    <a:pt x="5225926" y="928308"/>
                  </a:lnTo>
                  <a:lnTo>
                    <a:pt x="5249727" y="892755"/>
                  </a:lnTo>
                  <a:lnTo>
                    <a:pt x="5258155" y="850684"/>
                  </a:lnTo>
                  <a:lnTo>
                    <a:pt x="5258132" y="109804"/>
                  </a:lnTo>
                  <a:lnTo>
                    <a:pt x="5249802" y="68095"/>
                  </a:lnTo>
                  <a:lnTo>
                    <a:pt x="5225932" y="32535"/>
                  </a:lnTo>
                  <a:lnTo>
                    <a:pt x="5190272" y="8721"/>
                  </a:lnTo>
                  <a:lnTo>
                    <a:pt x="5148351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6263284" y="2944075"/>
              <a:ext cx="5258435" cy="960755"/>
            </a:xfrm>
            <a:custGeom>
              <a:avLst/>
              <a:gdLst/>
              <a:ahLst/>
              <a:cxnLst/>
              <a:rect l="l" t="t" r="r" b="b"/>
              <a:pathLst>
                <a:path w="5258434" h="960754">
                  <a:moveTo>
                    <a:pt x="355" y="109804"/>
                  </a:moveTo>
                  <a:lnTo>
                    <a:pt x="1295" y="95379"/>
                  </a:lnTo>
                  <a:lnTo>
                    <a:pt x="4090" y="81360"/>
                  </a:lnTo>
                  <a:lnTo>
                    <a:pt x="23133" y="43011"/>
                  </a:lnTo>
                  <a:lnTo>
                    <a:pt x="55079" y="14770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5148351" y="368"/>
                  </a:lnTo>
                  <a:lnTo>
                    <a:pt x="5190272" y="8721"/>
                  </a:lnTo>
                  <a:lnTo>
                    <a:pt x="5225932" y="32535"/>
                  </a:lnTo>
                  <a:lnTo>
                    <a:pt x="5249802" y="68095"/>
                  </a:lnTo>
                  <a:lnTo>
                    <a:pt x="5258155" y="110159"/>
                  </a:lnTo>
                  <a:lnTo>
                    <a:pt x="5258155" y="850684"/>
                  </a:lnTo>
                  <a:lnTo>
                    <a:pt x="5257215" y="865108"/>
                  </a:lnTo>
                  <a:lnTo>
                    <a:pt x="5254420" y="879127"/>
                  </a:lnTo>
                  <a:lnTo>
                    <a:pt x="5235378" y="917477"/>
                  </a:lnTo>
                  <a:lnTo>
                    <a:pt x="5203431" y="945718"/>
                  </a:lnTo>
                  <a:lnTo>
                    <a:pt x="5162781" y="959548"/>
                  </a:lnTo>
                  <a:lnTo>
                    <a:pt x="5148351" y="960488"/>
                  </a:lnTo>
                  <a:lnTo>
                    <a:pt x="109791" y="960488"/>
                  </a:lnTo>
                  <a:lnTo>
                    <a:pt x="67882" y="952130"/>
                  </a:lnTo>
                  <a:lnTo>
                    <a:pt x="32213" y="928308"/>
                  </a:lnTo>
                  <a:lnTo>
                    <a:pt x="8352" y="892755"/>
                  </a:lnTo>
                  <a:lnTo>
                    <a:pt x="0" y="850684"/>
                  </a:lnTo>
                  <a:lnTo>
                    <a:pt x="355" y="109804"/>
                  </a:lnTo>
                  <a:close/>
                </a:path>
              </a:pathLst>
            </a:custGeom>
            <a:ln w="10079">
              <a:solidFill>
                <a:srgbClr val="DBE4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6446164" y="3126955"/>
              <a:ext cx="329565" cy="329565"/>
            </a:xfrm>
            <a:custGeom>
              <a:avLst/>
              <a:gdLst/>
              <a:ahLst/>
              <a:cxnLst/>
              <a:rect l="l" t="t" r="r" b="b"/>
              <a:pathLst>
                <a:path w="329565" h="329564">
                  <a:moveTo>
                    <a:pt x="164515" y="0"/>
                  </a:moveTo>
                  <a:lnTo>
                    <a:pt x="121989" y="5583"/>
                  </a:lnTo>
                  <a:lnTo>
                    <a:pt x="82435" y="21958"/>
                  </a:lnTo>
                  <a:lnTo>
                    <a:pt x="48148" y="48150"/>
                  </a:lnTo>
                  <a:lnTo>
                    <a:pt x="21958" y="82448"/>
                  </a:lnTo>
                  <a:lnTo>
                    <a:pt x="5578" y="122002"/>
                  </a:lnTo>
                  <a:lnTo>
                    <a:pt x="0" y="164528"/>
                  </a:lnTo>
                  <a:lnTo>
                    <a:pt x="1405" y="186011"/>
                  </a:lnTo>
                  <a:lnTo>
                    <a:pt x="12451" y="227502"/>
                  </a:lnTo>
                  <a:lnTo>
                    <a:pt x="33940" y="264812"/>
                  </a:lnTo>
                  <a:lnTo>
                    <a:pt x="64381" y="295109"/>
                  </a:lnTo>
                  <a:lnTo>
                    <a:pt x="101690" y="316592"/>
                  </a:lnTo>
                  <a:lnTo>
                    <a:pt x="143032" y="327638"/>
                  </a:lnTo>
                  <a:lnTo>
                    <a:pt x="164515" y="329044"/>
                  </a:lnTo>
                  <a:lnTo>
                    <a:pt x="186004" y="327638"/>
                  </a:lnTo>
                  <a:lnTo>
                    <a:pt x="227491" y="316592"/>
                  </a:lnTo>
                  <a:lnTo>
                    <a:pt x="264800" y="295109"/>
                  </a:lnTo>
                  <a:lnTo>
                    <a:pt x="295096" y="264812"/>
                  </a:lnTo>
                  <a:lnTo>
                    <a:pt x="316580" y="227502"/>
                  </a:lnTo>
                  <a:lnTo>
                    <a:pt x="327625" y="186011"/>
                  </a:lnTo>
                  <a:lnTo>
                    <a:pt x="329031" y="164528"/>
                  </a:lnTo>
                  <a:lnTo>
                    <a:pt x="327625" y="143045"/>
                  </a:lnTo>
                  <a:lnTo>
                    <a:pt x="316580" y="101702"/>
                  </a:lnTo>
                  <a:lnTo>
                    <a:pt x="295096" y="64386"/>
                  </a:lnTo>
                  <a:lnTo>
                    <a:pt x="264800" y="33940"/>
                  </a:lnTo>
                  <a:lnTo>
                    <a:pt x="227491" y="12456"/>
                  </a:lnTo>
                  <a:lnTo>
                    <a:pt x="186004" y="1407"/>
                  </a:lnTo>
                  <a:lnTo>
                    <a:pt x="164515" y="0"/>
                  </a:lnTo>
                  <a:close/>
                </a:path>
              </a:pathLst>
            </a:custGeom>
            <a:solidFill>
              <a:srgbClr val="34B3C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6446164" y="3126955"/>
              <a:ext cx="329565" cy="329565"/>
            </a:xfrm>
            <a:custGeom>
              <a:avLst/>
              <a:gdLst/>
              <a:ahLst/>
              <a:cxnLst/>
              <a:rect l="l" t="t" r="r" b="b"/>
              <a:pathLst>
                <a:path w="329565" h="329564">
                  <a:moveTo>
                    <a:pt x="0" y="164528"/>
                  </a:moveTo>
                  <a:lnTo>
                    <a:pt x="1405" y="143045"/>
                  </a:lnTo>
                  <a:lnTo>
                    <a:pt x="5578" y="122002"/>
                  </a:lnTo>
                  <a:lnTo>
                    <a:pt x="21958" y="82448"/>
                  </a:lnTo>
                  <a:lnTo>
                    <a:pt x="48148" y="48150"/>
                  </a:lnTo>
                  <a:lnTo>
                    <a:pt x="82435" y="21958"/>
                  </a:lnTo>
                  <a:lnTo>
                    <a:pt x="121989" y="5583"/>
                  </a:lnTo>
                  <a:lnTo>
                    <a:pt x="164515" y="0"/>
                  </a:lnTo>
                  <a:lnTo>
                    <a:pt x="207086" y="5583"/>
                  </a:lnTo>
                  <a:lnTo>
                    <a:pt x="246951" y="21958"/>
                  </a:lnTo>
                  <a:lnTo>
                    <a:pt x="280927" y="48150"/>
                  </a:lnTo>
                  <a:lnTo>
                    <a:pt x="307073" y="82448"/>
                  </a:lnTo>
                  <a:lnTo>
                    <a:pt x="323453" y="122002"/>
                  </a:lnTo>
                  <a:lnTo>
                    <a:pt x="329031" y="164528"/>
                  </a:lnTo>
                  <a:lnTo>
                    <a:pt x="327625" y="186011"/>
                  </a:lnTo>
                  <a:lnTo>
                    <a:pt x="323453" y="207094"/>
                  </a:lnTo>
                  <a:lnTo>
                    <a:pt x="307073" y="246964"/>
                  </a:lnTo>
                  <a:lnTo>
                    <a:pt x="280927" y="280939"/>
                  </a:lnTo>
                  <a:lnTo>
                    <a:pt x="246951" y="307086"/>
                  </a:lnTo>
                  <a:lnTo>
                    <a:pt x="207086" y="323465"/>
                  </a:lnTo>
                  <a:lnTo>
                    <a:pt x="164515" y="329044"/>
                  </a:lnTo>
                  <a:lnTo>
                    <a:pt x="121989" y="323465"/>
                  </a:lnTo>
                  <a:lnTo>
                    <a:pt x="82435" y="307086"/>
                  </a:lnTo>
                  <a:lnTo>
                    <a:pt x="48148" y="280939"/>
                  </a:lnTo>
                  <a:lnTo>
                    <a:pt x="21958" y="246964"/>
                  </a:lnTo>
                  <a:lnTo>
                    <a:pt x="5578" y="207094"/>
                  </a:lnTo>
                  <a:lnTo>
                    <a:pt x="1405" y="186011"/>
                  </a:lnTo>
                  <a:lnTo>
                    <a:pt x="0" y="164528"/>
                  </a:lnTo>
                  <a:close/>
                </a:path>
              </a:pathLst>
            </a:custGeom>
            <a:ln w="7559">
              <a:solidFill>
                <a:srgbClr val="34B3C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6547218" y="3167900"/>
            <a:ext cx="12763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90">
                <a:solidFill>
                  <a:srgbClr val="FFFFFF"/>
                </a:solidFill>
                <a:latin typeface="Arial Black"/>
                <a:cs typeface="Arial Black"/>
              </a:rPr>
              <a:t>4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909016" y="2972546"/>
            <a:ext cx="3801745" cy="635635"/>
          </a:xfrm>
          <a:prstGeom prst="rect">
            <a:avLst/>
          </a:prstGeom>
        </p:spPr>
        <p:txBody>
          <a:bodyPr wrap="square" lIns="0" tIns="12318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69"/>
              </a:spcBef>
            </a:pPr>
            <a:r>
              <a:rPr dirty="0" sz="1600" spc="-110">
                <a:solidFill>
                  <a:srgbClr val="0F2339"/>
                </a:solidFill>
                <a:latin typeface="Arial Black"/>
                <a:cs typeface="Arial Black"/>
              </a:rPr>
              <a:t>Regions,</a:t>
            </a:r>
            <a:r>
              <a:rPr dirty="0" sz="1600" spc="-9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600" spc="-114">
                <a:solidFill>
                  <a:srgbClr val="0F2339"/>
                </a:solidFill>
                <a:latin typeface="Arial Black"/>
                <a:cs typeface="Arial Black"/>
              </a:rPr>
              <a:t>zones</a:t>
            </a:r>
            <a:r>
              <a:rPr dirty="0" sz="1600" spc="-9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600" spc="-235">
                <a:solidFill>
                  <a:srgbClr val="0F2339"/>
                </a:solidFill>
                <a:latin typeface="Arial Black"/>
                <a:cs typeface="Arial Black"/>
              </a:rPr>
              <a:t>&amp;</a:t>
            </a:r>
            <a:r>
              <a:rPr dirty="0" sz="1600" spc="-9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600" spc="-20">
                <a:solidFill>
                  <a:srgbClr val="0F2339"/>
                </a:solidFill>
                <a:latin typeface="Arial Black"/>
                <a:cs typeface="Arial Black"/>
              </a:rPr>
              <a:t>sets</a:t>
            </a:r>
            <a:endParaRPr sz="16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dirty="0" sz="1150">
                <a:solidFill>
                  <a:srgbClr val="556478"/>
                </a:solidFill>
                <a:latin typeface="Noto Sans"/>
                <a:cs typeface="Noto Sans"/>
              </a:rPr>
              <a:t>Choose</a:t>
            </a:r>
            <a:r>
              <a:rPr dirty="0" sz="1150" spc="-2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50">
                <a:solidFill>
                  <a:srgbClr val="556478"/>
                </a:solidFill>
                <a:latin typeface="Noto Sans"/>
                <a:cs typeface="Noto Sans"/>
              </a:rPr>
              <a:t>a</a:t>
            </a:r>
            <a:r>
              <a:rPr dirty="0" sz="1150" spc="-2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50" spc="-10">
                <a:solidFill>
                  <a:srgbClr val="556478"/>
                </a:solidFill>
                <a:latin typeface="Noto Sans"/>
                <a:cs typeface="Noto Sans"/>
              </a:rPr>
              <a:t>resilience</a:t>
            </a:r>
            <a:r>
              <a:rPr dirty="0" sz="1150" spc="-1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50" spc="-10">
                <a:solidFill>
                  <a:srgbClr val="556478"/>
                </a:solidFill>
                <a:latin typeface="Noto Sans"/>
                <a:cs typeface="Noto Sans"/>
              </a:rPr>
              <a:t>approach</a:t>
            </a:r>
            <a:r>
              <a:rPr dirty="0" sz="1150" spc="-1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50">
                <a:solidFill>
                  <a:srgbClr val="556478"/>
                </a:solidFill>
                <a:latin typeface="Noto Sans"/>
                <a:cs typeface="Noto Sans"/>
              </a:rPr>
              <a:t>for</a:t>
            </a:r>
            <a:r>
              <a:rPr dirty="0" sz="1150" spc="-2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50">
                <a:solidFill>
                  <a:srgbClr val="556478"/>
                </a:solidFill>
                <a:latin typeface="Noto Sans"/>
                <a:cs typeface="Noto Sans"/>
              </a:rPr>
              <a:t>the</a:t>
            </a:r>
            <a:r>
              <a:rPr dirty="0" sz="1150" spc="-2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50">
                <a:solidFill>
                  <a:srgbClr val="556478"/>
                </a:solidFill>
                <a:latin typeface="Noto Sans"/>
                <a:cs typeface="Noto Sans"/>
              </a:rPr>
              <a:t>failure</a:t>
            </a:r>
            <a:r>
              <a:rPr dirty="0" sz="1150" spc="-2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50">
                <a:solidFill>
                  <a:srgbClr val="556478"/>
                </a:solidFill>
                <a:latin typeface="Noto Sans"/>
                <a:cs typeface="Noto Sans"/>
              </a:rPr>
              <a:t>to</a:t>
            </a:r>
            <a:r>
              <a:rPr dirty="0" sz="1150" spc="-1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50" spc="-10">
                <a:solidFill>
                  <a:srgbClr val="556478"/>
                </a:solidFill>
                <a:latin typeface="Noto Sans"/>
                <a:cs typeface="Noto Sans"/>
              </a:rPr>
              <a:t>tolerate.</a:t>
            </a:r>
            <a:endParaRPr sz="1150">
              <a:latin typeface="Noto Sans"/>
              <a:cs typeface="Noto Sans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680404" y="4191840"/>
            <a:ext cx="5268595" cy="970915"/>
            <a:chOff x="680404" y="4191840"/>
            <a:chExt cx="5268595" cy="970915"/>
          </a:xfrm>
        </p:grpSpPr>
        <p:sp>
          <p:nvSpPr>
            <p:cNvPr id="35" name="object 35"/>
            <p:cNvSpPr/>
            <p:nvPr/>
          </p:nvSpPr>
          <p:spPr>
            <a:xfrm>
              <a:off x="685444" y="4196880"/>
              <a:ext cx="5258435" cy="960755"/>
            </a:xfrm>
            <a:custGeom>
              <a:avLst/>
              <a:gdLst/>
              <a:ahLst/>
              <a:cxnLst/>
              <a:rect l="l" t="t" r="r" b="b"/>
              <a:pathLst>
                <a:path w="5258435" h="960754">
                  <a:moveTo>
                    <a:pt x="110159" y="0"/>
                  </a:moveTo>
                  <a:lnTo>
                    <a:pt x="68088" y="8352"/>
                  </a:lnTo>
                  <a:lnTo>
                    <a:pt x="32534" y="32223"/>
                  </a:lnTo>
                  <a:lnTo>
                    <a:pt x="8708" y="67882"/>
                  </a:lnTo>
                  <a:lnTo>
                    <a:pt x="355" y="109804"/>
                  </a:lnTo>
                  <a:lnTo>
                    <a:pt x="0" y="850684"/>
                  </a:lnTo>
                  <a:lnTo>
                    <a:pt x="939" y="865107"/>
                  </a:lnTo>
                  <a:lnTo>
                    <a:pt x="3735" y="879162"/>
                  </a:lnTo>
                  <a:lnTo>
                    <a:pt x="8300" y="892592"/>
                  </a:lnTo>
                  <a:lnTo>
                    <a:pt x="8352" y="892748"/>
                  </a:lnTo>
                  <a:lnTo>
                    <a:pt x="32213" y="928308"/>
                  </a:lnTo>
                  <a:lnTo>
                    <a:pt x="67882" y="952122"/>
                  </a:lnTo>
                  <a:lnTo>
                    <a:pt x="109791" y="960475"/>
                  </a:lnTo>
                  <a:lnTo>
                    <a:pt x="5148351" y="960475"/>
                  </a:lnTo>
                  <a:lnTo>
                    <a:pt x="5190422" y="952122"/>
                  </a:lnTo>
                  <a:lnTo>
                    <a:pt x="5225924" y="928308"/>
                  </a:lnTo>
                  <a:lnTo>
                    <a:pt x="5249725" y="892748"/>
                  </a:lnTo>
                  <a:lnTo>
                    <a:pt x="5249802" y="892592"/>
                  </a:lnTo>
                  <a:lnTo>
                    <a:pt x="5254404" y="879162"/>
                  </a:lnTo>
                  <a:lnTo>
                    <a:pt x="5257214" y="865107"/>
                  </a:lnTo>
                  <a:lnTo>
                    <a:pt x="5258155" y="850684"/>
                  </a:lnTo>
                  <a:lnTo>
                    <a:pt x="5258132" y="109804"/>
                  </a:lnTo>
                  <a:lnTo>
                    <a:pt x="5249802" y="68088"/>
                  </a:lnTo>
                  <a:lnTo>
                    <a:pt x="5225932" y="32535"/>
                  </a:lnTo>
                  <a:lnTo>
                    <a:pt x="5190272" y="8713"/>
                  </a:lnTo>
                  <a:lnTo>
                    <a:pt x="5148351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685444" y="4196880"/>
              <a:ext cx="5258435" cy="960755"/>
            </a:xfrm>
            <a:custGeom>
              <a:avLst/>
              <a:gdLst/>
              <a:ahLst/>
              <a:cxnLst/>
              <a:rect l="l" t="t" r="r" b="b"/>
              <a:pathLst>
                <a:path w="5258435" h="960754">
                  <a:moveTo>
                    <a:pt x="355" y="109804"/>
                  </a:moveTo>
                  <a:lnTo>
                    <a:pt x="1295" y="95379"/>
                  </a:lnTo>
                  <a:lnTo>
                    <a:pt x="4090" y="81360"/>
                  </a:lnTo>
                  <a:lnTo>
                    <a:pt x="23133" y="43010"/>
                  </a:lnTo>
                  <a:lnTo>
                    <a:pt x="55079" y="14757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5148351" y="355"/>
                  </a:lnTo>
                  <a:lnTo>
                    <a:pt x="5190272" y="8713"/>
                  </a:lnTo>
                  <a:lnTo>
                    <a:pt x="5225932" y="32535"/>
                  </a:lnTo>
                  <a:lnTo>
                    <a:pt x="5249802" y="68088"/>
                  </a:lnTo>
                  <a:lnTo>
                    <a:pt x="5258155" y="110159"/>
                  </a:lnTo>
                  <a:lnTo>
                    <a:pt x="5258155" y="850684"/>
                  </a:lnTo>
                  <a:lnTo>
                    <a:pt x="5257215" y="865101"/>
                  </a:lnTo>
                  <a:lnTo>
                    <a:pt x="5254420" y="879116"/>
                  </a:lnTo>
                  <a:lnTo>
                    <a:pt x="5235378" y="917471"/>
                  </a:lnTo>
                  <a:lnTo>
                    <a:pt x="5203431" y="945718"/>
                  </a:lnTo>
                  <a:lnTo>
                    <a:pt x="5162781" y="959535"/>
                  </a:lnTo>
                  <a:lnTo>
                    <a:pt x="5148351" y="960475"/>
                  </a:lnTo>
                  <a:lnTo>
                    <a:pt x="109791" y="960475"/>
                  </a:lnTo>
                  <a:lnTo>
                    <a:pt x="67882" y="952122"/>
                  </a:lnTo>
                  <a:lnTo>
                    <a:pt x="32213" y="928308"/>
                  </a:lnTo>
                  <a:lnTo>
                    <a:pt x="8352" y="892748"/>
                  </a:lnTo>
                  <a:lnTo>
                    <a:pt x="0" y="850684"/>
                  </a:lnTo>
                  <a:lnTo>
                    <a:pt x="355" y="109804"/>
                  </a:lnTo>
                  <a:close/>
                </a:path>
              </a:pathLst>
            </a:custGeom>
            <a:ln w="10079">
              <a:solidFill>
                <a:srgbClr val="DBE4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868324" y="4379760"/>
              <a:ext cx="329565" cy="329565"/>
            </a:xfrm>
            <a:custGeom>
              <a:avLst/>
              <a:gdLst/>
              <a:ahLst/>
              <a:cxnLst/>
              <a:rect l="l" t="t" r="r" b="b"/>
              <a:pathLst>
                <a:path w="329565" h="329564">
                  <a:moveTo>
                    <a:pt x="164515" y="0"/>
                  </a:moveTo>
                  <a:lnTo>
                    <a:pt x="121945" y="5578"/>
                  </a:lnTo>
                  <a:lnTo>
                    <a:pt x="82080" y="21958"/>
                  </a:lnTo>
                  <a:lnTo>
                    <a:pt x="48104" y="48104"/>
                  </a:lnTo>
                  <a:lnTo>
                    <a:pt x="21958" y="82080"/>
                  </a:lnTo>
                  <a:lnTo>
                    <a:pt x="5578" y="121950"/>
                  </a:lnTo>
                  <a:lnTo>
                    <a:pt x="0" y="164515"/>
                  </a:lnTo>
                  <a:lnTo>
                    <a:pt x="1405" y="185999"/>
                  </a:lnTo>
                  <a:lnTo>
                    <a:pt x="12451" y="227341"/>
                  </a:lnTo>
                  <a:lnTo>
                    <a:pt x="33934" y="264657"/>
                  </a:lnTo>
                  <a:lnTo>
                    <a:pt x="64231" y="295103"/>
                  </a:lnTo>
                  <a:lnTo>
                    <a:pt x="101540" y="316587"/>
                  </a:lnTo>
                  <a:lnTo>
                    <a:pt x="143027" y="327636"/>
                  </a:lnTo>
                  <a:lnTo>
                    <a:pt x="164515" y="329044"/>
                  </a:lnTo>
                  <a:lnTo>
                    <a:pt x="185999" y="327636"/>
                  </a:lnTo>
                  <a:lnTo>
                    <a:pt x="227341" y="316587"/>
                  </a:lnTo>
                  <a:lnTo>
                    <a:pt x="264650" y="295103"/>
                  </a:lnTo>
                  <a:lnTo>
                    <a:pt x="295091" y="264657"/>
                  </a:lnTo>
                  <a:lnTo>
                    <a:pt x="316580" y="227341"/>
                  </a:lnTo>
                  <a:lnTo>
                    <a:pt x="327625" y="185999"/>
                  </a:lnTo>
                  <a:lnTo>
                    <a:pt x="329031" y="164515"/>
                  </a:lnTo>
                  <a:lnTo>
                    <a:pt x="327625" y="143032"/>
                  </a:lnTo>
                  <a:lnTo>
                    <a:pt x="316580" y="101541"/>
                  </a:lnTo>
                  <a:lnTo>
                    <a:pt x="295091" y="64231"/>
                  </a:lnTo>
                  <a:lnTo>
                    <a:pt x="264650" y="33934"/>
                  </a:lnTo>
                  <a:lnTo>
                    <a:pt x="227341" y="12451"/>
                  </a:lnTo>
                  <a:lnTo>
                    <a:pt x="185999" y="1405"/>
                  </a:lnTo>
                  <a:lnTo>
                    <a:pt x="164515" y="0"/>
                  </a:lnTo>
                  <a:close/>
                </a:path>
              </a:pathLst>
            </a:custGeom>
            <a:solidFill>
              <a:srgbClr val="5A39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868324" y="4379760"/>
              <a:ext cx="329565" cy="329565"/>
            </a:xfrm>
            <a:custGeom>
              <a:avLst/>
              <a:gdLst/>
              <a:ahLst/>
              <a:cxnLst/>
              <a:rect l="l" t="t" r="r" b="b"/>
              <a:pathLst>
                <a:path w="329565" h="329564">
                  <a:moveTo>
                    <a:pt x="0" y="164515"/>
                  </a:moveTo>
                  <a:lnTo>
                    <a:pt x="1405" y="143032"/>
                  </a:lnTo>
                  <a:lnTo>
                    <a:pt x="5578" y="121950"/>
                  </a:lnTo>
                  <a:lnTo>
                    <a:pt x="21958" y="82080"/>
                  </a:lnTo>
                  <a:lnTo>
                    <a:pt x="48104" y="48104"/>
                  </a:lnTo>
                  <a:lnTo>
                    <a:pt x="82080" y="21958"/>
                  </a:lnTo>
                  <a:lnTo>
                    <a:pt x="121945" y="5578"/>
                  </a:lnTo>
                  <a:lnTo>
                    <a:pt x="164515" y="0"/>
                  </a:lnTo>
                  <a:lnTo>
                    <a:pt x="207041" y="5578"/>
                  </a:lnTo>
                  <a:lnTo>
                    <a:pt x="246595" y="21958"/>
                  </a:lnTo>
                  <a:lnTo>
                    <a:pt x="280882" y="48104"/>
                  </a:lnTo>
                  <a:lnTo>
                    <a:pt x="307073" y="82080"/>
                  </a:lnTo>
                  <a:lnTo>
                    <a:pt x="323453" y="121950"/>
                  </a:lnTo>
                  <a:lnTo>
                    <a:pt x="329031" y="164515"/>
                  </a:lnTo>
                  <a:lnTo>
                    <a:pt x="327625" y="185999"/>
                  </a:lnTo>
                  <a:lnTo>
                    <a:pt x="323453" y="207041"/>
                  </a:lnTo>
                  <a:lnTo>
                    <a:pt x="307073" y="246595"/>
                  </a:lnTo>
                  <a:lnTo>
                    <a:pt x="280882" y="280893"/>
                  </a:lnTo>
                  <a:lnTo>
                    <a:pt x="246595" y="307086"/>
                  </a:lnTo>
                  <a:lnTo>
                    <a:pt x="207041" y="323461"/>
                  </a:lnTo>
                  <a:lnTo>
                    <a:pt x="164515" y="329044"/>
                  </a:lnTo>
                  <a:lnTo>
                    <a:pt x="121945" y="323461"/>
                  </a:lnTo>
                  <a:lnTo>
                    <a:pt x="82080" y="307086"/>
                  </a:lnTo>
                  <a:lnTo>
                    <a:pt x="48104" y="280893"/>
                  </a:lnTo>
                  <a:lnTo>
                    <a:pt x="21958" y="246595"/>
                  </a:lnTo>
                  <a:lnTo>
                    <a:pt x="5578" y="207041"/>
                  </a:lnTo>
                  <a:lnTo>
                    <a:pt x="1405" y="185999"/>
                  </a:lnTo>
                  <a:lnTo>
                    <a:pt x="0" y="164515"/>
                  </a:lnTo>
                  <a:close/>
                </a:path>
              </a:pathLst>
            </a:custGeom>
            <a:ln w="7559">
              <a:solidFill>
                <a:srgbClr val="5A399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" name="object 39"/>
          <p:cNvSpPr txBox="1"/>
          <p:nvPr/>
        </p:nvSpPr>
        <p:spPr>
          <a:xfrm>
            <a:off x="969378" y="4420336"/>
            <a:ext cx="12763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90">
                <a:solidFill>
                  <a:srgbClr val="FFFFFF"/>
                </a:solidFill>
                <a:latin typeface="Arial Black"/>
                <a:cs typeface="Arial Black"/>
              </a:rPr>
              <a:t>5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331175" y="4225861"/>
            <a:ext cx="3920490" cy="792480"/>
          </a:xfrm>
          <a:prstGeom prst="rect">
            <a:avLst/>
          </a:prstGeom>
        </p:spPr>
        <p:txBody>
          <a:bodyPr wrap="square" lIns="0" tIns="1231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70"/>
              </a:spcBef>
            </a:pPr>
            <a:r>
              <a:rPr dirty="0" sz="1600" spc="-210">
                <a:solidFill>
                  <a:srgbClr val="0F2339"/>
                </a:solidFill>
                <a:latin typeface="Arial Black"/>
                <a:cs typeface="Arial Black"/>
              </a:rPr>
              <a:t>RBAC</a:t>
            </a:r>
            <a:r>
              <a:rPr dirty="0" sz="1600" spc="-10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600" spc="-110">
                <a:solidFill>
                  <a:srgbClr val="0F2339"/>
                </a:solidFill>
                <a:latin typeface="Arial Black"/>
                <a:cs typeface="Arial Black"/>
              </a:rPr>
              <a:t>least</a:t>
            </a:r>
            <a:r>
              <a:rPr dirty="0" sz="1600" spc="-9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600" spc="-10">
                <a:solidFill>
                  <a:srgbClr val="0F2339"/>
                </a:solidFill>
                <a:latin typeface="Arial Black"/>
                <a:cs typeface="Arial Black"/>
              </a:rPr>
              <a:t>privilege</a:t>
            </a:r>
            <a:endParaRPr sz="1600">
              <a:latin typeface="Arial Black"/>
              <a:cs typeface="Arial Black"/>
            </a:endParaRPr>
          </a:p>
          <a:p>
            <a:pPr marL="12700" marR="5080">
              <a:lnSpc>
                <a:spcPts val="1240"/>
              </a:lnSpc>
              <a:spcBef>
                <a:spcPts val="785"/>
              </a:spcBef>
            </a:pPr>
            <a:r>
              <a:rPr dirty="0" sz="1150">
                <a:solidFill>
                  <a:srgbClr val="556478"/>
                </a:solidFill>
                <a:latin typeface="Noto Sans"/>
                <a:cs typeface="Noto Sans"/>
              </a:rPr>
              <a:t>Replace</a:t>
            </a:r>
            <a:r>
              <a:rPr dirty="0" sz="115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50">
                <a:solidFill>
                  <a:srgbClr val="556478"/>
                </a:solidFill>
                <a:latin typeface="Noto Sans"/>
                <a:cs typeface="Noto Sans"/>
              </a:rPr>
              <a:t>broad</a:t>
            </a:r>
            <a:r>
              <a:rPr dirty="0" sz="115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50">
                <a:solidFill>
                  <a:srgbClr val="556478"/>
                </a:solidFill>
                <a:latin typeface="Noto Sans"/>
                <a:cs typeface="Noto Sans"/>
              </a:rPr>
              <a:t>access</a:t>
            </a:r>
            <a:r>
              <a:rPr dirty="0" sz="115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50">
                <a:solidFill>
                  <a:srgbClr val="556478"/>
                </a:solidFill>
                <a:latin typeface="Noto Sans"/>
                <a:cs typeface="Noto Sans"/>
              </a:rPr>
              <a:t>with</a:t>
            </a:r>
            <a:r>
              <a:rPr dirty="0" sz="115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50">
                <a:solidFill>
                  <a:srgbClr val="556478"/>
                </a:solidFill>
                <a:latin typeface="Noto Sans"/>
                <a:cs typeface="Noto Sans"/>
              </a:rPr>
              <a:t>the</a:t>
            </a:r>
            <a:r>
              <a:rPr dirty="0" sz="115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50">
                <a:solidFill>
                  <a:srgbClr val="556478"/>
                </a:solidFill>
                <a:latin typeface="Noto Sans"/>
                <a:cs typeface="Noto Sans"/>
              </a:rPr>
              <a:t>smallest</a:t>
            </a:r>
            <a:r>
              <a:rPr dirty="0" sz="115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50">
                <a:solidFill>
                  <a:srgbClr val="556478"/>
                </a:solidFill>
                <a:latin typeface="Noto Sans"/>
                <a:cs typeface="Noto Sans"/>
              </a:rPr>
              <a:t>effective</a:t>
            </a:r>
            <a:r>
              <a:rPr dirty="0" sz="115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50">
                <a:solidFill>
                  <a:srgbClr val="556478"/>
                </a:solidFill>
                <a:latin typeface="Noto Sans"/>
                <a:cs typeface="Noto Sans"/>
              </a:rPr>
              <a:t>role</a:t>
            </a:r>
            <a:r>
              <a:rPr dirty="0" sz="115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50" spc="-25">
                <a:solidFill>
                  <a:srgbClr val="556478"/>
                </a:solidFill>
                <a:latin typeface="Noto Sans"/>
                <a:cs typeface="Noto Sans"/>
              </a:rPr>
              <a:t>and </a:t>
            </a:r>
            <a:r>
              <a:rPr dirty="0" sz="1150" spc="-10">
                <a:solidFill>
                  <a:srgbClr val="556478"/>
                </a:solidFill>
                <a:latin typeface="Noto Sans"/>
                <a:cs typeface="Noto Sans"/>
              </a:rPr>
              <a:t>scope.</a:t>
            </a:r>
            <a:endParaRPr sz="1150">
              <a:latin typeface="Noto Sans"/>
              <a:cs typeface="Noto Sans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6258244" y="4191840"/>
            <a:ext cx="5268595" cy="970915"/>
            <a:chOff x="6258244" y="4191840"/>
            <a:chExt cx="5268595" cy="970915"/>
          </a:xfrm>
        </p:grpSpPr>
        <p:sp>
          <p:nvSpPr>
            <p:cNvPr id="42" name="object 42"/>
            <p:cNvSpPr/>
            <p:nvPr/>
          </p:nvSpPr>
          <p:spPr>
            <a:xfrm>
              <a:off x="6263284" y="4196880"/>
              <a:ext cx="5258435" cy="960755"/>
            </a:xfrm>
            <a:custGeom>
              <a:avLst/>
              <a:gdLst/>
              <a:ahLst/>
              <a:cxnLst/>
              <a:rect l="l" t="t" r="r" b="b"/>
              <a:pathLst>
                <a:path w="5258434" h="960754">
                  <a:moveTo>
                    <a:pt x="110159" y="0"/>
                  </a:moveTo>
                  <a:lnTo>
                    <a:pt x="68088" y="8352"/>
                  </a:lnTo>
                  <a:lnTo>
                    <a:pt x="32534" y="32223"/>
                  </a:lnTo>
                  <a:lnTo>
                    <a:pt x="8708" y="67882"/>
                  </a:lnTo>
                  <a:lnTo>
                    <a:pt x="355" y="109804"/>
                  </a:lnTo>
                  <a:lnTo>
                    <a:pt x="0" y="850684"/>
                  </a:lnTo>
                  <a:lnTo>
                    <a:pt x="939" y="865107"/>
                  </a:lnTo>
                  <a:lnTo>
                    <a:pt x="14757" y="905764"/>
                  </a:lnTo>
                  <a:lnTo>
                    <a:pt x="22670" y="917471"/>
                  </a:lnTo>
                  <a:lnTo>
                    <a:pt x="22775" y="917627"/>
                  </a:lnTo>
                  <a:lnTo>
                    <a:pt x="55079" y="945718"/>
                  </a:lnTo>
                  <a:lnTo>
                    <a:pt x="95374" y="959535"/>
                  </a:lnTo>
                  <a:lnTo>
                    <a:pt x="109791" y="960475"/>
                  </a:lnTo>
                  <a:lnTo>
                    <a:pt x="5148351" y="960475"/>
                  </a:lnTo>
                  <a:lnTo>
                    <a:pt x="5190422" y="952122"/>
                  </a:lnTo>
                  <a:lnTo>
                    <a:pt x="5225924" y="928308"/>
                  </a:lnTo>
                  <a:lnTo>
                    <a:pt x="5249725" y="892748"/>
                  </a:lnTo>
                  <a:lnTo>
                    <a:pt x="5249802" y="892592"/>
                  </a:lnTo>
                  <a:lnTo>
                    <a:pt x="5254404" y="879162"/>
                  </a:lnTo>
                  <a:lnTo>
                    <a:pt x="5257214" y="865107"/>
                  </a:lnTo>
                  <a:lnTo>
                    <a:pt x="5258155" y="850684"/>
                  </a:lnTo>
                  <a:lnTo>
                    <a:pt x="5258132" y="109804"/>
                  </a:lnTo>
                  <a:lnTo>
                    <a:pt x="5249802" y="68088"/>
                  </a:lnTo>
                  <a:lnTo>
                    <a:pt x="5225932" y="32535"/>
                  </a:lnTo>
                  <a:lnTo>
                    <a:pt x="5190272" y="8713"/>
                  </a:lnTo>
                  <a:lnTo>
                    <a:pt x="5148351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6263284" y="4196880"/>
              <a:ext cx="5258435" cy="960755"/>
            </a:xfrm>
            <a:custGeom>
              <a:avLst/>
              <a:gdLst/>
              <a:ahLst/>
              <a:cxnLst/>
              <a:rect l="l" t="t" r="r" b="b"/>
              <a:pathLst>
                <a:path w="5258434" h="960754">
                  <a:moveTo>
                    <a:pt x="355" y="109804"/>
                  </a:moveTo>
                  <a:lnTo>
                    <a:pt x="1295" y="95379"/>
                  </a:lnTo>
                  <a:lnTo>
                    <a:pt x="4090" y="81360"/>
                  </a:lnTo>
                  <a:lnTo>
                    <a:pt x="23133" y="43010"/>
                  </a:lnTo>
                  <a:lnTo>
                    <a:pt x="55079" y="14757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5148351" y="355"/>
                  </a:lnTo>
                  <a:lnTo>
                    <a:pt x="5190272" y="8713"/>
                  </a:lnTo>
                  <a:lnTo>
                    <a:pt x="5225932" y="32535"/>
                  </a:lnTo>
                  <a:lnTo>
                    <a:pt x="5249802" y="68088"/>
                  </a:lnTo>
                  <a:lnTo>
                    <a:pt x="5258155" y="110159"/>
                  </a:lnTo>
                  <a:lnTo>
                    <a:pt x="5258155" y="850684"/>
                  </a:lnTo>
                  <a:lnTo>
                    <a:pt x="5257215" y="865101"/>
                  </a:lnTo>
                  <a:lnTo>
                    <a:pt x="5254420" y="879116"/>
                  </a:lnTo>
                  <a:lnTo>
                    <a:pt x="5235378" y="917471"/>
                  </a:lnTo>
                  <a:lnTo>
                    <a:pt x="5203431" y="945718"/>
                  </a:lnTo>
                  <a:lnTo>
                    <a:pt x="5162781" y="959535"/>
                  </a:lnTo>
                  <a:lnTo>
                    <a:pt x="5148351" y="960475"/>
                  </a:lnTo>
                  <a:lnTo>
                    <a:pt x="109791" y="960475"/>
                  </a:lnTo>
                  <a:lnTo>
                    <a:pt x="67882" y="952122"/>
                  </a:lnTo>
                  <a:lnTo>
                    <a:pt x="32213" y="928308"/>
                  </a:lnTo>
                  <a:lnTo>
                    <a:pt x="8352" y="892748"/>
                  </a:lnTo>
                  <a:lnTo>
                    <a:pt x="0" y="850684"/>
                  </a:lnTo>
                  <a:lnTo>
                    <a:pt x="355" y="109804"/>
                  </a:lnTo>
                  <a:close/>
                </a:path>
              </a:pathLst>
            </a:custGeom>
            <a:ln w="10079">
              <a:solidFill>
                <a:srgbClr val="DBE4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6446164" y="4379760"/>
              <a:ext cx="329565" cy="329565"/>
            </a:xfrm>
            <a:custGeom>
              <a:avLst/>
              <a:gdLst/>
              <a:ahLst/>
              <a:cxnLst/>
              <a:rect l="l" t="t" r="r" b="b"/>
              <a:pathLst>
                <a:path w="329565" h="329564">
                  <a:moveTo>
                    <a:pt x="164515" y="0"/>
                  </a:moveTo>
                  <a:lnTo>
                    <a:pt x="121989" y="5578"/>
                  </a:lnTo>
                  <a:lnTo>
                    <a:pt x="82435" y="21958"/>
                  </a:lnTo>
                  <a:lnTo>
                    <a:pt x="48148" y="48104"/>
                  </a:lnTo>
                  <a:lnTo>
                    <a:pt x="21958" y="82080"/>
                  </a:lnTo>
                  <a:lnTo>
                    <a:pt x="5578" y="121950"/>
                  </a:lnTo>
                  <a:lnTo>
                    <a:pt x="0" y="164515"/>
                  </a:lnTo>
                  <a:lnTo>
                    <a:pt x="1405" y="185999"/>
                  </a:lnTo>
                  <a:lnTo>
                    <a:pt x="12451" y="227341"/>
                  </a:lnTo>
                  <a:lnTo>
                    <a:pt x="33940" y="264657"/>
                  </a:lnTo>
                  <a:lnTo>
                    <a:pt x="64381" y="295103"/>
                  </a:lnTo>
                  <a:lnTo>
                    <a:pt x="101690" y="316587"/>
                  </a:lnTo>
                  <a:lnTo>
                    <a:pt x="143032" y="327636"/>
                  </a:lnTo>
                  <a:lnTo>
                    <a:pt x="164515" y="329044"/>
                  </a:lnTo>
                  <a:lnTo>
                    <a:pt x="186004" y="327636"/>
                  </a:lnTo>
                  <a:lnTo>
                    <a:pt x="227491" y="316587"/>
                  </a:lnTo>
                  <a:lnTo>
                    <a:pt x="264800" y="295103"/>
                  </a:lnTo>
                  <a:lnTo>
                    <a:pt x="295096" y="264657"/>
                  </a:lnTo>
                  <a:lnTo>
                    <a:pt x="316580" y="227341"/>
                  </a:lnTo>
                  <a:lnTo>
                    <a:pt x="327625" y="185999"/>
                  </a:lnTo>
                  <a:lnTo>
                    <a:pt x="329031" y="164515"/>
                  </a:lnTo>
                  <a:lnTo>
                    <a:pt x="327625" y="143032"/>
                  </a:lnTo>
                  <a:lnTo>
                    <a:pt x="316580" y="101541"/>
                  </a:lnTo>
                  <a:lnTo>
                    <a:pt x="295096" y="64231"/>
                  </a:lnTo>
                  <a:lnTo>
                    <a:pt x="264800" y="33934"/>
                  </a:lnTo>
                  <a:lnTo>
                    <a:pt x="227491" y="12451"/>
                  </a:lnTo>
                  <a:lnTo>
                    <a:pt x="186004" y="1405"/>
                  </a:lnTo>
                  <a:lnTo>
                    <a:pt x="164515" y="0"/>
                  </a:lnTo>
                  <a:close/>
                </a:path>
              </a:pathLst>
            </a:custGeom>
            <a:solidFill>
              <a:srgbClr val="5A39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6446164" y="4379760"/>
              <a:ext cx="329565" cy="329565"/>
            </a:xfrm>
            <a:custGeom>
              <a:avLst/>
              <a:gdLst/>
              <a:ahLst/>
              <a:cxnLst/>
              <a:rect l="l" t="t" r="r" b="b"/>
              <a:pathLst>
                <a:path w="329565" h="329564">
                  <a:moveTo>
                    <a:pt x="0" y="164515"/>
                  </a:moveTo>
                  <a:lnTo>
                    <a:pt x="1405" y="143032"/>
                  </a:lnTo>
                  <a:lnTo>
                    <a:pt x="5578" y="121950"/>
                  </a:lnTo>
                  <a:lnTo>
                    <a:pt x="21958" y="82080"/>
                  </a:lnTo>
                  <a:lnTo>
                    <a:pt x="48148" y="48104"/>
                  </a:lnTo>
                  <a:lnTo>
                    <a:pt x="82435" y="21958"/>
                  </a:lnTo>
                  <a:lnTo>
                    <a:pt x="121989" y="5578"/>
                  </a:lnTo>
                  <a:lnTo>
                    <a:pt x="164515" y="0"/>
                  </a:lnTo>
                  <a:lnTo>
                    <a:pt x="207086" y="5578"/>
                  </a:lnTo>
                  <a:lnTo>
                    <a:pt x="246951" y="21958"/>
                  </a:lnTo>
                  <a:lnTo>
                    <a:pt x="280927" y="48104"/>
                  </a:lnTo>
                  <a:lnTo>
                    <a:pt x="307073" y="82080"/>
                  </a:lnTo>
                  <a:lnTo>
                    <a:pt x="323453" y="121950"/>
                  </a:lnTo>
                  <a:lnTo>
                    <a:pt x="329031" y="164515"/>
                  </a:lnTo>
                  <a:lnTo>
                    <a:pt x="327625" y="185999"/>
                  </a:lnTo>
                  <a:lnTo>
                    <a:pt x="323453" y="207041"/>
                  </a:lnTo>
                  <a:lnTo>
                    <a:pt x="307073" y="246595"/>
                  </a:lnTo>
                  <a:lnTo>
                    <a:pt x="280927" y="280893"/>
                  </a:lnTo>
                  <a:lnTo>
                    <a:pt x="246951" y="307086"/>
                  </a:lnTo>
                  <a:lnTo>
                    <a:pt x="207086" y="323461"/>
                  </a:lnTo>
                  <a:lnTo>
                    <a:pt x="164515" y="329044"/>
                  </a:lnTo>
                  <a:lnTo>
                    <a:pt x="121989" y="323461"/>
                  </a:lnTo>
                  <a:lnTo>
                    <a:pt x="82435" y="307086"/>
                  </a:lnTo>
                  <a:lnTo>
                    <a:pt x="48148" y="280893"/>
                  </a:lnTo>
                  <a:lnTo>
                    <a:pt x="21958" y="246595"/>
                  </a:lnTo>
                  <a:lnTo>
                    <a:pt x="5578" y="207041"/>
                  </a:lnTo>
                  <a:lnTo>
                    <a:pt x="1405" y="185999"/>
                  </a:lnTo>
                  <a:lnTo>
                    <a:pt x="0" y="164515"/>
                  </a:lnTo>
                  <a:close/>
                </a:path>
              </a:pathLst>
            </a:custGeom>
            <a:ln w="7559">
              <a:solidFill>
                <a:srgbClr val="5A399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6" name="object 46"/>
          <p:cNvSpPr txBox="1"/>
          <p:nvPr/>
        </p:nvSpPr>
        <p:spPr>
          <a:xfrm>
            <a:off x="6547218" y="4420336"/>
            <a:ext cx="12763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90">
                <a:solidFill>
                  <a:srgbClr val="FFFFFF"/>
                </a:solidFill>
                <a:latin typeface="Arial Black"/>
                <a:cs typeface="Arial Black"/>
              </a:rPr>
              <a:t>6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6909016" y="4225861"/>
            <a:ext cx="3552190" cy="635000"/>
          </a:xfrm>
          <a:prstGeom prst="rect">
            <a:avLst/>
          </a:prstGeom>
        </p:spPr>
        <p:txBody>
          <a:bodyPr wrap="square" lIns="0" tIns="1231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70"/>
              </a:spcBef>
            </a:pPr>
            <a:r>
              <a:rPr dirty="0" sz="1600" spc="-75">
                <a:solidFill>
                  <a:srgbClr val="0F2339"/>
                </a:solidFill>
                <a:latin typeface="Arial Black"/>
                <a:cs typeface="Arial Black"/>
              </a:rPr>
              <a:t>Deny-</a:t>
            </a:r>
            <a:r>
              <a:rPr dirty="0" sz="1600" spc="-90">
                <a:solidFill>
                  <a:srgbClr val="0F2339"/>
                </a:solidFill>
                <a:latin typeface="Arial Black"/>
                <a:cs typeface="Arial Black"/>
              </a:rPr>
              <a:t>assignment</a:t>
            </a:r>
            <a:r>
              <a:rPr dirty="0" sz="1600" spc="-3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600" spc="-10">
                <a:solidFill>
                  <a:srgbClr val="0F2339"/>
                </a:solidFill>
                <a:latin typeface="Arial Black"/>
                <a:cs typeface="Arial Black"/>
              </a:rPr>
              <a:t>precedence</a:t>
            </a:r>
            <a:endParaRPr sz="16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dirty="0" sz="1150">
                <a:solidFill>
                  <a:srgbClr val="556478"/>
                </a:solidFill>
                <a:latin typeface="Noto Sans"/>
                <a:cs typeface="Noto Sans"/>
              </a:rPr>
              <a:t>Understand</a:t>
            </a:r>
            <a:r>
              <a:rPr dirty="0" sz="115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50">
                <a:solidFill>
                  <a:srgbClr val="556478"/>
                </a:solidFill>
                <a:latin typeface="Noto Sans"/>
                <a:cs typeface="Noto Sans"/>
              </a:rPr>
              <a:t>why</a:t>
            </a:r>
            <a:r>
              <a:rPr dirty="0" sz="1150" spc="-2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50">
                <a:solidFill>
                  <a:srgbClr val="556478"/>
                </a:solidFill>
                <a:latin typeface="Noto Sans"/>
                <a:cs typeface="Noto Sans"/>
              </a:rPr>
              <a:t>an</a:t>
            </a:r>
            <a:r>
              <a:rPr dirty="0" sz="115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50">
                <a:solidFill>
                  <a:srgbClr val="556478"/>
                </a:solidFill>
                <a:latin typeface="Noto Sans"/>
                <a:cs typeface="Noto Sans"/>
              </a:rPr>
              <a:t>Allow</a:t>
            </a:r>
            <a:r>
              <a:rPr dirty="0" sz="1150" spc="-2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50">
                <a:solidFill>
                  <a:srgbClr val="556478"/>
                </a:solidFill>
                <a:latin typeface="Noto Sans"/>
                <a:cs typeface="Noto Sans"/>
              </a:rPr>
              <a:t>role</a:t>
            </a:r>
            <a:r>
              <a:rPr dirty="0" sz="115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50">
                <a:solidFill>
                  <a:srgbClr val="556478"/>
                </a:solidFill>
                <a:latin typeface="Noto Sans"/>
                <a:cs typeface="Noto Sans"/>
              </a:rPr>
              <a:t>may</a:t>
            </a:r>
            <a:r>
              <a:rPr dirty="0" sz="1150" spc="-2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50">
                <a:solidFill>
                  <a:srgbClr val="556478"/>
                </a:solidFill>
                <a:latin typeface="Noto Sans"/>
                <a:cs typeface="Noto Sans"/>
              </a:rPr>
              <a:t>not</a:t>
            </a:r>
            <a:r>
              <a:rPr dirty="0" sz="115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50">
                <a:solidFill>
                  <a:srgbClr val="556478"/>
                </a:solidFill>
                <a:latin typeface="Noto Sans"/>
                <a:cs typeface="Noto Sans"/>
              </a:rPr>
              <a:t>be</a:t>
            </a:r>
            <a:r>
              <a:rPr dirty="0" sz="1150" spc="-2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50" spc="-10">
                <a:solidFill>
                  <a:srgbClr val="556478"/>
                </a:solidFill>
                <a:latin typeface="Noto Sans"/>
                <a:cs typeface="Noto Sans"/>
              </a:rPr>
              <a:t>effective.</a:t>
            </a:r>
            <a:endParaRPr sz="1150">
              <a:latin typeface="Noto Sans"/>
              <a:cs typeface="Noto San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66635" y="6382435"/>
            <a:ext cx="11064240" cy="635"/>
          </a:xfrm>
          <a:custGeom>
            <a:avLst/>
            <a:gdLst/>
            <a:ahLst/>
            <a:cxnLst/>
            <a:rect l="l" t="t" r="r" b="b"/>
            <a:pathLst>
              <a:path w="11064240" h="635">
                <a:moveTo>
                  <a:pt x="0" y="0"/>
                </a:moveTo>
                <a:lnTo>
                  <a:pt x="11064240" y="368"/>
                </a:lnTo>
              </a:path>
            </a:pathLst>
          </a:custGeom>
          <a:ln w="8999">
            <a:solidFill>
              <a:srgbClr val="DBE4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90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 spc="-100"/>
              <a:t>DAY</a:t>
            </a:r>
            <a:r>
              <a:rPr dirty="0" spc="-55"/>
              <a:t> </a:t>
            </a:r>
            <a:r>
              <a:rPr dirty="0"/>
              <a:t>1</a:t>
            </a:r>
            <a:r>
              <a:rPr dirty="0" spc="105"/>
              <a:t> </a:t>
            </a:r>
            <a:r>
              <a:rPr dirty="0"/>
              <a:t>•</a:t>
            </a:r>
            <a:r>
              <a:rPr dirty="0" spc="130"/>
              <a:t> </a:t>
            </a:r>
            <a:r>
              <a:rPr dirty="0" spc="-70"/>
              <a:t>CLOUD</a:t>
            </a:r>
            <a:r>
              <a:rPr dirty="0" spc="-55"/>
              <a:t> </a:t>
            </a:r>
            <a:r>
              <a:rPr dirty="0" spc="-65"/>
              <a:t>FOUNDATIONS</a:t>
            </a:r>
            <a:r>
              <a:rPr dirty="0" spc="-55"/>
              <a:t> </a:t>
            </a:r>
            <a:r>
              <a:rPr dirty="0" spc="-105"/>
              <a:t>&amp;</a:t>
            </a:r>
            <a:r>
              <a:rPr dirty="0" spc="-50"/>
              <a:t> </a:t>
            </a:r>
            <a:r>
              <a:rPr dirty="0" spc="-95"/>
              <a:t>AZURE</a:t>
            </a:r>
            <a:r>
              <a:rPr dirty="0" spc="-55"/>
              <a:t> </a:t>
            </a:r>
            <a:r>
              <a:rPr dirty="0" spc="-50"/>
              <a:t>BASICS</a:t>
            </a:r>
          </a:p>
        </p:txBody>
      </p:sp>
      <p:sp>
        <p:nvSpPr>
          <p:cNvPr id="48" name="object 48"/>
          <p:cNvSpPr txBox="1"/>
          <p:nvPr/>
        </p:nvSpPr>
        <p:spPr>
          <a:xfrm>
            <a:off x="11476697" y="6494402"/>
            <a:ext cx="149225" cy="172720"/>
          </a:xfrm>
          <a:prstGeom prst="rect">
            <a:avLst/>
          </a:prstGeom>
        </p:spPr>
        <p:txBody>
          <a:bodyPr wrap="square" lIns="0" tIns="203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dirty="0" sz="850" spc="-50">
                <a:solidFill>
                  <a:srgbClr val="0077D3"/>
                </a:solidFill>
                <a:latin typeface="Arial Black"/>
                <a:cs typeface="Arial Black"/>
              </a:rPr>
              <a:t>02</a:t>
            </a:r>
            <a:endParaRPr sz="85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3935" y="299427"/>
            <a:ext cx="205168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65">
                <a:solidFill>
                  <a:srgbClr val="0077D3"/>
                </a:solidFill>
                <a:latin typeface="Arial Black"/>
                <a:cs typeface="Arial Black"/>
              </a:rPr>
              <a:t>PA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25">
                <a:solidFill>
                  <a:srgbClr val="0077D3"/>
                </a:solidFill>
                <a:latin typeface="Arial Black"/>
                <a:cs typeface="Arial Black"/>
              </a:rPr>
              <a:t>R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>
                <a:solidFill>
                  <a:srgbClr val="0077D3"/>
                </a:solidFill>
                <a:latin typeface="Arial Black"/>
                <a:cs typeface="Arial Black"/>
              </a:rPr>
              <a:t>T</a:t>
            </a:r>
            <a:r>
              <a:rPr dirty="0" sz="1000" spc="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>
                <a:solidFill>
                  <a:srgbClr val="0077D3"/>
                </a:solidFill>
                <a:latin typeface="Arial Black"/>
                <a:cs typeface="Arial Black"/>
              </a:rPr>
              <a:t>1</a:t>
            </a:r>
            <a:r>
              <a:rPr dirty="0" sz="1000" spc="135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>
                <a:solidFill>
                  <a:srgbClr val="0077D3"/>
                </a:solidFill>
                <a:latin typeface="Arial Black"/>
                <a:cs typeface="Arial Black"/>
              </a:rPr>
              <a:t>•</a:t>
            </a:r>
            <a:r>
              <a:rPr dirty="0" sz="1000" spc="14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45">
                <a:solidFill>
                  <a:srgbClr val="0077D3"/>
                </a:solidFill>
                <a:latin typeface="Arial Black"/>
                <a:cs typeface="Arial Black"/>
              </a:rPr>
              <a:t>C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25">
                <a:solidFill>
                  <a:srgbClr val="0077D3"/>
                </a:solidFill>
                <a:latin typeface="Arial Black"/>
                <a:cs typeface="Arial Black"/>
              </a:rPr>
              <a:t>LO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90">
                <a:solidFill>
                  <a:srgbClr val="0077D3"/>
                </a:solidFill>
                <a:latin typeface="Arial Black"/>
                <a:cs typeface="Arial Black"/>
              </a:rPr>
              <a:t>U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>
                <a:solidFill>
                  <a:srgbClr val="0077D3"/>
                </a:solidFill>
                <a:latin typeface="Arial Black"/>
                <a:cs typeface="Arial Black"/>
              </a:rPr>
              <a:t>D</a:t>
            </a:r>
            <a:r>
              <a:rPr dirty="0" sz="1000" spc="135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45">
                <a:solidFill>
                  <a:srgbClr val="0077D3"/>
                </a:solidFill>
                <a:latin typeface="Arial Black"/>
                <a:cs typeface="Arial Black"/>
              </a:rPr>
              <a:t>CO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35">
                <a:solidFill>
                  <a:srgbClr val="0077D3"/>
                </a:solidFill>
                <a:latin typeface="Arial Black"/>
                <a:cs typeface="Arial Black"/>
              </a:rPr>
              <a:t>N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45">
                <a:solidFill>
                  <a:srgbClr val="0077D3"/>
                </a:solidFill>
                <a:latin typeface="Arial Black"/>
                <a:cs typeface="Arial Black"/>
              </a:rPr>
              <a:t>C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75">
                <a:solidFill>
                  <a:srgbClr val="0077D3"/>
                </a:solidFill>
                <a:latin typeface="Arial Black"/>
                <a:cs typeface="Arial Black"/>
              </a:rPr>
              <a:t>E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10">
                <a:solidFill>
                  <a:srgbClr val="0077D3"/>
                </a:solidFill>
                <a:latin typeface="Arial Black"/>
                <a:cs typeface="Arial Black"/>
              </a:rPr>
              <a:t>P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60">
                <a:solidFill>
                  <a:srgbClr val="0077D3"/>
                </a:solidFill>
                <a:latin typeface="Arial Black"/>
                <a:cs typeface="Arial Black"/>
              </a:rPr>
              <a:t>T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95">
                <a:solidFill>
                  <a:srgbClr val="0077D3"/>
                </a:solidFill>
                <a:latin typeface="Arial Black"/>
                <a:cs typeface="Arial Black"/>
              </a:rPr>
              <a:t>S</a:t>
            </a:r>
            <a:endParaRPr sz="1000">
              <a:latin typeface="Arial Black"/>
              <a:cs typeface="Arial Black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54304" y="428977"/>
            <a:ext cx="8960485" cy="814705"/>
          </a:xfrm>
          <a:prstGeom prst="rect"/>
        </p:spPr>
        <p:txBody>
          <a:bodyPr wrap="square" lIns="0" tIns="133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0"/>
              </a:spcBef>
            </a:pPr>
            <a:r>
              <a:rPr dirty="0" sz="2700" spc="-90">
                <a:solidFill>
                  <a:srgbClr val="0F2339"/>
                </a:solidFill>
              </a:rPr>
              <a:t>What</a:t>
            </a:r>
            <a:r>
              <a:rPr dirty="0" sz="2700" spc="-190">
                <a:solidFill>
                  <a:srgbClr val="0F2339"/>
                </a:solidFill>
              </a:rPr>
              <a:t> </a:t>
            </a:r>
            <a:r>
              <a:rPr dirty="0" sz="2700" spc="-204">
                <a:solidFill>
                  <a:srgbClr val="0F2339"/>
                </a:solidFill>
              </a:rPr>
              <a:t>is</a:t>
            </a:r>
            <a:r>
              <a:rPr dirty="0" sz="2700" spc="-195">
                <a:solidFill>
                  <a:srgbClr val="0F2339"/>
                </a:solidFill>
              </a:rPr>
              <a:t> </a:t>
            </a:r>
            <a:r>
              <a:rPr dirty="0" sz="2700" spc="-160">
                <a:solidFill>
                  <a:srgbClr val="0F2339"/>
                </a:solidFill>
              </a:rPr>
              <a:t>cloud</a:t>
            </a:r>
            <a:r>
              <a:rPr dirty="0" sz="2700" spc="-195">
                <a:solidFill>
                  <a:srgbClr val="0F2339"/>
                </a:solidFill>
              </a:rPr>
              <a:t> </a:t>
            </a:r>
            <a:r>
              <a:rPr dirty="0" sz="2700" spc="-30">
                <a:solidFill>
                  <a:srgbClr val="0F2339"/>
                </a:solidFill>
              </a:rPr>
              <a:t>computing?</a:t>
            </a:r>
            <a:endParaRPr sz="2700"/>
          </a:p>
          <a:p>
            <a:pPr marL="30480">
              <a:lnSpc>
                <a:spcPct val="100000"/>
              </a:lnSpc>
              <a:spcBef>
                <a:spcPts val="459"/>
              </a:spcBef>
            </a:pP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On-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demand</a:t>
            </a:r>
            <a:r>
              <a:rPr dirty="0" sz="1300" spc="-5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access</a:t>
            </a:r>
            <a:r>
              <a:rPr dirty="0" sz="1300" spc="-4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to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computing</a:t>
            </a:r>
            <a:r>
              <a:rPr dirty="0" sz="1300" spc="-4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resources</a:t>
            </a:r>
            <a:r>
              <a:rPr dirty="0" sz="1300" spc="-4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over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a</a:t>
            </a:r>
            <a:r>
              <a:rPr dirty="0" sz="1300" spc="-4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network,</a:t>
            </a:r>
            <a:r>
              <a:rPr dirty="0" sz="1300" spc="-4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without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owning</a:t>
            </a:r>
            <a:r>
              <a:rPr dirty="0" sz="1300" spc="-4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and</a:t>
            </a:r>
            <a:r>
              <a:rPr dirty="0" sz="1300" spc="-4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operating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all</a:t>
            </a:r>
            <a:r>
              <a:rPr dirty="0" sz="1300" spc="-4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underlying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hardware.</a:t>
            </a:r>
            <a:endParaRPr sz="1300">
              <a:latin typeface="Noto Sans"/>
              <a:cs typeface="Noto San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66635" y="1417319"/>
            <a:ext cx="11064240" cy="635"/>
          </a:xfrm>
          <a:custGeom>
            <a:avLst/>
            <a:gdLst/>
            <a:ahLst/>
            <a:cxnLst/>
            <a:rect l="l" t="t" r="r" b="b"/>
            <a:pathLst>
              <a:path w="11064240" h="634">
                <a:moveTo>
                  <a:pt x="0" y="0"/>
                </a:moveTo>
                <a:lnTo>
                  <a:pt x="11064240" y="355"/>
                </a:lnTo>
              </a:path>
            </a:pathLst>
          </a:custGeom>
          <a:ln w="10079">
            <a:solidFill>
              <a:srgbClr val="DBE4ED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6" name="object 6"/>
          <p:cNvGrpSpPr/>
          <p:nvPr/>
        </p:nvGrpSpPr>
        <p:grpSpPr>
          <a:xfrm>
            <a:off x="680036" y="1685876"/>
            <a:ext cx="3394075" cy="1839595"/>
            <a:chOff x="680036" y="1685876"/>
            <a:chExt cx="3394075" cy="1839595"/>
          </a:xfrm>
        </p:grpSpPr>
        <p:sp>
          <p:nvSpPr>
            <p:cNvPr id="7" name="object 7"/>
            <p:cNvSpPr/>
            <p:nvPr/>
          </p:nvSpPr>
          <p:spPr>
            <a:xfrm>
              <a:off x="685076" y="1690916"/>
              <a:ext cx="3383915" cy="1829435"/>
            </a:xfrm>
            <a:custGeom>
              <a:avLst/>
              <a:gdLst/>
              <a:ahLst/>
              <a:cxnLst/>
              <a:rect l="l" t="t" r="r" b="b"/>
              <a:pathLst>
                <a:path w="3383915" h="1829435">
                  <a:moveTo>
                    <a:pt x="110159" y="0"/>
                  </a:moveTo>
                  <a:lnTo>
                    <a:pt x="68095" y="8358"/>
                  </a:lnTo>
                  <a:lnTo>
                    <a:pt x="32535" y="32224"/>
                  </a:lnTo>
                  <a:lnTo>
                    <a:pt x="8721" y="67882"/>
                  </a:lnTo>
                  <a:lnTo>
                    <a:pt x="368" y="109804"/>
                  </a:lnTo>
                  <a:lnTo>
                    <a:pt x="0" y="1719364"/>
                  </a:lnTo>
                  <a:lnTo>
                    <a:pt x="939" y="1733794"/>
                  </a:lnTo>
                  <a:lnTo>
                    <a:pt x="3736" y="1747851"/>
                  </a:lnTo>
                  <a:lnTo>
                    <a:pt x="8307" y="1761285"/>
                  </a:lnTo>
                  <a:lnTo>
                    <a:pt x="8358" y="1761435"/>
                  </a:lnTo>
                  <a:lnTo>
                    <a:pt x="32224" y="1796988"/>
                  </a:lnTo>
                  <a:lnTo>
                    <a:pt x="67882" y="1820810"/>
                  </a:lnTo>
                  <a:lnTo>
                    <a:pt x="109804" y="1829168"/>
                  </a:lnTo>
                  <a:lnTo>
                    <a:pt x="3273844" y="1829168"/>
                  </a:lnTo>
                  <a:lnTo>
                    <a:pt x="3315915" y="1820810"/>
                  </a:lnTo>
                  <a:lnTo>
                    <a:pt x="3351417" y="1796988"/>
                  </a:lnTo>
                  <a:lnTo>
                    <a:pt x="3375214" y="1761435"/>
                  </a:lnTo>
                  <a:lnTo>
                    <a:pt x="3383648" y="1719364"/>
                  </a:lnTo>
                  <a:lnTo>
                    <a:pt x="3383625" y="109804"/>
                  </a:lnTo>
                  <a:lnTo>
                    <a:pt x="3375290" y="68095"/>
                  </a:lnTo>
                  <a:lnTo>
                    <a:pt x="3351423" y="32535"/>
                  </a:lnTo>
                  <a:lnTo>
                    <a:pt x="3315765" y="8721"/>
                  </a:lnTo>
                  <a:lnTo>
                    <a:pt x="3273844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685076" y="1690916"/>
              <a:ext cx="3383915" cy="1829435"/>
            </a:xfrm>
            <a:custGeom>
              <a:avLst/>
              <a:gdLst/>
              <a:ahLst/>
              <a:cxnLst/>
              <a:rect l="l" t="t" r="r" b="b"/>
              <a:pathLst>
                <a:path w="3383915" h="1829435">
                  <a:moveTo>
                    <a:pt x="368" y="109804"/>
                  </a:moveTo>
                  <a:lnTo>
                    <a:pt x="1307" y="95379"/>
                  </a:lnTo>
                  <a:lnTo>
                    <a:pt x="4103" y="81360"/>
                  </a:lnTo>
                  <a:lnTo>
                    <a:pt x="23138" y="43011"/>
                  </a:lnTo>
                  <a:lnTo>
                    <a:pt x="55079" y="14770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3273844" y="368"/>
                  </a:lnTo>
                  <a:lnTo>
                    <a:pt x="3315765" y="8721"/>
                  </a:lnTo>
                  <a:lnTo>
                    <a:pt x="3351423" y="32535"/>
                  </a:lnTo>
                  <a:lnTo>
                    <a:pt x="3375290" y="68095"/>
                  </a:lnTo>
                  <a:lnTo>
                    <a:pt x="3383648" y="110159"/>
                  </a:lnTo>
                  <a:lnTo>
                    <a:pt x="3383648" y="1719364"/>
                  </a:lnTo>
                  <a:lnTo>
                    <a:pt x="3382708" y="1733788"/>
                  </a:lnTo>
                  <a:lnTo>
                    <a:pt x="3379911" y="1747807"/>
                  </a:lnTo>
                  <a:lnTo>
                    <a:pt x="3360865" y="1786157"/>
                  </a:lnTo>
                  <a:lnTo>
                    <a:pt x="3328924" y="1814398"/>
                  </a:lnTo>
                  <a:lnTo>
                    <a:pt x="3288274" y="1828228"/>
                  </a:lnTo>
                  <a:lnTo>
                    <a:pt x="3273844" y="1829168"/>
                  </a:lnTo>
                  <a:lnTo>
                    <a:pt x="109804" y="1829168"/>
                  </a:lnTo>
                  <a:lnTo>
                    <a:pt x="67882" y="1820810"/>
                  </a:lnTo>
                  <a:lnTo>
                    <a:pt x="32224" y="1796988"/>
                  </a:lnTo>
                  <a:lnTo>
                    <a:pt x="8358" y="1761435"/>
                  </a:lnTo>
                  <a:lnTo>
                    <a:pt x="0" y="1719364"/>
                  </a:lnTo>
                  <a:lnTo>
                    <a:pt x="368" y="109804"/>
                  </a:lnTo>
                  <a:close/>
                </a:path>
              </a:pathLst>
            </a:custGeom>
            <a:ln w="10079">
              <a:solidFill>
                <a:srgbClr val="DBE4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85800" y="1691284"/>
              <a:ext cx="73025" cy="1828800"/>
            </a:xfrm>
            <a:custGeom>
              <a:avLst/>
              <a:gdLst/>
              <a:ahLst/>
              <a:cxnLst/>
              <a:rect l="l" t="t" r="r" b="b"/>
              <a:pathLst>
                <a:path w="73025" h="1828800">
                  <a:moveTo>
                    <a:pt x="72720" y="0"/>
                  </a:moveTo>
                  <a:lnTo>
                    <a:pt x="0" y="0"/>
                  </a:lnTo>
                  <a:lnTo>
                    <a:pt x="0" y="1828431"/>
                  </a:lnTo>
                  <a:lnTo>
                    <a:pt x="36360" y="1828431"/>
                  </a:lnTo>
                  <a:lnTo>
                    <a:pt x="72720" y="1828431"/>
                  </a:lnTo>
                  <a:lnTo>
                    <a:pt x="72720" y="0"/>
                  </a:lnTo>
                  <a:close/>
                </a:path>
              </a:pathLst>
            </a:custGeom>
            <a:solidFill>
              <a:srgbClr val="55647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685800" y="1691284"/>
              <a:ext cx="73025" cy="1828800"/>
            </a:xfrm>
            <a:custGeom>
              <a:avLst/>
              <a:gdLst/>
              <a:ahLst/>
              <a:cxnLst/>
              <a:rect l="l" t="t" r="r" b="b"/>
              <a:pathLst>
                <a:path w="73025" h="1828800">
                  <a:moveTo>
                    <a:pt x="36360" y="1828431"/>
                  </a:moveTo>
                  <a:lnTo>
                    <a:pt x="0" y="1828431"/>
                  </a:lnTo>
                  <a:lnTo>
                    <a:pt x="0" y="0"/>
                  </a:lnTo>
                  <a:lnTo>
                    <a:pt x="72720" y="0"/>
                  </a:lnTo>
                  <a:lnTo>
                    <a:pt x="72720" y="1828431"/>
                  </a:lnTo>
                  <a:lnTo>
                    <a:pt x="36360" y="1828431"/>
                  </a:lnTo>
                  <a:close/>
                </a:path>
              </a:pathLst>
            </a:custGeom>
            <a:ln w="10079">
              <a:solidFill>
                <a:srgbClr val="55647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874344" y="1867941"/>
            <a:ext cx="2973070" cy="13004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90">
                <a:solidFill>
                  <a:srgbClr val="0F2339"/>
                </a:solidFill>
                <a:latin typeface="Arial Black"/>
                <a:cs typeface="Arial Black"/>
              </a:rPr>
              <a:t>Traditional</a:t>
            </a:r>
            <a:r>
              <a:rPr dirty="0" sz="1600" spc="-7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600" spc="-80">
                <a:solidFill>
                  <a:srgbClr val="0F2339"/>
                </a:solidFill>
                <a:latin typeface="Arial Black"/>
                <a:cs typeface="Arial Black"/>
              </a:rPr>
              <a:t>data </a:t>
            </a:r>
            <a:r>
              <a:rPr dirty="0" sz="1600" spc="-10">
                <a:solidFill>
                  <a:srgbClr val="0F2339"/>
                </a:solidFill>
                <a:latin typeface="Arial Black"/>
                <a:cs typeface="Arial Black"/>
              </a:rPr>
              <a:t>centre</a:t>
            </a:r>
            <a:endParaRPr sz="1600">
              <a:latin typeface="Arial Black"/>
              <a:cs typeface="Arial Black"/>
            </a:endParaRPr>
          </a:p>
          <a:p>
            <a:pPr marL="12700" marR="5080">
              <a:lnSpc>
                <a:spcPct val="105100"/>
              </a:lnSpc>
              <a:spcBef>
                <a:spcPts val="1060"/>
              </a:spcBef>
            </a:pPr>
            <a:r>
              <a:rPr dirty="0" sz="1400">
                <a:solidFill>
                  <a:srgbClr val="556478"/>
                </a:solidFill>
                <a:latin typeface="Noto Sans"/>
                <a:cs typeface="Noto Sans"/>
              </a:rPr>
              <a:t>Buy</a:t>
            </a:r>
            <a:r>
              <a:rPr dirty="0" sz="1400" spc="-2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400">
                <a:solidFill>
                  <a:srgbClr val="556478"/>
                </a:solidFill>
                <a:latin typeface="Noto Sans"/>
                <a:cs typeface="Noto Sans"/>
              </a:rPr>
              <a:t>servers</a:t>
            </a:r>
            <a:r>
              <a:rPr dirty="0" sz="1400" spc="-2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400">
                <a:solidFill>
                  <a:srgbClr val="556478"/>
                </a:solidFill>
                <a:latin typeface="Noto Sans"/>
                <a:cs typeface="Noto Sans"/>
              </a:rPr>
              <a:t>•</a:t>
            </a:r>
            <a:r>
              <a:rPr dirty="0" sz="1400" spc="-2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400">
                <a:solidFill>
                  <a:srgbClr val="556478"/>
                </a:solidFill>
                <a:latin typeface="Noto Sans"/>
                <a:cs typeface="Noto Sans"/>
              </a:rPr>
              <a:t>rack</a:t>
            </a:r>
            <a:r>
              <a:rPr dirty="0" sz="1400" spc="-2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400">
                <a:solidFill>
                  <a:srgbClr val="556478"/>
                </a:solidFill>
                <a:latin typeface="Noto Sans"/>
                <a:cs typeface="Noto Sans"/>
              </a:rPr>
              <a:t>&amp;</a:t>
            </a:r>
            <a:r>
              <a:rPr dirty="0" sz="1400" spc="-2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400">
                <a:solidFill>
                  <a:srgbClr val="556478"/>
                </a:solidFill>
                <a:latin typeface="Noto Sans"/>
                <a:cs typeface="Noto Sans"/>
              </a:rPr>
              <a:t>stack</a:t>
            </a:r>
            <a:r>
              <a:rPr dirty="0" sz="1400" spc="-2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400" spc="-50">
                <a:solidFill>
                  <a:srgbClr val="556478"/>
                </a:solidFill>
                <a:latin typeface="Noto Sans"/>
                <a:cs typeface="Noto Sans"/>
              </a:rPr>
              <a:t>• </a:t>
            </a:r>
            <a:r>
              <a:rPr dirty="0" sz="1400" spc="-10">
                <a:solidFill>
                  <a:srgbClr val="556478"/>
                </a:solidFill>
                <a:latin typeface="Noto Sans"/>
                <a:cs typeface="Noto Sans"/>
              </a:rPr>
              <a:t>power/cooling</a:t>
            </a:r>
            <a:r>
              <a:rPr dirty="0" sz="1400" spc="-1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400">
                <a:solidFill>
                  <a:srgbClr val="556478"/>
                </a:solidFill>
                <a:latin typeface="Noto Sans"/>
                <a:cs typeface="Noto Sans"/>
              </a:rPr>
              <a:t>•</a:t>
            </a:r>
            <a:r>
              <a:rPr dirty="0" sz="1400" spc="-1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400">
                <a:solidFill>
                  <a:srgbClr val="556478"/>
                </a:solidFill>
                <a:latin typeface="Noto Sans"/>
                <a:cs typeface="Noto Sans"/>
              </a:rPr>
              <a:t>capacity</a:t>
            </a:r>
            <a:r>
              <a:rPr dirty="0" sz="1400" spc="-1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400">
                <a:solidFill>
                  <a:srgbClr val="556478"/>
                </a:solidFill>
                <a:latin typeface="Noto Sans"/>
                <a:cs typeface="Noto Sans"/>
              </a:rPr>
              <a:t>planning</a:t>
            </a:r>
            <a:r>
              <a:rPr dirty="0" sz="1400" spc="-1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400" spc="-50">
                <a:solidFill>
                  <a:srgbClr val="556478"/>
                </a:solidFill>
                <a:latin typeface="Noto Sans"/>
                <a:cs typeface="Noto Sans"/>
              </a:rPr>
              <a:t>• </a:t>
            </a:r>
            <a:r>
              <a:rPr dirty="0" sz="1400">
                <a:solidFill>
                  <a:srgbClr val="556478"/>
                </a:solidFill>
                <a:latin typeface="Noto Sans"/>
                <a:cs typeface="Noto Sans"/>
              </a:rPr>
              <a:t>patch</a:t>
            </a:r>
            <a:r>
              <a:rPr dirty="0" sz="14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400">
                <a:solidFill>
                  <a:srgbClr val="556478"/>
                </a:solidFill>
                <a:latin typeface="Noto Sans"/>
                <a:cs typeface="Noto Sans"/>
              </a:rPr>
              <a:t>infrastructure</a:t>
            </a:r>
            <a:r>
              <a:rPr dirty="0" sz="14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400">
                <a:solidFill>
                  <a:srgbClr val="556478"/>
                </a:solidFill>
                <a:latin typeface="Noto Sans"/>
                <a:cs typeface="Noto Sans"/>
              </a:rPr>
              <a:t>•</a:t>
            </a:r>
            <a:r>
              <a:rPr dirty="0" sz="14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400">
                <a:solidFill>
                  <a:srgbClr val="556478"/>
                </a:solidFill>
                <a:latin typeface="Noto Sans"/>
                <a:cs typeface="Noto Sans"/>
              </a:rPr>
              <a:t>replace</a:t>
            </a:r>
            <a:r>
              <a:rPr dirty="0" sz="14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400" spc="-10">
                <a:solidFill>
                  <a:srgbClr val="556478"/>
                </a:solidFill>
                <a:latin typeface="Noto Sans"/>
                <a:cs typeface="Noto Sans"/>
              </a:rPr>
              <a:t>failed hardware</a:t>
            </a:r>
            <a:endParaRPr sz="1400">
              <a:latin typeface="Noto Sans"/>
              <a:cs typeface="Noto San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251959" y="2560320"/>
            <a:ext cx="594360" cy="635"/>
          </a:xfrm>
          <a:custGeom>
            <a:avLst/>
            <a:gdLst/>
            <a:ahLst/>
            <a:cxnLst/>
            <a:rect l="l" t="t" r="r" b="b"/>
            <a:pathLst>
              <a:path w="594360" h="635">
                <a:moveTo>
                  <a:pt x="0" y="0"/>
                </a:moveTo>
                <a:lnTo>
                  <a:pt x="594360" y="355"/>
                </a:lnTo>
              </a:path>
            </a:pathLst>
          </a:custGeom>
          <a:ln w="25559">
            <a:solidFill>
              <a:srgbClr val="0077D3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grpSp>
        <p:nvGrpSpPr>
          <p:cNvPr id="13" name="object 13"/>
          <p:cNvGrpSpPr/>
          <p:nvPr/>
        </p:nvGrpSpPr>
        <p:grpSpPr>
          <a:xfrm>
            <a:off x="5023436" y="1685876"/>
            <a:ext cx="3028315" cy="1839595"/>
            <a:chOff x="5023436" y="1685876"/>
            <a:chExt cx="3028315" cy="1839595"/>
          </a:xfrm>
        </p:grpSpPr>
        <p:sp>
          <p:nvSpPr>
            <p:cNvPr id="14" name="object 14"/>
            <p:cNvSpPr/>
            <p:nvPr/>
          </p:nvSpPr>
          <p:spPr>
            <a:xfrm>
              <a:off x="5028476" y="1690916"/>
              <a:ext cx="3018155" cy="1829435"/>
            </a:xfrm>
            <a:custGeom>
              <a:avLst/>
              <a:gdLst/>
              <a:ahLst/>
              <a:cxnLst/>
              <a:rect l="l" t="t" r="r" b="b"/>
              <a:pathLst>
                <a:path w="3018154" h="1829435">
                  <a:moveTo>
                    <a:pt x="110159" y="0"/>
                  </a:moveTo>
                  <a:lnTo>
                    <a:pt x="68095" y="8358"/>
                  </a:lnTo>
                  <a:lnTo>
                    <a:pt x="32535" y="32224"/>
                  </a:lnTo>
                  <a:lnTo>
                    <a:pt x="8721" y="67882"/>
                  </a:lnTo>
                  <a:lnTo>
                    <a:pt x="368" y="109804"/>
                  </a:lnTo>
                  <a:lnTo>
                    <a:pt x="0" y="1719364"/>
                  </a:lnTo>
                  <a:lnTo>
                    <a:pt x="939" y="1733794"/>
                  </a:lnTo>
                  <a:lnTo>
                    <a:pt x="14770" y="1774444"/>
                  </a:lnTo>
                  <a:lnTo>
                    <a:pt x="22686" y="1786157"/>
                  </a:lnTo>
                  <a:lnTo>
                    <a:pt x="22788" y="1786307"/>
                  </a:lnTo>
                  <a:lnTo>
                    <a:pt x="55079" y="1814398"/>
                  </a:lnTo>
                  <a:lnTo>
                    <a:pt x="95379" y="1828228"/>
                  </a:lnTo>
                  <a:lnTo>
                    <a:pt x="109804" y="1829168"/>
                  </a:lnTo>
                  <a:lnTo>
                    <a:pt x="2908084" y="1829168"/>
                  </a:lnTo>
                  <a:lnTo>
                    <a:pt x="2950155" y="1820810"/>
                  </a:lnTo>
                  <a:lnTo>
                    <a:pt x="2985657" y="1796988"/>
                  </a:lnTo>
                  <a:lnTo>
                    <a:pt x="3009454" y="1761435"/>
                  </a:lnTo>
                  <a:lnTo>
                    <a:pt x="3017888" y="1719364"/>
                  </a:lnTo>
                  <a:lnTo>
                    <a:pt x="3017865" y="109804"/>
                  </a:lnTo>
                  <a:lnTo>
                    <a:pt x="3009530" y="68095"/>
                  </a:lnTo>
                  <a:lnTo>
                    <a:pt x="2985663" y="32535"/>
                  </a:lnTo>
                  <a:lnTo>
                    <a:pt x="2950005" y="8721"/>
                  </a:lnTo>
                  <a:lnTo>
                    <a:pt x="2908084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5028476" y="1690916"/>
              <a:ext cx="3018155" cy="1829435"/>
            </a:xfrm>
            <a:custGeom>
              <a:avLst/>
              <a:gdLst/>
              <a:ahLst/>
              <a:cxnLst/>
              <a:rect l="l" t="t" r="r" b="b"/>
              <a:pathLst>
                <a:path w="3018154" h="1829435">
                  <a:moveTo>
                    <a:pt x="368" y="109804"/>
                  </a:moveTo>
                  <a:lnTo>
                    <a:pt x="1307" y="95379"/>
                  </a:lnTo>
                  <a:lnTo>
                    <a:pt x="4103" y="81360"/>
                  </a:lnTo>
                  <a:lnTo>
                    <a:pt x="23138" y="43011"/>
                  </a:lnTo>
                  <a:lnTo>
                    <a:pt x="55079" y="14770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2908084" y="368"/>
                  </a:lnTo>
                  <a:lnTo>
                    <a:pt x="2950005" y="8721"/>
                  </a:lnTo>
                  <a:lnTo>
                    <a:pt x="2985663" y="32535"/>
                  </a:lnTo>
                  <a:lnTo>
                    <a:pt x="3009530" y="68095"/>
                  </a:lnTo>
                  <a:lnTo>
                    <a:pt x="3017888" y="110159"/>
                  </a:lnTo>
                  <a:lnTo>
                    <a:pt x="3017888" y="1719364"/>
                  </a:lnTo>
                  <a:lnTo>
                    <a:pt x="3016948" y="1733788"/>
                  </a:lnTo>
                  <a:lnTo>
                    <a:pt x="3014151" y="1747807"/>
                  </a:lnTo>
                  <a:lnTo>
                    <a:pt x="2995105" y="1786157"/>
                  </a:lnTo>
                  <a:lnTo>
                    <a:pt x="2963164" y="1814398"/>
                  </a:lnTo>
                  <a:lnTo>
                    <a:pt x="2922514" y="1828228"/>
                  </a:lnTo>
                  <a:lnTo>
                    <a:pt x="2908084" y="1829168"/>
                  </a:lnTo>
                  <a:lnTo>
                    <a:pt x="109804" y="1829168"/>
                  </a:lnTo>
                  <a:lnTo>
                    <a:pt x="67882" y="1820810"/>
                  </a:lnTo>
                  <a:lnTo>
                    <a:pt x="32224" y="1796988"/>
                  </a:lnTo>
                  <a:lnTo>
                    <a:pt x="8358" y="1761435"/>
                  </a:lnTo>
                  <a:lnTo>
                    <a:pt x="0" y="1719364"/>
                  </a:lnTo>
                  <a:lnTo>
                    <a:pt x="368" y="109804"/>
                  </a:lnTo>
                  <a:close/>
                </a:path>
              </a:pathLst>
            </a:custGeom>
            <a:ln w="10079">
              <a:solidFill>
                <a:srgbClr val="DBE4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5029200" y="1691284"/>
              <a:ext cx="73025" cy="1828800"/>
            </a:xfrm>
            <a:custGeom>
              <a:avLst/>
              <a:gdLst/>
              <a:ahLst/>
              <a:cxnLst/>
              <a:rect l="l" t="t" r="r" b="b"/>
              <a:pathLst>
                <a:path w="73025" h="1828800">
                  <a:moveTo>
                    <a:pt x="72720" y="0"/>
                  </a:moveTo>
                  <a:lnTo>
                    <a:pt x="0" y="0"/>
                  </a:lnTo>
                  <a:lnTo>
                    <a:pt x="0" y="1828431"/>
                  </a:lnTo>
                  <a:lnTo>
                    <a:pt x="36360" y="1828431"/>
                  </a:lnTo>
                  <a:lnTo>
                    <a:pt x="72720" y="1828431"/>
                  </a:lnTo>
                  <a:lnTo>
                    <a:pt x="72720" y="0"/>
                  </a:lnTo>
                  <a:close/>
                </a:path>
              </a:pathLst>
            </a:custGeom>
            <a:solidFill>
              <a:srgbClr val="0077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5029200" y="1691284"/>
              <a:ext cx="73025" cy="1828800"/>
            </a:xfrm>
            <a:custGeom>
              <a:avLst/>
              <a:gdLst/>
              <a:ahLst/>
              <a:cxnLst/>
              <a:rect l="l" t="t" r="r" b="b"/>
              <a:pathLst>
                <a:path w="73025" h="1828800">
                  <a:moveTo>
                    <a:pt x="36360" y="1828431"/>
                  </a:moveTo>
                  <a:lnTo>
                    <a:pt x="0" y="1828431"/>
                  </a:lnTo>
                  <a:lnTo>
                    <a:pt x="0" y="0"/>
                  </a:lnTo>
                  <a:lnTo>
                    <a:pt x="72720" y="0"/>
                  </a:lnTo>
                  <a:lnTo>
                    <a:pt x="72720" y="1828431"/>
                  </a:lnTo>
                  <a:lnTo>
                    <a:pt x="36360" y="1828431"/>
                  </a:lnTo>
                  <a:close/>
                </a:path>
              </a:pathLst>
            </a:custGeom>
            <a:ln w="10079">
              <a:solidFill>
                <a:srgbClr val="0077D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5217744" y="1867941"/>
            <a:ext cx="2556510" cy="10763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95"/>
              </a:spcBef>
            </a:pPr>
            <a:r>
              <a:rPr dirty="0" sz="1600" spc="-95">
                <a:solidFill>
                  <a:srgbClr val="0F2339"/>
                </a:solidFill>
                <a:latin typeface="Arial Black"/>
                <a:cs typeface="Arial Black"/>
              </a:rPr>
              <a:t>Cloud</a:t>
            </a:r>
            <a:r>
              <a:rPr dirty="0" sz="1600" spc="-10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600" spc="-120">
                <a:solidFill>
                  <a:srgbClr val="0F2339"/>
                </a:solidFill>
                <a:latin typeface="Arial Black"/>
                <a:cs typeface="Arial Black"/>
              </a:rPr>
              <a:t>service</a:t>
            </a:r>
            <a:r>
              <a:rPr dirty="0" sz="1600" spc="-10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600" spc="-10">
                <a:solidFill>
                  <a:srgbClr val="0F2339"/>
                </a:solidFill>
                <a:latin typeface="Arial Black"/>
                <a:cs typeface="Arial Black"/>
              </a:rPr>
              <a:t>provider</a:t>
            </a:r>
            <a:endParaRPr sz="1600">
              <a:latin typeface="Arial Black"/>
              <a:cs typeface="Arial Black"/>
            </a:endParaRPr>
          </a:p>
          <a:p>
            <a:pPr algn="just" marL="12700" marR="5080">
              <a:lnSpc>
                <a:spcPct val="105100"/>
              </a:lnSpc>
              <a:spcBef>
                <a:spcPts val="1060"/>
              </a:spcBef>
            </a:pPr>
            <a:r>
              <a:rPr dirty="0" sz="1400">
                <a:solidFill>
                  <a:srgbClr val="556478"/>
                </a:solidFill>
                <a:latin typeface="Noto Sans"/>
                <a:cs typeface="Noto Sans"/>
              </a:rPr>
              <a:t>Operates</a:t>
            </a:r>
            <a:r>
              <a:rPr dirty="0" sz="1400" spc="-4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400">
                <a:solidFill>
                  <a:srgbClr val="556478"/>
                </a:solidFill>
                <a:latin typeface="Noto Sans"/>
                <a:cs typeface="Noto Sans"/>
              </a:rPr>
              <a:t>global</a:t>
            </a:r>
            <a:r>
              <a:rPr dirty="0" sz="1400" spc="-4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400" spc="-10">
                <a:solidFill>
                  <a:srgbClr val="556478"/>
                </a:solidFill>
                <a:latin typeface="Noto Sans"/>
                <a:cs typeface="Noto Sans"/>
              </a:rPr>
              <a:t>infrastructure </a:t>
            </a:r>
            <a:r>
              <a:rPr dirty="0" sz="1400">
                <a:solidFill>
                  <a:srgbClr val="556478"/>
                </a:solidFill>
                <a:latin typeface="Noto Sans"/>
                <a:cs typeface="Noto Sans"/>
              </a:rPr>
              <a:t>and</a:t>
            </a:r>
            <a:r>
              <a:rPr dirty="0" sz="14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400">
                <a:solidFill>
                  <a:srgbClr val="556478"/>
                </a:solidFill>
                <a:latin typeface="Noto Sans"/>
                <a:cs typeface="Noto Sans"/>
              </a:rPr>
              <a:t>exposes</a:t>
            </a:r>
            <a:r>
              <a:rPr dirty="0" sz="14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400">
                <a:solidFill>
                  <a:srgbClr val="556478"/>
                </a:solidFill>
                <a:latin typeface="Noto Sans"/>
                <a:cs typeface="Noto Sans"/>
              </a:rPr>
              <a:t>services</a:t>
            </a:r>
            <a:r>
              <a:rPr dirty="0" sz="14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400" spc="-10">
                <a:solidFill>
                  <a:srgbClr val="556478"/>
                </a:solidFill>
                <a:latin typeface="Noto Sans"/>
                <a:cs typeface="Noto Sans"/>
              </a:rPr>
              <a:t>through </a:t>
            </a:r>
            <a:r>
              <a:rPr dirty="0" sz="1400">
                <a:solidFill>
                  <a:srgbClr val="556478"/>
                </a:solidFill>
                <a:latin typeface="Noto Sans"/>
                <a:cs typeface="Noto Sans"/>
              </a:rPr>
              <a:t>portal,</a:t>
            </a:r>
            <a:r>
              <a:rPr dirty="0" sz="140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400">
                <a:solidFill>
                  <a:srgbClr val="556478"/>
                </a:solidFill>
                <a:latin typeface="Noto Sans"/>
                <a:cs typeface="Noto Sans"/>
              </a:rPr>
              <a:t>APIs</a:t>
            </a:r>
            <a:r>
              <a:rPr dirty="0" sz="1400" spc="-2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400">
                <a:solidFill>
                  <a:srgbClr val="556478"/>
                </a:solidFill>
                <a:latin typeface="Noto Sans"/>
                <a:cs typeface="Noto Sans"/>
              </a:rPr>
              <a:t>and</a:t>
            </a:r>
            <a:r>
              <a:rPr dirty="0" sz="1400" spc="-2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400" spc="-10">
                <a:solidFill>
                  <a:srgbClr val="556478"/>
                </a:solidFill>
                <a:latin typeface="Noto Sans"/>
                <a:cs typeface="Noto Sans"/>
              </a:rPr>
              <a:t>automation</a:t>
            </a:r>
            <a:endParaRPr sz="1400">
              <a:latin typeface="Noto Sans"/>
              <a:cs typeface="Noto Sans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229600" y="2560320"/>
            <a:ext cx="594360" cy="635"/>
          </a:xfrm>
          <a:custGeom>
            <a:avLst/>
            <a:gdLst/>
            <a:ahLst/>
            <a:cxnLst/>
            <a:rect l="l" t="t" r="r" b="b"/>
            <a:pathLst>
              <a:path w="594359" h="635">
                <a:moveTo>
                  <a:pt x="0" y="0"/>
                </a:moveTo>
                <a:lnTo>
                  <a:pt x="594359" y="355"/>
                </a:lnTo>
              </a:path>
            </a:pathLst>
          </a:custGeom>
          <a:ln w="25559">
            <a:solidFill>
              <a:srgbClr val="0077D3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grpSp>
        <p:nvGrpSpPr>
          <p:cNvPr id="20" name="object 20"/>
          <p:cNvGrpSpPr/>
          <p:nvPr/>
        </p:nvGrpSpPr>
        <p:grpSpPr>
          <a:xfrm>
            <a:off x="9001444" y="1685876"/>
            <a:ext cx="2433955" cy="1839595"/>
            <a:chOff x="9001444" y="1685876"/>
            <a:chExt cx="2433955" cy="1839595"/>
          </a:xfrm>
        </p:grpSpPr>
        <p:sp>
          <p:nvSpPr>
            <p:cNvPr id="21" name="object 21"/>
            <p:cNvSpPr/>
            <p:nvPr/>
          </p:nvSpPr>
          <p:spPr>
            <a:xfrm>
              <a:off x="9006484" y="1690916"/>
              <a:ext cx="2423795" cy="1829435"/>
            </a:xfrm>
            <a:custGeom>
              <a:avLst/>
              <a:gdLst/>
              <a:ahLst/>
              <a:cxnLst/>
              <a:rect l="l" t="t" r="r" b="b"/>
              <a:pathLst>
                <a:path w="2423795" h="1829435">
                  <a:moveTo>
                    <a:pt x="110159" y="0"/>
                  </a:moveTo>
                  <a:lnTo>
                    <a:pt x="68088" y="8358"/>
                  </a:lnTo>
                  <a:lnTo>
                    <a:pt x="32534" y="32224"/>
                  </a:lnTo>
                  <a:lnTo>
                    <a:pt x="8708" y="67882"/>
                  </a:lnTo>
                  <a:lnTo>
                    <a:pt x="355" y="109804"/>
                  </a:lnTo>
                  <a:lnTo>
                    <a:pt x="0" y="1719364"/>
                  </a:lnTo>
                  <a:lnTo>
                    <a:pt x="939" y="1733794"/>
                  </a:lnTo>
                  <a:lnTo>
                    <a:pt x="14757" y="1774444"/>
                  </a:lnTo>
                  <a:lnTo>
                    <a:pt x="22674" y="1786157"/>
                  </a:lnTo>
                  <a:lnTo>
                    <a:pt x="22775" y="1786307"/>
                  </a:lnTo>
                  <a:lnTo>
                    <a:pt x="55079" y="1814398"/>
                  </a:lnTo>
                  <a:lnTo>
                    <a:pt x="95374" y="1828228"/>
                  </a:lnTo>
                  <a:lnTo>
                    <a:pt x="109791" y="1829168"/>
                  </a:lnTo>
                  <a:lnTo>
                    <a:pt x="2313711" y="1829168"/>
                  </a:lnTo>
                  <a:lnTo>
                    <a:pt x="2355782" y="1820810"/>
                  </a:lnTo>
                  <a:lnTo>
                    <a:pt x="2391286" y="1796988"/>
                  </a:lnTo>
                  <a:lnTo>
                    <a:pt x="2415087" y="1761435"/>
                  </a:lnTo>
                  <a:lnTo>
                    <a:pt x="2423515" y="1719364"/>
                  </a:lnTo>
                  <a:lnTo>
                    <a:pt x="2423492" y="109804"/>
                  </a:lnTo>
                  <a:lnTo>
                    <a:pt x="2415162" y="68095"/>
                  </a:lnTo>
                  <a:lnTo>
                    <a:pt x="2391292" y="32535"/>
                  </a:lnTo>
                  <a:lnTo>
                    <a:pt x="2355632" y="8721"/>
                  </a:lnTo>
                  <a:lnTo>
                    <a:pt x="2313711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9006484" y="1690916"/>
              <a:ext cx="2423795" cy="1829435"/>
            </a:xfrm>
            <a:custGeom>
              <a:avLst/>
              <a:gdLst/>
              <a:ahLst/>
              <a:cxnLst/>
              <a:rect l="l" t="t" r="r" b="b"/>
              <a:pathLst>
                <a:path w="2423795" h="1829435">
                  <a:moveTo>
                    <a:pt x="355" y="109804"/>
                  </a:moveTo>
                  <a:lnTo>
                    <a:pt x="1295" y="95379"/>
                  </a:lnTo>
                  <a:lnTo>
                    <a:pt x="4090" y="81360"/>
                  </a:lnTo>
                  <a:lnTo>
                    <a:pt x="23133" y="43011"/>
                  </a:lnTo>
                  <a:lnTo>
                    <a:pt x="55079" y="14770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2313711" y="368"/>
                  </a:lnTo>
                  <a:lnTo>
                    <a:pt x="2355632" y="8721"/>
                  </a:lnTo>
                  <a:lnTo>
                    <a:pt x="2391292" y="32535"/>
                  </a:lnTo>
                  <a:lnTo>
                    <a:pt x="2415162" y="68095"/>
                  </a:lnTo>
                  <a:lnTo>
                    <a:pt x="2423515" y="110159"/>
                  </a:lnTo>
                  <a:lnTo>
                    <a:pt x="2423515" y="1719364"/>
                  </a:lnTo>
                  <a:lnTo>
                    <a:pt x="2422575" y="1733788"/>
                  </a:lnTo>
                  <a:lnTo>
                    <a:pt x="2419780" y="1747807"/>
                  </a:lnTo>
                  <a:lnTo>
                    <a:pt x="2400738" y="1786157"/>
                  </a:lnTo>
                  <a:lnTo>
                    <a:pt x="2368791" y="1814398"/>
                  </a:lnTo>
                  <a:lnTo>
                    <a:pt x="2328141" y="1828228"/>
                  </a:lnTo>
                  <a:lnTo>
                    <a:pt x="2313711" y="1829168"/>
                  </a:lnTo>
                  <a:lnTo>
                    <a:pt x="109791" y="1829168"/>
                  </a:lnTo>
                  <a:lnTo>
                    <a:pt x="67882" y="1820810"/>
                  </a:lnTo>
                  <a:lnTo>
                    <a:pt x="32213" y="1796988"/>
                  </a:lnTo>
                  <a:lnTo>
                    <a:pt x="8352" y="1761435"/>
                  </a:lnTo>
                  <a:lnTo>
                    <a:pt x="0" y="1719364"/>
                  </a:lnTo>
                  <a:lnTo>
                    <a:pt x="355" y="109804"/>
                  </a:lnTo>
                  <a:close/>
                </a:path>
              </a:pathLst>
            </a:custGeom>
            <a:ln w="10079">
              <a:solidFill>
                <a:srgbClr val="DBE4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9006839" y="1691284"/>
              <a:ext cx="73025" cy="1828800"/>
            </a:xfrm>
            <a:custGeom>
              <a:avLst/>
              <a:gdLst/>
              <a:ahLst/>
              <a:cxnLst/>
              <a:rect l="l" t="t" r="r" b="b"/>
              <a:pathLst>
                <a:path w="73025" h="1828800">
                  <a:moveTo>
                    <a:pt x="72720" y="0"/>
                  </a:moveTo>
                  <a:lnTo>
                    <a:pt x="0" y="0"/>
                  </a:lnTo>
                  <a:lnTo>
                    <a:pt x="0" y="1828431"/>
                  </a:lnTo>
                  <a:lnTo>
                    <a:pt x="36360" y="1828431"/>
                  </a:lnTo>
                  <a:lnTo>
                    <a:pt x="72720" y="1828431"/>
                  </a:lnTo>
                  <a:lnTo>
                    <a:pt x="72720" y="0"/>
                  </a:lnTo>
                  <a:close/>
                </a:path>
              </a:pathLst>
            </a:custGeom>
            <a:solidFill>
              <a:srgbClr val="0C938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9006839" y="1691284"/>
              <a:ext cx="73025" cy="1828800"/>
            </a:xfrm>
            <a:custGeom>
              <a:avLst/>
              <a:gdLst/>
              <a:ahLst/>
              <a:cxnLst/>
              <a:rect l="l" t="t" r="r" b="b"/>
              <a:pathLst>
                <a:path w="73025" h="1828800">
                  <a:moveTo>
                    <a:pt x="36360" y="1828431"/>
                  </a:moveTo>
                  <a:lnTo>
                    <a:pt x="0" y="1828431"/>
                  </a:lnTo>
                  <a:lnTo>
                    <a:pt x="0" y="0"/>
                  </a:lnTo>
                  <a:lnTo>
                    <a:pt x="72720" y="0"/>
                  </a:lnTo>
                  <a:lnTo>
                    <a:pt x="72720" y="1828431"/>
                  </a:lnTo>
                  <a:lnTo>
                    <a:pt x="36360" y="1828431"/>
                  </a:lnTo>
                  <a:close/>
                </a:path>
              </a:pathLst>
            </a:custGeom>
            <a:ln w="10079">
              <a:solidFill>
                <a:srgbClr val="0C938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9195016" y="1867941"/>
            <a:ext cx="1916430" cy="12319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14">
                <a:solidFill>
                  <a:srgbClr val="0F2339"/>
                </a:solidFill>
                <a:latin typeface="Arial Black"/>
                <a:cs typeface="Arial Black"/>
              </a:rPr>
              <a:t>Your</a:t>
            </a:r>
            <a:r>
              <a:rPr dirty="0" sz="1600" spc="-11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600" spc="-10">
                <a:solidFill>
                  <a:srgbClr val="0F2339"/>
                </a:solidFill>
                <a:latin typeface="Arial Black"/>
                <a:cs typeface="Arial Black"/>
              </a:rPr>
              <a:t>workload</a:t>
            </a:r>
            <a:endParaRPr sz="1600">
              <a:latin typeface="Arial Black"/>
              <a:cs typeface="Arial Black"/>
            </a:endParaRPr>
          </a:p>
          <a:p>
            <a:pPr marL="12700" marR="5080">
              <a:lnSpc>
                <a:spcPct val="104500"/>
              </a:lnSpc>
              <a:spcBef>
                <a:spcPts val="1060"/>
              </a:spcBef>
            </a:pP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Select</a:t>
            </a:r>
            <a:r>
              <a:rPr dirty="0" sz="1300" spc="-6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resources, configure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access,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deploy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apps,</a:t>
            </a:r>
            <a:r>
              <a:rPr dirty="0" sz="130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protect</a:t>
            </a:r>
            <a:r>
              <a:rPr dirty="0" sz="130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data</a:t>
            </a:r>
            <a:r>
              <a:rPr dirty="0" sz="130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25">
                <a:solidFill>
                  <a:srgbClr val="556478"/>
                </a:solidFill>
                <a:latin typeface="Noto Sans"/>
                <a:cs typeface="Noto Sans"/>
              </a:rPr>
              <a:t>and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monitor</a:t>
            </a:r>
            <a:r>
              <a:rPr dirty="0" sz="1300" spc="-7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outcomes</a:t>
            </a:r>
            <a:endParaRPr sz="1300">
              <a:latin typeface="Noto Sans"/>
              <a:cs typeface="Noto Sans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817564" y="4200844"/>
            <a:ext cx="2342515" cy="513715"/>
            <a:chOff x="817564" y="4200844"/>
            <a:chExt cx="2342515" cy="513715"/>
          </a:xfrm>
        </p:grpSpPr>
        <p:sp>
          <p:nvSpPr>
            <p:cNvPr id="27" name="object 27"/>
            <p:cNvSpPr/>
            <p:nvPr/>
          </p:nvSpPr>
          <p:spPr>
            <a:xfrm>
              <a:off x="822604" y="4205884"/>
              <a:ext cx="2332355" cy="503555"/>
            </a:xfrm>
            <a:custGeom>
              <a:avLst/>
              <a:gdLst/>
              <a:ahLst/>
              <a:cxnLst/>
              <a:rect l="l" t="t" r="r" b="b"/>
              <a:pathLst>
                <a:path w="2332355" h="503554">
                  <a:moveTo>
                    <a:pt x="110159" y="0"/>
                  </a:moveTo>
                  <a:lnTo>
                    <a:pt x="68088" y="8352"/>
                  </a:lnTo>
                  <a:lnTo>
                    <a:pt x="32534" y="32213"/>
                  </a:lnTo>
                  <a:lnTo>
                    <a:pt x="8708" y="67882"/>
                  </a:lnTo>
                  <a:lnTo>
                    <a:pt x="355" y="109791"/>
                  </a:lnTo>
                  <a:lnTo>
                    <a:pt x="0" y="393471"/>
                  </a:lnTo>
                  <a:lnTo>
                    <a:pt x="939" y="407901"/>
                  </a:lnTo>
                  <a:lnTo>
                    <a:pt x="3735" y="421959"/>
                  </a:lnTo>
                  <a:lnTo>
                    <a:pt x="8301" y="435392"/>
                  </a:lnTo>
                  <a:lnTo>
                    <a:pt x="8352" y="435542"/>
                  </a:lnTo>
                  <a:lnTo>
                    <a:pt x="32213" y="471096"/>
                  </a:lnTo>
                  <a:lnTo>
                    <a:pt x="67882" y="494922"/>
                  </a:lnTo>
                  <a:lnTo>
                    <a:pt x="109791" y="503275"/>
                  </a:lnTo>
                  <a:lnTo>
                    <a:pt x="2222271" y="503275"/>
                  </a:lnTo>
                  <a:lnTo>
                    <a:pt x="2264342" y="494922"/>
                  </a:lnTo>
                  <a:lnTo>
                    <a:pt x="2299846" y="471096"/>
                  </a:lnTo>
                  <a:lnTo>
                    <a:pt x="2323647" y="435542"/>
                  </a:lnTo>
                  <a:lnTo>
                    <a:pt x="2332075" y="393471"/>
                  </a:lnTo>
                  <a:lnTo>
                    <a:pt x="2332051" y="109791"/>
                  </a:lnTo>
                  <a:lnTo>
                    <a:pt x="2323722" y="68088"/>
                  </a:lnTo>
                  <a:lnTo>
                    <a:pt x="2299852" y="32534"/>
                  </a:lnTo>
                  <a:lnTo>
                    <a:pt x="2264192" y="8708"/>
                  </a:lnTo>
                  <a:lnTo>
                    <a:pt x="2222271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9F3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822604" y="4205884"/>
              <a:ext cx="2332355" cy="503555"/>
            </a:xfrm>
            <a:custGeom>
              <a:avLst/>
              <a:gdLst/>
              <a:ahLst/>
              <a:cxnLst/>
              <a:rect l="l" t="t" r="r" b="b"/>
              <a:pathLst>
                <a:path w="2332355" h="503554">
                  <a:moveTo>
                    <a:pt x="355" y="109791"/>
                  </a:moveTo>
                  <a:lnTo>
                    <a:pt x="1295" y="95374"/>
                  </a:lnTo>
                  <a:lnTo>
                    <a:pt x="4090" y="81359"/>
                  </a:lnTo>
                  <a:lnTo>
                    <a:pt x="23133" y="43003"/>
                  </a:lnTo>
                  <a:lnTo>
                    <a:pt x="55079" y="14757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2222271" y="355"/>
                  </a:lnTo>
                  <a:lnTo>
                    <a:pt x="2264192" y="8708"/>
                  </a:lnTo>
                  <a:lnTo>
                    <a:pt x="2299852" y="32534"/>
                  </a:lnTo>
                  <a:lnTo>
                    <a:pt x="2323722" y="68088"/>
                  </a:lnTo>
                  <a:lnTo>
                    <a:pt x="2332075" y="110159"/>
                  </a:lnTo>
                  <a:lnTo>
                    <a:pt x="2332075" y="393471"/>
                  </a:lnTo>
                  <a:lnTo>
                    <a:pt x="2331135" y="407896"/>
                  </a:lnTo>
                  <a:lnTo>
                    <a:pt x="2328340" y="421914"/>
                  </a:lnTo>
                  <a:lnTo>
                    <a:pt x="2309298" y="460264"/>
                  </a:lnTo>
                  <a:lnTo>
                    <a:pt x="2277351" y="488518"/>
                  </a:lnTo>
                  <a:lnTo>
                    <a:pt x="2236701" y="502335"/>
                  </a:lnTo>
                  <a:lnTo>
                    <a:pt x="2222271" y="503275"/>
                  </a:lnTo>
                  <a:lnTo>
                    <a:pt x="109791" y="503275"/>
                  </a:lnTo>
                  <a:lnTo>
                    <a:pt x="67882" y="494922"/>
                  </a:lnTo>
                  <a:lnTo>
                    <a:pt x="32213" y="471096"/>
                  </a:lnTo>
                  <a:lnTo>
                    <a:pt x="8352" y="435542"/>
                  </a:lnTo>
                  <a:lnTo>
                    <a:pt x="0" y="393471"/>
                  </a:lnTo>
                  <a:lnTo>
                    <a:pt x="355" y="109791"/>
                  </a:lnTo>
                  <a:close/>
                </a:path>
              </a:pathLst>
            </a:custGeom>
            <a:ln w="10079">
              <a:solidFill>
                <a:srgbClr val="E9F3F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1509013" y="4345457"/>
            <a:ext cx="960755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90">
                <a:solidFill>
                  <a:srgbClr val="0077D3"/>
                </a:solidFill>
                <a:latin typeface="Arial Black"/>
                <a:cs typeface="Arial Black"/>
              </a:rPr>
              <a:t>Self-</a:t>
            </a:r>
            <a:r>
              <a:rPr dirty="0" sz="1300" spc="-85">
                <a:solidFill>
                  <a:srgbClr val="0077D3"/>
                </a:solidFill>
                <a:latin typeface="Arial Black"/>
                <a:cs typeface="Arial Black"/>
              </a:rPr>
              <a:t>service</a:t>
            </a:r>
            <a:endParaRPr sz="1300">
              <a:latin typeface="Arial Black"/>
              <a:cs typeface="Arial Black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3560764" y="4200844"/>
            <a:ext cx="2342515" cy="513715"/>
            <a:chOff x="3560764" y="4200844"/>
            <a:chExt cx="2342515" cy="513715"/>
          </a:xfrm>
        </p:grpSpPr>
        <p:sp>
          <p:nvSpPr>
            <p:cNvPr id="31" name="object 31"/>
            <p:cNvSpPr/>
            <p:nvPr/>
          </p:nvSpPr>
          <p:spPr>
            <a:xfrm>
              <a:off x="3565804" y="4205884"/>
              <a:ext cx="2332355" cy="503555"/>
            </a:xfrm>
            <a:custGeom>
              <a:avLst/>
              <a:gdLst/>
              <a:ahLst/>
              <a:cxnLst/>
              <a:rect l="l" t="t" r="r" b="b"/>
              <a:pathLst>
                <a:path w="2332354" h="503554">
                  <a:moveTo>
                    <a:pt x="110159" y="0"/>
                  </a:moveTo>
                  <a:lnTo>
                    <a:pt x="68088" y="8352"/>
                  </a:lnTo>
                  <a:lnTo>
                    <a:pt x="32534" y="32213"/>
                  </a:lnTo>
                  <a:lnTo>
                    <a:pt x="8708" y="67882"/>
                  </a:lnTo>
                  <a:lnTo>
                    <a:pt x="355" y="109791"/>
                  </a:lnTo>
                  <a:lnTo>
                    <a:pt x="0" y="393471"/>
                  </a:lnTo>
                  <a:lnTo>
                    <a:pt x="939" y="407901"/>
                  </a:lnTo>
                  <a:lnTo>
                    <a:pt x="14757" y="448551"/>
                  </a:lnTo>
                  <a:lnTo>
                    <a:pt x="22674" y="460264"/>
                  </a:lnTo>
                  <a:lnTo>
                    <a:pt x="22775" y="460414"/>
                  </a:lnTo>
                  <a:lnTo>
                    <a:pt x="55079" y="488518"/>
                  </a:lnTo>
                  <a:lnTo>
                    <a:pt x="95374" y="502335"/>
                  </a:lnTo>
                  <a:lnTo>
                    <a:pt x="109791" y="503275"/>
                  </a:lnTo>
                  <a:lnTo>
                    <a:pt x="2222271" y="503275"/>
                  </a:lnTo>
                  <a:lnTo>
                    <a:pt x="2264342" y="494922"/>
                  </a:lnTo>
                  <a:lnTo>
                    <a:pt x="2299846" y="471096"/>
                  </a:lnTo>
                  <a:lnTo>
                    <a:pt x="2323647" y="435542"/>
                  </a:lnTo>
                  <a:lnTo>
                    <a:pt x="2323722" y="435392"/>
                  </a:lnTo>
                  <a:lnTo>
                    <a:pt x="2328324" y="421959"/>
                  </a:lnTo>
                  <a:lnTo>
                    <a:pt x="2331134" y="407901"/>
                  </a:lnTo>
                  <a:lnTo>
                    <a:pt x="2332075" y="393471"/>
                  </a:lnTo>
                  <a:lnTo>
                    <a:pt x="2332051" y="109791"/>
                  </a:lnTo>
                  <a:lnTo>
                    <a:pt x="2323722" y="68088"/>
                  </a:lnTo>
                  <a:lnTo>
                    <a:pt x="2299852" y="32534"/>
                  </a:lnTo>
                  <a:lnTo>
                    <a:pt x="2264192" y="8708"/>
                  </a:lnTo>
                  <a:lnTo>
                    <a:pt x="2222271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6F7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3565804" y="4205884"/>
              <a:ext cx="2332355" cy="503555"/>
            </a:xfrm>
            <a:custGeom>
              <a:avLst/>
              <a:gdLst/>
              <a:ahLst/>
              <a:cxnLst/>
              <a:rect l="l" t="t" r="r" b="b"/>
              <a:pathLst>
                <a:path w="2332354" h="503554">
                  <a:moveTo>
                    <a:pt x="355" y="109791"/>
                  </a:moveTo>
                  <a:lnTo>
                    <a:pt x="1295" y="95374"/>
                  </a:lnTo>
                  <a:lnTo>
                    <a:pt x="4090" y="81359"/>
                  </a:lnTo>
                  <a:lnTo>
                    <a:pt x="23133" y="43003"/>
                  </a:lnTo>
                  <a:lnTo>
                    <a:pt x="55079" y="14757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2222271" y="355"/>
                  </a:lnTo>
                  <a:lnTo>
                    <a:pt x="2264192" y="8708"/>
                  </a:lnTo>
                  <a:lnTo>
                    <a:pt x="2299852" y="32534"/>
                  </a:lnTo>
                  <a:lnTo>
                    <a:pt x="2323722" y="68088"/>
                  </a:lnTo>
                  <a:lnTo>
                    <a:pt x="2332075" y="110159"/>
                  </a:lnTo>
                  <a:lnTo>
                    <a:pt x="2332075" y="393471"/>
                  </a:lnTo>
                  <a:lnTo>
                    <a:pt x="2331135" y="407896"/>
                  </a:lnTo>
                  <a:lnTo>
                    <a:pt x="2328340" y="421914"/>
                  </a:lnTo>
                  <a:lnTo>
                    <a:pt x="2309298" y="460264"/>
                  </a:lnTo>
                  <a:lnTo>
                    <a:pt x="2277351" y="488518"/>
                  </a:lnTo>
                  <a:lnTo>
                    <a:pt x="2236701" y="502335"/>
                  </a:lnTo>
                  <a:lnTo>
                    <a:pt x="2222271" y="503275"/>
                  </a:lnTo>
                  <a:lnTo>
                    <a:pt x="109791" y="503275"/>
                  </a:lnTo>
                  <a:lnTo>
                    <a:pt x="67882" y="494922"/>
                  </a:lnTo>
                  <a:lnTo>
                    <a:pt x="32213" y="471096"/>
                  </a:lnTo>
                  <a:lnTo>
                    <a:pt x="8352" y="435542"/>
                  </a:lnTo>
                  <a:lnTo>
                    <a:pt x="0" y="393471"/>
                  </a:lnTo>
                  <a:lnTo>
                    <a:pt x="355" y="109791"/>
                  </a:lnTo>
                  <a:close/>
                </a:path>
              </a:pathLst>
            </a:custGeom>
            <a:ln w="10079">
              <a:solidFill>
                <a:srgbClr val="E6F7F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 txBox="1"/>
          <p:nvPr/>
        </p:nvSpPr>
        <p:spPr>
          <a:xfrm>
            <a:off x="4089501" y="4345457"/>
            <a:ext cx="1286510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120">
                <a:solidFill>
                  <a:srgbClr val="0C9387"/>
                </a:solidFill>
                <a:latin typeface="Arial Black"/>
                <a:cs typeface="Arial Black"/>
              </a:rPr>
              <a:t>Elastic</a:t>
            </a:r>
            <a:r>
              <a:rPr dirty="0" sz="1300" spc="-45">
                <a:solidFill>
                  <a:srgbClr val="0C9387"/>
                </a:solidFill>
                <a:latin typeface="Arial Black"/>
                <a:cs typeface="Arial Black"/>
              </a:rPr>
              <a:t> </a:t>
            </a:r>
            <a:r>
              <a:rPr dirty="0" sz="1300" spc="-85">
                <a:solidFill>
                  <a:srgbClr val="0C9387"/>
                </a:solidFill>
                <a:latin typeface="Arial Black"/>
                <a:cs typeface="Arial Black"/>
              </a:rPr>
              <a:t>capacity</a:t>
            </a:r>
            <a:endParaRPr sz="1300">
              <a:latin typeface="Arial Black"/>
              <a:cs typeface="Arial Black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6303964" y="4200844"/>
            <a:ext cx="2342515" cy="513715"/>
            <a:chOff x="6303964" y="4200844"/>
            <a:chExt cx="2342515" cy="513715"/>
          </a:xfrm>
        </p:grpSpPr>
        <p:sp>
          <p:nvSpPr>
            <p:cNvPr id="35" name="object 35"/>
            <p:cNvSpPr/>
            <p:nvPr/>
          </p:nvSpPr>
          <p:spPr>
            <a:xfrm>
              <a:off x="6309004" y="4205884"/>
              <a:ext cx="2332355" cy="503555"/>
            </a:xfrm>
            <a:custGeom>
              <a:avLst/>
              <a:gdLst/>
              <a:ahLst/>
              <a:cxnLst/>
              <a:rect l="l" t="t" r="r" b="b"/>
              <a:pathLst>
                <a:path w="2332354" h="503554">
                  <a:moveTo>
                    <a:pt x="110159" y="0"/>
                  </a:moveTo>
                  <a:lnTo>
                    <a:pt x="68088" y="8352"/>
                  </a:lnTo>
                  <a:lnTo>
                    <a:pt x="32534" y="32213"/>
                  </a:lnTo>
                  <a:lnTo>
                    <a:pt x="8708" y="67882"/>
                  </a:lnTo>
                  <a:lnTo>
                    <a:pt x="355" y="109791"/>
                  </a:lnTo>
                  <a:lnTo>
                    <a:pt x="0" y="393471"/>
                  </a:lnTo>
                  <a:lnTo>
                    <a:pt x="939" y="407901"/>
                  </a:lnTo>
                  <a:lnTo>
                    <a:pt x="14757" y="448551"/>
                  </a:lnTo>
                  <a:lnTo>
                    <a:pt x="22674" y="460264"/>
                  </a:lnTo>
                  <a:lnTo>
                    <a:pt x="22775" y="460414"/>
                  </a:lnTo>
                  <a:lnTo>
                    <a:pt x="55079" y="488518"/>
                  </a:lnTo>
                  <a:lnTo>
                    <a:pt x="95374" y="502335"/>
                  </a:lnTo>
                  <a:lnTo>
                    <a:pt x="109791" y="503275"/>
                  </a:lnTo>
                  <a:lnTo>
                    <a:pt x="2222271" y="503275"/>
                  </a:lnTo>
                  <a:lnTo>
                    <a:pt x="2264342" y="494922"/>
                  </a:lnTo>
                  <a:lnTo>
                    <a:pt x="2299846" y="471096"/>
                  </a:lnTo>
                  <a:lnTo>
                    <a:pt x="2323647" y="435542"/>
                  </a:lnTo>
                  <a:lnTo>
                    <a:pt x="2332075" y="393471"/>
                  </a:lnTo>
                  <a:lnTo>
                    <a:pt x="2332051" y="109791"/>
                  </a:lnTo>
                  <a:lnTo>
                    <a:pt x="2323722" y="68088"/>
                  </a:lnTo>
                  <a:lnTo>
                    <a:pt x="2299852" y="32534"/>
                  </a:lnTo>
                  <a:lnTo>
                    <a:pt x="2264192" y="8708"/>
                  </a:lnTo>
                  <a:lnTo>
                    <a:pt x="2222271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FF4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6309004" y="4205884"/>
              <a:ext cx="2332355" cy="503555"/>
            </a:xfrm>
            <a:custGeom>
              <a:avLst/>
              <a:gdLst/>
              <a:ahLst/>
              <a:cxnLst/>
              <a:rect l="l" t="t" r="r" b="b"/>
              <a:pathLst>
                <a:path w="2332354" h="503554">
                  <a:moveTo>
                    <a:pt x="355" y="109791"/>
                  </a:moveTo>
                  <a:lnTo>
                    <a:pt x="1295" y="95374"/>
                  </a:lnTo>
                  <a:lnTo>
                    <a:pt x="4090" y="81359"/>
                  </a:lnTo>
                  <a:lnTo>
                    <a:pt x="23133" y="43003"/>
                  </a:lnTo>
                  <a:lnTo>
                    <a:pt x="55079" y="14757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2222271" y="355"/>
                  </a:lnTo>
                  <a:lnTo>
                    <a:pt x="2264192" y="8708"/>
                  </a:lnTo>
                  <a:lnTo>
                    <a:pt x="2299852" y="32534"/>
                  </a:lnTo>
                  <a:lnTo>
                    <a:pt x="2323722" y="68088"/>
                  </a:lnTo>
                  <a:lnTo>
                    <a:pt x="2332075" y="110159"/>
                  </a:lnTo>
                  <a:lnTo>
                    <a:pt x="2332075" y="393471"/>
                  </a:lnTo>
                  <a:lnTo>
                    <a:pt x="2331135" y="407896"/>
                  </a:lnTo>
                  <a:lnTo>
                    <a:pt x="2328340" y="421914"/>
                  </a:lnTo>
                  <a:lnTo>
                    <a:pt x="2309298" y="460264"/>
                  </a:lnTo>
                  <a:lnTo>
                    <a:pt x="2277351" y="488518"/>
                  </a:lnTo>
                  <a:lnTo>
                    <a:pt x="2236701" y="502335"/>
                  </a:lnTo>
                  <a:lnTo>
                    <a:pt x="2222271" y="503275"/>
                  </a:lnTo>
                  <a:lnTo>
                    <a:pt x="109791" y="503275"/>
                  </a:lnTo>
                  <a:lnTo>
                    <a:pt x="67882" y="494922"/>
                  </a:lnTo>
                  <a:lnTo>
                    <a:pt x="32213" y="471096"/>
                  </a:lnTo>
                  <a:lnTo>
                    <a:pt x="8352" y="435542"/>
                  </a:lnTo>
                  <a:lnTo>
                    <a:pt x="0" y="393471"/>
                  </a:lnTo>
                  <a:lnTo>
                    <a:pt x="355" y="109791"/>
                  </a:lnTo>
                  <a:close/>
                </a:path>
              </a:pathLst>
            </a:custGeom>
            <a:ln w="10079">
              <a:solidFill>
                <a:srgbClr val="FFF4D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/>
          <p:cNvSpPr txBox="1"/>
          <p:nvPr/>
        </p:nvSpPr>
        <p:spPr>
          <a:xfrm>
            <a:off x="6848894" y="4345457"/>
            <a:ext cx="1254760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60">
                <a:solidFill>
                  <a:srgbClr val="996400"/>
                </a:solidFill>
                <a:latin typeface="Arial Black"/>
                <a:cs typeface="Arial Black"/>
              </a:rPr>
              <a:t>Metered</a:t>
            </a:r>
            <a:r>
              <a:rPr dirty="0" sz="1300" spc="-70">
                <a:solidFill>
                  <a:srgbClr val="996400"/>
                </a:solidFill>
                <a:latin typeface="Arial Black"/>
                <a:cs typeface="Arial Black"/>
              </a:rPr>
              <a:t> </a:t>
            </a:r>
            <a:r>
              <a:rPr dirty="0" sz="1300" spc="-65">
                <a:solidFill>
                  <a:srgbClr val="996400"/>
                </a:solidFill>
                <a:latin typeface="Arial Black"/>
                <a:cs typeface="Arial Black"/>
              </a:rPr>
              <a:t>usage</a:t>
            </a:r>
            <a:endParaRPr sz="1300">
              <a:latin typeface="Arial Black"/>
              <a:cs typeface="Arial Black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9047164" y="4200844"/>
            <a:ext cx="2342515" cy="513715"/>
            <a:chOff x="9047164" y="4200844"/>
            <a:chExt cx="2342515" cy="513715"/>
          </a:xfrm>
        </p:grpSpPr>
        <p:sp>
          <p:nvSpPr>
            <p:cNvPr id="39" name="object 39"/>
            <p:cNvSpPr/>
            <p:nvPr/>
          </p:nvSpPr>
          <p:spPr>
            <a:xfrm>
              <a:off x="9052204" y="4205884"/>
              <a:ext cx="2332355" cy="503555"/>
            </a:xfrm>
            <a:custGeom>
              <a:avLst/>
              <a:gdLst/>
              <a:ahLst/>
              <a:cxnLst/>
              <a:rect l="l" t="t" r="r" b="b"/>
              <a:pathLst>
                <a:path w="2332354" h="503554">
                  <a:moveTo>
                    <a:pt x="110159" y="0"/>
                  </a:moveTo>
                  <a:lnTo>
                    <a:pt x="68088" y="8352"/>
                  </a:lnTo>
                  <a:lnTo>
                    <a:pt x="32534" y="32213"/>
                  </a:lnTo>
                  <a:lnTo>
                    <a:pt x="8708" y="67882"/>
                  </a:lnTo>
                  <a:lnTo>
                    <a:pt x="355" y="109791"/>
                  </a:lnTo>
                  <a:lnTo>
                    <a:pt x="0" y="393471"/>
                  </a:lnTo>
                  <a:lnTo>
                    <a:pt x="939" y="407901"/>
                  </a:lnTo>
                  <a:lnTo>
                    <a:pt x="14757" y="448551"/>
                  </a:lnTo>
                  <a:lnTo>
                    <a:pt x="22674" y="460264"/>
                  </a:lnTo>
                  <a:lnTo>
                    <a:pt x="22775" y="460414"/>
                  </a:lnTo>
                  <a:lnTo>
                    <a:pt x="55079" y="488518"/>
                  </a:lnTo>
                  <a:lnTo>
                    <a:pt x="95374" y="502335"/>
                  </a:lnTo>
                  <a:lnTo>
                    <a:pt x="109791" y="503275"/>
                  </a:lnTo>
                  <a:lnTo>
                    <a:pt x="2222271" y="503275"/>
                  </a:lnTo>
                  <a:lnTo>
                    <a:pt x="2264342" y="494922"/>
                  </a:lnTo>
                  <a:lnTo>
                    <a:pt x="2299846" y="471096"/>
                  </a:lnTo>
                  <a:lnTo>
                    <a:pt x="2323647" y="435542"/>
                  </a:lnTo>
                  <a:lnTo>
                    <a:pt x="2332075" y="393471"/>
                  </a:lnTo>
                  <a:lnTo>
                    <a:pt x="2332051" y="109791"/>
                  </a:lnTo>
                  <a:lnTo>
                    <a:pt x="2323722" y="68088"/>
                  </a:lnTo>
                  <a:lnTo>
                    <a:pt x="2299852" y="32534"/>
                  </a:lnTo>
                  <a:lnTo>
                    <a:pt x="2264192" y="8708"/>
                  </a:lnTo>
                  <a:lnTo>
                    <a:pt x="2222271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0EB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9052204" y="4205884"/>
              <a:ext cx="2332355" cy="503555"/>
            </a:xfrm>
            <a:custGeom>
              <a:avLst/>
              <a:gdLst/>
              <a:ahLst/>
              <a:cxnLst/>
              <a:rect l="l" t="t" r="r" b="b"/>
              <a:pathLst>
                <a:path w="2332354" h="503554">
                  <a:moveTo>
                    <a:pt x="355" y="109791"/>
                  </a:moveTo>
                  <a:lnTo>
                    <a:pt x="1295" y="95374"/>
                  </a:lnTo>
                  <a:lnTo>
                    <a:pt x="4090" y="81359"/>
                  </a:lnTo>
                  <a:lnTo>
                    <a:pt x="23133" y="43003"/>
                  </a:lnTo>
                  <a:lnTo>
                    <a:pt x="55079" y="14757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2222271" y="355"/>
                  </a:lnTo>
                  <a:lnTo>
                    <a:pt x="2264192" y="8708"/>
                  </a:lnTo>
                  <a:lnTo>
                    <a:pt x="2299852" y="32534"/>
                  </a:lnTo>
                  <a:lnTo>
                    <a:pt x="2323722" y="68088"/>
                  </a:lnTo>
                  <a:lnTo>
                    <a:pt x="2332075" y="110159"/>
                  </a:lnTo>
                  <a:lnTo>
                    <a:pt x="2332075" y="393471"/>
                  </a:lnTo>
                  <a:lnTo>
                    <a:pt x="2331135" y="407896"/>
                  </a:lnTo>
                  <a:lnTo>
                    <a:pt x="2328340" y="421914"/>
                  </a:lnTo>
                  <a:lnTo>
                    <a:pt x="2309298" y="460264"/>
                  </a:lnTo>
                  <a:lnTo>
                    <a:pt x="2277351" y="488518"/>
                  </a:lnTo>
                  <a:lnTo>
                    <a:pt x="2236701" y="502335"/>
                  </a:lnTo>
                  <a:lnTo>
                    <a:pt x="2222271" y="503275"/>
                  </a:lnTo>
                  <a:lnTo>
                    <a:pt x="109791" y="503275"/>
                  </a:lnTo>
                  <a:lnTo>
                    <a:pt x="67882" y="494922"/>
                  </a:lnTo>
                  <a:lnTo>
                    <a:pt x="32213" y="471096"/>
                  </a:lnTo>
                  <a:lnTo>
                    <a:pt x="8352" y="435542"/>
                  </a:lnTo>
                  <a:lnTo>
                    <a:pt x="0" y="393471"/>
                  </a:lnTo>
                  <a:lnTo>
                    <a:pt x="355" y="109791"/>
                  </a:lnTo>
                  <a:close/>
                </a:path>
              </a:pathLst>
            </a:custGeom>
            <a:ln w="10079">
              <a:solidFill>
                <a:srgbClr val="F0EBF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/>
          <p:cNvSpPr txBox="1"/>
          <p:nvPr/>
        </p:nvSpPr>
        <p:spPr>
          <a:xfrm>
            <a:off x="9501746" y="4345457"/>
            <a:ext cx="1435100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85">
                <a:solidFill>
                  <a:srgbClr val="5A399D"/>
                </a:solidFill>
                <a:latin typeface="Arial Black"/>
                <a:cs typeface="Arial Black"/>
              </a:rPr>
              <a:t>API</a:t>
            </a:r>
            <a:r>
              <a:rPr dirty="0" sz="1300" spc="-95">
                <a:solidFill>
                  <a:srgbClr val="5A399D"/>
                </a:solidFill>
                <a:latin typeface="Arial Black"/>
                <a:cs typeface="Arial Black"/>
              </a:rPr>
              <a:t> </a:t>
            </a:r>
            <a:r>
              <a:rPr dirty="0" sz="1300" spc="170">
                <a:solidFill>
                  <a:srgbClr val="5A399D"/>
                </a:solidFill>
                <a:latin typeface="Arial Black"/>
                <a:cs typeface="Arial Black"/>
              </a:rPr>
              <a:t>/</a:t>
            </a:r>
            <a:r>
              <a:rPr dirty="0" sz="1300" spc="-95">
                <a:solidFill>
                  <a:srgbClr val="5A399D"/>
                </a:solidFill>
                <a:latin typeface="Arial Black"/>
                <a:cs typeface="Arial Black"/>
              </a:rPr>
              <a:t> </a:t>
            </a:r>
            <a:r>
              <a:rPr dirty="0" sz="1300" spc="-40">
                <a:solidFill>
                  <a:srgbClr val="5A399D"/>
                </a:solidFill>
                <a:latin typeface="Arial Black"/>
                <a:cs typeface="Arial Black"/>
              </a:rPr>
              <a:t>automation</a:t>
            </a:r>
            <a:endParaRPr sz="1300">
              <a:latin typeface="Arial Black"/>
              <a:cs typeface="Arial Black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921499" y="5259857"/>
            <a:ext cx="10400030" cy="544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719070" marR="5080" indent="-2707005">
              <a:lnSpc>
                <a:spcPct val="100000"/>
              </a:lnSpc>
              <a:spcBef>
                <a:spcPts val="100"/>
              </a:spcBef>
            </a:pPr>
            <a:r>
              <a:rPr dirty="0" sz="1700" spc="-185">
                <a:solidFill>
                  <a:srgbClr val="0F2339"/>
                </a:solidFill>
                <a:latin typeface="Arial Black"/>
                <a:cs typeface="Arial Black"/>
              </a:rPr>
              <a:t>Key</a:t>
            </a:r>
            <a:r>
              <a:rPr dirty="0" sz="1700" spc="-10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700" spc="-95">
                <a:solidFill>
                  <a:srgbClr val="0F2339"/>
                </a:solidFill>
                <a:latin typeface="Arial Black"/>
                <a:cs typeface="Arial Black"/>
              </a:rPr>
              <a:t>idea:</a:t>
            </a:r>
            <a:r>
              <a:rPr dirty="0" sz="1700" spc="-10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700" spc="-60">
                <a:solidFill>
                  <a:srgbClr val="0F2339"/>
                </a:solidFill>
                <a:latin typeface="Arial Black"/>
                <a:cs typeface="Arial Black"/>
              </a:rPr>
              <a:t>the</a:t>
            </a:r>
            <a:r>
              <a:rPr dirty="0" sz="1700" spc="-10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700" spc="-105">
                <a:solidFill>
                  <a:srgbClr val="0F2339"/>
                </a:solidFill>
                <a:latin typeface="Arial Black"/>
                <a:cs typeface="Arial Black"/>
              </a:rPr>
              <a:t>cloud</a:t>
            </a:r>
            <a:r>
              <a:rPr dirty="0" sz="1700" spc="-10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700" spc="-125">
                <a:solidFill>
                  <a:srgbClr val="0F2339"/>
                </a:solidFill>
                <a:latin typeface="Arial Black"/>
                <a:cs typeface="Arial Black"/>
              </a:rPr>
              <a:t>changes</a:t>
            </a:r>
            <a:r>
              <a:rPr dirty="0" sz="1700" spc="-9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700" spc="-105">
                <a:solidFill>
                  <a:srgbClr val="0F2339"/>
                </a:solidFill>
                <a:latin typeface="Arial Black"/>
                <a:cs typeface="Arial Black"/>
              </a:rPr>
              <a:t>how</a:t>
            </a:r>
            <a:r>
              <a:rPr dirty="0" sz="1700" spc="-10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700" spc="-70">
                <a:solidFill>
                  <a:srgbClr val="0F2339"/>
                </a:solidFill>
                <a:latin typeface="Arial Black"/>
                <a:cs typeface="Arial Black"/>
              </a:rPr>
              <a:t>infrastructure</a:t>
            </a:r>
            <a:r>
              <a:rPr dirty="0" sz="1700" spc="-10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700" spc="-120">
                <a:solidFill>
                  <a:srgbClr val="0F2339"/>
                </a:solidFill>
                <a:latin typeface="Arial Black"/>
                <a:cs typeface="Arial Black"/>
              </a:rPr>
              <a:t>is</a:t>
            </a:r>
            <a:r>
              <a:rPr dirty="0" sz="1700" spc="-100">
                <a:solidFill>
                  <a:srgbClr val="0F2339"/>
                </a:solidFill>
                <a:latin typeface="Arial Black"/>
                <a:cs typeface="Arial Black"/>
              </a:rPr>
              <a:t> acquired</a:t>
            </a:r>
            <a:r>
              <a:rPr dirty="0" sz="1700" spc="-9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700" spc="-70">
                <a:solidFill>
                  <a:srgbClr val="0F2339"/>
                </a:solidFill>
                <a:latin typeface="Arial Black"/>
                <a:cs typeface="Arial Black"/>
              </a:rPr>
              <a:t>and</a:t>
            </a:r>
            <a:r>
              <a:rPr dirty="0" sz="1700" spc="-10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700" spc="-85">
                <a:solidFill>
                  <a:srgbClr val="0F2339"/>
                </a:solidFill>
                <a:latin typeface="Arial Black"/>
                <a:cs typeface="Arial Black"/>
              </a:rPr>
              <a:t>operated;</a:t>
            </a:r>
            <a:r>
              <a:rPr dirty="0" sz="1700" spc="-10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700" spc="-30">
                <a:solidFill>
                  <a:srgbClr val="0F2339"/>
                </a:solidFill>
                <a:latin typeface="Arial Black"/>
                <a:cs typeface="Arial Black"/>
              </a:rPr>
              <a:t>it</a:t>
            </a:r>
            <a:r>
              <a:rPr dirty="0" sz="1700" spc="-10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700" spc="-130">
                <a:solidFill>
                  <a:srgbClr val="0F2339"/>
                </a:solidFill>
                <a:latin typeface="Arial Black"/>
                <a:cs typeface="Arial Black"/>
              </a:rPr>
              <a:t>does</a:t>
            </a:r>
            <a:r>
              <a:rPr dirty="0" sz="1700" spc="-10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700" spc="-50">
                <a:solidFill>
                  <a:srgbClr val="0F2339"/>
                </a:solidFill>
                <a:latin typeface="Arial Black"/>
                <a:cs typeface="Arial Black"/>
              </a:rPr>
              <a:t>not</a:t>
            </a:r>
            <a:r>
              <a:rPr dirty="0" sz="1700" spc="-95">
                <a:solidFill>
                  <a:srgbClr val="0F2339"/>
                </a:solidFill>
                <a:latin typeface="Arial Black"/>
                <a:cs typeface="Arial Black"/>
              </a:rPr>
              <a:t> remove</a:t>
            </a:r>
            <a:r>
              <a:rPr dirty="0" sz="1700" spc="-10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700" spc="-25">
                <a:solidFill>
                  <a:srgbClr val="0F2339"/>
                </a:solidFill>
                <a:latin typeface="Arial Black"/>
                <a:cs typeface="Arial Black"/>
              </a:rPr>
              <a:t>the </a:t>
            </a:r>
            <a:r>
              <a:rPr dirty="0" sz="1700" spc="-95">
                <a:solidFill>
                  <a:srgbClr val="0F2339"/>
                </a:solidFill>
                <a:latin typeface="Arial Black"/>
                <a:cs typeface="Arial Black"/>
              </a:rPr>
              <a:t>need</a:t>
            </a:r>
            <a:r>
              <a:rPr dirty="0" sz="1700" spc="-10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700" spc="-25">
                <a:solidFill>
                  <a:srgbClr val="0F2339"/>
                </a:solidFill>
                <a:latin typeface="Arial Black"/>
                <a:cs typeface="Arial Black"/>
              </a:rPr>
              <a:t>for</a:t>
            </a:r>
            <a:r>
              <a:rPr dirty="0" sz="1700" spc="-10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700" spc="-95">
                <a:solidFill>
                  <a:srgbClr val="0F2339"/>
                </a:solidFill>
                <a:latin typeface="Arial Black"/>
                <a:cs typeface="Arial Black"/>
              </a:rPr>
              <a:t>architecture, </a:t>
            </a:r>
            <a:r>
              <a:rPr dirty="0" sz="1700" spc="-100">
                <a:solidFill>
                  <a:srgbClr val="0F2339"/>
                </a:solidFill>
                <a:latin typeface="Arial Black"/>
                <a:cs typeface="Arial Black"/>
              </a:rPr>
              <a:t>security </a:t>
            </a:r>
            <a:r>
              <a:rPr dirty="0" sz="1700" spc="-45">
                <a:solidFill>
                  <a:srgbClr val="0F2339"/>
                </a:solidFill>
                <a:latin typeface="Arial Black"/>
                <a:cs typeface="Arial Black"/>
              </a:rPr>
              <a:t>or</a:t>
            </a:r>
            <a:r>
              <a:rPr dirty="0" sz="1700" spc="-9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700" spc="-150">
                <a:solidFill>
                  <a:srgbClr val="0F2339"/>
                </a:solidFill>
                <a:latin typeface="Arial Black"/>
                <a:cs typeface="Arial Black"/>
              </a:rPr>
              <a:t>cost</a:t>
            </a:r>
            <a:r>
              <a:rPr dirty="0" sz="1700" spc="-10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700" spc="-10">
                <a:solidFill>
                  <a:srgbClr val="0F2339"/>
                </a:solidFill>
                <a:latin typeface="Arial Black"/>
                <a:cs typeface="Arial Black"/>
              </a:rPr>
              <a:t>control.</a:t>
            </a:r>
            <a:endParaRPr sz="1700">
              <a:latin typeface="Arial Black"/>
              <a:cs typeface="Arial Black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66635" y="6382435"/>
            <a:ext cx="11064240" cy="635"/>
          </a:xfrm>
          <a:custGeom>
            <a:avLst/>
            <a:gdLst/>
            <a:ahLst/>
            <a:cxnLst/>
            <a:rect l="l" t="t" r="r" b="b"/>
            <a:pathLst>
              <a:path w="11064240" h="635">
                <a:moveTo>
                  <a:pt x="0" y="0"/>
                </a:moveTo>
                <a:lnTo>
                  <a:pt x="11064240" y="368"/>
                </a:lnTo>
              </a:path>
            </a:pathLst>
          </a:custGeom>
          <a:ln w="8999">
            <a:solidFill>
              <a:srgbClr val="DBE4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90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 spc="-100"/>
              <a:t>DAY</a:t>
            </a:r>
            <a:r>
              <a:rPr dirty="0" spc="-55"/>
              <a:t> </a:t>
            </a:r>
            <a:r>
              <a:rPr dirty="0"/>
              <a:t>1</a:t>
            </a:r>
            <a:r>
              <a:rPr dirty="0" spc="105"/>
              <a:t> </a:t>
            </a:r>
            <a:r>
              <a:rPr dirty="0"/>
              <a:t>•</a:t>
            </a:r>
            <a:r>
              <a:rPr dirty="0" spc="130"/>
              <a:t> </a:t>
            </a:r>
            <a:r>
              <a:rPr dirty="0" spc="-70"/>
              <a:t>CLOUD</a:t>
            </a:r>
            <a:r>
              <a:rPr dirty="0" spc="-55"/>
              <a:t> </a:t>
            </a:r>
            <a:r>
              <a:rPr dirty="0" spc="-65"/>
              <a:t>FOUNDATIONS</a:t>
            </a:r>
            <a:r>
              <a:rPr dirty="0" spc="-55"/>
              <a:t> </a:t>
            </a:r>
            <a:r>
              <a:rPr dirty="0" spc="-105"/>
              <a:t>&amp;</a:t>
            </a:r>
            <a:r>
              <a:rPr dirty="0" spc="-50"/>
              <a:t> </a:t>
            </a:r>
            <a:r>
              <a:rPr dirty="0" spc="-95"/>
              <a:t>AZURE</a:t>
            </a:r>
            <a:r>
              <a:rPr dirty="0" spc="-55"/>
              <a:t> </a:t>
            </a:r>
            <a:r>
              <a:rPr dirty="0" spc="-50"/>
              <a:t>BASICS</a:t>
            </a:r>
          </a:p>
        </p:txBody>
      </p:sp>
      <p:sp>
        <p:nvSpPr>
          <p:cNvPr id="43" name="object 43"/>
          <p:cNvSpPr txBox="1"/>
          <p:nvPr/>
        </p:nvSpPr>
        <p:spPr>
          <a:xfrm>
            <a:off x="11476697" y="6494402"/>
            <a:ext cx="149225" cy="172720"/>
          </a:xfrm>
          <a:prstGeom prst="rect">
            <a:avLst/>
          </a:prstGeom>
        </p:spPr>
        <p:txBody>
          <a:bodyPr wrap="square" lIns="0" tIns="203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dirty="0" sz="850" spc="-50">
                <a:solidFill>
                  <a:srgbClr val="0077D3"/>
                </a:solidFill>
                <a:latin typeface="Arial Black"/>
                <a:cs typeface="Arial Black"/>
              </a:rPr>
              <a:t>03</a:t>
            </a:r>
            <a:endParaRPr sz="85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3935" y="299427"/>
            <a:ext cx="205168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65">
                <a:solidFill>
                  <a:srgbClr val="0077D3"/>
                </a:solidFill>
                <a:latin typeface="Arial Black"/>
                <a:cs typeface="Arial Black"/>
              </a:rPr>
              <a:t>PA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25">
                <a:solidFill>
                  <a:srgbClr val="0077D3"/>
                </a:solidFill>
                <a:latin typeface="Arial Black"/>
                <a:cs typeface="Arial Black"/>
              </a:rPr>
              <a:t>R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>
                <a:solidFill>
                  <a:srgbClr val="0077D3"/>
                </a:solidFill>
                <a:latin typeface="Arial Black"/>
                <a:cs typeface="Arial Black"/>
              </a:rPr>
              <a:t>T</a:t>
            </a:r>
            <a:r>
              <a:rPr dirty="0" sz="1000" spc="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>
                <a:solidFill>
                  <a:srgbClr val="0077D3"/>
                </a:solidFill>
                <a:latin typeface="Arial Black"/>
                <a:cs typeface="Arial Black"/>
              </a:rPr>
              <a:t>1</a:t>
            </a:r>
            <a:r>
              <a:rPr dirty="0" sz="1000" spc="135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>
                <a:solidFill>
                  <a:srgbClr val="0077D3"/>
                </a:solidFill>
                <a:latin typeface="Arial Black"/>
                <a:cs typeface="Arial Black"/>
              </a:rPr>
              <a:t>•</a:t>
            </a:r>
            <a:r>
              <a:rPr dirty="0" sz="1000" spc="14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45">
                <a:solidFill>
                  <a:srgbClr val="0077D3"/>
                </a:solidFill>
                <a:latin typeface="Arial Black"/>
                <a:cs typeface="Arial Black"/>
              </a:rPr>
              <a:t>C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25">
                <a:solidFill>
                  <a:srgbClr val="0077D3"/>
                </a:solidFill>
                <a:latin typeface="Arial Black"/>
                <a:cs typeface="Arial Black"/>
              </a:rPr>
              <a:t>LO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90">
                <a:solidFill>
                  <a:srgbClr val="0077D3"/>
                </a:solidFill>
                <a:latin typeface="Arial Black"/>
                <a:cs typeface="Arial Black"/>
              </a:rPr>
              <a:t>U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>
                <a:solidFill>
                  <a:srgbClr val="0077D3"/>
                </a:solidFill>
                <a:latin typeface="Arial Black"/>
                <a:cs typeface="Arial Black"/>
              </a:rPr>
              <a:t>D</a:t>
            </a:r>
            <a:r>
              <a:rPr dirty="0" sz="1000" spc="135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45">
                <a:solidFill>
                  <a:srgbClr val="0077D3"/>
                </a:solidFill>
                <a:latin typeface="Arial Black"/>
                <a:cs typeface="Arial Black"/>
              </a:rPr>
              <a:t>CO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35">
                <a:solidFill>
                  <a:srgbClr val="0077D3"/>
                </a:solidFill>
                <a:latin typeface="Arial Black"/>
                <a:cs typeface="Arial Black"/>
              </a:rPr>
              <a:t>N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45">
                <a:solidFill>
                  <a:srgbClr val="0077D3"/>
                </a:solidFill>
                <a:latin typeface="Arial Black"/>
                <a:cs typeface="Arial Black"/>
              </a:rPr>
              <a:t>C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75">
                <a:solidFill>
                  <a:srgbClr val="0077D3"/>
                </a:solidFill>
                <a:latin typeface="Arial Black"/>
                <a:cs typeface="Arial Black"/>
              </a:rPr>
              <a:t>E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10">
                <a:solidFill>
                  <a:srgbClr val="0077D3"/>
                </a:solidFill>
                <a:latin typeface="Arial Black"/>
                <a:cs typeface="Arial Black"/>
              </a:rPr>
              <a:t>P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60">
                <a:solidFill>
                  <a:srgbClr val="0077D3"/>
                </a:solidFill>
                <a:latin typeface="Arial Black"/>
                <a:cs typeface="Arial Black"/>
              </a:rPr>
              <a:t>T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95">
                <a:solidFill>
                  <a:srgbClr val="0077D3"/>
                </a:solidFill>
                <a:latin typeface="Arial Black"/>
                <a:cs typeface="Arial Black"/>
              </a:rPr>
              <a:t>S</a:t>
            </a:r>
            <a:endParaRPr sz="1000">
              <a:latin typeface="Arial Black"/>
              <a:cs typeface="Arial Black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54304" y="428977"/>
            <a:ext cx="6380480" cy="814705"/>
          </a:xfrm>
          <a:prstGeom prst="rect"/>
        </p:spPr>
        <p:txBody>
          <a:bodyPr wrap="square" lIns="0" tIns="133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0"/>
              </a:spcBef>
            </a:pPr>
            <a:r>
              <a:rPr dirty="0" sz="2700" spc="-95">
                <a:solidFill>
                  <a:srgbClr val="0F2339"/>
                </a:solidFill>
              </a:rPr>
              <a:t>Why</a:t>
            </a:r>
            <a:r>
              <a:rPr dirty="0" sz="2700" spc="-165">
                <a:solidFill>
                  <a:srgbClr val="0F2339"/>
                </a:solidFill>
              </a:rPr>
              <a:t> </a:t>
            </a:r>
            <a:r>
              <a:rPr dirty="0" sz="2700" spc="-125">
                <a:solidFill>
                  <a:srgbClr val="0F2339"/>
                </a:solidFill>
              </a:rPr>
              <a:t>organizations</a:t>
            </a:r>
            <a:r>
              <a:rPr dirty="0" sz="2700" spc="-170">
                <a:solidFill>
                  <a:srgbClr val="0F2339"/>
                </a:solidFill>
              </a:rPr>
              <a:t> </a:t>
            </a:r>
            <a:r>
              <a:rPr dirty="0" sz="2700" spc="-195">
                <a:solidFill>
                  <a:srgbClr val="0F2339"/>
                </a:solidFill>
              </a:rPr>
              <a:t>use</a:t>
            </a:r>
            <a:r>
              <a:rPr dirty="0" sz="2700" spc="-170">
                <a:solidFill>
                  <a:srgbClr val="0F2339"/>
                </a:solidFill>
              </a:rPr>
              <a:t> </a:t>
            </a:r>
            <a:r>
              <a:rPr dirty="0" sz="2700" spc="-95">
                <a:solidFill>
                  <a:srgbClr val="0F2339"/>
                </a:solidFill>
              </a:rPr>
              <a:t>the</a:t>
            </a:r>
            <a:r>
              <a:rPr dirty="0" sz="2700" spc="-165">
                <a:solidFill>
                  <a:srgbClr val="0F2339"/>
                </a:solidFill>
              </a:rPr>
              <a:t> </a:t>
            </a:r>
            <a:r>
              <a:rPr dirty="0" sz="2700" spc="-10">
                <a:solidFill>
                  <a:srgbClr val="0F2339"/>
                </a:solidFill>
              </a:rPr>
              <a:t>cloud</a:t>
            </a:r>
            <a:endParaRPr sz="2700"/>
          </a:p>
          <a:p>
            <a:pPr marL="30480">
              <a:lnSpc>
                <a:spcPct val="100000"/>
              </a:lnSpc>
              <a:spcBef>
                <a:spcPts val="459"/>
              </a:spcBef>
            </a:pP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Benefits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are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real,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but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each</a:t>
            </a:r>
            <a:r>
              <a:rPr dirty="0" sz="1300" spc="-4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one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still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requires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good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design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and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operational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controls.</a:t>
            </a:r>
            <a:endParaRPr sz="1300">
              <a:latin typeface="Noto Sans"/>
              <a:cs typeface="Noto San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66635" y="1417319"/>
            <a:ext cx="11064240" cy="635"/>
          </a:xfrm>
          <a:custGeom>
            <a:avLst/>
            <a:gdLst/>
            <a:ahLst/>
            <a:cxnLst/>
            <a:rect l="l" t="t" r="r" b="b"/>
            <a:pathLst>
              <a:path w="11064240" h="634">
                <a:moveTo>
                  <a:pt x="0" y="0"/>
                </a:moveTo>
                <a:lnTo>
                  <a:pt x="11064240" y="355"/>
                </a:lnTo>
              </a:path>
            </a:pathLst>
          </a:custGeom>
          <a:ln w="10079">
            <a:solidFill>
              <a:srgbClr val="DBE4ED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6" name="object 6"/>
          <p:cNvGrpSpPr/>
          <p:nvPr/>
        </p:nvGrpSpPr>
        <p:grpSpPr>
          <a:xfrm>
            <a:off x="680404" y="1686244"/>
            <a:ext cx="3439795" cy="1583690"/>
            <a:chOff x="680404" y="1686244"/>
            <a:chExt cx="3439795" cy="1583690"/>
          </a:xfrm>
        </p:grpSpPr>
        <p:sp>
          <p:nvSpPr>
            <p:cNvPr id="7" name="object 7"/>
            <p:cNvSpPr/>
            <p:nvPr/>
          </p:nvSpPr>
          <p:spPr>
            <a:xfrm>
              <a:off x="685444" y="1691284"/>
              <a:ext cx="3429635" cy="1573530"/>
            </a:xfrm>
            <a:custGeom>
              <a:avLst/>
              <a:gdLst/>
              <a:ahLst/>
              <a:cxnLst/>
              <a:rect l="l" t="t" r="r" b="b"/>
              <a:pathLst>
                <a:path w="3429635" h="1573529">
                  <a:moveTo>
                    <a:pt x="110159" y="0"/>
                  </a:moveTo>
                  <a:lnTo>
                    <a:pt x="68088" y="8352"/>
                  </a:lnTo>
                  <a:lnTo>
                    <a:pt x="32534" y="32213"/>
                  </a:lnTo>
                  <a:lnTo>
                    <a:pt x="8708" y="67882"/>
                  </a:lnTo>
                  <a:lnTo>
                    <a:pt x="355" y="109791"/>
                  </a:lnTo>
                  <a:lnTo>
                    <a:pt x="0" y="1463395"/>
                  </a:lnTo>
                  <a:lnTo>
                    <a:pt x="939" y="1477825"/>
                  </a:lnTo>
                  <a:lnTo>
                    <a:pt x="3735" y="1491883"/>
                  </a:lnTo>
                  <a:lnTo>
                    <a:pt x="8301" y="1505316"/>
                  </a:lnTo>
                  <a:lnTo>
                    <a:pt x="8352" y="1505466"/>
                  </a:lnTo>
                  <a:lnTo>
                    <a:pt x="32213" y="1541019"/>
                  </a:lnTo>
                  <a:lnTo>
                    <a:pt x="67882" y="1564841"/>
                  </a:lnTo>
                  <a:lnTo>
                    <a:pt x="109791" y="1573199"/>
                  </a:lnTo>
                  <a:lnTo>
                    <a:pt x="3319551" y="1573199"/>
                  </a:lnTo>
                  <a:lnTo>
                    <a:pt x="3361622" y="1564841"/>
                  </a:lnTo>
                  <a:lnTo>
                    <a:pt x="3397126" y="1541019"/>
                  </a:lnTo>
                  <a:lnTo>
                    <a:pt x="3420927" y="1505466"/>
                  </a:lnTo>
                  <a:lnTo>
                    <a:pt x="3421002" y="1505316"/>
                  </a:lnTo>
                  <a:lnTo>
                    <a:pt x="3425604" y="1491883"/>
                  </a:lnTo>
                  <a:lnTo>
                    <a:pt x="3428414" y="1477825"/>
                  </a:lnTo>
                  <a:lnTo>
                    <a:pt x="3429355" y="1463395"/>
                  </a:lnTo>
                  <a:lnTo>
                    <a:pt x="3429331" y="109791"/>
                  </a:lnTo>
                  <a:lnTo>
                    <a:pt x="3421002" y="68088"/>
                  </a:lnTo>
                  <a:lnTo>
                    <a:pt x="3397132" y="32534"/>
                  </a:lnTo>
                  <a:lnTo>
                    <a:pt x="3361472" y="8708"/>
                  </a:lnTo>
                  <a:lnTo>
                    <a:pt x="3319551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685444" y="1691284"/>
              <a:ext cx="3429635" cy="1573530"/>
            </a:xfrm>
            <a:custGeom>
              <a:avLst/>
              <a:gdLst/>
              <a:ahLst/>
              <a:cxnLst/>
              <a:rect l="l" t="t" r="r" b="b"/>
              <a:pathLst>
                <a:path w="3429635" h="1573529">
                  <a:moveTo>
                    <a:pt x="355" y="109791"/>
                  </a:moveTo>
                  <a:lnTo>
                    <a:pt x="1295" y="95374"/>
                  </a:lnTo>
                  <a:lnTo>
                    <a:pt x="4090" y="81359"/>
                  </a:lnTo>
                  <a:lnTo>
                    <a:pt x="23133" y="43003"/>
                  </a:lnTo>
                  <a:lnTo>
                    <a:pt x="55079" y="14757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3319551" y="355"/>
                  </a:lnTo>
                  <a:lnTo>
                    <a:pt x="3361472" y="8708"/>
                  </a:lnTo>
                  <a:lnTo>
                    <a:pt x="3397132" y="32534"/>
                  </a:lnTo>
                  <a:lnTo>
                    <a:pt x="3421002" y="68088"/>
                  </a:lnTo>
                  <a:lnTo>
                    <a:pt x="3429355" y="110159"/>
                  </a:lnTo>
                  <a:lnTo>
                    <a:pt x="3429355" y="1463395"/>
                  </a:lnTo>
                  <a:lnTo>
                    <a:pt x="3428415" y="1477820"/>
                  </a:lnTo>
                  <a:lnTo>
                    <a:pt x="3425620" y="1491838"/>
                  </a:lnTo>
                  <a:lnTo>
                    <a:pt x="3406578" y="1530188"/>
                  </a:lnTo>
                  <a:lnTo>
                    <a:pt x="3374631" y="1558429"/>
                  </a:lnTo>
                  <a:lnTo>
                    <a:pt x="3333981" y="1572260"/>
                  </a:lnTo>
                  <a:lnTo>
                    <a:pt x="3319551" y="1573199"/>
                  </a:lnTo>
                  <a:lnTo>
                    <a:pt x="109791" y="1573199"/>
                  </a:lnTo>
                  <a:lnTo>
                    <a:pt x="67882" y="1564841"/>
                  </a:lnTo>
                  <a:lnTo>
                    <a:pt x="32213" y="1541019"/>
                  </a:lnTo>
                  <a:lnTo>
                    <a:pt x="8352" y="1505466"/>
                  </a:lnTo>
                  <a:lnTo>
                    <a:pt x="0" y="1463395"/>
                  </a:lnTo>
                  <a:lnTo>
                    <a:pt x="355" y="109791"/>
                  </a:lnTo>
                  <a:close/>
                </a:path>
              </a:pathLst>
            </a:custGeom>
            <a:ln w="10079">
              <a:solidFill>
                <a:srgbClr val="DBE4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867956" y="1837436"/>
              <a:ext cx="915035" cy="293370"/>
            </a:xfrm>
            <a:custGeom>
              <a:avLst/>
              <a:gdLst/>
              <a:ahLst/>
              <a:cxnLst/>
              <a:rect l="l" t="t" r="r" b="b"/>
              <a:pathLst>
                <a:path w="915035" h="293369">
                  <a:moveTo>
                    <a:pt x="110159" y="0"/>
                  </a:moveTo>
                  <a:lnTo>
                    <a:pt x="68095" y="8358"/>
                  </a:lnTo>
                  <a:lnTo>
                    <a:pt x="32535" y="32224"/>
                  </a:lnTo>
                  <a:lnTo>
                    <a:pt x="8721" y="67882"/>
                  </a:lnTo>
                  <a:lnTo>
                    <a:pt x="368" y="109804"/>
                  </a:lnTo>
                  <a:lnTo>
                    <a:pt x="0" y="183248"/>
                  </a:lnTo>
                  <a:lnTo>
                    <a:pt x="939" y="197671"/>
                  </a:lnTo>
                  <a:lnTo>
                    <a:pt x="14770" y="238328"/>
                  </a:lnTo>
                  <a:lnTo>
                    <a:pt x="22683" y="250036"/>
                  </a:lnTo>
                  <a:lnTo>
                    <a:pt x="22788" y="250191"/>
                  </a:lnTo>
                  <a:lnTo>
                    <a:pt x="55079" y="278282"/>
                  </a:lnTo>
                  <a:lnTo>
                    <a:pt x="95379" y="292100"/>
                  </a:lnTo>
                  <a:lnTo>
                    <a:pt x="109804" y="293039"/>
                  </a:lnTo>
                  <a:lnTo>
                    <a:pt x="804964" y="293039"/>
                  </a:lnTo>
                  <a:lnTo>
                    <a:pt x="847035" y="284686"/>
                  </a:lnTo>
                  <a:lnTo>
                    <a:pt x="882535" y="260872"/>
                  </a:lnTo>
                  <a:lnTo>
                    <a:pt x="906332" y="225312"/>
                  </a:lnTo>
                  <a:lnTo>
                    <a:pt x="914768" y="183248"/>
                  </a:lnTo>
                  <a:lnTo>
                    <a:pt x="914745" y="109804"/>
                  </a:lnTo>
                  <a:lnTo>
                    <a:pt x="906410" y="68095"/>
                  </a:lnTo>
                  <a:lnTo>
                    <a:pt x="882543" y="32535"/>
                  </a:lnTo>
                  <a:lnTo>
                    <a:pt x="846885" y="8721"/>
                  </a:lnTo>
                  <a:lnTo>
                    <a:pt x="804964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9F3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867956" y="1837436"/>
              <a:ext cx="915035" cy="293370"/>
            </a:xfrm>
            <a:custGeom>
              <a:avLst/>
              <a:gdLst/>
              <a:ahLst/>
              <a:cxnLst/>
              <a:rect l="l" t="t" r="r" b="b"/>
              <a:pathLst>
                <a:path w="915035" h="293369">
                  <a:moveTo>
                    <a:pt x="368" y="109804"/>
                  </a:moveTo>
                  <a:lnTo>
                    <a:pt x="1307" y="95379"/>
                  </a:lnTo>
                  <a:lnTo>
                    <a:pt x="4103" y="81360"/>
                  </a:lnTo>
                  <a:lnTo>
                    <a:pt x="23138" y="43011"/>
                  </a:lnTo>
                  <a:lnTo>
                    <a:pt x="55079" y="14770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804964" y="368"/>
                  </a:lnTo>
                  <a:lnTo>
                    <a:pt x="846885" y="8721"/>
                  </a:lnTo>
                  <a:lnTo>
                    <a:pt x="882543" y="32535"/>
                  </a:lnTo>
                  <a:lnTo>
                    <a:pt x="906410" y="68095"/>
                  </a:lnTo>
                  <a:lnTo>
                    <a:pt x="914768" y="110159"/>
                  </a:lnTo>
                  <a:lnTo>
                    <a:pt x="914768" y="183248"/>
                  </a:lnTo>
                  <a:lnTo>
                    <a:pt x="913828" y="197665"/>
                  </a:lnTo>
                  <a:lnTo>
                    <a:pt x="911031" y="211680"/>
                  </a:lnTo>
                  <a:lnTo>
                    <a:pt x="891985" y="250036"/>
                  </a:lnTo>
                  <a:lnTo>
                    <a:pt x="860043" y="278282"/>
                  </a:lnTo>
                  <a:lnTo>
                    <a:pt x="819394" y="292100"/>
                  </a:lnTo>
                  <a:lnTo>
                    <a:pt x="804964" y="293039"/>
                  </a:lnTo>
                  <a:lnTo>
                    <a:pt x="109804" y="293039"/>
                  </a:lnTo>
                  <a:lnTo>
                    <a:pt x="67882" y="284686"/>
                  </a:lnTo>
                  <a:lnTo>
                    <a:pt x="32224" y="260872"/>
                  </a:lnTo>
                  <a:lnTo>
                    <a:pt x="8358" y="225312"/>
                  </a:lnTo>
                  <a:lnTo>
                    <a:pt x="0" y="183248"/>
                  </a:lnTo>
                  <a:lnTo>
                    <a:pt x="368" y="109804"/>
                  </a:lnTo>
                  <a:close/>
                </a:path>
              </a:pathLst>
            </a:custGeom>
            <a:ln w="10079">
              <a:solidFill>
                <a:srgbClr val="E9F3F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855624" y="1890623"/>
            <a:ext cx="3039745" cy="1047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77495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0077D3"/>
                </a:solidFill>
                <a:latin typeface="Arial Black"/>
                <a:cs typeface="Arial Black"/>
              </a:rPr>
              <a:t>SPEED</a:t>
            </a:r>
            <a:endParaRPr sz="10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1350"/>
              </a:spcBef>
            </a:pPr>
            <a:r>
              <a:rPr dirty="0" sz="1600" spc="-10">
                <a:solidFill>
                  <a:srgbClr val="0F2339"/>
                </a:solidFill>
                <a:latin typeface="Arial Black"/>
                <a:cs typeface="Arial Black"/>
              </a:rPr>
              <a:t>Speed</a:t>
            </a:r>
            <a:endParaRPr sz="160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  <a:spcBef>
                <a:spcPts val="700"/>
              </a:spcBef>
            </a:pPr>
            <a:r>
              <a:rPr dirty="0" sz="1200" spc="-10">
                <a:solidFill>
                  <a:srgbClr val="556478"/>
                </a:solidFill>
                <a:latin typeface="Noto Sans"/>
                <a:cs typeface="Noto Sans"/>
              </a:rPr>
              <a:t>Provision</a:t>
            </a:r>
            <a:r>
              <a:rPr dirty="0" sz="1200" spc="-2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00">
                <a:solidFill>
                  <a:srgbClr val="556478"/>
                </a:solidFill>
                <a:latin typeface="Noto Sans"/>
                <a:cs typeface="Noto Sans"/>
              </a:rPr>
              <a:t>in</a:t>
            </a:r>
            <a:r>
              <a:rPr dirty="0" sz="1200" spc="-2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00">
                <a:solidFill>
                  <a:srgbClr val="556478"/>
                </a:solidFill>
                <a:latin typeface="Noto Sans"/>
                <a:cs typeface="Noto Sans"/>
              </a:rPr>
              <a:t>minutes</a:t>
            </a:r>
            <a:r>
              <a:rPr dirty="0" sz="1200" spc="-2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00">
                <a:solidFill>
                  <a:srgbClr val="556478"/>
                </a:solidFill>
                <a:latin typeface="Noto Sans"/>
                <a:cs typeface="Noto Sans"/>
              </a:rPr>
              <a:t>instead</a:t>
            </a:r>
            <a:r>
              <a:rPr dirty="0" sz="1200" spc="-2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00">
                <a:solidFill>
                  <a:srgbClr val="556478"/>
                </a:solidFill>
                <a:latin typeface="Noto Sans"/>
                <a:cs typeface="Noto Sans"/>
              </a:rPr>
              <a:t>of</a:t>
            </a:r>
            <a:r>
              <a:rPr dirty="0" sz="1200" spc="-2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00">
                <a:solidFill>
                  <a:srgbClr val="556478"/>
                </a:solidFill>
                <a:latin typeface="Noto Sans"/>
                <a:cs typeface="Noto Sans"/>
              </a:rPr>
              <a:t>waiting</a:t>
            </a:r>
            <a:r>
              <a:rPr dirty="0" sz="1200" spc="-2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00" spc="-25">
                <a:solidFill>
                  <a:srgbClr val="556478"/>
                </a:solidFill>
                <a:latin typeface="Noto Sans"/>
                <a:cs typeface="Noto Sans"/>
              </a:rPr>
              <a:t>for </a:t>
            </a:r>
            <a:r>
              <a:rPr dirty="0" sz="1200" spc="-10">
                <a:solidFill>
                  <a:srgbClr val="556478"/>
                </a:solidFill>
                <a:latin typeface="Noto Sans"/>
                <a:cs typeface="Noto Sans"/>
              </a:rPr>
              <a:t>hardware</a:t>
            </a:r>
            <a:r>
              <a:rPr dirty="0" sz="120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00" spc="-10">
                <a:solidFill>
                  <a:srgbClr val="556478"/>
                </a:solidFill>
                <a:latin typeface="Noto Sans"/>
                <a:cs typeface="Noto Sans"/>
              </a:rPr>
              <a:t>procurement.</a:t>
            </a:r>
            <a:endParaRPr sz="1200">
              <a:latin typeface="Noto Sans"/>
              <a:cs typeface="Noto San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475164" y="1686244"/>
            <a:ext cx="3439795" cy="1583690"/>
            <a:chOff x="4475164" y="1686244"/>
            <a:chExt cx="3439795" cy="1583690"/>
          </a:xfrm>
        </p:grpSpPr>
        <p:sp>
          <p:nvSpPr>
            <p:cNvPr id="13" name="object 13"/>
            <p:cNvSpPr/>
            <p:nvPr/>
          </p:nvSpPr>
          <p:spPr>
            <a:xfrm>
              <a:off x="4480204" y="1691284"/>
              <a:ext cx="3429635" cy="1573530"/>
            </a:xfrm>
            <a:custGeom>
              <a:avLst/>
              <a:gdLst/>
              <a:ahLst/>
              <a:cxnLst/>
              <a:rect l="l" t="t" r="r" b="b"/>
              <a:pathLst>
                <a:path w="3429634" h="1573529">
                  <a:moveTo>
                    <a:pt x="110159" y="0"/>
                  </a:moveTo>
                  <a:lnTo>
                    <a:pt x="68088" y="8352"/>
                  </a:lnTo>
                  <a:lnTo>
                    <a:pt x="32534" y="32213"/>
                  </a:lnTo>
                  <a:lnTo>
                    <a:pt x="8708" y="67882"/>
                  </a:lnTo>
                  <a:lnTo>
                    <a:pt x="355" y="109791"/>
                  </a:lnTo>
                  <a:lnTo>
                    <a:pt x="0" y="1463395"/>
                  </a:lnTo>
                  <a:lnTo>
                    <a:pt x="939" y="1477825"/>
                  </a:lnTo>
                  <a:lnTo>
                    <a:pt x="14757" y="1518475"/>
                  </a:lnTo>
                  <a:lnTo>
                    <a:pt x="22674" y="1530188"/>
                  </a:lnTo>
                  <a:lnTo>
                    <a:pt x="22775" y="1530338"/>
                  </a:lnTo>
                  <a:lnTo>
                    <a:pt x="55079" y="1558429"/>
                  </a:lnTo>
                  <a:lnTo>
                    <a:pt x="95374" y="1572260"/>
                  </a:lnTo>
                  <a:lnTo>
                    <a:pt x="109791" y="1573199"/>
                  </a:lnTo>
                  <a:lnTo>
                    <a:pt x="3319551" y="1573199"/>
                  </a:lnTo>
                  <a:lnTo>
                    <a:pt x="3361622" y="1564841"/>
                  </a:lnTo>
                  <a:lnTo>
                    <a:pt x="3397126" y="1541019"/>
                  </a:lnTo>
                  <a:lnTo>
                    <a:pt x="3420927" y="1505466"/>
                  </a:lnTo>
                  <a:lnTo>
                    <a:pt x="3429355" y="1463395"/>
                  </a:lnTo>
                  <a:lnTo>
                    <a:pt x="3429331" y="109791"/>
                  </a:lnTo>
                  <a:lnTo>
                    <a:pt x="3421002" y="68088"/>
                  </a:lnTo>
                  <a:lnTo>
                    <a:pt x="3397132" y="32534"/>
                  </a:lnTo>
                  <a:lnTo>
                    <a:pt x="3361472" y="8708"/>
                  </a:lnTo>
                  <a:lnTo>
                    <a:pt x="3319551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480204" y="1691284"/>
              <a:ext cx="3429635" cy="1573530"/>
            </a:xfrm>
            <a:custGeom>
              <a:avLst/>
              <a:gdLst/>
              <a:ahLst/>
              <a:cxnLst/>
              <a:rect l="l" t="t" r="r" b="b"/>
              <a:pathLst>
                <a:path w="3429634" h="1573529">
                  <a:moveTo>
                    <a:pt x="355" y="109791"/>
                  </a:moveTo>
                  <a:lnTo>
                    <a:pt x="1295" y="95374"/>
                  </a:lnTo>
                  <a:lnTo>
                    <a:pt x="4090" y="81359"/>
                  </a:lnTo>
                  <a:lnTo>
                    <a:pt x="23133" y="43003"/>
                  </a:lnTo>
                  <a:lnTo>
                    <a:pt x="55079" y="14757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3319551" y="355"/>
                  </a:lnTo>
                  <a:lnTo>
                    <a:pt x="3361472" y="8708"/>
                  </a:lnTo>
                  <a:lnTo>
                    <a:pt x="3397132" y="32534"/>
                  </a:lnTo>
                  <a:lnTo>
                    <a:pt x="3421002" y="68088"/>
                  </a:lnTo>
                  <a:lnTo>
                    <a:pt x="3429355" y="110159"/>
                  </a:lnTo>
                  <a:lnTo>
                    <a:pt x="3429355" y="1463395"/>
                  </a:lnTo>
                  <a:lnTo>
                    <a:pt x="3428415" y="1477820"/>
                  </a:lnTo>
                  <a:lnTo>
                    <a:pt x="3425620" y="1491838"/>
                  </a:lnTo>
                  <a:lnTo>
                    <a:pt x="3406578" y="1530188"/>
                  </a:lnTo>
                  <a:lnTo>
                    <a:pt x="3374631" y="1558429"/>
                  </a:lnTo>
                  <a:lnTo>
                    <a:pt x="3333981" y="1572260"/>
                  </a:lnTo>
                  <a:lnTo>
                    <a:pt x="3319551" y="1573199"/>
                  </a:lnTo>
                  <a:lnTo>
                    <a:pt x="109791" y="1573199"/>
                  </a:lnTo>
                  <a:lnTo>
                    <a:pt x="67882" y="1564841"/>
                  </a:lnTo>
                  <a:lnTo>
                    <a:pt x="32213" y="1541019"/>
                  </a:lnTo>
                  <a:lnTo>
                    <a:pt x="8352" y="1505466"/>
                  </a:lnTo>
                  <a:lnTo>
                    <a:pt x="0" y="1463395"/>
                  </a:lnTo>
                  <a:lnTo>
                    <a:pt x="355" y="109791"/>
                  </a:lnTo>
                  <a:close/>
                </a:path>
              </a:pathLst>
            </a:custGeom>
            <a:ln w="10079">
              <a:solidFill>
                <a:srgbClr val="DBE4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4662716" y="1837436"/>
              <a:ext cx="915035" cy="293370"/>
            </a:xfrm>
            <a:custGeom>
              <a:avLst/>
              <a:gdLst/>
              <a:ahLst/>
              <a:cxnLst/>
              <a:rect l="l" t="t" r="r" b="b"/>
              <a:pathLst>
                <a:path w="915035" h="293369">
                  <a:moveTo>
                    <a:pt x="110159" y="0"/>
                  </a:moveTo>
                  <a:lnTo>
                    <a:pt x="68095" y="8358"/>
                  </a:lnTo>
                  <a:lnTo>
                    <a:pt x="32535" y="32224"/>
                  </a:lnTo>
                  <a:lnTo>
                    <a:pt x="8721" y="67882"/>
                  </a:lnTo>
                  <a:lnTo>
                    <a:pt x="368" y="109804"/>
                  </a:lnTo>
                  <a:lnTo>
                    <a:pt x="0" y="183248"/>
                  </a:lnTo>
                  <a:lnTo>
                    <a:pt x="939" y="197671"/>
                  </a:lnTo>
                  <a:lnTo>
                    <a:pt x="3736" y="211726"/>
                  </a:lnTo>
                  <a:lnTo>
                    <a:pt x="8305" y="225157"/>
                  </a:lnTo>
                  <a:lnTo>
                    <a:pt x="8358" y="225312"/>
                  </a:lnTo>
                  <a:lnTo>
                    <a:pt x="14770" y="238328"/>
                  </a:lnTo>
                  <a:lnTo>
                    <a:pt x="22683" y="250036"/>
                  </a:lnTo>
                  <a:lnTo>
                    <a:pt x="22788" y="250191"/>
                  </a:lnTo>
                  <a:lnTo>
                    <a:pt x="55079" y="278282"/>
                  </a:lnTo>
                  <a:lnTo>
                    <a:pt x="95379" y="292100"/>
                  </a:lnTo>
                  <a:lnTo>
                    <a:pt x="109804" y="293039"/>
                  </a:lnTo>
                  <a:lnTo>
                    <a:pt x="804964" y="293039"/>
                  </a:lnTo>
                  <a:lnTo>
                    <a:pt x="847035" y="284686"/>
                  </a:lnTo>
                  <a:lnTo>
                    <a:pt x="882535" y="260872"/>
                  </a:lnTo>
                  <a:lnTo>
                    <a:pt x="906332" y="225312"/>
                  </a:lnTo>
                  <a:lnTo>
                    <a:pt x="914768" y="183248"/>
                  </a:lnTo>
                  <a:lnTo>
                    <a:pt x="914745" y="109804"/>
                  </a:lnTo>
                  <a:lnTo>
                    <a:pt x="906410" y="68095"/>
                  </a:lnTo>
                  <a:lnTo>
                    <a:pt x="882543" y="32535"/>
                  </a:lnTo>
                  <a:lnTo>
                    <a:pt x="846885" y="8721"/>
                  </a:lnTo>
                  <a:lnTo>
                    <a:pt x="804964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6F7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4662716" y="1837436"/>
              <a:ext cx="915035" cy="293370"/>
            </a:xfrm>
            <a:custGeom>
              <a:avLst/>
              <a:gdLst/>
              <a:ahLst/>
              <a:cxnLst/>
              <a:rect l="l" t="t" r="r" b="b"/>
              <a:pathLst>
                <a:path w="915035" h="293369">
                  <a:moveTo>
                    <a:pt x="368" y="109804"/>
                  </a:moveTo>
                  <a:lnTo>
                    <a:pt x="1307" y="95379"/>
                  </a:lnTo>
                  <a:lnTo>
                    <a:pt x="4103" y="81360"/>
                  </a:lnTo>
                  <a:lnTo>
                    <a:pt x="23138" y="43011"/>
                  </a:lnTo>
                  <a:lnTo>
                    <a:pt x="55079" y="14770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804964" y="368"/>
                  </a:lnTo>
                  <a:lnTo>
                    <a:pt x="846885" y="8721"/>
                  </a:lnTo>
                  <a:lnTo>
                    <a:pt x="882543" y="32535"/>
                  </a:lnTo>
                  <a:lnTo>
                    <a:pt x="906410" y="68095"/>
                  </a:lnTo>
                  <a:lnTo>
                    <a:pt x="914768" y="110159"/>
                  </a:lnTo>
                  <a:lnTo>
                    <a:pt x="914768" y="183248"/>
                  </a:lnTo>
                  <a:lnTo>
                    <a:pt x="913828" y="197665"/>
                  </a:lnTo>
                  <a:lnTo>
                    <a:pt x="911031" y="211680"/>
                  </a:lnTo>
                  <a:lnTo>
                    <a:pt x="891985" y="250036"/>
                  </a:lnTo>
                  <a:lnTo>
                    <a:pt x="860044" y="278282"/>
                  </a:lnTo>
                  <a:lnTo>
                    <a:pt x="819394" y="292100"/>
                  </a:lnTo>
                  <a:lnTo>
                    <a:pt x="804964" y="293039"/>
                  </a:lnTo>
                  <a:lnTo>
                    <a:pt x="109804" y="293039"/>
                  </a:lnTo>
                  <a:lnTo>
                    <a:pt x="67882" y="284686"/>
                  </a:lnTo>
                  <a:lnTo>
                    <a:pt x="32224" y="260872"/>
                  </a:lnTo>
                  <a:lnTo>
                    <a:pt x="8358" y="225312"/>
                  </a:lnTo>
                  <a:lnTo>
                    <a:pt x="0" y="183248"/>
                  </a:lnTo>
                  <a:lnTo>
                    <a:pt x="368" y="109804"/>
                  </a:lnTo>
                  <a:close/>
                </a:path>
              </a:pathLst>
            </a:custGeom>
            <a:ln w="10079">
              <a:solidFill>
                <a:srgbClr val="E6F7F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4650384" y="1890623"/>
            <a:ext cx="2704465" cy="1047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1755775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0C9387"/>
                </a:solidFill>
                <a:latin typeface="Arial Black"/>
                <a:cs typeface="Arial Black"/>
              </a:rPr>
              <a:t>SCALE</a:t>
            </a:r>
            <a:endParaRPr sz="1000">
              <a:latin typeface="Arial Black"/>
              <a:cs typeface="Arial Black"/>
            </a:endParaRPr>
          </a:p>
          <a:p>
            <a:pPr algn="ctr" marR="1753870">
              <a:lnSpc>
                <a:spcPct val="100000"/>
              </a:lnSpc>
              <a:spcBef>
                <a:spcPts val="1350"/>
              </a:spcBef>
            </a:pPr>
            <a:r>
              <a:rPr dirty="0" sz="1600" spc="-95">
                <a:solidFill>
                  <a:srgbClr val="0F2339"/>
                </a:solidFill>
                <a:latin typeface="Arial Black"/>
                <a:cs typeface="Arial Black"/>
              </a:rPr>
              <a:t>Elasticity</a:t>
            </a:r>
            <a:endParaRPr sz="160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  <a:spcBef>
                <a:spcPts val="700"/>
              </a:spcBef>
            </a:pPr>
            <a:r>
              <a:rPr dirty="0" sz="1200">
                <a:solidFill>
                  <a:srgbClr val="556478"/>
                </a:solidFill>
                <a:latin typeface="Noto Sans"/>
                <a:cs typeface="Noto Sans"/>
              </a:rPr>
              <a:t>Scale</a:t>
            </a:r>
            <a:r>
              <a:rPr dirty="0" sz="120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00">
                <a:solidFill>
                  <a:srgbClr val="556478"/>
                </a:solidFill>
                <a:latin typeface="Noto Sans"/>
                <a:cs typeface="Noto Sans"/>
              </a:rPr>
              <a:t>capacity</a:t>
            </a:r>
            <a:r>
              <a:rPr dirty="0" sz="120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00">
                <a:solidFill>
                  <a:srgbClr val="556478"/>
                </a:solidFill>
                <a:latin typeface="Noto Sans"/>
                <a:cs typeface="Noto Sans"/>
              </a:rPr>
              <a:t>up</a:t>
            </a:r>
            <a:r>
              <a:rPr dirty="0" sz="1200" spc="-2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00">
                <a:solidFill>
                  <a:srgbClr val="556478"/>
                </a:solidFill>
                <a:latin typeface="Noto Sans"/>
                <a:cs typeface="Noto Sans"/>
              </a:rPr>
              <a:t>or</a:t>
            </a:r>
            <a:r>
              <a:rPr dirty="0" sz="120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00">
                <a:solidFill>
                  <a:srgbClr val="556478"/>
                </a:solidFill>
                <a:latin typeface="Noto Sans"/>
                <a:cs typeface="Noto Sans"/>
              </a:rPr>
              <a:t>down</a:t>
            </a:r>
            <a:r>
              <a:rPr dirty="0" sz="120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00">
                <a:solidFill>
                  <a:srgbClr val="556478"/>
                </a:solidFill>
                <a:latin typeface="Noto Sans"/>
                <a:cs typeface="Noto Sans"/>
              </a:rPr>
              <a:t>as</a:t>
            </a:r>
            <a:r>
              <a:rPr dirty="0" sz="1200" spc="-2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00" spc="-10">
                <a:solidFill>
                  <a:srgbClr val="556478"/>
                </a:solidFill>
                <a:latin typeface="Noto Sans"/>
                <a:cs typeface="Noto Sans"/>
              </a:rPr>
              <a:t>demand changes.</a:t>
            </a:r>
            <a:endParaRPr sz="1200">
              <a:latin typeface="Noto Sans"/>
              <a:cs typeface="Noto Sans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8269924" y="1686244"/>
            <a:ext cx="3439795" cy="1583690"/>
            <a:chOff x="8269924" y="1686244"/>
            <a:chExt cx="3439795" cy="1583690"/>
          </a:xfrm>
        </p:grpSpPr>
        <p:sp>
          <p:nvSpPr>
            <p:cNvPr id="19" name="object 19"/>
            <p:cNvSpPr/>
            <p:nvPr/>
          </p:nvSpPr>
          <p:spPr>
            <a:xfrm>
              <a:off x="8274964" y="1691284"/>
              <a:ext cx="3429635" cy="1573530"/>
            </a:xfrm>
            <a:custGeom>
              <a:avLst/>
              <a:gdLst/>
              <a:ahLst/>
              <a:cxnLst/>
              <a:rect l="l" t="t" r="r" b="b"/>
              <a:pathLst>
                <a:path w="3429634" h="1573529">
                  <a:moveTo>
                    <a:pt x="110159" y="0"/>
                  </a:moveTo>
                  <a:lnTo>
                    <a:pt x="68088" y="8352"/>
                  </a:lnTo>
                  <a:lnTo>
                    <a:pt x="32534" y="32213"/>
                  </a:lnTo>
                  <a:lnTo>
                    <a:pt x="8708" y="67882"/>
                  </a:lnTo>
                  <a:lnTo>
                    <a:pt x="355" y="109791"/>
                  </a:lnTo>
                  <a:lnTo>
                    <a:pt x="0" y="1463395"/>
                  </a:lnTo>
                  <a:lnTo>
                    <a:pt x="939" y="1477825"/>
                  </a:lnTo>
                  <a:lnTo>
                    <a:pt x="14757" y="1518475"/>
                  </a:lnTo>
                  <a:lnTo>
                    <a:pt x="22674" y="1530188"/>
                  </a:lnTo>
                  <a:lnTo>
                    <a:pt x="22775" y="1530338"/>
                  </a:lnTo>
                  <a:lnTo>
                    <a:pt x="55079" y="1558429"/>
                  </a:lnTo>
                  <a:lnTo>
                    <a:pt x="95374" y="1572260"/>
                  </a:lnTo>
                  <a:lnTo>
                    <a:pt x="109791" y="1573199"/>
                  </a:lnTo>
                  <a:lnTo>
                    <a:pt x="3319551" y="1573199"/>
                  </a:lnTo>
                  <a:lnTo>
                    <a:pt x="3361622" y="1564841"/>
                  </a:lnTo>
                  <a:lnTo>
                    <a:pt x="3397126" y="1541019"/>
                  </a:lnTo>
                  <a:lnTo>
                    <a:pt x="3420927" y="1505466"/>
                  </a:lnTo>
                  <a:lnTo>
                    <a:pt x="3429355" y="1463395"/>
                  </a:lnTo>
                  <a:lnTo>
                    <a:pt x="3429331" y="109791"/>
                  </a:lnTo>
                  <a:lnTo>
                    <a:pt x="3421002" y="68088"/>
                  </a:lnTo>
                  <a:lnTo>
                    <a:pt x="3397132" y="32534"/>
                  </a:lnTo>
                  <a:lnTo>
                    <a:pt x="3361472" y="8708"/>
                  </a:lnTo>
                  <a:lnTo>
                    <a:pt x="3319551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8274964" y="1691284"/>
              <a:ext cx="3429635" cy="1573530"/>
            </a:xfrm>
            <a:custGeom>
              <a:avLst/>
              <a:gdLst/>
              <a:ahLst/>
              <a:cxnLst/>
              <a:rect l="l" t="t" r="r" b="b"/>
              <a:pathLst>
                <a:path w="3429634" h="1573529">
                  <a:moveTo>
                    <a:pt x="355" y="109791"/>
                  </a:moveTo>
                  <a:lnTo>
                    <a:pt x="1295" y="95374"/>
                  </a:lnTo>
                  <a:lnTo>
                    <a:pt x="4090" y="81359"/>
                  </a:lnTo>
                  <a:lnTo>
                    <a:pt x="23133" y="43003"/>
                  </a:lnTo>
                  <a:lnTo>
                    <a:pt x="55079" y="14757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3319551" y="355"/>
                  </a:lnTo>
                  <a:lnTo>
                    <a:pt x="3361472" y="8708"/>
                  </a:lnTo>
                  <a:lnTo>
                    <a:pt x="3397132" y="32534"/>
                  </a:lnTo>
                  <a:lnTo>
                    <a:pt x="3421002" y="68088"/>
                  </a:lnTo>
                  <a:lnTo>
                    <a:pt x="3429355" y="110159"/>
                  </a:lnTo>
                  <a:lnTo>
                    <a:pt x="3429355" y="1463395"/>
                  </a:lnTo>
                  <a:lnTo>
                    <a:pt x="3428415" y="1477820"/>
                  </a:lnTo>
                  <a:lnTo>
                    <a:pt x="3425620" y="1491838"/>
                  </a:lnTo>
                  <a:lnTo>
                    <a:pt x="3406578" y="1530188"/>
                  </a:lnTo>
                  <a:lnTo>
                    <a:pt x="3374631" y="1558429"/>
                  </a:lnTo>
                  <a:lnTo>
                    <a:pt x="3333981" y="1572260"/>
                  </a:lnTo>
                  <a:lnTo>
                    <a:pt x="3319551" y="1573199"/>
                  </a:lnTo>
                  <a:lnTo>
                    <a:pt x="109791" y="1573199"/>
                  </a:lnTo>
                  <a:lnTo>
                    <a:pt x="67882" y="1564841"/>
                  </a:lnTo>
                  <a:lnTo>
                    <a:pt x="32213" y="1541019"/>
                  </a:lnTo>
                  <a:lnTo>
                    <a:pt x="8352" y="1505466"/>
                  </a:lnTo>
                  <a:lnTo>
                    <a:pt x="0" y="1463395"/>
                  </a:lnTo>
                  <a:lnTo>
                    <a:pt x="355" y="109791"/>
                  </a:lnTo>
                  <a:close/>
                </a:path>
              </a:pathLst>
            </a:custGeom>
            <a:ln w="10079">
              <a:solidFill>
                <a:srgbClr val="DBE4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8457476" y="1837436"/>
              <a:ext cx="915035" cy="293370"/>
            </a:xfrm>
            <a:custGeom>
              <a:avLst/>
              <a:gdLst/>
              <a:ahLst/>
              <a:cxnLst/>
              <a:rect l="l" t="t" r="r" b="b"/>
              <a:pathLst>
                <a:path w="915034" h="293369">
                  <a:moveTo>
                    <a:pt x="110159" y="0"/>
                  </a:moveTo>
                  <a:lnTo>
                    <a:pt x="68095" y="8358"/>
                  </a:lnTo>
                  <a:lnTo>
                    <a:pt x="32535" y="32224"/>
                  </a:lnTo>
                  <a:lnTo>
                    <a:pt x="8721" y="67882"/>
                  </a:lnTo>
                  <a:lnTo>
                    <a:pt x="368" y="109804"/>
                  </a:lnTo>
                  <a:lnTo>
                    <a:pt x="0" y="183248"/>
                  </a:lnTo>
                  <a:lnTo>
                    <a:pt x="939" y="197671"/>
                  </a:lnTo>
                  <a:lnTo>
                    <a:pt x="14770" y="238328"/>
                  </a:lnTo>
                  <a:lnTo>
                    <a:pt x="22683" y="250036"/>
                  </a:lnTo>
                  <a:lnTo>
                    <a:pt x="22788" y="250191"/>
                  </a:lnTo>
                  <a:lnTo>
                    <a:pt x="55079" y="278282"/>
                  </a:lnTo>
                  <a:lnTo>
                    <a:pt x="95379" y="292100"/>
                  </a:lnTo>
                  <a:lnTo>
                    <a:pt x="109804" y="293039"/>
                  </a:lnTo>
                  <a:lnTo>
                    <a:pt x="804964" y="293039"/>
                  </a:lnTo>
                  <a:lnTo>
                    <a:pt x="847035" y="284686"/>
                  </a:lnTo>
                  <a:lnTo>
                    <a:pt x="882535" y="260872"/>
                  </a:lnTo>
                  <a:lnTo>
                    <a:pt x="906332" y="225312"/>
                  </a:lnTo>
                  <a:lnTo>
                    <a:pt x="914768" y="183248"/>
                  </a:lnTo>
                  <a:lnTo>
                    <a:pt x="914745" y="109804"/>
                  </a:lnTo>
                  <a:lnTo>
                    <a:pt x="906410" y="68095"/>
                  </a:lnTo>
                  <a:lnTo>
                    <a:pt x="882543" y="32535"/>
                  </a:lnTo>
                  <a:lnTo>
                    <a:pt x="846885" y="8721"/>
                  </a:lnTo>
                  <a:lnTo>
                    <a:pt x="804964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0EB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8457476" y="1837436"/>
              <a:ext cx="915035" cy="293370"/>
            </a:xfrm>
            <a:custGeom>
              <a:avLst/>
              <a:gdLst/>
              <a:ahLst/>
              <a:cxnLst/>
              <a:rect l="l" t="t" r="r" b="b"/>
              <a:pathLst>
                <a:path w="915034" h="293369">
                  <a:moveTo>
                    <a:pt x="368" y="109804"/>
                  </a:moveTo>
                  <a:lnTo>
                    <a:pt x="1307" y="95379"/>
                  </a:lnTo>
                  <a:lnTo>
                    <a:pt x="4103" y="81360"/>
                  </a:lnTo>
                  <a:lnTo>
                    <a:pt x="23138" y="43011"/>
                  </a:lnTo>
                  <a:lnTo>
                    <a:pt x="55079" y="14770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804964" y="368"/>
                  </a:lnTo>
                  <a:lnTo>
                    <a:pt x="846885" y="8721"/>
                  </a:lnTo>
                  <a:lnTo>
                    <a:pt x="882543" y="32535"/>
                  </a:lnTo>
                  <a:lnTo>
                    <a:pt x="906410" y="68095"/>
                  </a:lnTo>
                  <a:lnTo>
                    <a:pt x="914768" y="110159"/>
                  </a:lnTo>
                  <a:lnTo>
                    <a:pt x="914768" y="183248"/>
                  </a:lnTo>
                  <a:lnTo>
                    <a:pt x="913828" y="197665"/>
                  </a:lnTo>
                  <a:lnTo>
                    <a:pt x="911031" y="211680"/>
                  </a:lnTo>
                  <a:lnTo>
                    <a:pt x="891985" y="250036"/>
                  </a:lnTo>
                  <a:lnTo>
                    <a:pt x="860044" y="278282"/>
                  </a:lnTo>
                  <a:lnTo>
                    <a:pt x="819394" y="292100"/>
                  </a:lnTo>
                  <a:lnTo>
                    <a:pt x="804964" y="293039"/>
                  </a:lnTo>
                  <a:lnTo>
                    <a:pt x="109804" y="293039"/>
                  </a:lnTo>
                  <a:lnTo>
                    <a:pt x="67882" y="284686"/>
                  </a:lnTo>
                  <a:lnTo>
                    <a:pt x="32224" y="260872"/>
                  </a:lnTo>
                  <a:lnTo>
                    <a:pt x="8358" y="225312"/>
                  </a:lnTo>
                  <a:lnTo>
                    <a:pt x="0" y="183248"/>
                  </a:lnTo>
                  <a:lnTo>
                    <a:pt x="368" y="109804"/>
                  </a:lnTo>
                  <a:close/>
                </a:path>
              </a:pathLst>
            </a:custGeom>
            <a:ln w="10079">
              <a:solidFill>
                <a:srgbClr val="F0EBF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8445144" y="1890623"/>
            <a:ext cx="2952750" cy="1047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1717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5A399D"/>
                </a:solidFill>
                <a:latin typeface="Arial Black"/>
                <a:cs typeface="Arial Black"/>
              </a:rPr>
              <a:t>GLOBAL</a:t>
            </a:r>
            <a:endParaRPr sz="10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1350"/>
              </a:spcBef>
            </a:pPr>
            <a:r>
              <a:rPr dirty="0" sz="1600" spc="-95">
                <a:solidFill>
                  <a:srgbClr val="0F2339"/>
                </a:solidFill>
                <a:latin typeface="Arial Black"/>
                <a:cs typeface="Arial Black"/>
              </a:rPr>
              <a:t>Global</a:t>
            </a:r>
            <a:r>
              <a:rPr dirty="0" sz="1600" spc="-10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600" spc="-10">
                <a:solidFill>
                  <a:srgbClr val="0F2339"/>
                </a:solidFill>
                <a:latin typeface="Arial Black"/>
                <a:cs typeface="Arial Black"/>
              </a:rPr>
              <a:t>reach</a:t>
            </a:r>
            <a:endParaRPr sz="160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  <a:spcBef>
                <a:spcPts val="700"/>
              </a:spcBef>
            </a:pPr>
            <a:r>
              <a:rPr dirty="0" sz="1200">
                <a:solidFill>
                  <a:srgbClr val="556478"/>
                </a:solidFill>
                <a:latin typeface="Noto Sans"/>
                <a:cs typeface="Noto Sans"/>
              </a:rPr>
              <a:t>Deploy</a:t>
            </a:r>
            <a:r>
              <a:rPr dirty="0" sz="120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00">
                <a:solidFill>
                  <a:srgbClr val="556478"/>
                </a:solidFill>
                <a:latin typeface="Noto Sans"/>
                <a:cs typeface="Noto Sans"/>
              </a:rPr>
              <a:t>closer</a:t>
            </a:r>
            <a:r>
              <a:rPr dirty="0" sz="120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00">
                <a:solidFill>
                  <a:srgbClr val="556478"/>
                </a:solidFill>
                <a:latin typeface="Noto Sans"/>
                <a:cs typeface="Noto Sans"/>
              </a:rPr>
              <a:t>to</a:t>
            </a:r>
            <a:r>
              <a:rPr dirty="0" sz="1200" spc="-2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00">
                <a:solidFill>
                  <a:srgbClr val="556478"/>
                </a:solidFill>
                <a:latin typeface="Noto Sans"/>
                <a:cs typeface="Noto Sans"/>
              </a:rPr>
              <a:t>users</a:t>
            </a:r>
            <a:r>
              <a:rPr dirty="0" sz="120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00">
                <a:solidFill>
                  <a:srgbClr val="556478"/>
                </a:solidFill>
                <a:latin typeface="Noto Sans"/>
                <a:cs typeface="Noto Sans"/>
              </a:rPr>
              <a:t>and</a:t>
            </a:r>
            <a:r>
              <a:rPr dirty="0" sz="1200" spc="-2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00">
                <a:solidFill>
                  <a:srgbClr val="556478"/>
                </a:solidFill>
                <a:latin typeface="Noto Sans"/>
                <a:cs typeface="Noto Sans"/>
              </a:rPr>
              <a:t>meet</a:t>
            </a:r>
            <a:r>
              <a:rPr dirty="0" sz="1200" spc="-2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00" spc="-10">
                <a:solidFill>
                  <a:srgbClr val="556478"/>
                </a:solidFill>
                <a:latin typeface="Noto Sans"/>
                <a:cs typeface="Noto Sans"/>
              </a:rPr>
              <a:t>regional requirements.</a:t>
            </a:r>
            <a:endParaRPr sz="1200">
              <a:latin typeface="Noto Sans"/>
              <a:cs typeface="Noto Sans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680404" y="3606484"/>
            <a:ext cx="3439795" cy="1583690"/>
            <a:chOff x="680404" y="3606484"/>
            <a:chExt cx="3439795" cy="1583690"/>
          </a:xfrm>
        </p:grpSpPr>
        <p:sp>
          <p:nvSpPr>
            <p:cNvPr id="25" name="object 25"/>
            <p:cNvSpPr/>
            <p:nvPr/>
          </p:nvSpPr>
          <p:spPr>
            <a:xfrm>
              <a:off x="685444" y="3611524"/>
              <a:ext cx="3429635" cy="1573530"/>
            </a:xfrm>
            <a:custGeom>
              <a:avLst/>
              <a:gdLst/>
              <a:ahLst/>
              <a:cxnLst/>
              <a:rect l="l" t="t" r="r" b="b"/>
              <a:pathLst>
                <a:path w="3429635" h="1573529">
                  <a:moveTo>
                    <a:pt x="110159" y="0"/>
                  </a:moveTo>
                  <a:lnTo>
                    <a:pt x="68088" y="8352"/>
                  </a:lnTo>
                  <a:lnTo>
                    <a:pt x="32534" y="32213"/>
                  </a:lnTo>
                  <a:lnTo>
                    <a:pt x="8708" y="67882"/>
                  </a:lnTo>
                  <a:lnTo>
                    <a:pt x="355" y="109791"/>
                  </a:lnTo>
                  <a:lnTo>
                    <a:pt x="0" y="1463395"/>
                  </a:lnTo>
                  <a:lnTo>
                    <a:pt x="939" y="1477825"/>
                  </a:lnTo>
                  <a:lnTo>
                    <a:pt x="14757" y="1518475"/>
                  </a:lnTo>
                  <a:lnTo>
                    <a:pt x="22674" y="1530188"/>
                  </a:lnTo>
                  <a:lnTo>
                    <a:pt x="22775" y="1530338"/>
                  </a:lnTo>
                  <a:lnTo>
                    <a:pt x="55079" y="1558429"/>
                  </a:lnTo>
                  <a:lnTo>
                    <a:pt x="95374" y="1572259"/>
                  </a:lnTo>
                  <a:lnTo>
                    <a:pt x="109791" y="1573199"/>
                  </a:lnTo>
                  <a:lnTo>
                    <a:pt x="3319551" y="1573199"/>
                  </a:lnTo>
                  <a:lnTo>
                    <a:pt x="3361622" y="1564841"/>
                  </a:lnTo>
                  <a:lnTo>
                    <a:pt x="3397126" y="1541019"/>
                  </a:lnTo>
                  <a:lnTo>
                    <a:pt x="3420927" y="1505466"/>
                  </a:lnTo>
                  <a:lnTo>
                    <a:pt x="3421002" y="1505316"/>
                  </a:lnTo>
                  <a:lnTo>
                    <a:pt x="3425604" y="1491883"/>
                  </a:lnTo>
                  <a:lnTo>
                    <a:pt x="3428414" y="1477825"/>
                  </a:lnTo>
                  <a:lnTo>
                    <a:pt x="3429355" y="1463395"/>
                  </a:lnTo>
                  <a:lnTo>
                    <a:pt x="3429331" y="109791"/>
                  </a:lnTo>
                  <a:lnTo>
                    <a:pt x="3421002" y="68088"/>
                  </a:lnTo>
                  <a:lnTo>
                    <a:pt x="3397132" y="32534"/>
                  </a:lnTo>
                  <a:lnTo>
                    <a:pt x="3361472" y="8708"/>
                  </a:lnTo>
                  <a:lnTo>
                    <a:pt x="3319551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685444" y="3611524"/>
              <a:ext cx="3429635" cy="1573530"/>
            </a:xfrm>
            <a:custGeom>
              <a:avLst/>
              <a:gdLst/>
              <a:ahLst/>
              <a:cxnLst/>
              <a:rect l="l" t="t" r="r" b="b"/>
              <a:pathLst>
                <a:path w="3429635" h="1573529">
                  <a:moveTo>
                    <a:pt x="355" y="109791"/>
                  </a:moveTo>
                  <a:lnTo>
                    <a:pt x="1295" y="95374"/>
                  </a:lnTo>
                  <a:lnTo>
                    <a:pt x="4090" y="81359"/>
                  </a:lnTo>
                  <a:lnTo>
                    <a:pt x="23133" y="43003"/>
                  </a:lnTo>
                  <a:lnTo>
                    <a:pt x="55079" y="14757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3319551" y="355"/>
                  </a:lnTo>
                  <a:lnTo>
                    <a:pt x="3361472" y="8708"/>
                  </a:lnTo>
                  <a:lnTo>
                    <a:pt x="3397132" y="32534"/>
                  </a:lnTo>
                  <a:lnTo>
                    <a:pt x="3421002" y="68088"/>
                  </a:lnTo>
                  <a:lnTo>
                    <a:pt x="3429355" y="110159"/>
                  </a:lnTo>
                  <a:lnTo>
                    <a:pt x="3429355" y="1463395"/>
                  </a:lnTo>
                  <a:lnTo>
                    <a:pt x="3428415" y="1477820"/>
                  </a:lnTo>
                  <a:lnTo>
                    <a:pt x="3425620" y="1491838"/>
                  </a:lnTo>
                  <a:lnTo>
                    <a:pt x="3406578" y="1530188"/>
                  </a:lnTo>
                  <a:lnTo>
                    <a:pt x="3374631" y="1558429"/>
                  </a:lnTo>
                  <a:lnTo>
                    <a:pt x="3333981" y="1572259"/>
                  </a:lnTo>
                  <a:lnTo>
                    <a:pt x="3319551" y="1573199"/>
                  </a:lnTo>
                  <a:lnTo>
                    <a:pt x="109791" y="1573199"/>
                  </a:lnTo>
                  <a:lnTo>
                    <a:pt x="67882" y="1564841"/>
                  </a:lnTo>
                  <a:lnTo>
                    <a:pt x="32213" y="1541019"/>
                  </a:lnTo>
                  <a:lnTo>
                    <a:pt x="8352" y="1505466"/>
                  </a:lnTo>
                  <a:lnTo>
                    <a:pt x="0" y="1463395"/>
                  </a:lnTo>
                  <a:lnTo>
                    <a:pt x="355" y="109791"/>
                  </a:lnTo>
                  <a:close/>
                </a:path>
              </a:pathLst>
            </a:custGeom>
            <a:ln w="10079">
              <a:solidFill>
                <a:srgbClr val="DBE4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867956" y="3757675"/>
              <a:ext cx="915035" cy="293370"/>
            </a:xfrm>
            <a:custGeom>
              <a:avLst/>
              <a:gdLst/>
              <a:ahLst/>
              <a:cxnLst/>
              <a:rect l="l" t="t" r="r" b="b"/>
              <a:pathLst>
                <a:path w="915035" h="293370">
                  <a:moveTo>
                    <a:pt x="110159" y="0"/>
                  </a:moveTo>
                  <a:lnTo>
                    <a:pt x="68095" y="8358"/>
                  </a:lnTo>
                  <a:lnTo>
                    <a:pt x="32535" y="32224"/>
                  </a:lnTo>
                  <a:lnTo>
                    <a:pt x="8721" y="67882"/>
                  </a:lnTo>
                  <a:lnTo>
                    <a:pt x="368" y="109804"/>
                  </a:lnTo>
                  <a:lnTo>
                    <a:pt x="0" y="183248"/>
                  </a:lnTo>
                  <a:lnTo>
                    <a:pt x="939" y="197671"/>
                  </a:lnTo>
                  <a:lnTo>
                    <a:pt x="14770" y="238328"/>
                  </a:lnTo>
                  <a:lnTo>
                    <a:pt x="22683" y="250036"/>
                  </a:lnTo>
                  <a:lnTo>
                    <a:pt x="22788" y="250191"/>
                  </a:lnTo>
                  <a:lnTo>
                    <a:pt x="55079" y="278282"/>
                  </a:lnTo>
                  <a:lnTo>
                    <a:pt x="95379" y="292100"/>
                  </a:lnTo>
                  <a:lnTo>
                    <a:pt x="109804" y="293039"/>
                  </a:lnTo>
                  <a:lnTo>
                    <a:pt x="804964" y="293039"/>
                  </a:lnTo>
                  <a:lnTo>
                    <a:pt x="847035" y="284686"/>
                  </a:lnTo>
                  <a:lnTo>
                    <a:pt x="882535" y="260872"/>
                  </a:lnTo>
                  <a:lnTo>
                    <a:pt x="906332" y="225312"/>
                  </a:lnTo>
                  <a:lnTo>
                    <a:pt x="906410" y="225157"/>
                  </a:lnTo>
                  <a:lnTo>
                    <a:pt x="911015" y="211726"/>
                  </a:lnTo>
                  <a:lnTo>
                    <a:pt x="913827" y="197671"/>
                  </a:lnTo>
                  <a:lnTo>
                    <a:pt x="914768" y="183248"/>
                  </a:lnTo>
                  <a:lnTo>
                    <a:pt x="914745" y="109804"/>
                  </a:lnTo>
                  <a:lnTo>
                    <a:pt x="906410" y="68095"/>
                  </a:lnTo>
                  <a:lnTo>
                    <a:pt x="882543" y="32535"/>
                  </a:lnTo>
                  <a:lnTo>
                    <a:pt x="846885" y="8721"/>
                  </a:lnTo>
                  <a:lnTo>
                    <a:pt x="804964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FF4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867956" y="3757675"/>
              <a:ext cx="915035" cy="293370"/>
            </a:xfrm>
            <a:custGeom>
              <a:avLst/>
              <a:gdLst/>
              <a:ahLst/>
              <a:cxnLst/>
              <a:rect l="l" t="t" r="r" b="b"/>
              <a:pathLst>
                <a:path w="915035" h="293370">
                  <a:moveTo>
                    <a:pt x="368" y="109804"/>
                  </a:moveTo>
                  <a:lnTo>
                    <a:pt x="1307" y="95379"/>
                  </a:lnTo>
                  <a:lnTo>
                    <a:pt x="4103" y="81360"/>
                  </a:lnTo>
                  <a:lnTo>
                    <a:pt x="23138" y="43011"/>
                  </a:lnTo>
                  <a:lnTo>
                    <a:pt x="55079" y="14770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804964" y="368"/>
                  </a:lnTo>
                  <a:lnTo>
                    <a:pt x="846885" y="8721"/>
                  </a:lnTo>
                  <a:lnTo>
                    <a:pt x="882543" y="32535"/>
                  </a:lnTo>
                  <a:lnTo>
                    <a:pt x="906410" y="68095"/>
                  </a:lnTo>
                  <a:lnTo>
                    <a:pt x="914768" y="110159"/>
                  </a:lnTo>
                  <a:lnTo>
                    <a:pt x="914768" y="183248"/>
                  </a:lnTo>
                  <a:lnTo>
                    <a:pt x="913828" y="197665"/>
                  </a:lnTo>
                  <a:lnTo>
                    <a:pt x="911031" y="211680"/>
                  </a:lnTo>
                  <a:lnTo>
                    <a:pt x="891985" y="250036"/>
                  </a:lnTo>
                  <a:lnTo>
                    <a:pt x="860043" y="278282"/>
                  </a:lnTo>
                  <a:lnTo>
                    <a:pt x="819394" y="292100"/>
                  </a:lnTo>
                  <a:lnTo>
                    <a:pt x="804964" y="293039"/>
                  </a:lnTo>
                  <a:lnTo>
                    <a:pt x="109804" y="293039"/>
                  </a:lnTo>
                  <a:lnTo>
                    <a:pt x="67882" y="284686"/>
                  </a:lnTo>
                  <a:lnTo>
                    <a:pt x="32224" y="260872"/>
                  </a:lnTo>
                  <a:lnTo>
                    <a:pt x="8358" y="225312"/>
                  </a:lnTo>
                  <a:lnTo>
                    <a:pt x="0" y="183248"/>
                  </a:lnTo>
                  <a:lnTo>
                    <a:pt x="368" y="109804"/>
                  </a:lnTo>
                  <a:close/>
                </a:path>
              </a:pathLst>
            </a:custGeom>
            <a:ln w="10079">
              <a:solidFill>
                <a:srgbClr val="FFF4D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1151902" y="3810863"/>
            <a:ext cx="34798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25">
                <a:solidFill>
                  <a:srgbClr val="F49D0A"/>
                </a:solidFill>
                <a:latin typeface="Arial Black"/>
                <a:cs typeface="Arial Black"/>
              </a:rPr>
              <a:t>COST</a:t>
            </a:r>
            <a:endParaRPr sz="1000">
              <a:latin typeface="Arial Black"/>
              <a:cs typeface="Arial Black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55624" y="4017058"/>
            <a:ext cx="2623820" cy="842010"/>
          </a:xfrm>
          <a:prstGeom prst="rect">
            <a:avLst/>
          </a:prstGeom>
        </p:spPr>
        <p:txBody>
          <a:bodyPr wrap="square" lIns="0" tIns="130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30"/>
              </a:spcBef>
            </a:pPr>
            <a:r>
              <a:rPr dirty="0" sz="1600" spc="-95">
                <a:solidFill>
                  <a:srgbClr val="0F2339"/>
                </a:solidFill>
                <a:latin typeface="Arial Black"/>
                <a:cs typeface="Arial Black"/>
              </a:rPr>
              <a:t>Measured</a:t>
            </a:r>
            <a:r>
              <a:rPr dirty="0" sz="1600" spc="-7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600" spc="-10">
                <a:solidFill>
                  <a:srgbClr val="0F2339"/>
                </a:solidFill>
                <a:latin typeface="Arial Black"/>
                <a:cs typeface="Arial Black"/>
              </a:rPr>
              <a:t>spend</a:t>
            </a:r>
            <a:endParaRPr sz="160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  <a:spcBef>
                <a:spcPts val="695"/>
              </a:spcBef>
            </a:pPr>
            <a:r>
              <a:rPr dirty="0" sz="1200">
                <a:solidFill>
                  <a:srgbClr val="556478"/>
                </a:solidFill>
                <a:latin typeface="Noto Sans"/>
                <a:cs typeface="Noto Sans"/>
              </a:rPr>
              <a:t>Pay</a:t>
            </a:r>
            <a:r>
              <a:rPr dirty="0" sz="120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00">
                <a:solidFill>
                  <a:srgbClr val="556478"/>
                </a:solidFill>
                <a:latin typeface="Noto Sans"/>
                <a:cs typeface="Noto Sans"/>
              </a:rPr>
              <a:t>for</a:t>
            </a:r>
            <a:r>
              <a:rPr dirty="0" sz="1200" spc="-2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00">
                <a:solidFill>
                  <a:srgbClr val="556478"/>
                </a:solidFill>
                <a:latin typeface="Noto Sans"/>
                <a:cs typeface="Noto Sans"/>
              </a:rPr>
              <a:t>metered</a:t>
            </a:r>
            <a:r>
              <a:rPr dirty="0" sz="120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00" spc="-10">
                <a:solidFill>
                  <a:srgbClr val="556478"/>
                </a:solidFill>
                <a:latin typeface="Noto Sans"/>
                <a:cs typeface="Noto Sans"/>
              </a:rPr>
              <a:t>resources;</a:t>
            </a:r>
            <a:r>
              <a:rPr dirty="0" sz="1200" spc="-2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00">
                <a:solidFill>
                  <a:srgbClr val="556478"/>
                </a:solidFill>
                <a:latin typeface="Noto Sans"/>
                <a:cs typeface="Noto Sans"/>
              </a:rPr>
              <a:t>idle</a:t>
            </a:r>
            <a:r>
              <a:rPr dirty="0" sz="120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00" spc="-25">
                <a:solidFill>
                  <a:srgbClr val="556478"/>
                </a:solidFill>
                <a:latin typeface="Noto Sans"/>
                <a:cs typeface="Noto Sans"/>
              </a:rPr>
              <a:t>or </a:t>
            </a:r>
            <a:r>
              <a:rPr dirty="0" sz="1200">
                <a:solidFill>
                  <a:srgbClr val="556478"/>
                </a:solidFill>
                <a:latin typeface="Noto Sans"/>
                <a:cs typeface="Noto Sans"/>
              </a:rPr>
              <a:t>forgotten</a:t>
            </a:r>
            <a:r>
              <a:rPr dirty="0" sz="12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00" spc="-10">
                <a:solidFill>
                  <a:srgbClr val="556478"/>
                </a:solidFill>
                <a:latin typeface="Noto Sans"/>
                <a:cs typeface="Noto Sans"/>
              </a:rPr>
              <a:t>resources</a:t>
            </a:r>
            <a:r>
              <a:rPr dirty="0" sz="120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00">
                <a:solidFill>
                  <a:srgbClr val="556478"/>
                </a:solidFill>
                <a:latin typeface="Noto Sans"/>
                <a:cs typeface="Noto Sans"/>
              </a:rPr>
              <a:t>still</a:t>
            </a:r>
            <a:r>
              <a:rPr dirty="0" sz="120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00">
                <a:solidFill>
                  <a:srgbClr val="556478"/>
                </a:solidFill>
                <a:latin typeface="Noto Sans"/>
                <a:cs typeface="Noto Sans"/>
              </a:rPr>
              <a:t>cost</a:t>
            </a:r>
            <a:r>
              <a:rPr dirty="0" sz="12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00" spc="-10">
                <a:solidFill>
                  <a:srgbClr val="556478"/>
                </a:solidFill>
                <a:latin typeface="Noto Sans"/>
                <a:cs typeface="Noto Sans"/>
              </a:rPr>
              <a:t>money.</a:t>
            </a:r>
            <a:endParaRPr sz="1200">
              <a:latin typeface="Noto Sans"/>
              <a:cs typeface="Noto Sans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4475164" y="3606484"/>
            <a:ext cx="3439795" cy="1583690"/>
            <a:chOff x="4475164" y="3606484"/>
            <a:chExt cx="3439795" cy="1583690"/>
          </a:xfrm>
        </p:grpSpPr>
        <p:sp>
          <p:nvSpPr>
            <p:cNvPr id="32" name="object 32"/>
            <p:cNvSpPr/>
            <p:nvPr/>
          </p:nvSpPr>
          <p:spPr>
            <a:xfrm>
              <a:off x="4480204" y="3611524"/>
              <a:ext cx="3429635" cy="1573530"/>
            </a:xfrm>
            <a:custGeom>
              <a:avLst/>
              <a:gdLst/>
              <a:ahLst/>
              <a:cxnLst/>
              <a:rect l="l" t="t" r="r" b="b"/>
              <a:pathLst>
                <a:path w="3429634" h="1573529">
                  <a:moveTo>
                    <a:pt x="110159" y="0"/>
                  </a:moveTo>
                  <a:lnTo>
                    <a:pt x="68088" y="8352"/>
                  </a:lnTo>
                  <a:lnTo>
                    <a:pt x="32534" y="32213"/>
                  </a:lnTo>
                  <a:lnTo>
                    <a:pt x="8708" y="67882"/>
                  </a:lnTo>
                  <a:lnTo>
                    <a:pt x="355" y="109791"/>
                  </a:lnTo>
                  <a:lnTo>
                    <a:pt x="0" y="1463395"/>
                  </a:lnTo>
                  <a:lnTo>
                    <a:pt x="939" y="1477825"/>
                  </a:lnTo>
                  <a:lnTo>
                    <a:pt x="14757" y="1518475"/>
                  </a:lnTo>
                  <a:lnTo>
                    <a:pt x="22674" y="1530188"/>
                  </a:lnTo>
                  <a:lnTo>
                    <a:pt x="22775" y="1530338"/>
                  </a:lnTo>
                  <a:lnTo>
                    <a:pt x="55079" y="1558429"/>
                  </a:lnTo>
                  <a:lnTo>
                    <a:pt x="95374" y="1572259"/>
                  </a:lnTo>
                  <a:lnTo>
                    <a:pt x="109791" y="1573199"/>
                  </a:lnTo>
                  <a:lnTo>
                    <a:pt x="3319551" y="1573199"/>
                  </a:lnTo>
                  <a:lnTo>
                    <a:pt x="3361622" y="1564841"/>
                  </a:lnTo>
                  <a:lnTo>
                    <a:pt x="3397126" y="1541019"/>
                  </a:lnTo>
                  <a:lnTo>
                    <a:pt x="3420927" y="1505466"/>
                  </a:lnTo>
                  <a:lnTo>
                    <a:pt x="3429355" y="1463395"/>
                  </a:lnTo>
                  <a:lnTo>
                    <a:pt x="3429331" y="109791"/>
                  </a:lnTo>
                  <a:lnTo>
                    <a:pt x="3421002" y="68088"/>
                  </a:lnTo>
                  <a:lnTo>
                    <a:pt x="3397132" y="32534"/>
                  </a:lnTo>
                  <a:lnTo>
                    <a:pt x="3361472" y="8708"/>
                  </a:lnTo>
                  <a:lnTo>
                    <a:pt x="3319551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4480204" y="3611524"/>
              <a:ext cx="3429635" cy="1573530"/>
            </a:xfrm>
            <a:custGeom>
              <a:avLst/>
              <a:gdLst/>
              <a:ahLst/>
              <a:cxnLst/>
              <a:rect l="l" t="t" r="r" b="b"/>
              <a:pathLst>
                <a:path w="3429634" h="1573529">
                  <a:moveTo>
                    <a:pt x="355" y="109791"/>
                  </a:moveTo>
                  <a:lnTo>
                    <a:pt x="1295" y="95374"/>
                  </a:lnTo>
                  <a:lnTo>
                    <a:pt x="4090" y="81359"/>
                  </a:lnTo>
                  <a:lnTo>
                    <a:pt x="23133" y="43003"/>
                  </a:lnTo>
                  <a:lnTo>
                    <a:pt x="55079" y="14757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3319551" y="355"/>
                  </a:lnTo>
                  <a:lnTo>
                    <a:pt x="3361472" y="8708"/>
                  </a:lnTo>
                  <a:lnTo>
                    <a:pt x="3397132" y="32534"/>
                  </a:lnTo>
                  <a:lnTo>
                    <a:pt x="3421002" y="68088"/>
                  </a:lnTo>
                  <a:lnTo>
                    <a:pt x="3429355" y="110159"/>
                  </a:lnTo>
                  <a:lnTo>
                    <a:pt x="3429355" y="1463395"/>
                  </a:lnTo>
                  <a:lnTo>
                    <a:pt x="3428415" y="1477820"/>
                  </a:lnTo>
                  <a:lnTo>
                    <a:pt x="3425620" y="1491838"/>
                  </a:lnTo>
                  <a:lnTo>
                    <a:pt x="3406578" y="1530188"/>
                  </a:lnTo>
                  <a:lnTo>
                    <a:pt x="3374631" y="1558429"/>
                  </a:lnTo>
                  <a:lnTo>
                    <a:pt x="3333981" y="1572259"/>
                  </a:lnTo>
                  <a:lnTo>
                    <a:pt x="3319551" y="1573199"/>
                  </a:lnTo>
                  <a:lnTo>
                    <a:pt x="109791" y="1573199"/>
                  </a:lnTo>
                  <a:lnTo>
                    <a:pt x="67882" y="1564841"/>
                  </a:lnTo>
                  <a:lnTo>
                    <a:pt x="32213" y="1541019"/>
                  </a:lnTo>
                  <a:lnTo>
                    <a:pt x="8352" y="1505466"/>
                  </a:lnTo>
                  <a:lnTo>
                    <a:pt x="0" y="1463395"/>
                  </a:lnTo>
                  <a:lnTo>
                    <a:pt x="355" y="109791"/>
                  </a:lnTo>
                  <a:close/>
                </a:path>
              </a:pathLst>
            </a:custGeom>
            <a:ln w="10079">
              <a:solidFill>
                <a:srgbClr val="DBE4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4662716" y="3757675"/>
              <a:ext cx="915035" cy="293370"/>
            </a:xfrm>
            <a:custGeom>
              <a:avLst/>
              <a:gdLst/>
              <a:ahLst/>
              <a:cxnLst/>
              <a:rect l="l" t="t" r="r" b="b"/>
              <a:pathLst>
                <a:path w="915035" h="293370">
                  <a:moveTo>
                    <a:pt x="110159" y="0"/>
                  </a:moveTo>
                  <a:lnTo>
                    <a:pt x="68095" y="8358"/>
                  </a:lnTo>
                  <a:lnTo>
                    <a:pt x="32535" y="32224"/>
                  </a:lnTo>
                  <a:lnTo>
                    <a:pt x="8721" y="67882"/>
                  </a:lnTo>
                  <a:lnTo>
                    <a:pt x="368" y="109804"/>
                  </a:lnTo>
                  <a:lnTo>
                    <a:pt x="0" y="183248"/>
                  </a:lnTo>
                  <a:lnTo>
                    <a:pt x="939" y="197671"/>
                  </a:lnTo>
                  <a:lnTo>
                    <a:pt x="3736" y="211726"/>
                  </a:lnTo>
                  <a:lnTo>
                    <a:pt x="8305" y="225157"/>
                  </a:lnTo>
                  <a:lnTo>
                    <a:pt x="8358" y="225312"/>
                  </a:lnTo>
                  <a:lnTo>
                    <a:pt x="14770" y="238328"/>
                  </a:lnTo>
                  <a:lnTo>
                    <a:pt x="22683" y="250036"/>
                  </a:lnTo>
                  <a:lnTo>
                    <a:pt x="22788" y="250191"/>
                  </a:lnTo>
                  <a:lnTo>
                    <a:pt x="55079" y="278282"/>
                  </a:lnTo>
                  <a:lnTo>
                    <a:pt x="95379" y="292100"/>
                  </a:lnTo>
                  <a:lnTo>
                    <a:pt x="109804" y="293039"/>
                  </a:lnTo>
                  <a:lnTo>
                    <a:pt x="804964" y="293039"/>
                  </a:lnTo>
                  <a:lnTo>
                    <a:pt x="847035" y="284686"/>
                  </a:lnTo>
                  <a:lnTo>
                    <a:pt x="882535" y="260872"/>
                  </a:lnTo>
                  <a:lnTo>
                    <a:pt x="906332" y="225312"/>
                  </a:lnTo>
                  <a:lnTo>
                    <a:pt x="906410" y="225157"/>
                  </a:lnTo>
                  <a:lnTo>
                    <a:pt x="911015" y="211726"/>
                  </a:lnTo>
                  <a:lnTo>
                    <a:pt x="913827" y="197671"/>
                  </a:lnTo>
                  <a:lnTo>
                    <a:pt x="914768" y="183248"/>
                  </a:lnTo>
                  <a:lnTo>
                    <a:pt x="914745" y="109804"/>
                  </a:lnTo>
                  <a:lnTo>
                    <a:pt x="906410" y="68095"/>
                  </a:lnTo>
                  <a:lnTo>
                    <a:pt x="882543" y="32535"/>
                  </a:lnTo>
                  <a:lnTo>
                    <a:pt x="846885" y="8721"/>
                  </a:lnTo>
                  <a:lnTo>
                    <a:pt x="804964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8F6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4662716" y="3757675"/>
              <a:ext cx="915035" cy="293370"/>
            </a:xfrm>
            <a:custGeom>
              <a:avLst/>
              <a:gdLst/>
              <a:ahLst/>
              <a:cxnLst/>
              <a:rect l="l" t="t" r="r" b="b"/>
              <a:pathLst>
                <a:path w="915035" h="293370">
                  <a:moveTo>
                    <a:pt x="368" y="109804"/>
                  </a:moveTo>
                  <a:lnTo>
                    <a:pt x="1307" y="95379"/>
                  </a:lnTo>
                  <a:lnTo>
                    <a:pt x="4103" y="81360"/>
                  </a:lnTo>
                  <a:lnTo>
                    <a:pt x="23138" y="43011"/>
                  </a:lnTo>
                  <a:lnTo>
                    <a:pt x="55079" y="14770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804964" y="368"/>
                  </a:lnTo>
                  <a:lnTo>
                    <a:pt x="846885" y="8721"/>
                  </a:lnTo>
                  <a:lnTo>
                    <a:pt x="882543" y="32535"/>
                  </a:lnTo>
                  <a:lnTo>
                    <a:pt x="906410" y="68095"/>
                  </a:lnTo>
                  <a:lnTo>
                    <a:pt x="914768" y="110159"/>
                  </a:lnTo>
                  <a:lnTo>
                    <a:pt x="914768" y="183248"/>
                  </a:lnTo>
                  <a:lnTo>
                    <a:pt x="913828" y="197665"/>
                  </a:lnTo>
                  <a:lnTo>
                    <a:pt x="911031" y="211680"/>
                  </a:lnTo>
                  <a:lnTo>
                    <a:pt x="891985" y="250036"/>
                  </a:lnTo>
                  <a:lnTo>
                    <a:pt x="860044" y="278282"/>
                  </a:lnTo>
                  <a:lnTo>
                    <a:pt x="819394" y="292100"/>
                  </a:lnTo>
                  <a:lnTo>
                    <a:pt x="804964" y="293039"/>
                  </a:lnTo>
                  <a:lnTo>
                    <a:pt x="109804" y="293039"/>
                  </a:lnTo>
                  <a:lnTo>
                    <a:pt x="67882" y="284686"/>
                  </a:lnTo>
                  <a:lnTo>
                    <a:pt x="32224" y="260872"/>
                  </a:lnTo>
                  <a:lnTo>
                    <a:pt x="8358" y="225312"/>
                  </a:lnTo>
                  <a:lnTo>
                    <a:pt x="0" y="183248"/>
                  </a:lnTo>
                  <a:lnTo>
                    <a:pt x="368" y="109804"/>
                  </a:lnTo>
                  <a:close/>
                </a:path>
              </a:pathLst>
            </a:custGeom>
            <a:ln w="10079">
              <a:solidFill>
                <a:srgbClr val="E8F6E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/>
          <p:cNvSpPr txBox="1"/>
          <p:nvPr/>
        </p:nvSpPr>
        <p:spPr>
          <a:xfrm>
            <a:off x="4782502" y="3810863"/>
            <a:ext cx="67691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80">
                <a:solidFill>
                  <a:srgbClr val="157F5C"/>
                </a:solidFill>
                <a:latin typeface="Arial Black"/>
                <a:cs typeface="Arial Black"/>
              </a:rPr>
              <a:t>MANAGED</a:t>
            </a:r>
            <a:endParaRPr sz="1000">
              <a:latin typeface="Arial Black"/>
              <a:cs typeface="Arial Black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650384" y="4017058"/>
            <a:ext cx="2437130" cy="842010"/>
          </a:xfrm>
          <a:prstGeom prst="rect">
            <a:avLst/>
          </a:prstGeom>
        </p:spPr>
        <p:txBody>
          <a:bodyPr wrap="square" lIns="0" tIns="130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30"/>
              </a:spcBef>
            </a:pPr>
            <a:r>
              <a:rPr dirty="0" sz="1600" spc="-80">
                <a:solidFill>
                  <a:srgbClr val="0F2339"/>
                </a:solidFill>
                <a:latin typeface="Arial Black"/>
                <a:cs typeface="Arial Black"/>
              </a:rPr>
              <a:t>Managed </a:t>
            </a:r>
            <a:r>
              <a:rPr dirty="0" sz="1600" spc="-10">
                <a:solidFill>
                  <a:srgbClr val="0F2339"/>
                </a:solidFill>
                <a:latin typeface="Arial Black"/>
                <a:cs typeface="Arial Black"/>
              </a:rPr>
              <a:t>services</a:t>
            </a:r>
            <a:endParaRPr sz="160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  <a:spcBef>
                <a:spcPts val="695"/>
              </a:spcBef>
            </a:pPr>
            <a:r>
              <a:rPr dirty="0" sz="1200">
                <a:solidFill>
                  <a:srgbClr val="556478"/>
                </a:solidFill>
                <a:latin typeface="Noto Sans"/>
                <a:cs typeface="Noto Sans"/>
              </a:rPr>
              <a:t>Shift</a:t>
            </a:r>
            <a:r>
              <a:rPr dirty="0" sz="12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00">
                <a:solidFill>
                  <a:srgbClr val="556478"/>
                </a:solidFill>
                <a:latin typeface="Noto Sans"/>
                <a:cs typeface="Noto Sans"/>
              </a:rPr>
              <a:t>some</a:t>
            </a:r>
            <a:r>
              <a:rPr dirty="0" sz="12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00">
                <a:solidFill>
                  <a:srgbClr val="556478"/>
                </a:solidFill>
                <a:latin typeface="Noto Sans"/>
                <a:cs typeface="Noto Sans"/>
              </a:rPr>
              <a:t>patching,</a:t>
            </a:r>
            <a:r>
              <a:rPr dirty="0" sz="12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00">
                <a:solidFill>
                  <a:srgbClr val="556478"/>
                </a:solidFill>
                <a:latin typeface="Noto Sans"/>
                <a:cs typeface="Noto Sans"/>
              </a:rPr>
              <a:t>backups</a:t>
            </a:r>
            <a:r>
              <a:rPr dirty="0" sz="12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00" spc="-25">
                <a:solidFill>
                  <a:srgbClr val="556478"/>
                </a:solidFill>
                <a:latin typeface="Noto Sans"/>
                <a:cs typeface="Noto Sans"/>
              </a:rPr>
              <a:t>and </a:t>
            </a:r>
            <a:r>
              <a:rPr dirty="0" sz="1200">
                <a:solidFill>
                  <a:srgbClr val="556478"/>
                </a:solidFill>
                <a:latin typeface="Noto Sans"/>
                <a:cs typeface="Noto Sans"/>
              </a:rPr>
              <a:t>platform</a:t>
            </a:r>
            <a:r>
              <a:rPr dirty="0" sz="12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00">
                <a:solidFill>
                  <a:srgbClr val="556478"/>
                </a:solidFill>
                <a:latin typeface="Noto Sans"/>
                <a:cs typeface="Noto Sans"/>
              </a:rPr>
              <a:t>tasks</a:t>
            </a:r>
            <a:r>
              <a:rPr dirty="0" sz="120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00">
                <a:solidFill>
                  <a:srgbClr val="556478"/>
                </a:solidFill>
                <a:latin typeface="Noto Sans"/>
                <a:cs typeface="Noto Sans"/>
              </a:rPr>
              <a:t>to</a:t>
            </a:r>
            <a:r>
              <a:rPr dirty="0" sz="120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00">
                <a:solidFill>
                  <a:srgbClr val="556478"/>
                </a:solidFill>
                <a:latin typeface="Noto Sans"/>
                <a:cs typeface="Noto Sans"/>
              </a:rPr>
              <a:t>the</a:t>
            </a:r>
            <a:r>
              <a:rPr dirty="0" sz="120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00" spc="-10">
                <a:solidFill>
                  <a:srgbClr val="556478"/>
                </a:solidFill>
                <a:latin typeface="Noto Sans"/>
                <a:cs typeface="Noto Sans"/>
              </a:rPr>
              <a:t>provider.</a:t>
            </a:r>
            <a:endParaRPr sz="1200">
              <a:latin typeface="Noto Sans"/>
              <a:cs typeface="Noto Sans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8269924" y="3606484"/>
            <a:ext cx="3439795" cy="1583690"/>
            <a:chOff x="8269924" y="3606484"/>
            <a:chExt cx="3439795" cy="1583690"/>
          </a:xfrm>
        </p:grpSpPr>
        <p:sp>
          <p:nvSpPr>
            <p:cNvPr id="39" name="object 39"/>
            <p:cNvSpPr/>
            <p:nvPr/>
          </p:nvSpPr>
          <p:spPr>
            <a:xfrm>
              <a:off x="8274964" y="3611524"/>
              <a:ext cx="3429635" cy="1573530"/>
            </a:xfrm>
            <a:custGeom>
              <a:avLst/>
              <a:gdLst/>
              <a:ahLst/>
              <a:cxnLst/>
              <a:rect l="l" t="t" r="r" b="b"/>
              <a:pathLst>
                <a:path w="3429634" h="1573529">
                  <a:moveTo>
                    <a:pt x="110159" y="0"/>
                  </a:moveTo>
                  <a:lnTo>
                    <a:pt x="68088" y="8352"/>
                  </a:lnTo>
                  <a:lnTo>
                    <a:pt x="32534" y="32213"/>
                  </a:lnTo>
                  <a:lnTo>
                    <a:pt x="8708" y="67882"/>
                  </a:lnTo>
                  <a:lnTo>
                    <a:pt x="355" y="109791"/>
                  </a:lnTo>
                  <a:lnTo>
                    <a:pt x="0" y="1463395"/>
                  </a:lnTo>
                  <a:lnTo>
                    <a:pt x="939" y="1477825"/>
                  </a:lnTo>
                  <a:lnTo>
                    <a:pt x="14757" y="1518475"/>
                  </a:lnTo>
                  <a:lnTo>
                    <a:pt x="22674" y="1530188"/>
                  </a:lnTo>
                  <a:lnTo>
                    <a:pt x="22775" y="1530338"/>
                  </a:lnTo>
                  <a:lnTo>
                    <a:pt x="55079" y="1558429"/>
                  </a:lnTo>
                  <a:lnTo>
                    <a:pt x="95374" y="1572259"/>
                  </a:lnTo>
                  <a:lnTo>
                    <a:pt x="109791" y="1573199"/>
                  </a:lnTo>
                  <a:lnTo>
                    <a:pt x="3319551" y="1573199"/>
                  </a:lnTo>
                  <a:lnTo>
                    <a:pt x="3361622" y="1564841"/>
                  </a:lnTo>
                  <a:lnTo>
                    <a:pt x="3397126" y="1541019"/>
                  </a:lnTo>
                  <a:lnTo>
                    <a:pt x="3420927" y="1505466"/>
                  </a:lnTo>
                  <a:lnTo>
                    <a:pt x="3429355" y="1463395"/>
                  </a:lnTo>
                  <a:lnTo>
                    <a:pt x="3429331" y="109791"/>
                  </a:lnTo>
                  <a:lnTo>
                    <a:pt x="3421002" y="68088"/>
                  </a:lnTo>
                  <a:lnTo>
                    <a:pt x="3397132" y="32534"/>
                  </a:lnTo>
                  <a:lnTo>
                    <a:pt x="3361472" y="8708"/>
                  </a:lnTo>
                  <a:lnTo>
                    <a:pt x="3319551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8274964" y="3611524"/>
              <a:ext cx="3429635" cy="1573530"/>
            </a:xfrm>
            <a:custGeom>
              <a:avLst/>
              <a:gdLst/>
              <a:ahLst/>
              <a:cxnLst/>
              <a:rect l="l" t="t" r="r" b="b"/>
              <a:pathLst>
                <a:path w="3429634" h="1573529">
                  <a:moveTo>
                    <a:pt x="355" y="109791"/>
                  </a:moveTo>
                  <a:lnTo>
                    <a:pt x="1295" y="95374"/>
                  </a:lnTo>
                  <a:lnTo>
                    <a:pt x="4090" y="81359"/>
                  </a:lnTo>
                  <a:lnTo>
                    <a:pt x="23133" y="43003"/>
                  </a:lnTo>
                  <a:lnTo>
                    <a:pt x="55079" y="14757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3319551" y="355"/>
                  </a:lnTo>
                  <a:lnTo>
                    <a:pt x="3361472" y="8708"/>
                  </a:lnTo>
                  <a:lnTo>
                    <a:pt x="3397132" y="32534"/>
                  </a:lnTo>
                  <a:lnTo>
                    <a:pt x="3421002" y="68088"/>
                  </a:lnTo>
                  <a:lnTo>
                    <a:pt x="3429355" y="110159"/>
                  </a:lnTo>
                  <a:lnTo>
                    <a:pt x="3429355" y="1463395"/>
                  </a:lnTo>
                  <a:lnTo>
                    <a:pt x="3428415" y="1477820"/>
                  </a:lnTo>
                  <a:lnTo>
                    <a:pt x="3425620" y="1491838"/>
                  </a:lnTo>
                  <a:lnTo>
                    <a:pt x="3406578" y="1530188"/>
                  </a:lnTo>
                  <a:lnTo>
                    <a:pt x="3374631" y="1558429"/>
                  </a:lnTo>
                  <a:lnTo>
                    <a:pt x="3333981" y="1572259"/>
                  </a:lnTo>
                  <a:lnTo>
                    <a:pt x="3319551" y="1573199"/>
                  </a:lnTo>
                  <a:lnTo>
                    <a:pt x="109791" y="1573199"/>
                  </a:lnTo>
                  <a:lnTo>
                    <a:pt x="67882" y="1564841"/>
                  </a:lnTo>
                  <a:lnTo>
                    <a:pt x="32213" y="1541019"/>
                  </a:lnTo>
                  <a:lnTo>
                    <a:pt x="8352" y="1505466"/>
                  </a:lnTo>
                  <a:lnTo>
                    <a:pt x="0" y="1463395"/>
                  </a:lnTo>
                  <a:lnTo>
                    <a:pt x="355" y="109791"/>
                  </a:lnTo>
                  <a:close/>
                </a:path>
              </a:pathLst>
            </a:custGeom>
            <a:ln w="10079">
              <a:solidFill>
                <a:srgbClr val="DBE4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8457476" y="3757675"/>
              <a:ext cx="915035" cy="293370"/>
            </a:xfrm>
            <a:custGeom>
              <a:avLst/>
              <a:gdLst/>
              <a:ahLst/>
              <a:cxnLst/>
              <a:rect l="l" t="t" r="r" b="b"/>
              <a:pathLst>
                <a:path w="915034" h="293370">
                  <a:moveTo>
                    <a:pt x="110159" y="0"/>
                  </a:moveTo>
                  <a:lnTo>
                    <a:pt x="68095" y="8358"/>
                  </a:lnTo>
                  <a:lnTo>
                    <a:pt x="32535" y="32224"/>
                  </a:lnTo>
                  <a:lnTo>
                    <a:pt x="8721" y="67882"/>
                  </a:lnTo>
                  <a:lnTo>
                    <a:pt x="368" y="109804"/>
                  </a:lnTo>
                  <a:lnTo>
                    <a:pt x="0" y="183248"/>
                  </a:lnTo>
                  <a:lnTo>
                    <a:pt x="939" y="197671"/>
                  </a:lnTo>
                  <a:lnTo>
                    <a:pt x="14770" y="238328"/>
                  </a:lnTo>
                  <a:lnTo>
                    <a:pt x="22683" y="250036"/>
                  </a:lnTo>
                  <a:lnTo>
                    <a:pt x="22788" y="250191"/>
                  </a:lnTo>
                  <a:lnTo>
                    <a:pt x="55079" y="278282"/>
                  </a:lnTo>
                  <a:lnTo>
                    <a:pt x="95379" y="292100"/>
                  </a:lnTo>
                  <a:lnTo>
                    <a:pt x="109804" y="293039"/>
                  </a:lnTo>
                  <a:lnTo>
                    <a:pt x="804964" y="293039"/>
                  </a:lnTo>
                  <a:lnTo>
                    <a:pt x="847035" y="284686"/>
                  </a:lnTo>
                  <a:lnTo>
                    <a:pt x="882535" y="260872"/>
                  </a:lnTo>
                  <a:lnTo>
                    <a:pt x="906332" y="225312"/>
                  </a:lnTo>
                  <a:lnTo>
                    <a:pt x="906410" y="225157"/>
                  </a:lnTo>
                  <a:lnTo>
                    <a:pt x="911015" y="211726"/>
                  </a:lnTo>
                  <a:lnTo>
                    <a:pt x="913827" y="197671"/>
                  </a:lnTo>
                  <a:lnTo>
                    <a:pt x="914768" y="183248"/>
                  </a:lnTo>
                  <a:lnTo>
                    <a:pt x="914745" y="109804"/>
                  </a:lnTo>
                  <a:lnTo>
                    <a:pt x="906410" y="68095"/>
                  </a:lnTo>
                  <a:lnTo>
                    <a:pt x="882543" y="32535"/>
                  </a:lnTo>
                  <a:lnTo>
                    <a:pt x="846885" y="8721"/>
                  </a:lnTo>
                  <a:lnTo>
                    <a:pt x="804964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6F7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8457476" y="3757675"/>
              <a:ext cx="915035" cy="293370"/>
            </a:xfrm>
            <a:custGeom>
              <a:avLst/>
              <a:gdLst/>
              <a:ahLst/>
              <a:cxnLst/>
              <a:rect l="l" t="t" r="r" b="b"/>
              <a:pathLst>
                <a:path w="915034" h="293370">
                  <a:moveTo>
                    <a:pt x="368" y="109804"/>
                  </a:moveTo>
                  <a:lnTo>
                    <a:pt x="1307" y="95379"/>
                  </a:lnTo>
                  <a:lnTo>
                    <a:pt x="4103" y="81360"/>
                  </a:lnTo>
                  <a:lnTo>
                    <a:pt x="23138" y="43011"/>
                  </a:lnTo>
                  <a:lnTo>
                    <a:pt x="55079" y="14770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804964" y="368"/>
                  </a:lnTo>
                  <a:lnTo>
                    <a:pt x="846885" y="8721"/>
                  </a:lnTo>
                  <a:lnTo>
                    <a:pt x="882543" y="32535"/>
                  </a:lnTo>
                  <a:lnTo>
                    <a:pt x="906410" y="68095"/>
                  </a:lnTo>
                  <a:lnTo>
                    <a:pt x="914768" y="110159"/>
                  </a:lnTo>
                  <a:lnTo>
                    <a:pt x="914768" y="183248"/>
                  </a:lnTo>
                  <a:lnTo>
                    <a:pt x="913828" y="197665"/>
                  </a:lnTo>
                  <a:lnTo>
                    <a:pt x="911031" y="211680"/>
                  </a:lnTo>
                  <a:lnTo>
                    <a:pt x="891985" y="250036"/>
                  </a:lnTo>
                  <a:lnTo>
                    <a:pt x="860044" y="278282"/>
                  </a:lnTo>
                  <a:lnTo>
                    <a:pt x="819394" y="292100"/>
                  </a:lnTo>
                  <a:lnTo>
                    <a:pt x="804964" y="293039"/>
                  </a:lnTo>
                  <a:lnTo>
                    <a:pt x="109804" y="293039"/>
                  </a:lnTo>
                  <a:lnTo>
                    <a:pt x="67882" y="284686"/>
                  </a:lnTo>
                  <a:lnTo>
                    <a:pt x="32224" y="260872"/>
                  </a:lnTo>
                  <a:lnTo>
                    <a:pt x="8358" y="225312"/>
                  </a:lnTo>
                  <a:lnTo>
                    <a:pt x="0" y="183248"/>
                  </a:lnTo>
                  <a:lnTo>
                    <a:pt x="368" y="109804"/>
                  </a:lnTo>
                  <a:close/>
                </a:path>
              </a:pathLst>
            </a:custGeom>
            <a:ln w="10079">
              <a:solidFill>
                <a:srgbClr val="E6F7F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" name="object 43"/>
          <p:cNvSpPr txBox="1"/>
          <p:nvPr/>
        </p:nvSpPr>
        <p:spPr>
          <a:xfrm>
            <a:off x="8554224" y="3810863"/>
            <a:ext cx="72199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10">
                <a:solidFill>
                  <a:srgbClr val="34B3CE"/>
                </a:solidFill>
                <a:latin typeface="Arial Black"/>
                <a:cs typeface="Arial Black"/>
              </a:rPr>
              <a:t>AUTOMATE</a:t>
            </a:r>
            <a:endParaRPr sz="1000">
              <a:latin typeface="Arial Black"/>
              <a:cs typeface="Arial Black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8445144" y="4017058"/>
            <a:ext cx="2458085" cy="842010"/>
          </a:xfrm>
          <a:prstGeom prst="rect">
            <a:avLst/>
          </a:prstGeom>
        </p:spPr>
        <p:txBody>
          <a:bodyPr wrap="square" lIns="0" tIns="130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30"/>
              </a:spcBef>
            </a:pPr>
            <a:r>
              <a:rPr dirty="0" sz="1600" spc="-10">
                <a:solidFill>
                  <a:srgbClr val="0F2339"/>
                </a:solidFill>
                <a:latin typeface="Arial Black"/>
                <a:cs typeface="Arial Black"/>
              </a:rPr>
              <a:t>Automation</a:t>
            </a:r>
            <a:endParaRPr sz="160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  <a:spcBef>
                <a:spcPts val="695"/>
              </a:spcBef>
            </a:pPr>
            <a:r>
              <a:rPr dirty="0" sz="1200">
                <a:solidFill>
                  <a:srgbClr val="556478"/>
                </a:solidFill>
                <a:latin typeface="Noto Sans"/>
                <a:cs typeface="Noto Sans"/>
              </a:rPr>
              <a:t>Use</a:t>
            </a:r>
            <a:r>
              <a:rPr dirty="0" sz="1200" spc="-2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00" spc="-10">
                <a:solidFill>
                  <a:srgbClr val="556478"/>
                </a:solidFill>
                <a:latin typeface="Noto Sans"/>
                <a:cs typeface="Noto Sans"/>
              </a:rPr>
              <a:t>templates,</a:t>
            </a:r>
            <a:r>
              <a:rPr dirty="0" sz="1200" spc="-1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00">
                <a:solidFill>
                  <a:srgbClr val="556478"/>
                </a:solidFill>
                <a:latin typeface="Noto Sans"/>
                <a:cs typeface="Noto Sans"/>
              </a:rPr>
              <a:t>APIs</a:t>
            </a:r>
            <a:r>
              <a:rPr dirty="0" sz="1200" spc="-1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00">
                <a:solidFill>
                  <a:srgbClr val="556478"/>
                </a:solidFill>
                <a:latin typeface="Noto Sans"/>
                <a:cs typeface="Noto Sans"/>
              </a:rPr>
              <a:t>and</a:t>
            </a:r>
            <a:r>
              <a:rPr dirty="0" sz="1200" spc="-1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00">
                <a:solidFill>
                  <a:srgbClr val="556478"/>
                </a:solidFill>
                <a:latin typeface="Noto Sans"/>
                <a:cs typeface="Noto Sans"/>
              </a:rPr>
              <a:t>policy</a:t>
            </a:r>
            <a:r>
              <a:rPr dirty="0" sz="1200" spc="-1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00" spc="-25">
                <a:solidFill>
                  <a:srgbClr val="556478"/>
                </a:solidFill>
                <a:latin typeface="Noto Sans"/>
                <a:cs typeface="Noto Sans"/>
              </a:rPr>
              <a:t>for </a:t>
            </a:r>
            <a:r>
              <a:rPr dirty="0" sz="1200" spc="-10">
                <a:solidFill>
                  <a:srgbClr val="556478"/>
                </a:solidFill>
                <a:latin typeface="Noto Sans"/>
                <a:cs typeface="Noto Sans"/>
              </a:rPr>
              <a:t>repeatable</a:t>
            </a:r>
            <a:r>
              <a:rPr dirty="0" sz="1200" spc="1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00" spc="-10">
                <a:solidFill>
                  <a:srgbClr val="556478"/>
                </a:solidFill>
                <a:latin typeface="Noto Sans"/>
                <a:cs typeface="Noto Sans"/>
              </a:rPr>
              <a:t>operations.</a:t>
            </a:r>
            <a:endParaRPr sz="1200">
              <a:latin typeface="Noto Sans"/>
              <a:cs typeface="Noto Sans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905662" y="5795543"/>
            <a:ext cx="10354945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80">
                <a:solidFill>
                  <a:srgbClr val="C1403A"/>
                </a:solidFill>
                <a:latin typeface="Arial Black"/>
                <a:cs typeface="Arial Black"/>
              </a:rPr>
              <a:t>Cloud</a:t>
            </a:r>
            <a:r>
              <a:rPr dirty="0" sz="1300" spc="-70">
                <a:solidFill>
                  <a:srgbClr val="C1403A"/>
                </a:solidFill>
                <a:latin typeface="Arial Black"/>
                <a:cs typeface="Arial Black"/>
              </a:rPr>
              <a:t> </a:t>
            </a:r>
            <a:r>
              <a:rPr dirty="0" sz="1300" spc="-105">
                <a:solidFill>
                  <a:srgbClr val="C1403A"/>
                </a:solidFill>
                <a:latin typeface="Arial Black"/>
                <a:cs typeface="Arial Black"/>
              </a:rPr>
              <a:t>is</a:t>
            </a:r>
            <a:r>
              <a:rPr dirty="0" sz="1300" spc="-65">
                <a:solidFill>
                  <a:srgbClr val="C1403A"/>
                </a:solidFill>
                <a:latin typeface="Arial Black"/>
                <a:cs typeface="Arial Black"/>
              </a:rPr>
              <a:t> </a:t>
            </a:r>
            <a:r>
              <a:rPr dirty="0" sz="1300" spc="-35">
                <a:solidFill>
                  <a:srgbClr val="C1403A"/>
                </a:solidFill>
                <a:latin typeface="Arial Black"/>
                <a:cs typeface="Arial Black"/>
              </a:rPr>
              <a:t>not</a:t>
            </a:r>
            <a:r>
              <a:rPr dirty="0" sz="1300" spc="-60">
                <a:solidFill>
                  <a:srgbClr val="C1403A"/>
                </a:solidFill>
                <a:latin typeface="Arial Black"/>
                <a:cs typeface="Arial Black"/>
              </a:rPr>
              <a:t> </a:t>
            </a:r>
            <a:r>
              <a:rPr dirty="0" sz="1300" spc="-70">
                <a:solidFill>
                  <a:srgbClr val="C1403A"/>
                </a:solidFill>
                <a:latin typeface="Arial Black"/>
                <a:cs typeface="Arial Black"/>
              </a:rPr>
              <a:t>automatically</a:t>
            </a:r>
            <a:r>
              <a:rPr dirty="0" sz="1300" spc="-60">
                <a:solidFill>
                  <a:srgbClr val="C1403A"/>
                </a:solidFill>
                <a:latin typeface="Arial Black"/>
                <a:cs typeface="Arial Black"/>
              </a:rPr>
              <a:t> </a:t>
            </a:r>
            <a:r>
              <a:rPr dirty="0" sz="1300" spc="-80">
                <a:solidFill>
                  <a:srgbClr val="C1403A"/>
                </a:solidFill>
                <a:latin typeface="Arial Black"/>
                <a:cs typeface="Arial Black"/>
              </a:rPr>
              <a:t>cheaper</a:t>
            </a:r>
            <a:r>
              <a:rPr dirty="0" sz="1300" spc="-65">
                <a:solidFill>
                  <a:srgbClr val="C1403A"/>
                </a:solidFill>
                <a:latin typeface="Arial Black"/>
                <a:cs typeface="Arial Black"/>
              </a:rPr>
              <a:t> </a:t>
            </a:r>
            <a:r>
              <a:rPr dirty="0" sz="1300" spc="-30">
                <a:solidFill>
                  <a:srgbClr val="C1403A"/>
                </a:solidFill>
                <a:latin typeface="Arial Black"/>
                <a:cs typeface="Arial Black"/>
              </a:rPr>
              <a:t>or</a:t>
            </a:r>
            <a:r>
              <a:rPr dirty="0" sz="1300" spc="-65">
                <a:solidFill>
                  <a:srgbClr val="C1403A"/>
                </a:solidFill>
                <a:latin typeface="Arial Black"/>
                <a:cs typeface="Arial Black"/>
              </a:rPr>
              <a:t> </a:t>
            </a:r>
            <a:r>
              <a:rPr dirty="0" sz="1300" spc="-60">
                <a:solidFill>
                  <a:srgbClr val="C1403A"/>
                </a:solidFill>
                <a:latin typeface="Arial Black"/>
                <a:cs typeface="Arial Black"/>
              </a:rPr>
              <a:t>more</a:t>
            </a:r>
            <a:r>
              <a:rPr dirty="0" sz="1300" spc="-65">
                <a:solidFill>
                  <a:srgbClr val="C1403A"/>
                </a:solidFill>
                <a:latin typeface="Arial Black"/>
                <a:cs typeface="Arial Black"/>
              </a:rPr>
              <a:t> </a:t>
            </a:r>
            <a:r>
              <a:rPr dirty="0" sz="1300" spc="-100">
                <a:solidFill>
                  <a:srgbClr val="C1403A"/>
                </a:solidFill>
                <a:latin typeface="Arial Black"/>
                <a:cs typeface="Arial Black"/>
              </a:rPr>
              <a:t>secure.</a:t>
            </a:r>
            <a:r>
              <a:rPr dirty="0" sz="1300" spc="-60">
                <a:solidFill>
                  <a:srgbClr val="C1403A"/>
                </a:solidFill>
                <a:latin typeface="Arial Black"/>
                <a:cs typeface="Arial Black"/>
              </a:rPr>
              <a:t> </a:t>
            </a:r>
            <a:r>
              <a:rPr dirty="0" sz="1300" spc="-80">
                <a:solidFill>
                  <a:srgbClr val="C1403A"/>
                </a:solidFill>
                <a:latin typeface="Arial Black"/>
                <a:cs typeface="Arial Black"/>
              </a:rPr>
              <a:t>Benefits</a:t>
            </a:r>
            <a:r>
              <a:rPr dirty="0" sz="1300" spc="-65">
                <a:solidFill>
                  <a:srgbClr val="C1403A"/>
                </a:solidFill>
                <a:latin typeface="Arial Black"/>
                <a:cs typeface="Arial Black"/>
              </a:rPr>
              <a:t> depend </a:t>
            </a:r>
            <a:r>
              <a:rPr dirty="0" sz="1300" spc="-40">
                <a:solidFill>
                  <a:srgbClr val="C1403A"/>
                </a:solidFill>
                <a:latin typeface="Arial Black"/>
                <a:cs typeface="Arial Black"/>
              </a:rPr>
              <a:t>on</a:t>
            </a:r>
            <a:r>
              <a:rPr dirty="0" sz="1300" spc="-70">
                <a:solidFill>
                  <a:srgbClr val="C1403A"/>
                </a:solidFill>
                <a:latin typeface="Arial Black"/>
                <a:cs typeface="Arial Black"/>
              </a:rPr>
              <a:t> </a:t>
            </a:r>
            <a:r>
              <a:rPr dirty="0" sz="1300" spc="-75">
                <a:solidFill>
                  <a:srgbClr val="C1403A"/>
                </a:solidFill>
                <a:latin typeface="Arial Black"/>
                <a:cs typeface="Arial Black"/>
              </a:rPr>
              <a:t>sizing,</a:t>
            </a:r>
            <a:r>
              <a:rPr dirty="0" sz="1300" spc="-60">
                <a:solidFill>
                  <a:srgbClr val="C1403A"/>
                </a:solidFill>
                <a:latin typeface="Arial Black"/>
                <a:cs typeface="Arial Black"/>
              </a:rPr>
              <a:t> </a:t>
            </a:r>
            <a:r>
              <a:rPr dirty="0" sz="1300" spc="-75">
                <a:solidFill>
                  <a:srgbClr val="C1403A"/>
                </a:solidFill>
                <a:latin typeface="Arial Black"/>
                <a:cs typeface="Arial Black"/>
              </a:rPr>
              <a:t>architecture,</a:t>
            </a:r>
            <a:r>
              <a:rPr dirty="0" sz="1300" spc="-65">
                <a:solidFill>
                  <a:srgbClr val="C1403A"/>
                </a:solidFill>
                <a:latin typeface="Arial Black"/>
                <a:cs typeface="Arial Black"/>
              </a:rPr>
              <a:t> </a:t>
            </a:r>
            <a:r>
              <a:rPr dirty="0" sz="1300" spc="-60">
                <a:solidFill>
                  <a:srgbClr val="C1403A"/>
                </a:solidFill>
                <a:latin typeface="Arial Black"/>
                <a:cs typeface="Arial Black"/>
              </a:rPr>
              <a:t>identity, </a:t>
            </a:r>
            <a:r>
              <a:rPr dirty="0" sz="1300" spc="-75">
                <a:solidFill>
                  <a:srgbClr val="C1403A"/>
                </a:solidFill>
                <a:latin typeface="Arial Black"/>
                <a:cs typeface="Arial Black"/>
              </a:rPr>
              <a:t>governance</a:t>
            </a:r>
            <a:r>
              <a:rPr dirty="0" sz="1300" spc="-65">
                <a:solidFill>
                  <a:srgbClr val="C1403A"/>
                </a:solidFill>
                <a:latin typeface="Arial Black"/>
                <a:cs typeface="Arial Black"/>
              </a:rPr>
              <a:t> </a:t>
            </a:r>
            <a:r>
              <a:rPr dirty="0" sz="1300" spc="-55">
                <a:solidFill>
                  <a:srgbClr val="C1403A"/>
                </a:solidFill>
                <a:latin typeface="Arial Black"/>
                <a:cs typeface="Arial Black"/>
              </a:rPr>
              <a:t>and</a:t>
            </a:r>
            <a:r>
              <a:rPr dirty="0" sz="1300" spc="-65">
                <a:solidFill>
                  <a:srgbClr val="C1403A"/>
                </a:solidFill>
                <a:latin typeface="Arial Black"/>
                <a:cs typeface="Arial Black"/>
              </a:rPr>
              <a:t> </a:t>
            </a:r>
            <a:r>
              <a:rPr dirty="0" sz="1300" spc="-10">
                <a:solidFill>
                  <a:srgbClr val="C1403A"/>
                </a:solidFill>
                <a:latin typeface="Arial Black"/>
                <a:cs typeface="Arial Black"/>
              </a:rPr>
              <a:t>cleanup.</a:t>
            </a:r>
            <a:endParaRPr sz="1300">
              <a:latin typeface="Arial Black"/>
              <a:cs typeface="Arial Black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66635" y="6382435"/>
            <a:ext cx="11064240" cy="635"/>
          </a:xfrm>
          <a:custGeom>
            <a:avLst/>
            <a:gdLst/>
            <a:ahLst/>
            <a:cxnLst/>
            <a:rect l="l" t="t" r="r" b="b"/>
            <a:pathLst>
              <a:path w="11064240" h="635">
                <a:moveTo>
                  <a:pt x="0" y="0"/>
                </a:moveTo>
                <a:lnTo>
                  <a:pt x="11064240" y="368"/>
                </a:lnTo>
              </a:path>
            </a:pathLst>
          </a:custGeom>
          <a:ln w="8999">
            <a:solidFill>
              <a:srgbClr val="DBE4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90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 spc="-100"/>
              <a:t>DAY</a:t>
            </a:r>
            <a:r>
              <a:rPr dirty="0" spc="-55"/>
              <a:t> </a:t>
            </a:r>
            <a:r>
              <a:rPr dirty="0"/>
              <a:t>1</a:t>
            </a:r>
            <a:r>
              <a:rPr dirty="0" spc="105"/>
              <a:t> </a:t>
            </a:r>
            <a:r>
              <a:rPr dirty="0"/>
              <a:t>•</a:t>
            </a:r>
            <a:r>
              <a:rPr dirty="0" spc="130"/>
              <a:t> </a:t>
            </a:r>
            <a:r>
              <a:rPr dirty="0" spc="-70"/>
              <a:t>CLOUD</a:t>
            </a:r>
            <a:r>
              <a:rPr dirty="0" spc="-55"/>
              <a:t> </a:t>
            </a:r>
            <a:r>
              <a:rPr dirty="0" spc="-65"/>
              <a:t>FOUNDATIONS</a:t>
            </a:r>
            <a:r>
              <a:rPr dirty="0" spc="-55"/>
              <a:t> </a:t>
            </a:r>
            <a:r>
              <a:rPr dirty="0" spc="-105"/>
              <a:t>&amp;</a:t>
            </a:r>
            <a:r>
              <a:rPr dirty="0" spc="-50"/>
              <a:t> </a:t>
            </a:r>
            <a:r>
              <a:rPr dirty="0" spc="-95"/>
              <a:t>AZURE</a:t>
            </a:r>
            <a:r>
              <a:rPr dirty="0" spc="-55"/>
              <a:t> </a:t>
            </a:r>
            <a:r>
              <a:rPr dirty="0" spc="-50"/>
              <a:t>BASICS</a:t>
            </a:r>
          </a:p>
        </p:txBody>
      </p:sp>
      <p:sp>
        <p:nvSpPr>
          <p:cNvPr id="46" name="object 46"/>
          <p:cNvSpPr txBox="1"/>
          <p:nvPr/>
        </p:nvSpPr>
        <p:spPr>
          <a:xfrm>
            <a:off x="11476697" y="6494402"/>
            <a:ext cx="149225" cy="172720"/>
          </a:xfrm>
          <a:prstGeom prst="rect">
            <a:avLst/>
          </a:prstGeom>
        </p:spPr>
        <p:txBody>
          <a:bodyPr wrap="square" lIns="0" tIns="203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dirty="0" sz="850" spc="-50">
                <a:solidFill>
                  <a:srgbClr val="0077D3"/>
                </a:solidFill>
                <a:latin typeface="Arial Black"/>
                <a:cs typeface="Arial Black"/>
              </a:rPr>
              <a:t>04</a:t>
            </a:r>
            <a:endParaRPr sz="85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3935" y="299427"/>
            <a:ext cx="205168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65">
                <a:solidFill>
                  <a:srgbClr val="0077D3"/>
                </a:solidFill>
                <a:latin typeface="Arial Black"/>
                <a:cs typeface="Arial Black"/>
              </a:rPr>
              <a:t>PA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25">
                <a:solidFill>
                  <a:srgbClr val="0077D3"/>
                </a:solidFill>
                <a:latin typeface="Arial Black"/>
                <a:cs typeface="Arial Black"/>
              </a:rPr>
              <a:t>R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>
                <a:solidFill>
                  <a:srgbClr val="0077D3"/>
                </a:solidFill>
                <a:latin typeface="Arial Black"/>
                <a:cs typeface="Arial Black"/>
              </a:rPr>
              <a:t>T</a:t>
            </a:r>
            <a:r>
              <a:rPr dirty="0" sz="1000" spc="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>
                <a:solidFill>
                  <a:srgbClr val="0077D3"/>
                </a:solidFill>
                <a:latin typeface="Arial Black"/>
                <a:cs typeface="Arial Black"/>
              </a:rPr>
              <a:t>1</a:t>
            </a:r>
            <a:r>
              <a:rPr dirty="0" sz="1000" spc="135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>
                <a:solidFill>
                  <a:srgbClr val="0077D3"/>
                </a:solidFill>
                <a:latin typeface="Arial Black"/>
                <a:cs typeface="Arial Black"/>
              </a:rPr>
              <a:t>•</a:t>
            </a:r>
            <a:r>
              <a:rPr dirty="0" sz="1000" spc="14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45">
                <a:solidFill>
                  <a:srgbClr val="0077D3"/>
                </a:solidFill>
                <a:latin typeface="Arial Black"/>
                <a:cs typeface="Arial Black"/>
              </a:rPr>
              <a:t>C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25">
                <a:solidFill>
                  <a:srgbClr val="0077D3"/>
                </a:solidFill>
                <a:latin typeface="Arial Black"/>
                <a:cs typeface="Arial Black"/>
              </a:rPr>
              <a:t>LO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90">
                <a:solidFill>
                  <a:srgbClr val="0077D3"/>
                </a:solidFill>
                <a:latin typeface="Arial Black"/>
                <a:cs typeface="Arial Black"/>
              </a:rPr>
              <a:t>U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>
                <a:solidFill>
                  <a:srgbClr val="0077D3"/>
                </a:solidFill>
                <a:latin typeface="Arial Black"/>
                <a:cs typeface="Arial Black"/>
              </a:rPr>
              <a:t>D</a:t>
            </a:r>
            <a:r>
              <a:rPr dirty="0" sz="1000" spc="135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45">
                <a:solidFill>
                  <a:srgbClr val="0077D3"/>
                </a:solidFill>
                <a:latin typeface="Arial Black"/>
                <a:cs typeface="Arial Black"/>
              </a:rPr>
              <a:t>CO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35">
                <a:solidFill>
                  <a:srgbClr val="0077D3"/>
                </a:solidFill>
                <a:latin typeface="Arial Black"/>
                <a:cs typeface="Arial Black"/>
              </a:rPr>
              <a:t>N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45">
                <a:solidFill>
                  <a:srgbClr val="0077D3"/>
                </a:solidFill>
                <a:latin typeface="Arial Black"/>
                <a:cs typeface="Arial Black"/>
              </a:rPr>
              <a:t>C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75">
                <a:solidFill>
                  <a:srgbClr val="0077D3"/>
                </a:solidFill>
                <a:latin typeface="Arial Black"/>
                <a:cs typeface="Arial Black"/>
              </a:rPr>
              <a:t>E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10">
                <a:solidFill>
                  <a:srgbClr val="0077D3"/>
                </a:solidFill>
                <a:latin typeface="Arial Black"/>
                <a:cs typeface="Arial Black"/>
              </a:rPr>
              <a:t>P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60">
                <a:solidFill>
                  <a:srgbClr val="0077D3"/>
                </a:solidFill>
                <a:latin typeface="Arial Black"/>
                <a:cs typeface="Arial Black"/>
              </a:rPr>
              <a:t>T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95">
                <a:solidFill>
                  <a:srgbClr val="0077D3"/>
                </a:solidFill>
                <a:latin typeface="Arial Black"/>
                <a:cs typeface="Arial Black"/>
              </a:rPr>
              <a:t>S</a:t>
            </a:r>
            <a:endParaRPr sz="1000">
              <a:latin typeface="Arial Black"/>
              <a:cs typeface="Arial Black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54304" y="428977"/>
            <a:ext cx="8597265" cy="814705"/>
          </a:xfrm>
          <a:prstGeom prst="rect"/>
        </p:spPr>
        <p:txBody>
          <a:bodyPr wrap="square" lIns="0" tIns="133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0"/>
              </a:spcBef>
            </a:pPr>
            <a:r>
              <a:rPr dirty="0" sz="2700" spc="-165">
                <a:solidFill>
                  <a:srgbClr val="0F2339"/>
                </a:solidFill>
              </a:rPr>
              <a:t>Public,</a:t>
            </a:r>
            <a:r>
              <a:rPr dirty="0" sz="2700" spc="-160">
                <a:solidFill>
                  <a:srgbClr val="0F2339"/>
                </a:solidFill>
              </a:rPr>
              <a:t> </a:t>
            </a:r>
            <a:r>
              <a:rPr dirty="0" sz="2700" spc="-105">
                <a:solidFill>
                  <a:srgbClr val="0F2339"/>
                </a:solidFill>
              </a:rPr>
              <a:t>private,</a:t>
            </a:r>
            <a:r>
              <a:rPr dirty="0" sz="2700" spc="-160">
                <a:solidFill>
                  <a:srgbClr val="0F2339"/>
                </a:solidFill>
              </a:rPr>
              <a:t> </a:t>
            </a:r>
            <a:r>
              <a:rPr dirty="0" sz="2700" spc="-75">
                <a:solidFill>
                  <a:srgbClr val="0F2339"/>
                </a:solidFill>
              </a:rPr>
              <a:t>hybrid</a:t>
            </a:r>
            <a:r>
              <a:rPr dirty="0" sz="2700" spc="-155">
                <a:solidFill>
                  <a:srgbClr val="0F2339"/>
                </a:solidFill>
              </a:rPr>
              <a:t> </a:t>
            </a:r>
            <a:r>
              <a:rPr dirty="0" sz="2700" spc="-114">
                <a:solidFill>
                  <a:srgbClr val="0F2339"/>
                </a:solidFill>
              </a:rPr>
              <a:t>and</a:t>
            </a:r>
            <a:r>
              <a:rPr dirty="0" sz="2700" spc="-160">
                <a:solidFill>
                  <a:srgbClr val="0F2339"/>
                </a:solidFill>
              </a:rPr>
              <a:t> </a:t>
            </a:r>
            <a:r>
              <a:rPr dirty="0" sz="2700" spc="-80">
                <a:solidFill>
                  <a:srgbClr val="0F2339"/>
                </a:solidFill>
              </a:rPr>
              <a:t>multi-</a:t>
            </a:r>
            <a:r>
              <a:rPr dirty="0" sz="2700" spc="-10">
                <a:solidFill>
                  <a:srgbClr val="0F2339"/>
                </a:solidFill>
              </a:rPr>
              <a:t>cloud</a:t>
            </a:r>
            <a:endParaRPr sz="2700"/>
          </a:p>
          <a:p>
            <a:pPr marL="30480">
              <a:lnSpc>
                <a:spcPct val="100000"/>
              </a:lnSpc>
              <a:spcBef>
                <a:spcPts val="459"/>
              </a:spcBef>
            </a:pP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These</a:t>
            </a:r>
            <a:r>
              <a:rPr dirty="0" sz="1300" spc="-4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labels</a:t>
            </a:r>
            <a:r>
              <a:rPr dirty="0" sz="1300" spc="-4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describe</a:t>
            </a:r>
            <a:r>
              <a:rPr dirty="0" sz="1300" spc="-5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where</a:t>
            </a:r>
            <a:r>
              <a:rPr dirty="0" sz="1300" spc="-4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environments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run</a:t>
            </a:r>
            <a:r>
              <a:rPr dirty="0" sz="1300" spc="-4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and</a:t>
            </a:r>
            <a:r>
              <a:rPr dirty="0" sz="1300" spc="-4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how</a:t>
            </a:r>
            <a:r>
              <a:rPr dirty="0" sz="1300" spc="-4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they</a:t>
            </a:r>
            <a:r>
              <a:rPr dirty="0" sz="1300" spc="-4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connect—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not</a:t>
            </a:r>
            <a:r>
              <a:rPr dirty="0" sz="1300" spc="-4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whether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the</a:t>
            </a:r>
            <a:r>
              <a:rPr dirty="0" sz="1300" spc="-5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service</a:t>
            </a:r>
            <a:r>
              <a:rPr dirty="0" sz="1300" spc="-4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is</a:t>
            </a:r>
            <a:r>
              <a:rPr dirty="0" sz="1300" spc="-4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IaaS</a:t>
            </a:r>
            <a:r>
              <a:rPr dirty="0" sz="1300" spc="-4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or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PaaS.</a:t>
            </a:r>
            <a:endParaRPr sz="1300">
              <a:latin typeface="Noto Sans"/>
              <a:cs typeface="Noto San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66635" y="1417319"/>
            <a:ext cx="11064240" cy="635"/>
          </a:xfrm>
          <a:custGeom>
            <a:avLst/>
            <a:gdLst/>
            <a:ahLst/>
            <a:cxnLst/>
            <a:rect l="l" t="t" r="r" b="b"/>
            <a:pathLst>
              <a:path w="11064240" h="634">
                <a:moveTo>
                  <a:pt x="0" y="0"/>
                </a:moveTo>
                <a:lnTo>
                  <a:pt x="11064240" y="355"/>
                </a:lnTo>
              </a:path>
            </a:pathLst>
          </a:custGeom>
          <a:ln w="10079">
            <a:solidFill>
              <a:srgbClr val="DBE4ED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6" name="object 6"/>
          <p:cNvGrpSpPr/>
          <p:nvPr/>
        </p:nvGrpSpPr>
        <p:grpSpPr>
          <a:xfrm>
            <a:off x="680404" y="1777316"/>
            <a:ext cx="2616835" cy="2022475"/>
            <a:chOff x="680404" y="1777316"/>
            <a:chExt cx="2616835" cy="2022475"/>
          </a:xfrm>
        </p:grpSpPr>
        <p:sp>
          <p:nvSpPr>
            <p:cNvPr id="7" name="object 7"/>
            <p:cNvSpPr/>
            <p:nvPr/>
          </p:nvSpPr>
          <p:spPr>
            <a:xfrm>
              <a:off x="685444" y="1782356"/>
              <a:ext cx="2606675" cy="2012314"/>
            </a:xfrm>
            <a:custGeom>
              <a:avLst/>
              <a:gdLst/>
              <a:ahLst/>
              <a:cxnLst/>
              <a:rect l="l" t="t" r="r" b="b"/>
              <a:pathLst>
                <a:path w="2606675" h="2012314">
                  <a:moveTo>
                    <a:pt x="110159" y="0"/>
                  </a:moveTo>
                  <a:lnTo>
                    <a:pt x="68088" y="8358"/>
                  </a:lnTo>
                  <a:lnTo>
                    <a:pt x="32534" y="32224"/>
                  </a:lnTo>
                  <a:lnTo>
                    <a:pt x="8708" y="67882"/>
                  </a:lnTo>
                  <a:lnTo>
                    <a:pt x="355" y="109804"/>
                  </a:lnTo>
                  <a:lnTo>
                    <a:pt x="0" y="1902244"/>
                  </a:lnTo>
                  <a:lnTo>
                    <a:pt x="939" y="1916674"/>
                  </a:lnTo>
                  <a:lnTo>
                    <a:pt x="14757" y="1957323"/>
                  </a:lnTo>
                  <a:lnTo>
                    <a:pt x="22674" y="1969037"/>
                  </a:lnTo>
                  <a:lnTo>
                    <a:pt x="22775" y="1969187"/>
                  </a:lnTo>
                  <a:lnTo>
                    <a:pt x="55079" y="1997278"/>
                  </a:lnTo>
                  <a:lnTo>
                    <a:pt x="95374" y="2011108"/>
                  </a:lnTo>
                  <a:lnTo>
                    <a:pt x="109791" y="2012048"/>
                  </a:lnTo>
                  <a:lnTo>
                    <a:pt x="2496591" y="2012048"/>
                  </a:lnTo>
                  <a:lnTo>
                    <a:pt x="2538662" y="2003690"/>
                  </a:lnTo>
                  <a:lnTo>
                    <a:pt x="2574166" y="1979868"/>
                  </a:lnTo>
                  <a:lnTo>
                    <a:pt x="2597967" y="1944315"/>
                  </a:lnTo>
                  <a:lnTo>
                    <a:pt x="2606395" y="1902244"/>
                  </a:lnTo>
                  <a:lnTo>
                    <a:pt x="2606372" y="109804"/>
                  </a:lnTo>
                  <a:lnTo>
                    <a:pt x="2598042" y="68095"/>
                  </a:lnTo>
                  <a:lnTo>
                    <a:pt x="2574172" y="32535"/>
                  </a:lnTo>
                  <a:lnTo>
                    <a:pt x="2538512" y="8721"/>
                  </a:lnTo>
                  <a:lnTo>
                    <a:pt x="2496591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685444" y="1782356"/>
              <a:ext cx="2606675" cy="2012314"/>
            </a:xfrm>
            <a:custGeom>
              <a:avLst/>
              <a:gdLst/>
              <a:ahLst/>
              <a:cxnLst/>
              <a:rect l="l" t="t" r="r" b="b"/>
              <a:pathLst>
                <a:path w="2606675" h="2012314">
                  <a:moveTo>
                    <a:pt x="355" y="109804"/>
                  </a:moveTo>
                  <a:lnTo>
                    <a:pt x="1295" y="95379"/>
                  </a:lnTo>
                  <a:lnTo>
                    <a:pt x="4090" y="81360"/>
                  </a:lnTo>
                  <a:lnTo>
                    <a:pt x="23133" y="43011"/>
                  </a:lnTo>
                  <a:lnTo>
                    <a:pt x="55079" y="14770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2496591" y="368"/>
                  </a:lnTo>
                  <a:lnTo>
                    <a:pt x="2538512" y="8721"/>
                  </a:lnTo>
                  <a:lnTo>
                    <a:pt x="2574172" y="32535"/>
                  </a:lnTo>
                  <a:lnTo>
                    <a:pt x="2598042" y="68095"/>
                  </a:lnTo>
                  <a:lnTo>
                    <a:pt x="2606395" y="110159"/>
                  </a:lnTo>
                  <a:lnTo>
                    <a:pt x="2606395" y="1902244"/>
                  </a:lnTo>
                  <a:lnTo>
                    <a:pt x="2605455" y="1916668"/>
                  </a:lnTo>
                  <a:lnTo>
                    <a:pt x="2602660" y="1930687"/>
                  </a:lnTo>
                  <a:lnTo>
                    <a:pt x="2583618" y="1969037"/>
                  </a:lnTo>
                  <a:lnTo>
                    <a:pt x="2551671" y="1997278"/>
                  </a:lnTo>
                  <a:lnTo>
                    <a:pt x="2511021" y="2011108"/>
                  </a:lnTo>
                  <a:lnTo>
                    <a:pt x="2496591" y="2012048"/>
                  </a:lnTo>
                  <a:lnTo>
                    <a:pt x="109791" y="2012048"/>
                  </a:lnTo>
                  <a:lnTo>
                    <a:pt x="67882" y="2003690"/>
                  </a:lnTo>
                  <a:lnTo>
                    <a:pt x="32213" y="1979868"/>
                  </a:lnTo>
                  <a:lnTo>
                    <a:pt x="8352" y="1944315"/>
                  </a:lnTo>
                  <a:lnTo>
                    <a:pt x="0" y="1902244"/>
                  </a:lnTo>
                  <a:lnTo>
                    <a:pt x="355" y="109804"/>
                  </a:lnTo>
                  <a:close/>
                </a:path>
              </a:pathLst>
            </a:custGeom>
            <a:ln w="10079">
              <a:solidFill>
                <a:srgbClr val="DBE4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85800" y="1782724"/>
              <a:ext cx="73025" cy="2011680"/>
            </a:xfrm>
            <a:custGeom>
              <a:avLst/>
              <a:gdLst/>
              <a:ahLst/>
              <a:cxnLst/>
              <a:rect l="l" t="t" r="r" b="b"/>
              <a:pathLst>
                <a:path w="73025" h="2011679">
                  <a:moveTo>
                    <a:pt x="72720" y="0"/>
                  </a:moveTo>
                  <a:lnTo>
                    <a:pt x="0" y="0"/>
                  </a:lnTo>
                  <a:lnTo>
                    <a:pt x="0" y="2011311"/>
                  </a:lnTo>
                  <a:lnTo>
                    <a:pt x="36360" y="2011311"/>
                  </a:lnTo>
                  <a:lnTo>
                    <a:pt x="72720" y="2011311"/>
                  </a:lnTo>
                  <a:lnTo>
                    <a:pt x="72720" y="0"/>
                  </a:lnTo>
                  <a:close/>
                </a:path>
              </a:pathLst>
            </a:custGeom>
            <a:solidFill>
              <a:srgbClr val="0077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685800" y="1782724"/>
              <a:ext cx="73025" cy="2011680"/>
            </a:xfrm>
            <a:custGeom>
              <a:avLst/>
              <a:gdLst/>
              <a:ahLst/>
              <a:cxnLst/>
              <a:rect l="l" t="t" r="r" b="b"/>
              <a:pathLst>
                <a:path w="73025" h="2011679">
                  <a:moveTo>
                    <a:pt x="36360" y="2011311"/>
                  </a:moveTo>
                  <a:lnTo>
                    <a:pt x="0" y="2011311"/>
                  </a:lnTo>
                  <a:lnTo>
                    <a:pt x="0" y="0"/>
                  </a:lnTo>
                  <a:lnTo>
                    <a:pt x="72720" y="0"/>
                  </a:lnTo>
                  <a:lnTo>
                    <a:pt x="72720" y="2011311"/>
                  </a:lnTo>
                  <a:lnTo>
                    <a:pt x="36360" y="2011311"/>
                  </a:lnTo>
                  <a:close/>
                </a:path>
              </a:pathLst>
            </a:custGeom>
            <a:ln w="10079">
              <a:solidFill>
                <a:srgbClr val="0077D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873975" y="1959381"/>
            <a:ext cx="2099310" cy="14389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5">
                <a:solidFill>
                  <a:srgbClr val="0F2339"/>
                </a:solidFill>
                <a:latin typeface="Arial Black"/>
                <a:cs typeface="Arial Black"/>
              </a:rPr>
              <a:t>Public</a:t>
            </a:r>
            <a:r>
              <a:rPr dirty="0" sz="1600" spc="-8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600" spc="-20">
                <a:solidFill>
                  <a:srgbClr val="0F2339"/>
                </a:solidFill>
                <a:latin typeface="Arial Black"/>
                <a:cs typeface="Arial Black"/>
              </a:rPr>
              <a:t>cloud</a:t>
            </a:r>
            <a:endParaRPr sz="1600">
              <a:latin typeface="Arial Black"/>
              <a:cs typeface="Arial Black"/>
            </a:endParaRPr>
          </a:p>
          <a:p>
            <a:pPr marL="12700" marR="5080">
              <a:lnSpc>
                <a:spcPct val="104500"/>
              </a:lnSpc>
              <a:spcBef>
                <a:spcPts val="1060"/>
              </a:spcBef>
            </a:pPr>
            <a:r>
              <a:rPr dirty="0" sz="1300" spc="-20">
                <a:solidFill>
                  <a:srgbClr val="556478"/>
                </a:solidFill>
                <a:latin typeface="Noto Sans"/>
                <a:cs typeface="Noto Sans"/>
              </a:rPr>
              <a:t>Provider-owned </a:t>
            </a: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infrastructure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shared securely</a:t>
            </a:r>
            <a:r>
              <a:rPr dirty="0" sz="1300" spc="-5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across</a:t>
            </a:r>
            <a:r>
              <a:rPr dirty="0" sz="1300" spc="-5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customers; resources</a:t>
            </a:r>
            <a:r>
              <a:rPr dirty="0" sz="1300" spc="-5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are</a:t>
            </a:r>
            <a:r>
              <a:rPr dirty="0" sz="1300" spc="-5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logically isolated.</a:t>
            </a:r>
            <a:endParaRPr sz="1300">
              <a:latin typeface="Noto Sans"/>
              <a:cs typeface="Noto San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515044" y="1777316"/>
            <a:ext cx="2616835" cy="2022475"/>
            <a:chOff x="3515044" y="1777316"/>
            <a:chExt cx="2616835" cy="2022475"/>
          </a:xfrm>
        </p:grpSpPr>
        <p:sp>
          <p:nvSpPr>
            <p:cNvPr id="13" name="object 13"/>
            <p:cNvSpPr/>
            <p:nvPr/>
          </p:nvSpPr>
          <p:spPr>
            <a:xfrm>
              <a:off x="3520084" y="1782356"/>
              <a:ext cx="2606675" cy="2012314"/>
            </a:xfrm>
            <a:custGeom>
              <a:avLst/>
              <a:gdLst/>
              <a:ahLst/>
              <a:cxnLst/>
              <a:rect l="l" t="t" r="r" b="b"/>
              <a:pathLst>
                <a:path w="2606675" h="2012314">
                  <a:moveTo>
                    <a:pt x="110159" y="0"/>
                  </a:moveTo>
                  <a:lnTo>
                    <a:pt x="68088" y="8358"/>
                  </a:lnTo>
                  <a:lnTo>
                    <a:pt x="32534" y="32224"/>
                  </a:lnTo>
                  <a:lnTo>
                    <a:pt x="8708" y="67882"/>
                  </a:lnTo>
                  <a:lnTo>
                    <a:pt x="355" y="109804"/>
                  </a:lnTo>
                  <a:lnTo>
                    <a:pt x="0" y="1902244"/>
                  </a:lnTo>
                  <a:lnTo>
                    <a:pt x="939" y="1916674"/>
                  </a:lnTo>
                  <a:lnTo>
                    <a:pt x="3735" y="1930731"/>
                  </a:lnTo>
                  <a:lnTo>
                    <a:pt x="8301" y="1944165"/>
                  </a:lnTo>
                  <a:lnTo>
                    <a:pt x="8352" y="1944315"/>
                  </a:lnTo>
                  <a:lnTo>
                    <a:pt x="14757" y="1957323"/>
                  </a:lnTo>
                  <a:lnTo>
                    <a:pt x="22674" y="1969037"/>
                  </a:lnTo>
                  <a:lnTo>
                    <a:pt x="22775" y="1969187"/>
                  </a:lnTo>
                  <a:lnTo>
                    <a:pt x="55079" y="1997278"/>
                  </a:lnTo>
                  <a:lnTo>
                    <a:pt x="95374" y="2011108"/>
                  </a:lnTo>
                  <a:lnTo>
                    <a:pt x="109791" y="2012048"/>
                  </a:lnTo>
                  <a:lnTo>
                    <a:pt x="2496591" y="2012048"/>
                  </a:lnTo>
                  <a:lnTo>
                    <a:pt x="2538662" y="2003690"/>
                  </a:lnTo>
                  <a:lnTo>
                    <a:pt x="2574166" y="1979868"/>
                  </a:lnTo>
                  <a:lnTo>
                    <a:pt x="2597967" y="1944315"/>
                  </a:lnTo>
                  <a:lnTo>
                    <a:pt x="2606395" y="1902244"/>
                  </a:lnTo>
                  <a:lnTo>
                    <a:pt x="2606372" y="109804"/>
                  </a:lnTo>
                  <a:lnTo>
                    <a:pt x="2598042" y="68095"/>
                  </a:lnTo>
                  <a:lnTo>
                    <a:pt x="2574172" y="32535"/>
                  </a:lnTo>
                  <a:lnTo>
                    <a:pt x="2538512" y="8721"/>
                  </a:lnTo>
                  <a:lnTo>
                    <a:pt x="2496591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3520084" y="1782356"/>
              <a:ext cx="2606675" cy="2012314"/>
            </a:xfrm>
            <a:custGeom>
              <a:avLst/>
              <a:gdLst/>
              <a:ahLst/>
              <a:cxnLst/>
              <a:rect l="l" t="t" r="r" b="b"/>
              <a:pathLst>
                <a:path w="2606675" h="2012314">
                  <a:moveTo>
                    <a:pt x="355" y="109804"/>
                  </a:moveTo>
                  <a:lnTo>
                    <a:pt x="1295" y="95379"/>
                  </a:lnTo>
                  <a:lnTo>
                    <a:pt x="4090" y="81360"/>
                  </a:lnTo>
                  <a:lnTo>
                    <a:pt x="23133" y="43011"/>
                  </a:lnTo>
                  <a:lnTo>
                    <a:pt x="55079" y="14770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2496591" y="368"/>
                  </a:lnTo>
                  <a:lnTo>
                    <a:pt x="2538512" y="8721"/>
                  </a:lnTo>
                  <a:lnTo>
                    <a:pt x="2574172" y="32535"/>
                  </a:lnTo>
                  <a:lnTo>
                    <a:pt x="2598042" y="68095"/>
                  </a:lnTo>
                  <a:lnTo>
                    <a:pt x="2606395" y="110159"/>
                  </a:lnTo>
                  <a:lnTo>
                    <a:pt x="2606395" y="1902244"/>
                  </a:lnTo>
                  <a:lnTo>
                    <a:pt x="2605455" y="1916668"/>
                  </a:lnTo>
                  <a:lnTo>
                    <a:pt x="2602660" y="1930687"/>
                  </a:lnTo>
                  <a:lnTo>
                    <a:pt x="2583618" y="1969037"/>
                  </a:lnTo>
                  <a:lnTo>
                    <a:pt x="2551671" y="1997278"/>
                  </a:lnTo>
                  <a:lnTo>
                    <a:pt x="2511021" y="2011108"/>
                  </a:lnTo>
                  <a:lnTo>
                    <a:pt x="2496591" y="2012048"/>
                  </a:lnTo>
                  <a:lnTo>
                    <a:pt x="109791" y="2012048"/>
                  </a:lnTo>
                  <a:lnTo>
                    <a:pt x="67882" y="2003690"/>
                  </a:lnTo>
                  <a:lnTo>
                    <a:pt x="32213" y="1979868"/>
                  </a:lnTo>
                  <a:lnTo>
                    <a:pt x="8352" y="1944315"/>
                  </a:lnTo>
                  <a:lnTo>
                    <a:pt x="0" y="1902244"/>
                  </a:lnTo>
                  <a:lnTo>
                    <a:pt x="355" y="109804"/>
                  </a:lnTo>
                  <a:close/>
                </a:path>
              </a:pathLst>
            </a:custGeom>
            <a:ln w="10079">
              <a:solidFill>
                <a:srgbClr val="DBE4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3520439" y="1782724"/>
              <a:ext cx="73025" cy="2011680"/>
            </a:xfrm>
            <a:custGeom>
              <a:avLst/>
              <a:gdLst/>
              <a:ahLst/>
              <a:cxnLst/>
              <a:rect l="l" t="t" r="r" b="b"/>
              <a:pathLst>
                <a:path w="73025" h="2011679">
                  <a:moveTo>
                    <a:pt x="72720" y="0"/>
                  </a:moveTo>
                  <a:lnTo>
                    <a:pt x="0" y="0"/>
                  </a:lnTo>
                  <a:lnTo>
                    <a:pt x="0" y="2011311"/>
                  </a:lnTo>
                  <a:lnTo>
                    <a:pt x="36360" y="2011311"/>
                  </a:lnTo>
                  <a:lnTo>
                    <a:pt x="72720" y="2011311"/>
                  </a:lnTo>
                  <a:lnTo>
                    <a:pt x="72720" y="0"/>
                  </a:lnTo>
                  <a:close/>
                </a:path>
              </a:pathLst>
            </a:custGeom>
            <a:solidFill>
              <a:srgbClr val="5A39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3520439" y="1782724"/>
              <a:ext cx="73025" cy="2011680"/>
            </a:xfrm>
            <a:custGeom>
              <a:avLst/>
              <a:gdLst/>
              <a:ahLst/>
              <a:cxnLst/>
              <a:rect l="l" t="t" r="r" b="b"/>
              <a:pathLst>
                <a:path w="73025" h="2011679">
                  <a:moveTo>
                    <a:pt x="36360" y="2011311"/>
                  </a:moveTo>
                  <a:lnTo>
                    <a:pt x="0" y="2011311"/>
                  </a:lnTo>
                  <a:lnTo>
                    <a:pt x="0" y="0"/>
                  </a:lnTo>
                  <a:lnTo>
                    <a:pt x="72720" y="0"/>
                  </a:lnTo>
                  <a:lnTo>
                    <a:pt x="72720" y="2011311"/>
                  </a:lnTo>
                  <a:lnTo>
                    <a:pt x="36360" y="2011311"/>
                  </a:lnTo>
                  <a:close/>
                </a:path>
              </a:pathLst>
            </a:custGeom>
            <a:ln w="10079">
              <a:solidFill>
                <a:srgbClr val="5A399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3708615" y="1959381"/>
            <a:ext cx="2132330" cy="12319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80">
                <a:solidFill>
                  <a:srgbClr val="0F2339"/>
                </a:solidFill>
                <a:latin typeface="Arial Black"/>
                <a:cs typeface="Arial Black"/>
              </a:rPr>
              <a:t>Private</a:t>
            </a:r>
            <a:r>
              <a:rPr dirty="0" sz="1600" spc="-8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600" spc="-20">
                <a:solidFill>
                  <a:srgbClr val="0F2339"/>
                </a:solidFill>
                <a:latin typeface="Arial Black"/>
                <a:cs typeface="Arial Black"/>
              </a:rPr>
              <a:t>cloud</a:t>
            </a:r>
            <a:endParaRPr sz="1600">
              <a:latin typeface="Arial Black"/>
              <a:cs typeface="Arial Black"/>
            </a:endParaRPr>
          </a:p>
          <a:p>
            <a:pPr marL="12700" marR="5080">
              <a:lnSpc>
                <a:spcPct val="104500"/>
              </a:lnSpc>
              <a:spcBef>
                <a:spcPts val="1060"/>
              </a:spcBef>
            </a:pP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Environment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dedicated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25">
                <a:solidFill>
                  <a:srgbClr val="556478"/>
                </a:solidFill>
                <a:latin typeface="Noto Sans"/>
                <a:cs typeface="Noto Sans"/>
              </a:rPr>
              <a:t>to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one</a:t>
            </a:r>
            <a:r>
              <a:rPr dirty="0" sz="1300" spc="-1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organization;</a:t>
            </a:r>
            <a:r>
              <a:rPr dirty="0" sz="1300" spc="-1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operated in-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house</a:t>
            </a:r>
            <a:r>
              <a:rPr dirty="0" sz="1300" spc="-2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or</a:t>
            </a:r>
            <a:r>
              <a:rPr dirty="0" sz="1300" spc="-2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by</a:t>
            </a:r>
            <a:r>
              <a:rPr dirty="0" sz="1300" spc="-2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a</a:t>
            </a:r>
            <a:r>
              <a:rPr dirty="0" sz="1300" spc="-2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service provider.</a:t>
            </a:r>
            <a:endParaRPr sz="1300">
              <a:latin typeface="Noto Sans"/>
              <a:cs typeface="Noto Sans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349684" y="1777316"/>
            <a:ext cx="2616835" cy="2022475"/>
            <a:chOff x="6349684" y="1777316"/>
            <a:chExt cx="2616835" cy="2022475"/>
          </a:xfrm>
        </p:grpSpPr>
        <p:sp>
          <p:nvSpPr>
            <p:cNvPr id="19" name="object 19"/>
            <p:cNvSpPr/>
            <p:nvPr/>
          </p:nvSpPr>
          <p:spPr>
            <a:xfrm>
              <a:off x="6354724" y="1782356"/>
              <a:ext cx="2606675" cy="2012314"/>
            </a:xfrm>
            <a:custGeom>
              <a:avLst/>
              <a:gdLst/>
              <a:ahLst/>
              <a:cxnLst/>
              <a:rect l="l" t="t" r="r" b="b"/>
              <a:pathLst>
                <a:path w="2606675" h="2012314">
                  <a:moveTo>
                    <a:pt x="110159" y="0"/>
                  </a:moveTo>
                  <a:lnTo>
                    <a:pt x="68088" y="8358"/>
                  </a:lnTo>
                  <a:lnTo>
                    <a:pt x="32534" y="32224"/>
                  </a:lnTo>
                  <a:lnTo>
                    <a:pt x="8708" y="67882"/>
                  </a:lnTo>
                  <a:lnTo>
                    <a:pt x="355" y="109804"/>
                  </a:lnTo>
                  <a:lnTo>
                    <a:pt x="0" y="1902244"/>
                  </a:lnTo>
                  <a:lnTo>
                    <a:pt x="939" y="1916674"/>
                  </a:lnTo>
                  <a:lnTo>
                    <a:pt x="3735" y="1930731"/>
                  </a:lnTo>
                  <a:lnTo>
                    <a:pt x="8301" y="1944165"/>
                  </a:lnTo>
                  <a:lnTo>
                    <a:pt x="8352" y="1944315"/>
                  </a:lnTo>
                  <a:lnTo>
                    <a:pt x="14757" y="1957323"/>
                  </a:lnTo>
                  <a:lnTo>
                    <a:pt x="22674" y="1969037"/>
                  </a:lnTo>
                  <a:lnTo>
                    <a:pt x="22775" y="1969187"/>
                  </a:lnTo>
                  <a:lnTo>
                    <a:pt x="55079" y="1997278"/>
                  </a:lnTo>
                  <a:lnTo>
                    <a:pt x="95374" y="2011108"/>
                  </a:lnTo>
                  <a:lnTo>
                    <a:pt x="109791" y="2012048"/>
                  </a:lnTo>
                  <a:lnTo>
                    <a:pt x="2496591" y="2012048"/>
                  </a:lnTo>
                  <a:lnTo>
                    <a:pt x="2538662" y="2003690"/>
                  </a:lnTo>
                  <a:lnTo>
                    <a:pt x="2574166" y="1979868"/>
                  </a:lnTo>
                  <a:lnTo>
                    <a:pt x="2597967" y="1944315"/>
                  </a:lnTo>
                  <a:lnTo>
                    <a:pt x="2606395" y="1902244"/>
                  </a:lnTo>
                  <a:lnTo>
                    <a:pt x="2606372" y="109804"/>
                  </a:lnTo>
                  <a:lnTo>
                    <a:pt x="2598042" y="68095"/>
                  </a:lnTo>
                  <a:lnTo>
                    <a:pt x="2574172" y="32535"/>
                  </a:lnTo>
                  <a:lnTo>
                    <a:pt x="2538512" y="8721"/>
                  </a:lnTo>
                  <a:lnTo>
                    <a:pt x="2496591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6354724" y="1782356"/>
              <a:ext cx="2606675" cy="2012314"/>
            </a:xfrm>
            <a:custGeom>
              <a:avLst/>
              <a:gdLst/>
              <a:ahLst/>
              <a:cxnLst/>
              <a:rect l="l" t="t" r="r" b="b"/>
              <a:pathLst>
                <a:path w="2606675" h="2012314">
                  <a:moveTo>
                    <a:pt x="355" y="109804"/>
                  </a:moveTo>
                  <a:lnTo>
                    <a:pt x="1295" y="95379"/>
                  </a:lnTo>
                  <a:lnTo>
                    <a:pt x="4090" y="81360"/>
                  </a:lnTo>
                  <a:lnTo>
                    <a:pt x="23133" y="43011"/>
                  </a:lnTo>
                  <a:lnTo>
                    <a:pt x="55079" y="14770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2496591" y="368"/>
                  </a:lnTo>
                  <a:lnTo>
                    <a:pt x="2538512" y="8721"/>
                  </a:lnTo>
                  <a:lnTo>
                    <a:pt x="2574172" y="32535"/>
                  </a:lnTo>
                  <a:lnTo>
                    <a:pt x="2598042" y="68095"/>
                  </a:lnTo>
                  <a:lnTo>
                    <a:pt x="2606395" y="110159"/>
                  </a:lnTo>
                  <a:lnTo>
                    <a:pt x="2606395" y="1902244"/>
                  </a:lnTo>
                  <a:lnTo>
                    <a:pt x="2605455" y="1916668"/>
                  </a:lnTo>
                  <a:lnTo>
                    <a:pt x="2602660" y="1930687"/>
                  </a:lnTo>
                  <a:lnTo>
                    <a:pt x="2583618" y="1969037"/>
                  </a:lnTo>
                  <a:lnTo>
                    <a:pt x="2551671" y="1997278"/>
                  </a:lnTo>
                  <a:lnTo>
                    <a:pt x="2511021" y="2011108"/>
                  </a:lnTo>
                  <a:lnTo>
                    <a:pt x="2496591" y="2012048"/>
                  </a:lnTo>
                  <a:lnTo>
                    <a:pt x="109791" y="2012048"/>
                  </a:lnTo>
                  <a:lnTo>
                    <a:pt x="67882" y="2003690"/>
                  </a:lnTo>
                  <a:lnTo>
                    <a:pt x="32213" y="1979868"/>
                  </a:lnTo>
                  <a:lnTo>
                    <a:pt x="8352" y="1944315"/>
                  </a:lnTo>
                  <a:lnTo>
                    <a:pt x="0" y="1902244"/>
                  </a:lnTo>
                  <a:lnTo>
                    <a:pt x="355" y="109804"/>
                  </a:lnTo>
                  <a:close/>
                </a:path>
              </a:pathLst>
            </a:custGeom>
            <a:ln w="10079">
              <a:solidFill>
                <a:srgbClr val="DBE4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6355079" y="1782724"/>
              <a:ext cx="73025" cy="2011680"/>
            </a:xfrm>
            <a:custGeom>
              <a:avLst/>
              <a:gdLst/>
              <a:ahLst/>
              <a:cxnLst/>
              <a:rect l="l" t="t" r="r" b="b"/>
              <a:pathLst>
                <a:path w="73025" h="2011679">
                  <a:moveTo>
                    <a:pt x="72720" y="0"/>
                  </a:moveTo>
                  <a:lnTo>
                    <a:pt x="0" y="0"/>
                  </a:lnTo>
                  <a:lnTo>
                    <a:pt x="0" y="2011311"/>
                  </a:lnTo>
                  <a:lnTo>
                    <a:pt x="36360" y="2011311"/>
                  </a:lnTo>
                  <a:lnTo>
                    <a:pt x="72720" y="2011311"/>
                  </a:lnTo>
                  <a:lnTo>
                    <a:pt x="72720" y="0"/>
                  </a:lnTo>
                  <a:close/>
                </a:path>
              </a:pathLst>
            </a:custGeom>
            <a:solidFill>
              <a:srgbClr val="0C938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6355079" y="1782724"/>
              <a:ext cx="73025" cy="2011680"/>
            </a:xfrm>
            <a:custGeom>
              <a:avLst/>
              <a:gdLst/>
              <a:ahLst/>
              <a:cxnLst/>
              <a:rect l="l" t="t" r="r" b="b"/>
              <a:pathLst>
                <a:path w="73025" h="2011679">
                  <a:moveTo>
                    <a:pt x="36360" y="2011311"/>
                  </a:moveTo>
                  <a:lnTo>
                    <a:pt x="0" y="2011311"/>
                  </a:lnTo>
                  <a:lnTo>
                    <a:pt x="0" y="0"/>
                  </a:lnTo>
                  <a:lnTo>
                    <a:pt x="72720" y="0"/>
                  </a:lnTo>
                  <a:lnTo>
                    <a:pt x="72720" y="2011311"/>
                  </a:lnTo>
                  <a:lnTo>
                    <a:pt x="36360" y="2011311"/>
                  </a:lnTo>
                  <a:close/>
                </a:path>
              </a:pathLst>
            </a:custGeom>
            <a:ln w="10079">
              <a:solidFill>
                <a:srgbClr val="0C938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6543255" y="1959381"/>
            <a:ext cx="1986914" cy="12319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65">
                <a:solidFill>
                  <a:srgbClr val="0F2339"/>
                </a:solidFill>
                <a:latin typeface="Arial Black"/>
                <a:cs typeface="Arial Black"/>
              </a:rPr>
              <a:t>Hybrid</a:t>
            </a:r>
            <a:r>
              <a:rPr dirty="0" sz="1600" spc="-8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600" spc="-20">
                <a:solidFill>
                  <a:srgbClr val="0F2339"/>
                </a:solidFill>
                <a:latin typeface="Arial Black"/>
                <a:cs typeface="Arial Black"/>
              </a:rPr>
              <a:t>cloud</a:t>
            </a:r>
            <a:endParaRPr sz="16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Integrates</a:t>
            </a:r>
            <a:endParaRPr sz="1300">
              <a:latin typeface="Noto Sans"/>
              <a:cs typeface="Noto Sans"/>
            </a:endParaRPr>
          </a:p>
          <a:p>
            <a:pPr marL="12700" marR="5080">
              <a:lnSpc>
                <a:spcPct val="104500"/>
              </a:lnSpc>
            </a:pP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on-premises/private environments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with</a:t>
            </a:r>
            <a:r>
              <a:rPr dirty="0" sz="13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public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cloud</a:t>
            </a:r>
            <a:r>
              <a:rPr dirty="0" sz="1300" spc="-4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services.</a:t>
            </a:r>
            <a:endParaRPr sz="1300">
              <a:latin typeface="Noto Sans"/>
              <a:cs typeface="Noto Sans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9184324" y="1777316"/>
            <a:ext cx="2342515" cy="2022475"/>
            <a:chOff x="9184324" y="1777316"/>
            <a:chExt cx="2342515" cy="2022475"/>
          </a:xfrm>
        </p:grpSpPr>
        <p:sp>
          <p:nvSpPr>
            <p:cNvPr id="25" name="object 25"/>
            <p:cNvSpPr/>
            <p:nvPr/>
          </p:nvSpPr>
          <p:spPr>
            <a:xfrm>
              <a:off x="9189364" y="1782356"/>
              <a:ext cx="2332355" cy="2012314"/>
            </a:xfrm>
            <a:custGeom>
              <a:avLst/>
              <a:gdLst/>
              <a:ahLst/>
              <a:cxnLst/>
              <a:rect l="l" t="t" r="r" b="b"/>
              <a:pathLst>
                <a:path w="2332354" h="2012314">
                  <a:moveTo>
                    <a:pt x="110159" y="0"/>
                  </a:moveTo>
                  <a:lnTo>
                    <a:pt x="68088" y="8358"/>
                  </a:lnTo>
                  <a:lnTo>
                    <a:pt x="32534" y="32224"/>
                  </a:lnTo>
                  <a:lnTo>
                    <a:pt x="8708" y="67882"/>
                  </a:lnTo>
                  <a:lnTo>
                    <a:pt x="355" y="109804"/>
                  </a:lnTo>
                  <a:lnTo>
                    <a:pt x="0" y="1902244"/>
                  </a:lnTo>
                  <a:lnTo>
                    <a:pt x="939" y="1916674"/>
                  </a:lnTo>
                  <a:lnTo>
                    <a:pt x="14757" y="1957323"/>
                  </a:lnTo>
                  <a:lnTo>
                    <a:pt x="22674" y="1969037"/>
                  </a:lnTo>
                  <a:lnTo>
                    <a:pt x="22775" y="1969187"/>
                  </a:lnTo>
                  <a:lnTo>
                    <a:pt x="55079" y="1997278"/>
                  </a:lnTo>
                  <a:lnTo>
                    <a:pt x="95374" y="2011108"/>
                  </a:lnTo>
                  <a:lnTo>
                    <a:pt x="109791" y="2012048"/>
                  </a:lnTo>
                  <a:lnTo>
                    <a:pt x="2222271" y="2012048"/>
                  </a:lnTo>
                  <a:lnTo>
                    <a:pt x="2264342" y="2003690"/>
                  </a:lnTo>
                  <a:lnTo>
                    <a:pt x="2299846" y="1979868"/>
                  </a:lnTo>
                  <a:lnTo>
                    <a:pt x="2323647" y="1944315"/>
                  </a:lnTo>
                  <a:lnTo>
                    <a:pt x="2332075" y="1902244"/>
                  </a:lnTo>
                  <a:lnTo>
                    <a:pt x="2332052" y="109804"/>
                  </a:lnTo>
                  <a:lnTo>
                    <a:pt x="2323722" y="68095"/>
                  </a:lnTo>
                  <a:lnTo>
                    <a:pt x="2299852" y="32535"/>
                  </a:lnTo>
                  <a:lnTo>
                    <a:pt x="2264192" y="8721"/>
                  </a:lnTo>
                  <a:lnTo>
                    <a:pt x="2222271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9189364" y="1782356"/>
              <a:ext cx="2332355" cy="2012314"/>
            </a:xfrm>
            <a:custGeom>
              <a:avLst/>
              <a:gdLst/>
              <a:ahLst/>
              <a:cxnLst/>
              <a:rect l="l" t="t" r="r" b="b"/>
              <a:pathLst>
                <a:path w="2332354" h="2012314">
                  <a:moveTo>
                    <a:pt x="355" y="109804"/>
                  </a:moveTo>
                  <a:lnTo>
                    <a:pt x="1295" y="95379"/>
                  </a:lnTo>
                  <a:lnTo>
                    <a:pt x="4090" y="81360"/>
                  </a:lnTo>
                  <a:lnTo>
                    <a:pt x="23133" y="43011"/>
                  </a:lnTo>
                  <a:lnTo>
                    <a:pt x="55079" y="14770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2222271" y="368"/>
                  </a:lnTo>
                  <a:lnTo>
                    <a:pt x="2264192" y="8721"/>
                  </a:lnTo>
                  <a:lnTo>
                    <a:pt x="2299852" y="32535"/>
                  </a:lnTo>
                  <a:lnTo>
                    <a:pt x="2323722" y="68095"/>
                  </a:lnTo>
                  <a:lnTo>
                    <a:pt x="2332075" y="110159"/>
                  </a:lnTo>
                  <a:lnTo>
                    <a:pt x="2332075" y="1902244"/>
                  </a:lnTo>
                  <a:lnTo>
                    <a:pt x="2331135" y="1916668"/>
                  </a:lnTo>
                  <a:lnTo>
                    <a:pt x="2328340" y="1930687"/>
                  </a:lnTo>
                  <a:lnTo>
                    <a:pt x="2309298" y="1969037"/>
                  </a:lnTo>
                  <a:lnTo>
                    <a:pt x="2277351" y="1997278"/>
                  </a:lnTo>
                  <a:lnTo>
                    <a:pt x="2236701" y="2011108"/>
                  </a:lnTo>
                  <a:lnTo>
                    <a:pt x="2222271" y="2012048"/>
                  </a:lnTo>
                  <a:lnTo>
                    <a:pt x="109791" y="2012048"/>
                  </a:lnTo>
                  <a:lnTo>
                    <a:pt x="67882" y="2003690"/>
                  </a:lnTo>
                  <a:lnTo>
                    <a:pt x="32213" y="1979868"/>
                  </a:lnTo>
                  <a:lnTo>
                    <a:pt x="8352" y="1944315"/>
                  </a:lnTo>
                  <a:lnTo>
                    <a:pt x="0" y="1902244"/>
                  </a:lnTo>
                  <a:lnTo>
                    <a:pt x="355" y="109804"/>
                  </a:lnTo>
                  <a:close/>
                </a:path>
              </a:pathLst>
            </a:custGeom>
            <a:ln w="10079">
              <a:solidFill>
                <a:srgbClr val="DBE4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9189720" y="1782724"/>
              <a:ext cx="73025" cy="2011680"/>
            </a:xfrm>
            <a:custGeom>
              <a:avLst/>
              <a:gdLst/>
              <a:ahLst/>
              <a:cxnLst/>
              <a:rect l="l" t="t" r="r" b="b"/>
              <a:pathLst>
                <a:path w="73025" h="2011679">
                  <a:moveTo>
                    <a:pt x="72720" y="0"/>
                  </a:moveTo>
                  <a:lnTo>
                    <a:pt x="0" y="0"/>
                  </a:lnTo>
                  <a:lnTo>
                    <a:pt x="0" y="2011311"/>
                  </a:lnTo>
                  <a:lnTo>
                    <a:pt x="36360" y="2011311"/>
                  </a:lnTo>
                  <a:lnTo>
                    <a:pt x="72720" y="2011311"/>
                  </a:lnTo>
                  <a:lnTo>
                    <a:pt x="72720" y="0"/>
                  </a:lnTo>
                  <a:close/>
                </a:path>
              </a:pathLst>
            </a:custGeom>
            <a:solidFill>
              <a:srgbClr val="F49D0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9189720" y="1782724"/>
              <a:ext cx="73025" cy="2011680"/>
            </a:xfrm>
            <a:custGeom>
              <a:avLst/>
              <a:gdLst/>
              <a:ahLst/>
              <a:cxnLst/>
              <a:rect l="l" t="t" r="r" b="b"/>
              <a:pathLst>
                <a:path w="73025" h="2011679">
                  <a:moveTo>
                    <a:pt x="36360" y="2011311"/>
                  </a:moveTo>
                  <a:lnTo>
                    <a:pt x="0" y="2011311"/>
                  </a:lnTo>
                  <a:lnTo>
                    <a:pt x="0" y="0"/>
                  </a:lnTo>
                  <a:lnTo>
                    <a:pt x="72720" y="0"/>
                  </a:lnTo>
                  <a:lnTo>
                    <a:pt x="72720" y="2011311"/>
                  </a:lnTo>
                  <a:lnTo>
                    <a:pt x="36360" y="2011311"/>
                  </a:lnTo>
                  <a:close/>
                </a:path>
              </a:pathLst>
            </a:custGeom>
            <a:ln w="10079">
              <a:solidFill>
                <a:srgbClr val="F49D0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9377895" y="1959381"/>
            <a:ext cx="1928495" cy="10248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45">
                <a:solidFill>
                  <a:srgbClr val="0F2339"/>
                </a:solidFill>
                <a:latin typeface="Arial Black"/>
                <a:cs typeface="Arial Black"/>
              </a:rPr>
              <a:t>Multi-</a:t>
            </a:r>
            <a:r>
              <a:rPr dirty="0" sz="1600" spc="-20">
                <a:solidFill>
                  <a:srgbClr val="0F2339"/>
                </a:solidFill>
                <a:latin typeface="Arial Black"/>
                <a:cs typeface="Arial Black"/>
              </a:rPr>
              <a:t>cloud</a:t>
            </a:r>
            <a:endParaRPr sz="1600">
              <a:latin typeface="Arial Black"/>
              <a:cs typeface="Arial Black"/>
            </a:endParaRPr>
          </a:p>
          <a:p>
            <a:pPr marL="12700" marR="5080">
              <a:lnSpc>
                <a:spcPct val="104500"/>
              </a:lnSpc>
              <a:spcBef>
                <a:spcPts val="1060"/>
              </a:spcBef>
            </a:pP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Uses</a:t>
            </a:r>
            <a:r>
              <a:rPr dirty="0" sz="1300" spc="-6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services</a:t>
            </a:r>
            <a:r>
              <a:rPr dirty="0" sz="1300" spc="-6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from</a:t>
            </a:r>
            <a:r>
              <a:rPr dirty="0" sz="1300" spc="-7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20">
                <a:solidFill>
                  <a:srgbClr val="556478"/>
                </a:solidFill>
                <a:latin typeface="Noto Sans"/>
                <a:cs typeface="Noto Sans"/>
              </a:rPr>
              <a:t>more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than</a:t>
            </a:r>
            <a:r>
              <a:rPr dirty="0" sz="13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one</a:t>
            </a:r>
            <a:r>
              <a:rPr dirty="0" sz="13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cloud</a:t>
            </a:r>
            <a:r>
              <a:rPr dirty="0" sz="13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provider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for</a:t>
            </a:r>
            <a:r>
              <a:rPr dirty="0" sz="1300" spc="-2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selected</a:t>
            </a:r>
            <a:r>
              <a:rPr dirty="0" sz="1300" spc="-2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needs.</a:t>
            </a:r>
            <a:endParaRPr sz="1300">
              <a:latin typeface="Noto Sans"/>
              <a:cs typeface="Noto Sans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1137236" y="4338004"/>
            <a:ext cx="4582795" cy="513715"/>
            <a:chOff x="1137236" y="4338004"/>
            <a:chExt cx="4582795" cy="513715"/>
          </a:xfrm>
        </p:grpSpPr>
        <p:sp>
          <p:nvSpPr>
            <p:cNvPr id="31" name="object 31"/>
            <p:cNvSpPr/>
            <p:nvPr/>
          </p:nvSpPr>
          <p:spPr>
            <a:xfrm>
              <a:off x="1142276" y="4343044"/>
              <a:ext cx="4572635" cy="503555"/>
            </a:xfrm>
            <a:custGeom>
              <a:avLst/>
              <a:gdLst/>
              <a:ahLst/>
              <a:cxnLst/>
              <a:rect l="l" t="t" r="r" b="b"/>
              <a:pathLst>
                <a:path w="4572635" h="503554">
                  <a:moveTo>
                    <a:pt x="110159" y="0"/>
                  </a:moveTo>
                  <a:lnTo>
                    <a:pt x="68095" y="8352"/>
                  </a:lnTo>
                  <a:lnTo>
                    <a:pt x="32535" y="32213"/>
                  </a:lnTo>
                  <a:lnTo>
                    <a:pt x="8721" y="67882"/>
                  </a:lnTo>
                  <a:lnTo>
                    <a:pt x="368" y="109791"/>
                  </a:lnTo>
                  <a:lnTo>
                    <a:pt x="0" y="393471"/>
                  </a:lnTo>
                  <a:lnTo>
                    <a:pt x="939" y="407901"/>
                  </a:lnTo>
                  <a:lnTo>
                    <a:pt x="3736" y="421959"/>
                  </a:lnTo>
                  <a:lnTo>
                    <a:pt x="8307" y="435392"/>
                  </a:lnTo>
                  <a:lnTo>
                    <a:pt x="8358" y="435542"/>
                  </a:lnTo>
                  <a:lnTo>
                    <a:pt x="32224" y="471096"/>
                  </a:lnTo>
                  <a:lnTo>
                    <a:pt x="67882" y="494922"/>
                  </a:lnTo>
                  <a:lnTo>
                    <a:pt x="109804" y="503275"/>
                  </a:lnTo>
                  <a:lnTo>
                    <a:pt x="4462564" y="503275"/>
                  </a:lnTo>
                  <a:lnTo>
                    <a:pt x="4504635" y="494922"/>
                  </a:lnTo>
                  <a:lnTo>
                    <a:pt x="4540137" y="471096"/>
                  </a:lnTo>
                  <a:lnTo>
                    <a:pt x="4563934" y="435542"/>
                  </a:lnTo>
                  <a:lnTo>
                    <a:pt x="4564010" y="435392"/>
                  </a:lnTo>
                  <a:lnTo>
                    <a:pt x="4568616" y="421959"/>
                  </a:lnTo>
                  <a:lnTo>
                    <a:pt x="4571427" y="407901"/>
                  </a:lnTo>
                  <a:lnTo>
                    <a:pt x="4572368" y="393471"/>
                  </a:lnTo>
                  <a:lnTo>
                    <a:pt x="4572344" y="109791"/>
                  </a:lnTo>
                  <a:lnTo>
                    <a:pt x="4564010" y="68088"/>
                  </a:lnTo>
                  <a:lnTo>
                    <a:pt x="4540143" y="32534"/>
                  </a:lnTo>
                  <a:lnTo>
                    <a:pt x="4504485" y="8708"/>
                  </a:lnTo>
                  <a:lnTo>
                    <a:pt x="446256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9F3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1142276" y="4343044"/>
              <a:ext cx="4572635" cy="503555"/>
            </a:xfrm>
            <a:custGeom>
              <a:avLst/>
              <a:gdLst/>
              <a:ahLst/>
              <a:cxnLst/>
              <a:rect l="l" t="t" r="r" b="b"/>
              <a:pathLst>
                <a:path w="4572635" h="503554">
                  <a:moveTo>
                    <a:pt x="368" y="109791"/>
                  </a:moveTo>
                  <a:lnTo>
                    <a:pt x="1307" y="95374"/>
                  </a:lnTo>
                  <a:lnTo>
                    <a:pt x="4103" y="81359"/>
                  </a:lnTo>
                  <a:lnTo>
                    <a:pt x="23138" y="43003"/>
                  </a:lnTo>
                  <a:lnTo>
                    <a:pt x="55079" y="14757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4462564" y="355"/>
                  </a:lnTo>
                  <a:lnTo>
                    <a:pt x="4504485" y="8708"/>
                  </a:lnTo>
                  <a:lnTo>
                    <a:pt x="4540143" y="32534"/>
                  </a:lnTo>
                  <a:lnTo>
                    <a:pt x="4564010" y="68088"/>
                  </a:lnTo>
                  <a:lnTo>
                    <a:pt x="4572368" y="110159"/>
                  </a:lnTo>
                  <a:lnTo>
                    <a:pt x="4572368" y="393471"/>
                  </a:lnTo>
                  <a:lnTo>
                    <a:pt x="4571428" y="407896"/>
                  </a:lnTo>
                  <a:lnTo>
                    <a:pt x="4568631" y="421914"/>
                  </a:lnTo>
                  <a:lnTo>
                    <a:pt x="4549585" y="460264"/>
                  </a:lnTo>
                  <a:lnTo>
                    <a:pt x="4517644" y="488518"/>
                  </a:lnTo>
                  <a:lnTo>
                    <a:pt x="4476994" y="502335"/>
                  </a:lnTo>
                  <a:lnTo>
                    <a:pt x="4462564" y="503275"/>
                  </a:lnTo>
                  <a:lnTo>
                    <a:pt x="109804" y="503275"/>
                  </a:lnTo>
                  <a:lnTo>
                    <a:pt x="67882" y="494922"/>
                  </a:lnTo>
                  <a:lnTo>
                    <a:pt x="32224" y="471096"/>
                  </a:lnTo>
                  <a:lnTo>
                    <a:pt x="8358" y="435542"/>
                  </a:lnTo>
                  <a:lnTo>
                    <a:pt x="0" y="393471"/>
                  </a:lnTo>
                  <a:lnTo>
                    <a:pt x="368" y="109791"/>
                  </a:lnTo>
                  <a:close/>
                </a:path>
              </a:pathLst>
            </a:custGeom>
            <a:ln w="10079">
              <a:solidFill>
                <a:srgbClr val="E9F3F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 txBox="1"/>
          <p:nvPr/>
        </p:nvSpPr>
        <p:spPr>
          <a:xfrm>
            <a:off x="1643659" y="4475416"/>
            <a:ext cx="3564254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5">
                <a:solidFill>
                  <a:srgbClr val="0077D3"/>
                </a:solidFill>
                <a:latin typeface="Arial Black"/>
                <a:cs typeface="Arial Black"/>
              </a:rPr>
              <a:t>Example:</a:t>
            </a:r>
            <a:r>
              <a:rPr dirty="0" sz="1400" spc="-85">
                <a:solidFill>
                  <a:srgbClr val="0077D3"/>
                </a:solidFill>
                <a:latin typeface="Arial Black"/>
                <a:cs typeface="Arial Black"/>
              </a:rPr>
              <a:t> Azure </a:t>
            </a:r>
            <a:r>
              <a:rPr dirty="0" sz="1400" spc="-100">
                <a:solidFill>
                  <a:srgbClr val="0077D3"/>
                </a:solidFill>
                <a:latin typeface="Arial Black"/>
                <a:cs typeface="Arial Black"/>
              </a:rPr>
              <a:t>VM</a:t>
            </a:r>
            <a:r>
              <a:rPr dirty="0" sz="1400" spc="-8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400" spc="-135">
                <a:solidFill>
                  <a:srgbClr val="0077D3"/>
                </a:solidFill>
                <a:latin typeface="Arial Black"/>
                <a:cs typeface="Arial Black"/>
              </a:rPr>
              <a:t>=</a:t>
            </a:r>
            <a:r>
              <a:rPr dirty="0" sz="1400" spc="-8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400" spc="-75">
                <a:solidFill>
                  <a:srgbClr val="0077D3"/>
                </a:solidFill>
                <a:latin typeface="Arial Black"/>
                <a:cs typeface="Arial Black"/>
              </a:rPr>
              <a:t>public</a:t>
            </a:r>
            <a:r>
              <a:rPr dirty="0" sz="1400" spc="-85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400" spc="-90">
                <a:solidFill>
                  <a:srgbClr val="0077D3"/>
                </a:solidFill>
                <a:latin typeface="Arial Black"/>
                <a:cs typeface="Arial Black"/>
              </a:rPr>
              <a:t>cloud</a:t>
            </a:r>
            <a:r>
              <a:rPr dirty="0" sz="1400" spc="-85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400" spc="-135">
                <a:solidFill>
                  <a:srgbClr val="0077D3"/>
                </a:solidFill>
                <a:latin typeface="Arial Black"/>
                <a:cs typeface="Arial Black"/>
              </a:rPr>
              <a:t>+</a:t>
            </a:r>
            <a:r>
              <a:rPr dirty="0" sz="1400" spc="-8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400" spc="-45">
                <a:solidFill>
                  <a:srgbClr val="0077D3"/>
                </a:solidFill>
                <a:latin typeface="Arial Black"/>
                <a:cs typeface="Arial Black"/>
              </a:rPr>
              <a:t>IaaS</a:t>
            </a:r>
            <a:endParaRPr sz="1400">
              <a:latin typeface="Arial Black"/>
              <a:cs typeface="Arial Black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6349316" y="4338004"/>
            <a:ext cx="4582795" cy="513715"/>
            <a:chOff x="6349316" y="4338004"/>
            <a:chExt cx="4582795" cy="513715"/>
          </a:xfrm>
        </p:grpSpPr>
        <p:sp>
          <p:nvSpPr>
            <p:cNvPr id="35" name="object 35"/>
            <p:cNvSpPr/>
            <p:nvPr/>
          </p:nvSpPr>
          <p:spPr>
            <a:xfrm>
              <a:off x="6354356" y="4343044"/>
              <a:ext cx="4572635" cy="503555"/>
            </a:xfrm>
            <a:custGeom>
              <a:avLst/>
              <a:gdLst/>
              <a:ahLst/>
              <a:cxnLst/>
              <a:rect l="l" t="t" r="r" b="b"/>
              <a:pathLst>
                <a:path w="4572634" h="503554">
                  <a:moveTo>
                    <a:pt x="110159" y="0"/>
                  </a:moveTo>
                  <a:lnTo>
                    <a:pt x="68095" y="8352"/>
                  </a:lnTo>
                  <a:lnTo>
                    <a:pt x="32535" y="32213"/>
                  </a:lnTo>
                  <a:lnTo>
                    <a:pt x="8721" y="67882"/>
                  </a:lnTo>
                  <a:lnTo>
                    <a:pt x="368" y="109791"/>
                  </a:lnTo>
                  <a:lnTo>
                    <a:pt x="0" y="393471"/>
                  </a:lnTo>
                  <a:lnTo>
                    <a:pt x="939" y="407901"/>
                  </a:lnTo>
                  <a:lnTo>
                    <a:pt x="14770" y="448551"/>
                  </a:lnTo>
                  <a:lnTo>
                    <a:pt x="43011" y="480498"/>
                  </a:lnTo>
                  <a:lnTo>
                    <a:pt x="81360" y="499540"/>
                  </a:lnTo>
                  <a:lnTo>
                    <a:pt x="109804" y="503275"/>
                  </a:lnTo>
                  <a:lnTo>
                    <a:pt x="4462564" y="503275"/>
                  </a:lnTo>
                  <a:lnTo>
                    <a:pt x="4504635" y="494922"/>
                  </a:lnTo>
                  <a:lnTo>
                    <a:pt x="4540137" y="471096"/>
                  </a:lnTo>
                  <a:lnTo>
                    <a:pt x="4563934" y="435542"/>
                  </a:lnTo>
                  <a:lnTo>
                    <a:pt x="4564010" y="435392"/>
                  </a:lnTo>
                  <a:lnTo>
                    <a:pt x="4568616" y="421959"/>
                  </a:lnTo>
                  <a:lnTo>
                    <a:pt x="4571427" y="407901"/>
                  </a:lnTo>
                  <a:lnTo>
                    <a:pt x="4572368" y="393471"/>
                  </a:lnTo>
                  <a:lnTo>
                    <a:pt x="4572344" y="109791"/>
                  </a:lnTo>
                  <a:lnTo>
                    <a:pt x="4564010" y="68088"/>
                  </a:lnTo>
                  <a:lnTo>
                    <a:pt x="4540143" y="32534"/>
                  </a:lnTo>
                  <a:lnTo>
                    <a:pt x="4504485" y="8708"/>
                  </a:lnTo>
                  <a:lnTo>
                    <a:pt x="446256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6F7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6354356" y="4343044"/>
              <a:ext cx="4572635" cy="503555"/>
            </a:xfrm>
            <a:custGeom>
              <a:avLst/>
              <a:gdLst/>
              <a:ahLst/>
              <a:cxnLst/>
              <a:rect l="l" t="t" r="r" b="b"/>
              <a:pathLst>
                <a:path w="4572634" h="503554">
                  <a:moveTo>
                    <a:pt x="368" y="109791"/>
                  </a:moveTo>
                  <a:lnTo>
                    <a:pt x="1307" y="95374"/>
                  </a:lnTo>
                  <a:lnTo>
                    <a:pt x="4103" y="81359"/>
                  </a:lnTo>
                  <a:lnTo>
                    <a:pt x="23138" y="43003"/>
                  </a:lnTo>
                  <a:lnTo>
                    <a:pt x="55079" y="14757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4462564" y="355"/>
                  </a:lnTo>
                  <a:lnTo>
                    <a:pt x="4504485" y="8708"/>
                  </a:lnTo>
                  <a:lnTo>
                    <a:pt x="4540143" y="32534"/>
                  </a:lnTo>
                  <a:lnTo>
                    <a:pt x="4564010" y="68088"/>
                  </a:lnTo>
                  <a:lnTo>
                    <a:pt x="4572368" y="110159"/>
                  </a:lnTo>
                  <a:lnTo>
                    <a:pt x="4572368" y="393471"/>
                  </a:lnTo>
                  <a:lnTo>
                    <a:pt x="4571428" y="407896"/>
                  </a:lnTo>
                  <a:lnTo>
                    <a:pt x="4568631" y="421914"/>
                  </a:lnTo>
                  <a:lnTo>
                    <a:pt x="4549585" y="460264"/>
                  </a:lnTo>
                  <a:lnTo>
                    <a:pt x="4517644" y="488518"/>
                  </a:lnTo>
                  <a:lnTo>
                    <a:pt x="4476994" y="502335"/>
                  </a:lnTo>
                  <a:lnTo>
                    <a:pt x="4462564" y="503275"/>
                  </a:lnTo>
                  <a:lnTo>
                    <a:pt x="109804" y="503275"/>
                  </a:lnTo>
                  <a:lnTo>
                    <a:pt x="67882" y="494922"/>
                  </a:lnTo>
                  <a:lnTo>
                    <a:pt x="32224" y="471096"/>
                  </a:lnTo>
                  <a:lnTo>
                    <a:pt x="8358" y="435542"/>
                  </a:lnTo>
                  <a:lnTo>
                    <a:pt x="0" y="393471"/>
                  </a:lnTo>
                  <a:lnTo>
                    <a:pt x="368" y="109791"/>
                  </a:lnTo>
                  <a:close/>
                </a:path>
              </a:pathLst>
            </a:custGeom>
            <a:ln w="10079">
              <a:solidFill>
                <a:srgbClr val="E6F7F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/>
          <p:cNvSpPr txBox="1"/>
          <p:nvPr/>
        </p:nvSpPr>
        <p:spPr>
          <a:xfrm>
            <a:off x="6599415" y="4368507"/>
            <a:ext cx="4076700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28164" marR="5080" indent="-1816100">
              <a:lnSpc>
                <a:spcPct val="100000"/>
              </a:lnSpc>
              <a:spcBef>
                <a:spcPts val="100"/>
              </a:spcBef>
            </a:pPr>
            <a:r>
              <a:rPr dirty="0" sz="1400" spc="-105">
                <a:solidFill>
                  <a:srgbClr val="0C9387"/>
                </a:solidFill>
                <a:latin typeface="Arial Black"/>
                <a:cs typeface="Arial Black"/>
              </a:rPr>
              <a:t>Example:</a:t>
            </a:r>
            <a:r>
              <a:rPr dirty="0" sz="1400" spc="-75">
                <a:solidFill>
                  <a:srgbClr val="0C9387"/>
                </a:solidFill>
                <a:latin typeface="Arial Black"/>
                <a:cs typeface="Arial Black"/>
              </a:rPr>
              <a:t> </a:t>
            </a:r>
            <a:r>
              <a:rPr dirty="0" sz="1400" spc="-85">
                <a:solidFill>
                  <a:srgbClr val="0C9387"/>
                </a:solidFill>
                <a:latin typeface="Arial Black"/>
                <a:cs typeface="Arial Black"/>
              </a:rPr>
              <a:t>Azure</a:t>
            </a:r>
            <a:r>
              <a:rPr dirty="0" sz="1400" spc="-75">
                <a:solidFill>
                  <a:srgbClr val="0C9387"/>
                </a:solidFill>
                <a:latin typeface="Arial Black"/>
                <a:cs typeface="Arial Black"/>
              </a:rPr>
              <a:t> </a:t>
            </a:r>
            <a:r>
              <a:rPr dirty="0" sz="1400" spc="-155">
                <a:solidFill>
                  <a:srgbClr val="0C9387"/>
                </a:solidFill>
                <a:latin typeface="Arial Black"/>
                <a:cs typeface="Arial Black"/>
              </a:rPr>
              <a:t>SQL</a:t>
            </a:r>
            <a:r>
              <a:rPr dirty="0" sz="1400" spc="-75">
                <a:solidFill>
                  <a:srgbClr val="0C9387"/>
                </a:solidFill>
                <a:latin typeface="Arial Black"/>
                <a:cs typeface="Arial Black"/>
              </a:rPr>
              <a:t> </a:t>
            </a:r>
            <a:r>
              <a:rPr dirty="0" sz="1400" spc="-90">
                <a:solidFill>
                  <a:srgbClr val="0C9387"/>
                </a:solidFill>
                <a:latin typeface="Arial Black"/>
                <a:cs typeface="Arial Black"/>
              </a:rPr>
              <a:t>Database</a:t>
            </a:r>
            <a:r>
              <a:rPr dirty="0" sz="1400" spc="-75">
                <a:solidFill>
                  <a:srgbClr val="0C9387"/>
                </a:solidFill>
                <a:latin typeface="Arial Black"/>
                <a:cs typeface="Arial Black"/>
              </a:rPr>
              <a:t> </a:t>
            </a:r>
            <a:r>
              <a:rPr dirty="0" sz="1400" spc="-135">
                <a:solidFill>
                  <a:srgbClr val="0C9387"/>
                </a:solidFill>
                <a:latin typeface="Arial Black"/>
                <a:cs typeface="Arial Black"/>
              </a:rPr>
              <a:t>=</a:t>
            </a:r>
            <a:r>
              <a:rPr dirty="0" sz="1400" spc="-75">
                <a:solidFill>
                  <a:srgbClr val="0C9387"/>
                </a:solidFill>
                <a:latin typeface="Arial Black"/>
                <a:cs typeface="Arial Black"/>
              </a:rPr>
              <a:t> public </a:t>
            </a:r>
            <a:r>
              <a:rPr dirty="0" sz="1400" spc="-90">
                <a:solidFill>
                  <a:srgbClr val="0C9387"/>
                </a:solidFill>
                <a:latin typeface="Arial Black"/>
                <a:cs typeface="Arial Black"/>
              </a:rPr>
              <a:t>cloud</a:t>
            </a:r>
            <a:r>
              <a:rPr dirty="0" sz="1400" spc="-75">
                <a:solidFill>
                  <a:srgbClr val="0C9387"/>
                </a:solidFill>
                <a:latin typeface="Arial Black"/>
                <a:cs typeface="Arial Black"/>
              </a:rPr>
              <a:t> </a:t>
            </a:r>
            <a:r>
              <a:rPr dirty="0" sz="1400" spc="-50">
                <a:solidFill>
                  <a:srgbClr val="0C9387"/>
                </a:solidFill>
                <a:latin typeface="Arial Black"/>
                <a:cs typeface="Arial Black"/>
              </a:rPr>
              <a:t>+ </a:t>
            </a:r>
            <a:r>
              <a:rPr dirty="0" sz="1400" spc="-20">
                <a:solidFill>
                  <a:srgbClr val="0C9387"/>
                </a:solidFill>
                <a:latin typeface="Arial Black"/>
                <a:cs typeface="Arial Black"/>
              </a:rPr>
              <a:t>PaaS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486418" y="5336540"/>
            <a:ext cx="7182484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75">
                <a:solidFill>
                  <a:srgbClr val="0F2339"/>
                </a:solidFill>
                <a:latin typeface="Arial Black"/>
                <a:cs typeface="Arial Black"/>
              </a:rPr>
              <a:t>One</a:t>
            </a:r>
            <a:r>
              <a:rPr dirty="0" sz="1500" spc="-8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500" spc="-80">
                <a:solidFill>
                  <a:srgbClr val="0F2339"/>
                </a:solidFill>
                <a:latin typeface="Arial Black"/>
                <a:cs typeface="Arial Black"/>
              </a:rPr>
              <a:t>workload</a:t>
            </a:r>
            <a:r>
              <a:rPr dirty="0" sz="1500" spc="-8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500" spc="-125">
                <a:solidFill>
                  <a:srgbClr val="0F2339"/>
                </a:solidFill>
                <a:latin typeface="Arial Black"/>
                <a:cs typeface="Arial Black"/>
              </a:rPr>
              <a:t>can</a:t>
            </a:r>
            <a:r>
              <a:rPr dirty="0" sz="1500" spc="-8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500" spc="-90">
                <a:solidFill>
                  <a:srgbClr val="0F2339"/>
                </a:solidFill>
                <a:latin typeface="Arial Black"/>
                <a:cs typeface="Arial Black"/>
              </a:rPr>
              <a:t>combine</a:t>
            </a:r>
            <a:r>
              <a:rPr dirty="0" sz="1500" spc="-8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500" spc="-65">
                <a:solidFill>
                  <a:srgbClr val="0F2339"/>
                </a:solidFill>
                <a:latin typeface="Arial Black"/>
                <a:cs typeface="Arial Black"/>
              </a:rPr>
              <a:t>more</a:t>
            </a:r>
            <a:r>
              <a:rPr dirty="0" sz="1500" spc="-8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500" spc="-45">
                <a:solidFill>
                  <a:srgbClr val="0F2339"/>
                </a:solidFill>
                <a:latin typeface="Arial Black"/>
                <a:cs typeface="Arial Black"/>
              </a:rPr>
              <a:t>than</a:t>
            </a:r>
            <a:r>
              <a:rPr dirty="0" sz="1500" spc="-8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500" spc="-75">
                <a:solidFill>
                  <a:srgbClr val="0F2339"/>
                </a:solidFill>
                <a:latin typeface="Arial Black"/>
                <a:cs typeface="Arial Black"/>
              </a:rPr>
              <a:t>one</a:t>
            </a:r>
            <a:r>
              <a:rPr dirty="0" sz="1500" spc="-8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500" spc="-60">
                <a:solidFill>
                  <a:srgbClr val="0F2339"/>
                </a:solidFill>
                <a:latin typeface="Arial Black"/>
                <a:cs typeface="Arial Black"/>
              </a:rPr>
              <a:t>environment</a:t>
            </a:r>
            <a:r>
              <a:rPr dirty="0" sz="1500" spc="-8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500" spc="-65">
                <a:solidFill>
                  <a:srgbClr val="0F2339"/>
                </a:solidFill>
                <a:latin typeface="Arial Black"/>
                <a:cs typeface="Arial Black"/>
              </a:rPr>
              <a:t>and</a:t>
            </a:r>
            <a:r>
              <a:rPr dirty="0" sz="1500" spc="-8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500" spc="-114">
                <a:solidFill>
                  <a:srgbClr val="0F2339"/>
                </a:solidFill>
                <a:latin typeface="Arial Black"/>
                <a:cs typeface="Arial Black"/>
              </a:rPr>
              <a:t>service</a:t>
            </a:r>
            <a:r>
              <a:rPr dirty="0" sz="1500" spc="-8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500" spc="-10">
                <a:solidFill>
                  <a:srgbClr val="0F2339"/>
                </a:solidFill>
                <a:latin typeface="Arial Black"/>
                <a:cs typeface="Arial Black"/>
              </a:rPr>
              <a:t>model.</a:t>
            </a:r>
            <a:endParaRPr sz="1500">
              <a:latin typeface="Arial Black"/>
              <a:cs typeface="Arial Black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66635" y="6382435"/>
            <a:ext cx="11064240" cy="635"/>
          </a:xfrm>
          <a:custGeom>
            <a:avLst/>
            <a:gdLst/>
            <a:ahLst/>
            <a:cxnLst/>
            <a:rect l="l" t="t" r="r" b="b"/>
            <a:pathLst>
              <a:path w="11064240" h="635">
                <a:moveTo>
                  <a:pt x="0" y="0"/>
                </a:moveTo>
                <a:lnTo>
                  <a:pt x="11064240" y="368"/>
                </a:lnTo>
              </a:path>
            </a:pathLst>
          </a:custGeom>
          <a:ln w="8999">
            <a:solidFill>
              <a:srgbClr val="DBE4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90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 spc="-100"/>
              <a:t>DAY</a:t>
            </a:r>
            <a:r>
              <a:rPr dirty="0" spc="-55"/>
              <a:t> </a:t>
            </a:r>
            <a:r>
              <a:rPr dirty="0"/>
              <a:t>1</a:t>
            </a:r>
            <a:r>
              <a:rPr dirty="0" spc="105"/>
              <a:t> </a:t>
            </a:r>
            <a:r>
              <a:rPr dirty="0"/>
              <a:t>•</a:t>
            </a:r>
            <a:r>
              <a:rPr dirty="0" spc="130"/>
              <a:t> </a:t>
            </a:r>
            <a:r>
              <a:rPr dirty="0" spc="-70"/>
              <a:t>CLOUD</a:t>
            </a:r>
            <a:r>
              <a:rPr dirty="0" spc="-55"/>
              <a:t> </a:t>
            </a:r>
            <a:r>
              <a:rPr dirty="0" spc="-65"/>
              <a:t>FOUNDATIONS</a:t>
            </a:r>
            <a:r>
              <a:rPr dirty="0" spc="-55"/>
              <a:t> </a:t>
            </a:r>
            <a:r>
              <a:rPr dirty="0" spc="-105"/>
              <a:t>&amp;</a:t>
            </a:r>
            <a:r>
              <a:rPr dirty="0" spc="-50"/>
              <a:t> </a:t>
            </a:r>
            <a:r>
              <a:rPr dirty="0" spc="-95"/>
              <a:t>AZURE</a:t>
            </a:r>
            <a:r>
              <a:rPr dirty="0" spc="-55"/>
              <a:t> </a:t>
            </a:r>
            <a:r>
              <a:rPr dirty="0" spc="-50"/>
              <a:t>BASICS</a:t>
            </a:r>
          </a:p>
        </p:txBody>
      </p:sp>
      <p:sp>
        <p:nvSpPr>
          <p:cNvPr id="39" name="object 39"/>
          <p:cNvSpPr txBox="1"/>
          <p:nvPr/>
        </p:nvSpPr>
        <p:spPr>
          <a:xfrm>
            <a:off x="11476697" y="6494402"/>
            <a:ext cx="149225" cy="172720"/>
          </a:xfrm>
          <a:prstGeom prst="rect">
            <a:avLst/>
          </a:prstGeom>
        </p:spPr>
        <p:txBody>
          <a:bodyPr wrap="square" lIns="0" tIns="203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dirty="0" sz="850" spc="-50">
                <a:solidFill>
                  <a:srgbClr val="0077D3"/>
                </a:solidFill>
                <a:latin typeface="Arial Black"/>
                <a:cs typeface="Arial Black"/>
              </a:rPr>
              <a:t>05</a:t>
            </a:r>
            <a:endParaRPr sz="85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3935" y="299427"/>
            <a:ext cx="205168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65">
                <a:solidFill>
                  <a:srgbClr val="0077D3"/>
                </a:solidFill>
                <a:latin typeface="Arial Black"/>
                <a:cs typeface="Arial Black"/>
              </a:rPr>
              <a:t>PA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25">
                <a:solidFill>
                  <a:srgbClr val="0077D3"/>
                </a:solidFill>
                <a:latin typeface="Arial Black"/>
                <a:cs typeface="Arial Black"/>
              </a:rPr>
              <a:t>R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>
                <a:solidFill>
                  <a:srgbClr val="0077D3"/>
                </a:solidFill>
                <a:latin typeface="Arial Black"/>
                <a:cs typeface="Arial Black"/>
              </a:rPr>
              <a:t>T</a:t>
            </a:r>
            <a:r>
              <a:rPr dirty="0" sz="1000" spc="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>
                <a:solidFill>
                  <a:srgbClr val="0077D3"/>
                </a:solidFill>
                <a:latin typeface="Arial Black"/>
                <a:cs typeface="Arial Black"/>
              </a:rPr>
              <a:t>1</a:t>
            </a:r>
            <a:r>
              <a:rPr dirty="0" sz="1000" spc="135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>
                <a:solidFill>
                  <a:srgbClr val="0077D3"/>
                </a:solidFill>
                <a:latin typeface="Arial Black"/>
                <a:cs typeface="Arial Black"/>
              </a:rPr>
              <a:t>•</a:t>
            </a:r>
            <a:r>
              <a:rPr dirty="0" sz="1000" spc="14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45">
                <a:solidFill>
                  <a:srgbClr val="0077D3"/>
                </a:solidFill>
                <a:latin typeface="Arial Black"/>
                <a:cs typeface="Arial Black"/>
              </a:rPr>
              <a:t>C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25">
                <a:solidFill>
                  <a:srgbClr val="0077D3"/>
                </a:solidFill>
                <a:latin typeface="Arial Black"/>
                <a:cs typeface="Arial Black"/>
              </a:rPr>
              <a:t>LO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90">
                <a:solidFill>
                  <a:srgbClr val="0077D3"/>
                </a:solidFill>
                <a:latin typeface="Arial Black"/>
                <a:cs typeface="Arial Black"/>
              </a:rPr>
              <a:t>U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>
                <a:solidFill>
                  <a:srgbClr val="0077D3"/>
                </a:solidFill>
                <a:latin typeface="Arial Black"/>
                <a:cs typeface="Arial Black"/>
              </a:rPr>
              <a:t>D</a:t>
            </a:r>
            <a:r>
              <a:rPr dirty="0" sz="1000" spc="135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45">
                <a:solidFill>
                  <a:srgbClr val="0077D3"/>
                </a:solidFill>
                <a:latin typeface="Arial Black"/>
                <a:cs typeface="Arial Black"/>
              </a:rPr>
              <a:t>CO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35">
                <a:solidFill>
                  <a:srgbClr val="0077D3"/>
                </a:solidFill>
                <a:latin typeface="Arial Black"/>
                <a:cs typeface="Arial Black"/>
              </a:rPr>
              <a:t>N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45">
                <a:solidFill>
                  <a:srgbClr val="0077D3"/>
                </a:solidFill>
                <a:latin typeface="Arial Black"/>
                <a:cs typeface="Arial Black"/>
              </a:rPr>
              <a:t>C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75">
                <a:solidFill>
                  <a:srgbClr val="0077D3"/>
                </a:solidFill>
                <a:latin typeface="Arial Black"/>
                <a:cs typeface="Arial Black"/>
              </a:rPr>
              <a:t>E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10">
                <a:solidFill>
                  <a:srgbClr val="0077D3"/>
                </a:solidFill>
                <a:latin typeface="Arial Black"/>
                <a:cs typeface="Arial Black"/>
              </a:rPr>
              <a:t>P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60">
                <a:solidFill>
                  <a:srgbClr val="0077D3"/>
                </a:solidFill>
                <a:latin typeface="Arial Black"/>
                <a:cs typeface="Arial Black"/>
              </a:rPr>
              <a:t>T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95">
                <a:solidFill>
                  <a:srgbClr val="0077D3"/>
                </a:solidFill>
                <a:latin typeface="Arial Black"/>
                <a:cs typeface="Arial Black"/>
              </a:rPr>
              <a:t>S</a:t>
            </a:r>
            <a:endParaRPr sz="1000">
              <a:latin typeface="Arial Black"/>
              <a:cs typeface="Arial Black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54304" y="428977"/>
            <a:ext cx="6558915" cy="814705"/>
          </a:xfrm>
          <a:prstGeom prst="rect"/>
        </p:spPr>
        <p:txBody>
          <a:bodyPr wrap="square" lIns="0" tIns="133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0"/>
              </a:spcBef>
            </a:pPr>
            <a:r>
              <a:rPr dirty="0" sz="2700" spc="-210">
                <a:solidFill>
                  <a:srgbClr val="0F2339"/>
                </a:solidFill>
              </a:rPr>
              <a:t>IaaS</a:t>
            </a:r>
            <a:r>
              <a:rPr dirty="0" sz="2700" spc="-200">
                <a:solidFill>
                  <a:srgbClr val="0F2339"/>
                </a:solidFill>
              </a:rPr>
              <a:t> </a:t>
            </a:r>
            <a:r>
              <a:rPr dirty="0" sz="2700" spc="-220">
                <a:solidFill>
                  <a:srgbClr val="0F2339"/>
                </a:solidFill>
              </a:rPr>
              <a:t>vs</a:t>
            </a:r>
            <a:r>
              <a:rPr dirty="0" sz="2700" spc="-190">
                <a:solidFill>
                  <a:srgbClr val="0F2339"/>
                </a:solidFill>
              </a:rPr>
              <a:t> </a:t>
            </a:r>
            <a:r>
              <a:rPr dirty="0" sz="2700" spc="-285">
                <a:solidFill>
                  <a:srgbClr val="0F2339"/>
                </a:solidFill>
              </a:rPr>
              <a:t>PaaS</a:t>
            </a:r>
            <a:r>
              <a:rPr dirty="0" sz="2700" spc="-195">
                <a:solidFill>
                  <a:srgbClr val="0F2339"/>
                </a:solidFill>
              </a:rPr>
              <a:t> </a:t>
            </a:r>
            <a:r>
              <a:rPr dirty="0" sz="2700" spc="-220">
                <a:solidFill>
                  <a:srgbClr val="0F2339"/>
                </a:solidFill>
              </a:rPr>
              <a:t>vs</a:t>
            </a:r>
            <a:r>
              <a:rPr dirty="0" sz="2700" spc="-195">
                <a:solidFill>
                  <a:srgbClr val="0F2339"/>
                </a:solidFill>
              </a:rPr>
              <a:t> </a:t>
            </a:r>
            <a:r>
              <a:rPr dirty="0" sz="2700" spc="-340">
                <a:solidFill>
                  <a:srgbClr val="0F2339"/>
                </a:solidFill>
              </a:rPr>
              <a:t>SaaS</a:t>
            </a:r>
            <a:endParaRPr sz="2700"/>
          </a:p>
          <a:p>
            <a:pPr marL="30480">
              <a:lnSpc>
                <a:spcPct val="100000"/>
              </a:lnSpc>
              <a:spcBef>
                <a:spcPts val="459"/>
              </a:spcBef>
            </a:pP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As</a:t>
            </a:r>
            <a:r>
              <a:rPr dirty="0" sz="1300" spc="-4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you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move</a:t>
            </a:r>
            <a:r>
              <a:rPr dirty="0" sz="1300" spc="-4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from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IaaS</a:t>
            </a:r>
            <a:r>
              <a:rPr dirty="0" sz="1300" spc="-4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to</a:t>
            </a:r>
            <a:r>
              <a:rPr dirty="0" sz="1300" spc="-4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SaaS,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the</a:t>
            </a:r>
            <a:r>
              <a:rPr dirty="0" sz="1300" spc="-4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provider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manages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more</a:t>
            </a:r>
            <a:r>
              <a:rPr dirty="0" sz="1300" spc="-5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of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the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technology</a:t>
            </a:r>
            <a:r>
              <a:rPr dirty="0" sz="1300" spc="-4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stack.</a:t>
            </a:r>
            <a:endParaRPr sz="1300">
              <a:latin typeface="Noto Sans"/>
              <a:cs typeface="Noto San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66635" y="1417319"/>
            <a:ext cx="11064240" cy="635"/>
          </a:xfrm>
          <a:custGeom>
            <a:avLst/>
            <a:gdLst/>
            <a:ahLst/>
            <a:cxnLst/>
            <a:rect l="l" t="t" r="r" b="b"/>
            <a:pathLst>
              <a:path w="11064240" h="634">
                <a:moveTo>
                  <a:pt x="0" y="0"/>
                </a:moveTo>
                <a:lnTo>
                  <a:pt x="11064240" y="355"/>
                </a:lnTo>
              </a:path>
            </a:pathLst>
          </a:custGeom>
          <a:ln w="10079">
            <a:solidFill>
              <a:srgbClr val="DBE4ED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6" name="object 6"/>
          <p:cNvGrpSpPr/>
          <p:nvPr/>
        </p:nvGrpSpPr>
        <p:grpSpPr>
          <a:xfrm>
            <a:off x="658075" y="1737360"/>
            <a:ext cx="10241280" cy="3767454"/>
            <a:chOff x="658075" y="1737360"/>
            <a:chExt cx="10241280" cy="3767454"/>
          </a:xfrm>
        </p:grpSpPr>
        <p:sp>
          <p:nvSpPr>
            <p:cNvPr id="7" name="object 7"/>
            <p:cNvSpPr/>
            <p:nvPr/>
          </p:nvSpPr>
          <p:spPr>
            <a:xfrm>
              <a:off x="658075" y="1737360"/>
              <a:ext cx="2011680" cy="438784"/>
            </a:xfrm>
            <a:custGeom>
              <a:avLst/>
              <a:gdLst/>
              <a:ahLst/>
              <a:cxnLst/>
              <a:rect l="l" t="t" r="r" b="b"/>
              <a:pathLst>
                <a:path w="2011680" h="438785">
                  <a:moveTo>
                    <a:pt x="2011324" y="0"/>
                  </a:moveTo>
                  <a:lnTo>
                    <a:pt x="0" y="0"/>
                  </a:lnTo>
                  <a:lnTo>
                    <a:pt x="0" y="438480"/>
                  </a:lnTo>
                  <a:lnTo>
                    <a:pt x="1005839" y="438480"/>
                  </a:lnTo>
                  <a:lnTo>
                    <a:pt x="2011324" y="438480"/>
                  </a:lnTo>
                  <a:lnTo>
                    <a:pt x="2011324" y="0"/>
                  </a:lnTo>
                  <a:close/>
                </a:path>
              </a:pathLst>
            </a:custGeom>
            <a:solidFill>
              <a:srgbClr val="0F233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2669755" y="1737360"/>
              <a:ext cx="2743200" cy="438784"/>
            </a:xfrm>
            <a:custGeom>
              <a:avLst/>
              <a:gdLst/>
              <a:ahLst/>
              <a:cxnLst/>
              <a:rect l="l" t="t" r="r" b="b"/>
              <a:pathLst>
                <a:path w="2743200" h="438785">
                  <a:moveTo>
                    <a:pt x="2742844" y="0"/>
                  </a:moveTo>
                  <a:lnTo>
                    <a:pt x="0" y="0"/>
                  </a:lnTo>
                  <a:lnTo>
                    <a:pt x="0" y="438480"/>
                  </a:lnTo>
                  <a:lnTo>
                    <a:pt x="1371599" y="438480"/>
                  </a:lnTo>
                  <a:lnTo>
                    <a:pt x="2742844" y="438480"/>
                  </a:lnTo>
                  <a:lnTo>
                    <a:pt x="2742844" y="0"/>
                  </a:lnTo>
                  <a:close/>
                </a:path>
              </a:pathLst>
            </a:custGeom>
            <a:solidFill>
              <a:srgbClr val="0077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5412955" y="1737360"/>
              <a:ext cx="2743200" cy="438784"/>
            </a:xfrm>
            <a:custGeom>
              <a:avLst/>
              <a:gdLst/>
              <a:ahLst/>
              <a:cxnLst/>
              <a:rect l="l" t="t" r="r" b="b"/>
              <a:pathLst>
                <a:path w="2743200" h="438785">
                  <a:moveTo>
                    <a:pt x="2742844" y="0"/>
                  </a:moveTo>
                  <a:lnTo>
                    <a:pt x="0" y="0"/>
                  </a:lnTo>
                  <a:lnTo>
                    <a:pt x="0" y="438480"/>
                  </a:lnTo>
                  <a:lnTo>
                    <a:pt x="1371600" y="438480"/>
                  </a:lnTo>
                  <a:lnTo>
                    <a:pt x="2742844" y="438480"/>
                  </a:lnTo>
                  <a:lnTo>
                    <a:pt x="2742844" y="0"/>
                  </a:lnTo>
                  <a:close/>
                </a:path>
              </a:pathLst>
            </a:custGeom>
            <a:solidFill>
              <a:srgbClr val="0C938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8156156" y="1737360"/>
              <a:ext cx="2743200" cy="438784"/>
            </a:xfrm>
            <a:custGeom>
              <a:avLst/>
              <a:gdLst/>
              <a:ahLst/>
              <a:cxnLst/>
              <a:rect l="l" t="t" r="r" b="b"/>
              <a:pathLst>
                <a:path w="2743200" h="438785">
                  <a:moveTo>
                    <a:pt x="2742844" y="0"/>
                  </a:moveTo>
                  <a:lnTo>
                    <a:pt x="0" y="0"/>
                  </a:lnTo>
                  <a:lnTo>
                    <a:pt x="0" y="438480"/>
                  </a:lnTo>
                  <a:lnTo>
                    <a:pt x="1371600" y="438480"/>
                  </a:lnTo>
                  <a:lnTo>
                    <a:pt x="2742844" y="438480"/>
                  </a:lnTo>
                  <a:lnTo>
                    <a:pt x="2742844" y="0"/>
                  </a:lnTo>
                  <a:close/>
                </a:path>
              </a:pathLst>
            </a:custGeom>
            <a:solidFill>
              <a:srgbClr val="5A39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658075" y="2176195"/>
              <a:ext cx="10241280" cy="475615"/>
            </a:xfrm>
            <a:custGeom>
              <a:avLst/>
              <a:gdLst/>
              <a:ahLst/>
              <a:cxnLst/>
              <a:rect l="l" t="t" r="r" b="b"/>
              <a:pathLst>
                <a:path w="10241280" h="475614">
                  <a:moveTo>
                    <a:pt x="2011324" y="0"/>
                  </a:moveTo>
                  <a:lnTo>
                    <a:pt x="0" y="0"/>
                  </a:lnTo>
                  <a:lnTo>
                    <a:pt x="0" y="475208"/>
                  </a:lnTo>
                  <a:lnTo>
                    <a:pt x="1005840" y="475208"/>
                  </a:lnTo>
                  <a:lnTo>
                    <a:pt x="2011324" y="475208"/>
                  </a:lnTo>
                  <a:lnTo>
                    <a:pt x="2011324" y="0"/>
                  </a:lnTo>
                  <a:close/>
                </a:path>
                <a:path w="10241280" h="475614">
                  <a:moveTo>
                    <a:pt x="4754524" y="0"/>
                  </a:moveTo>
                  <a:lnTo>
                    <a:pt x="2011680" y="0"/>
                  </a:lnTo>
                  <a:lnTo>
                    <a:pt x="2011680" y="475208"/>
                  </a:lnTo>
                  <a:lnTo>
                    <a:pt x="3383280" y="475208"/>
                  </a:lnTo>
                  <a:lnTo>
                    <a:pt x="4754524" y="475208"/>
                  </a:lnTo>
                  <a:lnTo>
                    <a:pt x="4754524" y="0"/>
                  </a:lnTo>
                  <a:close/>
                </a:path>
                <a:path w="10241280" h="475614">
                  <a:moveTo>
                    <a:pt x="7497724" y="0"/>
                  </a:moveTo>
                  <a:lnTo>
                    <a:pt x="4754880" y="0"/>
                  </a:lnTo>
                  <a:lnTo>
                    <a:pt x="4754880" y="475208"/>
                  </a:lnTo>
                  <a:lnTo>
                    <a:pt x="6126480" y="475208"/>
                  </a:lnTo>
                  <a:lnTo>
                    <a:pt x="7497724" y="475208"/>
                  </a:lnTo>
                  <a:lnTo>
                    <a:pt x="7497724" y="0"/>
                  </a:lnTo>
                  <a:close/>
                </a:path>
                <a:path w="10241280" h="475614">
                  <a:moveTo>
                    <a:pt x="10240924" y="0"/>
                  </a:moveTo>
                  <a:lnTo>
                    <a:pt x="7498080" y="0"/>
                  </a:lnTo>
                  <a:lnTo>
                    <a:pt x="7498080" y="475208"/>
                  </a:lnTo>
                  <a:lnTo>
                    <a:pt x="8869680" y="475208"/>
                  </a:lnTo>
                  <a:lnTo>
                    <a:pt x="10240924" y="475208"/>
                  </a:lnTo>
                  <a:lnTo>
                    <a:pt x="102409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658075" y="2651759"/>
              <a:ext cx="10241280" cy="475615"/>
            </a:xfrm>
            <a:custGeom>
              <a:avLst/>
              <a:gdLst/>
              <a:ahLst/>
              <a:cxnLst/>
              <a:rect l="l" t="t" r="r" b="b"/>
              <a:pathLst>
                <a:path w="10241280" h="475614">
                  <a:moveTo>
                    <a:pt x="2011324" y="0"/>
                  </a:moveTo>
                  <a:lnTo>
                    <a:pt x="0" y="0"/>
                  </a:lnTo>
                  <a:lnTo>
                    <a:pt x="0" y="475195"/>
                  </a:lnTo>
                  <a:lnTo>
                    <a:pt x="1005840" y="475195"/>
                  </a:lnTo>
                  <a:lnTo>
                    <a:pt x="2011324" y="475195"/>
                  </a:lnTo>
                  <a:lnTo>
                    <a:pt x="2011324" y="0"/>
                  </a:lnTo>
                  <a:close/>
                </a:path>
                <a:path w="10241280" h="475614">
                  <a:moveTo>
                    <a:pt x="4754524" y="0"/>
                  </a:moveTo>
                  <a:lnTo>
                    <a:pt x="2011680" y="0"/>
                  </a:lnTo>
                  <a:lnTo>
                    <a:pt x="2011680" y="475195"/>
                  </a:lnTo>
                  <a:lnTo>
                    <a:pt x="3383280" y="475195"/>
                  </a:lnTo>
                  <a:lnTo>
                    <a:pt x="4754524" y="475195"/>
                  </a:lnTo>
                  <a:lnTo>
                    <a:pt x="4754524" y="0"/>
                  </a:lnTo>
                  <a:close/>
                </a:path>
                <a:path w="10241280" h="475614">
                  <a:moveTo>
                    <a:pt x="7497724" y="0"/>
                  </a:moveTo>
                  <a:lnTo>
                    <a:pt x="4754880" y="0"/>
                  </a:lnTo>
                  <a:lnTo>
                    <a:pt x="4754880" y="475195"/>
                  </a:lnTo>
                  <a:lnTo>
                    <a:pt x="6126480" y="475195"/>
                  </a:lnTo>
                  <a:lnTo>
                    <a:pt x="7497724" y="475195"/>
                  </a:lnTo>
                  <a:lnTo>
                    <a:pt x="7497724" y="0"/>
                  </a:lnTo>
                  <a:close/>
                </a:path>
                <a:path w="10241280" h="475614">
                  <a:moveTo>
                    <a:pt x="10240924" y="0"/>
                  </a:moveTo>
                  <a:lnTo>
                    <a:pt x="7498080" y="0"/>
                  </a:lnTo>
                  <a:lnTo>
                    <a:pt x="7498080" y="475195"/>
                  </a:lnTo>
                  <a:lnTo>
                    <a:pt x="8869680" y="475195"/>
                  </a:lnTo>
                  <a:lnTo>
                    <a:pt x="10240924" y="475195"/>
                  </a:lnTo>
                  <a:lnTo>
                    <a:pt x="10240924" y="0"/>
                  </a:lnTo>
                  <a:close/>
                </a:path>
              </a:pathLst>
            </a:custGeom>
            <a:solidFill>
              <a:srgbClr val="F2F6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658075" y="3127324"/>
              <a:ext cx="10241280" cy="475615"/>
            </a:xfrm>
            <a:custGeom>
              <a:avLst/>
              <a:gdLst/>
              <a:ahLst/>
              <a:cxnLst/>
              <a:rect l="l" t="t" r="r" b="b"/>
              <a:pathLst>
                <a:path w="10241280" h="475614">
                  <a:moveTo>
                    <a:pt x="2011324" y="0"/>
                  </a:moveTo>
                  <a:lnTo>
                    <a:pt x="0" y="0"/>
                  </a:lnTo>
                  <a:lnTo>
                    <a:pt x="0" y="475195"/>
                  </a:lnTo>
                  <a:lnTo>
                    <a:pt x="1005840" y="475195"/>
                  </a:lnTo>
                  <a:lnTo>
                    <a:pt x="2011324" y="475195"/>
                  </a:lnTo>
                  <a:lnTo>
                    <a:pt x="2011324" y="0"/>
                  </a:lnTo>
                  <a:close/>
                </a:path>
                <a:path w="10241280" h="475614">
                  <a:moveTo>
                    <a:pt x="4754524" y="0"/>
                  </a:moveTo>
                  <a:lnTo>
                    <a:pt x="2011680" y="0"/>
                  </a:lnTo>
                  <a:lnTo>
                    <a:pt x="2011680" y="475195"/>
                  </a:lnTo>
                  <a:lnTo>
                    <a:pt x="3383280" y="475195"/>
                  </a:lnTo>
                  <a:lnTo>
                    <a:pt x="4754524" y="475195"/>
                  </a:lnTo>
                  <a:lnTo>
                    <a:pt x="4754524" y="0"/>
                  </a:lnTo>
                  <a:close/>
                </a:path>
                <a:path w="10241280" h="475614">
                  <a:moveTo>
                    <a:pt x="7497724" y="0"/>
                  </a:moveTo>
                  <a:lnTo>
                    <a:pt x="4754880" y="0"/>
                  </a:lnTo>
                  <a:lnTo>
                    <a:pt x="4754880" y="475195"/>
                  </a:lnTo>
                  <a:lnTo>
                    <a:pt x="6126480" y="475195"/>
                  </a:lnTo>
                  <a:lnTo>
                    <a:pt x="7497724" y="475195"/>
                  </a:lnTo>
                  <a:lnTo>
                    <a:pt x="7497724" y="0"/>
                  </a:lnTo>
                  <a:close/>
                </a:path>
                <a:path w="10241280" h="475614">
                  <a:moveTo>
                    <a:pt x="10240924" y="0"/>
                  </a:moveTo>
                  <a:lnTo>
                    <a:pt x="7498080" y="0"/>
                  </a:lnTo>
                  <a:lnTo>
                    <a:pt x="7498080" y="475195"/>
                  </a:lnTo>
                  <a:lnTo>
                    <a:pt x="8869680" y="475195"/>
                  </a:lnTo>
                  <a:lnTo>
                    <a:pt x="10240924" y="475195"/>
                  </a:lnTo>
                  <a:lnTo>
                    <a:pt x="102409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658075" y="3602875"/>
              <a:ext cx="10241280" cy="475615"/>
            </a:xfrm>
            <a:custGeom>
              <a:avLst/>
              <a:gdLst/>
              <a:ahLst/>
              <a:cxnLst/>
              <a:rect l="l" t="t" r="r" b="b"/>
              <a:pathLst>
                <a:path w="10241280" h="475614">
                  <a:moveTo>
                    <a:pt x="2011324" y="0"/>
                  </a:moveTo>
                  <a:lnTo>
                    <a:pt x="0" y="0"/>
                  </a:lnTo>
                  <a:lnTo>
                    <a:pt x="0" y="475208"/>
                  </a:lnTo>
                  <a:lnTo>
                    <a:pt x="1005840" y="475208"/>
                  </a:lnTo>
                  <a:lnTo>
                    <a:pt x="2011324" y="475208"/>
                  </a:lnTo>
                  <a:lnTo>
                    <a:pt x="2011324" y="0"/>
                  </a:lnTo>
                  <a:close/>
                </a:path>
                <a:path w="10241280" h="475614">
                  <a:moveTo>
                    <a:pt x="4754524" y="0"/>
                  </a:moveTo>
                  <a:lnTo>
                    <a:pt x="2011680" y="0"/>
                  </a:lnTo>
                  <a:lnTo>
                    <a:pt x="2011680" y="475208"/>
                  </a:lnTo>
                  <a:lnTo>
                    <a:pt x="3383280" y="475208"/>
                  </a:lnTo>
                  <a:lnTo>
                    <a:pt x="4754524" y="475208"/>
                  </a:lnTo>
                  <a:lnTo>
                    <a:pt x="4754524" y="0"/>
                  </a:lnTo>
                  <a:close/>
                </a:path>
                <a:path w="10241280" h="475614">
                  <a:moveTo>
                    <a:pt x="7497724" y="0"/>
                  </a:moveTo>
                  <a:lnTo>
                    <a:pt x="4754880" y="0"/>
                  </a:lnTo>
                  <a:lnTo>
                    <a:pt x="4754880" y="475208"/>
                  </a:lnTo>
                  <a:lnTo>
                    <a:pt x="6126480" y="475208"/>
                  </a:lnTo>
                  <a:lnTo>
                    <a:pt x="7497724" y="475208"/>
                  </a:lnTo>
                  <a:lnTo>
                    <a:pt x="7497724" y="0"/>
                  </a:lnTo>
                  <a:close/>
                </a:path>
                <a:path w="10241280" h="475614">
                  <a:moveTo>
                    <a:pt x="10240924" y="0"/>
                  </a:moveTo>
                  <a:lnTo>
                    <a:pt x="7498080" y="0"/>
                  </a:lnTo>
                  <a:lnTo>
                    <a:pt x="7498080" y="475208"/>
                  </a:lnTo>
                  <a:lnTo>
                    <a:pt x="8869680" y="475208"/>
                  </a:lnTo>
                  <a:lnTo>
                    <a:pt x="10240924" y="475208"/>
                  </a:lnTo>
                  <a:lnTo>
                    <a:pt x="10240924" y="0"/>
                  </a:lnTo>
                  <a:close/>
                </a:path>
              </a:pathLst>
            </a:custGeom>
            <a:solidFill>
              <a:srgbClr val="F2F6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658075" y="4078084"/>
              <a:ext cx="10241280" cy="475615"/>
            </a:xfrm>
            <a:custGeom>
              <a:avLst/>
              <a:gdLst/>
              <a:ahLst/>
              <a:cxnLst/>
              <a:rect l="l" t="t" r="r" b="b"/>
              <a:pathLst>
                <a:path w="10241280" h="475614">
                  <a:moveTo>
                    <a:pt x="2011324" y="0"/>
                  </a:moveTo>
                  <a:lnTo>
                    <a:pt x="0" y="0"/>
                  </a:lnTo>
                  <a:lnTo>
                    <a:pt x="0" y="475195"/>
                  </a:lnTo>
                  <a:lnTo>
                    <a:pt x="1005840" y="475195"/>
                  </a:lnTo>
                  <a:lnTo>
                    <a:pt x="2011324" y="475195"/>
                  </a:lnTo>
                  <a:lnTo>
                    <a:pt x="2011324" y="0"/>
                  </a:lnTo>
                  <a:close/>
                </a:path>
                <a:path w="10241280" h="475614">
                  <a:moveTo>
                    <a:pt x="4754524" y="0"/>
                  </a:moveTo>
                  <a:lnTo>
                    <a:pt x="2011680" y="0"/>
                  </a:lnTo>
                  <a:lnTo>
                    <a:pt x="2011680" y="475195"/>
                  </a:lnTo>
                  <a:lnTo>
                    <a:pt x="3383280" y="475195"/>
                  </a:lnTo>
                  <a:lnTo>
                    <a:pt x="4754524" y="475195"/>
                  </a:lnTo>
                  <a:lnTo>
                    <a:pt x="4754524" y="0"/>
                  </a:lnTo>
                  <a:close/>
                </a:path>
                <a:path w="10241280" h="475614">
                  <a:moveTo>
                    <a:pt x="7497724" y="0"/>
                  </a:moveTo>
                  <a:lnTo>
                    <a:pt x="4754880" y="0"/>
                  </a:lnTo>
                  <a:lnTo>
                    <a:pt x="4754880" y="475195"/>
                  </a:lnTo>
                  <a:lnTo>
                    <a:pt x="6126480" y="475195"/>
                  </a:lnTo>
                  <a:lnTo>
                    <a:pt x="7497724" y="475195"/>
                  </a:lnTo>
                  <a:lnTo>
                    <a:pt x="7497724" y="0"/>
                  </a:lnTo>
                  <a:close/>
                </a:path>
                <a:path w="10241280" h="475614">
                  <a:moveTo>
                    <a:pt x="10240924" y="0"/>
                  </a:moveTo>
                  <a:lnTo>
                    <a:pt x="7498080" y="0"/>
                  </a:lnTo>
                  <a:lnTo>
                    <a:pt x="7498080" y="475195"/>
                  </a:lnTo>
                  <a:lnTo>
                    <a:pt x="8869680" y="475195"/>
                  </a:lnTo>
                  <a:lnTo>
                    <a:pt x="10240924" y="475195"/>
                  </a:lnTo>
                  <a:lnTo>
                    <a:pt x="102409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658075" y="4553635"/>
              <a:ext cx="10241280" cy="475615"/>
            </a:xfrm>
            <a:custGeom>
              <a:avLst/>
              <a:gdLst/>
              <a:ahLst/>
              <a:cxnLst/>
              <a:rect l="l" t="t" r="r" b="b"/>
              <a:pathLst>
                <a:path w="10241280" h="475614">
                  <a:moveTo>
                    <a:pt x="2011324" y="0"/>
                  </a:moveTo>
                  <a:lnTo>
                    <a:pt x="0" y="0"/>
                  </a:lnTo>
                  <a:lnTo>
                    <a:pt x="0" y="475208"/>
                  </a:lnTo>
                  <a:lnTo>
                    <a:pt x="1005840" y="475208"/>
                  </a:lnTo>
                  <a:lnTo>
                    <a:pt x="2011324" y="475208"/>
                  </a:lnTo>
                  <a:lnTo>
                    <a:pt x="2011324" y="0"/>
                  </a:lnTo>
                  <a:close/>
                </a:path>
                <a:path w="10241280" h="475614">
                  <a:moveTo>
                    <a:pt x="4754524" y="0"/>
                  </a:moveTo>
                  <a:lnTo>
                    <a:pt x="2011680" y="0"/>
                  </a:lnTo>
                  <a:lnTo>
                    <a:pt x="2011680" y="475208"/>
                  </a:lnTo>
                  <a:lnTo>
                    <a:pt x="3383280" y="475208"/>
                  </a:lnTo>
                  <a:lnTo>
                    <a:pt x="4754524" y="475208"/>
                  </a:lnTo>
                  <a:lnTo>
                    <a:pt x="4754524" y="0"/>
                  </a:lnTo>
                  <a:close/>
                </a:path>
                <a:path w="10241280" h="475614">
                  <a:moveTo>
                    <a:pt x="7497724" y="0"/>
                  </a:moveTo>
                  <a:lnTo>
                    <a:pt x="4754880" y="0"/>
                  </a:lnTo>
                  <a:lnTo>
                    <a:pt x="4754880" y="475208"/>
                  </a:lnTo>
                  <a:lnTo>
                    <a:pt x="6126480" y="475208"/>
                  </a:lnTo>
                  <a:lnTo>
                    <a:pt x="7497724" y="475208"/>
                  </a:lnTo>
                  <a:lnTo>
                    <a:pt x="7497724" y="0"/>
                  </a:lnTo>
                  <a:close/>
                </a:path>
                <a:path w="10241280" h="475614">
                  <a:moveTo>
                    <a:pt x="10240924" y="0"/>
                  </a:moveTo>
                  <a:lnTo>
                    <a:pt x="7498080" y="0"/>
                  </a:lnTo>
                  <a:lnTo>
                    <a:pt x="7498080" y="475208"/>
                  </a:lnTo>
                  <a:lnTo>
                    <a:pt x="8869680" y="475208"/>
                  </a:lnTo>
                  <a:lnTo>
                    <a:pt x="10240924" y="475208"/>
                  </a:lnTo>
                  <a:lnTo>
                    <a:pt x="10240924" y="0"/>
                  </a:lnTo>
                  <a:close/>
                </a:path>
              </a:pathLst>
            </a:custGeom>
            <a:solidFill>
              <a:srgbClr val="F2F6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658075" y="5029199"/>
              <a:ext cx="10241280" cy="475615"/>
            </a:xfrm>
            <a:custGeom>
              <a:avLst/>
              <a:gdLst/>
              <a:ahLst/>
              <a:cxnLst/>
              <a:rect l="l" t="t" r="r" b="b"/>
              <a:pathLst>
                <a:path w="10241280" h="475614">
                  <a:moveTo>
                    <a:pt x="2011324" y="0"/>
                  </a:moveTo>
                  <a:lnTo>
                    <a:pt x="0" y="0"/>
                  </a:lnTo>
                  <a:lnTo>
                    <a:pt x="0" y="475195"/>
                  </a:lnTo>
                  <a:lnTo>
                    <a:pt x="1005840" y="475195"/>
                  </a:lnTo>
                  <a:lnTo>
                    <a:pt x="2011324" y="475195"/>
                  </a:lnTo>
                  <a:lnTo>
                    <a:pt x="2011324" y="0"/>
                  </a:lnTo>
                  <a:close/>
                </a:path>
                <a:path w="10241280" h="475614">
                  <a:moveTo>
                    <a:pt x="4754524" y="0"/>
                  </a:moveTo>
                  <a:lnTo>
                    <a:pt x="2011680" y="0"/>
                  </a:lnTo>
                  <a:lnTo>
                    <a:pt x="2011680" y="475195"/>
                  </a:lnTo>
                  <a:lnTo>
                    <a:pt x="3383280" y="475195"/>
                  </a:lnTo>
                  <a:lnTo>
                    <a:pt x="4754524" y="475195"/>
                  </a:lnTo>
                  <a:lnTo>
                    <a:pt x="4754524" y="0"/>
                  </a:lnTo>
                  <a:close/>
                </a:path>
                <a:path w="10241280" h="475614">
                  <a:moveTo>
                    <a:pt x="7497724" y="0"/>
                  </a:moveTo>
                  <a:lnTo>
                    <a:pt x="4754880" y="0"/>
                  </a:lnTo>
                  <a:lnTo>
                    <a:pt x="4754880" y="475195"/>
                  </a:lnTo>
                  <a:lnTo>
                    <a:pt x="6126480" y="475195"/>
                  </a:lnTo>
                  <a:lnTo>
                    <a:pt x="7497724" y="475195"/>
                  </a:lnTo>
                  <a:lnTo>
                    <a:pt x="7497724" y="0"/>
                  </a:lnTo>
                  <a:close/>
                </a:path>
                <a:path w="10241280" h="475614">
                  <a:moveTo>
                    <a:pt x="10240924" y="0"/>
                  </a:moveTo>
                  <a:lnTo>
                    <a:pt x="7498080" y="0"/>
                  </a:lnTo>
                  <a:lnTo>
                    <a:pt x="7498080" y="475195"/>
                  </a:lnTo>
                  <a:lnTo>
                    <a:pt x="8869680" y="475195"/>
                  </a:lnTo>
                  <a:lnTo>
                    <a:pt x="10240924" y="475195"/>
                  </a:lnTo>
                  <a:lnTo>
                    <a:pt x="102409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653036" y="1732320"/>
          <a:ext cx="10327640" cy="37642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11680"/>
                <a:gridCol w="2743199"/>
                <a:gridCol w="2743200"/>
                <a:gridCol w="2743200"/>
              </a:tblGrid>
              <a:tr h="438784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869"/>
                        </a:spcBef>
                      </a:pPr>
                      <a:r>
                        <a:rPr dirty="0" sz="1300" spc="-1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Layer</a:t>
                      </a:r>
                      <a:endParaRPr sz="1300">
                        <a:latin typeface="Arial Black"/>
                        <a:cs typeface="Arial Black"/>
                      </a:endParaRPr>
                    </a:p>
                  </a:txBody>
                  <a:tcPr marL="0" marR="0" marB="0" marT="110489">
                    <a:lnL w="12700">
                      <a:solidFill>
                        <a:srgbClr val="0F2339"/>
                      </a:solidFill>
                      <a:prstDash val="solid"/>
                    </a:lnL>
                    <a:lnR w="12700">
                      <a:solidFill>
                        <a:srgbClr val="0077D3"/>
                      </a:solidFill>
                      <a:prstDash val="solid"/>
                    </a:lnR>
                    <a:lnT w="12700">
                      <a:solidFill>
                        <a:srgbClr val="0F2339"/>
                      </a:solidFill>
                      <a:prstDash val="solid"/>
                    </a:lnT>
                    <a:lnB w="12700">
                      <a:solidFill>
                        <a:srgbClr val="DBE4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869"/>
                        </a:spcBef>
                      </a:pPr>
                      <a:r>
                        <a:rPr dirty="0" sz="1300" spc="-2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IaaS</a:t>
                      </a:r>
                      <a:endParaRPr sz="1300">
                        <a:latin typeface="Arial Black"/>
                        <a:cs typeface="Arial Black"/>
                      </a:endParaRPr>
                    </a:p>
                  </a:txBody>
                  <a:tcPr marL="0" marR="0" marB="0" marT="110489">
                    <a:lnL w="12700">
                      <a:solidFill>
                        <a:srgbClr val="0077D3"/>
                      </a:solidFill>
                      <a:prstDash val="solid"/>
                    </a:lnL>
                    <a:lnR w="12700">
                      <a:solidFill>
                        <a:srgbClr val="0C9387"/>
                      </a:solidFill>
                      <a:prstDash val="solid"/>
                    </a:lnR>
                    <a:lnT w="12700">
                      <a:solidFill>
                        <a:srgbClr val="0077D3"/>
                      </a:solidFill>
                      <a:prstDash val="solid"/>
                    </a:lnT>
                    <a:lnB w="12700">
                      <a:solidFill>
                        <a:srgbClr val="DBE4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869"/>
                        </a:spcBef>
                      </a:pPr>
                      <a:r>
                        <a:rPr dirty="0" sz="1300" spc="-2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PaaS</a:t>
                      </a:r>
                      <a:endParaRPr sz="1300">
                        <a:latin typeface="Arial Black"/>
                        <a:cs typeface="Arial Black"/>
                      </a:endParaRPr>
                    </a:p>
                  </a:txBody>
                  <a:tcPr marL="0" marR="0" marB="0" marT="110489">
                    <a:lnL w="12700">
                      <a:solidFill>
                        <a:srgbClr val="0C9387"/>
                      </a:solidFill>
                      <a:prstDash val="solid"/>
                    </a:lnL>
                    <a:lnR w="12700">
                      <a:solidFill>
                        <a:srgbClr val="5A399D"/>
                      </a:solidFill>
                      <a:prstDash val="solid"/>
                    </a:lnR>
                    <a:lnT w="12700">
                      <a:solidFill>
                        <a:srgbClr val="0C9387"/>
                      </a:solidFill>
                      <a:prstDash val="solid"/>
                    </a:lnT>
                    <a:lnB w="12700">
                      <a:solidFill>
                        <a:srgbClr val="DBE4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869"/>
                        </a:spcBef>
                      </a:pPr>
                      <a:r>
                        <a:rPr dirty="0" sz="1300" spc="-2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SaaS</a:t>
                      </a:r>
                      <a:endParaRPr sz="1300">
                        <a:latin typeface="Arial Black"/>
                        <a:cs typeface="Arial Black"/>
                      </a:endParaRPr>
                    </a:p>
                  </a:txBody>
                  <a:tcPr marL="0" marR="0" marB="0" marT="110489">
                    <a:lnL w="12700">
                      <a:solidFill>
                        <a:srgbClr val="5A399D"/>
                      </a:solidFill>
                      <a:prstDash val="solid"/>
                    </a:lnL>
                    <a:lnR w="12700">
                      <a:solidFill>
                        <a:srgbClr val="5A399D"/>
                      </a:solidFill>
                      <a:prstDash val="solid"/>
                    </a:lnR>
                    <a:lnT w="12700">
                      <a:solidFill>
                        <a:srgbClr val="5A399D"/>
                      </a:solidFill>
                      <a:prstDash val="solid"/>
                    </a:lnT>
                    <a:lnB w="12700">
                      <a:solidFill>
                        <a:srgbClr val="DBE4ED"/>
                      </a:solidFill>
                      <a:prstDash val="solid"/>
                    </a:lnB>
                  </a:tcPr>
                </a:tc>
              </a:tr>
              <a:tr h="474980"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1145"/>
                        </a:spcBef>
                      </a:pPr>
                      <a:r>
                        <a:rPr dirty="0" sz="1150" spc="-85">
                          <a:solidFill>
                            <a:srgbClr val="0F2339"/>
                          </a:solidFill>
                          <a:latin typeface="Arial Black"/>
                          <a:cs typeface="Arial Black"/>
                        </a:rPr>
                        <a:t>Physical</a:t>
                      </a:r>
                      <a:r>
                        <a:rPr dirty="0" sz="1150" spc="-55">
                          <a:solidFill>
                            <a:srgbClr val="0F2339"/>
                          </a:solidFill>
                          <a:latin typeface="Arial Black"/>
                          <a:cs typeface="Arial Black"/>
                        </a:rPr>
                        <a:t> data</a:t>
                      </a:r>
                      <a:r>
                        <a:rPr dirty="0" sz="1150" spc="-50">
                          <a:solidFill>
                            <a:srgbClr val="0F2339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1150" spc="-10">
                          <a:solidFill>
                            <a:srgbClr val="0F2339"/>
                          </a:solidFill>
                          <a:latin typeface="Arial Black"/>
                          <a:cs typeface="Arial Black"/>
                        </a:rPr>
                        <a:t>centre</a:t>
                      </a:r>
                      <a:endParaRPr sz="1150">
                        <a:latin typeface="Arial Black"/>
                        <a:cs typeface="Arial Black"/>
                      </a:endParaRPr>
                    </a:p>
                  </a:txBody>
                  <a:tcPr marL="0" marR="0" marB="0" marT="145415">
                    <a:lnL w="12700">
                      <a:solidFill>
                        <a:srgbClr val="DBE4ED"/>
                      </a:solidFill>
                      <a:prstDash val="solid"/>
                    </a:lnL>
                    <a:lnR w="12700">
                      <a:solidFill>
                        <a:srgbClr val="DBE4ED"/>
                      </a:solidFill>
                      <a:prstDash val="solid"/>
                    </a:lnR>
                    <a:lnT w="12700">
                      <a:solidFill>
                        <a:srgbClr val="DBE4ED"/>
                      </a:solidFill>
                      <a:prstDash val="solid"/>
                    </a:lnT>
                    <a:lnB w="12700">
                      <a:solidFill>
                        <a:srgbClr val="DBE4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r>
                        <a:rPr dirty="0" sz="1100" spc="-10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Provider</a:t>
                      </a:r>
                      <a:endParaRPr sz="1100">
                        <a:latin typeface="Noto Sans"/>
                        <a:cs typeface="Noto Sans"/>
                      </a:endParaRPr>
                    </a:p>
                  </a:txBody>
                  <a:tcPr marL="0" marR="0" marB="0" marT="149860">
                    <a:lnL w="12700">
                      <a:solidFill>
                        <a:srgbClr val="DBE4ED"/>
                      </a:solidFill>
                      <a:prstDash val="solid"/>
                    </a:lnL>
                    <a:lnR w="12700">
                      <a:solidFill>
                        <a:srgbClr val="DBE4ED"/>
                      </a:solidFill>
                      <a:prstDash val="solid"/>
                    </a:lnR>
                    <a:lnT w="12700">
                      <a:solidFill>
                        <a:srgbClr val="DBE4ED"/>
                      </a:solidFill>
                      <a:prstDash val="solid"/>
                    </a:lnT>
                    <a:lnB w="12700">
                      <a:solidFill>
                        <a:srgbClr val="DBE4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r>
                        <a:rPr dirty="0" sz="1100" spc="-10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Provider</a:t>
                      </a:r>
                      <a:endParaRPr sz="1100">
                        <a:latin typeface="Noto Sans"/>
                        <a:cs typeface="Noto Sans"/>
                      </a:endParaRPr>
                    </a:p>
                  </a:txBody>
                  <a:tcPr marL="0" marR="0" marB="0" marT="149860">
                    <a:lnL w="12700">
                      <a:solidFill>
                        <a:srgbClr val="DBE4ED"/>
                      </a:solidFill>
                      <a:prstDash val="solid"/>
                    </a:lnL>
                    <a:lnR w="12700">
                      <a:solidFill>
                        <a:srgbClr val="DBE4ED"/>
                      </a:solidFill>
                      <a:prstDash val="solid"/>
                    </a:lnR>
                    <a:lnT w="12700">
                      <a:solidFill>
                        <a:srgbClr val="DBE4ED"/>
                      </a:solidFill>
                      <a:prstDash val="solid"/>
                    </a:lnT>
                    <a:lnB w="12700">
                      <a:solidFill>
                        <a:srgbClr val="DBE4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r>
                        <a:rPr dirty="0" sz="1100" spc="-10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Provider</a:t>
                      </a:r>
                      <a:endParaRPr sz="1100">
                        <a:latin typeface="Noto Sans"/>
                        <a:cs typeface="Noto Sans"/>
                      </a:endParaRPr>
                    </a:p>
                  </a:txBody>
                  <a:tcPr marL="0" marR="0" marB="0" marT="149860">
                    <a:lnL w="12700">
                      <a:solidFill>
                        <a:srgbClr val="DBE4ED"/>
                      </a:solidFill>
                      <a:prstDash val="solid"/>
                    </a:lnL>
                    <a:lnR w="12700">
                      <a:solidFill>
                        <a:srgbClr val="DBE4ED"/>
                      </a:solidFill>
                      <a:prstDash val="solid"/>
                    </a:lnR>
                    <a:lnT w="12700">
                      <a:solidFill>
                        <a:srgbClr val="DBE4ED"/>
                      </a:solidFill>
                      <a:prstDash val="solid"/>
                    </a:lnT>
                    <a:lnB w="12700">
                      <a:solidFill>
                        <a:srgbClr val="DBE4ED"/>
                      </a:solidFill>
                      <a:prstDash val="solid"/>
                    </a:lnB>
                  </a:tcPr>
                </a:tc>
              </a:tr>
              <a:tr h="474980"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1145"/>
                        </a:spcBef>
                      </a:pPr>
                      <a:r>
                        <a:rPr dirty="0" sz="1150" spc="-85">
                          <a:solidFill>
                            <a:srgbClr val="0F2339"/>
                          </a:solidFill>
                          <a:latin typeface="Arial Black"/>
                          <a:cs typeface="Arial Black"/>
                        </a:rPr>
                        <a:t>Physical</a:t>
                      </a:r>
                      <a:r>
                        <a:rPr dirty="0" sz="1150" spc="-40">
                          <a:solidFill>
                            <a:srgbClr val="0F2339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1150" spc="-10">
                          <a:solidFill>
                            <a:srgbClr val="0F2339"/>
                          </a:solidFill>
                          <a:latin typeface="Arial Black"/>
                          <a:cs typeface="Arial Black"/>
                        </a:rPr>
                        <a:t>host/network</a:t>
                      </a:r>
                      <a:endParaRPr sz="1150">
                        <a:latin typeface="Arial Black"/>
                        <a:cs typeface="Arial Black"/>
                      </a:endParaRPr>
                    </a:p>
                  </a:txBody>
                  <a:tcPr marL="0" marR="0" marB="0" marT="145415">
                    <a:lnL w="12700">
                      <a:solidFill>
                        <a:srgbClr val="DBE4ED"/>
                      </a:solidFill>
                      <a:prstDash val="solid"/>
                    </a:lnL>
                    <a:lnR w="12700">
                      <a:solidFill>
                        <a:srgbClr val="DBE4ED"/>
                      </a:solidFill>
                      <a:prstDash val="solid"/>
                    </a:lnR>
                    <a:lnT w="12700">
                      <a:solidFill>
                        <a:srgbClr val="DBE4ED"/>
                      </a:solidFill>
                      <a:prstDash val="solid"/>
                    </a:lnT>
                    <a:lnB w="12700">
                      <a:solidFill>
                        <a:srgbClr val="DBE4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r>
                        <a:rPr dirty="0" sz="1100" spc="-10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Provider</a:t>
                      </a:r>
                      <a:endParaRPr sz="1100">
                        <a:latin typeface="Noto Sans"/>
                        <a:cs typeface="Noto Sans"/>
                      </a:endParaRPr>
                    </a:p>
                  </a:txBody>
                  <a:tcPr marL="0" marR="0" marB="0" marT="149860">
                    <a:lnL w="12700">
                      <a:solidFill>
                        <a:srgbClr val="DBE4ED"/>
                      </a:solidFill>
                      <a:prstDash val="solid"/>
                    </a:lnL>
                    <a:lnR w="12700">
                      <a:solidFill>
                        <a:srgbClr val="DBE4ED"/>
                      </a:solidFill>
                      <a:prstDash val="solid"/>
                    </a:lnR>
                    <a:lnT w="12700">
                      <a:solidFill>
                        <a:srgbClr val="DBE4ED"/>
                      </a:solidFill>
                      <a:prstDash val="solid"/>
                    </a:lnT>
                    <a:lnB w="12700">
                      <a:solidFill>
                        <a:srgbClr val="DBE4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r>
                        <a:rPr dirty="0" sz="1100" spc="-10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Provider</a:t>
                      </a:r>
                      <a:endParaRPr sz="1100">
                        <a:latin typeface="Noto Sans"/>
                        <a:cs typeface="Noto Sans"/>
                      </a:endParaRPr>
                    </a:p>
                  </a:txBody>
                  <a:tcPr marL="0" marR="0" marB="0" marT="149860">
                    <a:lnL w="12700">
                      <a:solidFill>
                        <a:srgbClr val="DBE4ED"/>
                      </a:solidFill>
                      <a:prstDash val="solid"/>
                    </a:lnL>
                    <a:lnR w="12700">
                      <a:solidFill>
                        <a:srgbClr val="DBE4ED"/>
                      </a:solidFill>
                      <a:prstDash val="solid"/>
                    </a:lnR>
                    <a:lnT w="12700">
                      <a:solidFill>
                        <a:srgbClr val="DBE4ED"/>
                      </a:solidFill>
                      <a:prstDash val="solid"/>
                    </a:lnT>
                    <a:lnB w="12700">
                      <a:solidFill>
                        <a:srgbClr val="DBE4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r>
                        <a:rPr dirty="0" sz="1100" spc="-10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Provider</a:t>
                      </a:r>
                      <a:endParaRPr sz="1100">
                        <a:latin typeface="Noto Sans"/>
                        <a:cs typeface="Noto Sans"/>
                      </a:endParaRPr>
                    </a:p>
                  </a:txBody>
                  <a:tcPr marL="0" marR="0" marB="0" marT="149860">
                    <a:lnL w="12700">
                      <a:solidFill>
                        <a:srgbClr val="DBE4ED"/>
                      </a:solidFill>
                      <a:prstDash val="solid"/>
                    </a:lnL>
                    <a:lnR w="12700">
                      <a:solidFill>
                        <a:srgbClr val="DBE4ED"/>
                      </a:solidFill>
                      <a:prstDash val="solid"/>
                    </a:lnR>
                    <a:lnT w="12700">
                      <a:solidFill>
                        <a:srgbClr val="DBE4ED"/>
                      </a:solidFill>
                      <a:prstDash val="solid"/>
                    </a:lnT>
                    <a:lnB w="12700">
                      <a:solidFill>
                        <a:srgbClr val="DBE4ED"/>
                      </a:solidFill>
                      <a:prstDash val="solid"/>
                    </a:lnB>
                  </a:tcPr>
                </a:tc>
              </a:tr>
              <a:tr h="475615"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1145"/>
                        </a:spcBef>
                      </a:pPr>
                      <a:r>
                        <a:rPr dirty="0" sz="1150" spc="-50">
                          <a:solidFill>
                            <a:srgbClr val="0F2339"/>
                          </a:solidFill>
                          <a:latin typeface="Arial Black"/>
                          <a:cs typeface="Arial Black"/>
                        </a:rPr>
                        <a:t>Operating</a:t>
                      </a:r>
                      <a:r>
                        <a:rPr dirty="0" sz="1150" spc="-25">
                          <a:solidFill>
                            <a:srgbClr val="0F2339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1150" spc="-10">
                          <a:solidFill>
                            <a:srgbClr val="0F2339"/>
                          </a:solidFill>
                          <a:latin typeface="Arial Black"/>
                          <a:cs typeface="Arial Black"/>
                        </a:rPr>
                        <a:t>system</a:t>
                      </a:r>
                      <a:endParaRPr sz="1150">
                        <a:latin typeface="Arial Black"/>
                        <a:cs typeface="Arial Black"/>
                      </a:endParaRPr>
                    </a:p>
                  </a:txBody>
                  <a:tcPr marL="0" marR="0" marB="0" marT="145415">
                    <a:lnL w="12700">
                      <a:solidFill>
                        <a:srgbClr val="DBE4ED"/>
                      </a:solidFill>
                      <a:prstDash val="solid"/>
                    </a:lnL>
                    <a:lnR w="12700">
                      <a:solidFill>
                        <a:srgbClr val="DBE4ED"/>
                      </a:solidFill>
                      <a:prstDash val="solid"/>
                    </a:lnR>
                    <a:lnT w="12700">
                      <a:solidFill>
                        <a:srgbClr val="DBE4ED"/>
                      </a:solidFill>
                      <a:prstDash val="solid"/>
                    </a:lnT>
                    <a:lnB w="12700">
                      <a:solidFill>
                        <a:srgbClr val="DBE4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r>
                        <a:rPr dirty="0" sz="1100" spc="-10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Customer</a:t>
                      </a:r>
                      <a:endParaRPr sz="1100">
                        <a:latin typeface="Noto Sans"/>
                        <a:cs typeface="Noto Sans"/>
                      </a:endParaRPr>
                    </a:p>
                  </a:txBody>
                  <a:tcPr marL="0" marR="0" marB="0" marT="149860">
                    <a:lnL w="12700">
                      <a:solidFill>
                        <a:srgbClr val="DBE4ED"/>
                      </a:solidFill>
                      <a:prstDash val="solid"/>
                    </a:lnL>
                    <a:lnR w="12700">
                      <a:solidFill>
                        <a:srgbClr val="DBE4ED"/>
                      </a:solidFill>
                      <a:prstDash val="solid"/>
                    </a:lnR>
                    <a:lnT w="12700">
                      <a:solidFill>
                        <a:srgbClr val="DBE4ED"/>
                      </a:solidFill>
                      <a:prstDash val="solid"/>
                    </a:lnT>
                    <a:lnB w="12700">
                      <a:solidFill>
                        <a:srgbClr val="DBE4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r>
                        <a:rPr dirty="0" sz="1100" spc="-10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Provider</a:t>
                      </a:r>
                      <a:endParaRPr sz="1100">
                        <a:latin typeface="Noto Sans"/>
                        <a:cs typeface="Noto Sans"/>
                      </a:endParaRPr>
                    </a:p>
                  </a:txBody>
                  <a:tcPr marL="0" marR="0" marB="0" marT="149860">
                    <a:lnL w="12700">
                      <a:solidFill>
                        <a:srgbClr val="DBE4ED"/>
                      </a:solidFill>
                      <a:prstDash val="solid"/>
                    </a:lnL>
                    <a:lnR w="12700">
                      <a:solidFill>
                        <a:srgbClr val="DBE4ED"/>
                      </a:solidFill>
                      <a:prstDash val="solid"/>
                    </a:lnR>
                    <a:lnT w="12700">
                      <a:solidFill>
                        <a:srgbClr val="DBE4ED"/>
                      </a:solidFill>
                      <a:prstDash val="solid"/>
                    </a:lnT>
                    <a:lnB w="12700">
                      <a:solidFill>
                        <a:srgbClr val="DBE4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r>
                        <a:rPr dirty="0" sz="1100" spc="-10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Provider</a:t>
                      </a:r>
                      <a:endParaRPr sz="1100">
                        <a:latin typeface="Noto Sans"/>
                        <a:cs typeface="Noto Sans"/>
                      </a:endParaRPr>
                    </a:p>
                  </a:txBody>
                  <a:tcPr marL="0" marR="0" marB="0" marT="149860">
                    <a:lnL w="12700">
                      <a:solidFill>
                        <a:srgbClr val="DBE4ED"/>
                      </a:solidFill>
                      <a:prstDash val="solid"/>
                    </a:lnL>
                    <a:lnR w="12700">
                      <a:solidFill>
                        <a:srgbClr val="DBE4ED"/>
                      </a:solidFill>
                      <a:prstDash val="solid"/>
                    </a:lnR>
                    <a:lnT w="12700">
                      <a:solidFill>
                        <a:srgbClr val="DBE4ED"/>
                      </a:solidFill>
                      <a:prstDash val="solid"/>
                    </a:lnT>
                    <a:lnB w="12700">
                      <a:solidFill>
                        <a:srgbClr val="DBE4ED"/>
                      </a:solidFill>
                      <a:prstDash val="solid"/>
                    </a:lnB>
                  </a:tcPr>
                </a:tc>
              </a:tr>
              <a:tr h="474980"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1145"/>
                        </a:spcBef>
                      </a:pPr>
                      <a:r>
                        <a:rPr dirty="0" sz="1150" spc="-50">
                          <a:solidFill>
                            <a:srgbClr val="0F2339"/>
                          </a:solidFill>
                          <a:latin typeface="Arial Black"/>
                          <a:cs typeface="Arial Black"/>
                        </a:rPr>
                        <a:t>Runtime</a:t>
                      </a:r>
                      <a:r>
                        <a:rPr dirty="0" sz="1150" spc="-65">
                          <a:solidFill>
                            <a:srgbClr val="0F2339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1150" spc="145">
                          <a:solidFill>
                            <a:srgbClr val="0F2339"/>
                          </a:solidFill>
                          <a:latin typeface="Arial Black"/>
                          <a:cs typeface="Arial Black"/>
                        </a:rPr>
                        <a:t>/</a:t>
                      </a:r>
                      <a:r>
                        <a:rPr dirty="0" sz="1150" spc="-65">
                          <a:solidFill>
                            <a:srgbClr val="0F2339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1150" spc="-10">
                          <a:solidFill>
                            <a:srgbClr val="0F2339"/>
                          </a:solidFill>
                          <a:latin typeface="Arial Black"/>
                          <a:cs typeface="Arial Black"/>
                        </a:rPr>
                        <a:t>middleware</a:t>
                      </a:r>
                      <a:endParaRPr sz="1150">
                        <a:latin typeface="Arial Black"/>
                        <a:cs typeface="Arial Black"/>
                      </a:endParaRPr>
                    </a:p>
                  </a:txBody>
                  <a:tcPr marL="0" marR="0" marB="0" marT="145415">
                    <a:lnL w="12700">
                      <a:solidFill>
                        <a:srgbClr val="DBE4ED"/>
                      </a:solidFill>
                      <a:prstDash val="solid"/>
                    </a:lnL>
                    <a:lnR w="12700">
                      <a:solidFill>
                        <a:srgbClr val="DBE4ED"/>
                      </a:solidFill>
                      <a:prstDash val="solid"/>
                    </a:lnR>
                    <a:lnT w="12700">
                      <a:solidFill>
                        <a:srgbClr val="DBE4ED"/>
                      </a:solidFill>
                      <a:prstDash val="solid"/>
                    </a:lnT>
                    <a:lnB w="12700">
                      <a:solidFill>
                        <a:srgbClr val="DBE4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r>
                        <a:rPr dirty="0" sz="1100" spc="-10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Customer</a:t>
                      </a:r>
                      <a:endParaRPr sz="1100">
                        <a:latin typeface="Noto Sans"/>
                        <a:cs typeface="Noto Sans"/>
                      </a:endParaRPr>
                    </a:p>
                  </a:txBody>
                  <a:tcPr marL="0" marR="0" marB="0" marT="149860">
                    <a:lnL w="12700">
                      <a:solidFill>
                        <a:srgbClr val="DBE4ED"/>
                      </a:solidFill>
                      <a:prstDash val="solid"/>
                    </a:lnL>
                    <a:lnR w="12700">
                      <a:solidFill>
                        <a:srgbClr val="DBE4ED"/>
                      </a:solidFill>
                      <a:prstDash val="solid"/>
                    </a:lnR>
                    <a:lnT w="12700">
                      <a:solidFill>
                        <a:srgbClr val="DBE4ED"/>
                      </a:solidFill>
                      <a:prstDash val="solid"/>
                    </a:lnT>
                    <a:lnB w="12700">
                      <a:solidFill>
                        <a:srgbClr val="DBE4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r>
                        <a:rPr dirty="0" sz="1100" spc="-10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Provider</a:t>
                      </a:r>
                      <a:endParaRPr sz="1100">
                        <a:latin typeface="Noto Sans"/>
                        <a:cs typeface="Noto Sans"/>
                      </a:endParaRPr>
                    </a:p>
                  </a:txBody>
                  <a:tcPr marL="0" marR="0" marB="0" marT="149860">
                    <a:lnL w="12700">
                      <a:solidFill>
                        <a:srgbClr val="DBE4ED"/>
                      </a:solidFill>
                      <a:prstDash val="solid"/>
                    </a:lnL>
                    <a:lnR w="12700">
                      <a:solidFill>
                        <a:srgbClr val="DBE4ED"/>
                      </a:solidFill>
                      <a:prstDash val="solid"/>
                    </a:lnR>
                    <a:lnT w="12700">
                      <a:solidFill>
                        <a:srgbClr val="DBE4ED"/>
                      </a:solidFill>
                      <a:prstDash val="solid"/>
                    </a:lnT>
                    <a:lnB w="12700">
                      <a:solidFill>
                        <a:srgbClr val="DBE4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r>
                        <a:rPr dirty="0" sz="1100" spc="-10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Provider</a:t>
                      </a:r>
                      <a:endParaRPr sz="1100">
                        <a:latin typeface="Noto Sans"/>
                        <a:cs typeface="Noto Sans"/>
                      </a:endParaRPr>
                    </a:p>
                  </a:txBody>
                  <a:tcPr marL="0" marR="0" marB="0" marT="149860">
                    <a:lnL w="12700">
                      <a:solidFill>
                        <a:srgbClr val="DBE4ED"/>
                      </a:solidFill>
                      <a:prstDash val="solid"/>
                    </a:lnL>
                    <a:lnR w="12700">
                      <a:solidFill>
                        <a:srgbClr val="DBE4ED"/>
                      </a:solidFill>
                      <a:prstDash val="solid"/>
                    </a:lnR>
                    <a:lnT w="12700">
                      <a:solidFill>
                        <a:srgbClr val="DBE4ED"/>
                      </a:solidFill>
                      <a:prstDash val="solid"/>
                    </a:lnT>
                    <a:lnB w="12700">
                      <a:solidFill>
                        <a:srgbClr val="DBE4ED"/>
                      </a:solidFill>
                      <a:prstDash val="solid"/>
                    </a:lnB>
                  </a:tcPr>
                </a:tc>
              </a:tr>
              <a:tr h="474980"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1145"/>
                        </a:spcBef>
                      </a:pPr>
                      <a:r>
                        <a:rPr dirty="0" sz="1150" spc="-10">
                          <a:solidFill>
                            <a:srgbClr val="0F2339"/>
                          </a:solidFill>
                          <a:latin typeface="Arial Black"/>
                          <a:cs typeface="Arial Black"/>
                        </a:rPr>
                        <a:t>Application</a:t>
                      </a:r>
                      <a:endParaRPr sz="1150">
                        <a:latin typeface="Arial Black"/>
                        <a:cs typeface="Arial Black"/>
                      </a:endParaRPr>
                    </a:p>
                  </a:txBody>
                  <a:tcPr marL="0" marR="0" marB="0" marT="145415">
                    <a:lnL w="12700">
                      <a:solidFill>
                        <a:srgbClr val="DBE4ED"/>
                      </a:solidFill>
                      <a:prstDash val="solid"/>
                    </a:lnL>
                    <a:lnR w="12700">
                      <a:solidFill>
                        <a:srgbClr val="DBE4ED"/>
                      </a:solidFill>
                      <a:prstDash val="solid"/>
                    </a:lnR>
                    <a:lnT w="12700">
                      <a:solidFill>
                        <a:srgbClr val="DBE4ED"/>
                      </a:solidFill>
                      <a:prstDash val="solid"/>
                    </a:lnT>
                    <a:lnB w="12700">
                      <a:solidFill>
                        <a:srgbClr val="DBE4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r>
                        <a:rPr dirty="0" sz="1100" spc="-10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Customer</a:t>
                      </a:r>
                      <a:endParaRPr sz="1100">
                        <a:latin typeface="Noto Sans"/>
                        <a:cs typeface="Noto Sans"/>
                      </a:endParaRPr>
                    </a:p>
                  </a:txBody>
                  <a:tcPr marL="0" marR="0" marB="0" marT="150495">
                    <a:lnL w="12700">
                      <a:solidFill>
                        <a:srgbClr val="DBE4ED"/>
                      </a:solidFill>
                      <a:prstDash val="solid"/>
                    </a:lnL>
                    <a:lnR w="12700">
                      <a:solidFill>
                        <a:srgbClr val="DBE4ED"/>
                      </a:solidFill>
                      <a:prstDash val="solid"/>
                    </a:lnR>
                    <a:lnT w="12700">
                      <a:solidFill>
                        <a:srgbClr val="DBE4ED"/>
                      </a:solidFill>
                      <a:prstDash val="solid"/>
                    </a:lnT>
                    <a:lnB w="12700">
                      <a:solidFill>
                        <a:srgbClr val="DBE4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r>
                        <a:rPr dirty="0" sz="1100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Customer</a:t>
                      </a:r>
                      <a:r>
                        <a:rPr dirty="0" sz="1100" spc="25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 </a:t>
                      </a:r>
                      <a:r>
                        <a:rPr dirty="0" sz="1100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/</a:t>
                      </a:r>
                      <a:r>
                        <a:rPr dirty="0" sz="1100" spc="30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 </a:t>
                      </a:r>
                      <a:r>
                        <a:rPr dirty="0" sz="1100" spc="-10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shared</a:t>
                      </a:r>
                      <a:endParaRPr sz="1100">
                        <a:latin typeface="Noto Sans"/>
                        <a:cs typeface="Noto Sans"/>
                      </a:endParaRPr>
                    </a:p>
                  </a:txBody>
                  <a:tcPr marL="0" marR="0" marB="0" marT="150495">
                    <a:lnL w="12700">
                      <a:solidFill>
                        <a:srgbClr val="DBE4ED"/>
                      </a:solidFill>
                      <a:prstDash val="solid"/>
                    </a:lnL>
                    <a:lnR w="12700">
                      <a:solidFill>
                        <a:srgbClr val="DBE4ED"/>
                      </a:solidFill>
                      <a:prstDash val="solid"/>
                    </a:lnR>
                    <a:lnT w="12700">
                      <a:solidFill>
                        <a:srgbClr val="DBE4ED"/>
                      </a:solidFill>
                      <a:prstDash val="solid"/>
                    </a:lnT>
                    <a:lnB w="12700">
                      <a:solidFill>
                        <a:srgbClr val="DBE4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r>
                        <a:rPr dirty="0" sz="1100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Provider</a:t>
                      </a:r>
                      <a:r>
                        <a:rPr dirty="0" sz="1100" spc="-10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 </a:t>
                      </a:r>
                      <a:r>
                        <a:rPr dirty="0" sz="1100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/</a:t>
                      </a:r>
                      <a:r>
                        <a:rPr dirty="0" sz="1100" spc="-5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 </a:t>
                      </a:r>
                      <a:r>
                        <a:rPr dirty="0" sz="1100" spc="-10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shared</a:t>
                      </a:r>
                      <a:endParaRPr sz="1100">
                        <a:latin typeface="Noto Sans"/>
                        <a:cs typeface="Noto Sans"/>
                      </a:endParaRPr>
                    </a:p>
                  </a:txBody>
                  <a:tcPr marL="0" marR="0" marB="0" marT="150495">
                    <a:lnL w="12700">
                      <a:solidFill>
                        <a:srgbClr val="DBE4ED"/>
                      </a:solidFill>
                      <a:prstDash val="solid"/>
                    </a:lnL>
                    <a:lnR w="12700">
                      <a:solidFill>
                        <a:srgbClr val="DBE4ED"/>
                      </a:solidFill>
                      <a:prstDash val="solid"/>
                    </a:lnR>
                    <a:lnT w="12700">
                      <a:solidFill>
                        <a:srgbClr val="DBE4ED"/>
                      </a:solidFill>
                      <a:prstDash val="solid"/>
                    </a:lnT>
                    <a:lnB w="12700">
                      <a:solidFill>
                        <a:srgbClr val="DBE4ED"/>
                      </a:solidFill>
                      <a:prstDash val="solid"/>
                    </a:lnB>
                  </a:tcPr>
                </a:tc>
              </a:tr>
              <a:tr h="474980"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1145"/>
                        </a:spcBef>
                      </a:pPr>
                      <a:r>
                        <a:rPr dirty="0" sz="1150" spc="-60">
                          <a:solidFill>
                            <a:srgbClr val="0F2339"/>
                          </a:solidFill>
                          <a:latin typeface="Arial Black"/>
                          <a:cs typeface="Arial Black"/>
                        </a:rPr>
                        <a:t>Data</a:t>
                      </a:r>
                      <a:r>
                        <a:rPr dirty="0" sz="1150" spc="-75">
                          <a:solidFill>
                            <a:srgbClr val="0F2339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1150" spc="-40">
                          <a:solidFill>
                            <a:srgbClr val="0F2339"/>
                          </a:solidFill>
                          <a:latin typeface="Arial Black"/>
                          <a:cs typeface="Arial Black"/>
                        </a:rPr>
                        <a:t>and</a:t>
                      </a:r>
                      <a:r>
                        <a:rPr dirty="0" sz="1150" spc="-70">
                          <a:solidFill>
                            <a:srgbClr val="0F2339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1150" spc="-10">
                          <a:solidFill>
                            <a:srgbClr val="0F2339"/>
                          </a:solidFill>
                          <a:latin typeface="Arial Black"/>
                          <a:cs typeface="Arial Black"/>
                        </a:rPr>
                        <a:t>identities</a:t>
                      </a:r>
                      <a:endParaRPr sz="1150">
                        <a:latin typeface="Arial Black"/>
                        <a:cs typeface="Arial Black"/>
                      </a:endParaRPr>
                    </a:p>
                  </a:txBody>
                  <a:tcPr marL="0" marR="0" marB="0" marT="145415">
                    <a:lnL w="12700">
                      <a:solidFill>
                        <a:srgbClr val="DBE4ED"/>
                      </a:solidFill>
                      <a:prstDash val="solid"/>
                    </a:lnL>
                    <a:lnR w="12700">
                      <a:solidFill>
                        <a:srgbClr val="DBE4ED"/>
                      </a:solidFill>
                      <a:prstDash val="solid"/>
                    </a:lnR>
                    <a:lnT w="12700">
                      <a:solidFill>
                        <a:srgbClr val="DBE4ED"/>
                      </a:solidFill>
                      <a:prstDash val="solid"/>
                    </a:lnT>
                    <a:lnB w="12700">
                      <a:solidFill>
                        <a:srgbClr val="DBE4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r>
                        <a:rPr dirty="0" sz="1100" spc="-10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Customer</a:t>
                      </a:r>
                      <a:endParaRPr sz="1100">
                        <a:latin typeface="Noto Sans"/>
                        <a:cs typeface="Noto Sans"/>
                      </a:endParaRPr>
                    </a:p>
                  </a:txBody>
                  <a:tcPr marL="0" marR="0" marB="0" marT="149860">
                    <a:lnL w="12700">
                      <a:solidFill>
                        <a:srgbClr val="DBE4ED"/>
                      </a:solidFill>
                      <a:prstDash val="solid"/>
                    </a:lnL>
                    <a:lnR w="12700">
                      <a:solidFill>
                        <a:srgbClr val="DBE4ED"/>
                      </a:solidFill>
                      <a:prstDash val="solid"/>
                    </a:lnR>
                    <a:lnT w="12700">
                      <a:solidFill>
                        <a:srgbClr val="DBE4ED"/>
                      </a:solidFill>
                      <a:prstDash val="solid"/>
                    </a:lnT>
                    <a:lnB w="12700">
                      <a:solidFill>
                        <a:srgbClr val="DBE4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r>
                        <a:rPr dirty="0" sz="1100" spc="-10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Customer</a:t>
                      </a:r>
                      <a:endParaRPr sz="1100">
                        <a:latin typeface="Noto Sans"/>
                        <a:cs typeface="Noto Sans"/>
                      </a:endParaRPr>
                    </a:p>
                  </a:txBody>
                  <a:tcPr marL="0" marR="0" marB="0" marT="149860">
                    <a:lnL w="12700">
                      <a:solidFill>
                        <a:srgbClr val="DBE4ED"/>
                      </a:solidFill>
                      <a:prstDash val="solid"/>
                    </a:lnL>
                    <a:lnR w="12700">
                      <a:solidFill>
                        <a:srgbClr val="DBE4ED"/>
                      </a:solidFill>
                      <a:prstDash val="solid"/>
                    </a:lnR>
                    <a:lnT w="12700">
                      <a:solidFill>
                        <a:srgbClr val="DBE4ED"/>
                      </a:solidFill>
                      <a:prstDash val="solid"/>
                    </a:lnT>
                    <a:lnB w="12700">
                      <a:solidFill>
                        <a:srgbClr val="DBE4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r>
                        <a:rPr dirty="0" sz="1100" spc="-10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Customer</a:t>
                      </a:r>
                      <a:endParaRPr sz="1100">
                        <a:latin typeface="Noto Sans"/>
                        <a:cs typeface="Noto Sans"/>
                      </a:endParaRPr>
                    </a:p>
                  </a:txBody>
                  <a:tcPr marL="0" marR="0" marB="0" marT="149860">
                    <a:lnL w="12700">
                      <a:solidFill>
                        <a:srgbClr val="DBE4ED"/>
                      </a:solidFill>
                      <a:prstDash val="solid"/>
                    </a:lnL>
                    <a:lnR w="12700">
                      <a:solidFill>
                        <a:srgbClr val="DBE4ED"/>
                      </a:solidFill>
                      <a:prstDash val="solid"/>
                    </a:lnR>
                    <a:lnT w="12700">
                      <a:solidFill>
                        <a:srgbClr val="DBE4ED"/>
                      </a:solidFill>
                      <a:prstDash val="solid"/>
                    </a:lnT>
                    <a:lnB w="12700">
                      <a:solidFill>
                        <a:srgbClr val="DBE4ED"/>
                      </a:solidFill>
                      <a:prstDash val="solid"/>
                    </a:lnB>
                  </a:tcPr>
                </a:tc>
              </a:tr>
              <a:tr h="474980"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1145"/>
                        </a:spcBef>
                      </a:pPr>
                      <a:r>
                        <a:rPr dirty="0" sz="1150" spc="-95">
                          <a:solidFill>
                            <a:srgbClr val="0F2339"/>
                          </a:solidFill>
                          <a:latin typeface="Arial Black"/>
                          <a:cs typeface="Arial Black"/>
                        </a:rPr>
                        <a:t>Service</a:t>
                      </a:r>
                      <a:r>
                        <a:rPr dirty="0" sz="1150" spc="-55">
                          <a:solidFill>
                            <a:srgbClr val="0F2339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1150" spc="-10">
                          <a:solidFill>
                            <a:srgbClr val="0F2339"/>
                          </a:solidFill>
                          <a:latin typeface="Arial Black"/>
                          <a:cs typeface="Arial Black"/>
                        </a:rPr>
                        <a:t>example</a:t>
                      </a:r>
                      <a:endParaRPr sz="1150">
                        <a:latin typeface="Arial Black"/>
                        <a:cs typeface="Arial Black"/>
                      </a:endParaRPr>
                    </a:p>
                  </a:txBody>
                  <a:tcPr marL="0" marR="0" marB="0" marT="145415">
                    <a:lnL w="12700">
                      <a:solidFill>
                        <a:srgbClr val="DBE4ED"/>
                      </a:solidFill>
                      <a:prstDash val="solid"/>
                    </a:lnL>
                    <a:lnR w="12700">
                      <a:solidFill>
                        <a:srgbClr val="DBE4ED"/>
                      </a:solidFill>
                      <a:prstDash val="solid"/>
                    </a:lnR>
                    <a:lnT w="12700">
                      <a:solidFill>
                        <a:srgbClr val="DBE4ED"/>
                      </a:solidFill>
                      <a:prstDash val="solid"/>
                    </a:lnT>
                    <a:lnB w="12700">
                      <a:solidFill>
                        <a:srgbClr val="DBE4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r>
                        <a:rPr dirty="0" sz="1100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Azure</a:t>
                      </a:r>
                      <a:r>
                        <a:rPr dirty="0" sz="1100" spc="10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 </a:t>
                      </a:r>
                      <a:r>
                        <a:rPr dirty="0" sz="1100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Virtual</a:t>
                      </a:r>
                      <a:r>
                        <a:rPr dirty="0" sz="1100" spc="15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 </a:t>
                      </a:r>
                      <a:r>
                        <a:rPr dirty="0" sz="1100" spc="-10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Machine</a:t>
                      </a:r>
                      <a:endParaRPr sz="1100">
                        <a:latin typeface="Noto Sans"/>
                        <a:cs typeface="Noto Sans"/>
                      </a:endParaRPr>
                    </a:p>
                  </a:txBody>
                  <a:tcPr marL="0" marR="0" marB="0" marT="149860">
                    <a:lnL w="12700">
                      <a:solidFill>
                        <a:srgbClr val="DBE4ED"/>
                      </a:solidFill>
                      <a:prstDash val="solid"/>
                    </a:lnL>
                    <a:lnR w="12700">
                      <a:solidFill>
                        <a:srgbClr val="DBE4ED"/>
                      </a:solidFill>
                      <a:prstDash val="solid"/>
                    </a:lnR>
                    <a:lnT w="12700">
                      <a:solidFill>
                        <a:srgbClr val="DBE4ED"/>
                      </a:solidFill>
                      <a:prstDash val="solid"/>
                    </a:lnT>
                    <a:lnB w="12700">
                      <a:solidFill>
                        <a:srgbClr val="DBE4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r>
                        <a:rPr dirty="0" sz="1100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Azure</a:t>
                      </a:r>
                      <a:r>
                        <a:rPr dirty="0" sz="1100" spc="15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 </a:t>
                      </a:r>
                      <a:r>
                        <a:rPr dirty="0" sz="1100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App</a:t>
                      </a:r>
                      <a:r>
                        <a:rPr dirty="0" sz="1100" spc="15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 </a:t>
                      </a:r>
                      <a:r>
                        <a:rPr dirty="0" sz="1100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Service</a:t>
                      </a:r>
                      <a:r>
                        <a:rPr dirty="0" sz="1100" spc="15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 </a:t>
                      </a:r>
                      <a:r>
                        <a:rPr dirty="0" sz="1100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/</a:t>
                      </a:r>
                      <a:r>
                        <a:rPr dirty="0" sz="1100" spc="20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 </a:t>
                      </a:r>
                      <a:r>
                        <a:rPr dirty="0" sz="1100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Azure</a:t>
                      </a:r>
                      <a:r>
                        <a:rPr dirty="0" sz="1100" spc="15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 </a:t>
                      </a:r>
                      <a:r>
                        <a:rPr dirty="0" sz="1100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SQL</a:t>
                      </a:r>
                      <a:r>
                        <a:rPr dirty="0" sz="1100" spc="15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 </a:t>
                      </a:r>
                      <a:r>
                        <a:rPr dirty="0" sz="1100" spc="-25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DB</a:t>
                      </a:r>
                      <a:endParaRPr sz="1100">
                        <a:latin typeface="Noto Sans"/>
                        <a:cs typeface="Noto Sans"/>
                      </a:endParaRPr>
                    </a:p>
                  </a:txBody>
                  <a:tcPr marL="0" marR="0" marB="0" marT="149860">
                    <a:lnL w="12700">
                      <a:solidFill>
                        <a:srgbClr val="DBE4ED"/>
                      </a:solidFill>
                      <a:prstDash val="solid"/>
                    </a:lnL>
                    <a:lnR w="12700">
                      <a:solidFill>
                        <a:srgbClr val="DBE4ED"/>
                      </a:solidFill>
                      <a:prstDash val="solid"/>
                    </a:lnR>
                    <a:lnT w="12700">
                      <a:solidFill>
                        <a:srgbClr val="DBE4ED"/>
                      </a:solidFill>
                      <a:prstDash val="solid"/>
                    </a:lnT>
                    <a:lnB w="12700">
                      <a:solidFill>
                        <a:srgbClr val="DBE4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r>
                        <a:rPr dirty="0" sz="1100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Microsoft</a:t>
                      </a:r>
                      <a:r>
                        <a:rPr dirty="0" sz="1100" spc="15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 </a:t>
                      </a:r>
                      <a:r>
                        <a:rPr dirty="0" sz="1100" spc="-25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365</a:t>
                      </a:r>
                      <a:endParaRPr sz="1100">
                        <a:latin typeface="Noto Sans"/>
                        <a:cs typeface="Noto Sans"/>
                      </a:endParaRPr>
                    </a:p>
                  </a:txBody>
                  <a:tcPr marL="0" marR="0" marB="0" marT="149860">
                    <a:lnL w="12700">
                      <a:solidFill>
                        <a:srgbClr val="DBE4ED"/>
                      </a:solidFill>
                      <a:prstDash val="solid"/>
                    </a:lnL>
                    <a:lnR w="12700">
                      <a:solidFill>
                        <a:srgbClr val="DBE4ED"/>
                      </a:solidFill>
                      <a:prstDash val="solid"/>
                    </a:lnR>
                    <a:lnT w="12700">
                      <a:solidFill>
                        <a:srgbClr val="DBE4ED"/>
                      </a:solidFill>
                      <a:prstDash val="solid"/>
                    </a:lnT>
                    <a:lnB w="12700">
                      <a:solidFill>
                        <a:srgbClr val="DBE4ED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9" name="object 19"/>
          <p:cNvSpPr txBox="1"/>
          <p:nvPr/>
        </p:nvSpPr>
        <p:spPr>
          <a:xfrm>
            <a:off x="1075944" y="5780049"/>
            <a:ext cx="101365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75">
                <a:solidFill>
                  <a:srgbClr val="0F2339"/>
                </a:solidFill>
                <a:latin typeface="Arial Black"/>
                <a:cs typeface="Arial Black"/>
              </a:rPr>
              <a:t>Remember:</a:t>
            </a:r>
            <a:r>
              <a:rPr dirty="0" sz="1200" spc="-2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200" spc="-55">
                <a:solidFill>
                  <a:srgbClr val="0F2339"/>
                </a:solidFill>
                <a:latin typeface="Arial Black"/>
                <a:cs typeface="Arial Black"/>
              </a:rPr>
              <a:t>provider-</a:t>
            </a:r>
            <a:r>
              <a:rPr dirty="0" sz="1200" spc="-60">
                <a:solidFill>
                  <a:srgbClr val="0F2339"/>
                </a:solidFill>
                <a:latin typeface="Arial Black"/>
                <a:cs typeface="Arial Black"/>
              </a:rPr>
              <a:t>managed</a:t>
            </a:r>
            <a:r>
              <a:rPr dirty="0" sz="1200" spc="-2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200" spc="-90">
                <a:solidFill>
                  <a:srgbClr val="0F2339"/>
                </a:solidFill>
                <a:latin typeface="Arial Black"/>
                <a:cs typeface="Arial Black"/>
              </a:rPr>
              <a:t>does</a:t>
            </a:r>
            <a:r>
              <a:rPr dirty="0" sz="1200" spc="-2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200" spc="-35">
                <a:solidFill>
                  <a:srgbClr val="0F2339"/>
                </a:solidFill>
                <a:latin typeface="Arial Black"/>
                <a:cs typeface="Arial Black"/>
              </a:rPr>
              <a:t>not</a:t>
            </a:r>
            <a:r>
              <a:rPr dirty="0" sz="1200" spc="-2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200" spc="-60">
                <a:solidFill>
                  <a:srgbClr val="0F2339"/>
                </a:solidFill>
                <a:latin typeface="Arial Black"/>
                <a:cs typeface="Arial Black"/>
              </a:rPr>
              <a:t>mean</a:t>
            </a:r>
            <a:r>
              <a:rPr dirty="0" sz="1200" spc="-2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200" spc="-70">
                <a:solidFill>
                  <a:srgbClr val="0F2339"/>
                </a:solidFill>
                <a:latin typeface="Arial Black"/>
                <a:cs typeface="Arial Black"/>
              </a:rPr>
              <a:t>customer-</a:t>
            </a:r>
            <a:r>
              <a:rPr dirty="0" sz="1200" spc="-65">
                <a:solidFill>
                  <a:srgbClr val="0F2339"/>
                </a:solidFill>
                <a:latin typeface="Arial Black"/>
                <a:cs typeface="Arial Black"/>
              </a:rPr>
              <a:t>responsibility-</a:t>
            </a:r>
            <a:r>
              <a:rPr dirty="0" sz="1200" spc="-60">
                <a:solidFill>
                  <a:srgbClr val="0F2339"/>
                </a:solidFill>
                <a:latin typeface="Arial Black"/>
                <a:cs typeface="Arial Black"/>
              </a:rPr>
              <a:t>free.</a:t>
            </a:r>
            <a:r>
              <a:rPr dirty="0" sz="1200" spc="-2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200" spc="-65">
                <a:solidFill>
                  <a:srgbClr val="0F2339"/>
                </a:solidFill>
                <a:latin typeface="Arial Black"/>
                <a:cs typeface="Arial Black"/>
              </a:rPr>
              <a:t>Data,</a:t>
            </a:r>
            <a:r>
              <a:rPr dirty="0" sz="1200" spc="-2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200" spc="-65">
                <a:solidFill>
                  <a:srgbClr val="0F2339"/>
                </a:solidFill>
                <a:latin typeface="Arial Black"/>
                <a:cs typeface="Arial Black"/>
              </a:rPr>
              <a:t>identities,</a:t>
            </a:r>
            <a:r>
              <a:rPr dirty="0" sz="1200" spc="-2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200" spc="-55">
                <a:solidFill>
                  <a:srgbClr val="0F2339"/>
                </a:solidFill>
                <a:latin typeface="Arial Black"/>
                <a:cs typeface="Arial Black"/>
              </a:rPr>
              <a:t>configuration</a:t>
            </a:r>
            <a:r>
              <a:rPr dirty="0" sz="1200" spc="-2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200" spc="-55">
                <a:solidFill>
                  <a:srgbClr val="0F2339"/>
                </a:solidFill>
                <a:latin typeface="Arial Black"/>
                <a:cs typeface="Arial Black"/>
              </a:rPr>
              <a:t>and</a:t>
            </a:r>
            <a:r>
              <a:rPr dirty="0" sz="1200" spc="-2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200" spc="-150">
                <a:solidFill>
                  <a:srgbClr val="0F2339"/>
                </a:solidFill>
                <a:latin typeface="Arial Black"/>
                <a:cs typeface="Arial Black"/>
              </a:rPr>
              <a:t>access</a:t>
            </a:r>
            <a:r>
              <a:rPr dirty="0" sz="1200" spc="-2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200" spc="-50">
                <a:solidFill>
                  <a:srgbClr val="0F2339"/>
                </a:solidFill>
                <a:latin typeface="Arial Black"/>
                <a:cs typeface="Arial Black"/>
              </a:rPr>
              <a:t>remain</a:t>
            </a:r>
            <a:r>
              <a:rPr dirty="0" sz="1200" spc="-2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200" spc="-20">
                <a:solidFill>
                  <a:srgbClr val="0F2339"/>
                </a:solidFill>
                <a:latin typeface="Arial Black"/>
                <a:cs typeface="Arial Black"/>
              </a:rPr>
              <a:t>critical.</a:t>
            </a:r>
            <a:endParaRPr sz="1200">
              <a:latin typeface="Arial Black"/>
              <a:cs typeface="Arial Black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66635" y="6382435"/>
            <a:ext cx="11064240" cy="635"/>
          </a:xfrm>
          <a:custGeom>
            <a:avLst/>
            <a:gdLst/>
            <a:ahLst/>
            <a:cxnLst/>
            <a:rect l="l" t="t" r="r" b="b"/>
            <a:pathLst>
              <a:path w="11064240" h="635">
                <a:moveTo>
                  <a:pt x="0" y="0"/>
                </a:moveTo>
                <a:lnTo>
                  <a:pt x="11064240" y="368"/>
                </a:lnTo>
              </a:path>
            </a:pathLst>
          </a:custGeom>
          <a:ln w="8999">
            <a:solidFill>
              <a:srgbClr val="DBE4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90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 spc="-100"/>
              <a:t>DAY</a:t>
            </a:r>
            <a:r>
              <a:rPr dirty="0" spc="-55"/>
              <a:t> </a:t>
            </a:r>
            <a:r>
              <a:rPr dirty="0"/>
              <a:t>1</a:t>
            </a:r>
            <a:r>
              <a:rPr dirty="0" spc="105"/>
              <a:t> </a:t>
            </a:r>
            <a:r>
              <a:rPr dirty="0"/>
              <a:t>•</a:t>
            </a:r>
            <a:r>
              <a:rPr dirty="0" spc="130"/>
              <a:t> </a:t>
            </a:r>
            <a:r>
              <a:rPr dirty="0" spc="-70"/>
              <a:t>CLOUD</a:t>
            </a:r>
            <a:r>
              <a:rPr dirty="0" spc="-55"/>
              <a:t> </a:t>
            </a:r>
            <a:r>
              <a:rPr dirty="0" spc="-65"/>
              <a:t>FOUNDATIONS</a:t>
            </a:r>
            <a:r>
              <a:rPr dirty="0" spc="-55"/>
              <a:t> </a:t>
            </a:r>
            <a:r>
              <a:rPr dirty="0" spc="-105"/>
              <a:t>&amp;</a:t>
            </a:r>
            <a:r>
              <a:rPr dirty="0" spc="-50"/>
              <a:t> </a:t>
            </a:r>
            <a:r>
              <a:rPr dirty="0" spc="-95"/>
              <a:t>AZURE</a:t>
            </a:r>
            <a:r>
              <a:rPr dirty="0" spc="-55"/>
              <a:t> </a:t>
            </a:r>
            <a:r>
              <a:rPr dirty="0" spc="-50"/>
              <a:t>BASICS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11476697" y="6494402"/>
            <a:ext cx="149225" cy="172720"/>
          </a:xfrm>
          <a:prstGeom prst="rect">
            <a:avLst/>
          </a:prstGeom>
        </p:spPr>
        <p:txBody>
          <a:bodyPr wrap="square" lIns="0" tIns="203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dirty="0" sz="850" spc="-50">
                <a:solidFill>
                  <a:srgbClr val="0077D3"/>
                </a:solidFill>
                <a:latin typeface="Arial Black"/>
                <a:cs typeface="Arial Black"/>
              </a:rPr>
              <a:t>06</a:t>
            </a:r>
            <a:endParaRPr sz="85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3935" y="299427"/>
            <a:ext cx="205168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65">
                <a:solidFill>
                  <a:srgbClr val="0077D3"/>
                </a:solidFill>
                <a:latin typeface="Arial Black"/>
                <a:cs typeface="Arial Black"/>
              </a:rPr>
              <a:t>PA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25">
                <a:solidFill>
                  <a:srgbClr val="0077D3"/>
                </a:solidFill>
                <a:latin typeface="Arial Black"/>
                <a:cs typeface="Arial Black"/>
              </a:rPr>
              <a:t>R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>
                <a:solidFill>
                  <a:srgbClr val="0077D3"/>
                </a:solidFill>
                <a:latin typeface="Arial Black"/>
                <a:cs typeface="Arial Black"/>
              </a:rPr>
              <a:t>T</a:t>
            </a:r>
            <a:r>
              <a:rPr dirty="0" sz="1000" spc="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>
                <a:solidFill>
                  <a:srgbClr val="0077D3"/>
                </a:solidFill>
                <a:latin typeface="Arial Black"/>
                <a:cs typeface="Arial Black"/>
              </a:rPr>
              <a:t>1</a:t>
            </a:r>
            <a:r>
              <a:rPr dirty="0" sz="1000" spc="135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>
                <a:solidFill>
                  <a:srgbClr val="0077D3"/>
                </a:solidFill>
                <a:latin typeface="Arial Black"/>
                <a:cs typeface="Arial Black"/>
              </a:rPr>
              <a:t>•</a:t>
            </a:r>
            <a:r>
              <a:rPr dirty="0" sz="1000" spc="14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45">
                <a:solidFill>
                  <a:srgbClr val="0077D3"/>
                </a:solidFill>
                <a:latin typeface="Arial Black"/>
                <a:cs typeface="Arial Black"/>
              </a:rPr>
              <a:t>C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25">
                <a:solidFill>
                  <a:srgbClr val="0077D3"/>
                </a:solidFill>
                <a:latin typeface="Arial Black"/>
                <a:cs typeface="Arial Black"/>
              </a:rPr>
              <a:t>LO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90">
                <a:solidFill>
                  <a:srgbClr val="0077D3"/>
                </a:solidFill>
                <a:latin typeface="Arial Black"/>
                <a:cs typeface="Arial Black"/>
              </a:rPr>
              <a:t>U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>
                <a:solidFill>
                  <a:srgbClr val="0077D3"/>
                </a:solidFill>
                <a:latin typeface="Arial Black"/>
                <a:cs typeface="Arial Black"/>
              </a:rPr>
              <a:t>D</a:t>
            </a:r>
            <a:r>
              <a:rPr dirty="0" sz="1000" spc="135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45">
                <a:solidFill>
                  <a:srgbClr val="0077D3"/>
                </a:solidFill>
                <a:latin typeface="Arial Black"/>
                <a:cs typeface="Arial Black"/>
              </a:rPr>
              <a:t>CO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35">
                <a:solidFill>
                  <a:srgbClr val="0077D3"/>
                </a:solidFill>
                <a:latin typeface="Arial Black"/>
                <a:cs typeface="Arial Black"/>
              </a:rPr>
              <a:t>N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45">
                <a:solidFill>
                  <a:srgbClr val="0077D3"/>
                </a:solidFill>
                <a:latin typeface="Arial Black"/>
                <a:cs typeface="Arial Black"/>
              </a:rPr>
              <a:t>C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75">
                <a:solidFill>
                  <a:srgbClr val="0077D3"/>
                </a:solidFill>
                <a:latin typeface="Arial Black"/>
                <a:cs typeface="Arial Black"/>
              </a:rPr>
              <a:t>E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10">
                <a:solidFill>
                  <a:srgbClr val="0077D3"/>
                </a:solidFill>
                <a:latin typeface="Arial Black"/>
                <a:cs typeface="Arial Black"/>
              </a:rPr>
              <a:t>P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60">
                <a:solidFill>
                  <a:srgbClr val="0077D3"/>
                </a:solidFill>
                <a:latin typeface="Arial Black"/>
                <a:cs typeface="Arial Black"/>
              </a:rPr>
              <a:t>T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95">
                <a:solidFill>
                  <a:srgbClr val="0077D3"/>
                </a:solidFill>
                <a:latin typeface="Arial Black"/>
                <a:cs typeface="Arial Black"/>
              </a:rPr>
              <a:t>S</a:t>
            </a:r>
            <a:endParaRPr sz="1000">
              <a:latin typeface="Arial Black"/>
              <a:cs typeface="Arial Black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54304" y="428977"/>
            <a:ext cx="9294495" cy="814705"/>
          </a:xfrm>
          <a:prstGeom prst="rect"/>
        </p:spPr>
        <p:txBody>
          <a:bodyPr wrap="square" lIns="0" tIns="133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0"/>
              </a:spcBef>
            </a:pPr>
            <a:r>
              <a:rPr dirty="0" sz="2700" spc="-225">
                <a:solidFill>
                  <a:srgbClr val="0F2339"/>
                </a:solidFill>
              </a:rPr>
              <a:t>The</a:t>
            </a:r>
            <a:r>
              <a:rPr dirty="0" sz="2700" spc="-190">
                <a:solidFill>
                  <a:srgbClr val="0F2339"/>
                </a:solidFill>
              </a:rPr>
              <a:t> </a:t>
            </a:r>
            <a:r>
              <a:rPr dirty="0" sz="2700" spc="-160">
                <a:solidFill>
                  <a:srgbClr val="0F2339"/>
                </a:solidFill>
              </a:rPr>
              <a:t>guest-</a:t>
            </a:r>
            <a:r>
              <a:rPr dirty="0" sz="2700" spc="-210">
                <a:solidFill>
                  <a:srgbClr val="0F2339"/>
                </a:solidFill>
              </a:rPr>
              <a:t>OS</a:t>
            </a:r>
            <a:r>
              <a:rPr dirty="0" sz="2700" spc="-185">
                <a:solidFill>
                  <a:srgbClr val="0F2339"/>
                </a:solidFill>
              </a:rPr>
              <a:t> </a:t>
            </a:r>
            <a:r>
              <a:rPr dirty="0" sz="2700" spc="-315">
                <a:solidFill>
                  <a:srgbClr val="0F2339"/>
                </a:solidFill>
              </a:rPr>
              <a:t>access</a:t>
            </a:r>
            <a:r>
              <a:rPr dirty="0" sz="2700" spc="-185">
                <a:solidFill>
                  <a:srgbClr val="0F2339"/>
                </a:solidFill>
              </a:rPr>
              <a:t> </a:t>
            </a:r>
            <a:r>
              <a:rPr dirty="0" sz="2700" spc="-150">
                <a:solidFill>
                  <a:srgbClr val="0F2339"/>
                </a:solidFill>
              </a:rPr>
              <a:t>test:</a:t>
            </a:r>
            <a:r>
              <a:rPr dirty="0" sz="2700" spc="-185">
                <a:solidFill>
                  <a:srgbClr val="0F2339"/>
                </a:solidFill>
              </a:rPr>
              <a:t> </a:t>
            </a:r>
            <a:r>
              <a:rPr dirty="0" sz="2700" spc="-180">
                <a:solidFill>
                  <a:srgbClr val="0F2339"/>
                </a:solidFill>
              </a:rPr>
              <a:t>a</a:t>
            </a:r>
            <a:r>
              <a:rPr dirty="0" sz="2700" spc="-190">
                <a:solidFill>
                  <a:srgbClr val="0F2339"/>
                </a:solidFill>
              </a:rPr>
              <a:t> </a:t>
            </a:r>
            <a:r>
              <a:rPr dirty="0" sz="2700" spc="-160">
                <a:solidFill>
                  <a:srgbClr val="0F2339"/>
                </a:solidFill>
              </a:rPr>
              <a:t>quick</a:t>
            </a:r>
            <a:r>
              <a:rPr dirty="0" sz="2700" spc="-185">
                <a:solidFill>
                  <a:srgbClr val="0F2339"/>
                </a:solidFill>
              </a:rPr>
              <a:t> </a:t>
            </a:r>
            <a:r>
              <a:rPr dirty="0" sz="2700" spc="-285">
                <a:solidFill>
                  <a:srgbClr val="0F2339"/>
                </a:solidFill>
              </a:rPr>
              <a:t>PaaS</a:t>
            </a:r>
            <a:r>
              <a:rPr dirty="0" sz="2700" spc="-185">
                <a:solidFill>
                  <a:srgbClr val="0F2339"/>
                </a:solidFill>
              </a:rPr>
              <a:t> </a:t>
            </a:r>
            <a:r>
              <a:rPr dirty="0" sz="2700" spc="-20">
                <a:solidFill>
                  <a:srgbClr val="0F2339"/>
                </a:solidFill>
              </a:rPr>
              <a:t>clue</a:t>
            </a:r>
            <a:endParaRPr sz="2700"/>
          </a:p>
          <a:p>
            <a:pPr marL="30480">
              <a:lnSpc>
                <a:spcPct val="100000"/>
              </a:lnSpc>
              <a:spcBef>
                <a:spcPts val="459"/>
              </a:spcBef>
            </a:pP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Ask: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can</a:t>
            </a:r>
            <a:r>
              <a:rPr dirty="0" sz="13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you</a:t>
            </a:r>
            <a:r>
              <a:rPr dirty="0" sz="13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log</a:t>
            </a:r>
            <a:r>
              <a:rPr dirty="0" sz="13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in</a:t>
            </a:r>
            <a:r>
              <a:rPr dirty="0" sz="13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to</a:t>
            </a:r>
            <a:r>
              <a:rPr dirty="0" sz="13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and</a:t>
            </a:r>
            <a:r>
              <a:rPr dirty="0" sz="13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patch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the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underlying</a:t>
            </a:r>
            <a:r>
              <a:rPr dirty="0" sz="13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operating</a:t>
            </a:r>
            <a:r>
              <a:rPr dirty="0" sz="13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system?</a:t>
            </a:r>
            <a:r>
              <a:rPr dirty="0" sz="13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20">
                <a:solidFill>
                  <a:srgbClr val="556478"/>
                </a:solidFill>
                <a:latin typeface="Noto Sans"/>
                <a:cs typeface="Noto Sans"/>
              </a:rPr>
              <a:t>Treat</a:t>
            </a:r>
            <a:r>
              <a:rPr dirty="0" sz="13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this</a:t>
            </a:r>
            <a:r>
              <a:rPr dirty="0" sz="13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as</a:t>
            </a:r>
            <a:r>
              <a:rPr dirty="0" sz="13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a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first</a:t>
            </a:r>
            <a:r>
              <a:rPr dirty="0" sz="13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test,</a:t>
            </a:r>
            <a:r>
              <a:rPr dirty="0" sz="13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then</a:t>
            </a:r>
            <a:r>
              <a:rPr dirty="0" sz="13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verify</a:t>
            </a:r>
            <a:r>
              <a:rPr dirty="0" sz="13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the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service</a:t>
            </a:r>
            <a:r>
              <a:rPr dirty="0" sz="13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model.</a:t>
            </a:r>
            <a:endParaRPr sz="1300">
              <a:latin typeface="Noto Sans"/>
              <a:cs typeface="Noto San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66635" y="1417319"/>
            <a:ext cx="11064240" cy="635"/>
          </a:xfrm>
          <a:custGeom>
            <a:avLst/>
            <a:gdLst/>
            <a:ahLst/>
            <a:cxnLst/>
            <a:rect l="l" t="t" r="r" b="b"/>
            <a:pathLst>
              <a:path w="11064240" h="634">
                <a:moveTo>
                  <a:pt x="0" y="0"/>
                </a:moveTo>
                <a:lnTo>
                  <a:pt x="11064240" y="355"/>
                </a:lnTo>
              </a:path>
            </a:pathLst>
          </a:custGeom>
          <a:ln w="10079">
            <a:solidFill>
              <a:srgbClr val="DBE4ED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6" name="object 6"/>
          <p:cNvGrpSpPr/>
          <p:nvPr/>
        </p:nvGrpSpPr>
        <p:grpSpPr>
          <a:xfrm>
            <a:off x="725756" y="1777684"/>
            <a:ext cx="5131435" cy="2342515"/>
            <a:chOff x="725756" y="1777684"/>
            <a:chExt cx="5131435" cy="2342515"/>
          </a:xfrm>
        </p:grpSpPr>
        <p:sp>
          <p:nvSpPr>
            <p:cNvPr id="7" name="object 7"/>
            <p:cNvSpPr/>
            <p:nvPr/>
          </p:nvSpPr>
          <p:spPr>
            <a:xfrm>
              <a:off x="730796" y="1782724"/>
              <a:ext cx="5121275" cy="2332355"/>
            </a:xfrm>
            <a:custGeom>
              <a:avLst/>
              <a:gdLst/>
              <a:ahLst/>
              <a:cxnLst/>
              <a:rect l="l" t="t" r="r" b="b"/>
              <a:pathLst>
                <a:path w="5121275" h="2332354">
                  <a:moveTo>
                    <a:pt x="110159" y="0"/>
                  </a:moveTo>
                  <a:lnTo>
                    <a:pt x="68095" y="8352"/>
                  </a:lnTo>
                  <a:lnTo>
                    <a:pt x="32535" y="32213"/>
                  </a:lnTo>
                  <a:lnTo>
                    <a:pt x="8721" y="67882"/>
                  </a:lnTo>
                  <a:lnTo>
                    <a:pt x="368" y="109791"/>
                  </a:lnTo>
                  <a:lnTo>
                    <a:pt x="0" y="2222271"/>
                  </a:lnTo>
                  <a:lnTo>
                    <a:pt x="939" y="2236701"/>
                  </a:lnTo>
                  <a:lnTo>
                    <a:pt x="3736" y="2250759"/>
                  </a:lnTo>
                  <a:lnTo>
                    <a:pt x="8307" y="2264192"/>
                  </a:lnTo>
                  <a:lnTo>
                    <a:pt x="8358" y="2264342"/>
                  </a:lnTo>
                  <a:lnTo>
                    <a:pt x="32224" y="2299896"/>
                  </a:lnTo>
                  <a:lnTo>
                    <a:pt x="67882" y="2323722"/>
                  </a:lnTo>
                  <a:lnTo>
                    <a:pt x="109804" y="2332075"/>
                  </a:lnTo>
                  <a:lnTo>
                    <a:pt x="5011204" y="2332075"/>
                  </a:lnTo>
                  <a:lnTo>
                    <a:pt x="5053275" y="2323722"/>
                  </a:lnTo>
                  <a:lnTo>
                    <a:pt x="5088777" y="2299896"/>
                  </a:lnTo>
                  <a:lnTo>
                    <a:pt x="5112574" y="2264342"/>
                  </a:lnTo>
                  <a:lnTo>
                    <a:pt x="5112650" y="2264192"/>
                  </a:lnTo>
                  <a:lnTo>
                    <a:pt x="5117256" y="2250759"/>
                  </a:lnTo>
                  <a:lnTo>
                    <a:pt x="5120067" y="2236701"/>
                  </a:lnTo>
                  <a:lnTo>
                    <a:pt x="5121008" y="2222271"/>
                  </a:lnTo>
                  <a:lnTo>
                    <a:pt x="5120984" y="109791"/>
                  </a:lnTo>
                  <a:lnTo>
                    <a:pt x="5112650" y="68088"/>
                  </a:lnTo>
                  <a:lnTo>
                    <a:pt x="5088783" y="32534"/>
                  </a:lnTo>
                  <a:lnTo>
                    <a:pt x="5053125" y="8708"/>
                  </a:lnTo>
                  <a:lnTo>
                    <a:pt x="501120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730796" y="1782724"/>
              <a:ext cx="5121275" cy="2332355"/>
            </a:xfrm>
            <a:custGeom>
              <a:avLst/>
              <a:gdLst/>
              <a:ahLst/>
              <a:cxnLst/>
              <a:rect l="l" t="t" r="r" b="b"/>
              <a:pathLst>
                <a:path w="5121275" h="2332354">
                  <a:moveTo>
                    <a:pt x="368" y="109791"/>
                  </a:moveTo>
                  <a:lnTo>
                    <a:pt x="1307" y="95374"/>
                  </a:lnTo>
                  <a:lnTo>
                    <a:pt x="4103" y="81359"/>
                  </a:lnTo>
                  <a:lnTo>
                    <a:pt x="23138" y="43003"/>
                  </a:lnTo>
                  <a:lnTo>
                    <a:pt x="55079" y="14757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5011204" y="355"/>
                  </a:lnTo>
                  <a:lnTo>
                    <a:pt x="5053125" y="8708"/>
                  </a:lnTo>
                  <a:lnTo>
                    <a:pt x="5088783" y="32534"/>
                  </a:lnTo>
                  <a:lnTo>
                    <a:pt x="5112650" y="68088"/>
                  </a:lnTo>
                  <a:lnTo>
                    <a:pt x="5121008" y="110159"/>
                  </a:lnTo>
                  <a:lnTo>
                    <a:pt x="5121008" y="2222271"/>
                  </a:lnTo>
                  <a:lnTo>
                    <a:pt x="5120068" y="2236696"/>
                  </a:lnTo>
                  <a:lnTo>
                    <a:pt x="5117271" y="2250714"/>
                  </a:lnTo>
                  <a:lnTo>
                    <a:pt x="5098225" y="2289064"/>
                  </a:lnTo>
                  <a:lnTo>
                    <a:pt x="5066284" y="2317318"/>
                  </a:lnTo>
                  <a:lnTo>
                    <a:pt x="5025634" y="2331135"/>
                  </a:lnTo>
                  <a:lnTo>
                    <a:pt x="5011204" y="2332075"/>
                  </a:lnTo>
                  <a:lnTo>
                    <a:pt x="109804" y="2332075"/>
                  </a:lnTo>
                  <a:lnTo>
                    <a:pt x="67882" y="2323722"/>
                  </a:lnTo>
                  <a:lnTo>
                    <a:pt x="32224" y="2299896"/>
                  </a:lnTo>
                  <a:lnTo>
                    <a:pt x="8358" y="2264342"/>
                  </a:lnTo>
                  <a:lnTo>
                    <a:pt x="0" y="2222271"/>
                  </a:lnTo>
                  <a:lnTo>
                    <a:pt x="368" y="109791"/>
                  </a:lnTo>
                  <a:close/>
                </a:path>
              </a:pathLst>
            </a:custGeom>
            <a:ln w="10079">
              <a:solidFill>
                <a:srgbClr val="DBE4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731520" y="1783079"/>
              <a:ext cx="73025" cy="2331720"/>
            </a:xfrm>
            <a:custGeom>
              <a:avLst/>
              <a:gdLst/>
              <a:ahLst/>
              <a:cxnLst/>
              <a:rect l="l" t="t" r="r" b="b"/>
              <a:pathLst>
                <a:path w="73025" h="2331720">
                  <a:moveTo>
                    <a:pt x="72720" y="0"/>
                  </a:moveTo>
                  <a:lnTo>
                    <a:pt x="0" y="0"/>
                  </a:lnTo>
                  <a:lnTo>
                    <a:pt x="0" y="2331364"/>
                  </a:lnTo>
                  <a:lnTo>
                    <a:pt x="36360" y="2331364"/>
                  </a:lnTo>
                  <a:lnTo>
                    <a:pt x="72720" y="2331364"/>
                  </a:lnTo>
                  <a:lnTo>
                    <a:pt x="72720" y="0"/>
                  </a:lnTo>
                  <a:close/>
                </a:path>
              </a:pathLst>
            </a:custGeom>
            <a:solidFill>
              <a:srgbClr val="0077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731520" y="1783079"/>
              <a:ext cx="73025" cy="2331720"/>
            </a:xfrm>
            <a:custGeom>
              <a:avLst/>
              <a:gdLst/>
              <a:ahLst/>
              <a:cxnLst/>
              <a:rect l="l" t="t" r="r" b="b"/>
              <a:pathLst>
                <a:path w="73025" h="2331720">
                  <a:moveTo>
                    <a:pt x="36360" y="2331364"/>
                  </a:moveTo>
                  <a:lnTo>
                    <a:pt x="0" y="2331364"/>
                  </a:lnTo>
                  <a:lnTo>
                    <a:pt x="0" y="0"/>
                  </a:lnTo>
                  <a:lnTo>
                    <a:pt x="72720" y="0"/>
                  </a:lnTo>
                  <a:lnTo>
                    <a:pt x="72720" y="2331364"/>
                  </a:lnTo>
                  <a:lnTo>
                    <a:pt x="36360" y="2331364"/>
                  </a:lnTo>
                  <a:close/>
                </a:path>
              </a:pathLst>
            </a:custGeom>
            <a:ln w="10079">
              <a:solidFill>
                <a:srgbClr val="0077D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920064" y="1959381"/>
            <a:ext cx="4525645" cy="1122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0">
                <a:solidFill>
                  <a:srgbClr val="0F2339"/>
                </a:solidFill>
                <a:latin typeface="Arial Black"/>
                <a:cs typeface="Arial Black"/>
              </a:rPr>
              <a:t>Azure</a:t>
            </a:r>
            <a:r>
              <a:rPr dirty="0" sz="1600" spc="-10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600" spc="-70">
                <a:solidFill>
                  <a:srgbClr val="0F2339"/>
                </a:solidFill>
                <a:latin typeface="Arial Black"/>
                <a:cs typeface="Arial Black"/>
              </a:rPr>
              <a:t>Virtual</a:t>
            </a:r>
            <a:r>
              <a:rPr dirty="0" sz="1600" spc="-10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600" spc="-90">
                <a:solidFill>
                  <a:srgbClr val="0F2339"/>
                </a:solidFill>
                <a:latin typeface="Arial Black"/>
                <a:cs typeface="Arial Black"/>
              </a:rPr>
              <a:t>Machine</a:t>
            </a:r>
            <a:r>
              <a:rPr dirty="0" sz="1600" spc="-10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600" spc="-200">
                <a:solidFill>
                  <a:srgbClr val="0F2339"/>
                </a:solidFill>
                <a:latin typeface="Arial Black"/>
                <a:cs typeface="Arial Black"/>
              </a:rPr>
              <a:t>•</a:t>
            </a:r>
            <a:r>
              <a:rPr dirty="0" sz="1600" spc="-10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600" spc="-20">
                <a:solidFill>
                  <a:srgbClr val="0F2339"/>
                </a:solidFill>
                <a:latin typeface="Arial Black"/>
                <a:cs typeface="Arial Black"/>
              </a:rPr>
              <a:t>IaaS</a:t>
            </a:r>
            <a:endParaRPr sz="1600">
              <a:latin typeface="Arial Black"/>
              <a:cs typeface="Arial Black"/>
            </a:endParaRPr>
          </a:p>
          <a:p>
            <a:pPr algn="just" marL="12700" marR="5080">
              <a:lnSpc>
                <a:spcPct val="104900"/>
              </a:lnSpc>
              <a:spcBef>
                <a:spcPts val="1055"/>
              </a:spcBef>
            </a:pPr>
            <a:r>
              <a:rPr dirty="0" sz="1500" spc="-10">
                <a:solidFill>
                  <a:srgbClr val="556478"/>
                </a:solidFill>
                <a:latin typeface="Noto Sans"/>
                <a:cs typeface="Noto Sans"/>
              </a:rPr>
              <a:t>You</a:t>
            </a:r>
            <a:r>
              <a:rPr dirty="0" sz="15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500">
                <a:solidFill>
                  <a:srgbClr val="556478"/>
                </a:solidFill>
                <a:latin typeface="Noto Sans"/>
                <a:cs typeface="Noto Sans"/>
              </a:rPr>
              <a:t>control</a:t>
            </a:r>
            <a:r>
              <a:rPr dirty="0" sz="15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500">
                <a:solidFill>
                  <a:srgbClr val="556478"/>
                </a:solidFill>
                <a:latin typeface="Noto Sans"/>
                <a:cs typeface="Noto Sans"/>
              </a:rPr>
              <a:t>the</a:t>
            </a:r>
            <a:r>
              <a:rPr dirty="0" sz="15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500">
                <a:solidFill>
                  <a:srgbClr val="556478"/>
                </a:solidFill>
                <a:latin typeface="Noto Sans"/>
                <a:cs typeface="Noto Sans"/>
              </a:rPr>
              <a:t>guest</a:t>
            </a:r>
            <a:r>
              <a:rPr dirty="0" sz="15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500">
                <a:solidFill>
                  <a:srgbClr val="556478"/>
                </a:solidFill>
                <a:latin typeface="Noto Sans"/>
                <a:cs typeface="Noto Sans"/>
              </a:rPr>
              <a:t>OS:</a:t>
            </a:r>
            <a:r>
              <a:rPr dirty="0" sz="15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500">
                <a:solidFill>
                  <a:srgbClr val="556478"/>
                </a:solidFill>
                <a:latin typeface="Noto Sans"/>
                <a:cs typeface="Noto Sans"/>
              </a:rPr>
              <a:t>login,</a:t>
            </a:r>
            <a:r>
              <a:rPr dirty="0" sz="15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500">
                <a:solidFill>
                  <a:srgbClr val="556478"/>
                </a:solidFill>
                <a:latin typeface="Noto Sans"/>
                <a:cs typeface="Noto Sans"/>
              </a:rPr>
              <a:t>patching,</a:t>
            </a:r>
            <a:r>
              <a:rPr dirty="0" sz="15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500" spc="-10">
                <a:solidFill>
                  <a:srgbClr val="556478"/>
                </a:solidFill>
                <a:latin typeface="Noto Sans"/>
                <a:cs typeface="Noto Sans"/>
              </a:rPr>
              <a:t>installed </a:t>
            </a:r>
            <a:r>
              <a:rPr dirty="0" sz="1500">
                <a:solidFill>
                  <a:srgbClr val="556478"/>
                </a:solidFill>
                <a:latin typeface="Noto Sans"/>
                <a:cs typeface="Noto Sans"/>
              </a:rPr>
              <a:t>agents,</a:t>
            </a:r>
            <a:r>
              <a:rPr dirty="0" sz="15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500">
                <a:solidFill>
                  <a:srgbClr val="556478"/>
                </a:solidFill>
                <a:latin typeface="Noto Sans"/>
                <a:cs typeface="Noto Sans"/>
              </a:rPr>
              <a:t>OS</a:t>
            </a:r>
            <a:r>
              <a:rPr dirty="0" sz="150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500" spc="-10">
                <a:solidFill>
                  <a:srgbClr val="556478"/>
                </a:solidFill>
                <a:latin typeface="Noto Sans"/>
                <a:cs typeface="Noto Sans"/>
              </a:rPr>
              <a:t>configuration,</a:t>
            </a:r>
            <a:r>
              <a:rPr dirty="0" sz="150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500">
                <a:solidFill>
                  <a:srgbClr val="556478"/>
                </a:solidFill>
                <a:latin typeface="Noto Sans"/>
                <a:cs typeface="Noto Sans"/>
              </a:rPr>
              <a:t>application</a:t>
            </a:r>
            <a:r>
              <a:rPr dirty="0" sz="150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500">
                <a:solidFill>
                  <a:srgbClr val="556478"/>
                </a:solidFill>
                <a:latin typeface="Noto Sans"/>
                <a:cs typeface="Noto Sans"/>
              </a:rPr>
              <a:t>runtime</a:t>
            </a:r>
            <a:r>
              <a:rPr dirty="0" sz="15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500" spc="-25">
                <a:solidFill>
                  <a:srgbClr val="556478"/>
                </a:solidFill>
                <a:latin typeface="Noto Sans"/>
                <a:cs typeface="Noto Sans"/>
              </a:rPr>
              <a:t>and </a:t>
            </a:r>
            <a:r>
              <a:rPr dirty="0" sz="1500">
                <a:solidFill>
                  <a:srgbClr val="556478"/>
                </a:solidFill>
                <a:latin typeface="Noto Sans"/>
                <a:cs typeface="Noto Sans"/>
              </a:rPr>
              <a:t>much</a:t>
            </a:r>
            <a:r>
              <a:rPr dirty="0" sz="150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500">
                <a:solidFill>
                  <a:srgbClr val="556478"/>
                </a:solidFill>
                <a:latin typeface="Noto Sans"/>
                <a:cs typeface="Noto Sans"/>
              </a:rPr>
              <a:t>of</a:t>
            </a:r>
            <a:r>
              <a:rPr dirty="0" sz="1500" spc="-2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500" spc="-10">
                <a:solidFill>
                  <a:srgbClr val="556478"/>
                </a:solidFill>
                <a:latin typeface="Noto Sans"/>
                <a:cs typeface="Noto Sans"/>
              </a:rPr>
              <a:t>troubleshooting.</a:t>
            </a:r>
            <a:endParaRPr sz="1500">
              <a:latin typeface="Noto Sans"/>
              <a:cs typeface="Noto San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257876" y="1777684"/>
            <a:ext cx="5131435" cy="2342515"/>
            <a:chOff x="6257876" y="1777684"/>
            <a:chExt cx="5131435" cy="2342515"/>
          </a:xfrm>
        </p:grpSpPr>
        <p:sp>
          <p:nvSpPr>
            <p:cNvPr id="13" name="object 13"/>
            <p:cNvSpPr/>
            <p:nvPr/>
          </p:nvSpPr>
          <p:spPr>
            <a:xfrm>
              <a:off x="6262916" y="1782724"/>
              <a:ext cx="5121275" cy="2332355"/>
            </a:xfrm>
            <a:custGeom>
              <a:avLst/>
              <a:gdLst/>
              <a:ahLst/>
              <a:cxnLst/>
              <a:rect l="l" t="t" r="r" b="b"/>
              <a:pathLst>
                <a:path w="5121275" h="2332354">
                  <a:moveTo>
                    <a:pt x="110159" y="0"/>
                  </a:moveTo>
                  <a:lnTo>
                    <a:pt x="68095" y="8352"/>
                  </a:lnTo>
                  <a:lnTo>
                    <a:pt x="32535" y="32213"/>
                  </a:lnTo>
                  <a:lnTo>
                    <a:pt x="8721" y="67882"/>
                  </a:lnTo>
                  <a:lnTo>
                    <a:pt x="368" y="109791"/>
                  </a:lnTo>
                  <a:lnTo>
                    <a:pt x="0" y="2222271"/>
                  </a:lnTo>
                  <a:lnTo>
                    <a:pt x="939" y="2236701"/>
                  </a:lnTo>
                  <a:lnTo>
                    <a:pt x="14770" y="2277351"/>
                  </a:lnTo>
                  <a:lnTo>
                    <a:pt x="43011" y="2309298"/>
                  </a:lnTo>
                  <a:lnTo>
                    <a:pt x="81360" y="2328340"/>
                  </a:lnTo>
                  <a:lnTo>
                    <a:pt x="109804" y="2332075"/>
                  </a:lnTo>
                  <a:lnTo>
                    <a:pt x="5011204" y="2332075"/>
                  </a:lnTo>
                  <a:lnTo>
                    <a:pt x="5053275" y="2323722"/>
                  </a:lnTo>
                  <a:lnTo>
                    <a:pt x="5088777" y="2299896"/>
                  </a:lnTo>
                  <a:lnTo>
                    <a:pt x="5112574" y="2264342"/>
                  </a:lnTo>
                  <a:lnTo>
                    <a:pt x="5112650" y="2264192"/>
                  </a:lnTo>
                  <a:lnTo>
                    <a:pt x="5117256" y="2250759"/>
                  </a:lnTo>
                  <a:lnTo>
                    <a:pt x="5120067" y="2236701"/>
                  </a:lnTo>
                  <a:lnTo>
                    <a:pt x="5121008" y="2222271"/>
                  </a:lnTo>
                  <a:lnTo>
                    <a:pt x="5120984" y="109791"/>
                  </a:lnTo>
                  <a:lnTo>
                    <a:pt x="5112650" y="68088"/>
                  </a:lnTo>
                  <a:lnTo>
                    <a:pt x="5088783" y="32534"/>
                  </a:lnTo>
                  <a:lnTo>
                    <a:pt x="5053125" y="8708"/>
                  </a:lnTo>
                  <a:lnTo>
                    <a:pt x="501120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6262916" y="1782724"/>
              <a:ext cx="5121275" cy="2332355"/>
            </a:xfrm>
            <a:custGeom>
              <a:avLst/>
              <a:gdLst/>
              <a:ahLst/>
              <a:cxnLst/>
              <a:rect l="l" t="t" r="r" b="b"/>
              <a:pathLst>
                <a:path w="5121275" h="2332354">
                  <a:moveTo>
                    <a:pt x="368" y="109791"/>
                  </a:moveTo>
                  <a:lnTo>
                    <a:pt x="1307" y="95374"/>
                  </a:lnTo>
                  <a:lnTo>
                    <a:pt x="4103" y="81359"/>
                  </a:lnTo>
                  <a:lnTo>
                    <a:pt x="23138" y="43003"/>
                  </a:lnTo>
                  <a:lnTo>
                    <a:pt x="55079" y="14757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5011204" y="355"/>
                  </a:lnTo>
                  <a:lnTo>
                    <a:pt x="5053125" y="8708"/>
                  </a:lnTo>
                  <a:lnTo>
                    <a:pt x="5088783" y="32534"/>
                  </a:lnTo>
                  <a:lnTo>
                    <a:pt x="5112650" y="68088"/>
                  </a:lnTo>
                  <a:lnTo>
                    <a:pt x="5121008" y="110159"/>
                  </a:lnTo>
                  <a:lnTo>
                    <a:pt x="5121008" y="2222271"/>
                  </a:lnTo>
                  <a:lnTo>
                    <a:pt x="5120068" y="2236696"/>
                  </a:lnTo>
                  <a:lnTo>
                    <a:pt x="5117271" y="2250714"/>
                  </a:lnTo>
                  <a:lnTo>
                    <a:pt x="5098225" y="2289064"/>
                  </a:lnTo>
                  <a:lnTo>
                    <a:pt x="5066284" y="2317318"/>
                  </a:lnTo>
                  <a:lnTo>
                    <a:pt x="5025634" y="2331135"/>
                  </a:lnTo>
                  <a:lnTo>
                    <a:pt x="5011204" y="2332075"/>
                  </a:lnTo>
                  <a:lnTo>
                    <a:pt x="109804" y="2332075"/>
                  </a:lnTo>
                  <a:lnTo>
                    <a:pt x="67882" y="2323722"/>
                  </a:lnTo>
                  <a:lnTo>
                    <a:pt x="32224" y="2299896"/>
                  </a:lnTo>
                  <a:lnTo>
                    <a:pt x="8358" y="2264342"/>
                  </a:lnTo>
                  <a:lnTo>
                    <a:pt x="0" y="2222271"/>
                  </a:lnTo>
                  <a:lnTo>
                    <a:pt x="368" y="109791"/>
                  </a:lnTo>
                  <a:close/>
                </a:path>
              </a:pathLst>
            </a:custGeom>
            <a:ln w="10079">
              <a:solidFill>
                <a:srgbClr val="DBE4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6263639" y="1783079"/>
              <a:ext cx="73025" cy="2331720"/>
            </a:xfrm>
            <a:custGeom>
              <a:avLst/>
              <a:gdLst/>
              <a:ahLst/>
              <a:cxnLst/>
              <a:rect l="l" t="t" r="r" b="b"/>
              <a:pathLst>
                <a:path w="73025" h="2331720">
                  <a:moveTo>
                    <a:pt x="72720" y="0"/>
                  </a:moveTo>
                  <a:lnTo>
                    <a:pt x="0" y="0"/>
                  </a:lnTo>
                  <a:lnTo>
                    <a:pt x="0" y="2331364"/>
                  </a:lnTo>
                  <a:lnTo>
                    <a:pt x="36360" y="2331364"/>
                  </a:lnTo>
                  <a:lnTo>
                    <a:pt x="72720" y="2331364"/>
                  </a:lnTo>
                  <a:lnTo>
                    <a:pt x="72720" y="0"/>
                  </a:lnTo>
                  <a:close/>
                </a:path>
              </a:pathLst>
            </a:custGeom>
            <a:solidFill>
              <a:srgbClr val="0C938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6263639" y="1783079"/>
              <a:ext cx="73025" cy="2331720"/>
            </a:xfrm>
            <a:custGeom>
              <a:avLst/>
              <a:gdLst/>
              <a:ahLst/>
              <a:cxnLst/>
              <a:rect l="l" t="t" r="r" b="b"/>
              <a:pathLst>
                <a:path w="73025" h="2331720">
                  <a:moveTo>
                    <a:pt x="36360" y="2331364"/>
                  </a:moveTo>
                  <a:lnTo>
                    <a:pt x="0" y="2331364"/>
                  </a:lnTo>
                  <a:lnTo>
                    <a:pt x="0" y="0"/>
                  </a:lnTo>
                  <a:lnTo>
                    <a:pt x="72720" y="0"/>
                  </a:lnTo>
                  <a:lnTo>
                    <a:pt x="72720" y="2331364"/>
                  </a:lnTo>
                  <a:lnTo>
                    <a:pt x="36360" y="2331364"/>
                  </a:lnTo>
                  <a:close/>
                </a:path>
              </a:pathLst>
            </a:custGeom>
            <a:ln w="10079">
              <a:solidFill>
                <a:srgbClr val="0C938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6452184" y="1959381"/>
            <a:ext cx="4596765" cy="1122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0">
                <a:solidFill>
                  <a:srgbClr val="0F2339"/>
                </a:solidFill>
                <a:latin typeface="Arial Black"/>
                <a:cs typeface="Arial Black"/>
              </a:rPr>
              <a:t>Azure </a:t>
            </a:r>
            <a:r>
              <a:rPr dirty="0" sz="1600" spc="-175">
                <a:solidFill>
                  <a:srgbClr val="0F2339"/>
                </a:solidFill>
                <a:latin typeface="Arial Black"/>
                <a:cs typeface="Arial Black"/>
              </a:rPr>
              <a:t>SQL</a:t>
            </a:r>
            <a:r>
              <a:rPr dirty="0" sz="1600" spc="-9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600" spc="-110">
                <a:solidFill>
                  <a:srgbClr val="0F2339"/>
                </a:solidFill>
                <a:latin typeface="Arial Black"/>
                <a:cs typeface="Arial Black"/>
              </a:rPr>
              <a:t>Database</a:t>
            </a:r>
            <a:r>
              <a:rPr dirty="0" sz="1600" spc="-9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600" spc="-200">
                <a:solidFill>
                  <a:srgbClr val="0F2339"/>
                </a:solidFill>
                <a:latin typeface="Arial Black"/>
                <a:cs typeface="Arial Black"/>
              </a:rPr>
              <a:t>•</a:t>
            </a:r>
            <a:r>
              <a:rPr dirty="0" sz="1600" spc="-10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600" spc="-20">
                <a:solidFill>
                  <a:srgbClr val="0F2339"/>
                </a:solidFill>
                <a:latin typeface="Arial Black"/>
                <a:cs typeface="Arial Black"/>
              </a:rPr>
              <a:t>PaaS</a:t>
            </a:r>
            <a:endParaRPr sz="1600">
              <a:latin typeface="Arial Black"/>
              <a:cs typeface="Arial Black"/>
            </a:endParaRPr>
          </a:p>
          <a:p>
            <a:pPr marL="12700" marR="5080">
              <a:lnSpc>
                <a:spcPct val="104900"/>
              </a:lnSpc>
              <a:spcBef>
                <a:spcPts val="1055"/>
              </a:spcBef>
            </a:pPr>
            <a:r>
              <a:rPr dirty="0" sz="1500" spc="-10">
                <a:solidFill>
                  <a:srgbClr val="556478"/>
                </a:solidFill>
                <a:latin typeface="Noto Sans"/>
                <a:cs typeface="Noto Sans"/>
              </a:rPr>
              <a:t>You</a:t>
            </a:r>
            <a:r>
              <a:rPr dirty="0" sz="15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500">
                <a:solidFill>
                  <a:srgbClr val="556478"/>
                </a:solidFill>
                <a:latin typeface="Noto Sans"/>
                <a:cs typeface="Noto Sans"/>
              </a:rPr>
              <a:t>connect</a:t>
            </a:r>
            <a:r>
              <a:rPr dirty="0" sz="15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500">
                <a:solidFill>
                  <a:srgbClr val="556478"/>
                </a:solidFill>
                <a:latin typeface="Noto Sans"/>
                <a:cs typeface="Noto Sans"/>
              </a:rPr>
              <a:t>to</a:t>
            </a:r>
            <a:r>
              <a:rPr dirty="0" sz="15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500">
                <a:solidFill>
                  <a:srgbClr val="556478"/>
                </a:solidFill>
                <a:latin typeface="Noto Sans"/>
                <a:cs typeface="Noto Sans"/>
              </a:rPr>
              <a:t>the</a:t>
            </a:r>
            <a:r>
              <a:rPr dirty="0" sz="15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500">
                <a:solidFill>
                  <a:srgbClr val="556478"/>
                </a:solidFill>
                <a:latin typeface="Noto Sans"/>
                <a:cs typeface="Noto Sans"/>
              </a:rPr>
              <a:t>database</a:t>
            </a:r>
            <a:r>
              <a:rPr dirty="0" sz="15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500">
                <a:solidFill>
                  <a:srgbClr val="556478"/>
                </a:solidFill>
                <a:latin typeface="Noto Sans"/>
                <a:cs typeface="Noto Sans"/>
              </a:rPr>
              <a:t>endpoint</a:t>
            </a:r>
            <a:r>
              <a:rPr dirty="0" sz="15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500">
                <a:solidFill>
                  <a:srgbClr val="556478"/>
                </a:solidFill>
                <a:latin typeface="Noto Sans"/>
                <a:cs typeface="Noto Sans"/>
              </a:rPr>
              <a:t>and</a:t>
            </a:r>
            <a:r>
              <a:rPr dirty="0" sz="15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500" spc="-10">
                <a:solidFill>
                  <a:srgbClr val="556478"/>
                </a:solidFill>
                <a:latin typeface="Noto Sans"/>
                <a:cs typeface="Noto Sans"/>
              </a:rPr>
              <a:t>manage </a:t>
            </a:r>
            <a:r>
              <a:rPr dirty="0" sz="1500">
                <a:solidFill>
                  <a:srgbClr val="556478"/>
                </a:solidFill>
                <a:latin typeface="Noto Sans"/>
                <a:cs typeface="Noto Sans"/>
              </a:rPr>
              <a:t>schema,</a:t>
            </a:r>
            <a:r>
              <a:rPr dirty="0" sz="15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500">
                <a:solidFill>
                  <a:srgbClr val="556478"/>
                </a:solidFill>
                <a:latin typeface="Noto Sans"/>
                <a:cs typeface="Noto Sans"/>
              </a:rPr>
              <a:t>data,</a:t>
            </a:r>
            <a:r>
              <a:rPr dirty="0" sz="15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500">
                <a:solidFill>
                  <a:srgbClr val="556478"/>
                </a:solidFill>
                <a:latin typeface="Noto Sans"/>
                <a:cs typeface="Noto Sans"/>
              </a:rPr>
              <a:t>identity</a:t>
            </a:r>
            <a:r>
              <a:rPr dirty="0" sz="15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500">
                <a:solidFill>
                  <a:srgbClr val="556478"/>
                </a:solidFill>
                <a:latin typeface="Noto Sans"/>
                <a:cs typeface="Noto Sans"/>
              </a:rPr>
              <a:t>and</a:t>
            </a:r>
            <a:r>
              <a:rPr dirty="0" sz="15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500">
                <a:solidFill>
                  <a:srgbClr val="556478"/>
                </a:solidFill>
                <a:latin typeface="Noto Sans"/>
                <a:cs typeface="Noto Sans"/>
              </a:rPr>
              <a:t>queries.</a:t>
            </a:r>
            <a:r>
              <a:rPr dirty="0" sz="15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500" spc="-10">
                <a:solidFill>
                  <a:srgbClr val="556478"/>
                </a:solidFill>
                <a:latin typeface="Noto Sans"/>
                <a:cs typeface="Noto Sans"/>
              </a:rPr>
              <a:t>You</a:t>
            </a:r>
            <a:r>
              <a:rPr dirty="0" sz="15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500">
                <a:solidFill>
                  <a:srgbClr val="556478"/>
                </a:solidFill>
                <a:latin typeface="Noto Sans"/>
                <a:cs typeface="Noto Sans"/>
              </a:rPr>
              <a:t>do</a:t>
            </a:r>
            <a:r>
              <a:rPr dirty="0" sz="15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500" spc="-25">
                <a:solidFill>
                  <a:srgbClr val="556478"/>
                </a:solidFill>
                <a:latin typeface="Noto Sans"/>
                <a:cs typeface="Noto Sans"/>
              </a:rPr>
              <a:t>not </a:t>
            </a:r>
            <a:r>
              <a:rPr dirty="0" sz="1500">
                <a:solidFill>
                  <a:srgbClr val="556478"/>
                </a:solidFill>
                <a:latin typeface="Noto Sans"/>
                <a:cs typeface="Noto Sans"/>
              </a:rPr>
              <a:t>administer</a:t>
            </a:r>
            <a:r>
              <a:rPr dirty="0" sz="15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500">
                <a:solidFill>
                  <a:srgbClr val="556478"/>
                </a:solidFill>
                <a:latin typeface="Noto Sans"/>
                <a:cs typeface="Noto Sans"/>
              </a:rPr>
              <a:t>the</a:t>
            </a:r>
            <a:r>
              <a:rPr dirty="0" sz="15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500">
                <a:solidFill>
                  <a:srgbClr val="556478"/>
                </a:solidFill>
                <a:latin typeface="Noto Sans"/>
                <a:cs typeface="Noto Sans"/>
              </a:rPr>
              <a:t>underlying</a:t>
            </a:r>
            <a:r>
              <a:rPr dirty="0" sz="150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500">
                <a:solidFill>
                  <a:srgbClr val="556478"/>
                </a:solidFill>
                <a:latin typeface="Noto Sans"/>
                <a:cs typeface="Noto Sans"/>
              </a:rPr>
              <a:t>host</a:t>
            </a:r>
            <a:r>
              <a:rPr dirty="0" sz="15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500" spc="-25">
                <a:solidFill>
                  <a:srgbClr val="556478"/>
                </a:solidFill>
                <a:latin typeface="Noto Sans"/>
                <a:cs typeface="Noto Sans"/>
              </a:rPr>
              <a:t>OS.</a:t>
            </a:r>
            <a:endParaRPr sz="1500">
              <a:latin typeface="Noto Sans"/>
              <a:cs typeface="Noto Sans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954356" y="4520516"/>
            <a:ext cx="4399915" cy="522605"/>
            <a:chOff x="954356" y="4520516"/>
            <a:chExt cx="4399915" cy="522605"/>
          </a:xfrm>
        </p:grpSpPr>
        <p:sp>
          <p:nvSpPr>
            <p:cNvPr id="19" name="object 19"/>
            <p:cNvSpPr/>
            <p:nvPr/>
          </p:nvSpPr>
          <p:spPr>
            <a:xfrm>
              <a:off x="959396" y="4525556"/>
              <a:ext cx="4389755" cy="512445"/>
            </a:xfrm>
            <a:custGeom>
              <a:avLst/>
              <a:gdLst/>
              <a:ahLst/>
              <a:cxnLst/>
              <a:rect l="l" t="t" r="r" b="b"/>
              <a:pathLst>
                <a:path w="4389755" h="512445">
                  <a:moveTo>
                    <a:pt x="110159" y="0"/>
                  </a:moveTo>
                  <a:lnTo>
                    <a:pt x="68095" y="8358"/>
                  </a:lnTo>
                  <a:lnTo>
                    <a:pt x="32535" y="32224"/>
                  </a:lnTo>
                  <a:lnTo>
                    <a:pt x="8721" y="67934"/>
                  </a:lnTo>
                  <a:lnTo>
                    <a:pt x="368" y="109804"/>
                  </a:lnTo>
                  <a:lnTo>
                    <a:pt x="0" y="402488"/>
                  </a:lnTo>
                  <a:lnTo>
                    <a:pt x="929" y="416755"/>
                  </a:lnTo>
                  <a:lnTo>
                    <a:pt x="939" y="416911"/>
                  </a:lnTo>
                  <a:lnTo>
                    <a:pt x="3701" y="430787"/>
                  </a:lnTo>
                  <a:lnTo>
                    <a:pt x="3736" y="430966"/>
                  </a:lnTo>
                  <a:lnTo>
                    <a:pt x="8288" y="444347"/>
                  </a:lnTo>
                  <a:lnTo>
                    <a:pt x="8358" y="444552"/>
                  </a:lnTo>
                  <a:lnTo>
                    <a:pt x="14770" y="457568"/>
                  </a:lnTo>
                  <a:lnTo>
                    <a:pt x="22683" y="469276"/>
                  </a:lnTo>
                  <a:lnTo>
                    <a:pt x="22788" y="469431"/>
                  </a:lnTo>
                  <a:lnTo>
                    <a:pt x="55079" y="497522"/>
                  </a:lnTo>
                  <a:lnTo>
                    <a:pt x="95534" y="511340"/>
                  </a:lnTo>
                  <a:lnTo>
                    <a:pt x="109804" y="512279"/>
                  </a:lnTo>
                  <a:lnTo>
                    <a:pt x="4279684" y="512279"/>
                  </a:lnTo>
                  <a:lnTo>
                    <a:pt x="4321755" y="503927"/>
                  </a:lnTo>
                  <a:lnTo>
                    <a:pt x="4357255" y="480112"/>
                  </a:lnTo>
                  <a:lnTo>
                    <a:pt x="4381027" y="444552"/>
                  </a:lnTo>
                  <a:lnTo>
                    <a:pt x="4389488" y="402488"/>
                  </a:lnTo>
                  <a:lnTo>
                    <a:pt x="4389465" y="109804"/>
                  </a:lnTo>
                  <a:lnTo>
                    <a:pt x="4381130" y="68095"/>
                  </a:lnTo>
                  <a:lnTo>
                    <a:pt x="4357263" y="32535"/>
                  </a:lnTo>
                  <a:lnTo>
                    <a:pt x="4321553" y="8721"/>
                  </a:lnTo>
                  <a:lnTo>
                    <a:pt x="4279684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9F3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959396" y="4525556"/>
              <a:ext cx="4389755" cy="512445"/>
            </a:xfrm>
            <a:custGeom>
              <a:avLst/>
              <a:gdLst/>
              <a:ahLst/>
              <a:cxnLst/>
              <a:rect l="l" t="t" r="r" b="b"/>
              <a:pathLst>
                <a:path w="4389755" h="512445">
                  <a:moveTo>
                    <a:pt x="368" y="109804"/>
                  </a:moveTo>
                  <a:lnTo>
                    <a:pt x="1307" y="95534"/>
                  </a:lnTo>
                  <a:lnTo>
                    <a:pt x="4103" y="81499"/>
                  </a:lnTo>
                  <a:lnTo>
                    <a:pt x="23138" y="43011"/>
                  </a:lnTo>
                  <a:lnTo>
                    <a:pt x="55079" y="14770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4279684" y="368"/>
                  </a:lnTo>
                  <a:lnTo>
                    <a:pt x="4321553" y="8721"/>
                  </a:lnTo>
                  <a:lnTo>
                    <a:pt x="4357263" y="32535"/>
                  </a:lnTo>
                  <a:lnTo>
                    <a:pt x="4381130" y="68095"/>
                  </a:lnTo>
                  <a:lnTo>
                    <a:pt x="4389488" y="110159"/>
                  </a:lnTo>
                  <a:lnTo>
                    <a:pt x="4389488" y="402488"/>
                  </a:lnTo>
                  <a:lnTo>
                    <a:pt x="4388548" y="416755"/>
                  </a:lnTo>
                  <a:lnTo>
                    <a:pt x="4385751" y="430787"/>
                  </a:lnTo>
                  <a:lnTo>
                    <a:pt x="4366705" y="469276"/>
                  </a:lnTo>
                  <a:lnTo>
                    <a:pt x="4334764" y="497522"/>
                  </a:lnTo>
                  <a:lnTo>
                    <a:pt x="4294114" y="511340"/>
                  </a:lnTo>
                  <a:lnTo>
                    <a:pt x="4279684" y="512279"/>
                  </a:lnTo>
                  <a:lnTo>
                    <a:pt x="109804" y="512279"/>
                  </a:lnTo>
                  <a:lnTo>
                    <a:pt x="67934" y="503927"/>
                  </a:lnTo>
                  <a:lnTo>
                    <a:pt x="32224" y="480112"/>
                  </a:lnTo>
                  <a:lnTo>
                    <a:pt x="8358" y="444552"/>
                  </a:lnTo>
                  <a:lnTo>
                    <a:pt x="0" y="402488"/>
                  </a:lnTo>
                  <a:lnTo>
                    <a:pt x="368" y="109804"/>
                  </a:lnTo>
                  <a:close/>
                </a:path>
              </a:pathLst>
            </a:custGeom>
            <a:ln w="10079">
              <a:solidFill>
                <a:srgbClr val="E9F3F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1345222" y="4663338"/>
            <a:ext cx="361315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14">
                <a:solidFill>
                  <a:srgbClr val="0077D3"/>
                </a:solidFill>
                <a:latin typeface="Arial Black"/>
                <a:cs typeface="Arial Black"/>
              </a:rPr>
              <a:t>Can</a:t>
            </a:r>
            <a:r>
              <a:rPr dirty="0" sz="1400" spc="-95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400" spc="-55">
                <a:solidFill>
                  <a:srgbClr val="0077D3"/>
                </a:solidFill>
                <a:latin typeface="Arial Black"/>
                <a:cs typeface="Arial Black"/>
              </a:rPr>
              <a:t>you</a:t>
            </a:r>
            <a:r>
              <a:rPr dirty="0" sz="1400" spc="-9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400" spc="-195">
                <a:solidFill>
                  <a:srgbClr val="0077D3"/>
                </a:solidFill>
                <a:latin typeface="Arial Black"/>
                <a:cs typeface="Arial Black"/>
              </a:rPr>
              <a:t>SSH</a:t>
            </a:r>
            <a:r>
              <a:rPr dirty="0" sz="1400" spc="-9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400" spc="185">
                <a:solidFill>
                  <a:srgbClr val="0077D3"/>
                </a:solidFill>
                <a:latin typeface="Arial Black"/>
                <a:cs typeface="Arial Black"/>
              </a:rPr>
              <a:t>/</a:t>
            </a:r>
            <a:r>
              <a:rPr dirty="0" sz="1400" spc="-95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400" spc="-125">
                <a:solidFill>
                  <a:srgbClr val="0077D3"/>
                </a:solidFill>
                <a:latin typeface="Arial Black"/>
                <a:cs typeface="Arial Black"/>
              </a:rPr>
              <a:t>RDP</a:t>
            </a:r>
            <a:r>
              <a:rPr dirty="0" sz="1400" spc="-9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400" spc="-50">
                <a:solidFill>
                  <a:srgbClr val="0077D3"/>
                </a:solidFill>
                <a:latin typeface="Arial Black"/>
                <a:cs typeface="Arial Black"/>
              </a:rPr>
              <a:t>to</a:t>
            </a:r>
            <a:r>
              <a:rPr dirty="0" sz="1400" spc="-9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400" spc="-55">
                <a:solidFill>
                  <a:srgbClr val="0077D3"/>
                </a:solidFill>
                <a:latin typeface="Arial Black"/>
                <a:cs typeface="Arial Black"/>
              </a:rPr>
              <a:t>the</a:t>
            </a:r>
            <a:r>
              <a:rPr dirty="0" sz="1400" spc="-95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400" spc="-45">
                <a:solidFill>
                  <a:srgbClr val="0077D3"/>
                </a:solidFill>
                <a:latin typeface="Arial Black"/>
                <a:cs typeface="Arial Black"/>
              </a:rPr>
              <a:t>underlying</a:t>
            </a:r>
            <a:r>
              <a:rPr dirty="0" sz="1400" spc="-9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400" spc="-85">
                <a:solidFill>
                  <a:srgbClr val="0077D3"/>
                </a:solidFill>
                <a:latin typeface="Arial Black"/>
                <a:cs typeface="Arial Black"/>
              </a:rPr>
              <a:t>OS?</a:t>
            </a:r>
            <a:endParaRPr sz="1400">
              <a:latin typeface="Arial Black"/>
              <a:cs typeface="Arial Black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6486476" y="4520516"/>
            <a:ext cx="4399915" cy="522605"/>
            <a:chOff x="6486476" y="4520516"/>
            <a:chExt cx="4399915" cy="522605"/>
          </a:xfrm>
        </p:grpSpPr>
        <p:sp>
          <p:nvSpPr>
            <p:cNvPr id="23" name="object 23"/>
            <p:cNvSpPr/>
            <p:nvPr/>
          </p:nvSpPr>
          <p:spPr>
            <a:xfrm>
              <a:off x="6491516" y="4525556"/>
              <a:ext cx="4389755" cy="512445"/>
            </a:xfrm>
            <a:custGeom>
              <a:avLst/>
              <a:gdLst/>
              <a:ahLst/>
              <a:cxnLst/>
              <a:rect l="l" t="t" r="r" b="b"/>
              <a:pathLst>
                <a:path w="4389755" h="512445">
                  <a:moveTo>
                    <a:pt x="110159" y="0"/>
                  </a:moveTo>
                  <a:lnTo>
                    <a:pt x="68095" y="8358"/>
                  </a:lnTo>
                  <a:lnTo>
                    <a:pt x="32535" y="32224"/>
                  </a:lnTo>
                  <a:lnTo>
                    <a:pt x="8721" y="67934"/>
                  </a:lnTo>
                  <a:lnTo>
                    <a:pt x="368" y="109804"/>
                  </a:lnTo>
                  <a:lnTo>
                    <a:pt x="0" y="402488"/>
                  </a:lnTo>
                  <a:lnTo>
                    <a:pt x="929" y="416755"/>
                  </a:lnTo>
                  <a:lnTo>
                    <a:pt x="939" y="416911"/>
                  </a:lnTo>
                  <a:lnTo>
                    <a:pt x="3701" y="430787"/>
                  </a:lnTo>
                  <a:lnTo>
                    <a:pt x="3736" y="430966"/>
                  </a:lnTo>
                  <a:lnTo>
                    <a:pt x="8288" y="444347"/>
                  </a:lnTo>
                  <a:lnTo>
                    <a:pt x="8358" y="444552"/>
                  </a:lnTo>
                  <a:lnTo>
                    <a:pt x="14770" y="457568"/>
                  </a:lnTo>
                  <a:lnTo>
                    <a:pt x="22683" y="469276"/>
                  </a:lnTo>
                  <a:lnTo>
                    <a:pt x="22788" y="469431"/>
                  </a:lnTo>
                  <a:lnTo>
                    <a:pt x="55079" y="497522"/>
                  </a:lnTo>
                  <a:lnTo>
                    <a:pt x="95534" y="511340"/>
                  </a:lnTo>
                  <a:lnTo>
                    <a:pt x="109804" y="512279"/>
                  </a:lnTo>
                  <a:lnTo>
                    <a:pt x="4279684" y="512279"/>
                  </a:lnTo>
                  <a:lnTo>
                    <a:pt x="4321755" y="503927"/>
                  </a:lnTo>
                  <a:lnTo>
                    <a:pt x="4357255" y="480112"/>
                  </a:lnTo>
                  <a:lnTo>
                    <a:pt x="4381027" y="444552"/>
                  </a:lnTo>
                  <a:lnTo>
                    <a:pt x="4381130" y="444347"/>
                  </a:lnTo>
                  <a:lnTo>
                    <a:pt x="4385690" y="430966"/>
                  </a:lnTo>
                  <a:lnTo>
                    <a:pt x="4385751" y="430787"/>
                  </a:lnTo>
                  <a:lnTo>
                    <a:pt x="4388517" y="416911"/>
                  </a:lnTo>
                  <a:lnTo>
                    <a:pt x="4388548" y="416755"/>
                  </a:lnTo>
                  <a:lnTo>
                    <a:pt x="4389488" y="402488"/>
                  </a:lnTo>
                  <a:lnTo>
                    <a:pt x="4389465" y="109804"/>
                  </a:lnTo>
                  <a:lnTo>
                    <a:pt x="4381130" y="68095"/>
                  </a:lnTo>
                  <a:lnTo>
                    <a:pt x="4357263" y="32535"/>
                  </a:lnTo>
                  <a:lnTo>
                    <a:pt x="4321553" y="8721"/>
                  </a:lnTo>
                  <a:lnTo>
                    <a:pt x="4279684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6F7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6491516" y="4525556"/>
              <a:ext cx="4389755" cy="512445"/>
            </a:xfrm>
            <a:custGeom>
              <a:avLst/>
              <a:gdLst/>
              <a:ahLst/>
              <a:cxnLst/>
              <a:rect l="l" t="t" r="r" b="b"/>
              <a:pathLst>
                <a:path w="4389755" h="512445">
                  <a:moveTo>
                    <a:pt x="368" y="109804"/>
                  </a:moveTo>
                  <a:lnTo>
                    <a:pt x="1307" y="95534"/>
                  </a:lnTo>
                  <a:lnTo>
                    <a:pt x="4103" y="81499"/>
                  </a:lnTo>
                  <a:lnTo>
                    <a:pt x="23138" y="43011"/>
                  </a:lnTo>
                  <a:lnTo>
                    <a:pt x="55079" y="14770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4279684" y="368"/>
                  </a:lnTo>
                  <a:lnTo>
                    <a:pt x="4321553" y="8721"/>
                  </a:lnTo>
                  <a:lnTo>
                    <a:pt x="4357263" y="32535"/>
                  </a:lnTo>
                  <a:lnTo>
                    <a:pt x="4381130" y="68095"/>
                  </a:lnTo>
                  <a:lnTo>
                    <a:pt x="4389488" y="110159"/>
                  </a:lnTo>
                  <a:lnTo>
                    <a:pt x="4389488" y="402488"/>
                  </a:lnTo>
                  <a:lnTo>
                    <a:pt x="4388548" y="416755"/>
                  </a:lnTo>
                  <a:lnTo>
                    <a:pt x="4385751" y="430787"/>
                  </a:lnTo>
                  <a:lnTo>
                    <a:pt x="4366705" y="469276"/>
                  </a:lnTo>
                  <a:lnTo>
                    <a:pt x="4334764" y="497522"/>
                  </a:lnTo>
                  <a:lnTo>
                    <a:pt x="4294114" y="511340"/>
                  </a:lnTo>
                  <a:lnTo>
                    <a:pt x="4279684" y="512279"/>
                  </a:lnTo>
                  <a:lnTo>
                    <a:pt x="109804" y="512279"/>
                  </a:lnTo>
                  <a:lnTo>
                    <a:pt x="67934" y="503927"/>
                  </a:lnTo>
                  <a:lnTo>
                    <a:pt x="32224" y="480112"/>
                  </a:lnTo>
                  <a:lnTo>
                    <a:pt x="8358" y="444552"/>
                  </a:lnTo>
                  <a:lnTo>
                    <a:pt x="0" y="402488"/>
                  </a:lnTo>
                  <a:lnTo>
                    <a:pt x="368" y="109804"/>
                  </a:lnTo>
                  <a:close/>
                </a:path>
              </a:pathLst>
            </a:custGeom>
            <a:ln w="10079">
              <a:solidFill>
                <a:srgbClr val="E6F7F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6790220" y="4556417"/>
            <a:ext cx="3786504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671320" marR="5080" indent="-1659255">
              <a:lnSpc>
                <a:spcPct val="100000"/>
              </a:lnSpc>
              <a:spcBef>
                <a:spcPts val="100"/>
              </a:spcBef>
            </a:pPr>
            <a:r>
              <a:rPr dirty="0" sz="1400" spc="-95">
                <a:solidFill>
                  <a:srgbClr val="0C9387"/>
                </a:solidFill>
                <a:latin typeface="Arial Black"/>
                <a:cs typeface="Arial Black"/>
              </a:rPr>
              <a:t>Database</a:t>
            </a:r>
            <a:r>
              <a:rPr dirty="0" sz="1400" spc="-70">
                <a:solidFill>
                  <a:srgbClr val="0C9387"/>
                </a:solidFill>
                <a:latin typeface="Arial Black"/>
                <a:cs typeface="Arial Black"/>
              </a:rPr>
              <a:t> </a:t>
            </a:r>
            <a:r>
              <a:rPr dirty="0" sz="1400" spc="-55">
                <a:solidFill>
                  <a:srgbClr val="0C9387"/>
                </a:solidFill>
                <a:latin typeface="Arial Black"/>
                <a:cs typeface="Arial Black"/>
              </a:rPr>
              <a:t>endpoint</a:t>
            </a:r>
            <a:r>
              <a:rPr dirty="0" sz="1400" spc="-65">
                <a:solidFill>
                  <a:srgbClr val="0C9387"/>
                </a:solidFill>
                <a:latin typeface="Arial Black"/>
                <a:cs typeface="Arial Black"/>
              </a:rPr>
              <a:t> </a:t>
            </a:r>
            <a:r>
              <a:rPr dirty="0" sz="1400" spc="185">
                <a:solidFill>
                  <a:srgbClr val="0C9387"/>
                </a:solidFill>
                <a:latin typeface="Arial Black"/>
                <a:cs typeface="Arial Black"/>
              </a:rPr>
              <a:t>/</a:t>
            </a:r>
            <a:r>
              <a:rPr dirty="0" sz="1400" spc="-65">
                <a:solidFill>
                  <a:srgbClr val="0C9387"/>
                </a:solidFill>
                <a:latin typeface="Arial Black"/>
                <a:cs typeface="Arial Black"/>
              </a:rPr>
              <a:t> </a:t>
            </a:r>
            <a:r>
              <a:rPr dirty="0" sz="1400" spc="-55">
                <a:solidFill>
                  <a:srgbClr val="0C9387"/>
                </a:solidFill>
                <a:latin typeface="Arial Black"/>
                <a:cs typeface="Arial Black"/>
              </a:rPr>
              <a:t>query</a:t>
            </a:r>
            <a:r>
              <a:rPr dirty="0" sz="1400" spc="-65">
                <a:solidFill>
                  <a:srgbClr val="0C9387"/>
                </a:solidFill>
                <a:latin typeface="Arial Black"/>
                <a:cs typeface="Arial Black"/>
              </a:rPr>
              <a:t> </a:t>
            </a:r>
            <a:r>
              <a:rPr dirty="0" sz="1400" spc="-145">
                <a:solidFill>
                  <a:srgbClr val="0C9387"/>
                </a:solidFill>
                <a:latin typeface="Arial Black"/>
                <a:cs typeface="Arial Black"/>
              </a:rPr>
              <a:t>access—</a:t>
            </a:r>
            <a:r>
              <a:rPr dirty="0" sz="1400" spc="-40">
                <a:solidFill>
                  <a:srgbClr val="0C9387"/>
                </a:solidFill>
                <a:latin typeface="Arial Black"/>
                <a:cs typeface="Arial Black"/>
              </a:rPr>
              <a:t>not</a:t>
            </a:r>
            <a:r>
              <a:rPr dirty="0" sz="1400" spc="-70">
                <a:solidFill>
                  <a:srgbClr val="0C9387"/>
                </a:solidFill>
                <a:latin typeface="Arial Black"/>
                <a:cs typeface="Arial Black"/>
              </a:rPr>
              <a:t> </a:t>
            </a:r>
            <a:r>
              <a:rPr dirty="0" sz="1400" spc="-75">
                <a:solidFill>
                  <a:srgbClr val="0C9387"/>
                </a:solidFill>
                <a:latin typeface="Arial Black"/>
                <a:cs typeface="Arial Black"/>
              </a:rPr>
              <a:t>OS </a:t>
            </a:r>
            <a:r>
              <a:rPr dirty="0" sz="1400" spc="-20">
                <a:solidFill>
                  <a:srgbClr val="0C9387"/>
                </a:solidFill>
                <a:latin typeface="Arial Black"/>
                <a:cs typeface="Arial Black"/>
              </a:rPr>
              <a:t>login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57859" y="5429783"/>
            <a:ext cx="10333990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739005" marR="5080" indent="-4726940">
              <a:lnSpc>
                <a:spcPct val="100000"/>
              </a:lnSpc>
              <a:spcBef>
                <a:spcPts val="100"/>
              </a:spcBef>
            </a:pPr>
            <a:r>
              <a:rPr dirty="0" sz="1250">
                <a:solidFill>
                  <a:srgbClr val="C1403A"/>
                </a:solidFill>
                <a:latin typeface="Noto Sans"/>
                <a:cs typeface="Noto Sans"/>
              </a:rPr>
              <a:t>Caution:</a:t>
            </a:r>
            <a:r>
              <a:rPr dirty="0" sz="1250" spc="-35">
                <a:solidFill>
                  <a:srgbClr val="C1403A"/>
                </a:solidFill>
                <a:latin typeface="Noto Sans"/>
                <a:cs typeface="Noto Sans"/>
              </a:rPr>
              <a:t> </a:t>
            </a:r>
            <a:r>
              <a:rPr dirty="0" sz="1250">
                <a:solidFill>
                  <a:srgbClr val="C1403A"/>
                </a:solidFill>
                <a:latin typeface="Noto Sans"/>
                <a:cs typeface="Noto Sans"/>
              </a:rPr>
              <a:t>some</a:t>
            </a:r>
            <a:r>
              <a:rPr dirty="0" sz="1250" spc="-30">
                <a:solidFill>
                  <a:srgbClr val="C1403A"/>
                </a:solidFill>
                <a:latin typeface="Noto Sans"/>
                <a:cs typeface="Noto Sans"/>
              </a:rPr>
              <a:t> </a:t>
            </a:r>
            <a:r>
              <a:rPr dirty="0" sz="1250">
                <a:solidFill>
                  <a:srgbClr val="C1403A"/>
                </a:solidFill>
                <a:latin typeface="Noto Sans"/>
                <a:cs typeface="Noto Sans"/>
              </a:rPr>
              <a:t>managed</a:t>
            </a:r>
            <a:r>
              <a:rPr dirty="0" sz="1250" spc="-35">
                <a:solidFill>
                  <a:srgbClr val="C1403A"/>
                </a:solidFill>
                <a:latin typeface="Noto Sans"/>
                <a:cs typeface="Noto Sans"/>
              </a:rPr>
              <a:t> </a:t>
            </a:r>
            <a:r>
              <a:rPr dirty="0" sz="1250">
                <a:solidFill>
                  <a:srgbClr val="C1403A"/>
                </a:solidFill>
                <a:latin typeface="Noto Sans"/>
                <a:cs typeface="Noto Sans"/>
              </a:rPr>
              <a:t>services</a:t>
            </a:r>
            <a:r>
              <a:rPr dirty="0" sz="1250" spc="-30">
                <a:solidFill>
                  <a:srgbClr val="C1403A"/>
                </a:solidFill>
                <a:latin typeface="Noto Sans"/>
                <a:cs typeface="Noto Sans"/>
              </a:rPr>
              <a:t> </a:t>
            </a:r>
            <a:r>
              <a:rPr dirty="0" sz="1250">
                <a:solidFill>
                  <a:srgbClr val="C1403A"/>
                </a:solidFill>
                <a:latin typeface="Noto Sans"/>
                <a:cs typeface="Noto Sans"/>
              </a:rPr>
              <a:t>offer</a:t>
            </a:r>
            <a:r>
              <a:rPr dirty="0" sz="1250" spc="-30">
                <a:solidFill>
                  <a:srgbClr val="C1403A"/>
                </a:solidFill>
                <a:latin typeface="Noto Sans"/>
                <a:cs typeface="Noto Sans"/>
              </a:rPr>
              <a:t> </a:t>
            </a:r>
            <a:r>
              <a:rPr dirty="0" sz="1250" spc="-10">
                <a:solidFill>
                  <a:srgbClr val="C1403A"/>
                </a:solidFill>
                <a:latin typeface="Noto Sans"/>
                <a:cs typeface="Noto Sans"/>
              </a:rPr>
              <a:t>diagnostic</a:t>
            </a:r>
            <a:r>
              <a:rPr dirty="0" sz="1250" spc="-30">
                <a:solidFill>
                  <a:srgbClr val="C1403A"/>
                </a:solidFill>
                <a:latin typeface="Noto Sans"/>
                <a:cs typeface="Noto Sans"/>
              </a:rPr>
              <a:t> </a:t>
            </a:r>
            <a:r>
              <a:rPr dirty="0" sz="1250">
                <a:solidFill>
                  <a:srgbClr val="C1403A"/>
                </a:solidFill>
                <a:latin typeface="Noto Sans"/>
                <a:cs typeface="Noto Sans"/>
              </a:rPr>
              <a:t>shells</a:t>
            </a:r>
            <a:r>
              <a:rPr dirty="0" sz="1250" spc="-35">
                <a:solidFill>
                  <a:srgbClr val="C1403A"/>
                </a:solidFill>
                <a:latin typeface="Noto Sans"/>
                <a:cs typeface="Noto Sans"/>
              </a:rPr>
              <a:t> </a:t>
            </a:r>
            <a:r>
              <a:rPr dirty="0" sz="1250">
                <a:solidFill>
                  <a:srgbClr val="C1403A"/>
                </a:solidFill>
                <a:latin typeface="Noto Sans"/>
                <a:cs typeface="Noto Sans"/>
              </a:rPr>
              <a:t>or</a:t>
            </a:r>
            <a:r>
              <a:rPr dirty="0" sz="1250" spc="-30">
                <a:solidFill>
                  <a:srgbClr val="C1403A"/>
                </a:solidFill>
                <a:latin typeface="Noto Sans"/>
                <a:cs typeface="Noto Sans"/>
              </a:rPr>
              <a:t> </a:t>
            </a:r>
            <a:r>
              <a:rPr dirty="0" sz="1250">
                <a:solidFill>
                  <a:srgbClr val="C1403A"/>
                </a:solidFill>
                <a:latin typeface="Noto Sans"/>
                <a:cs typeface="Noto Sans"/>
              </a:rPr>
              <a:t>limited</a:t>
            </a:r>
            <a:r>
              <a:rPr dirty="0" sz="1250" spc="-35">
                <a:solidFill>
                  <a:srgbClr val="C1403A"/>
                </a:solidFill>
                <a:latin typeface="Noto Sans"/>
                <a:cs typeface="Noto Sans"/>
              </a:rPr>
              <a:t> </a:t>
            </a:r>
            <a:r>
              <a:rPr dirty="0" sz="1250">
                <a:solidFill>
                  <a:srgbClr val="C1403A"/>
                </a:solidFill>
                <a:latin typeface="Noto Sans"/>
                <a:cs typeface="Noto Sans"/>
              </a:rPr>
              <a:t>platform</a:t>
            </a:r>
            <a:r>
              <a:rPr dirty="0" sz="1250" spc="-30">
                <a:solidFill>
                  <a:srgbClr val="C1403A"/>
                </a:solidFill>
                <a:latin typeface="Noto Sans"/>
                <a:cs typeface="Noto Sans"/>
              </a:rPr>
              <a:t> </a:t>
            </a:r>
            <a:r>
              <a:rPr dirty="0" sz="1250">
                <a:solidFill>
                  <a:srgbClr val="C1403A"/>
                </a:solidFill>
                <a:latin typeface="Noto Sans"/>
                <a:cs typeface="Noto Sans"/>
              </a:rPr>
              <a:t>tools.</a:t>
            </a:r>
            <a:r>
              <a:rPr dirty="0" sz="1250" spc="-30">
                <a:solidFill>
                  <a:srgbClr val="C1403A"/>
                </a:solidFill>
                <a:latin typeface="Noto Sans"/>
                <a:cs typeface="Noto Sans"/>
              </a:rPr>
              <a:t> </a:t>
            </a:r>
            <a:r>
              <a:rPr dirty="0" sz="1250">
                <a:solidFill>
                  <a:srgbClr val="C1403A"/>
                </a:solidFill>
                <a:latin typeface="Noto Sans"/>
                <a:cs typeface="Noto Sans"/>
              </a:rPr>
              <a:t>Confirm</a:t>
            </a:r>
            <a:r>
              <a:rPr dirty="0" sz="1250" spc="-30">
                <a:solidFill>
                  <a:srgbClr val="C1403A"/>
                </a:solidFill>
                <a:latin typeface="Noto Sans"/>
                <a:cs typeface="Noto Sans"/>
              </a:rPr>
              <a:t> </a:t>
            </a:r>
            <a:r>
              <a:rPr dirty="0" sz="1250">
                <a:solidFill>
                  <a:srgbClr val="C1403A"/>
                </a:solidFill>
                <a:latin typeface="Noto Sans"/>
                <a:cs typeface="Noto Sans"/>
              </a:rPr>
              <a:t>the</a:t>
            </a:r>
            <a:r>
              <a:rPr dirty="0" sz="1250" spc="-35">
                <a:solidFill>
                  <a:srgbClr val="C1403A"/>
                </a:solidFill>
                <a:latin typeface="Noto Sans"/>
                <a:cs typeface="Noto Sans"/>
              </a:rPr>
              <a:t> </a:t>
            </a:r>
            <a:r>
              <a:rPr dirty="0" sz="1250" spc="-10">
                <a:solidFill>
                  <a:srgbClr val="C1403A"/>
                </a:solidFill>
                <a:latin typeface="Noto Sans"/>
                <a:cs typeface="Noto Sans"/>
              </a:rPr>
              <a:t>documented</a:t>
            </a:r>
            <a:r>
              <a:rPr dirty="0" sz="1250" spc="-25">
                <a:solidFill>
                  <a:srgbClr val="C1403A"/>
                </a:solidFill>
                <a:latin typeface="Noto Sans"/>
                <a:cs typeface="Noto Sans"/>
              </a:rPr>
              <a:t> </a:t>
            </a:r>
            <a:r>
              <a:rPr dirty="0" sz="1250">
                <a:solidFill>
                  <a:srgbClr val="C1403A"/>
                </a:solidFill>
                <a:latin typeface="Noto Sans"/>
                <a:cs typeface="Noto Sans"/>
              </a:rPr>
              <a:t>service</a:t>
            </a:r>
            <a:r>
              <a:rPr dirty="0" sz="1250" spc="-35">
                <a:solidFill>
                  <a:srgbClr val="C1403A"/>
                </a:solidFill>
                <a:latin typeface="Noto Sans"/>
                <a:cs typeface="Noto Sans"/>
              </a:rPr>
              <a:t> </a:t>
            </a:r>
            <a:r>
              <a:rPr dirty="0" sz="1250" spc="-10">
                <a:solidFill>
                  <a:srgbClr val="C1403A"/>
                </a:solidFill>
                <a:latin typeface="Noto Sans"/>
                <a:cs typeface="Noto Sans"/>
              </a:rPr>
              <a:t>responsibilities,</a:t>
            </a:r>
            <a:r>
              <a:rPr dirty="0" sz="1250" spc="-25">
                <a:solidFill>
                  <a:srgbClr val="C1403A"/>
                </a:solidFill>
                <a:latin typeface="Noto Sans"/>
                <a:cs typeface="Noto Sans"/>
              </a:rPr>
              <a:t> </a:t>
            </a:r>
            <a:r>
              <a:rPr dirty="0" sz="1250">
                <a:solidFill>
                  <a:srgbClr val="C1403A"/>
                </a:solidFill>
                <a:latin typeface="Noto Sans"/>
                <a:cs typeface="Noto Sans"/>
              </a:rPr>
              <a:t>not</a:t>
            </a:r>
            <a:r>
              <a:rPr dirty="0" sz="1250" spc="-35">
                <a:solidFill>
                  <a:srgbClr val="C1403A"/>
                </a:solidFill>
                <a:latin typeface="Noto Sans"/>
                <a:cs typeface="Noto Sans"/>
              </a:rPr>
              <a:t> </a:t>
            </a:r>
            <a:r>
              <a:rPr dirty="0" sz="1250" spc="-20">
                <a:solidFill>
                  <a:srgbClr val="C1403A"/>
                </a:solidFill>
                <a:latin typeface="Noto Sans"/>
                <a:cs typeface="Noto Sans"/>
              </a:rPr>
              <a:t>just </a:t>
            </a:r>
            <a:r>
              <a:rPr dirty="0" sz="1250">
                <a:solidFill>
                  <a:srgbClr val="C1403A"/>
                </a:solidFill>
                <a:latin typeface="Noto Sans"/>
                <a:cs typeface="Noto Sans"/>
              </a:rPr>
              <a:t>one</a:t>
            </a:r>
            <a:r>
              <a:rPr dirty="0" sz="1250" spc="-35">
                <a:solidFill>
                  <a:srgbClr val="C1403A"/>
                </a:solidFill>
                <a:latin typeface="Noto Sans"/>
                <a:cs typeface="Noto Sans"/>
              </a:rPr>
              <a:t> </a:t>
            </a:r>
            <a:r>
              <a:rPr dirty="0" sz="1250" spc="-10">
                <a:solidFill>
                  <a:srgbClr val="C1403A"/>
                </a:solidFill>
                <a:latin typeface="Noto Sans"/>
                <a:cs typeface="Noto Sans"/>
              </a:rPr>
              <a:t>screen.</a:t>
            </a:r>
            <a:endParaRPr sz="1250">
              <a:latin typeface="Noto Sans"/>
              <a:cs typeface="Noto San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66635" y="6382435"/>
            <a:ext cx="11064240" cy="635"/>
          </a:xfrm>
          <a:custGeom>
            <a:avLst/>
            <a:gdLst/>
            <a:ahLst/>
            <a:cxnLst/>
            <a:rect l="l" t="t" r="r" b="b"/>
            <a:pathLst>
              <a:path w="11064240" h="635">
                <a:moveTo>
                  <a:pt x="0" y="0"/>
                </a:moveTo>
                <a:lnTo>
                  <a:pt x="11064240" y="368"/>
                </a:lnTo>
              </a:path>
            </a:pathLst>
          </a:custGeom>
          <a:ln w="8999">
            <a:solidFill>
              <a:srgbClr val="DBE4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90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 spc="-100"/>
              <a:t>DAY</a:t>
            </a:r>
            <a:r>
              <a:rPr dirty="0" spc="-55"/>
              <a:t> </a:t>
            </a:r>
            <a:r>
              <a:rPr dirty="0"/>
              <a:t>1</a:t>
            </a:r>
            <a:r>
              <a:rPr dirty="0" spc="105"/>
              <a:t> </a:t>
            </a:r>
            <a:r>
              <a:rPr dirty="0"/>
              <a:t>•</a:t>
            </a:r>
            <a:r>
              <a:rPr dirty="0" spc="130"/>
              <a:t> </a:t>
            </a:r>
            <a:r>
              <a:rPr dirty="0" spc="-70"/>
              <a:t>CLOUD</a:t>
            </a:r>
            <a:r>
              <a:rPr dirty="0" spc="-55"/>
              <a:t> </a:t>
            </a:r>
            <a:r>
              <a:rPr dirty="0" spc="-65"/>
              <a:t>FOUNDATIONS</a:t>
            </a:r>
            <a:r>
              <a:rPr dirty="0" spc="-55"/>
              <a:t> </a:t>
            </a:r>
            <a:r>
              <a:rPr dirty="0" spc="-105"/>
              <a:t>&amp;</a:t>
            </a:r>
            <a:r>
              <a:rPr dirty="0" spc="-50"/>
              <a:t> </a:t>
            </a:r>
            <a:r>
              <a:rPr dirty="0" spc="-95"/>
              <a:t>AZURE</a:t>
            </a:r>
            <a:r>
              <a:rPr dirty="0" spc="-55"/>
              <a:t> </a:t>
            </a:r>
            <a:r>
              <a:rPr dirty="0" spc="-50"/>
              <a:t>BASICS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11476697" y="6494402"/>
            <a:ext cx="149225" cy="172720"/>
          </a:xfrm>
          <a:prstGeom prst="rect">
            <a:avLst/>
          </a:prstGeom>
        </p:spPr>
        <p:txBody>
          <a:bodyPr wrap="square" lIns="0" tIns="203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dirty="0" sz="850" spc="-50">
                <a:solidFill>
                  <a:srgbClr val="0077D3"/>
                </a:solidFill>
                <a:latin typeface="Arial Black"/>
                <a:cs typeface="Arial Black"/>
              </a:rPr>
              <a:t>07</a:t>
            </a:r>
            <a:endParaRPr sz="85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3935" y="299427"/>
            <a:ext cx="205168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65">
                <a:solidFill>
                  <a:srgbClr val="0077D3"/>
                </a:solidFill>
                <a:latin typeface="Arial Black"/>
                <a:cs typeface="Arial Black"/>
              </a:rPr>
              <a:t>PA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25">
                <a:solidFill>
                  <a:srgbClr val="0077D3"/>
                </a:solidFill>
                <a:latin typeface="Arial Black"/>
                <a:cs typeface="Arial Black"/>
              </a:rPr>
              <a:t>R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>
                <a:solidFill>
                  <a:srgbClr val="0077D3"/>
                </a:solidFill>
                <a:latin typeface="Arial Black"/>
                <a:cs typeface="Arial Black"/>
              </a:rPr>
              <a:t>T</a:t>
            </a:r>
            <a:r>
              <a:rPr dirty="0" sz="1000" spc="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>
                <a:solidFill>
                  <a:srgbClr val="0077D3"/>
                </a:solidFill>
                <a:latin typeface="Arial Black"/>
                <a:cs typeface="Arial Black"/>
              </a:rPr>
              <a:t>1</a:t>
            </a:r>
            <a:r>
              <a:rPr dirty="0" sz="1000" spc="135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>
                <a:solidFill>
                  <a:srgbClr val="0077D3"/>
                </a:solidFill>
                <a:latin typeface="Arial Black"/>
                <a:cs typeface="Arial Black"/>
              </a:rPr>
              <a:t>•</a:t>
            </a:r>
            <a:r>
              <a:rPr dirty="0" sz="1000" spc="14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45">
                <a:solidFill>
                  <a:srgbClr val="0077D3"/>
                </a:solidFill>
                <a:latin typeface="Arial Black"/>
                <a:cs typeface="Arial Black"/>
              </a:rPr>
              <a:t>C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25">
                <a:solidFill>
                  <a:srgbClr val="0077D3"/>
                </a:solidFill>
                <a:latin typeface="Arial Black"/>
                <a:cs typeface="Arial Black"/>
              </a:rPr>
              <a:t>LO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90">
                <a:solidFill>
                  <a:srgbClr val="0077D3"/>
                </a:solidFill>
                <a:latin typeface="Arial Black"/>
                <a:cs typeface="Arial Black"/>
              </a:rPr>
              <a:t>U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>
                <a:solidFill>
                  <a:srgbClr val="0077D3"/>
                </a:solidFill>
                <a:latin typeface="Arial Black"/>
                <a:cs typeface="Arial Black"/>
              </a:rPr>
              <a:t>D</a:t>
            </a:r>
            <a:r>
              <a:rPr dirty="0" sz="1000" spc="135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45">
                <a:solidFill>
                  <a:srgbClr val="0077D3"/>
                </a:solidFill>
                <a:latin typeface="Arial Black"/>
                <a:cs typeface="Arial Black"/>
              </a:rPr>
              <a:t>CO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35">
                <a:solidFill>
                  <a:srgbClr val="0077D3"/>
                </a:solidFill>
                <a:latin typeface="Arial Black"/>
                <a:cs typeface="Arial Black"/>
              </a:rPr>
              <a:t>N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45">
                <a:solidFill>
                  <a:srgbClr val="0077D3"/>
                </a:solidFill>
                <a:latin typeface="Arial Black"/>
                <a:cs typeface="Arial Black"/>
              </a:rPr>
              <a:t>C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75">
                <a:solidFill>
                  <a:srgbClr val="0077D3"/>
                </a:solidFill>
                <a:latin typeface="Arial Black"/>
                <a:cs typeface="Arial Black"/>
              </a:rPr>
              <a:t>E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10">
                <a:solidFill>
                  <a:srgbClr val="0077D3"/>
                </a:solidFill>
                <a:latin typeface="Arial Black"/>
                <a:cs typeface="Arial Black"/>
              </a:rPr>
              <a:t>P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60">
                <a:solidFill>
                  <a:srgbClr val="0077D3"/>
                </a:solidFill>
                <a:latin typeface="Arial Black"/>
                <a:cs typeface="Arial Black"/>
              </a:rPr>
              <a:t>T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95">
                <a:solidFill>
                  <a:srgbClr val="0077D3"/>
                </a:solidFill>
                <a:latin typeface="Arial Black"/>
                <a:cs typeface="Arial Black"/>
              </a:rPr>
              <a:t>S</a:t>
            </a:r>
            <a:endParaRPr sz="1000">
              <a:latin typeface="Arial Black"/>
              <a:cs typeface="Arial Black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54304" y="428977"/>
            <a:ext cx="8380730" cy="814705"/>
          </a:xfrm>
          <a:prstGeom prst="rect"/>
        </p:spPr>
        <p:txBody>
          <a:bodyPr wrap="square" lIns="0" tIns="133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0"/>
              </a:spcBef>
            </a:pPr>
            <a:r>
              <a:rPr dirty="0" sz="2700" spc="-180">
                <a:solidFill>
                  <a:srgbClr val="0F2339"/>
                </a:solidFill>
              </a:rPr>
              <a:t>Shared </a:t>
            </a:r>
            <a:r>
              <a:rPr dirty="0" sz="2700" spc="-130">
                <a:solidFill>
                  <a:srgbClr val="0F2339"/>
                </a:solidFill>
              </a:rPr>
              <a:t>responsibility:</a:t>
            </a:r>
            <a:r>
              <a:rPr dirty="0" sz="2700" spc="-170">
                <a:solidFill>
                  <a:srgbClr val="0F2339"/>
                </a:solidFill>
              </a:rPr>
              <a:t> </a:t>
            </a:r>
            <a:r>
              <a:rPr dirty="0" sz="2700" spc="-160">
                <a:solidFill>
                  <a:srgbClr val="0F2339"/>
                </a:solidFill>
              </a:rPr>
              <a:t>who </a:t>
            </a:r>
            <a:r>
              <a:rPr dirty="0" sz="2700" spc="-155">
                <a:solidFill>
                  <a:srgbClr val="0F2339"/>
                </a:solidFill>
              </a:rPr>
              <a:t>operates</a:t>
            </a:r>
            <a:r>
              <a:rPr dirty="0" sz="2700" spc="-165">
                <a:solidFill>
                  <a:srgbClr val="0F2339"/>
                </a:solidFill>
              </a:rPr>
              <a:t> which</a:t>
            </a:r>
            <a:r>
              <a:rPr dirty="0" sz="2700" spc="-160">
                <a:solidFill>
                  <a:srgbClr val="0F2339"/>
                </a:solidFill>
              </a:rPr>
              <a:t> </a:t>
            </a:r>
            <a:r>
              <a:rPr dirty="0" sz="2700" spc="-85">
                <a:solidFill>
                  <a:srgbClr val="0F2339"/>
                </a:solidFill>
              </a:rPr>
              <a:t>layer?</a:t>
            </a:r>
            <a:endParaRPr sz="2700"/>
          </a:p>
          <a:p>
            <a:pPr marL="30480">
              <a:lnSpc>
                <a:spcPct val="100000"/>
              </a:lnSpc>
              <a:spcBef>
                <a:spcPts val="459"/>
              </a:spcBef>
            </a:pP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Responsibility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shifts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with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the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service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model;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the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customer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still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owns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data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and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access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decisions.</a:t>
            </a:r>
            <a:endParaRPr sz="1300">
              <a:latin typeface="Noto Sans"/>
              <a:cs typeface="Noto San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66635" y="1417319"/>
            <a:ext cx="11064240" cy="635"/>
          </a:xfrm>
          <a:custGeom>
            <a:avLst/>
            <a:gdLst/>
            <a:ahLst/>
            <a:cxnLst/>
            <a:rect l="l" t="t" r="r" b="b"/>
            <a:pathLst>
              <a:path w="11064240" h="634">
                <a:moveTo>
                  <a:pt x="0" y="0"/>
                </a:moveTo>
                <a:lnTo>
                  <a:pt x="11064240" y="355"/>
                </a:lnTo>
              </a:path>
            </a:pathLst>
          </a:custGeom>
          <a:ln w="10079">
            <a:solidFill>
              <a:srgbClr val="DBE4ED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6" name="object 6"/>
          <p:cNvGrpSpPr/>
          <p:nvPr/>
        </p:nvGrpSpPr>
        <p:grpSpPr>
          <a:xfrm>
            <a:off x="712800" y="1764360"/>
            <a:ext cx="9784080" cy="3164205"/>
            <a:chOff x="712800" y="1764360"/>
            <a:chExt cx="9784080" cy="3164205"/>
          </a:xfrm>
        </p:grpSpPr>
        <p:sp>
          <p:nvSpPr>
            <p:cNvPr id="7" name="object 7"/>
            <p:cNvSpPr/>
            <p:nvPr/>
          </p:nvSpPr>
          <p:spPr>
            <a:xfrm>
              <a:off x="712800" y="1764359"/>
              <a:ext cx="9784080" cy="420370"/>
            </a:xfrm>
            <a:custGeom>
              <a:avLst/>
              <a:gdLst/>
              <a:ahLst/>
              <a:cxnLst/>
              <a:rect l="l" t="t" r="r" b="b"/>
              <a:pathLst>
                <a:path w="9784080" h="420369">
                  <a:moveTo>
                    <a:pt x="2468524" y="0"/>
                  </a:moveTo>
                  <a:lnTo>
                    <a:pt x="0" y="0"/>
                  </a:lnTo>
                  <a:lnTo>
                    <a:pt x="0" y="420116"/>
                  </a:lnTo>
                  <a:lnTo>
                    <a:pt x="1234440" y="420116"/>
                  </a:lnTo>
                  <a:lnTo>
                    <a:pt x="2468524" y="420116"/>
                  </a:lnTo>
                  <a:lnTo>
                    <a:pt x="2468524" y="0"/>
                  </a:lnTo>
                  <a:close/>
                </a:path>
                <a:path w="9784080" h="420369">
                  <a:moveTo>
                    <a:pt x="4297324" y="0"/>
                  </a:moveTo>
                  <a:lnTo>
                    <a:pt x="2468880" y="0"/>
                  </a:lnTo>
                  <a:lnTo>
                    <a:pt x="2468880" y="420116"/>
                  </a:lnTo>
                  <a:lnTo>
                    <a:pt x="3383280" y="420116"/>
                  </a:lnTo>
                  <a:lnTo>
                    <a:pt x="4297324" y="420116"/>
                  </a:lnTo>
                  <a:lnTo>
                    <a:pt x="4297324" y="0"/>
                  </a:lnTo>
                  <a:close/>
                </a:path>
                <a:path w="9784080" h="420369">
                  <a:moveTo>
                    <a:pt x="6126124" y="0"/>
                  </a:moveTo>
                  <a:lnTo>
                    <a:pt x="4297680" y="0"/>
                  </a:lnTo>
                  <a:lnTo>
                    <a:pt x="4297680" y="420116"/>
                  </a:lnTo>
                  <a:lnTo>
                    <a:pt x="5212080" y="420116"/>
                  </a:lnTo>
                  <a:lnTo>
                    <a:pt x="6126124" y="420116"/>
                  </a:lnTo>
                  <a:lnTo>
                    <a:pt x="6126124" y="0"/>
                  </a:lnTo>
                  <a:close/>
                </a:path>
                <a:path w="9784080" h="420369">
                  <a:moveTo>
                    <a:pt x="7954924" y="0"/>
                  </a:moveTo>
                  <a:lnTo>
                    <a:pt x="6126480" y="0"/>
                  </a:lnTo>
                  <a:lnTo>
                    <a:pt x="6126480" y="420116"/>
                  </a:lnTo>
                  <a:lnTo>
                    <a:pt x="7040880" y="420116"/>
                  </a:lnTo>
                  <a:lnTo>
                    <a:pt x="7954924" y="420116"/>
                  </a:lnTo>
                  <a:lnTo>
                    <a:pt x="7954924" y="0"/>
                  </a:lnTo>
                  <a:close/>
                </a:path>
                <a:path w="9784080" h="420369">
                  <a:moveTo>
                    <a:pt x="9783724" y="0"/>
                  </a:moveTo>
                  <a:lnTo>
                    <a:pt x="7955280" y="0"/>
                  </a:lnTo>
                  <a:lnTo>
                    <a:pt x="7955280" y="420116"/>
                  </a:lnTo>
                  <a:lnTo>
                    <a:pt x="8869680" y="420116"/>
                  </a:lnTo>
                  <a:lnTo>
                    <a:pt x="9783724" y="420116"/>
                  </a:lnTo>
                  <a:lnTo>
                    <a:pt x="9783724" y="0"/>
                  </a:lnTo>
                  <a:close/>
                </a:path>
              </a:pathLst>
            </a:custGeom>
            <a:solidFill>
              <a:srgbClr val="0F233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712800" y="2185200"/>
              <a:ext cx="2468880" cy="457200"/>
            </a:xfrm>
            <a:custGeom>
              <a:avLst/>
              <a:gdLst/>
              <a:ahLst/>
              <a:cxnLst/>
              <a:rect l="l" t="t" r="r" b="b"/>
              <a:pathLst>
                <a:path w="2468880" h="457200">
                  <a:moveTo>
                    <a:pt x="2468524" y="0"/>
                  </a:moveTo>
                  <a:lnTo>
                    <a:pt x="0" y="0"/>
                  </a:lnTo>
                  <a:lnTo>
                    <a:pt x="0" y="456844"/>
                  </a:lnTo>
                  <a:lnTo>
                    <a:pt x="1234439" y="456844"/>
                  </a:lnTo>
                  <a:lnTo>
                    <a:pt x="2468524" y="456844"/>
                  </a:lnTo>
                  <a:lnTo>
                    <a:pt x="2468524" y="0"/>
                  </a:lnTo>
                  <a:close/>
                </a:path>
              </a:pathLst>
            </a:custGeom>
            <a:solidFill>
              <a:srgbClr val="E7ED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181680" y="2185200"/>
              <a:ext cx="1828800" cy="457200"/>
            </a:xfrm>
            <a:custGeom>
              <a:avLst/>
              <a:gdLst/>
              <a:ahLst/>
              <a:cxnLst/>
              <a:rect l="l" t="t" r="r" b="b"/>
              <a:pathLst>
                <a:path w="1828800" h="457200">
                  <a:moveTo>
                    <a:pt x="1828444" y="0"/>
                  </a:moveTo>
                  <a:lnTo>
                    <a:pt x="0" y="0"/>
                  </a:lnTo>
                  <a:lnTo>
                    <a:pt x="0" y="456844"/>
                  </a:lnTo>
                  <a:lnTo>
                    <a:pt x="914400" y="456844"/>
                  </a:lnTo>
                  <a:lnTo>
                    <a:pt x="1828444" y="456844"/>
                  </a:lnTo>
                  <a:lnTo>
                    <a:pt x="1828444" y="0"/>
                  </a:lnTo>
                  <a:close/>
                </a:path>
              </a:pathLst>
            </a:custGeom>
            <a:solidFill>
              <a:srgbClr val="E2E9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5010480" y="2185199"/>
              <a:ext cx="5486400" cy="457200"/>
            </a:xfrm>
            <a:custGeom>
              <a:avLst/>
              <a:gdLst/>
              <a:ahLst/>
              <a:cxnLst/>
              <a:rect l="l" t="t" r="r" b="b"/>
              <a:pathLst>
                <a:path w="5486400" h="457200">
                  <a:moveTo>
                    <a:pt x="1828444" y="0"/>
                  </a:moveTo>
                  <a:lnTo>
                    <a:pt x="0" y="0"/>
                  </a:lnTo>
                  <a:lnTo>
                    <a:pt x="0" y="456844"/>
                  </a:lnTo>
                  <a:lnTo>
                    <a:pt x="914400" y="456844"/>
                  </a:lnTo>
                  <a:lnTo>
                    <a:pt x="1828444" y="456844"/>
                  </a:lnTo>
                  <a:lnTo>
                    <a:pt x="1828444" y="0"/>
                  </a:lnTo>
                  <a:close/>
                </a:path>
                <a:path w="5486400" h="457200">
                  <a:moveTo>
                    <a:pt x="3657244" y="0"/>
                  </a:moveTo>
                  <a:lnTo>
                    <a:pt x="1828800" y="0"/>
                  </a:lnTo>
                  <a:lnTo>
                    <a:pt x="1828800" y="456844"/>
                  </a:lnTo>
                  <a:lnTo>
                    <a:pt x="2743200" y="456844"/>
                  </a:lnTo>
                  <a:lnTo>
                    <a:pt x="3657244" y="456844"/>
                  </a:lnTo>
                  <a:lnTo>
                    <a:pt x="3657244" y="0"/>
                  </a:lnTo>
                  <a:close/>
                </a:path>
                <a:path w="5486400" h="457200">
                  <a:moveTo>
                    <a:pt x="5486044" y="0"/>
                  </a:moveTo>
                  <a:lnTo>
                    <a:pt x="3657600" y="0"/>
                  </a:lnTo>
                  <a:lnTo>
                    <a:pt x="3657600" y="456844"/>
                  </a:lnTo>
                  <a:lnTo>
                    <a:pt x="4572000" y="456844"/>
                  </a:lnTo>
                  <a:lnTo>
                    <a:pt x="5486044" y="456844"/>
                  </a:lnTo>
                  <a:lnTo>
                    <a:pt x="5486044" y="0"/>
                  </a:lnTo>
                  <a:close/>
                </a:path>
              </a:pathLst>
            </a:custGeom>
            <a:solidFill>
              <a:srgbClr val="DBEA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712800" y="2642400"/>
              <a:ext cx="2468880" cy="457200"/>
            </a:xfrm>
            <a:custGeom>
              <a:avLst/>
              <a:gdLst/>
              <a:ahLst/>
              <a:cxnLst/>
              <a:rect l="l" t="t" r="r" b="b"/>
              <a:pathLst>
                <a:path w="2468880" h="457200">
                  <a:moveTo>
                    <a:pt x="2468524" y="0"/>
                  </a:moveTo>
                  <a:lnTo>
                    <a:pt x="0" y="0"/>
                  </a:lnTo>
                  <a:lnTo>
                    <a:pt x="0" y="456844"/>
                  </a:lnTo>
                  <a:lnTo>
                    <a:pt x="1234439" y="456844"/>
                  </a:lnTo>
                  <a:lnTo>
                    <a:pt x="2468524" y="456844"/>
                  </a:lnTo>
                  <a:lnTo>
                    <a:pt x="2468524" y="0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181680" y="2642400"/>
              <a:ext cx="1828800" cy="457200"/>
            </a:xfrm>
            <a:custGeom>
              <a:avLst/>
              <a:gdLst/>
              <a:ahLst/>
              <a:cxnLst/>
              <a:rect l="l" t="t" r="r" b="b"/>
              <a:pathLst>
                <a:path w="1828800" h="457200">
                  <a:moveTo>
                    <a:pt x="1828444" y="0"/>
                  </a:moveTo>
                  <a:lnTo>
                    <a:pt x="0" y="0"/>
                  </a:lnTo>
                  <a:lnTo>
                    <a:pt x="0" y="456844"/>
                  </a:lnTo>
                  <a:lnTo>
                    <a:pt x="914400" y="456844"/>
                  </a:lnTo>
                  <a:lnTo>
                    <a:pt x="1828444" y="456844"/>
                  </a:lnTo>
                  <a:lnTo>
                    <a:pt x="1828444" y="0"/>
                  </a:lnTo>
                  <a:close/>
                </a:path>
              </a:pathLst>
            </a:custGeom>
            <a:solidFill>
              <a:srgbClr val="E2E9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5010480" y="2642399"/>
              <a:ext cx="3657600" cy="457200"/>
            </a:xfrm>
            <a:custGeom>
              <a:avLst/>
              <a:gdLst/>
              <a:ahLst/>
              <a:cxnLst/>
              <a:rect l="l" t="t" r="r" b="b"/>
              <a:pathLst>
                <a:path w="3657600" h="457200">
                  <a:moveTo>
                    <a:pt x="1828444" y="0"/>
                  </a:moveTo>
                  <a:lnTo>
                    <a:pt x="0" y="0"/>
                  </a:lnTo>
                  <a:lnTo>
                    <a:pt x="0" y="456844"/>
                  </a:lnTo>
                  <a:lnTo>
                    <a:pt x="914400" y="456844"/>
                  </a:lnTo>
                  <a:lnTo>
                    <a:pt x="1828444" y="456844"/>
                  </a:lnTo>
                  <a:lnTo>
                    <a:pt x="1828444" y="0"/>
                  </a:lnTo>
                  <a:close/>
                </a:path>
                <a:path w="3657600" h="457200">
                  <a:moveTo>
                    <a:pt x="3657244" y="0"/>
                  </a:moveTo>
                  <a:lnTo>
                    <a:pt x="1828800" y="0"/>
                  </a:lnTo>
                  <a:lnTo>
                    <a:pt x="1828800" y="456844"/>
                  </a:lnTo>
                  <a:lnTo>
                    <a:pt x="2743200" y="456844"/>
                  </a:lnTo>
                  <a:lnTo>
                    <a:pt x="3657244" y="456844"/>
                  </a:lnTo>
                  <a:lnTo>
                    <a:pt x="3657244" y="0"/>
                  </a:lnTo>
                  <a:close/>
                </a:path>
              </a:pathLst>
            </a:custGeom>
            <a:solidFill>
              <a:srgbClr val="DBEA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8668080" y="2642400"/>
              <a:ext cx="1828800" cy="457200"/>
            </a:xfrm>
            <a:custGeom>
              <a:avLst/>
              <a:gdLst/>
              <a:ahLst/>
              <a:cxnLst/>
              <a:rect l="l" t="t" r="r" b="b"/>
              <a:pathLst>
                <a:path w="1828800" h="457200">
                  <a:moveTo>
                    <a:pt x="1828444" y="0"/>
                  </a:moveTo>
                  <a:lnTo>
                    <a:pt x="0" y="0"/>
                  </a:lnTo>
                  <a:lnTo>
                    <a:pt x="0" y="456844"/>
                  </a:lnTo>
                  <a:lnTo>
                    <a:pt x="914400" y="456844"/>
                  </a:lnTo>
                  <a:lnTo>
                    <a:pt x="1828444" y="456844"/>
                  </a:lnTo>
                  <a:lnTo>
                    <a:pt x="1828444" y="0"/>
                  </a:lnTo>
                  <a:close/>
                </a:path>
              </a:pathLst>
            </a:custGeom>
            <a:solidFill>
              <a:srgbClr val="FFF0D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712800" y="3099600"/>
              <a:ext cx="2468880" cy="457200"/>
            </a:xfrm>
            <a:custGeom>
              <a:avLst/>
              <a:gdLst/>
              <a:ahLst/>
              <a:cxnLst/>
              <a:rect l="l" t="t" r="r" b="b"/>
              <a:pathLst>
                <a:path w="2468880" h="457200">
                  <a:moveTo>
                    <a:pt x="2468524" y="0"/>
                  </a:moveTo>
                  <a:lnTo>
                    <a:pt x="0" y="0"/>
                  </a:lnTo>
                  <a:lnTo>
                    <a:pt x="0" y="456844"/>
                  </a:lnTo>
                  <a:lnTo>
                    <a:pt x="1234439" y="456844"/>
                  </a:lnTo>
                  <a:lnTo>
                    <a:pt x="2468524" y="456844"/>
                  </a:lnTo>
                  <a:lnTo>
                    <a:pt x="2468524" y="0"/>
                  </a:lnTo>
                  <a:close/>
                </a:path>
              </a:pathLst>
            </a:custGeom>
            <a:solidFill>
              <a:srgbClr val="E7ED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3181680" y="3099600"/>
              <a:ext cx="1828800" cy="457200"/>
            </a:xfrm>
            <a:custGeom>
              <a:avLst/>
              <a:gdLst/>
              <a:ahLst/>
              <a:cxnLst/>
              <a:rect l="l" t="t" r="r" b="b"/>
              <a:pathLst>
                <a:path w="1828800" h="457200">
                  <a:moveTo>
                    <a:pt x="1828444" y="0"/>
                  </a:moveTo>
                  <a:lnTo>
                    <a:pt x="0" y="0"/>
                  </a:lnTo>
                  <a:lnTo>
                    <a:pt x="0" y="456844"/>
                  </a:lnTo>
                  <a:lnTo>
                    <a:pt x="914400" y="456844"/>
                  </a:lnTo>
                  <a:lnTo>
                    <a:pt x="1828444" y="456844"/>
                  </a:lnTo>
                  <a:lnTo>
                    <a:pt x="1828444" y="0"/>
                  </a:lnTo>
                  <a:close/>
                </a:path>
              </a:pathLst>
            </a:custGeom>
            <a:solidFill>
              <a:srgbClr val="E2E9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5010480" y="3099600"/>
              <a:ext cx="1828800" cy="457200"/>
            </a:xfrm>
            <a:custGeom>
              <a:avLst/>
              <a:gdLst/>
              <a:ahLst/>
              <a:cxnLst/>
              <a:rect l="l" t="t" r="r" b="b"/>
              <a:pathLst>
                <a:path w="1828800" h="457200">
                  <a:moveTo>
                    <a:pt x="1828444" y="0"/>
                  </a:moveTo>
                  <a:lnTo>
                    <a:pt x="0" y="0"/>
                  </a:lnTo>
                  <a:lnTo>
                    <a:pt x="0" y="456844"/>
                  </a:lnTo>
                  <a:lnTo>
                    <a:pt x="914400" y="456844"/>
                  </a:lnTo>
                  <a:lnTo>
                    <a:pt x="1828444" y="456844"/>
                  </a:lnTo>
                  <a:lnTo>
                    <a:pt x="1828444" y="0"/>
                  </a:lnTo>
                  <a:close/>
                </a:path>
              </a:pathLst>
            </a:custGeom>
            <a:solidFill>
              <a:srgbClr val="DBEA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6839280" y="3099599"/>
              <a:ext cx="3657600" cy="457200"/>
            </a:xfrm>
            <a:custGeom>
              <a:avLst/>
              <a:gdLst/>
              <a:ahLst/>
              <a:cxnLst/>
              <a:rect l="l" t="t" r="r" b="b"/>
              <a:pathLst>
                <a:path w="3657600" h="457200">
                  <a:moveTo>
                    <a:pt x="1828444" y="0"/>
                  </a:moveTo>
                  <a:lnTo>
                    <a:pt x="0" y="0"/>
                  </a:lnTo>
                  <a:lnTo>
                    <a:pt x="0" y="456857"/>
                  </a:lnTo>
                  <a:lnTo>
                    <a:pt x="914400" y="456857"/>
                  </a:lnTo>
                  <a:lnTo>
                    <a:pt x="1828444" y="456857"/>
                  </a:lnTo>
                  <a:lnTo>
                    <a:pt x="1828444" y="0"/>
                  </a:lnTo>
                  <a:close/>
                </a:path>
                <a:path w="3657600" h="457200">
                  <a:moveTo>
                    <a:pt x="3657244" y="0"/>
                  </a:moveTo>
                  <a:lnTo>
                    <a:pt x="1828800" y="0"/>
                  </a:lnTo>
                  <a:lnTo>
                    <a:pt x="1828800" y="456857"/>
                  </a:lnTo>
                  <a:lnTo>
                    <a:pt x="2743200" y="456857"/>
                  </a:lnTo>
                  <a:lnTo>
                    <a:pt x="3657244" y="456857"/>
                  </a:lnTo>
                  <a:lnTo>
                    <a:pt x="3657244" y="0"/>
                  </a:lnTo>
                  <a:close/>
                </a:path>
              </a:pathLst>
            </a:custGeom>
            <a:solidFill>
              <a:srgbClr val="FFF0D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712800" y="3556799"/>
              <a:ext cx="2468880" cy="457200"/>
            </a:xfrm>
            <a:custGeom>
              <a:avLst/>
              <a:gdLst/>
              <a:ahLst/>
              <a:cxnLst/>
              <a:rect l="l" t="t" r="r" b="b"/>
              <a:pathLst>
                <a:path w="2468880" h="457200">
                  <a:moveTo>
                    <a:pt x="2468524" y="0"/>
                  </a:moveTo>
                  <a:lnTo>
                    <a:pt x="0" y="0"/>
                  </a:lnTo>
                  <a:lnTo>
                    <a:pt x="0" y="456844"/>
                  </a:lnTo>
                  <a:lnTo>
                    <a:pt x="1234439" y="456844"/>
                  </a:lnTo>
                  <a:lnTo>
                    <a:pt x="2468524" y="456844"/>
                  </a:lnTo>
                  <a:lnTo>
                    <a:pt x="2468524" y="0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3181680" y="3556799"/>
              <a:ext cx="1828800" cy="457200"/>
            </a:xfrm>
            <a:custGeom>
              <a:avLst/>
              <a:gdLst/>
              <a:ahLst/>
              <a:cxnLst/>
              <a:rect l="l" t="t" r="r" b="b"/>
              <a:pathLst>
                <a:path w="1828800" h="457200">
                  <a:moveTo>
                    <a:pt x="1828444" y="0"/>
                  </a:moveTo>
                  <a:lnTo>
                    <a:pt x="0" y="0"/>
                  </a:lnTo>
                  <a:lnTo>
                    <a:pt x="0" y="456844"/>
                  </a:lnTo>
                  <a:lnTo>
                    <a:pt x="914400" y="456844"/>
                  </a:lnTo>
                  <a:lnTo>
                    <a:pt x="1828444" y="456844"/>
                  </a:lnTo>
                  <a:lnTo>
                    <a:pt x="1828444" y="0"/>
                  </a:lnTo>
                  <a:close/>
                </a:path>
              </a:pathLst>
            </a:custGeom>
            <a:solidFill>
              <a:srgbClr val="E2E9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5010480" y="3556799"/>
              <a:ext cx="1828800" cy="457200"/>
            </a:xfrm>
            <a:custGeom>
              <a:avLst/>
              <a:gdLst/>
              <a:ahLst/>
              <a:cxnLst/>
              <a:rect l="l" t="t" r="r" b="b"/>
              <a:pathLst>
                <a:path w="1828800" h="457200">
                  <a:moveTo>
                    <a:pt x="1828444" y="0"/>
                  </a:moveTo>
                  <a:lnTo>
                    <a:pt x="0" y="0"/>
                  </a:lnTo>
                  <a:lnTo>
                    <a:pt x="0" y="456844"/>
                  </a:lnTo>
                  <a:lnTo>
                    <a:pt x="914400" y="456844"/>
                  </a:lnTo>
                  <a:lnTo>
                    <a:pt x="1828444" y="456844"/>
                  </a:lnTo>
                  <a:lnTo>
                    <a:pt x="1828444" y="0"/>
                  </a:lnTo>
                  <a:close/>
                </a:path>
              </a:pathLst>
            </a:custGeom>
            <a:solidFill>
              <a:srgbClr val="DBEA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6839280" y="3556799"/>
              <a:ext cx="3657600" cy="457200"/>
            </a:xfrm>
            <a:custGeom>
              <a:avLst/>
              <a:gdLst/>
              <a:ahLst/>
              <a:cxnLst/>
              <a:rect l="l" t="t" r="r" b="b"/>
              <a:pathLst>
                <a:path w="3657600" h="457200">
                  <a:moveTo>
                    <a:pt x="1828444" y="0"/>
                  </a:moveTo>
                  <a:lnTo>
                    <a:pt x="0" y="0"/>
                  </a:lnTo>
                  <a:lnTo>
                    <a:pt x="0" y="456844"/>
                  </a:lnTo>
                  <a:lnTo>
                    <a:pt x="914400" y="456844"/>
                  </a:lnTo>
                  <a:lnTo>
                    <a:pt x="1828444" y="456844"/>
                  </a:lnTo>
                  <a:lnTo>
                    <a:pt x="1828444" y="0"/>
                  </a:lnTo>
                  <a:close/>
                </a:path>
                <a:path w="3657600" h="457200">
                  <a:moveTo>
                    <a:pt x="3657244" y="0"/>
                  </a:moveTo>
                  <a:lnTo>
                    <a:pt x="1828800" y="0"/>
                  </a:lnTo>
                  <a:lnTo>
                    <a:pt x="1828800" y="456844"/>
                  </a:lnTo>
                  <a:lnTo>
                    <a:pt x="2743200" y="456844"/>
                  </a:lnTo>
                  <a:lnTo>
                    <a:pt x="3657244" y="456844"/>
                  </a:lnTo>
                  <a:lnTo>
                    <a:pt x="3657244" y="0"/>
                  </a:lnTo>
                  <a:close/>
                </a:path>
              </a:pathLst>
            </a:custGeom>
            <a:solidFill>
              <a:srgbClr val="DCF4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712800" y="4013999"/>
              <a:ext cx="2468880" cy="457200"/>
            </a:xfrm>
            <a:custGeom>
              <a:avLst/>
              <a:gdLst/>
              <a:ahLst/>
              <a:cxnLst/>
              <a:rect l="l" t="t" r="r" b="b"/>
              <a:pathLst>
                <a:path w="2468880" h="457200">
                  <a:moveTo>
                    <a:pt x="2468524" y="0"/>
                  </a:moveTo>
                  <a:lnTo>
                    <a:pt x="0" y="0"/>
                  </a:lnTo>
                  <a:lnTo>
                    <a:pt x="0" y="456844"/>
                  </a:lnTo>
                  <a:lnTo>
                    <a:pt x="1234439" y="456844"/>
                  </a:lnTo>
                  <a:lnTo>
                    <a:pt x="2468524" y="456844"/>
                  </a:lnTo>
                  <a:lnTo>
                    <a:pt x="2468524" y="0"/>
                  </a:lnTo>
                  <a:close/>
                </a:path>
              </a:pathLst>
            </a:custGeom>
            <a:solidFill>
              <a:srgbClr val="E7ED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3181680" y="4013999"/>
              <a:ext cx="1828800" cy="457200"/>
            </a:xfrm>
            <a:custGeom>
              <a:avLst/>
              <a:gdLst/>
              <a:ahLst/>
              <a:cxnLst/>
              <a:rect l="l" t="t" r="r" b="b"/>
              <a:pathLst>
                <a:path w="1828800" h="457200">
                  <a:moveTo>
                    <a:pt x="1828444" y="0"/>
                  </a:moveTo>
                  <a:lnTo>
                    <a:pt x="0" y="0"/>
                  </a:lnTo>
                  <a:lnTo>
                    <a:pt x="0" y="456844"/>
                  </a:lnTo>
                  <a:lnTo>
                    <a:pt x="914400" y="456844"/>
                  </a:lnTo>
                  <a:lnTo>
                    <a:pt x="1828444" y="456844"/>
                  </a:lnTo>
                  <a:lnTo>
                    <a:pt x="1828444" y="0"/>
                  </a:lnTo>
                  <a:close/>
                </a:path>
              </a:pathLst>
            </a:custGeom>
            <a:solidFill>
              <a:srgbClr val="E2E9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5010480" y="4013999"/>
              <a:ext cx="5486400" cy="457200"/>
            </a:xfrm>
            <a:custGeom>
              <a:avLst/>
              <a:gdLst/>
              <a:ahLst/>
              <a:cxnLst/>
              <a:rect l="l" t="t" r="r" b="b"/>
              <a:pathLst>
                <a:path w="5486400" h="457200">
                  <a:moveTo>
                    <a:pt x="1828444" y="0"/>
                  </a:moveTo>
                  <a:lnTo>
                    <a:pt x="0" y="0"/>
                  </a:lnTo>
                  <a:lnTo>
                    <a:pt x="0" y="456844"/>
                  </a:lnTo>
                  <a:lnTo>
                    <a:pt x="914400" y="456844"/>
                  </a:lnTo>
                  <a:lnTo>
                    <a:pt x="1828444" y="456844"/>
                  </a:lnTo>
                  <a:lnTo>
                    <a:pt x="1828444" y="0"/>
                  </a:lnTo>
                  <a:close/>
                </a:path>
                <a:path w="5486400" h="457200">
                  <a:moveTo>
                    <a:pt x="3657244" y="0"/>
                  </a:moveTo>
                  <a:lnTo>
                    <a:pt x="1828800" y="0"/>
                  </a:lnTo>
                  <a:lnTo>
                    <a:pt x="1828800" y="456844"/>
                  </a:lnTo>
                  <a:lnTo>
                    <a:pt x="2743200" y="456844"/>
                  </a:lnTo>
                  <a:lnTo>
                    <a:pt x="3657244" y="456844"/>
                  </a:lnTo>
                  <a:lnTo>
                    <a:pt x="3657244" y="0"/>
                  </a:lnTo>
                  <a:close/>
                </a:path>
                <a:path w="5486400" h="457200">
                  <a:moveTo>
                    <a:pt x="5486044" y="0"/>
                  </a:moveTo>
                  <a:lnTo>
                    <a:pt x="3657600" y="0"/>
                  </a:lnTo>
                  <a:lnTo>
                    <a:pt x="3657600" y="456844"/>
                  </a:lnTo>
                  <a:lnTo>
                    <a:pt x="4572000" y="456844"/>
                  </a:lnTo>
                  <a:lnTo>
                    <a:pt x="5486044" y="456844"/>
                  </a:lnTo>
                  <a:lnTo>
                    <a:pt x="5486044" y="0"/>
                  </a:lnTo>
                  <a:close/>
                </a:path>
              </a:pathLst>
            </a:custGeom>
            <a:solidFill>
              <a:srgbClr val="DCF4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712800" y="4471199"/>
              <a:ext cx="2468880" cy="457200"/>
            </a:xfrm>
            <a:custGeom>
              <a:avLst/>
              <a:gdLst/>
              <a:ahLst/>
              <a:cxnLst/>
              <a:rect l="l" t="t" r="r" b="b"/>
              <a:pathLst>
                <a:path w="2468880" h="457200">
                  <a:moveTo>
                    <a:pt x="2468524" y="0"/>
                  </a:moveTo>
                  <a:lnTo>
                    <a:pt x="0" y="0"/>
                  </a:lnTo>
                  <a:lnTo>
                    <a:pt x="0" y="456844"/>
                  </a:lnTo>
                  <a:lnTo>
                    <a:pt x="1234439" y="456844"/>
                  </a:lnTo>
                  <a:lnTo>
                    <a:pt x="2468524" y="456844"/>
                  </a:lnTo>
                  <a:lnTo>
                    <a:pt x="2468524" y="0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3181680" y="4471199"/>
              <a:ext cx="1828800" cy="457200"/>
            </a:xfrm>
            <a:custGeom>
              <a:avLst/>
              <a:gdLst/>
              <a:ahLst/>
              <a:cxnLst/>
              <a:rect l="l" t="t" r="r" b="b"/>
              <a:pathLst>
                <a:path w="1828800" h="457200">
                  <a:moveTo>
                    <a:pt x="1828444" y="0"/>
                  </a:moveTo>
                  <a:lnTo>
                    <a:pt x="0" y="0"/>
                  </a:lnTo>
                  <a:lnTo>
                    <a:pt x="0" y="456844"/>
                  </a:lnTo>
                  <a:lnTo>
                    <a:pt x="914400" y="456844"/>
                  </a:lnTo>
                  <a:lnTo>
                    <a:pt x="1828444" y="456844"/>
                  </a:lnTo>
                  <a:lnTo>
                    <a:pt x="1828444" y="0"/>
                  </a:lnTo>
                  <a:close/>
                </a:path>
              </a:pathLst>
            </a:custGeom>
            <a:solidFill>
              <a:srgbClr val="E2E9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5010480" y="4471199"/>
              <a:ext cx="5486400" cy="457200"/>
            </a:xfrm>
            <a:custGeom>
              <a:avLst/>
              <a:gdLst/>
              <a:ahLst/>
              <a:cxnLst/>
              <a:rect l="l" t="t" r="r" b="b"/>
              <a:pathLst>
                <a:path w="5486400" h="457200">
                  <a:moveTo>
                    <a:pt x="1828444" y="0"/>
                  </a:moveTo>
                  <a:lnTo>
                    <a:pt x="0" y="0"/>
                  </a:lnTo>
                  <a:lnTo>
                    <a:pt x="0" y="456844"/>
                  </a:lnTo>
                  <a:lnTo>
                    <a:pt x="914400" y="456844"/>
                  </a:lnTo>
                  <a:lnTo>
                    <a:pt x="1828444" y="456844"/>
                  </a:lnTo>
                  <a:lnTo>
                    <a:pt x="1828444" y="0"/>
                  </a:lnTo>
                  <a:close/>
                </a:path>
                <a:path w="5486400" h="457200">
                  <a:moveTo>
                    <a:pt x="3657244" y="0"/>
                  </a:moveTo>
                  <a:lnTo>
                    <a:pt x="1828800" y="0"/>
                  </a:lnTo>
                  <a:lnTo>
                    <a:pt x="1828800" y="456844"/>
                  </a:lnTo>
                  <a:lnTo>
                    <a:pt x="2743200" y="456844"/>
                  </a:lnTo>
                  <a:lnTo>
                    <a:pt x="3657244" y="456844"/>
                  </a:lnTo>
                  <a:lnTo>
                    <a:pt x="3657244" y="0"/>
                  </a:lnTo>
                  <a:close/>
                </a:path>
                <a:path w="5486400" h="457200">
                  <a:moveTo>
                    <a:pt x="5486044" y="0"/>
                  </a:moveTo>
                  <a:lnTo>
                    <a:pt x="3657600" y="0"/>
                  </a:lnTo>
                  <a:lnTo>
                    <a:pt x="3657600" y="456844"/>
                  </a:lnTo>
                  <a:lnTo>
                    <a:pt x="4572000" y="456844"/>
                  </a:lnTo>
                  <a:lnTo>
                    <a:pt x="5486044" y="456844"/>
                  </a:lnTo>
                  <a:lnTo>
                    <a:pt x="5486044" y="0"/>
                  </a:lnTo>
                  <a:close/>
                </a:path>
              </a:pathLst>
            </a:custGeom>
            <a:solidFill>
              <a:srgbClr val="DCF4EE"/>
            </a:solidFill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29" name="object 29"/>
          <p:cNvGraphicFramePr>
            <a:graphicFrameLocks noGrp="1"/>
          </p:cNvGraphicFramePr>
          <p:nvPr/>
        </p:nvGraphicFramePr>
        <p:xfrm>
          <a:off x="707760" y="1759320"/>
          <a:ext cx="9870440" cy="31629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68880"/>
                <a:gridCol w="1828799"/>
                <a:gridCol w="1828800"/>
                <a:gridCol w="1828800"/>
                <a:gridCol w="1828800"/>
              </a:tblGrid>
              <a:tr h="420370"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dirty="0" sz="1100" spc="-1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Layer</a:t>
                      </a:r>
                      <a:endParaRPr sz="1100">
                        <a:latin typeface="Arial Black"/>
                        <a:cs typeface="Arial Black"/>
                      </a:endParaRPr>
                    </a:p>
                  </a:txBody>
                  <a:tcPr marL="0" marR="0" marB="0" marT="117475">
                    <a:lnL w="12700">
                      <a:solidFill>
                        <a:srgbClr val="0F2339"/>
                      </a:solidFill>
                      <a:prstDash val="solid"/>
                    </a:lnL>
                    <a:lnR w="12700">
                      <a:solidFill>
                        <a:srgbClr val="0F2339"/>
                      </a:solidFill>
                      <a:prstDash val="solid"/>
                    </a:lnR>
                    <a:lnT w="12700">
                      <a:solidFill>
                        <a:srgbClr val="0F2339"/>
                      </a:solidFill>
                      <a:prstDash val="solid"/>
                    </a:lnT>
                    <a:lnB w="12700">
                      <a:solidFill>
                        <a:srgbClr val="DBE4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dirty="0" sz="1100" spc="-35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On-</a:t>
                      </a:r>
                      <a:r>
                        <a:rPr dirty="0" sz="1100" spc="-1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premises</a:t>
                      </a:r>
                      <a:endParaRPr sz="1100">
                        <a:latin typeface="Arial Black"/>
                        <a:cs typeface="Arial Black"/>
                      </a:endParaRPr>
                    </a:p>
                  </a:txBody>
                  <a:tcPr marL="0" marR="0" marB="0" marT="117475">
                    <a:lnL w="12700">
                      <a:solidFill>
                        <a:srgbClr val="0F2339"/>
                      </a:solidFill>
                      <a:prstDash val="solid"/>
                    </a:lnL>
                    <a:lnR w="12700">
                      <a:solidFill>
                        <a:srgbClr val="0F2339"/>
                      </a:solidFill>
                      <a:prstDash val="solid"/>
                    </a:lnR>
                    <a:lnT w="12700">
                      <a:solidFill>
                        <a:srgbClr val="0F2339"/>
                      </a:solidFill>
                      <a:prstDash val="solid"/>
                    </a:lnT>
                    <a:lnB w="12700">
                      <a:solidFill>
                        <a:srgbClr val="DBE4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dirty="0" sz="1100" spc="-2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IaaS</a:t>
                      </a:r>
                      <a:endParaRPr sz="1100">
                        <a:latin typeface="Arial Black"/>
                        <a:cs typeface="Arial Black"/>
                      </a:endParaRPr>
                    </a:p>
                  </a:txBody>
                  <a:tcPr marL="0" marR="0" marB="0" marT="117475">
                    <a:lnL w="12700">
                      <a:solidFill>
                        <a:srgbClr val="0F2339"/>
                      </a:solidFill>
                      <a:prstDash val="solid"/>
                    </a:lnL>
                    <a:lnR w="12700">
                      <a:solidFill>
                        <a:srgbClr val="0F2339"/>
                      </a:solidFill>
                      <a:prstDash val="solid"/>
                    </a:lnR>
                    <a:lnT w="12700">
                      <a:solidFill>
                        <a:srgbClr val="0F2339"/>
                      </a:solidFill>
                      <a:prstDash val="solid"/>
                    </a:lnT>
                    <a:lnB w="12700">
                      <a:solidFill>
                        <a:srgbClr val="DBE4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dirty="0" sz="1100" spc="-2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PaaS</a:t>
                      </a:r>
                      <a:endParaRPr sz="1100">
                        <a:latin typeface="Arial Black"/>
                        <a:cs typeface="Arial Black"/>
                      </a:endParaRPr>
                    </a:p>
                  </a:txBody>
                  <a:tcPr marL="0" marR="0" marB="0" marT="117475">
                    <a:lnL w="12700">
                      <a:solidFill>
                        <a:srgbClr val="0F2339"/>
                      </a:solidFill>
                      <a:prstDash val="solid"/>
                    </a:lnL>
                    <a:lnR w="12700">
                      <a:solidFill>
                        <a:srgbClr val="0F2339"/>
                      </a:solidFill>
                      <a:prstDash val="solid"/>
                    </a:lnR>
                    <a:lnT w="12700">
                      <a:solidFill>
                        <a:srgbClr val="0F2339"/>
                      </a:solidFill>
                      <a:prstDash val="solid"/>
                    </a:lnT>
                    <a:lnB w="12700">
                      <a:solidFill>
                        <a:srgbClr val="DBE4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dirty="0" sz="1100" spc="-2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SaaS</a:t>
                      </a:r>
                      <a:endParaRPr sz="1100">
                        <a:latin typeface="Arial Black"/>
                        <a:cs typeface="Arial Black"/>
                      </a:endParaRPr>
                    </a:p>
                  </a:txBody>
                  <a:tcPr marL="0" marR="0" marB="0" marT="117475">
                    <a:lnL w="12700">
                      <a:solidFill>
                        <a:srgbClr val="0F2339"/>
                      </a:solidFill>
                      <a:prstDash val="solid"/>
                    </a:lnL>
                    <a:lnR w="12700">
                      <a:solidFill>
                        <a:srgbClr val="0F2339"/>
                      </a:solidFill>
                      <a:prstDash val="solid"/>
                    </a:lnR>
                    <a:lnT w="12700">
                      <a:solidFill>
                        <a:srgbClr val="0F2339"/>
                      </a:solidFill>
                      <a:prstDash val="solid"/>
                    </a:lnT>
                    <a:lnB w="12700">
                      <a:solidFill>
                        <a:srgbClr val="DBE4ED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55244"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r>
                        <a:rPr dirty="0" sz="1100" spc="-50">
                          <a:solidFill>
                            <a:srgbClr val="0F2339"/>
                          </a:solidFill>
                          <a:latin typeface="Arial Black"/>
                          <a:cs typeface="Arial Black"/>
                        </a:rPr>
                        <a:t>Data</a:t>
                      </a:r>
                      <a:r>
                        <a:rPr dirty="0" sz="1100" spc="-70">
                          <a:solidFill>
                            <a:srgbClr val="0F2339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1100" spc="-140">
                          <a:solidFill>
                            <a:srgbClr val="0F2339"/>
                          </a:solidFill>
                          <a:latin typeface="Arial Black"/>
                          <a:cs typeface="Arial Black"/>
                        </a:rPr>
                        <a:t>&amp;</a:t>
                      </a:r>
                      <a:r>
                        <a:rPr dirty="0" sz="1100" spc="-70">
                          <a:solidFill>
                            <a:srgbClr val="0F2339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1100" spc="-10">
                          <a:solidFill>
                            <a:srgbClr val="0F2339"/>
                          </a:solidFill>
                          <a:latin typeface="Arial Black"/>
                          <a:cs typeface="Arial Black"/>
                        </a:rPr>
                        <a:t>identities</a:t>
                      </a:r>
                      <a:endParaRPr sz="1100">
                        <a:latin typeface="Arial Black"/>
                        <a:cs typeface="Arial Black"/>
                      </a:endParaRPr>
                    </a:p>
                  </a:txBody>
                  <a:tcPr marL="0" marR="0" marB="0" marT="150495">
                    <a:lnL w="12700">
                      <a:solidFill>
                        <a:srgbClr val="DBE4ED"/>
                      </a:solidFill>
                      <a:prstDash val="solid"/>
                    </a:lnL>
                    <a:lnR w="12700">
                      <a:solidFill>
                        <a:srgbClr val="DBE4ED"/>
                      </a:solidFill>
                      <a:prstDash val="solid"/>
                    </a:lnR>
                    <a:lnT w="12700">
                      <a:solidFill>
                        <a:srgbClr val="DBE4ED"/>
                      </a:solidFill>
                      <a:prstDash val="solid"/>
                    </a:lnT>
                    <a:lnB w="12700">
                      <a:solidFill>
                        <a:srgbClr val="DBE4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r>
                        <a:rPr dirty="0" sz="1100" spc="-10">
                          <a:solidFill>
                            <a:srgbClr val="0077D3"/>
                          </a:solidFill>
                          <a:latin typeface="Arial Black"/>
                          <a:cs typeface="Arial Black"/>
                        </a:rPr>
                        <a:t>Customer</a:t>
                      </a:r>
                      <a:endParaRPr sz="1100">
                        <a:latin typeface="Arial Black"/>
                        <a:cs typeface="Arial Black"/>
                      </a:endParaRPr>
                    </a:p>
                  </a:txBody>
                  <a:tcPr marL="0" marR="0" marB="0" marT="150495">
                    <a:lnL w="12700">
                      <a:solidFill>
                        <a:srgbClr val="DBE4ED"/>
                      </a:solidFill>
                      <a:prstDash val="solid"/>
                    </a:lnL>
                    <a:lnR w="12700">
                      <a:solidFill>
                        <a:srgbClr val="DBE4ED"/>
                      </a:solidFill>
                      <a:prstDash val="solid"/>
                    </a:lnR>
                    <a:lnT w="12700">
                      <a:solidFill>
                        <a:srgbClr val="DBE4ED"/>
                      </a:solidFill>
                      <a:prstDash val="solid"/>
                    </a:lnT>
                    <a:lnB w="12700">
                      <a:solidFill>
                        <a:srgbClr val="DBE4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r>
                        <a:rPr dirty="0" sz="1100" spc="-10">
                          <a:solidFill>
                            <a:srgbClr val="0077D3"/>
                          </a:solidFill>
                          <a:latin typeface="Arial Black"/>
                          <a:cs typeface="Arial Black"/>
                        </a:rPr>
                        <a:t>Customer</a:t>
                      </a:r>
                      <a:endParaRPr sz="1100">
                        <a:latin typeface="Arial Black"/>
                        <a:cs typeface="Arial Black"/>
                      </a:endParaRPr>
                    </a:p>
                  </a:txBody>
                  <a:tcPr marL="0" marR="0" marB="0" marT="150495">
                    <a:lnL w="12700">
                      <a:solidFill>
                        <a:srgbClr val="DBE4ED"/>
                      </a:solidFill>
                      <a:prstDash val="solid"/>
                    </a:lnL>
                    <a:lnR w="12700">
                      <a:solidFill>
                        <a:srgbClr val="DBE4ED"/>
                      </a:solidFill>
                      <a:prstDash val="solid"/>
                    </a:lnR>
                    <a:lnT w="12700">
                      <a:solidFill>
                        <a:srgbClr val="DBE4ED"/>
                      </a:solidFill>
                      <a:prstDash val="solid"/>
                    </a:lnT>
                    <a:lnB w="12700">
                      <a:solidFill>
                        <a:srgbClr val="DBE4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r>
                        <a:rPr dirty="0" sz="1100" spc="-10">
                          <a:solidFill>
                            <a:srgbClr val="0077D3"/>
                          </a:solidFill>
                          <a:latin typeface="Arial Black"/>
                          <a:cs typeface="Arial Black"/>
                        </a:rPr>
                        <a:t>Customer</a:t>
                      </a:r>
                      <a:endParaRPr sz="1100">
                        <a:latin typeface="Arial Black"/>
                        <a:cs typeface="Arial Black"/>
                      </a:endParaRPr>
                    </a:p>
                  </a:txBody>
                  <a:tcPr marL="0" marR="0" marB="0" marT="150495">
                    <a:lnL w="12700">
                      <a:solidFill>
                        <a:srgbClr val="DBE4ED"/>
                      </a:solidFill>
                      <a:prstDash val="solid"/>
                    </a:lnL>
                    <a:lnR w="12700">
                      <a:solidFill>
                        <a:srgbClr val="DBE4ED"/>
                      </a:solidFill>
                      <a:prstDash val="solid"/>
                    </a:lnR>
                    <a:lnT w="12700">
                      <a:solidFill>
                        <a:srgbClr val="DBE4ED"/>
                      </a:solidFill>
                      <a:prstDash val="solid"/>
                    </a:lnT>
                    <a:lnB w="12700">
                      <a:solidFill>
                        <a:srgbClr val="DBE4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r>
                        <a:rPr dirty="0" sz="1100" spc="-10">
                          <a:solidFill>
                            <a:srgbClr val="0077D3"/>
                          </a:solidFill>
                          <a:latin typeface="Arial Black"/>
                          <a:cs typeface="Arial Black"/>
                        </a:rPr>
                        <a:t>Customer</a:t>
                      </a:r>
                      <a:endParaRPr sz="1100">
                        <a:latin typeface="Arial Black"/>
                        <a:cs typeface="Arial Black"/>
                      </a:endParaRPr>
                    </a:p>
                  </a:txBody>
                  <a:tcPr marL="0" marR="0" marB="0" marT="150495">
                    <a:lnL w="12700">
                      <a:solidFill>
                        <a:srgbClr val="DBE4ED"/>
                      </a:solidFill>
                      <a:prstDash val="solid"/>
                    </a:lnL>
                    <a:lnR w="12700">
                      <a:solidFill>
                        <a:srgbClr val="DBE4ED"/>
                      </a:solidFill>
                      <a:prstDash val="solid"/>
                    </a:lnR>
                    <a:lnT w="12700">
                      <a:solidFill>
                        <a:srgbClr val="DBE4ED"/>
                      </a:solidFill>
                      <a:prstDash val="solid"/>
                    </a:lnT>
                    <a:lnB w="12700">
                      <a:solidFill>
                        <a:srgbClr val="DBE4ED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55244"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r>
                        <a:rPr dirty="0" sz="1100" spc="-10">
                          <a:solidFill>
                            <a:srgbClr val="0F2339"/>
                          </a:solidFill>
                          <a:latin typeface="Arial Black"/>
                          <a:cs typeface="Arial Black"/>
                        </a:rPr>
                        <a:t>Endpoints</a:t>
                      </a:r>
                      <a:endParaRPr sz="1100">
                        <a:latin typeface="Arial Black"/>
                        <a:cs typeface="Arial Black"/>
                      </a:endParaRPr>
                    </a:p>
                  </a:txBody>
                  <a:tcPr marL="0" marR="0" marB="0" marT="149860">
                    <a:lnL w="12700">
                      <a:solidFill>
                        <a:srgbClr val="DBE4ED"/>
                      </a:solidFill>
                      <a:prstDash val="solid"/>
                    </a:lnL>
                    <a:lnR w="12700">
                      <a:solidFill>
                        <a:srgbClr val="DBE4ED"/>
                      </a:solidFill>
                      <a:prstDash val="solid"/>
                    </a:lnR>
                    <a:lnT w="12700">
                      <a:solidFill>
                        <a:srgbClr val="DBE4ED"/>
                      </a:solidFill>
                      <a:prstDash val="solid"/>
                    </a:lnT>
                    <a:lnB w="12700">
                      <a:solidFill>
                        <a:srgbClr val="DBE4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r>
                        <a:rPr dirty="0" sz="1100" spc="-10">
                          <a:solidFill>
                            <a:srgbClr val="0077D3"/>
                          </a:solidFill>
                          <a:latin typeface="Arial Black"/>
                          <a:cs typeface="Arial Black"/>
                        </a:rPr>
                        <a:t>Customer</a:t>
                      </a:r>
                      <a:endParaRPr sz="1100">
                        <a:latin typeface="Arial Black"/>
                        <a:cs typeface="Arial Black"/>
                      </a:endParaRPr>
                    </a:p>
                  </a:txBody>
                  <a:tcPr marL="0" marR="0" marB="0" marT="149860">
                    <a:lnL w="12700">
                      <a:solidFill>
                        <a:srgbClr val="DBE4ED"/>
                      </a:solidFill>
                      <a:prstDash val="solid"/>
                    </a:lnL>
                    <a:lnR w="12700">
                      <a:solidFill>
                        <a:srgbClr val="DBE4ED"/>
                      </a:solidFill>
                      <a:prstDash val="solid"/>
                    </a:lnR>
                    <a:lnT w="12700">
                      <a:solidFill>
                        <a:srgbClr val="DBE4ED"/>
                      </a:solidFill>
                      <a:prstDash val="solid"/>
                    </a:lnT>
                    <a:lnB w="12700">
                      <a:solidFill>
                        <a:srgbClr val="DBE4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r>
                        <a:rPr dirty="0" sz="1100" spc="-10">
                          <a:solidFill>
                            <a:srgbClr val="0077D3"/>
                          </a:solidFill>
                          <a:latin typeface="Arial Black"/>
                          <a:cs typeface="Arial Black"/>
                        </a:rPr>
                        <a:t>Customer</a:t>
                      </a:r>
                      <a:endParaRPr sz="1100">
                        <a:latin typeface="Arial Black"/>
                        <a:cs typeface="Arial Black"/>
                      </a:endParaRPr>
                    </a:p>
                  </a:txBody>
                  <a:tcPr marL="0" marR="0" marB="0" marT="149860">
                    <a:lnL w="12700">
                      <a:solidFill>
                        <a:srgbClr val="DBE4ED"/>
                      </a:solidFill>
                      <a:prstDash val="solid"/>
                    </a:lnL>
                    <a:lnR w="12700">
                      <a:solidFill>
                        <a:srgbClr val="DBE4ED"/>
                      </a:solidFill>
                      <a:prstDash val="solid"/>
                    </a:lnR>
                    <a:lnT w="12700">
                      <a:solidFill>
                        <a:srgbClr val="DBE4ED"/>
                      </a:solidFill>
                      <a:prstDash val="solid"/>
                    </a:lnT>
                    <a:lnB w="12700">
                      <a:solidFill>
                        <a:srgbClr val="DBE4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r>
                        <a:rPr dirty="0" sz="1100" spc="-10">
                          <a:solidFill>
                            <a:srgbClr val="0077D3"/>
                          </a:solidFill>
                          <a:latin typeface="Arial Black"/>
                          <a:cs typeface="Arial Black"/>
                        </a:rPr>
                        <a:t>Customer</a:t>
                      </a:r>
                      <a:endParaRPr sz="1100">
                        <a:latin typeface="Arial Black"/>
                        <a:cs typeface="Arial Black"/>
                      </a:endParaRPr>
                    </a:p>
                  </a:txBody>
                  <a:tcPr marL="0" marR="0" marB="0" marT="149860">
                    <a:lnL w="12700">
                      <a:solidFill>
                        <a:srgbClr val="DBE4ED"/>
                      </a:solidFill>
                      <a:prstDash val="solid"/>
                    </a:lnL>
                    <a:lnR w="12700">
                      <a:solidFill>
                        <a:srgbClr val="DBE4ED"/>
                      </a:solidFill>
                      <a:prstDash val="solid"/>
                    </a:lnR>
                    <a:lnT w="12700">
                      <a:solidFill>
                        <a:srgbClr val="DBE4ED"/>
                      </a:solidFill>
                      <a:prstDash val="solid"/>
                    </a:lnT>
                    <a:lnB w="12700">
                      <a:solidFill>
                        <a:srgbClr val="DBE4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r>
                        <a:rPr dirty="0" sz="1100" spc="-10">
                          <a:solidFill>
                            <a:srgbClr val="936100"/>
                          </a:solidFill>
                          <a:latin typeface="Noto Sans"/>
                          <a:cs typeface="Noto Sans"/>
                        </a:rPr>
                        <a:t>Shared</a:t>
                      </a:r>
                      <a:endParaRPr sz="1100">
                        <a:latin typeface="Noto Sans"/>
                        <a:cs typeface="Noto Sans"/>
                      </a:endParaRPr>
                    </a:p>
                  </a:txBody>
                  <a:tcPr marL="0" marR="0" marB="0" marT="149860">
                    <a:lnL w="12700">
                      <a:solidFill>
                        <a:srgbClr val="DBE4ED"/>
                      </a:solidFill>
                      <a:prstDash val="solid"/>
                    </a:lnL>
                    <a:lnR w="12700">
                      <a:solidFill>
                        <a:srgbClr val="DBE4ED"/>
                      </a:solidFill>
                      <a:prstDash val="solid"/>
                    </a:lnR>
                    <a:lnT w="12700">
                      <a:solidFill>
                        <a:srgbClr val="DBE4ED"/>
                      </a:solidFill>
                      <a:prstDash val="solid"/>
                    </a:lnT>
                    <a:lnB w="12700">
                      <a:solidFill>
                        <a:srgbClr val="DBE4ED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55244"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r>
                        <a:rPr dirty="0" sz="1100" spc="-10">
                          <a:solidFill>
                            <a:srgbClr val="0F2339"/>
                          </a:solidFill>
                          <a:latin typeface="Arial Black"/>
                          <a:cs typeface="Arial Black"/>
                        </a:rPr>
                        <a:t>Applications</a:t>
                      </a:r>
                      <a:endParaRPr sz="1100">
                        <a:latin typeface="Arial Black"/>
                        <a:cs typeface="Arial Black"/>
                      </a:endParaRPr>
                    </a:p>
                  </a:txBody>
                  <a:tcPr marL="0" marR="0" marB="0" marT="149860">
                    <a:lnL w="12700">
                      <a:solidFill>
                        <a:srgbClr val="DBE4ED"/>
                      </a:solidFill>
                      <a:prstDash val="solid"/>
                    </a:lnL>
                    <a:lnR w="12700">
                      <a:solidFill>
                        <a:srgbClr val="DBE4ED"/>
                      </a:solidFill>
                      <a:prstDash val="solid"/>
                    </a:lnR>
                    <a:lnT w="12700">
                      <a:solidFill>
                        <a:srgbClr val="DBE4ED"/>
                      </a:solidFill>
                      <a:prstDash val="solid"/>
                    </a:lnT>
                    <a:lnB w="12700">
                      <a:solidFill>
                        <a:srgbClr val="DBE4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r>
                        <a:rPr dirty="0" sz="1100" spc="-10">
                          <a:solidFill>
                            <a:srgbClr val="0077D3"/>
                          </a:solidFill>
                          <a:latin typeface="Arial Black"/>
                          <a:cs typeface="Arial Black"/>
                        </a:rPr>
                        <a:t>Customer</a:t>
                      </a:r>
                      <a:endParaRPr sz="1100">
                        <a:latin typeface="Arial Black"/>
                        <a:cs typeface="Arial Black"/>
                      </a:endParaRPr>
                    </a:p>
                  </a:txBody>
                  <a:tcPr marL="0" marR="0" marB="0" marT="149860">
                    <a:lnL w="12700">
                      <a:solidFill>
                        <a:srgbClr val="DBE4ED"/>
                      </a:solidFill>
                      <a:prstDash val="solid"/>
                    </a:lnL>
                    <a:lnR w="12700">
                      <a:solidFill>
                        <a:srgbClr val="DBE4ED"/>
                      </a:solidFill>
                      <a:prstDash val="solid"/>
                    </a:lnR>
                    <a:lnT w="12700">
                      <a:solidFill>
                        <a:srgbClr val="DBE4ED"/>
                      </a:solidFill>
                      <a:prstDash val="solid"/>
                    </a:lnT>
                    <a:lnB w="12700">
                      <a:solidFill>
                        <a:srgbClr val="DBE4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r>
                        <a:rPr dirty="0" sz="1100" spc="-10">
                          <a:solidFill>
                            <a:srgbClr val="0077D3"/>
                          </a:solidFill>
                          <a:latin typeface="Arial Black"/>
                          <a:cs typeface="Arial Black"/>
                        </a:rPr>
                        <a:t>Customer</a:t>
                      </a:r>
                      <a:endParaRPr sz="1100">
                        <a:latin typeface="Arial Black"/>
                        <a:cs typeface="Arial Black"/>
                      </a:endParaRPr>
                    </a:p>
                  </a:txBody>
                  <a:tcPr marL="0" marR="0" marB="0" marT="149860">
                    <a:lnL w="12700">
                      <a:solidFill>
                        <a:srgbClr val="DBE4ED"/>
                      </a:solidFill>
                      <a:prstDash val="solid"/>
                    </a:lnL>
                    <a:lnR w="12700">
                      <a:solidFill>
                        <a:srgbClr val="DBE4ED"/>
                      </a:solidFill>
                      <a:prstDash val="solid"/>
                    </a:lnR>
                    <a:lnT w="12700">
                      <a:solidFill>
                        <a:srgbClr val="DBE4ED"/>
                      </a:solidFill>
                      <a:prstDash val="solid"/>
                    </a:lnT>
                    <a:lnB w="12700">
                      <a:solidFill>
                        <a:srgbClr val="DBE4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r>
                        <a:rPr dirty="0" sz="1100" spc="-10">
                          <a:solidFill>
                            <a:srgbClr val="936100"/>
                          </a:solidFill>
                          <a:latin typeface="Noto Sans"/>
                          <a:cs typeface="Noto Sans"/>
                        </a:rPr>
                        <a:t>Shared</a:t>
                      </a:r>
                      <a:endParaRPr sz="1100">
                        <a:latin typeface="Noto Sans"/>
                        <a:cs typeface="Noto Sans"/>
                      </a:endParaRPr>
                    </a:p>
                  </a:txBody>
                  <a:tcPr marL="0" marR="0" marB="0" marT="149860">
                    <a:lnL w="12700">
                      <a:solidFill>
                        <a:srgbClr val="DBE4ED"/>
                      </a:solidFill>
                      <a:prstDash val="solid"/>
                    </a:lnL>
                    <a:lnR w="12700">
                      <a:solidFill>
                        <a:srgbClr val="DBE4ED"/>
                      </a:solidFill>
                      <a:prstDash val="solid"/>
                    </a:lnR>
                    <a:lnT w="12700">
                      <a:solidFill>
                        <a:srgbClr val="DBE4ED"/>
                      </a:solidFill>
                      <a:prstDash val="solid"/>
                    </a:lnT>
                    <a:lnB w="12700">
                      <a:solidFill>
                        <a:srgbClr val="DBE4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r>
                        <a:rPr dirty="0" sz="1100" spc="-10">
                          <a:solidFill>
                            <a:srgbClr val="936100"/>
                          </a:solidFill>
                          <a:latin typeface="Noto Sans"/>
                          <a:cs typeface="Noto Sans"/>
                        </a:rPr>
                        <a:t>Shared</a:t>
                      </a:r>
                      <a:endParaRPr sz="1100">
                        <a:latin typeface="Noto Sans"/>
                        <a:cs typeface="Noto Sans"/>
                      </a:endParaRPr>
                    </a:p>
                  </a:txBody>
                  <a:tcPr marL="0" marR="0" marB="0" marT="149860">
                    <a:lnL w="12700">
                      <a:solidFill>
                        <a:srgbClr val="DBE4ED"/>
                      </a:solidFill>
                      <a:prstDash val="solid"/>
                    </a:lnL>
                    <a:lnR w="12700">
                      <a:solidFill>
                        <a:srgbClr val="DBE4ED"/>
                      </a:solidFill>
                      <a:prstDash val="solid"/>
                    </a:lnR>
                    <a:lnT w="12700">
                      <a:solidFill>
                        <a:srgbClr val="DBE4ED"/>
                      </a:solidFill>
                      <a:prstDash val="solid"/>
                    </a:lnT>
                    <a:lnB w="12700">
                      <a:solidFill>
                        <a:srgbClr val="DBE4ED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55244"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r>
                        <a:rPr dirty="0" sz="1100" spc="-40">
                          <a:solidFill>
                            <a:srgbClr val="0F2339"/>
                          </a:solidFill>
                          <a:latin typeface="Arial Black"/>
                          <a:cs typeface="Arial Black"/>
                        </a:rPr>
                        <a:t>Operating</a:t>
                      </a:r>
                      <a:r>
                        <a:rPr dirty="0" sz="1100" spc="-30">
                          <a:solidFill>
                            <a:srgbClr val="0F2339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1100" spc="-10">
                          <a:solidFill>
                            <a:srgbClr val="0F2339"/>
                          </a:solidFill>
                          <a:latin typeface="Arial Black"/>
                          <a:cs typeface="Arial Black"/>
                        </a:rPr>
                        <a:t>system</a:t>
                      </a:r>
                      <a:endParaRPr sz="1100">
                        <a:latin typeface="Arial Black"/>
                        <a:cs typeface="Arial Black"/>
                      </a:endParaRPr>
                    </a:p>
                  </a:txBody>
                  <a:tcPr marL="0" marR="0" marB="0" marT="149860">
                    <a:lnL w="12700">
                      <a:solidFill>
                        <a:srgbClr val="DBE4ED"/>
                      </a:solidFill>
                      <a:prstDash val="solid"/>
                    </a:lnL>
                    <a:lnR w="12700">
                      <a:solidFill>
                        <a:srgbClr val="DBE4ED"/>
                      </a:solidFill>
                      <a:prstDash val="solid"/>
                    </a:lnR>
                    <a:lnT w="12700">
                      <a:solidFill>
                        <a:srgbClr val="DBE4ED"/>
                      </a:solidFill>
                      <a:prstDash val="solid"/>
                    </a:lnT>
                    <a:lnB w="12700">
                      <a:solidFill>
                        <a:srgbClr val="DBE4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r>
                        <a:rPr dirty="0" sz="1100" spc="-10">
                          <a:solidFill>
                            <a:srgbClr val="0077D3"/>
                          </a:solidFill>
                          <a:latin typeface="Arial Black"/>
                          <a:cs typeface="Arial Black"/>
                        </a:rPr>
                        <a:t>Customer</a:t>
                      </a:r>
                      <a:endParaRPr sz="1100">
                        <a:latin typeface="Arial Black"/>
                        <a:cs typeface="Arial Black"/>
                      </a:endParaRPr>
                    </a:p>
                  </a:txBody>
                  <a:tcPr marL="0" marR="0" marB="0" marT="149860">
                    <a:lnL w="12700">
                      <a:solidFill>
                        <a:srgbClr val="DBE4ED"/>
                      </a:solidFill>
                      <a:prstDash val="solid"/>
                    </a:lnL>
                    <a:lnR w="12700">
                      <a:solidFill>
                        <a:srgbClr val="DBE4ED"/>
                      </a:solidFill>
                      <a:prstDash val="solid"/>
                    </a:lnR>
                    <a:lnT w="12700">
                      <a:solidFill>
                        <a:srgbClr val="DBE4ED"/>
                      </a:solidFill>
                      <a:prstDash val="solid"/>
                    </a:lnT>
                    <a:lnB w="12700">
                      <a:solidFill>
                        <a:srgbClr val="DBE4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r>
                        <a:rPr dirty="0" sz="1100" spc="-10">
                          <a:solidFill>
                            <a:srgbClr val="0077D3"/>
                          </a:solidFill>
                          <a:latin typeface="Arial Black"/>
                          <a:cs typeface="Arial Black"/>
                        </a:rPr>
                        <a:t>Customer</a:t>
                      </a:r>
                      <a:endParaRPr sz="1100">
                        <a:latin typeface="Arial Black"/>
                        <a:cs typeface="Arial Black"/>
                      </a:endParaRPr>
                    </a:p>
                  </a:txBody>
                  <a:tcPr marL="0" marR="0" marB="0" marT="149860">
                    <a:lnL w="12700">
                      <a:solidFill>
                        <a:srgbClr val="DBE4ED"/>
                      </a:solidFill>
                      <a:prstDash val="solid"/>
                    </a:lnL>
                    <a:lnR w="12700">
                      <a:solidFill>
                        <a:srgbClr val="DBE4ED"/>
                      </a:solidFill>
                      <a:prstDash val="solid"/>
                    </a:lnR>
                    <a:lnT w="12700">
                      <a:solidFill>
                        <a:srgbClr val="DBE4ED"/>
                      </a:solidFill>
                      <a:prstDash val="solid"/>
                    </a:lnT>
                    <a:lnB w="12700">
                      <a:solidFill>
                        <a:srgbClr val="DBE4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r>
                        <a:rPr dirty="0" sz="1100" spc="-10">
                          <a:solidFill>
                            <a:srgbClr val="157F5C"/>
                          </a:solidFill>
                          <a:latin typeface="Noto Sans"/>
                          <a:cs typeface="Noto Sans"/>
                        </a:rPr>
                        <a:t>Provider</a:t>
                      </a:r>
                      <a:endParaRPr sz="1100">
                        <a:latin typeface="Noto Sans"/>
                        <a:cs typeface="Noto Sans"/>
                      </a:endParaRPr>
                    </a:p>
                  </a:txBody>
                  <a:tcPr marL="0" marR="0" marB="0" marT="149860">
                    <a:lnL w="12700">
                      <a:solidFill>
                        <a:srgbClr val="DBE4ED"/>
                      </a:solidFill>
                      <a:prstDash val="solid"/>
                    </a:lnL>
                    <a:lnR w="12700">
                      <a:solidFill>
                        <a:srgbClr val="DBE4ED"/>
                      </a:solidFill>
                      <a:prstDash val="solid"/>
                    </a:lnR>
                    <a:lnT w="12700">
                      <a:solidFill>
                        <a:srgbClr val="DBE4ED"/>
                      </a:solidFill>
                      <a:prstDash val="solid"/>
                    </a:lnT>
                    <a:lnB w="12700">
                      <a:solidFill>
                        <a:srgbClr val="DBE4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r>
                        <a:rPr dirty="0" sz="1100" spc="-10">
                          <a:solidFill>
                            <a:srgbClr val="157F5C"/>
                          </a:solidFill>
                          <a:latin typeface="Noto Sans"/>
                          <a:cs typeface="Noto Sans"/>
                        </a:rPr>
                        <a:t>Provider</a:t>
                      </a:r>
                      <a:endParaRPr sz="1100">
                        <a:latin typeface="Noto Sans"/>
                        <a:cs typeface="Noto Sans"/>
                      </a:endParaRPr>
                    </a:p>
                  </a:txBody>
                  <a:tcPr marL="0" marR="0" marB="0" marT="149860">
                    <a:lnL w="12700">
                      <a:solidFill>
                        <a:srgbClr val="DBE4ED"/>
                      </a:solidFill>
                      <a:prstDash val="solid"/>
                    </a:lnL>
                    <a:lnR w="12700">
                      <a:solidFill>
                        <a:srgbClr val="DBE4ED"/>
                      </a:solidFill>
                      <a:prstDash val="solid"/>
                    </a:lnR>
                    <a:lnT w="12700">
                      <a:solidFill>
                        <a:srgbClr val="DBE4ED"/>
                      </a:solidFill>
                      <a:prstDash val="solid"/>
                    </a:lnT>
                    <a:lnB w="12700">
                      <a:solidFill>
                        <a:srgbClr val="DBE4ED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55244"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r>
                        <a:rPr dirty="0" sz="1100" spc="-80">
                          <a:solidFill>
                            <a:srgbClr val="0F2339"/>
                          </a:solidFill>
                          <a:latin typeface="Arial Black"/>
                          <a:cs typeface="Arial Black"/>
                        </a:rPr>
                        <a:t>Physical</a:t>
                      </a:r>
                      <a:r>
                        <a:rPr dirty="0" sz="1100" spc="-55">
                          <a:solidFill>
                            <a:srgbClr val="0F2339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1100" spc="-70">
                          <a:solidFill>
                            <a:srgbClr val="0F2339"/>
                          </a:solidFill>
                          <a:latin typeface="Arial Black"/>
                          <a:cs typeface="Arial Black"/>
                        </a:rPr>
                        <a:t>hosts</a:t>
                      </a:r>
                      <a:r>
                        <a:rPr dirty="0" sz="1100" spc="-55">
                          <a:solidFill>
                            <a:srgbClr val="0F2339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1100" spc="160">
                          <a:solidFill>
                            <a:srgbClr val="0F2339"/>
                          </a:solidFill>
                          <a:latin typeface="Arial Black"/>
                          <a:cs typeface="Arial Black"/>
                        </a:rPr>
                        <a:t>/</a:t>
                      </a:r>
                      <a:r>
                        <a:rPr dirty="0" sz="1100" spc="-50">
                          <a:solidFill>
                            <a:srgbClr val="0F2339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1100" spc="-10">
                          <a:solidFill>
                            <a:srgbClr val="0F2339"/>
                          </a:solidFill>
                          <a:latin typeface="Arial Black"/>
                          <a:cs typeface="Arial Black"/>
                        </a:rPr>
                        <a:t>network</a:t>
                      </a:r>
                      <a:endParaRPr sz="1100">
                        <a:latin typeface="Arial Black"/>
                        <a:cs typeface="Arial Black"/>
                      </a:endParaRPr>
                    </a:p>
                  </a:txBody>
                  <a:tcPr marL="0" marR="0" marB="0" marT="149860">
                    <a:lnL w="12700">
                      <a:solidFill>
                        <a:srgbClr val="DBE4ED"/>
                      </a:solidFill>
                      <a:prstDash val="solid"/>
                    </a:lnL>
                    <a:lnR w="12700">
                      <a:solidFill>
                        <a:srgbClr val="DBE4ED"/>
                      </a:solidFill>
                      <a:prstDash val="solid"/>
                    </a:lnR>
                    <a:lnT w="12700">
                      <a:solidFill>
                        <a:srgbClr val="DBE4ED"/>
                      </a:solidFill>
                      <a:prstDash val="solid"/>
                    </a:lnT>
                    <a:lnB w="12700">
                      <a:solidFill>
                        <a:srgbClr val="DBE4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r>
                        <a:rPr dirty="0" sz="1100" spc="-10">
                          <a:solidFill>
                            <a:srgbClr val="0077D3"/>
                          </a:solidFill>
                          <a:latin typeface="Arial Black"/>
                          <a:cs typeface="Arial Black"/>
                        </a:rPr>
                        <a:t>Customer</a:t>
                      </a:r>
                      <a:endParaRPr sz="1100">
                        <a:latin typeface="Arial Black"/>
                        <a:cs typeface="Arial Black"/>
                      </a:endParaRPr>
                    </a:p>
                  </a:txBody>
                  <a:tcPr marL="0" marR="0" marB="0" marT="149860">
                    <a:lnL w="12700">
                      <a:solidFill>
                        <a:srgbClr val="DBE4ED"/>
                      </a:solidFill>
                      <a:prstDash val="solid"/>
                    </a:lnL>
                    <a:lnR w="12700">
                      <a:solidFill>
                        <a:srgbClr val="DBE4ED"/>
                      </a:solidFill>
                      <a:prstDash val="solid"/>
                    </a:lnR>
                    <a:lnT w="12700">
                      <a:solidFill>
                        <a:srgbClr val="DBE4ED"/>
                      </a:solidFill>
                      <a:prstDash val="solid"/>
                    </a:lnT>
                    <a:lnB w="12700">
                      <a:solidFill>
                        <a:srgbClr val="DBE4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r>
                        <a:rPr dirty="0" sz="1100" spc="-10">
                          <a:solidFill>
                            <a:srgbClr val="157F5C"/>
                          </a:solidFill>
                          <a:latin typeface="Noto Sans"/>
                          <a:cs typeface="Noto Sans"/>
                        </a:rPr>
                        <a:t>Provider</a:t>
                      </a:r>
                      <a:endParaRPr sz="1100">
                        <a:latin typeface="Noto Sans"/>
                        <a:cs typeface="Noto Sans"/>
                      </a:endParaRPr>
                    </a:p>
                  </a:txBody>
                  <a:tcPr marL="0" marR="0" marB="0" marT="149860">
                    <a:lnL w="12700">
                      <a:solidFill>
                        <a:srgbClr val="DBE4ED"/>
                      </a:solidFill>
                      <a:prstDash val="solid"/>
                    </a:lnL>
                    <a:lnR w="12700">
                      <a:solidFill>
                        <a:srgbClr val="DBE4ED"/>
                      </a:solidFill>
                      <a:prstDash val="solid"/>
                    </a:lnR>
                    <a:lnT w="12700">
                      <a:solidFill>
                        <a:srgbClr val="DBE4ED"/>
                      </a:solidFill>
                      <a:prstDash val="solid"/>
                    </a:lnT>
                    <a:lnB w="12700">
                      <a:solidFill>
                        <a:srgbClr val="DBE4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r>
                        <a:rPr dirty="0" sz="1100" spc="-10">
                          <a:solidFill>
                            <a:srgbClr val="157F5C"/>
                          </a:solidFill>
                          <a:latin typeface="Noto Sans"/>
                          <a:cs typeface="Noto Sans"/>
                        </a:rPr>
                        <a:t>Provider</a:t>
                      </a:r>
                      <a:endParaRPr sz="1100">
                        <a:latin typeface="Noto Sans"/>
                        <a:cs typeface="Noto Sans"/>
                      </a:endParaRPr>
                    </a:p>
                  </a:txBody>
                  <a:tcPr marL="0" marR="0" marB="0" marT="149860">
                    <a:lnL w="12700">
                      <a:solidFill>
                        <a:srgbClr val="DBE4ED"/>
                      </a:solidFill>
                      <a:prstDash val="solid"/>
                    </a:lnL>
                    <a:lnR w="12700">
                      <a:solidFill>
                        <a:srgbClr val="DBE4ED"/>
                      </a:solidFill>
                      <a:prstDash val="solid"/>
                    </a:lnR>
                    <a:lnT w="12700">
                      <a:solidFill>
                        <a:srgbClr val="DBE4ED"/>
                      </a:solidFill>
                      <a:prstDash val="solid"/>
                    </a:lnT>
                    <a:lnB w="12700">
                      <a:solidFill>
                        <a:srgbClr val="DBE4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r>
                        <a:rPr dirty="0" sz="1100" spc="-10">
                          <a:solidFill>
                            <a:srgbClr val="157F5C"/>
                          </a:solidFill>
                          <a:latin typeface="Noto Sans"/>
                          <a:cs typeface="Noto Sans"/>
                        </a:rPr>
                        <a:t>Provider</a:t>
                      </a:r>
                      <a:endParaRPr sz="1100">
                        <a:latin typeface="Noto Sans"/>
                        <a:cs typeface="Noto Sans"/>
                      </a:endParaRPr>
                    </a:p>
                  </a:txBody>
                  <a:tcPr marL="0" marR="0" marB="0" marT="149860">
                    <a:lnL w="12700">
                      <a:solidFill>
                        <a:srgbClr val="DBE4ED"/>
                      </a:solidFill>
                      <a:prstDash val="solid"/>
                    </a:lnL>
                    <a:lnR w="12700">
                      <a:solidFill>
                        <a:srgbClr val="DBE4ED"/>
                      </a:solidFill>
                      <a:prstDash val="solid"/>
                    </a:lnR>
                    <a:lnT w="12700">
                      <a:solidFill>
                        <a:srgbClr val="DBE4ED"/>
                      </a:solidFill>
                      <a:prstDash val="solid"/>
                    </a:lnT>
                    <a:lnB w="12700">
                      <a:solidFill>
                        <a:srgbClr val="DBE4ED"/>
                      </a:solidFill>
                      <a:prstDash val="solid"/>
                    </a:lnB>
                  </a:tcPr>
                </a:tc>
              </a:tr>
              <a:tr h="456565">
                <a:tc>
                  <a:txBody>
                    <a:bodyPr/>
                    <a:lstStyle/>
                    <a:p>
                      <a:pPr marL="55244"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r>
                        <a:rPr dirty="0" sz="1100" spc="-80">
                          <a:solidFill>
                            <a:srgbClr val="0F2339"/>
                          </a:solidFill>
                          <a:latin typeface="Arial Black"/>
                          <a:cs typeface="Arial Black"/>
                        </a:rPr>
                        <a:t>Physical</a:t>
                      </a:r>
                      <a:r>
                        <a:rPr dirty="0" sz="1100" spc="-25">
                          <a:solidFill>
                            <a:srgbClr val="0F2339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1100" spc="-10">
                          <a:solidFill>
                            <a:srgbClr val="0F2339"/>
                          </a:solidFill>
                          <a:latin typeface="Arial Black"/>
                          <a:cs typeface="Arial Black"/>
                        </a:rPr>
                        <a:t>datacentre</a:t>
                      </a:r>
                      <a:endParaRPr sz="1100">
                        <a:latin typeface="Arial Black"/>
                        <a:cs typeface="Arial Black"/>
                      </a:endParaRPr>
                    </a:p>
                  </a:txBody>
                  <a:tcPr marL="0" marR="0" marB="0" marT="149860">
                    <a:lnL w="12700">
                      <a:solidFill>
                        <a:srgbClr val="DBE4ED"/>
                      </a:solidFill>
                      <a:prstDash val="solid"/>
                    </a:lnL>
                    <a:lnR w="12700">
                      <a:solidFill>
                        <a:srgbClr val="DBE4ED"/>
                      </a:solidFill>
                      <a:prstDash val="solid"/>
                    </a:lnR>
                    <a:lnT w="12700">
                      <a:solidFill>
                        <a:srgbClr val="DBE4ED"/>
                      </a:solidFill>
                      <a:prstDash val="solid"/>
                    </a:lnT>
                    <a:lnB w="12700">
                      <a:solidFill>
                        <a:srgbClr val="DBE4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r>
                        <a:rPr dirty="0" sz="1100" spc="-10">
                          <a:solidFill>
                            <a:srgbClr val="0077D3"/>
                          </a:solidFill>
                          <a:latin typeface="Arial Black"/>
                          <a:cs typeface="Arial Black"/>
                        </a:rPr>
                        <a:t>Customer</a:t>
                      </a:r>
                      <a:endParaRPr sz="1100">
                        <a:latin typeface="Arial Black"/>
                        <a:cs typeface="Arial Black"/>
                      </a:endParaRPr>
                    </a:p>
                  </a:txBody>
                  <a:tcPr marL="0" marR="0" marB="0" marT="149860">
                    <a:lnL w="12700">
                      <a:solidFill>
                        <a:srgbClr val="DBE4ED"/>
                      </a:solidFill>
                      <a:prstDash val="solid"/>
                    </a:lnL>
                    <a:lnR w="12700">
                      <a:solidFill>
                        <a:srgbClr val="DBE4ED"/>
                      </a:solidFill>
                      <a:prstDash val="solid"/>
                    </a:lnR>
                    <a:lnT w="12700">
                      <a:solidFill>
                        <a:srgbClr val="DBE4ED"/>
                      </a:solidFill>
                      <a:prstDash val="solid"/>
                    </a:lnT>
                    <a:lnB w="12700">
                      <a:solidFill>
                        <a:srgbClr val="DBE4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r>
                        <a:rPr dirty="0" sz="1100" spc="-10">
                          <a:solidFill>
                            <a:srgbClr val="157F5C"/>
                          </a:solidFill>
                          <a:latin typeface="Noto Sans"/>
                          <a:cs typeface="Noto Sans"/>
                        </a:rPr>
                        <a:t>Provider</a:t>
                      </a:r>
                      <a:endParaRPr sz="1100">
                        <a:latin typeface="Noto Sans"/>
                        <a:cs typeface="Noto Sans"/>
                      </a:endParaRPr>
                    </a:p>
                  </a:txBody>
                  <a:tcPr marL="0" marR="0" marB="0" marT="149860">
                    <a:lnL w="12700">
                      <a:solidFill>
                        <a:srgbClr val="DBE4ED"/>
                      </a:solidFill>
                      <a:prstDash val="solid"/>
                    </a:lnL>
                    <a:lnR w="12700">
                      <a:solidFill>
                        <a:srgbClr val="DBE4ED"/>
                      </a:solidFill>
                      <a:prstDash val="solid"/>
                    </a:lnR>
                    <a:lnT w="12700">
                      <a:solidFill>
                        <a:srgbClr val="DBE4ED"/>
                      </a:solidFill>
                      <a:prstDash val="solid"/>
                    </a:lnT>
                    <a:lnB w="12700">
                      <a:solidFill>
                        <a:srgbClr val="DBE4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r>
                        <a:rPr dirty="0" sz="1100" spc="-10">
                          <a:solidFill>
                            <a:srgbClr val="157F5C"/>
                          </a:solidFill>
                          <a:latin typeface="Noto Sans"/>
                          <a:cs typeface="Noto Sans"/>
                        </a:rPr>
                        <a:t>Provider</a:t>
                      </a:r>
                      <a:endParaRPr sz="1100">
                        <a:latin typeface="Noto Sans"/>
                        <a:cs typeface="Noto Sans"/>
                      </a:endParaRPr>
                    </a:p>
                  </a:txBody>
                  <a:tcPr marL="0" marR="0" marB="0" marT="149860">
                    <a:lnL w="12700">
                      <a:solidFill>
                        <a:srgbClr val="DBE4ED"/>
                      </a:solidFill>
                      <a:prstDash val="solid"/>
                    </a:lnL>
                    <a:lnR w="12700">
                      <a:solidFill>
                        <a:srgbClr val="DBE4ED"/>
                      </a:solidFill>
                      <a:prstDash val="solid"/>
                    </a:lnR>
                    <a:lnT w="12700">
                      <a:solidFill>
                        <a:srgbClr val="DBE4ED"/>
                      </a:solidFill>
                      <a:prstDash val="solid"/>
                    </a:lnT>
                    <a:lnB w="12700">
                      <a:solidFill>
                        <a:srgbClr val="DBE4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r>
                        <a:rPr dirty="0" sz="1100" spc="-10">
                          <a:solidFill>
                            <a:srgbClr val="157F5C"/>
                          </a:solidFill>
                          <a:latin typeface="Noto Sans"/>
                          <a:cs typeface="Noto Sans"/>
                        </a:rPr>
                        <a:t>Provider</a:t>
                      </a:r>
                      <a:endParaRPr sz="1100">
                        <a:latin typeface="Noto Sans"/>
                        <a:cs typeface="Noto Sans"/>
                      </a:endParaRPr>
                    </a:p>
                  </a:txBody>
                  <a:tcPr marL="0" marR="0" marB="0" marT="149860">
                    <a:lnL w="12700">
                      <a:solidFill>
                        <a:srgbClr val="DBE4ED"/>
                      </a:solidFill>
                      <a:prstDash val="solid"/>
                    </a:lnL>
                    <a:lnR w="12700">
                      <a:solidFill>
                        <a:srgbClr val="DBE4ED"/>
                      </a:solidFill>
                      <a:prstDash val="solid"/>
                    </a:lnR>
                    <a:lnT w="12700">
                      <a:solidFill>
                        <a:srgbClr val="DBE4ED"/>
                      </a:solidFill>
                      <a:prstDash val="solid"/>
                    </a:lnT>
                    <a:lnB w="12700">
                      <a:solidFill>
                        <a:srgbClr val="DBE4ED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0" name="object 30"/>
          <p:cNvSpPr txBox="1"/>
          <p:nvPr/>
        </p:nvSpPr>
        <p:spPr>
          <a:xfrm>
            <a:off x="1146136" y="5452465"/>
            <a:ext cx="9806940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06495" marR="5080" indent="-3694429">
              <a:lnSpc>
                <a:spcPct val="100000"/>
              </a:lnSpc>
              <a:spcBef>
                <a:spcPts val="100"/>
              </a:spcBef>
            </a:pPr>
            <a:r>
              <a:rPr dirty="0" sz="1400" spc="-80">
                <a:solidFill>
                  <a:srgbClr val="0F2339"/>
                </a:solidFill>
                <a:latin typeface="Arial Black"/>
                <a:cs typeface="Arial Black"/>
              </a:rPr>
              <a:t>Customer</a:t>
            </a:r>
            <a:r>
              <a:rPr dirty="0" sz="1400" spc="-6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400" spc="-80">
                <a:solidFill>
                  <a:srgbClr val="0F2339"/>
                </a:solidFill>
                <a:latin typeface="Arial Black"/>
                <a:cs typeface="Arial Black"/>
              </a:rPr>
              <a:t>responsibilities</a:t>
            </a:r>
            <a:r>
              <a:rPr dirty="0" sz="1400" spc="-6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400" spc="-45">
                <a:solidFill>
                  <a:srgbClr val="0F2339"/>
                </a:solidFill>
                <a:latin typeface="Arial Black"/>
                <a:cs typeface="Arial Black"/>
              </a:rPr>
              <a:t>that</a:t>
            </a:r>
            <a:r>
              <a:rPr dirty="0" sz="1400" spc="-6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400" spc="-85">
                <a:solidFill>
                  <a:srgbClr val="0F2339"/>
                </a:solidFill>
                <a:latin typeface="Arial Black"/>
                <a:cs typeface="Arial Black"/>
              </a:rPr>
              <a:t>persist:</a:t>
            </a:r>
            <a:r>
              <a:rPr dirty="0" sz="1400" spc="-6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400" spc="-105">
                <a:solidFill>
                  <a:srgbClr val="0F2339"/>
                </a:solidFill>
                <a:latin typeface="Arial Black"/>
                <a:cs typeface="Arial Black"/>
              </a:rPr>
              <a:t>classify</a:t>
            </a:r>
            <a:r>
              <a:rPr dirty="0" sz="1400" spc="-60">
                <a:solidFill>
                  <a:srgbClr val="0F2339"/>
                </a:solidFill>
                <a:latin typeface="Arial Black"/>
                <a:cs typeface="Arial Black"/>
              </a:rPr>
              <a:t> and</a:t>
            </a:r>
            <a:r>
              <a:rPr dirty="0" sz="1400" spc="-6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400" spc="-85">
                <a:solidFill>
                  <a:srgbClr val="0F2339"/>
                </a:solidFill>
                <a:latin typeface="Arial Black"/>
                <a:cs typeface="Arial Black"/>
              </a:rPr>
              <a:t>protect</a:t>
            </a:r>
            <a:r>
              <a:rPr dirty="0" sz="1400" spc="-6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400" spc="-75">
                <a:solidFill>
                  <a:srgbClr val="0F2339"/>
                </a:solidFill>
                <a:latin typeface="Arial Black"/>
                <a:cs typeface="Arial Black"/>
              </a:rPr>
              <a:t>data</a:t>
            </a:r>
            <a:r>
              <a:rPr dirty="0" sz="1400" spc="-6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400" spc="-175">
                <a:solidFill>
                  <a:srgbClr val="0F2339"/>
                </a:solidFill>
                <a:latin typeface="Arial Black"/>
                <a:cs typeface="Arial Black"/>
              </a:rPr>
              <a:t>•</a:t>
            </a:r>
            <a:r>
              <a:rPr dirty="0" sz="1400" spc="-6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400" spc="-75">
                <a:solidFill>
                  <a:srgbClr val="0F2339"/>
                </a:solidFill>
                <a:latin typeface="Arial Black"/>
                <a:cs typeface="Arial Black"/>
              </a:rPr>
              <a:t>manage</a:t>
            </a:r>
            <a:r>
              <a:rPr dirty="0" sz="1400" spc="-6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400" spc="-70">
                <a:solidFill>
                  <a:srgbClr val="0F2339"/>
                </a:solidFill>
                <a:latin typeface="Arial Black"/>
                <a:cs typeface="Arial Black"/>
              </a:rPr>
              <a:t>identities</a:t>
            </a:r>
            <a:r>
              <a:rPr dirty="0" sz="1400" spc="-6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400" spc="-175">
                <a:solidFill>
                  <a:srgbClr val="0F2339"/>
                </a:solidFill>
                <a:latin typeface="Arial Black"/>
                <a:cs typeface="Arial Black"/>
              </a:rPr>
              <a:t>•</a:t>
            </a:r>
            <a:r>
              <a:rPr dirty="0" sz="1400" spc="-6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400" spc="-75">
                <a:solidFill>
                  <a:srgbClr val="0F2339"/>
                </a:solidFill>
                <a:latin typeface="Arial Black"/>
                <a:cs typeface="Arial Black"/>
              </a:rPr>
              <a:t>configure</a:t>
            </a:r>
            <a:r>
              <a:rPr dirty="0" sz="1400" spc="-6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400" spc="-170">
                <a:solidFill>
                  <a:srgbClr val="0F2339"/>
                </a:solidFill>
                <a:latin typeface="Arial Black"/>
                <a:cs typeface="Arial Black"/>
              </a:rPr>
              <a:t>access</a:t>
            </a:r>
            <a:r>
              <a:rPr dirty="0" sz="1400" spc="-6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400" spc="-175">
                <a:solidFill>
                  <a:srgbClr val="0F2339"/>
                </a:solidFill>
                <a:latin typeface="Arial Black"/>
                <a:cs typeface="Arial Black"/>
              </a:rPr>
              <a:t>•</a:t>
            </a:r>
            <a:r>
              <a:rPr dirty="0" sz="1400" spc="-6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400" spc="-20">
                <a:solidFill>
                  <a:srgbClr val="0F2339"/>
                </a:solidFill>
                <a:latin typeface="Arial Black"/>
                <a:cs typeface="Arial Black"/>
              </a:rPr>
              <a:t>secure </a:t>
            </a:r>
            <a:r>
              <a:rPr dirty="0" sz="1400" spc="-70">
                <a:solidFill>
                  <a:srgbClr val="0F2339"/>
                </a:solidFill>
                <a:latin typeface="Arial Black"/>
                <a:cs typeface="Arial Black"/>
              </a:rPr>
              <a:t>endpoints</a:t>
            </a:r>
            <a:r>
              <a:rPr dirty="0" sz="1400" spc="-7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400" spc="-175">
                <a:solidFill>
                  <a:srgbClr val="0F2339"/>
                </a:solidFill>
                <a:latin typeface="Arial Black"/>
                <a:cs typeface="Arial Black"/>
              </a:rPr>
              <a:t>•</a:t>
            </a:r>
            <a:r>
              <a:rPr dirty="0" sz="1400" spc="-7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400" spc="-40">
                <a:solidFill>
                  <a:srgbClr val="0F2339"/>
                </a:solidFill>
                <a:latin typeface="Arial Black"/>
                <a:cs typeface="Arial Black"/>
              </a:rPr>
              <a:t>monitor</a:t>
            </a:r>
            <a:r>
              <a:rPr dirty="0" sz="1400" spc="-7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400" spc="-10">
                <a:solidFill>
                  <a:srgbClr val="0F2339"/>
                </a:solidFill>
                <a:latin typeface="Arial Black"/>
                <a:cs typeface="Arial Black"/>
              </a:rPr>
              <a:t>usage.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66635" y="6382435"/>
            <a:ext cx="11064240" cy="635"/>
          </a:xfrm>
          <a:custGeom>
            <a:avLst/>
            <a:gdLst/>
            <a:ahLst/>
            <a:cxnLst/>
            <a:rect l="l" t="t" r="r" b="b"/>
            <a:pathLst>
              <a:path w="11064240" h="635">
                <a:moveTo>
                  <a:pt x="0" y="0"/>
                </a:moveTo>
                <a:lnTo>
                  <a:pt x="11064240" y="368"/>
                </a:lnTo>
              </a:path>
            </a:pathLst>
          </a:custGeom>
          <a:ln w="8999">
            <a:solidFill>
              <a:srgbClr val="DBE4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90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 spc="-100"/>
              <a:t>DAY</a:t>
            </a:r>
            <a:r>
              <a:rPr dirty="0" spc="-55"/>
              <a:t> </a:t>
            </a:r>
            <a:r>
              <a:rPr dirty="0"/>
              <a:t>1</a:t>
            </a:r>
            <a:r>
              <a:rPr dirty="0" spc="105"/>
              <a:t> </a:t>
            </a:r>
            <a:r>
              <a:rPr dirty="0"/>
              <a:t>•</a:t>
            </a:r>
            <a:r>
              <a:rPr dirty="0" spc="130"/>
              <a:t> </a:t>
            </a:r>
            <a:r>
              <a:rPr dirty="0" spc="-70"/>
              <a:t>CLOUD</a:t>
            </a:r>
            <a:r>
              <a:rPr dirty="0" spc="-55"/>
              <a:t> </a:t>
            </a:r>
            <a:r>
              <a:rPr dirty="0" spc="-65"/>
              <a:t>FOUNDATIONS</a:t>
            </a:r>
            <a:r>
              <a:rPr dirty="0" spc="-55"/>
              <a:t> </a:t>
            </a:r>
            <a:r>
              <a:rPr dirty="0" spc="-105"/>
              <a:t>&amp;</a:t>
            </a:r>
            <a:r>
              <a:rPr dirty="0" spc="-50"/>
              <a:t> </a:t>
            </a:r>
            <a:r>
              <a:rPr dirty="0" spc="-95"/>
              <a:t>AZURE</a:t>
            </a:r>
            <a:r>
              <a:rPr dirty="0" spc="-55"/>
              <a:t> </a:t>
            </a:r>
            <a:r>
              <a:rPr dirty="0" spc="-50"/>
              <a:t>BASICS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11476697" y="6494402"/>
            <a:ext cx="149225" cy="172720"/>
          </a:xfrm>
          <a:prstGeom prst="rect">
            <a:avLst/>
          </a:prstGeom>
        </p:spPr>
        <p:txBody>
          <a:bodyPr wrap="square" lIns="0" tIns="203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dirty="0" sz="850" spc="-50">
                <a:solidFill>
                  <a:srgbClr val="0077D3"/>
                </a:solidFill>
                <a:latin typeface="Arial Black"/>
                <a:cs typeface="Arial Black"/>
              </a:rPr>
              <a:t>08</a:t>
            </a:r>
            <a:endParaRPr sz="85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3935" y="299427"/>
            <a:ext cx="205168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65">
                <a:solidFill>
                  <a:srgbClr val="0077D3"/>
                </a:solidFill>
                <a:latin typeface="Arial Black"/>
                <a:cs typeface="Arial Black"/>
              </a:rPr>
              <a:t>PA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25">
                <a:solidFill>
                  <a:srgbClr val="0077D3"/>
                </a:solidFill>
                <a:latin typeface="Arial Black"/>
                <a:cs typeface="Arial Black"/>
              </a:rPr>
              <a:t>R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>
                <a:solidFill>
                  <a:srgbClr val="0077D3"/>
                </a:solidFill>
                <a:latin typeface="Arial Black"/>
                <a:cs typeface="Arial Black"/>
              </a:rPr>
              <a:t>T</a:t>
            </a:r>
            <a:r>
              <a:rPr dirty="0" sz="1000" spc="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>
                <a:solidFill>
                  <a:srgbClr val="0077D3"/>
                </a:solidFill>
                <a:latin typeface="Arial Black"/>
                <a:cs typeface="Arial Black"/>
              </a:rPr>
              <a:t>1</a:t>
            </a:r>
            <a:r>
              <a:rPr dirty="0" sz="1000" spc="135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>
                <a:solidFill>
                  <a:srgbClr val="0077D3"/>
                </a:solidFill>
                <a:latin typeface="Arial Black"/>
                <a:cs typeface="Arial Black"/>
              </a:rPr>
              <a:t>•</a:t>
            </a:r>
            <a:r>
              <a:rPr dirty="0" sz="1000" spc="14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45">
                <a:solidFill>
                  <a:srgbClr val="0077D3"/>
                </a:solidFill>
                <a:latin typeface="Arial Black"/>
                <a:cs typeface="Arial Black"/>
              </a:rPr>
              <a:t>C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25">
                <a:solidFill>
                  <a:srgbClr val="0077D3"/>
                </a:solidFill>
                <a:latin typeface="Arial Black"/>
                <a:cs typeface="Arial Black"/>
              </a:rPr>
              <a:t>LO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90">
                <a:solidFill>
                  <a:srgbClr val="0077D3"/>
                </a:solidFill>
                <a:latin typeface="Arial Black"/>
                <a:cs typeface="Arial Black"/>
              </a:rPr>
              <a:t>U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>
                <a:solidFill>
                  <a:srgbClr val="0077D3"/>
                </a:solidFill>
                <a:latin typeface="Arial Black"/>
                <a:cs typeface="Arial Black"/>
              </a:rPr>
              <a:t>D</a:t>
            </a:r>
            <a:r>
              <a:rPr dirty="0" sz="1000" spc="135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45">
                <a:solidFill>
                  <a:srgbClr val="0077D3"/>
                </a:solidFill>
                <a:latin typeface="Arial Black"/>
                <a:cs typeface="Arial Black"/>
              </a:rPr>
              <a:t>CO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35">
                <a:solidFill>
                  <a:srgbClr val="0077D3"/>
                </a:solidFill>
                <a:latin typeface="Arial Black"/>
                <a:cs typeface="Arial Black"/>
              </a:rPr>
              <a:t>N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45">
                <a:solidFill>
                  <a:srgbClr val="0077D3"/>
                </a:solidFill>
                <a:latin typeface="Arial Black"/>
                <a:cs typeface="Arial Black"/>
              </a:rPr>
              <a:t>C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75">
                <a:solidFill>
                  <a:srgbClr val="0077D3"/>
                </a:solidFill>
                <a:latin typeface="Arial Black"/>
                <a:cs typeface="Arial Black"/>
              </a:rPr>
              <a:t>E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10">
                <a:solidFill>
                  <a:srgbClr val="0077D3"/>
                </a:solidFill>
                <a:latin typeface="Arial Black"/>
                <a:cs typeface="Arial Black"/>
              </a:rPr>
              <a:t>P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60">
                <a:solidFill>
                  <a:srgbClr val="0077D3"/>
                </a:solidFill>
                <a:latin typeface="Arial Black"/>
                <a:cs typeface="Arial Black"/>
              </a:rPr>
              <a:t>T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95">
                <a:solidFill>
                  <a:srgbClr val="0077D3"/>
                </a:solidFill>
                <a:latin typeface="Arial Black"/>
                <a:cs typeface="Arial Black"/>
              </a:rPr>
              <a:t>S</a:t>
            </a:r>
            <a:endParaRPr sz="1000">
              <a:latin typeface="Arial Black"/>
              <a:cs typeface="Arial Black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54304" y="428977"/>
            <a:ext cx="8489315" cy="814705"/>
          </a:xfrm>
          <a:prstGeom prst="rect"/>
        </p:spPr>
        <p:txBody>
          <a:bodyPr wrap="square" lIns="0" tIns="133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0"/>
              </a:spcBef>
            </a:pPr>
            <a:r>
              <a:rPr dirty="0" sz="2700" spc="-130">
                <a:solidFill>
                  <a:srgbClr val="0F2339"/>
                </a:solidFill>
              </a:rPr>
              <a:t>Apply</a:t>
            </a:r>
            <a:r>
              <a:rPr dirty="0" sz="2700" spc="-175">
                <a:solidFill>
                  <a:srgbClr val="0F2339"/>
                </a:solidFill>
              </a:rPr>
              <a:t> </a:t>
            </a:r>
            <a:r>
              <a:rPr dirty="0" sz="2700" spc="-155">
                <a:solidFill>
                  <a:srgbClr val="0F2339"/>
                </a:solidFill>
              </a:rPr>
              <a:t>shared</a:t>
            </a:r>
            <a:r>
              <a:rPr dirty="0" sz="2700" spc="-180">
                <a:solidFill>
                  <a:srgbClr val="0F2339"/>
                </a:solidFill>
              </a:rPr>
              <a:t> </a:t>
            </a:r>
            <a:r>
              <a:rPr dirty="0" sz="2700" spc="-135">
                <a:solidFill>
                  <a:srgbClr val="0F2339"/>
                </a:solidFill>
              </a:rPr>
              <a:t>responsibility</a:t>
            </a:r>
            <a:r>
              <a:rPr dirty="0" sz="2700" spc="-170">
                <a:solidFill>
                  <a:srgbClr val="0F2339"/>
                </a:solidFill>
              </a:rPr>
              <a:t> </a:t>
            </a:r>
            <a:r>
              <a:rPr dirty="0" sz="2700" spc="-70">
                <a:solidFill>
                  <a:srgbClr val="0F2339"/>
                </a:solidFill>
              </a:rPr>
              <a:t>in</a:t>
            </a:r>
            <a:r>
              <a:rPr dirty="0" sz="2700" spc="-180">
                <a:solidFill>
                  <a:srgbClr val="0F2339"/>
                </a:solidFill>
              </a:rPr>
              <a:t> a</a:t>
            </a:r>
            <a:r>
              <a:rPr dirty="0" sz="2700" spc="-175">
                <a:solidFill>
                  <a:srgbClr val="0F2339"/>
                </a:solidFill>
              </a:rPr>
              <a:t> </a:t>
            </a:r>
            <a:r>
              <a:rPr dirty="0" sz="2700" spc="-150">
                <a:solidFill>
                  <a:srgbClr val="0F2339"/>
                </a:solidFill>
              </a:rPr>
              <a:t>design</a:t>
            </a:r>
            <a:r>
              <a:rPr dirty="0" sz="2700" spc="-175">
                <a:solidFill>
                  <a:srgbClr val="0F2339"/>
                </a:solidFill>
              </a:rPr>
              <a:t> </a:t>
            </a:r>
            <a:r>
              <a:rPr dirty="0" sz="2700" spc="-10">
                <a:solidFill>
                  <a:srgbClr val="0F2339"/>
                </a:solidFill>
              </a:rPr>
              <a:t>review</a:t>
            </a:r>
            <a:endParaRPr sz="2700"/>
          </a:p>
          <a:p>
            <a:pPr marL="30480">
              <a:lnSpc>
                <a:spcPct val="100000"/>
              </a:lnSpc>
              <a:spcBef>
                <a:spcPts val="459"/>
              </a:spcBef>
            </a:pP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Design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comment:</a:t>
            </a:r>
            <a:r>
              <a:rPr dirty="0" sz="13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“The</a:t>
            </a:r>
            <a:r>
              <a:rPr dirty="0" sz="1300" spc="-4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team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must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patch</a:t>
            </a:r>
            <a:r>
              <a:rPr dirty="0" sz="13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the</a:t>
            </a:r>
            <a:r>
              <a:rPr dirty="0" sz="13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operating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system</a:t>
            </a:r>
            <a:r>
              <a:rPr dirty="0" sz="13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underneath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Azure</a:t>
            </a:r>
            <a:r>
              <a:rPr dirty="0" sz="13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SQL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Database.”</a:t>
            </a:r>
            <a:r>
              <a:rPr dirty="0" sz="13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Is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it</a:t>
            </a:r>
            <a:r>
              <a:rPr dirty="0" sz="13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correct?</a:t>
            </a:r>
            <a:endParaRPr sz="1300">
              <a:latin typeface="Noto Sans"/>
              <a:cs typeface="Noto San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66635" y="1417319"/>
            <a:ext cx="11064240" cy="635"/>
          </a:xfrm>
          <a:custGeom>
            <a:avLst/>
            <a:gdLst/>
            <a:ahLst/>
            <a:cxnLst/>
            <a:rect l="l" t="t" r="r" b="b"/>
            <a:pathLst>
              <a:path w="11064240" h="634">
                <a:moveTo>
                  <a:pt x="0" y="0"/>
                </a:moveTo>
                <a:lnTo>
                  <a:pt x="11064240" y="355"/>
                </a:lnTo>
              </a:path>
            </a:pathLst>
          </a:custGeom>
          <a:ln w="10079">
            <a:solidFill>
              <a:srgbClr val="DBE4ED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6" name="object 6"/>
          <p:cNvGrpSpPr/>
          <p:nvPr/>
        </p:nvGrpSpPr>
        <p:grpSpPr>
          <a:xfrm>
            <a:off x="771844" y="1731596"/>
            <a:ext cx="6548755" cy="1839595"/>
            <a:chOff x="771844" y="1731596"/>
            <a:chExt cx="6548755" cy="1839595"/>
          </a:xfrm>
        </p:grpSpPr>
        <p:sp>
          <p:nvSpPr>
            <p:cNvPr id="7" name="object 7"/>
            <p:cNvSpPr/>
            <p:nvPr/>
          </p:nvSpPr>
          <p:spPr>
            <a:xfrm>
              <a:off x="776884" y="1736636"/>
              <a:ext cx="6538595" cy="1829435"/>
            </a:xfrm>
            <a:custGeom>
              <a:avLst/>
              <a:gdLst/>
              <a:ahLst/>
              <a:cxnLst/>
              <a:rect l="l" t="t" r="r" b="b"/>
              <a:pathLst>
                <a:path w="6538595" h="1829435">
                  <a:moveTo>
                    <a:pt x="110159" y="0"/>
                  </a:moveTo>
                  <a:lnTo>
                    <a:pt x="68088" y="8358"/>
                  </a:lnTo>
                  <a:lnTo>
                    <a:pt x="32534" y="32224"/>
                  </a:lnTo>
                  <a:lnTo>
                    <a:pt x="8708" y="67882"/>
                  </a:lnTo>
                  <a:lnTo>
                    <a:pt x="355" y="109804"/>
                  </a:lnTo>
                  <a:lnTo>
                    <a:pt x="0" y="1719364"/>
                  </a:lnTo>
                  <a:lnTo>
                    <a:pt x="939" y="1733794"/>
                  </a:lnTo>
                  <a:lnTo>
                    <a:pt x="3735" y="1747851"/>
                  </a:lnTo>
                  <a:lnTo>
                    <a:pt x="8301" y="1761285"/>
                  </a:lnTo>
                  <a:lnTo>
                    <a:pt x="8352" y="1761435"/>
                  </a:lnTo>
                  <a:lnTo>
                    <a:pt x="32213" y="1796988"/>
                  </a:lnTo>
                  <a:lnTo>
                    <a:pt x="67882" y="1820810"/>
                  </a:lnTo>
                  <a:lnTo>
                    <a:pt x="109791" y="1829168"/>
                  </a:lnTo>
                  <a:lnTo>
                    <a:pt x="6428511" y="1829168"/>
                  </a:lnTo>
                  <a:lnTo>
                    <a:pt x="6470582" y="1820810"/>
                  </a:lnTo>
                  <a:lnTo>
                    <a:pt x="6506086" y="1796988"/>
                  </a:lnTo>
                  <a:lnTo>
                    <a:pt x="6529887" y="1761435"/>
                  </a:lnTo>
                  <a:lnTo>
                    <a:pt x="6538315" y="1719364"/>
                  </a:lnTo>
                  <a:lnTo>
                    <a:pt x="6538292" y="109804"/>
                  </a:lnTo>
                  <a:lnTo>
                    <a:pt x="6529962" y="68095"/>
                  </a:lnTo>
                  <a:lnTo>
                    <a:pt x="6506092" y="32535"/>
                  </a:lnTo>
                  <a:lnTo>
                    <a:pt x="6470432" y="8721"/>
                  </a:lnTo>
                  <a:lnTo>
                    <a:pt x="6428511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776884" y="1736636"/>
              <a:ext cx="6538595" cy="1829435"/>
            </a:xfrm>
            <a:custGeom>
              <a:avLst/>
              <a:gdLst/>
              <a:ahLst/>
              <a:cxnLst/>
              <a:rect l="l" t="t" r="r" b="b"/>
              <a:pathLst>
                <a:path w="6538595" h="1829435">
                  <a:moveTo>
                    <a:pt x="355" y="109804"/>
                  </a:moveTo>
                  <a:lnTo>
                    <a:pt x="1295" y="95379"/>
                  </a:lnTo>
                  <a:lnTo>
                    <a:pt x="4090" y="81360"/>
                  </a:lnTo>
                  <a:lnTo>
                    <a:pt x="23133" y="43011"/>
                  </a:lnTo>
                  <a:lnTo>
                    <a:pt x="55079" y="14770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6428511" y="368"/>
                  </a:lnTo>
                  <a:lnTo>
                    <a:pt x="6470432" y="8721"/>
                  </a:lnTo>
                  <a:lnTo>
                    <a:pt x="6506092" y="32535"/>
                  </a:lnTo>
                  <a:lnTo>
                    <a:pt x="6529962" y="68095"/>
                  </a:lnTo>
                  <a:lnTo>
                    <a:pt x="6538315" y="110159"/>
                  </a:lnTo>
                  <a:lnTo>
                    <a:pt x="6538315" y="1719364"/>
                  </a:lnTo>
                  <a:lnTo>
                    <a:pt x="6537375" y="1733788"/>
                  </a:lnTo>
                  <a:lnTo>
                    <a:pt x="6534580" y="1747807"/>
                  </a:lnTo>
                  <a:lnTo>
                    <a:pt x="6515538" y="1786157"/>
                  </a:lnTo>
                  <a:lnTo>
                    <a:pt x="6483591" y="1814398"/>
                  </a:lnTo>
                  <a:lnTo>
                    <a:pt x="6442941" y="1828228"/>
                  </a:lnTo>
                  <a:lnTo>
                    <a:pt x="6428511" y="1829168"/>
                  </a:lnTo>
                  <a:lnTo>
                    <a:pt x="109791" y="1829168"/>
                  </a:lnTo>
                  <a:lnTo>
                    <a:pt x="67882" y="1820810"/>
                  </a:lnTo>
                  <a:lnTo>
                    <a:pt x="32213" y="1796988"/>
                  </a:lnTo>
                  <a:lnTo>
                    <a:pt x="8352" y="1761435"/>
                  </a:lnTo>
                  <a:lnTo>
                    <a:pt x="0" y="1719364"/>
                  </a:lnTo>
                  <a:lnTo>
                    <a:pt x="355" y="109804"/>
                  </a:lnTo>
                  <a:close/>
                </a:path>
              </a:pathLst>
            </a:custGeom>
            <a:ln w="10079">
              <a:solidFill>
                <a:srgbClr val="DBE4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005116" y="1919884"/>
              <a:ext cx="2103755" cy="293370"/>
            </a:xfrm>
            <a:custGeom>
              <a:avLst/>
              <a:gdLst/>
              <a:ahLst/>
              <a:cxnLst/>
              <a:rect l="l" t="t" r="r" b="b"/>
              <a:pathLst>
                <a:path w="2103755" h="293369">
                  <a:moveTo>
                    <a:pt x="110159" y="0"/>
                  </a:moveTo>
                  <a:lnTo>
                    <a:pt x="68095" y="8352"/>
                  </a:lnTo>
                  <a:lnTo>
                    <a:pt x="32535" y="32213"/>
                  </a:lnTo>
                  <a:lnTo>
                    <a:pt x="8721" y="67882"/>
                  </a:lnTo>
                  <a:lnTo>
                    <a:pt x="368" y="109791"/>
                  </a:lnTo>
                  <a:lnTo>
                    <a:pt x="0" y="183235"/>
                  </a:lnTo>
                  <a:lnTo>
                    <a:pt x="939" y="197665"/>
                  </a:lnTo>
                  <a:lnTo>
                    <a:pt x="14770" y="238315"/>
                  </a:lnTo>
                  <a:lnTo>
                    <a:pt x="43011" y="270256"/>
                  </a:lnTo>
                  <a:lnTo>
                    <a:pt x="81360" y="289302"/>
                  </a:lnTo>
                  <a:lnTo>
                    <a:pt x="109804" y="293039"/>
                  </a:lnTo>
                  <a:lnTo>
                    <a:pt x="1993684" y="293039"/>
                  </a:lnTo>
                  <a:lnTo>
                    <a:pt x="2035755" y="284681"/>
                  </a:lnTo>
                  <a:lnTo>
                    <a:pt x="2071257" y="260859"/>
                  </a:lnTo>
                  <a:lnTo>
                    <a:pt x="2095054" y="225306"/>
                  </a:lnTo>
                  <a:lnTo>
                    <a:pt x="2103488" y="183235"/>
                  </a:lnTo>
                  <a:lnTo>
                    <a:pt x="2103464" y="109791"/>
                  </a:lnTo>
                  <a:lnTo>
                    <a:pt x="2095130" y="68088"/>
                  </a:lnTo>
                  <a:lnTo>
                    <a:pt x="2071263" y="32534"/>
                  </a:lnTo>
                  <a:lnTo>
                    <a:pt x="2035605" y="8708"/>
                  </a:lnTo>
                  <a:lnTo>
                    <a:pt x="199368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CED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005116" y="1919884"/>
              <a:ext cx="2103755" cy="293370"/>
            </a:xfrm>
            <a:custGeom>
              <a:avLst/>
              <a:gdLst/>
              <a:ahLst/>
              <a:cxnLst/>
              <a:rect l="l" t="t" r="r" b="b"/>
              <a:pathLst>
                <a:path w="2103755" h="293369">
                  <a:moveTo>
                    <a:pt x="368" y="109791"/>
                  </a:moveTo>
                  <a:lnTo>
                    <a:pt x="1307" y="95374"/>
                  </a:lnTo>
                  <a:lnTo>
                    <a:pt x="4103" y="81359"/>
                  </a:lnTo>
                  <a:lnTo>
                    <a:pt x="23138" y="43003"/>
                  </a:lnTo>
                  <a:lnTo>
                    <a:pt x="55079" y="14757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1993684" y="355"/>
                  </a:lnTo>
                  <a:lnTo>
                    <a:pt x="2035605" y="8708"/>
                  </a:lnTo>
                  <a:lnTo>
                    <a:pt x="2071263" y="32534"/>
                  </a:lnTo>
                  <a:lnTo>
                    <a:pt x="2095130" y="68088"/>
                  </a:lnTo>
                  <a:lnTo>
                    <a:pt x="2103488" y="110159"/>
                  </a:lnTo>
                  <a:lnTo>
                    <a:pt x="2103488" y="183235"/>
                  </a:lnTo>
                  <a:lnTo>
                    <a:pt x="2102548" y="197660"/>
                  </a:lnTo>
                  <a:lnTo>
                    <a:pt x="2099751" y="211678"/>
                  </a:lnTo>
                  <a:lnTo>
                    <a:pt x="2080705" y="250028"/>
                  </a:lnTo>
                  <a:lnTo>
                    <a:pt x="2048764" y="278269"/>
                  </a:lnTo>
                  <a:lnTo>
                    <a:pt x="2008114" y="292100"/>
                  </a:lnTo>
                  <a:lnTo>
                    <a:pt x="1993684" y="293039"/>
                  </a:lnTo>
                  <a:lnTo>
                    <a:pt x="109804" y="293039"/>
                  </a:lnTo>
                  <a:lnTo>
                    <a:pt x="67882" y="284681"/>
                  </a:lnTo>
                  <a:lnTo>
                    <a:pt x="32224" y="260859"/>
                  </a:lnTo>
                  <a:lnTo>
                    <a:pt x="8358" y="225306"/>
                  </a:lnTo>
                  <a:lnTo>
                    <a:pt x="0" y="183235"/>
                  </a:lnTo>
                  <a:lnTo>
                    <a:pt x="368" y="109791"/>
                  </a:lnTo>
                  <a:close/>
                </a:path>
              </a:pathLst>
            </a:custGeom>
            <a:ln w="10079">
              <a:solidFill>
                <a:srgbClr val="FCEDE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1201216" y="1972703"/>
            <a:ext cx="171323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0">
                <a:solidFill>
                  <a:srgbClr val="C1403A"/>
                </a:solidFill>
                <a:latin typeface="Arial Black"/>
                <a:cs typeface="Arial Black"/>
              </a:rPr>
              <a:t>DESIGN</a:t>
            </a:r>
            <a:r>
              <a:rPr dirty="0" sz="1000" spc="-35">
                <a:solidFill>
                  <a:srgbClr val="C1403A"/>
                </a:solidFill>
                <a:latin typeface="Arial Black"/>
                <a:cs typeface="Arial Black"/>
              </a:rPr>
              <a:t> </a:t>
            </a:r>
            <a:r>
              <a:rPr dirty="0" sz="1000" spc="-114">
                <a:solidFill>
                  <a:srgbClr val="C1403A"/>
                </a:solidFill>
                <a:latin typeface="Arial Black"/>
                <a:cs typeface="Arial Black"/>
              </a:rPr>
              <a:t>REVIEW</a:t>
            </a:r>
            <a:r>
              <a:rPr dirty="0" sz="1000" spc="-30">
                <a:solidFill>
                  <a:srgbClr val="C1403A"/>
                </a:solidFill>
                <a:latin typeface="Arial Black"/>
                <a:cs typeface="Arial Black"/>
              </a:rPr>
              <a:t> </a:t>
            </a:r>
            <a:r>
              <a:rPr dirty="0" sz="1000" spc="-75">
                <a:solidFill>
                  <a:srgbClr val="C1403A"/>
                </a:solidFill>
                <a:latin typeface="Arial Black"/>
                <a:cs typeface="Arial Black"/>
              </a:rPr>
              <a:t>COMMENT</a:t>
            </a:r>
            <a:endParaRPr sz="1000">
              <a:latin typeface="Arial Black"/>
              <a:cs typeface="Arial Black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11504" y="2383104"/>
            <a:ext cx="5691505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spc="-155">
                <a:solidFill>
                  <a:srgbClr val="0F2339"/>
                </a:solidFill>
                <a:latin typeface="Arial Black"/>
                <a:cs typeface="Arial Black"/>
              </a:rPr>
              <a:t>“We</a:t>
            </a:r>
            <a:r>
              <a:rPr dirty="0" sz="1800" spc="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800" spc="-160">
                <a:solidFill>
                  <a:srgbClr val="0F2339"/>
                </a:solidFill>
                <a:latin typeface="Arial Black"/>
                <a:cs typeface="Arial Black"/>
              </a:rPr>
              <a:t>own</a:t>
            </a:r>
            <a:r>
              <a:rPr dirty="0" sz="1800" spc="1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800" spc="-380">
                <a:solidFill>
                  <a:srgbClr val="0F2339"/>
                </a:solidFill>
                <a:latin typeface="Arial Black"/>
                <a:cs typeface="Arial Black"/>
              </a:rPr>
              <a:t>OS</a:t>
            </a:r>
            <a:r>
              <a:rPr dirty="0" sz="1800" spc="229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800" spc="-100">
                <a:solidFill>
                  <a:srgbClr val="0F2339"/>
                </a:solidFill>
                <a:latin typeface="Arial Black"/>
                <a:cs typeface="Arial Black"/>
              </a:rPr>
              <a:t>patching</a:t>
            </a:r>
            <a:r>
              <a:rPr dirty="0" sz="1800" spc="-5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800" spc="-40">
                <a:solidFill>
                  <a:srgbClr val="0F2339"/>
                </a:solidFill>
                <a:latin typeface="Arial Black"/>
                <a:cs typeface="Arial Black"/>
              </a:rPr>
              <a:t>for</a:t>
            </a:r>
            <a:r>
              <a:rPr dirty="0" sz="1800" spc="-11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800" spc="-95">
                <a:solidFill>
                  <a:srgbClr val="0F2339"/>
                </a:solidFill>
                <a:latin typeface="Arial Black"/>
                <a:cs typeface="Arial Black"/>
              </a:rPr>
              <a:t>the</a:t>
            </a:r>
            <a:r>
              <a:rPr dirty="0" sz="1800" spc="-1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800" spc="-120">
                <a:solidFill>
                  <a:srgbClr val="0F2339"/>
                </a:solidFill>
                <a:latin typeface="Arial Black"/>
                <a:cs typeface="Arial Black"/>
              </a:rPr>
              <a:t>Azure</a:t>
            </a:r>
            <a:r>
              <a:rPr dirty="0" sz="1800" spc="3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800" spc="-280">
                <a:solidFill>
                  <a:srgbClr val="0F2339"/>
                </a:solidFill>
                <a:latin typeface="Arial Black"/>
                <a:cs typeface="Arial Black"/>
              </a:rPr>
              <a:t>SQL</a:t>
            </a:r>
            <a:r>
              <a:rPr dirty="0" sz="1800" spc="13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800" spc="-45">
                <a:solidFill>
                  <a:srgbClr val="0F2339"/>
                </a:solidFill>
                <a:latin typeface="Arial Black"/>
                <a:cs typeface="Arial Black"/>
              </a:rPr>
              <a:t>Database </a:t>
            </a:r>
            <a:r>
              <a:rPr dirty="0" sz="1800" spc="-130">
                <a:solidFill>
                  <a:srgbClr val="0F2339"/>
                </a:solidFill>
                <a:latin typeface="Arial Black"/>
                <a:cs typeface="Arial Black"/>
              </a:rPr>
              <a:t>instance,</a:t>
            </a:r>
            <a:r>
              <a:rPr dirty="0" sz="1800" spc="-2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800" spc="-290">
                <a:solidFill>
                  <a:srgbClr val="0F2339"/>
                </a:solidFill>
                <a:latin typeface="Arial Black"/>
                <a:cs typeface="Arial Black"/>
              </a:rPr>
              <a:t>so</a:t>
            </a:r>
            <a:r>
              <a:rPr dirty="0" sz="1800" spc="14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800" spc="-100">
                <a:solidFill>
                  <a:srgbClr val="0F2339"/>
                </a:solidFill>
                <a:latin typeface="Arial Black"/>
                <a:cs typeface="Arial Black"/>
              </a:rPr>
              <a:t>the</a:t>
            </a:r>
            <a:r>
              <a:rPr dirty="0" sz="1800" spc="-5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800" spc="-105">
                <a:solidFill>
                  <a:srgbClr val="0F2339"/>
                </a:solidFill>
                <a:latin typeface="Arial Black"/>
                <a:cs typeface="Arial Black"/>
              </a:rPr>
              <a:t>maintenance</a:t>
            </a:r>
            <a:r>
              <a:rPr dirty="0" sz="180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800" spc="-100">
                <a:solidFill>
                  <a:srgbClr val="0F2339"/>
                </a:solidFill>
                <a:latin typeface="Arial Black"/>
                <a:cs typeface="Arial Black"/>
              </a:rPr>
              <a:t>plan</a:t>
            </a:r>
            <a:r>
              <a:rPr dirty="0" sz="1800" spc="1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800" spc="-110">
                <a:solidFill>
                  <a:srgbClr val="0F2339"/>
                </a:solidFill>
                <a:latin typeface="Arial Black"/>
                <a:cs typeface="Arial Black"/>
              </a:rPr>
              <a:t>must</a:t>
            </a:r>
            <a:r>
              <a:rPr dirty="0" sz="1800" spc="2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800" spc="-110">
                <a:solidFill>
                  <a:srgbClr val="0F2339"/>
                </a:solidFill>
                <a:latin typeface="Arial Black"/>
                <a:cs typeface="Arial Black"/>
              </a:rPr>
              <a:t>include</a:t>
            </a:r>
            <a:r>
              <a:rPr dirty="0" sz="1800" spc="1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800" spc="-50">
                <a:solidFill>
                  <a:srgbClr val="0F2339"/>
                </a:solidFill>
                <a:latin typeface="Arial Black"/>
                <a:cs typeface="Arial Black"/>
              </a:rPr>
              <a:t>a </a:t>
            </a:r>
            <a:r>
              <a:rPr dirty="0" sz="1800" spc="-55">
                <a:solidFill>
                  <a:srgbClr val="0F2339"/>
                </a:solidFill>
                <a:latin typeface="Arial Black"/>
                <a:cs typeface="Arial Black"/>
              </a:rPr>
              <a:t>monthly</a:t>
            </a:r>
            <a:r>
              <a:rPr dirty="0" sz="1800" spc="-10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800" spc="-85">
                <a:solidFill>
                  <a:srgbClr val="0F2339"/>
                </a:solidFill>
                <a:latin typeface="Arial Black"/>
                <a:cs typeface="Arial Black"/>
              </a:rPr>
              <a:t>guest-</a:t>
            </a:r>
            <a:r>
              <a:rPr dirty="0" sz="1800" spc="-204">
                <a:solidFill>
                  <a:srgbClr val="0F2339"/>
                </a:solidFill>
                <a:latin typeface="Arial Black"/>
                <a:cs typeface="Arial Black"/>
              </a:rPr>
              <a:t>OS</a:t>
            </a:r>
            <a:r>
              <a:rPr dirty="0" sz="1800" spc="-9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800" spc="-110">
                <a:solidFill>
                  <a:srgbClr val="0F2339"/>
                </a:solidFill>
                <a:latin typeface="Arial Black"/>
                <a:cs typeface="Arial Black"/>
              </a:rPr>
              <a:t>patch</a:t>
            </a:r>
            <a:r>
              <a:rPr dirty="0" sz="1800" spc="-9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800" spc="-10">
                <a:solidFill>
                  <a:srgbClr val="0F2339"/>
                </a:solidFill>
                <a:latin typeface="Arial Black"/>
                <a:cs typeface="Arial Black"/>
              </a:rPr>
              <a:t>window.”</a:t>
            </a:r>
            <a:endParaRPr sz="1800">
              <a:latin typeface="Arial Black"/>
              <a:cs typeface="Arial Black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7629476" y="1731596"/>
            <a:ext cx="3668395" cy="1839595"/>
            <a:chOff x="7629476" y="1731596"/>
            <a:chExt cx="3668395" cy="1839595"/>
          </a:xfrm>
        </p:grpSpPr>
        <p:sp>
          <p:nvSpPr>
            <p:cNvPr id="14" name="object 14"/>
            <p:cNvSpPr/>
            <p:nvPr/>
          </p:nvSpPr>
          <p:spPr>
            <a:xfrm>
              <a:off x="7634516" y="1736636"/>
              <a:ext cx="3658235" cy="1829435"/>
            </a:xfrm>
            <a:custGeom>
              <a:avLst/>
              <a:gdLst/>
              <a:ahLst/>
              <a:cxnLst/>
              <a:rect l="l" t="t" r="r" b="b"/>
              <a:pathLst>
                <a:path w="3658234" h="1829435">
                  <a:moveTo>
                    <a:pt x="110159" y="0"/>
                  </a:moveTo>
                  <a:lnTo>
                    <a:pt x="68095" y="8358"/>
                  </a:lnTo>
                  <a:lnTo>
                    <a:pt x="32535" y="32224"/>
                  </a:lnTo>
                  <a:lnTo>
                    <a:pt x="8721" y="67882"/>
                  </a:lnTo>
                  <a:lnTo>
                    <a:pt x="368" y="109804"/>
                  </a:lnTo>
                  <a:lnTo>
                    <a:pt x="0" y="1719364"/>
                  </a:lnTo>
                  <a:lnTo>
                    <a:pt x="939" y="1733794"/>
                  </a:lnTo>
                  <a:lnTo>
                    <a:pt x="3736" y="1747851"/>
                  </a:lnTo>
                  <a:lnTo>
                    <a:pt x="8307" y="1761285"/>
                  </a:lnTo>
                  <a:lnTo>
                    <a:pt x="8358" y="1761435"/>
                  </a:lnTo>
                  <a:lnTo>
                    <a:pt x="14770" y="1774444"/>
                  </a:lnTo>
                  <a:lnTo>
                    <a:pt x="22686" y="1786157"/>
                  </a:lnTo>
                  <a:lnTo>
                    <a:pt x="22788" y="1786307"/>
                  </a:lnTo>
                  <a:lnTo>
                    <a:pt x="55079" y="1814398"/>
                  </a:lnTo>
                  <a:lnTo>
                    <a:pt x="95379" y="1828228"/>
                  </a:lnTo>
                  <a:lnTo>
                    <a:pt x="109804" y="1829168"/>
                  </a:lnTo>
                  <a:lnTo>
                    <a:pt x="3548164" y="1829168"/>
                  </a:lnTo>
                  <a:lnTo>
                    <a:pt x="3590235" y="1820810"/>
                  </a:lnTo>
                  <a:lnTo>
                    <a:pt x="3625737" y="1796988"/>
                  </a:lnTo>
                  <a:lnTo>
                    <a:pt x="3649534" y="1761435"/>
                  </a:lnTo>
                  <a:lnTo>
                    <a:pt x="3657968" y="1719364"/>
                  </a:lnTo>
                  <a:lnTo>
                    <a:pt x="3657945" y="109804"/>
                  </a:lnTo>
                  <a:lnTo>
                    <a:pt x="3649610" y="68095"/>
                  </a:lnTo>
                  <a:lnTo>
                    <a:pt x="3625743" y="32535"/>
                  </a:lnTo>
                  <a:lnTo>
                    <a:pt x="3590085" y="8721"/>
                  </a:lnTo>
                  <a:lnTo>
                    <a:pt x="3548164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7634516" y="1736636"/>
              <a:ext cx="3658235" cy="1829435"/>
            </a:xfrm>
            <a:custGeom>
              <a:avLst/>
              <a:gdLst/>
              <a:ahLst/>
              <a:cxnLst/>
              <a:rect l="l" t="t" r="r" b="b"/>
              <a:pathLst>
                <a:path w="3658234" h="1829435">
                  <a:moveTo>
                    <a:pt x="368" y="109804"/>
                  </a:moveTo>
                  <a:lnTo>
                    <a:pt x="1307" y="95379"/>
                  </a:lnTo>
                  <a:lnTo>
                    <a:pt x="4103" y="81360"/>
                  </a:lnTo>
                  <a:lnTo>
                    <a:pt x="23138" y="43011"/>
                  </a:lnTo>
                  <a:lnTo>
                    <a:pt x="55079" y="14770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3548164" y="368"/>
                  </a:lnTo>
                  <a:lnTo>
                    <a:pt x="3590085" y="8721"/>
                  </a:lnTo>
                  <a:lnTo>
                    <a:pt x="3625743" y="32535"/>
                  </a:lnTo>
                  <a:lnTo>
                    <a:pt x="3649610" y="68095"/>
                  </a:lnTo>
                  <a:lnTo>
                    <a:pt x="3657968" y="110159"/>
                  </a:lnTo>
                  <a:lnTo>
                    <a:pt x="3657968" y="1719364"/>
                  </a:lnTo>
                  <a:lnTo>
                    <a:pt x="3657028" y="1733788"/>
                  </a:lnTo>
                  <a:lnTo>
                    <a:pt x="3654231" y="1747807"/>
                  </a:lnTo>
                  <a:lnTo>
                    <a:pt x="3635185" y="1786157"/>
                  </a:lnTo>
                  <a:lnTo>
                    <a:pt x="3603244" y="1814398"/>
                  </a:lnTo>
                  <a:lnTo>
                    <a:pt x="3562594" y="1828228"/>
                  </a:lnTo>
                  <a:lnTo>
                    <a:pt x="3548164" y="1829168"/>
                  </a:lnTo>
                  <a:lnTo>
                    <a:pt x="109804" y="1829168"/>
                  </a:lnTo>
                  <a:lnTo>
                    <a:pt x="67882" y="1820810"/>
                  </a:lnTo>
                  <a:lnTo>
                    <a:pt x="32224" y="1796988"/>
                  </a:lnTo>
                  <a:lnTo>
                    <a:pt x="8358" y="1761435"/>
                  </a:lnTo>
                  <a:lnTo>
                    <a:pt x="0" y="1719364"/>
                  </a:lnTo>
                  <a:lnTo>
                    <a:pt x="368" y="109804"/>
                  </a:lnTo>
                  <a:close/>
                </a:path>
              </a:pathLst>
            </a:custGeom>
            <a:ln w="10079">
              <a:solidFill>
                <a:srgbClr val="DBE4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7635239" y="1737004"/>
              <a:ext cx="73025" cy="1828800"/>
            </a:xfrm>
            <a:custGeom>
              <a:avLst/>
              <a:gdLst/>
              <a:ahLst/>
              <a:cxnLst/>
              <a:rect l="l" t="t" r="r" b="b"/>
              <a:pathLst>
                <a:path w="73025" h="1828800">
                  <a:moveTo>
                    <a:pt x="72720" y="0"/>
                  </a:moveTo>
                  <a:lnTo>
                    <a:pt x="0" y="0"/>
                  </a:lnTo>
                  <a:lnTo>
                    <a:pt x="0" y="1828431"/>
                  </a:lnTo>
                  <a:lnTo>
                    <a:pt x="36360" y="1828431"/>
                  </a:lnTo>
                  <a:lnTo>
                    <a:pt x="72720" y="1828431"/>
                  </a:lnTo>
                  <a:lnTo>
                    <a:pt x="72720" y="0"/>
                  </a:lnTo>
                  <a:close/>
                </a:path>
              </a:pathLst>
            </a:custGeom>
            <a:solidFill>
              <a:srgbClr val="0C938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7635239" y="1737004"/>
              <a:ext cx="73025" cy="1828800"/>
            </a:xfrm>
            <a:custGeom>
              <a:avLst/>
              <a:gdLst/>
              <a:ahLst/>
              <a:cxnLst/>
              <a:rect l="l" t="t" r="r" b="b"/>
              <a:pathLst>
                <a:path w="73025" h="1828800">
                  <a:moveTo>
                    <a:pt x="36360" y="1828431"/>
                  </a:moveTo>
                  <a:lnTo>
                    <a:pt x="0" y="1828431"/>
                  </a:lnTo>
                  <a:lnTo>
                    <a:pt x="0" y="0"/>
                  </a:lnTo>
                  <a:lnTo>
                    <a:pt x="72720" y="0"/>
                  </a:lnTo>
                  <a:lnTo>
                    <a:pt x="72720" y="1828431"/>
                  </a:lnTo>
                  <a:lnTo>
                    <a:pt x="36360" y="1828431"/>
                  </a:lnTo>
                  <a:close/>
                </a:path>
              </a:pathLst>
            </a:custGeom>
            <a:ln w="10079">
              <a:solidFill>
                <a:srgbClr val="0C938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7823784" y="1913661"/>
            <a:ext cx="3232150" cy="14389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14">
                <a:solidFill>
                  <a:srgbClr val="0F2339"/>
                </a:solidFill>
                <a:latin typeface="Arial Black"/>
                <a:cs typeface="Arial Black"/>
              </a:rPr>
              <a:t>Correct</a:t>
            </a:r>
            <a:r>
              <a:rPr dirty="0" sz="1600" spc="-9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600" spc="-65">
                <a:solidFill>
                  <a:srgbClr val="0F2339"/>
                </a:solidFill>
                <a:latin typeface="Arial Black"/>
                <a:cs typeface="Arial Black"/>
              </a:rPr>
              <a:t>the</a:t>
            </a:r>
            <a:r>
              <a:rPr dirty="0" sz="1600" spc="-9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600" spc="-10">
                <a:solidFill>
                  <a:srgbClr val="0F2339"/>
                </a:solidFill>
                <a:latin typeface="Arial Black"/>
                <a:cs typeface="Arial Black"/>
              </a:rPr>
              <a:t>statement</a:t>
            </a:r>
            <a:endParaRPr sz="1600">
              <a:latin typeface="Arial Black"/>
              <a:cs typeface="Arial Black"/>
            </a:endParaRPr>
          </a:p>
          <a:p>
            <a:pPr marL="12700" marR="5080">
              <a:lnSpc>
                <a:spcPct val="104500"/>
              </a:lnSpc>
              <a:spcBef>
                <a:spcPts val="1060"/>
              </a:spcBef>
            </a:pP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Azure</a:t>
            </a:r>
            <a:r>
              <a:rPr dirty="0" sz="1300" spc="-4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SQL</a:t>
            </a:r>
            <a:r>
              <a:rPr dirty="0" sz="1300" spc="-4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Database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is</a:t>
            </a:r>
            <a:r>
              <a:rPr dirty="0" sz="1300" spc="-4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managed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20">
                <a:solidFill>
                  <a:srgbClr val="556478"/>
                </a:solidFill>
                <a:latin typeface="Noto Sans"/>
                <a:cs typeface="Noto Sans"/>
              </a:rPr>
              <a:t>PaaS.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The</a:t>
            </a:r>
            <a:r>
              <a:rPr dirty="0" sz="1300" spc="-5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provider</a:t>
            </a:r>
            <a:r>
              <a:rPr dirty="0" sz="1300" spc="-4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patches</a:t>
            </a:r>
            <a:r>
              <a:rPr dirty="0" sz="1300" spc="-5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the</a:t>
            </a:r>
            <a:r>
              <a:rPr dirty="0" sz="1300" spc="-4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underlying</a:t>
            </a:r>
            <a:r>
              <a:rPr dirty="0" sz="1300" spc="-5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25">
                <a:solidFill>
                  <a:srgbClr val="556478"/>
                </a:solidFill>
                <a:latin typeface="Noto Sans"/>
                <a:cs typeface="Noto Sans"/>
              </a:rPr>
              <a:t>OS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and</a:t>
            </a:r>
            <a:r>
              <a:rPr dirty="0" sz="1300" spc="-4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database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engine;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the</a:t>
            </a:r>
            <a:r>
              <a:rPr dirty="0" sz="1300" spc="-4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customer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manages</a:t>
            </a:r>
            <a:r>
              <a:rPr dirty="0" sz="1300" spc="-4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data,</a:t>
            </a:r>
            <a:r>
              <a:rPr dirty="0" sz="1300" spc="-4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schema,</a:t>
            </a:r>
            <a:r>
              <a:rPr dirty="0" sz="1300" spc="-4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access</a:t>
            </a:r>
            <a:r>
              <a:rPr dirty="0" sz="1300" spc="-4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and</a:t>
            </a:r>
            <a:r>
              <a:rPr dirty="0" sz="1300" spc="-4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20">
                <a:solidFill>
                  <a:srgbClr val="556478"/>
                </a:solidFill>
                <a:latin typeface="Noto Sans"/>
                <a:cs typeface="Noto Sans"/>
              </a:rPr>
              <a:t>query </a:t>
            </a: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design.</a:t>
            </a:r>
            <a:endParaRPr sz="1300">
              <a:latin typeface="Noto Sans"/>
              <a:cs typeface="Noto Sans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864544" y="4156384"/>
            <a:ext cx="337185" cy="337185"/>
            <a:chOff x="864544" y="4156384"/>
            <a:chExt cx="337185" cy="337185"/>
          </a:xfrm>
        </p:grpSpPr>
        <p:sp>
          <p:nvSpPr>
            <p:cNvPr id="20" name="object 20"/>
            <p:cNvSpPr/>
            <p:nvPr/>
          </p:nvSpPr>
          <p:spPr>
            <a:xfrm>
              <a:off x="868324" y="4160164"/>
              <a:ext cx="329565" cy="329565"/>
            </a:xfrm>
            <a:custGeom>
              <a:avLst/>
              <a:gdLst/>
              <a:ahLst/>
              <a:cxnLst/>
              <a:rect l="l" t="t" r="r" b="b"/>
              <a:pathLst>
                <a:path w="329565" h="329564">
                  <a:moveTo>
                    <a:pt x="164515" y="0"/>
                  </a:moveTo>
                  <a:lnTo>
                    <a:pt x="121945" y="5578"/>
                  </a:lnTo>
                  <a:lnTo>
                    <a:pt x="82080" y="21958"/>
                  </a:lnTo>
                  <a:lnTo>
                    <a:pt x="48104" y="48104"/>
                  </a:lnTo>
                  <a:lnTo>
                    <a:pt x="21958" y="82080"/>
                  </a:lnTo>
                  <a:lnTo>
                    <a:pt x="5578" y="121945"/>
                  </a:lnTo>
                  <a:lnTo>
                    <a:pt x="0" y="164515"/>
                  </a:lnTo>
                  <a:lnTo>
                    <a:pt x="1405" y="185999"/>
                  </a:lnTo>
                  <a:lnTo>
                    <a:pt x="12451" y="227341"/>
                  </a:lnTo>
                  <a:lnTo>
                    <a:pt x="33934" y="264650"/>
                  </a:lnTo>
                  <a:lnTo>
                    <a:pt x="64231" y="295091"/>
                  </a:lnTo>
                  <a:lnTo>
                    <a:pt x="101540" y="316580"/>
                  </a:lnTo>
                  <a:lnTo>
                    <a:pt x="143027" y="327625"/>
                  </a:lnTo>
                  <a:lnTo>
                    <a:pt x="164515" y="329031"/>
                  </a:lnTo>
                  <a:lnTo>
                    <a:pt x="185999" y="327625"/>
                  </a:lnTo>
                  <a:lnTo>
                    <a:pt x="227341" y="316580"/>
                  </a:lnTo>
                  <a:lnTo>
                    <a:pt x="264650" y="295091"/>
                  </a:lnTo>
                  <a:lnTo>
                    <a:pt x="295091" y="264650"/>
                  </a:lnTo>
                  <a:lnTo>
                    <a:pt x="316580" y="227341"/>
                  </a:lnTo>
                  <a:lnTo>
                    <a:pt x="327625" y="185999"/>
                  </a:lnTo>
                  <a:lnTo>
                    <a:pt x="329031" y="164515"/>
                  </a:lnTo>
                  <a:lnTo>
                    <a:pt x="327625" y="143027"/>
                  </a:lnTo>
                  <a:lnTo>
                    <a:pt x="316580" y="101540"/>
                  </a:lnTo>
                  <a:lnTo>
                    <a:pt x="295091" y="64231"/>
                  </a:lnTo>
                  <a:lnTo>
                    <a:pt x="264650" y="33934"/>
                  </a:lnTo>
                  <a:lnTo>
                    <a:pt x="227341" y="12451"/>
                  </a:lnTo>
                  <a:lnTo>
                    <a:pt x="185999" y="1405"/>
                  </a:lnTo>
                  <a:lnTo>
                    <a:pt x="164515" y="0"/>
                  </a:lnTo>
                  <a:close/>
                </a:path>
              </a:pathLst>
            </a:custGeom>
            <a:solidFill>
              <a:srgbClr val="0077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868324" y="4160164"/>
              <a:ext cx="329565" cy="329565"/>
            </a:xfrm>
            <a:custGeom>
              <a:avLst/>
              <a:gdLst/>
              <a:ahLst/>
              <a:cxnLst/>
              <a:rect l="l" t="t" r="r" b="b"/>
              <a:pathLst>
                <a:path w="329565" h="329564">
                  <a:moveTo>
                    <a:pt x="0" y="164515"/>
                  </a:moveTo>
                  <a:lnTo>
                    <a:pt x="1405" y="143027"/>
                  </a:lnTo>
                  <a:lnTo>
                    <a:pt x="5578" y="121945"/>
                  </a:lnTo>
                  <a:lnTo>
                    <a:pt x="21958" y="82080"/>
                  </a:lnTo>
                  <a:lnTo>
                    <a:pt x="48104" y="48104"/>
                  </a:lnTo>
                  <a:lnTo>
                    <a:pt x="82080" y="21958"/>
                  </a:lnTo>
                  <a:lnTo>
                    <a:pt x="121945" y="5578"/>
                  </a:lnTo>
                  <a:lnTo>
                    <a:pt x="164515" y="0"/>
                  </a:lnTo>
                  <a:lnTo>
                    <a:pt x="207041" y="5578"/>
                  </a:lnTo>
                  <a:lnTo>
                    <a:pt x="246595" y="21958"/>
                  </a:lnTo>
                  <a:lnTo>
                    <a:pt x="280882" y="48104"/>
                  </a:lnTo>
                  <a:lnTo>
                    <a:pt x="307073" y="82080"/>
                  </a:lnTo>
                  <a:lnTo>
                    <a:pt x="323453" y="121945"/>
                  </a:lnTo>
                  <a:lnTo>
                    <a:pt x="329031" y="164515"/>
                  </a:lnTo>
                  <a:lnTo>
                    <a:pt x="327625" y="185999"/>
                  </a:lnTo>
                  <a:lnTo>
                    <a:pt x="323453" y="207041"/>
                  </a:lnTo>
                  <a:lnTo>
                    <a:pt x="307073" y="246595"/>
                  </a:lnTo>
                  <a:lnTo>
                    <a:pt x="280882" y="280882"/>
                  </a:lnTo>
                  <a:lnTo>
                    <a:pt x="246595" y="307073"/>
                  </a:lnTo>
                  <a:lnTo>
                    <a:pt x="207041" y="323453"/>
                  </a:lnTo>
                  <a:lnTo>
                    <a:pt x="164515" y="329031"/>
                  </a:lnTo>
                  <a:lnTo>
                    <a:pt x="121945" y="323453"/>
                  </a:lnTo>
                  <a:lnTo>
                    <a:pt x="82080" y="307073"/>
                  </a:lnTo>
                  <a:lnTo>
                    <a:pt x="48104" y="280882"/>
                  </a:lnTo>
                  <a:lnTo>
                    <a:pt x="21958" y="246595"/>
                  </a:lnTo>
                  <a:lnTo>
                    <a:pt x="5578" y="207041"/>
                  </a:lnTo>
                  <a:lnTo>
                    <a:pt x="1405" y="185999"/>
                  </a:lnTo>
                  <a:lnTo>
                    <a:pt x="0" y="164515"/>
                  </a:lnTo>
                  <a:close/>
                </a:path>
              </a:pathLst>
            </a:custGeom>
            <a:ln w="7559">
              <a:solidFill>
                <a:srgbClr val="0077D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969378" y="4226648"/>
            <a:ext cx="1755775" cy="2082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80"/>
              </a:lnSpc>
              <a:tabLst>
                <a:tab pos="328930" algn="l"/>
              </a:tabLst>
            </a:pPr>
            <a:r>
              <a:rPr dirty="0" sz="1400" spc="-50">
                <a:solidFill>
                  <a:srgbClr val="FFFFFF"/>
                </a:solidFill>
                <a:latin typeface="Arial Black"/>
                <a:cs typeface="Arial Black"/>
              </a:rPr>
              <a:t>1</a:t>
            </a:r>
            <a:r>
              <a:rPr dirty="0" sz="1400">
                <a:solidFill>
                  <a:srgbClr val="FFFFFF"/>
                </a:solidFill>
                <a:latin typeface="Arial Black"/>
                <a:cs typeface="Arial Black"/>
              </a:rPr>
              <a:t>	</a:t>
            </a:r>
            <a:r>
              <a:rPr dirty="0" baseline="2314" sz="1800" spc="-172">
                <a:solidFill>
                  <a:srgbClr val="0F2339"/>
                </a:solidFill>
                <a:latin typeface="Arial Black"/>
                <a:cs typeface="Arial Black"/>
              </a:rPr>
              <a:t>Check</a:t>
            </a:r>
            <a:r>
              <a:rPr dirty="0" baseline="2314" sz="1800" spc="-89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baseline="2314" sz="1800" spc="-135">
                <a:solidFill>
                  <a:srgbClr val="0F2339"/>
                </a:solidFill>
                <a:latin typeface="Arial Black"/>
                <a:cs typeface="Arial Black"/>
              </a:rPr>
              <a:t>service</a:t>
            </a:r>
            <a:r>
              <a:rPr dirty="0" baseline="2314" sz="1800" spc="-82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baseline="2314" sz="1800" spc="-60">
                <a:solidFill>
                  <a:srgbClr val="0F2339"/>
                </a:solidFill>
                <a:latin typeface="Arial Black"/>
                <a:cs typeface="Arial Black"/>
              </a:rPr>
              <a:t>type</a:t>
            </a:r>
            <a:endParaRPr baseline="2314" sz="1800">
              <a:latin typeface="Arial Black"/>
              <a:cs typeface="Arial Black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3607744" y="4156384"/>
            <a:ext cx="337185" cy="337185"/>
            <a:chOff x="3607744" y="4156384"/>
            <a:chExt cx="337185" cy="337185"/>
          </a:xfrm>
        </p:grpSpPr>
        <p:sp>
          <p:nvSpPr>
            <p:cNvPr id="24" name="object 24"/>
            <p:cNvSpPr/>
            <p:nvPr/>
          </p:nvSpPr>
          <p:spPr>
            <a:xfrm>
              <a:off x="3611524" y="4160164"/>
              <a:ext cx="329565" cy="329565"/>
            </a:xfrm>
            <a:custGeom>
              <a:avLst/>
              <a:gdLst/>
              <a:ahLst/>
              <a:cxnLst/>
              <a:rect l="l" t="t" r="r" b="b"/>
              <a:pathLst>
                <a:path w="329564" h="329564">
                  <a:moveTo>
                    <a:pt x="164515" y="0"/>
                  </a:moveTo>
                  <a:lnTo>
                    <a:pt x="121989" y="5578"/>
                  </a:lnTo>
                  <a:lnTo>
                    <a:pt x="82435" y="21958"/>
                  </a:lnTo>
                  <a:lnTo>
                    <a:pt x="48148" y="48104"/>
                  </a:lnTo>
                  <a:lnTo>
                    <a:pt x="21958" y="82080"/>
                  </a:lnTo>
                  <a:lnTo>
                    <a:pt x="5578" y="121945"/>
                  </a:lnTo>
                  <a:lnTo>
                    <a:pt x="0" y="164515"/>
                  </a:lnTo>
                  <a:lnTo>
                    <a:pt x="1405" y="185999"/>
                  </a:lnTo>
                  <a:lnTo>
                    <a:pt x="12451" y="227341"/>
                  </a:lnTo>
                  <a:lnTo>
                    <a:pt x="33940" y="264650"/>
                  </a:lnTo>
                  <a:lnTo>
                    <a:pt x="64381" y="295091"/>
                  </a:lnTo>
                  <a:lnTo>
                    <a:pt x="101690" y="316580"/>
                  </a:lnTo>
                  <a:lnTo>
                    <a:pt x="143032" y="327625"/>
                  </a:lnTo>
                  <a:lnTo>
                    <a:pt x="164515" y="329031"/>
                  </a:lnTo>
                  <a:lnTo>
                    <a:pt x="186004" y="327625"/>
                  </a:lnTo>
                  <a:lnTo>
                    <a:pt x="227491" y="316580"/>
                  </a:lnTo>
                  <a:lnTo>
                    <a:pt x="264800" y="295091"/>
                  </a:lnTo>
                  <a:lnTo>
                    <a:pt x="295096" y="264650"/>
                  </a:lnTo>
                  <a:lnTo>
                    <a:pt x="316580" y="227341"/>
                  </a:lnTo>
                  <a:lnTo>
                    <a:pt x="327625" y="185999"/>
                  </a:lnTo>
                  <a:lnTo>
                    <a:pt x="329031" y="164515"/>
                  </a:lnTo>
                  <a:lnTo>
                    <a:pt x="327625" y="143027"/>
                  </a:lnTo>
                  <a:lnTo>
                    <a:pt x="316580" y="101540"/>
                  </a:lnTo>
                  <a:lnTo>
                    <a:pt x="295096" y="64231"/>
                  </a:lnTo>
                  <a:lnTo>
                    <a:pt x="264800" y="33934"/>
                  </a:lnTo>
                  <a:lnTo>
                    <a:pt x="227491" y="12451"/>
                  </a:lnTo>
                  <a:lnTo>
                    <a:pt x="186004" y="1405"/>
                  </a:lnTo>
                  <a:lnTo>
                    <a:pt x="164515" y="0"/>
                  </a:lnTo>
                  <a:close/>
                </a:path>
              </a:pathLst>
            </a:custGeom>
            <a:solidFill>
              <a:srgbClr val="0077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3611524" y="4160164"/>
              <a:ext cx="329565" cy="329565"/>
            </a:xfrm>
            <a:custGeom>
              <a:avLst/>
              <a:gdLst/>
              <a:ahLst/>
              <a:cxnLst/>
              <a:rect l="l" t="t" r="r" b="b"/>
              <a:pathLst>
                <a:path w="329564" h="329564">
                  <a:moveTo>
                    <a:pt x="0" y="164515"/>
                  </a:moveTo>
                  <a:lnTo>
                    <a:pt x="1405" y="143027"/>
                  </a:lnTo>
                  <a:lnTo>
                    <a:pt x="5578" y="121945"/>
                  </a:lnTo>
                  <a:lnTo>
                    <a:pt x="21958" y="82080"/>
                  </a:lnTo>
                  <a:lnTo>
                    <a:pt x="48148" y="48104"/>
                  </a:lnTo>
                  <a:lnTo>
                    <a:pt x="82435" y="21958"/>
                  </a:lnTo>
                  <a:lnTo>
                    <a:pt x="121989" y="5578"/>
                  </a:lnTo>
                  <a:lnTo>
                    <a:pt x="164515" y="0"/>
                  </a:lnTo>
                  <a:lnTo>
                    <a:pt x="207086" y="5578"/>
                  </a:lnTo>
                  <a:lnTo>
                    <a:pt x="246951" y="21958"/>
                  </a:lnTo>
                  <a:lnTo>
                    <a:pt x="280927" y="48104"/>
                  </a:lnTo>
                  <a:lnTo>
                    <a:pt x="307073" y="82080"/>
                  </a:lnTo>
                  <a:lnTo>
                    <a:pt x="323453" y="121945"/>
                  </a:lnTo>
                  <a:lnTo>
                    <a:pt x="329031" y="164515"/>
                  </a:lnTo>
                  <a:lnTo>
                    <a:pt x="327625" y="185999"/>
                  </a:lnTo>
                  <a:lnTo>
                    <a:pt x="323453" y="207041"/>
                  </a:lnTo>
                  <a:lnTo>
                    <a:pt x="307073" y="246595"/>
                  </a:lnTo>
                  <a:lnTo>
                    <a:pt x="280927" y="280882"/>
                  </a:lnTo>
                  <a:lnTo>
                    <a:pt x="246951" y="307073"/>
                  </a:lnTo>
                  <a:lnTo>
                    <a:pt x="207086" y="323453"/>
                  </a:lnTo>
                  <a:lnTo>
                    <a:pt x="164515" y="329031"/>
                  </a:lnTo>
                  <a:lnTo>
                    <a:pt x="121989" y="323453"/>
                  </a:lnTo>
                  <a:lnTo>
                    <a:pt x="82435" y="307073"/>
                  </a:lnTo>
                  <a:lnTo>
                    <a:pt x="48148" y="280882"/>
                  </a:lnTo>
                  <a:lnTo>
                    <a:pt x="21958" y="246595"/>
                  </a:lnTo>
                  <a:lnTo>
                    <a:pt x="5578" y="207041"/>
                  </a:lnTo>
                  <a:lnTo>
                    <a:pt x="1405" y="185999"/>
                  </a:lnTo>
                  <a:lnTo>
                    <a:pt x="0" y="164515"/>
                  </a:lnTo>
                  <a:close/>
                </a:path>
              </a:pathLst>
            </a:custGeom>
            <a:ln w="7559">
              <a:solidFill>
                <a:srgbClr val="0077D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/>
          <p:nvPr/>
        </p:nvSpPr>
        <p:spPr>
          <a:xfrm>
            <a:off x="3712578" y="4201096"/>
            <a:ext cx="12763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90">
                <a:solidFill>
                  <a:srgbClr val="FFFFFF"/>
                </a:solidFill>
                <a:latin typeface="Arial Black"/>
                <a:cs typeface="Arial Black"/>
              </a:rPr>
              <a:t>2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029024" y="4129100"/>
            <a:ext cx="14503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 spc="-80">
                <a:solidFill>
                  <a:srgbClr val="0F2339"/>
                </a:solidFill>
                <a:latin typeface="Arial Black"/>
                <a:cs typeface="Arial Black"/>
              </a:rPr>
              <a:t>Inspect</a:t>
            </a:r>
            <a:r>
              <a:rPr dirty="0" sz="1200" spc="-3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200" spc="-75">
                <a:solidFill>
                  <a:srgbClr val="0F2339"/>
                </a:solidFill>
                <a:latin typeface="Arial Black"/>
                <a:cs typeface="Arial Black"/>
              </a:rPr>
              <a:t>Overview</a:t>
            </a:r>
            <a:r>
              <a:rPr dirty="0" sz="1200" spc="-3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200" spc="105">
                <a:solidFill>
                  <a:srgbClr val="0F2339"/>
                </a:solidFill>
                <a:latin typeface="Arial Black"/>
                <a:cs typeface="Arial Black"/>
              </a:rPr>
              <a:t>/ </a:t>
            </a:r>
            <a:r>
              <a:rPr dirty="0" sz="1200" spc="-10">
                <a:solidFill>
                  <a:srgbClr val="0F2339"/>
                </a:solidFill>
                <a:latin typeface="Arial Black"/>
                <a:cs typeface="Arial Black"/>
              </a:rPr>
              <a:t>connections</a:t>
            </a:r>
            <a:endParaRPr sz="1200">
              <a:latin typeface="Arial Black"/>
              <a:cs typeface="Arial Black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6350944" y="4156384"/>
            <a:ext cx="337185" cy="337185"/>
            <a:chOff x="6350944" y="4156384"/>
            <a:chExt cx="337185" cy="337185"/>
          </a:xfrm>
        </p:grpSpPr>
        <p:sp>
          <p:nvSpPr>
            <p:cNvPr id="29" name="object 29"/>
            <p:cNvSpPr/>
            <p:nvPr/>
          </p:nvSpPr>
          <p:spPr>
            <a:xfrm>
              <a:off x="6354724" y="4160164"/>
              <a:ext cx="329565" cy="329565"/>
            </a:xfrm>
            <a:custGeom>
              <a:avLst/>
              <a:gdLst/>
              <a:ahLst/>
              <a:cxnLst/>
              <a:rect l="l" t="t" r="r" b="b"/>
              <a:pathLst>
                <a:path w="329565" h="329564">
                  <a:moveTo>
                    <a:pt x="164515" y="0"/>
                  </a:moveTo>
                  <a:lnTo>
                    <a:pt x="121945" y="5578"/>
                  </a:lnTo>
                  <a:lnTo>
                    <a:pt x="82080" y="21958"/>
                  </a:lnTo>
                  <a:lnTo>
                    <a:pt x="48104" y="48104"/>
                  </a:lnTo>
                  <a:lnTo>
                    <a:pt x="21958" y="82080"/>
                  </a:lnTo>
                  <a:lnTo>
                    <a:pt x="5578" y="121945"/>
                  </a:lnTo>
                  <a:lnTo>
                    <a:pt x="0" y="164515"/>
                  </a:lnTo>
                  <a:lnTo>
                    <a:pt x="1405" y="185999"/>
                  </a:lnTo>
                  <a:lnTo>
                    <a:pt x="12451" y="227341"/>
                  </a:lnTo>
                  <a:lnTo>
                    <a:pt x="33934" y="264650"/>
                  </a:lnTo>
                  <a:lnTo>
                    <a:pt x="64231" y="295091"/>
                  </a:lnTo>
                  <a:lnTo>
                    <a:pt x="101540" y="316580"/>
                  </a:lnTo>
                  <a:lnTo>
                    <a:pt x="143027" y="327625"/>
                  </a:lnTo>
                  <a:lnTo>
                    <a:pt x="164515" y="329031"/>
                  </a:lnTo>
                  <a:lnTo>
                    <a:pt x="185999" y="327625"/>
                  </a:lnTo>
                  <a:lnTo>
                    <a:pt x="227341" y="316580"/>
                  </a:lnTo>
                  <a:lnTo>
                    <a:pt x="264650" y="295091"/>
                  </a:lnTo>
                  <a:lnTo>
                    <a:pt x="295091" y="264650"/>
                  </a:lnTo>
                  <a:lnTo>
                    <a:pt x="316580" y="227341"/>
                  </a:lnTo>
                  <a:lnTo>
                    <a:pt x="327625" y="185999"/>
                  </a:lnTo>
                  <a:lnTo>
                    <a:pt x="329031" y="164515"/>
                  </a:lnTo>
                  <a:lnTo>
                    <a:pt x="327625" y="143027"/>
                  </a:lnTo>
                  <a:lnTo>
                    <a:pt x="316580" y="101540"/>
                  </a:lnTo>
                  <a:lnTo>
                    <a:pt x="295091" y="64231"/>
                  </a:lnTo>
                  <a:lnTo>
                    <a:pt x="264650" y="33934"/>
                  </a:lnTo>
                  <a:lnTo>
                    <a:pt x="227341" y="12451"/>
                  </a:lnTo>
                  <a:lnTo>
                    <a:pt x="185999" y="1405"/>
                  </a:lnTo>
                  <a:lnTo>
                    <a:pt x="164515" y="0"/>
                  </a:lnTo>
                  <a:close/>
                </a:path>
              </a:pathLst>
            </a:custGeom>
            <a:solidFill>
              <a:srgbClr val="0077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6354724" y="4160164"/>
              <a:ext cx="329565" cy="329565"/>
            </a:xfrm>
            <a:custGeom>
              <a:avLst/>
              <a:gdLst/>
              <a:ahLst/>
              <a:cxnLst/>
              <a:rect l="l" t="t" r="r" b="b"/>
              <a:pathLst>
                <a:path w="329565" h="329564">
                  <a:moveTo>
                    <a:pt x="0" y="164515"/>
                  </a:moveTo>
                  <a:lnTo>
                    <a:pt x="1405" y="143027"/>
                  </a:lnTo>
                  <a:lnTo>
                    <a:pt x="5578" y="121945"/>
                  </a:lnTo>
                  <a:lnTo>
                    <a:pt x="21958" y="82080"/>
                  </a:lnTo>
                  <a:lnTo>
                    <a:pt x="48104" y="48104"/>
                  </a:lnTo>
                  <a:lnTo>
                    <a:pt x="82080" y="21958"/>
                  </a:lnTo>
                  <a:lnTo>
                    <a:pt x="121945" y="5578"/>
                  </a:lnTo>
                  <a:lnTo>
                    <a:pt x="164515" y="0"/>
                  </a:lnTo>
                  <a:lnTo>
                    <a:pt x="207041" y="5578"/>
                  </a:lnTo>
                  <a:lnTo>
                    <a:pt x="246595" y="21958"/>
                  </a:lnTo>
                  <a:lnTo>
                    <a:pt x="280882" y="48104"/>
                  </a:lnTo>
                  <a:lnTo>
                    <a:pt x="307073" y="82080"/>
                  </a:lnTo>
                  <a:lnTo>
                    <a:pt x="323453" y="121945"/>
                  </a:lnTo>
                  <a:lnTo>
                    <a:pt x="329031" y="164515"/>
                  </a:lnTo>
                  <a:lnTo>
                    <a:pt x="327625" y="185999"/>
                  </a:lnTo>
                  <a:lnTo>
                    <a:pt x="323453" y="207041"/>
                  </a:lnTo>
                  <a:lnTo>
                    <a:pt x="307073" y="246595"/>
                  </a:lnTo>
                  <a:lnTo>
                    <a:pt x="280882" y="280882"/>
                  </a:lnTo>
                  <a:lnTo>
                    <a:pt x="246595" y="307073"/>
                  </a:lnTo>
                  <a:lnTo>
                    <a:pt x="207041" y="323453"/>
                  </a:lnTo>
                  <a:lnTo>
                    <a:pt x="164515" y="329031"/>
                  </a:lnTo>
                  <a:lnTo>
                    <a:pt x="121945" y="323453"/>
                  </a:lnTo>
                  <a:lnTo>
                    <a:pt x="82080" y="307073"/>
                  </a:lnTo>
                  <a:lnTo>
                    <a:pt x="48104" y="280882"/>
                  </a:lnTo>
                  <a:lnTo>
                    <a:pt x="21958" y="246595"/>
                  </a:lnTo>
                  <a:lnTo>
                    <a:pt x="5578" y="207041"/>
                  </a:lnTo>
                  <a:lnTo>
                    <a:pt x="1405" y="185999"/>
                  </a:lnTo>
                  <a:lnTo>
                    <a:pt x="0" y="164515"/>
                  </a:lnTo>
                  <a:close/>
                </a:path>
              </a:pathLst>
            </a:custGeom>
            <a:ln w="7559">
              <a:solidFill>
                <a:srgbClr val="0077D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 txBox="1"/>
          <p:nvPr/>
        </p:nvSpPr>
        <p:spPr>
          <a:xfrm>
            <a:off x="6455778" y="4201096"/>
            <a:ext cx="12763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90">
                <a:solidFill>
                  <a:srgbClr val="FFFFFF"/>
                </a:solidFill>
                <a:latin typeface="Arial Black"/>
                <a:cs typeface="Arial Black"/>
              </a:rPr>
              <a:t>3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772223" y="4129100"/>
            <a:ext cx="120015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 spc="-55">
                <a:solidFill>
                  <a:srgbClr val="0F2339"/>
                </a:solidFill>
                <a:latin typeface="Arial Black"/>
                <a:cs typeface="Arial Black"/>
              </a:rPr>
              <a:t>Confirm</a:t>
            </a:r>
            <a:r>
              <a:rPr dirty="0" sz="1200" spc="-4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200" spc="-60">
                <a:solidFill>
                  <a:srgbClr val="0F2339"/>
                </a:solidFill>
                <a:latin typeface="Arial Black"/>
                <a:cs typeface="Arial Black"/>
              </a:rPr>
              <a:t>official </a:t>
            </a:r>
            <a:r>
              <a:rPr dirty="0" sz="1200" spc="-10">
                <a:solidFill>
                  <a:srgbClr val="0F2339"/>
                </a:solidFill>
                <a:latin typeface="Arial Black"/>
                <a:cs typeface="Arial Black"/>
              </a:rPr>
              <a:t>responsibility</a:t>
            </a:r>
            <a:endParaRPr sz="1200">
              <a:latin typeface="Arial Black"/>
              <a:cs typeface="Arial Black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9094144" y="4156384"/>
            <a:ext cx="337185" cy="337185"/>
            <a:chOff x="9094144" y="4156384"/>
            <a:chExt cx="337185" cy="337185"/>
          </a:xfrm>
        </p:grpSpPr>
        <p:sp>
          <p:nvSpPr>
            <p:cNvPr id="34" name="object 34"/>
            <p:cNvSpPr/>
            <p:nvPr/>
          </p:nvSpPr>
          <p:spPr>
            <a:xfrm>
              <a:off x="9097924" y="4160164"/>
              <a:ext cx="329565" cy="329565"/>
            </a:xfrm>
            <a:custGeom>
              <a:avLst/>
              <a:gdLst/>
              <a:ahLst/>
              <a:cxnLst/>
              <a:rect l="l" t="t" r="r" b="b"/>
              <a:pathLst>
                <a:path w="329565" h="329564">
                  <a:moveTo>
                    <a:pt x="164515" y="0"/>
                  </a:moveTo>
                  <a:lnTo>
                    <a:pt x="121945" y="5578"/>
                  </a:lnTo>
                  <a:lnTo>
                    <a:pt x="82080" y="21958"/>
                  </a:lnTo>
                  <a:lnTo>
                    <a:pt x="48104" y="48104"/>
                  </a:lnTo>
                  <a:lnTo>
                    <a:pt x="21958" y="82080"/>
                  </a:lnTo>
                  <a:lnTo>
                    <a:pt x="5578" y="121945"/>
                  </a:lnTo>
                  <a:lnTo>
                    <a:pt x="0" y="164515"/>
                  </a:lnTo>
                  <a:lnTo>
                    <a:pt x="1405" y="185999"/>
                  </a:lnTo>
                  <a:lnTo>
                    <a:pt x="12451" y="227341"/>
                  </a:lnTo>
                  <a:lnTo>
                    <a:pt x="33934" y="264650"/>
                  </a:lnTo>
                  <a:lnTo>
                    <a:pt x="64231" y="295091"/>
                  </a:lnTo>
                  <a:lnTo>
                    <a:pt x="101540" y="316580"/>
                  </a:lnTo>
                  <a:lnTo>
                    <a:pt x="143027" y="327625"/>
                  </a:lnTo>
                  <a:lnTo>
                    <a:pt x="164515" y="329031"/>
                  </a:lnTo>
                  <a:lnTo>
                    <a:pt x="185999" y="327625"/>
                  </a:lnTo>
                  <a:lnTo>
                    <a:pt x="227341" y="316580"/>
                  </a:lnTo>
                  <a:lnTo>
                    <a:pt x="264650" y="295091"/>
                  </a:lnTo>
                  <a:lnTo>
                    <a:pt x="295091" y="264650"/>
                  </a:lnTo>
                  <a:lnTo>
                    <a:pt x="316580" y="227341"/>
                  </a:lnTo>
                  <a:lnTo>
                    <a:pt x="327625" y="185999"/>
                  </a:lnTo>
                  <a:lnTo>
                    <a:pt x="329031" y="164515"/>
                  </a:lnTo>
                  <a:lnTo>
                    <a:pt x="327625" y="143027"/>
                  </a:lnTo>
                  <a:lnTo>
                    <a:pt x="316580" y="101540"/>
                  </a:lnTo>
                  <a:lnTo>
                    <a:pt x="295091" y="64231"/>
                  </a:lnTo>
                  <a:lnTo>
                    <a:pt x="264650" y="33934"/>
                  </a:lnTo>
                  <a:lnTo>
                    <a:pt x="227341" y="12451"/>
                  </a:lnTo>
                  <a:lnTo>
                    <a:pt x="185999" y="1405"/>
                  </a:lnTo>
                  <a:lnTo>
                    <a:pt x="164515" y="0"/>
                  </a:lnTo>
                  <a:close/>
                </a:path>
              </a:pathLst>
            </a:custGeom>
            <a:solidFill>
              <a:srgbClr val="0077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9097924" y="4160164"/>
              <a:ext cx="329565" cy="329565"/>
            </a:xfrm>
            <a:custGeom>
              <a:avLst/>
              <a:gdLst/>
              <a:ahLst/>
              <a:cxnLst/>
              <a:rect l="l" t="t" r="r" b="b"/>
              <a:pathLst>
                <a:path w="329565" h="329564">
                  <a:moveTo>
                    <a:pt x="0" y="164515"/>
                  </a:moveTo>
                  <a:lnTo>
                    <a:pt x="1405" y="143027"/>
                  </a:lnTo>
                  <a:lnTo>
                    <a:pt x="5578" y="121945"/>
                  </a:lnTo>
                  <a:lnTo>
                    <a:pt x="21958" y="82080"/>
                  </a:lnTo>
                  <a:lnTo>
                    <a:pt x="48104" y="48104"/>
                  </a:lnTo>
                  <a:lnTo>
                    <a:pt x="82080" y="21958"/>
                  </a:lnTo>
                  <a:lnTo>
                    <a:pt x="121945" y="5578"/>
                  </a:lnTo>
                  <a:lnTo>
                    <a:pt x="164515" y="0"/>
                  </a:lnTo>
                  <a:lnTo>
                    <a:pt x="207041" y="5578"/>
                  </a:lnTo>
                  <a:lnTo>
                    <a:pt x="246595" y="21958"/>
                  </a:lnTo>
                  <a:lnTo>
                    <a:pt x="280882" y="48104"/>
                  </a:lnTo>
                  <a:lnTo>
                    <a:pt x="307073" y="82080"/>
                  </a:lnTo>
                  <a:lnTo>
                    <a:pt x="323453" y="121945"/>
                  </a:lnTo>
                  <a:lnTo>
                    <a:pt x="329031" y="164515"/>
                  </a:lnTo>
                  <a:lnTo>
                    <a:pt x="327625" y="185999"/>
                  </a:lnTo>
                  <a:lnTo>
                    <a:pt x="323453" y="207041"/>
                  </a:lnTo>
                  <a:lnTo>
                    <a:pt x="307073" y="246595"/>
                  </a:lnTo>
                  <a:lnTo>
                    <a:pt x="280882" y="280882"/>
                  </a:lnTo>
                  <a:lnTo>
                    <a:pt x="246595" y="307073"/>
                  </a:lnTo>
                  <a:lnTo>
                    <a:pt x="207041" y="323453"/>
                  </a:lnTo>
                  <a:lnTo>
                    <a:pt x="164515" y="329031"/>
                  </a:lnTo>
                  <a:lnTo>
                    <a:pt x="121945" y="323453"/>
                  </a:lnTo>
                  <a:lnTo>
                    <a:pt x="82080" y="307073"/>
                  </a:lnTo>
                  <a:lnTo>
                    <a:pt x="48104" y="280882"/>
                  </a:lnTo>
                  <a:lnTo>
                    <a:pt x="21958" y="246595"/>
                  </a:lnTo>
                  <a:lnTo>
                    <a:pt x="5578" y="207041"/>
                  </a:lnTo>
                  <a:lnTo>
                    <a:pt x="1405" y="185999"/>
                  </a:lnTo>
                  <a:lnTo>
                    <a:pt x="0" y="164515"/>
                  </a:lnTo>
                  <a:close/>
                </a:path>
              </a:pathLst>
            </a:custGeom>
            <a:ln w="7559">
              <a:solidFill>
                <a:srgbClr val="0077D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/>
          <p:cNvSpPr txBox="1"/>
          <p:nvPr/>
        </p:nvSpPr>
        <p:spPr>
          <a:xfrm>
            <a:off x="9198978" y="4201096"/>
            <a:ext cx="12763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90">
                <a:solidFill>
                  <a:srgbClr val="FFFFFF"/>
                </a:solidFill>
                <a:latin typeface="Arial Black"/>
                <a:cs typeface="Arial Black"/>
              </a:rPr>
              <a:t>4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9515423" y="4129100"/>
            <a:ext cx="137350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 spc="-80">
                <a:solidFill>
                  <a:srgbClr val="0F2339"/>
                </a:solidFill>
                <a:latin typeface="Arial Black"/>
                <a:cs typeface="Arial Black"/>
              </a:rPr>
              <a:t>Attach</a:t>
            </a:r>
            <a:r>
              <a:rPr dirty="0" sz="1200" spc="-4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200" spc="-90">
                <a:solidFill>
                  <a:srgbClr val="0F2339"/>
                </a:solidFill>
                <a:latin typeface="Arial Black"/>
                <a:cs typeface="Arial Black"/>
              </a:rPr>
              <a:t>evidence</a:t>
            </a:r>
            <a:r>
              <a:rPr dirty="0" sz="1200" spc="-4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200" spc="-95">
                <a:solidFill>
                  <a:srgbClr val="0F2339"/>
                </a:solidFill>
                <a:latin typeface="Arial Black"/>
                <a:cs typeface="Arial Black"/>
              </a:rPr>
              <a:t>+ </a:t>
            </a:r>
            <a:r>
              <a:rPr dirty="0" sz="1200" spc="-85">
                <a:solidFill>
                  <a:srgbClr val="0F2339"/>
                </a:solidFill>
                <a:latin typeface="Arial Black"/>
                <a:cs typeface="Arial Black"/>
              </a:rPr>
              <a:t>corrected</a:t>
            </a:r>
            <a:r>
              <a:rPr dirty="0" sz="1200" spc="-4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200" spc="-20">
                <a:solidFill>
                  <a:srgbClr val="0F2339"/>
                </a:solidFill>
                <a:latin typeface="Arial Black"/>
                <a:cs typeface="Arial Black"/>
              </a:rPr>
              <a:t>note</a:t>
            </a:r>
            <a:endParaRPr sz="1200">
              <a:latin typeface="Arial Black"/>
              <a:cs typeface="Arial Black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1365836" y="5160596"/>
            <a:ext cx="9429115" cy="559435"/>
            <a:chOff x="1365836" y="5160596"/>
            <a:chExt cx="9429115" cy="559435"/>
          </a:xfrm>
        </p:grpSpPr>
        <p:sp>
          <p:nvSpPr>
            <p:cNvPr id="39" name="object 39"/>
            <p:cNvSpPr/>
            <p:nvPr/>
          </p:nvSpPr>
          <p:spPr>
            <a:xfrm>
              <a:off x="1370876" y="5165636"/>
              <a:ext cx="9418955" cy="549275"/>
            </a:xfrm>
            <a:custGeom>
              <a:avLst/>
              <a:gdLst/>
              <a:ahLst/>
              <a:cxnLst/>
              <a:rect l="l" t="t" r="r" b="b"/>
              <a:pathLst>
                <a:path w="9418955" h="549275">
                  <a:moveTo>
                    <a:pt x="110159" y="0"/>
                  </a:moveTo>
                  <a:lnTo>
                    <a:pt x="68095" y="8358"/>
                  </a:lnTo>
                  <a:lnTo>
                    <a:pt x="32535" y="32224"/>
                  </a:lnTo>
                  <a:lnTo>
                    <a:pt x="8721" y="67882"/>
                  </a:lnTo>
                  <a:lnTo>
                    <a:pt x="368" y="109804"/>
                  </a:lnTo>
                  <a:lnTo>
                    <a:pt x="0" y="439204"/>
                  </a:lnTo>
                  <a:lnTo>
                    <a:pt x="939" y="453634"/>
                  </a:lnTo>
                  <a:lnTo>
                    <a:pt x="3736" y="467691"/>
                  </a:lnTo>
                  <a:lnTo>
                    <a:pt x="8307" y="481125"/>
                  </a:lnTo>
                  <a:lnTo>
                    <a:pt x="8358" y="481275"/>
                  </a:lnTo>
                  <a:lnTo>
                    <a:pt x="14770" y="494284"/>
                  </a:lnTo>
                  <a:lnTo>
                    <a:pt x="22686" y="505997"/>
                  </a:lnTo>
                  <a:lnTo>
                    <a:pt x="22788" y="506147"/>
                  </a:lnTo>
                  <a:lnTo>
                    <a:pt x="55079" y="534238"/>
                  </a:lnTo>
                  <a:lnTo>
                    <a:pt x="95379" y="548068"/>
                  </a:lnTo>
                  <a:lnTo>
                    <a:pt x="109804" y="549008"/>
                  </a:lnTo>
                  <a:lnTo>
                    <a:pt x="9308884" y="549008"/>
                  </a:lnTo>
                  <a:lnTo>
                    <a:pt x="9350955" y="540650"/>
                  </a:lnTo>
                  <a:lnTo>
                    <a:pt x="9386457" y="516828"/>
                  </a:lnTo>
                  <a:lnTo>
                    <a:pt x="9410254" y="481275"/>
                  </a:lnTo>
                  <a:lnTo>
                    <a:pt x="9410330" y="481125"/>
                  </a:lnTo>
                  <a:lnTo>
                    <a:pt x="9414936" y="467691"/>
                  </a:lnTo>
                  <a:lnTo>
                    <a:pt x="9417747" y="453634"/>
                  </a:lnTo>
                  <a:lnTo>
                    <a:pt x="9418688" y="439204"/>
                  </a:lnTo>
                  <a:lnTo>
                    <a:pt x="9418665" y="109804"/>
                  </a:lnTo>
                  <a:lnTo>
                    <a:pt x="9410330" y="68095"/>
                  </a:lnTo>
                  <a:lnTo>
                    <a:pt x="9386463" y="32535"/>
                  </a:lnTo>
                  <a:lnTo>
                    <a:pt x="9350805" y="8721"/>
                  </a:lnTo>
                  <a:lnTo>
                    <a:pt x="9308884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9F3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1370876" y="5165636"/>
              <a:ext cx="9418955" cy="549275"/>
            </a:xfrm>
            <a:custGeom>
              <a:avLst/>
              <a:gdLst/>
              <a:ahLst/>
              <a:cxnLst/>
              <a:rect l="l" t="t" r="r" b="b"/>
              <a:pathLst>
                <a:path w="9418955" h="549275">
                  <a:moveTo>
                    <a:pt x="368" y="109804"/>
                  </a:moveTo>
                  <a:lnTo>
                    <a:pt x="1307" y="95379"/>
                  </a:lnTo>
                  <a:lnTo>
                    <a:pt x="4103" y="81360"/>
                  </a:lnTo>
                  <a:lnTo>
                    <a:pt x="23138" y="43011"/>
                  </a:lnTo>
                  <a:lnTo>
                    <a:pt x="55079" y="14770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9308884" y="368"/>
                  </a:lnTo>
                  <a:lnTo>
                    <a:pt x="9350805" y="8721"/>
                  </a:lnTo>
                  <a:lnTo>
                    <a:pt x="9386463" y="32535"/>
                  </a:lnTo>
                  <a:lnTo>
                    <a:pt x="9410330" y="68095"/>
                  </a:lnTo>
                  <a:lnTo>
                    <a:pt x="9418688" y="110159"/>
                  </a:lnTo>
                  <a:lnTo>
                    <a:pt x="9418688" y="439204"/>
                  </a:lnTo>
                  <a:lnTo>
                    <a:pt x="9417748" y="453628"/>
                  </a:lnTo>
                  <a:lnTo>
                    <a:pt x="9414951" y="467647"/>
                  </a:lnTo>
                  <a:lnTo>
                    <a:pt x="9395905" y="505997"/>
                  </a:lnTo>
                  <a:lnTo>
                    <a:pt x="9363964" y="534238"/>
                  </a:lnTo>
                  <a:lnTo>
                    <a:pt x="9323314" y="548068"/>
                  </a:lnTo>
                  <a:lnTo>
                    <a:pt x="9308884" y="549008"/>
                  </a:lnTo>
                  <a:lnTo>
                    <a:pt x="109804" y="549008"/>
                  </a:lnTo>
                  <a:lnTo>
                    <a:pt x="67882" y="540650"/>
                  </a:lnTo>
                  <a:lnTo>
                    <a:pt x="32224" y="516828"/>
                  </a:lnTo>
                  <a:lnTo>
                    <a:pt x="8358" y="481275"/>
                  </a:lnTo>
                  <a:lnTo>
                    <a:pt x="0" y="439204"/>
                  </a:lnTo>
                  <a:lnTo>
                    <a:pt x="368" y="109804"/>
                  </a:lnTo>
                  <a:close/>
                </a:path>
              </a:pathLst>
            </a:custGeom>
            <a:ln w="10079">
              <a:solidFill>
                <a:srgbClr val="E9F3F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/>
          <p:cNvSpPr txBox="1"/>
          <p:nvPr/>
        </p:nvSpPr>
        <p:spPr>
          <a:xfrm>
            <a:off x="2608097" y="5321782"/>
            <a:ext cx="693356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14">
                <a:solidFill>
                  <a:srgbClr val="0077D3"/>
                </a:solidFill>
                <a:latin typeface="Arial Black"/>
                <a:cs typeface="Arial Black"/>
              </a:rPr>
              <a:t>Evidence</a:t>
            </a:r>
            <a:r>
              <a:rPr dirty="0" sz="1400" spc="-7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400" spc="-135">
                <a:solidFill>
                  <a:srgbClr val="0077D3"/>
                </a:solidFill>
                <a:latin typeface="Arial Black"/>
                <a:cs typeface="Arial Black"/>
              </a:rPr>
              <a:t>=</a:t>
            </a:r>
            <a:r>
              <a:rPr dirty="0" sz="1400" spc="-65">
                <a:solidFill>
                  <a:srgbClr val="0077D3"/>
                </a:solidFill>
                <a:latin typeface="Arial Black"/>
                <a:cs typeface="Arial Black"/>
              </a:rPr>
              <a:t> Portal </a:t>
            </a:r>
            <a:r>
              <a:rPr dirty="0" sz="1400" spc="-95">
                <a:solidFill>
                  <a:srgbClr val="0077D3"/>
                </a:solidFill>
                <a:latin typeface="Arial Black"/>
                <a:cs typeface="Arial Black"/>
              </a:rPr>
              <a:t>screenshot</a:t>
            </a:r>
            <a:r>
              <a:rPr dirty="0" sz="1400" spc="-7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400" spc="-135">
                <a:solidFill>
                  <a:srgbClr val="0077D3"/>
                </a:solidFill>
                <a:latin typeface="Arial Black"/>
                <a:cs typeface="Arial Black"/>
              </a:rPr>
              <a:t>+</a:t>
            </a:r>
            <a:r>
              <a:rPr dirty="0" sz="1400" spc="-65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400" spc="-120">
                <a:solidFill>
                  <a:srgbClr val="0077D3"/>
                </a:solidFill>
                <a:latin typeface="Arial Black"/>
                <a:cs typeface="Arial Black"/>
              </a:rPr>
              <a:t>CLI</a:t>
            </a:r>
            <a:r>
              <a:rPr dirty="0" sz="1400" spc="-65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400" spc="-45">
                <a:solidFill>
                  <a:srgbClr val="0077D3"/>
                </a:solidFill>
                <a:latin typeface="Arial Black"/>
                <a:cs typeface="Arial Black"/>
              </a:rPr>
              <a:t>output</a:t>
            </a:r>
            <a:r>
              <a:rPr dirty="0" sz="1400" spc="-65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400" spc="-135">
                <a:solidFill>
                  <a:srgbClr val="0077D3"/>
                </a:solidFill>
                <a:latin typeface="Arial Black"/>
                <a:cs typeface="Arial Black"/>
              </a:rPr>
              <a:t>+</a:t>
            </a:r>
            <a:r>
              <a:rPr dirty="0" sz="1400" spc="-7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400" spc="-65">
                <a:solidFill>
                  <a:srgbClr val="0077D3"/>
                </a:solidFill>
                <a:latin typeface="Arial Black"/>
                <a:cs typeface="Arial Black"/>
              </a:rPr>
              <a:t>one-paragraph</a:t>
            </a:r>
            <a:r>
              <a:rPr dirty="0" sz="1400" spc="-6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400" spc="-70">
                <a:solidFill>
                  <a:srgbClr val="0077D3"/>
                </a:solidFill>
                <a:latin typeface="Arial Black"/>
                <a:cs typeface="Arial Black"/>
              </a:rPr>
              <a:t>responsibility</a:t>
            </a:r>
            <a:r>
              <a:rPr dirty="0" sz="1400" spc="-65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400" spc="-20">
                <a:solidFill>
                  <a:srgbClr val="0077D3"/>
                </a:solidFill>
                <a:latin typeface="Arial Black"/>
                <a:cs typeface="Arial Black"/>
              </a:rPr>
              <a:t>note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66635" y="6382435"/>
            <a:ext cx="11064240" cy="635"/>
          </a:xfrm>
          <a:custGeom>
            <a:avLst/>
            <a:gdLst/>
            <a:ahLst/>
            <a:cxnLst/>
            <a:rect l="l" t="t" r="r" b="b"/>
            <a:pathLst>
              <a:path w="11064240" h="635">
                <a:moveTo>
                  <a:pt x="0" y="0"/>
                </a:moveTo>
                <a:lnTo>
                  <a:pt x="11064240" y="368"/>
                </a:lnTo>
              </a:path>
            </a:pathLst>
          </a:custGeom>
          <a:ln w="8999">
            <a:solidFill>
              <a:srgbClr val="DBE4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90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 spc="-100"/>
              <a:t>DAY</a:t>
            </a:r>
            <a:r>
              <a:rPr dirty="0" spc="-55"/>
              <a:t> </a:t>
            </a:r>
            <a:r>
              <a:rPr dirty="0"/>
              <a:t>1</a:t>
            </a:r>
            <a:r>
              <a:rPr dirty="0" spc="105"/>
              <a:t> </a:t>
            </a:r>
            <a:r>
              <a:rPr dirty="0"/>
              <a:t>•</a:t>
            </a:r>
            <a:r>
              <a:rPr dirty="0" spc="130"/>
              <a:t> </a:t>
            </a:r>
            <a:r>
              <a:rPr dirty="0" spc="-70"/>
              <a:t>CLOUD</a:t>
            </a:r>
            <a:r>
              <a:rPr dirty="0" spc="-55"/>
              <a:t> </a:t>
            </a:r>
            <a:r>
              <a:rPr dirty="0" spc="-65"/>
              <a:t>FOUNDATIONS</a:t>
            </a:r>
            <a:r>
              <a:rPr dirty="0" spc="-55"/>
              <a:t> </a:t>
            </a:r>
            <a:r>
              <a:rPr dirty="0" spc="-105"/>
              <a:t>&amp;</a:t>
            </a:r>
            <a:r>
              <a:rPr dirty="0" spc="-50"/>
              <a:t> </a:t>
            </a:r>
            <a:r>
              <a:rPr dirty="0" spc="-95"/>
              <a:t>AZURE</a:t>
            </a:r>
            <a:r>
              <a:rPr dirty="0" spc="-55"/>
              <a:t> </a:t>
            </a:r>
            <a:r>
              <a:rPr dirty="0" spc="-50"/>
              <a:t>BASICS</a:t>
            </a:r>
          </a:p>
        </p:txBody>
      </p:sp>
      <p:sp>
        <p:nvSpPr>
          <p:cNvPr id="42" name="object 42"/>
          <p:cNvSpPr txBox="1"/>
          <p:nvPr/>
        </p:nvSpPr>
        <p:spPr>
          <a:xfrm>
            <a:off x="11476697" y="6494402"/>
            <a:ext cx="149225" cy="172720"/>
          </a:xfrm>
          <a:prstGeom prst="rect">
            <a:avLst/>
          </a:prstGeom>
        </p:spPr>
        <p:txBody>
          <a:bodyPr wrap="square" lIns="0" tIns="203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dirty="0" sz="850" spc="-50">
                <a:solidFill>
                  <a:srgbClr val="0077D3"/>
                </a:solidFill>
                <a:latin typeface="Arial Black"/>
                <a:cs typeface="Arial Black"/>
              </a:rPr>
              <a:t>09</a:t>
            </a:r>
            <a:endParaRPr sz="85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3935" y="299427"/>
            <a:ext cx="177609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65">
                <a:solidFill>
                  <a:srgbClr val="0077D3"/>
                </a:solidFill>
                <a:latin typeface="Arial Black"/>
                <a:cs typeface="Arial Black"/>
              </a:rPr>
              <a:t>PA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25">
                <a:solidFill>
                  <a:srgbClr val="0077D3"/>
                </a:solidFill>
                <a:latin typeface="Arial Black"/>
                <a:cs typeface="Arial Black"/>
              </a:rPr>
              <a:t>R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>
                <a:solidFill>
                  <a:srgbClr val="0077D3"/>
                </a:solidFill>
                <a:latin typeface="Arial Black"/>
                <a:cs typeface="Arial Black"/>
              </a:rPr>
              <a:t>T</a:t>
            </a:r>
            <a:r>
              <a:rPr dirty="0" sz="1000" spc="-5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>
                <a:solidFill>
                  <a:srgbClr val="0077D3"/>
                </a:solidFill>
                <a:latin typeface="Arial Black"/>
                <a:cs typeface="Arial Black"/>
              </a:rPr>
              <a:t>2</a:t>
            </a:r>
            <a:r>
              <a:rPr dirty="0" sz="1000" spc="45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>
                <a:solidFill>
                  <a:srgbClr val="0077D3"/>
                </a:solidFill>
                <a:latin typeface="Arial Black"/>
                <a:cs typeface="Arial Black"/>
              </a:rPr>
              <a:t>•</a:t>
            </a:r>
            <a:r>
              <a:rPr dirty="0" sz="1000" spc="12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95">
                <a:solidFill>
                  <a:srgbClr val="0077D3"/>
                </a:solidFill>
                <a:latin typeface="Arial Black"/>
                <a:cs typeface="Arial Black"/>
              </a:rPr>
              <a:t>A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60">
                <a:solidFill>
                  <a:srgbClr val="0077D3"/>
                </a:solidFill>
                <a:latin typeface="Arial Black"/>
                <a:cs typeface="Arial Black"/>
              </a:rPr>
              <a:t>Z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90">
                <a:solidFill>
                  <a:srgbClr val="0077D3"/>
                </a:solidFill>
                <a:latin typeface="Arial Black"/>
                <a:cs typeface="Arial Black"/>
              </a:rPr>
              <a:t>U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25">
                <a:solidFill>
                  <a:srgbClr val="0077D3"/>
                </a:solidFill>
                <a:latin typeface="Arial Black"/>
                <a:cs typeface="Arial Black"/>
              </a:rPr>
              <a:t>R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>
                <a:solidFill>
                  <a:srgbClr val="0077D3"/>
                </a:solidFill>
                <a:latin typeface="Arial Black"/>
                <a:cs typeface="Arial Black"/>
              </a:rPr>
              <a:t>E</a:t>
            </a:r>
            <a:r>
              <a:rPr dirty="0" sz="1000" spc="114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14">
                <a:solidFill>
                  <a:srgbClr val="0077D3"/>
                </a:solidFill>
                <a:latin typeface="Arial Black"/>
                <a:cs typeface="Arial Black"/>
              </a:rPr>
              <a:t>B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95">
                <a:solidFill>
                  <a:srgbClr val="0077D3"/>
                </a:solidFill>
                <a:latin typeface="Arial Black"/>
                <a:cs typeface="Arial Black"/>
              </a:rPr>
              <a:t>A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80">
                <a:solidFill>
                  <a:srgbClr val="0077D3"/>
                </a:solidFill>
                <a:latin typeface="Arial Black"/>
                <a:cs typeface="Arial Black"/>
              </a:rPr>
              <a:t>S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>
                <a:solidFill>
                  <a:srgbClr val="0077D3"/>
                </a:solidFill>
                <a:latin typeface="Arial Black"/>
                <a:cs typeface="Arial Black"/>
              </a:rPr>
              <a:t>I</a:t>
            </a:r>
            <a:r>
              <a:rPr dirty="0" sz="1000" spc="-204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45">
                <a:solidFill>
                  <a:srgbClr val="0077D3"/>
                </a:solidFill>
                <a:latin typeface="Arial Black"/>
                <a:cs typeface="Arial Black"/>
              </a:rPr>
              <a:t>C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10">
                <a:solidFill>
                  <a:srgbClr val="0077D3"/>
                </a:solidFill>
                <a:latin typeface="Arial Black"/>
                <a:cs typeface="Arial Black"/>
              </a:rPr>
              <a:t>S</a:t>
            </a:r>
            <a:endParaRPr sz="1000">
              <a:latin typeface="Arial Black"/>
              <a:cs typeface="Arial Black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54304" y="428977"/>
            <a:ext cx="7444740" cy="814705"/>
          </a:xfrm>
          <a:prstGeom prst="rect"/>
        </p:spPr>
        <p:txBody>
          <a:bodyPr wrap="square" lIns="0" tIns="133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0"/>
              </a:spcBef>
            </a:pPr>
            <a:r>
              <a:rPr dirty="0" sz="2700" spc="-150">
                <a:solidFill>
                  <a:srgbClr val="0F2339"/>
                </a:solidFill>
              </a:rPr>
              <a:t>Azure</a:t>
            </a:r>
            <a:r>
              <a:rPr dirty="0" sz="2700" spc="-180">
                <a:solidFill>
                  <a:srgbClr val="0F2339"/>
                </a:solidFill>
              </a:rPr>
              <a:t> </a:t>
            </a:r>
            <a:r>
              <a:rPr dirty="0" sz="2700" spc="-210">
                <a:solidFill>
                  <a:srgbClr val="0F2339"/>
                </a:solidFill>
              </a:rPr>
              <a:t>is</a:t>
            </a:r>
            <a:r>
              <a:rPr dirty="0" sz="2700" spc="-170">
                <a:solidFill>
                  <a:srgbClr val="0F2339"/>
                </a:solidFill>
              </a:rPr>
              <a:t> </a:t>
            </a:r>
            <a:r>
              <a:rPr dirty="0" sz="2700" spc="-120">
                <a:solidFill>
                  <a:srgbClr val="0F2339"/>
                </a:solidFill>
              </a:rPr>
              <a:t>global</a:t>
            </a:r>
            <a:r>
              <a:rPr dirty="0" sz="2700" spc="-175">
                <a:solidFill>
                  <a:srgbClr val="0F2339"/>
                </a:solidFill>
              </a:rPr>
              <a:t> </a:t>
            </a:r>
            <a:r>
              <a:rPr dirty="0" sz="2700" spc="-105">
                <a:solidFill>
                  <a:srgbClr val="0F2339"/>
                </a:solidFill>
              </a:rPr>
              <a:t>infrastructure</a:t>
            </a:r>
            <a:r>
              <a:rPr dirty="0" sz="2700" spc="-175">
                <a:solidFill>
                  <a:srgbClr val="0F2339"/>
                </a:solidFill>
              </a:rPr>
              <a:t> </a:t>
            </a:r>
            <a:r>
              <a:rPr dirty="0" sz="2700" spc="-135">
                <a:solidFill>
                  <a:srgbClr val="0F2339"/>
                </a:solidFill>
              </a:rPr>
              <a:t>plus</a:t>
            </a:r>
            <a:r>
              <a:rPr dirty="0" sz="2700" spc="-170">
                <a:solidFill>
                  <a:srgbClr val="0F2339"/>
                </a:solidFill>
              </a:rPr>
              <a:t> </a:t>
            </a:r>
            <a:r>
              <a:rPr dirty="0" sz="2700" spc="-60">
                <a:solidFill>
                  <a:srgbClr val="0F2339"/>
                </a:solidFill>
              </a:rPr>
              <a:t>services</a:t>
            </a:r>
            <a:endParaRPr sz="2700"/>
          </a:p>
          <a:p>
            <a:pPr marL="30480">
              <a:lnSpc>
                <a:spcPct val="100000"/>
              </a:lnSpc>
              <a:spcBef>
                <a:spcPts val="459"/>
              </a:spcBef>
            </a:pP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Azure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resources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are</a:t>
            </a:r>
            <a:r>
              <a:rPr dirty="0" sz="13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created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in</a:t>
            </a:r>
            <a:r>
              <a:rPr dirty="0" sz="13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a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scope</a:t>
            </a:r>
            <a:r>
              <a:rPr dirty="0" sz="13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and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deployed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to</a:t>
            </a:r>
            <a:r>
              <a:rPr dirty="0" sz="13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a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location</a:t>
            </a:r>
            <a:r>
              <a:rPr dirty="0" sz="13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where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the</a:t>
            </a:r>
            <a:r>
              <a:rPr dirty="0" sz="13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service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is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available.</a:t>
            </a:r>
            <a:endParaRPr sz="1300">
              <a:latin typeface="Noto Sans"/>
              <a:cs typeface="Noto San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66635" y="1417319"/>
            <a:ext cx="11064240" cy="635"/>
          </a:xfrm>
          <a:custGeom>
            <a:avLst/>
            <a:gdLst/>
            <a:ahLst/>
            <a:cxnLst/>
            <a:rect l="l" t="t" r="r" b="b"/>
            <a:pathLst>
              <a:path w="11064240" h="634">
                <a:moveTo>
                  <a:pt x="0" y="0"/>
                </a:moveTo>
                <a:lnTo>
                  <a:pt x="11064240" y="355"/>
                </a:lnTo>
              </a:path>
            </a:pathLst>
          </a:custGeom>
          <a:ln w="10079">
            <a:solidFill>
              <a:srgbClr val="DBE4ED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6" name="object 6"/>
          <p:cNvGrpSpPr/>
          <p:nvPr/>
        </p:nvGrpSpPr>
        <p:grpSpPr>
          <a:xfrm>
            <a:off x="910620" y="1870740"/>
            <a:ext cx="2065020" cy="2065020"/>
            <a:chOff x="910620" y="1870740"/>
            <a:chExt cx="2065020" cy="2065020"/>
          </a:xfrm>
        </p:grpSpPr>
        <p:sp>
          <p:nvSpPr>
            <p:cNvPr id="7" name="object 7"/>
            <p:cNvSpPr/>
            <p:nvPr/>
          </p:nvSpPr>
          <p:spPr>
            <a:xfrm>
              <a:off x="914399" y="1874519"/>
              <a:ext cx="2057400" cy="2057400"/>
            </a:xfrm>
            <a:custGeom>
              <a:avLst/>
              <a:gdLst/>
              <a:ahLst/>
              <a:cxnLst/>
              <a:rect l="l" t="t" r="r" b="b"/>
              <a:pathLst>
                <a:path w="2057400" h="2057400">
                  <a:moveTo>
                    <a:pt x="1028877" y="0"/>
                  </a:moveTo>
                  <a:lnTo>
                    <a:pt x="979684" y="1174"/>
                  </a:lnTo>
                  <a:lnTo>
                    <a:pt x="930732" y="4682"/>
                  </a:lnTo>
                  <a:lnTo>
                    <a:pt x="882103" y="10501"/>
                  </a:lnTo>
                  <a:lnTo>
                    <a:pt x="833878" y="18609"/>
                  </a:lnTo>
                  <a:lnTo>
                    <a:pt x="786138" y="28981"/>
                  </a:lnTo>
                  <a:lnTo>
                    <a:pt x="738965" y="41597"/>
                  </a:lnTo>
                  <a:lnTo>
                    <a:pt x="692440" y="56432"/>
                  </a:lnTo>
                  <a:lnTo>
                    <a:pt x="646643" y="73464"/>
                  </a:lnTo>
                  <a:lnTo>
                    <a:pt x="601657" y="92671"/>
                  </a:lnTo>
                  <a:lnTo>
                    <a:pt x="557561" y="114029"/>
                  </a:lnTo>
                  <a:lnTo>
                    <a:pt x="514438" y="137515"/>
                  </a:lnTo>
                  <a:lnTo>
                    <a:pt x="472407" y="163131"/>
                  </a:lnTo>
                  <a:lnTo>
                    <a:pt x="431771" y="190650"/>
                  </a:lnTo>
                  <a:lnTo>
                    <a:pt x="392584" y="220012"/>
                  </a:lnTo>
                  <a:lnTo>
                    <a:pt x="354901" y="251159"/>
                  </a:lnTo>
                  <a:lnTo>
                    <a:pt x="318779" y="284029"/>
                  </a:lnTo>
                  <a:lnTo>
                    <a:pt x="284271" y="318562"/>
                  </a:lnTo>
                  <a:lnTo>
                    <a:pt x="251433" y="354699"/>
                  </a:lnTo>
                  <a:lnTo>
                    <a:pt x="220321" y="392380"/>
                  </a:lnTo>
                  <a:lnTo>
                    <a:pt x="190988" y="431544"/>
                  </a:lnTo>
                  <a:lnTo>
                    <a:pt x="163491" y="472131"/>
                  </a:lnTo>
                  <a:lnTo>
                    <a:pt x="137883" y="514083"/>
                  </a:lnTo>
                  <a:lnTo>
                    <a:pt x="114305" y="557286"/>
                  </a:lnTo>
                  <a:lnTo>
                    <a:pt x="92872" y="601431"/>
                  </a:lnTo>
                  <a:lnTo>
                    <a:pt x="73606" y="646441"/>
                  </a:lnTo>
                  <a:lnTo>
                    <a:pt x="56527" y="692241"/>
                  </a:lnTo>
                  <a:lnTo>
                    <a:pt x="41657" y="738754"/>
                  </a:lnTo>
                  <a:lnTo>
                    <a:pt x="29016" y="785903"/>
                  </a:lnTo>
                  <a:lnTo>
                    <a:pt x="18626" y="833612"/>
                  </a:lnTo>
                  <a:lnTo>
                    <a:pt x="10509" y="881805"/>
                  </a:lnTo>
                  <a:lnTo>
                    <a:pt x="4684" y="930405"/>
                  </a:lnTo>
                  <a:lnTo>
                    <a:pt x="1174" y="979336"/>
                  </a:lnTo>
                  <a:lnTo>
                    <a:pt x="0" y="1028522"/>
                  </a:lnTo>
                  <a:lnTo>
                    <a:pt x="1174" y="1077707"/>
                  </a:lnTo>
                  <a:lnTo>
                    <a:pt x="4684" y="1126637"/>
                  </a:lnTo>
                  <a:lnTo>
                    <a:pt x="10509" y="1175237"/>
                  </a:lnTo>
                  <a:lnTo>
                    <a:pt x="18626" y="1223428"/>
                  </a:lnTo>
                  <a:lnTo>
                    <a:pt x="29016" y="1271136"/>
                  </a:lnTo>
                  <a:lnTo>
                    <a:pt x="41657" y="1318284"/>
                  </a:lnTo>
                  <a:lnTo>
                    <a:pt x="56527" y="1364797"/>
                  </a:lnTo>
                  <a:lnTo>
                    <a:pt x="73606" y="1410596"/>
                  </a:lnTo>
                  <a:lnTo>
                    <a:pt x="92872" y="1455608"/>
                  </a:lnTo>
                  <a:lnTo>
                    <a:pt x="114305" y="1499755"/>
                  </a:lnTo>
                  <a:lnTo>
                    <a:pt x="137883" y="1542961"/>
                  </a:lnTo>
                  <a:lnTo>
                    <a:pt x="163491" y="1584909"/>
                  </a:lnTo>
                  <a:lnTo>
                    <a:pt x="190988" y="1625494"/>
                  </a:lnTo>
                  <a:lnTo>
                    <a:pt x="220321" y="1664656"/>
                  </a:lnTo>
                  <a:lnTo>
                    <a:pt x="251433" y="1702335"/>
                  </a:lnTo>
                  <a:lnTo>
                    <a:pt x="284271" y="1738471"/>
                  </a:lnTo>
                  <a:lnTo>
                    <a:pt x="318779" y="1773003"/>
                  </a:lnTo>
                  <a:lnTo>
                    <a:pt x="354901" y="1805873"/>
                  </a:lnTo>
                  <a:lnTo>
                    <a:pt x="392584" y="1837018"/>
                  </a:lnTo>
                  <a:lnTo>
                    <a:pt x="431771" y="1866381"/>
                  </a:lnTo>
                  <a:lnTo>
                    <a:pt x="472407" y="1893900"/>
                  </a:lnTo>
                  <a:lnTo>
                    <a:pt x="514438" y="1919516"/>
                  </a:lnTo>
                  <a:lnTo>
                    <a:pt x="557561" y="1943014"/>
                  </a:lnTo>
                  <a:lnTo>
                    <a:pt x="601657" y="1964397"/>
                  </a:lnTo>
                  <a:lnTo>
                    <a:pt x="646643" y="1983639"/>
                  </a:lnTo>
                  <a:lnTo>
                    <a:pt x="692440" y="2000715"/>
                  </a:lnTo>
                  <a:lnTo>
                    <a:pt x="738965" y="2015598"/>
                  </a:lnTo>
                  <a:lnTo>
                    <a:pt x="786138" y="2028263"/>
                  </a:lnTo>
                  <a:lnTo>
                    <a:pt x="833878" y="2038683"/>
                  </a:lnTo>
                  <a:lnTo>
                    <a:pt x="882103" y="2046832"/>
                  </a:lnTo>
                  <a:lnTo>
                    <a:pt x="930732" y="2052686"/>
                  </a:lnTo>
                  <a:lnTo>
                    <a:pt x="979684" y="2056217"/>
                  </a:lnTo>
                  <a:lnTo>
                    <a:pt x="1028877" y="2057399"/>
                  </a:lnTo>
                  <a:lnTo>
                    <a:pt x="1077983" y="2056217"/>
                  </a:lnTo>
                  <a:lnTo>
                    <a:pt x="1126862" y="2052686"/>
                  </a:lnTo>
                  <a:lnTo>
                    <a:pt x="1175433" y="2046832"/>
                  </a:lnTo>
                  <a:lnTo>
                    <a:pt x="1223613" y="2038683"/>
                  </a:lnTo>
                  <a:lnTo>
                    <a:pt x="1271319" y="2028263"/>
                  </a:lnTo>
                  <a:lnTo>
                    <a:pt x="1318467" y="2015598"/>
                  </a:lnTo>
                  <a:lnTo>
                    <a:pt x="1364976" y="2000715"/>
                  </a:lnTo>
                  <a:lnTo>
                    <a:pt x="1410763" y="1983639"/>
                  </a:lnTo>
                  <a:lnTo>
                    <a:pt x="1455745" y="1964397"/>
                  </a:lnTo>
                  <a:lnTo>
                    <a:pt x="1499838" y="1943014"/>
                  </a:lnTo>
                  <a:lnTo>
                    <a:pt x="1542961" y="1919516"/>
                  </a:lnTo>
                  <a:lnTo>
                    <a:pt x="1584992" y="1893900"/>
                  </a:lnTo>
                  <a:lnTo>
                    <a:pt x="1625628" y="1866381"/>
                  </a:lnTo>
                  <a:lnTo>
                    <a:pt x="1664815" y="1837018"/>
                  </a:lnTo>
                  <a:lnTo>
                    <a:pt x="1702498" y="1805873"/>
                  </a:lnTo>
                  <a:lnTo>
                    <a:pt x="1738620" y="1773003"/>
                  </a:lnTo>
                  <a:lnTo>
                    <a:pt x="1773128" y="1738471"/>
                  </a:lnTo>
                  <a:lnTo>
                    <a:pt x="1805966" y="1702335"/>
                  </a:lnTo>
                  <a:lnTo>
                    <a:pt x="1837078" y="1664656"/>
                  </a:lnTo>
                  <a:lnTo>
                    <a:pt x="1866411" y="1625494"/>
                  </a:lnTo>
                  <a:lnTo>
                    <a:pt x="1893908" y="1584909"/>
                  </a:lnTo>
                  <a:lnTo>
                    <a:pt x="1919516" y="1542961"/>
                  </a:lnTo>
                  <a:lnTo>
                    <a:pt x="1943094" y="1499755"/>
                  </a:lnTo>
                  <a:lnTo>
                    <a:pt x="1964527" y="1455608"/>
                  </a:lnTo>
                  <a:lnTo>
                    <a:pt x="1983793" y="1410596"/>
                  </a:lnTo>
                  <a:lnTo>
                    <a:pt x="2000872" y="1364797"/>
                  </a:lnTo>
                  <a:lnTo>
                    <a:pt x="2015742" y="1318284"/>
                  </a:lnTo>
                  <a:lnTo>
                    <a:pt x="2028383" y="1271136"/>
                  </a:lnTo>
                  <a:lnTo>
                    <a:pt x="2038773" y="1223428"/>
                  </a:lnTo>
                  <a:lnTo>
                    <a:pt x="2046890" y="1175237"/>
                  </a:lnTo>
                  <a:lnTo>
                    <a:pt x="2052715" y="1126637"/>
                  </a:lnTo>
                  <a:lnTo>
                    <a:pt x="2056225" y="1077707"/>
                  </a:lnTo>
                  <a:lnTo>
                    <a:pt x="2057400" y="1028522"/>
                  </a:lnTo>
                  <a:lnTo>
                    <a:pt x="2056225" y="979336"/>
                  </a:lnTo>
                  <a:lnTo>
                    <a:pt x="2052715" y="930405"/>
                  </a:lnTo>
                  <a:lnTo>
                    <a:pt x="2046890" y="881805"/>
                  </a:lnTo>
                  <a:lnTo>
                    <a:pt x="2038773" y="833612"/>
                  </a:lnTo>
                  <a:lnTo>
                    <a:pt x="2028383" y="785903"/>
                  </a:lnTo>
                  <a:lnTo>
                    <a:pt x="2015742" y="738754"/>
                  </a:lnTo>
                  <a:lnTo>
                    <a:pt x="2000872" y="692241"/>
                  </a:lnTo>
                  <a:lnTo>
                    <a:pt x="1983793" y="646441"/>
                  </a:lnTo>
                  <a:lnTo>
                    <a:pt x="1964527" y="601431"/>
                  </a:lnTo>
                  <a:lnTo>
                    <a:pt x="1943094" y="557286"/>
                  </a:lnTo>
                  <a:lnTo>
                    <a:pt x="1919516" y="514083"/>
                  </a:lnTo>
                  <a:lnTo>
                    <a:pt x="1893908" y="472131"/>
                  </a:lnTo>
                  <a:lnTo>
                    <a:pt x="1866411" y="431544"/>
                  </a:lnTo>
                  <a:lnTo>
                    <a:pt x="1837078" y="392380"/>
                  </a:lnTo>
                  <a:lnTo>
                    <a:pt x="1805966" y="354699"/>
                  </a:lnTo>
                  <a:lnTo>
                    <a:pt x="1773128" y="318562"/>
                  </a:lnTo>
                  <a:lnTo>
                    <a:pt x="1738620" y="284029"/>
                  </a:lnTo>
                  <a:lnTo>
                    <a:pt x="1702498" y="251159"/>
                  </a:lnTo>
                  <a:lnTo>
                    <a:pt x="1664815" y="220012"/>
                  </a:lnTo>
                  <a:lnTo>
                    <a:pt x="1625628" y="190650"/>
                  </a:lnTo>
                  <a:lnTo>
                    <a:pt x="1584992" y="163131"/>
                  </a:lnTo>
                  <a:lnTo>
                    <a:pt x="1542961" y="137515"/>
                  </a:lnTo>
                  <a:lnTo>
                    <a:pt x="1499838" y="114029"/>
                  </a:lnTo>
                  <a:lnTo>
                    <a:pt x="1455745" y="92671"/>
                  </a:lnTo>
                  <a:lnTo>
                    <a:pt x="1410763" y="73464"/>
                  </a:lnTo>
                  <a:lnTo>
                    <a:pt x="1364976" y="56432"/>
                  </a:lnTo>
                  <a:lnTo>
                    <a:pt x="1318467" y="41597"/>
                  </a:lnTo>
                  <a:lnTo>
                    <a:pt x="1271319" y="28981"/>
                  </a:lnTo>
                  <a:lnTo>
                    <a:pt x="1223613" y="18609"/>
                  </a:lnTo>
                  <a:lnTo>
                    <a:pt x="1175433" y="10501"/>
                  </a:lnTo>
                  <a:lnTo>
                    <a:pt x="1126862" y="4682"/>
                  </a:lnTo>
                  <a:lnTo>
                    <a:pt x="1077983" y="1174"/>
                  </a:lnTo>
                  <a:lnTo>
                    <a:pt x="1028877" y="0"/>
                  </a:lnTo>
                  <a:close/>
                </a:path>
              </a:pathLst>
            </a:custGeom>
            <a:solidFill>
              <a:srgbClr val="E9F3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914399" y="1874519"/>
              <a:ext cx="2057400" cy="2057400"/>
            </a:xfrm>
            <a:custGeom>
              <a:avLst/>
              <a:gdLst/>
              <a:ahLst/>
              <a:cxnLst/>
              <a:rect l="l" t="t" r="r" b="b"/>
              <a:pathLst>
                <a:path w="2057400" h="2057400">
                  <a:moveTo>
                    <a:pt x="0" y="1028522"/>
                  </a:moveTo>
                  <a:lnTo>
                    <a:pt x="1174" y="979336"/>
                  </a:lnTo>
                  <a:lnTo>
                    <a:pt x="4684" y="930405"/>
                  </a:lnTo>
                  <a:lnTo>
                    <a:pt x="10509" y="881805"/>
                  </a:lnTo>
                  <a:lnTo>
                    <a:pt x="18626" y="833612"/>
                  </a:lnTo>
                  <a:lnTo>
                    <a:pt x="29016" y="785903"/>
                  </a:lnTo>
                  <a:lnTo>
                    <a:pt x="41657" y="738754"/>
                  </a:lnTo>
                  <a:lnTo>
                    <a:pt x="56527" y="692241"/>
                  </a:lnTo>
                  <a:lnTo>
                    <a:pt x="73606" y="646441"/>
                  </a:lnTo>
                  <a:lnTo>
                    <a:pt x="92872" y="601431"/>
                  </a:lnTo>
                  <a:lnTo>
                    <a:pt x="114305" y="557286"/>
                  </a:lnTo>
                  <a:lnTo>
                    <a:pt x="137883" y="514083"/>
                  </a:lnTo>
                  <a:lnTo>
                    <a:pt x="163491" y="472131"/>
                  </a:lnTo>
                  <a:lnTo>
                    <a:pt x="190988" y="431544"/>
                  </a:lnTo>
                  <a:lnTo>
                    <a:pt x="220321" y="392380"/>
                  </a:lnTo>
                  <a:lnTo>
                    <a:pt x="251433" y="354699"/>
                  </a:lnTo>
                  <a:lnTo>
                    <a:pt x="284271" y="318562"/>
                  </a:lnTo>
                  <a:lnTo>
                    <a:pt x="318779" y="284029"/>
                  </a:lnTo>
                  <a:lnTo>
                    <a:pt x="354901" y="251159"/>
                  </a:lnTo>
                  <a:lnTo>
                    <a:pt x="392584" y="220012"/>
                  </a:lnTo>
                  <a:lnTo>
                    <a:pt x="431771" y="190650"/>
                  </a:lnTo>
                  <a:lnTo>
                    <a:pt x="472407" y="163131"/>
                  </a:lnTo>
                  <a:lnTo>
                    <a:pt x="514438" y="137515"/>
                  </a:lnTo>
                  <a:lnTo>
                    <a:pt x="557561" y="114029"/>
                  </a:lnTo>
                  <a:lnTo>
                    <a:pt x="601657" y="92671"/>
                  </a:lnTo>
                  <a:lnTo>
                    <a:pt x="646643" y="73464"/>
                  </a:lnTo>
                  <a:lnTo>
                    <a:pt x="692440" y="56432"/>
                  </a:lnTo>
                  <a:lnTo>
                    <a:pt x="738965" y="41597"/>
                  </a:lnTo>
                  <a:lnTo>
                    <a:pt x="786138" y="28981"/>
                  </a:lnTo>
                  <a:lnTo>
                    <a:pt x="833878" y="18609"/>
                  </a:lnTo>
                  <a:lnTo>
                    <a:pt x="882103" y="10501"/>
                  </a:lnTo>
                  <a:lnTo>
                    <a:pt x="930732" y="4682"/>
                  </a:lnTo>
                  <a:lnTo>
                    <a:pt x="979684" y="1174"/>
                  </a:lnTo>
                  <a:lnTo>
                    <a:pt x="1028877" y="0"/>
                  </a:lnTo>
                  <a:lnTo>
                    <a:pt x="1077983" y="1174"/>
                  </a:lnTo>
                  <a:lnTo>
                    <a:pt x="1126862" y="4682"/>
                  </a:lnTo>
                  <a:lnTo>
                    <a:pt x="1175433" y="10501"/>
                  </a:lnTo>
                  <a:lnTo>
                    <a:pt x="1223613" y="18609"/>
                  </a:lnTo>
                  <a:lnTo>
                    <a:pt x="1271319" y="28981"/>
                  </a:lnTo>
                  <a:lnTo>
                    <a:pt x="1318467" y="41597"/>
                  </a:lnTo>
                  <a:lnTo>
                    <a:pt x="1364976" y="56432"/>
                  </a:lnTo>
                  <a:lnTo>
                    <a:pt x="1410763" y="73464"/>
                  </a:lnTo>
                  <a:lnTo>
                    <a:pt x="1455745" y="92671"/>
                  </a:lnTo>
                  <a:lnTo>
                    <a:pt x="1499838" y="114029"/>
                  </a:lnTo>
                  <a:lnTo>
                    <a:pt x="1542961" y="137515"/>
                  </a:lnTo>
                  <a:lnTo>
                    <a:pt x="1584992" y="163131"/>
                  </a:lnTo>
                  <a:lnTo>
                    <a:pt x="1625628" y="190650"/>
                  </a:lnTo>
                  <a:lnTo>
                    <a:pt x="1664815" y="220012"/>
                  </a:lnTo>
                  <a:lnTo>
                    <a:pt x="1702498" y="251159"/>
                  </a:lnTo>
                  <a:lnTo>
                    <a:pt x="1738620" y="284029"/>
                  </a:lnTo>
                  <a:lnTo>
                    <a:pt x="1773128" y="318562"/>
                  </a:lnTo>
                  <a:lnTo>
                    <a:pt x="1805966" y="354699"/>
                  </a:lnTo>
                  <a:lnTo>
                    <a:pt x="1837078" y="392380"/>
                  </a:lnTo>
                  <a:lnTo>
                    <a:pt x="1866411" y="431544"/>
                  </a:lnTo>
                  <a:lnTo>
                    <a:pt x="1893908" y="472131"/>
                  </a:lnTo>
                  <a:lnTo>
                    <a:pt x="1919516" y="514083"/>
                  </a:lnTo>
                  <a:lnTo>
                    <a:pt x="1943094" y="557286"/>
                  </a:lnTo>
                  <a:lnTo>
                    <a:pt x="1964527" y="601431"/>
                  </a:lnTo>
                  <a:lnTo>
                    <a:pt x="1983793" y="646441"/>
                  </a:lnTo>
                  <a:lnTo>
                    <a:pt x="2000872" y="692241"/>
                  </a:lnTo>
                  <a:lnTo>
                    <a:pt x="2015742" y="738754"/>
                  </a:lnTo>
                  <a:lnTo>
                    <a:pt x="2028383" y="785903"/>
                  </a:lnTo>
                  <a:lnTo>
                    <a:pt x="2038773" y="833612"/>
                  </a:lnTo>
                  <a:lnTo>
                    <a:pt x="2046890" y="881805"/>
                  </a:lnTo>
                  <a:lnTo>
                    <a:pt x="2052715" y="930405"/>
                  </a:lnTo>
                  <a:lnTo>
                    <a:pt x="2056225" y="979336"/>
                  </a:lnTo>
                  <a:lnTo>
                    <a:pt x="2057400" y="1028522"/>
                  </a:lnTo>
                  <a:lnTo>
                    <a:pt x="2056225" y="1077707"/>
                  </a:lnTo>
                  <a:lnTo>
                    <a:pt x="2052715" y="1126637"/>
                  </a:lnTo>
                  <a:lnTo>
                    <a:pt x="2046890" y="1175237"/>
                  </a:lnTo>
                  <a:lnTo>
                    <a:pt x="2038773" y="1223428"/>
                  </a:lnTo>
                  <a:lnTo>
                    <a:pt x="2028383" y="1271136"/>
                  </a:lnTo>
                  <a:lnTo>
                    <a:pt x="2015742" y="1318284"/>
                  </a:lnTo>
                  <a:lnTo>
                    <a:pt x="2000872" y="1364797"/>
                  </a:lnTo>
                  <a:lnTo>
                    <a:pt x="1983793" y="1410596"/>
                  </a:lnTo>
                  <a:lnTo>
                    <a:pt x="1964527" y="1455608"/>
                  </a:lnTo>
                  <a:lnTo>
                    <a:pt x="1943094" y="1499755"/>
                  </a:lnTo>
                  <a:lnTo>
                    <a:pt x="1919516" y="1542961"/>
                  </a:lnTo>
                  <a:lnTo>
                    <a:pt x="1893908" y="1584909"/>
                  </a:lnTo>
                  <a:lnTo>
                    <a:pt x="1866411" y="1625494"/>
                  </a:lnTo>
                  <a:lnTo>
                    <a:pt x="1837078" y="1664656"/>
                  </a:lnTo>
                  <a:lnTo>
                    <a:pt x="1805966" y="1702335"/>
                  </a:lnTo>
                  <a:lnTo>
                    <a:pt x="1773128" y="1738471"/>
                  </a:lnTo>
                  <a:lnTo>
                    <a:pt x="1738620" y="1773003"/>
                  </a:lnTo>
                  <a:lnTo>
                    <a:pt x="1702498" y="1805873"/>
                  </a:lnTo>
                  <a:lnTo>
                    <a:pt x="1664815" y="1837018"/>
                  </a:lnTo>
                  <a:lnTo>
                    <a:pt x="1625628" y="1866381"/>
                  </a:lnTo>
                  <a:lnTo>
                    <a:pt x="1584992" y="1893900"/>
                  </a:lnTo>
                  <a:lnTo>
                    <a:pt x="1542961" y="1919516"/>
                  </a:lnTo>
                  <a:lnTo>
                    <a:pt x="1499838" y="1943014"/>
                  </a:lnTo>
                  <a:lnTo>
                    <a:pt x="1455745" y="1964397"/>
                  </a:lnTo>
                  <a:lnTo>
                    <a:pt x="1410763" y="1983639"/>
                  </a:lnTo>
                  <a:lnTo>
                    <a:pt x="1364976" y="2000715"/>
                  </a:lnTo>
                  <a:lnTo>
                    <a:pt x="1318467" y="2015598"/>
                  </a:lnTo>
                  <a:lnTo>
                    <a:pt x="1271319" y="2028263"/>
                  </a:lnTo>
                  <a:lnTo>
                    <a:pt x="1223613" y="2038683"/>
                  </a:lnTo>
                  <a:lnTo>
                    <a:pt x="1175433" y="2046832"/>
                  </a:lnTo>
                  <a:lnTo>
                    <a:pt x="1126862" y="2052686"/>
                  </a:lnTo>
                  <a:lnTo>
                    <a:pt x="1077983" y="2056217"/>
                  </a:lnTo>
                  <a:lnTo>
                    <a:pt x="1028877" y="2057399"/>
                  </a:lnTo>
                  <a:lnTo>
                    <a:pt x="979684" y="2056217"/>
                  </a:lnTo>
                  <a:lnTo>
                    <a:pt x="930732" y="2052686"/>
                  </a:lnTo>
                  <a:lnTo>
                    <a:pt x="882103" y="2046832"/>
                  </a:lnTo>
                  <a:lnTo>
                    <a:pt x="833878" y="2038683"/>
                  </a:lnTo>
                  <a:lnTo>
                    <a:pt x="786138" y="2028263"/>
                  </a:lnTo>
                  <a:lnTo>
                    <a:pt x="738965" y="2015598"/>
                  </a:lnTo>
                  <a:lnTo>
                    <a:pt x="692440" y="2000715"/>
                  </a:lnTo>
                  <a:lnTo>
                    <a:pt x="646643" y="1983639"/>
                  </a:lnTo>
                  <a:lnTo>
                    <a:pt x="601657" y="1964397"/>
                  </a:lnTo>
                  <a:lnTo>
                    <a:pt x="557561" y="1943014"/>
                  </a:lnTo>
                  <a:lnTo>
                    <a:pt x="514438" y="1919516"/>
                  </a:lnTo>
                  <a:lnTo>
                    <a:pt x="472407" y="1893900"/>
                  </a:lnTo>
                  <a:lnTo>
                    <a:pt x="431771" y="1866381"/>
                  </a:lnTo>
                  <a:lnTo>
                    <a:pt x="392584" y="1837018"/>
                  </a:lnTo>
                  <a:lnTo>
                    <a:pt x="354901" y="1805873"/>
                  </a:lnTo>
                  <a:lnTo>
                    <a:pt x="318779" y="1773003"/>
                  </a:lnTo>
                  <a:lnTo>
                    <a:pt x="284271" y="1738471"/>
                  </a:lnTo>
                  <a:lnTo>
                    <a:pt x="251433" y="1702335"/>
                  </a:lnTo>
                  <a:lnTo>
                    <a:pt x="220321" y="1664656"/>
                  </a:lnTo>
                  <a:lnTo>
                    <a:pt x="190988" y="1625494"/>
                  </a:lnTo>
                  <a:lnTo>
                    <a:pt x="163491" y="1584909"/>
                  </a:lnTo>
                  <a:lnTo>
                    <a:pt x="137883" y="1542961"/>
                  </a:lnTo>
                  <a:lnTo>
                    <a:pt x="114305" y="1499755"/>
                  </a:lnTo>
                  <a:lnTo>
                    <a:pt x="92872" y="1455608"/>
                  </a:lnTo>
                  <a:lnTo>
                    <a:pt x="73606" y="1410596"/>
                  </a:lnTo>
                  <a:lnTo>
                    <a:pt x="56527" y="1364797"/>
                  </a:lnTo>
                  <a:lnTo>
                    <a:pt x="41657" y="1318284"/>
                  </a:lnTo>
                  <a:lnTo>
                    <a:pt x="29016" y="1271136"/>
                  </a:lnTo>
                  <a:lnTo>
                    <a:pt x="18626" y="1223428"/>
                  </a:lnTo>
                  <a:lnTo>
                    <a:pt x="10509" y="1175237"/>
                  </a:lnTo>
                  <a:lnTo>
                    <a:pt x="4684" y="1126637"/>
                  </a:lnTo>
                  <a:lnTo>
                    <a:pt x="1174" y="1077707"/>
                  </a:lnTo>
                  <a:lnTo>
                    <a:pt x="0" y="1028522"/>
                  </a:lnTo>
                  <a:close/>
                </a:path>
              </a:pathLst>
            </a:custGeom>
            <a:ln w="7559">
              <a:solidFill>
                <a:srgbClr val="0077D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325880" y="2285644"/>
              <a:ext cx="1234440" cy="1234440"/>
            </a:xfrm>
            <a:custGeom>
              <a:avLst/>
              <a:gdLst/>
              <a:ahLst/>
              <a:cxnLst/>
              <a:rect l="l" t="t" r="r" b="b"/>
              <a:pathLst>
                <a:path w="1234439" h="1234439">
                  <a:moveTo>
                    <a:pt x="617397" y="0"/>
                  </a:moveTo>
                  <a:lnTo>
                    <a:pt x="563418" y="2382"/>
                  </a:lnTo>
                  <a:lnTo>
                    <a:pt x="510039" y="9464"/>
                  </a:lnTo>
                  <a:lnTo>
                    <a:pt x="457558" y="21145"/>
                  </a:lnTo>
                  <a:lnTo>
                    <a:pt x="406278" y="37326"/>
                  </a:lnTo>
                  <a:lnTo>
                    <a:pt x="356499" y="57908"/>
                  </a:lnTo>
                  <a:lnTo>
                    <a:pt x="308521" y="82791"/>
                  </a:lnTo>
                  <a:lnTo>
                    <a:pt x="263051" y="111890"/>
                  </a:lnTo>
                  <a:lnTo>
                    <a:pt x="220402" y="144688"/>
                  </a:lnTo>
                  <a:lnTo>
                    <a:pt x="180813" y="180984"/>
                  </a:lnTo>
                  <a:lnTo>
                    <a:pt x="144523" y="220580"/>
                  </a:lnTo>
                  <a:lnTo>
                    <a:pt x="111773" y="263277"/>
                  </a:lnTo>
                  <a:lnTo>
                    <a:pt x="82803" y="308876"/>
                  </a:lnTo>
                  <a:lnTo>
                    <a:pt x="57792" y="356705"/>
                  </a:lnTo>
                  <a:lnTo>
                    <a:pt x="37172" y="406384"/>
                  </a:lnTo>
                  <a:lnTo>
                    <a:pt x="21013" y="457603"/>
                  </a:lnTo>
                  <a:lnTo>
                    <a:pt x="9385" y="510052"/>
                  </a:lnTo>
                  <a:lnTo>
                    <a:pt x="2358" y="563420"/>
                  </a:lnTo>
                  <a:lnTo>
                    <a:pt x="0" y="617397"/>
                  </a:lnTo>
                  <a:lnTo>
                    <a:pt x="2358" y="671375"/>
                  </a:lnTo>
                  <a:lnTo>
                    <a:pt x="9385" y="724743"/>
                  </a:lnTo>
                  <a:lnTo>
                    <a:pt x="21013" y="777192"/>
                  </a:lnTo>
                  <a:lnTo>
                    <a:pt x="37172" y="828411"/>
                  </a:lnTo>
                  <a:lnTo>
                    <a:pt x="57792" y="878090"/>
                  </a:lnTo>
                  <a:lnTo>
                    <a:pt x="82803" y="925918"/>
                  </a:lnTo>
                  <a:lnTo>
                    <a:pt x="111773" y="971513"/>
                  </a:lnTo>
                  <a:lnTo>
                    <a:pt x="144523" y="1014208"/>
                  </a:lnTo>
                  <a:lnTo>
                    <a:pt x="180813" y="1053804"/>
                  </a:lnTo>
                  <a:lnTo>
                    <a:pt x="220402" y="1090100"/>
                  </a:lnTo>
                  <a:lnTo>
                    <a:pt x="263051" y="1122896"/>
                  </a:lnTo>
                  <a:lnTo>
                    <a:pt x="308521" y="1151991"/>
                  </a:lnTo>
                  <a:lnTo>
                    <a:pt x="356499" y="1176849"/>
                  </a:lnTo>
                  <a:lnTo>
                    <a:pt x="406278" y="1197367"/>
                  </a:lnTo>
                  <a:lnTo>
                    <a:pt x="457558" y="1213465"/>
                  </a:lnTo>
                  <a:lnTo>
                    <a:pt x="510039" y="1225064"/>
                  </a:lnTo>
                  <a:lnTo>
                    <a:pt x="563418" y="1232082"/>
                  </a:lnTo>
                  <a:lnTo>
                    <a:pt x="617397" y="1234440"/>
                  </a:lnTo>
                  <a:lnTo>
                    <a:pt x="671226" y="1232082"/>
                  </a:lnTo>
                  <a:lnTo>
                    <a:pt x="724506" y="1225064"/>
                  </a:lnTo>
                  <a:lnTo>
                    <a:pt x="776925" y="1213465"/>
                  </a:lnTo>
                  <a:lnTo>
                    <a:pt x="828174" y="1197367"/>
                  </a:lnTo>
                  <a:lnTo>
                    <a:pt x="877942" y="1176849"/>
                  </a:lnTo>
                  <a:lnTo>
                    <a:pt x="925918" y="1151991"/>
                  </a:lnTo>
                  <a:lnTo>
                    <a:pt x="971388" y="1122896"/>
                  </a:lnTo>
                  <a:lnTo>
                    <a:pt x="1014037" y="1090100"/>
                  </a:lnTo>
                  <a:lnTo>
                    <a:pt x="1053626" y="1053804"/>
                  </a:lnTo>
                  <a:lnTo>
                    <a:pt x="1089916" y="1014208"/>
                  </a:lnTo>
                  <a:lnTo>
                    <a:pt x="1122666" y="971513"/>
                  </a:lnTo>
                  <a:lnTo>
                    <a:pt x="1151636" y="925918"/>
                  </a:lnTo>
                  <a:lnTo>
                    <a:pt x="1176647" y="878090"/>
                  </a:lnTo>
                  <a:lnTo>
                    <a:pt x="1197267" y="828411"/>
                  </a:lnTo>
                  <a:lnTo>
                    <a:pt x="1213426" y="777192"/>
                  </a:lnTo>
                  <a:lnTo>
                    <a:pt x="1225054" y="724743"/>
                  </a:lnTo>
                  <a:lnTo>
                    <a:pt x="1232081" y="671375"/>
                  </a:lnTo>
                  <a:lnTo>
                    <a:pt x="1234439" y="617397"/>
                  </a:lnTo>
                  <a:lnTo>
                    <a:pt x="1232081" y="563420"/>
                  </a:lnTo>
                  <a:lnTo>
                    <a:pt x="1225054" y="510052"/>
                  </a:lnTo>
                  <a:lnTo>
                    <a:pt x="1213426" y="457603"/>
                  </a:lnTo>
                  <a:lnTo>
                    <a:pt x="1197267" y="406384"/>
                  </a:lnTo>
                  <a:lnTo>
                    <a:pt x="1176647" y="356705"/>
                  </a:lnTo>
                  <a:lnTo>
                    <a:pt x="1151636" y="308876"/>
                  </a:lnTo>
                  <a:lnTo>
                    <a:pt x="1122666" y="263277"/>
                  </a:lnTo>
                  <a:lnTo>
                    <a:pt x="1089916" y="220580"/>
                  </a:lnTo>
                  <a:lnTo>
                    <a:pt x="1053626" y="180984"/>
                  </a:lnTo>
                  <a:lnTo>
                    <a:pt x="1014037" y="144688"/>
                  </a:lnTo>
                  <a:lnTo>
                    <a:pt x="971388" y="111890"/>
                  </a:lnTo>
                  <a:lnTo>
                    <a:pt x="925918" y="82791"/>
                  </a:lnTo>
                  <a:lnTo>
                    <a:pt x="877942" y="57908"/>
                  </a:lnTo>
                  <a:lnTo>
                    <a:pt x="828174" y="37326"/>
                  </a:lnTo>
                  <a:lnTo>
                    <a:pt x="776925" y="21145"/>
                  </a:lnTo>
                  <a:lnTo>
                    <a:pt x="724506" y="9464"/>
                  </a:lnTo>
                  <a:lnTo>
                    <a:pt x="671226" y="2382"/>
                  </a:lnTo>
                  <a:lnTo>
                    <a:pt x="617397" y="0"/>
                  </a:lnTo>
                  <a:close/>
                </a:path>
              </a:pathLst>
            </a:custGeom>
            <a:solidFill>
              <a:srgbClr val="E6F7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325880" y="2285644"/>
              <a:ext cx="1234440" cy="1234440"/>
            </a:xfrm>
            <a:custGeom>
              <a:avLst/>
              <a:gdLst/>
              <a:ahLst/>
              <a:cxnLst/>
              <a:rect l="l" t="t" r="r" b="b"/>
              <a:pathLst>
                <a:path w="1234439" h="1234439">
                  <a:moveTo>
                    <a:pt x="0" y="617397"/>
                  </a:moveTo>
                  <a:lnTo>
                    <a:pt x="2358" y="563420"/>
                  </a:lnTo>
                  <a:lnTo>
                    <a:pt x="9385" y="510052"/>
                  </a:lnTo>
                  <a:lnTo>
                    <a:pt x="21013" y="457603"/>
                  </a:lnTo>
                  <a:lnTo>
                    <a:pt x="37172" y="406384"/>
                  </a:lnTo>
                  <a:lnTo>
                    <a:pt x="57792" y="356705"/>
                  </a:lnTo>
                  <a:lnTo>
                    <a:pt x="82803" y="308876"/>
                  </a:lnTo>
                  <a:lnTo>
                    <a:pt x="111773" y="263277"/>
                  </a:lnTo>
                  <a:lnTo>
                    <a:pt x="144523" y="220580"/>
                  </a:lnTo>
                  <a:lnTo>
                    <a:pt x="180813" y="180984"/>
                  </a:lnTo>
                  <a:lnTo>
                    <a:pt x="220402" y="144688"/>
                  </a:lnTo>
                  <a:lnTo>
                    <a:pt x="263051" y="111890"/>
                  </a:lnTo>
                  <a:lnTo>
                    <a:pt x="308521" y="82791"/>
                  </a:lnTo>
                  <a:lnTo>
                    <a:pt x="356499" y="57908"/>
                  </a:lnTo>
                  <a:lnTo>
                    <a:pt x="406278" y="37326"/>
                  </a:lnTo>
                  <a:lnTo>
                    <a:pt x="457558" y="21145"/>
                  </a:lnTo>
                  <a:lnTo>
                    <a:pt x="510039" y="9464"/>
                  </a:lnTo>
                  <a:lnTo>
                    <a:pt x="563418" y="2382"/>
                  </a:lnTo>
                  <a:lnTo>
                    <a:pt x="617397" y="0"/>
                  </a:lnTo>
                  <a:lnTo>
                    <a:pt x="671226" y="2382"/>
                  </a:lnTo>
                  <a:lnTo>
                    <a:pt x="724506" y="9464"/>
                  </a:lnTo>
                  <a:lnTo>
                    <a:pt x="776925" y="21145"/>
                  </a:lnTo>
                  <a:lnTo>
                    <a:pt x="828174" y="37326"/>
                  </a:lnTo>
                  <a:lnTo>
                    <a:pt x="877942" y="57908"/>
                  </a:lnTo>
                  <a:lnTo>
                    <a:pt x="925918" y="82791"/>
                  </a:lnTo>
                  <a:lnTo>
                    <a:pt x="971388" y="111890"/>
                  </a:lnTo>
                  <a:lnTo>
                    <a:pt x="1014037" y="144688"/>
                  </a:lnTo>
                  <a:lnTo>
                    <a:pt x="1053626" y="180984"/>
                  </a:lnTo>
                  <a:lnTo>
                    <a:pt x="1089916" y="220580"/>
                  </a:lnTo>
                  <a:lnTo>
                    <a:pt x="1122666" y="263277"/>
                  </a:lnTo>
                  <a:lnTo>
                    <a:pt x="1151636" y="308876"/>
                  </a:lnTo>
                  <a:lnTo>
                    <a:pt x="1176647" y="356705"/>
                  </a:lnTo>
                  <a:lnTo>
                    <a:pt x="1197267" y="406384"/>
                  </a:lnTo>
                  <a:lnTo>
                    <a:pt x="1213426" y="457603"/>
                  </a:lnTo>
                  <a:lnTo>
                    <a:pt x="1225054" y="510052"/>
                  </a:lnTo>
                  <a:lnTo>
                    <a:pt x="1232081" y="563420"/>
                  </a:lnTo>
                  <a:lnTo>
                    <a:pt x="1234439" y="617397"/>
                  </a:lnTo>
                  <a:lnTo>
                    <a:pt x="1232081" y="671375"/>
                  </a:lnTo>
                  <a:lnTo>
                    <a:pt x="1225054" y="724743"/>
                  </a:lnTo>
                  <a:lnTo>
                    <a:pt x="1213426" y="777192"/>
                  </a:lnTo>
                  <a:lnTo>
                    <a:pt x="1197267" y="828411"/>
                  </a:lnTo>
                  <a:lnTo>
                    <a:pt x="1176647" y="878090"/>
                  </a:lnTo>
                  <a:lnTo>
                    <a:pt x="1151636" y="925918"/>
                  </a:lnTo>
                  <a:lnTo>
                    <a:pt x="1122666" y="971513"/>
                  </a:lnTo>
                  <a:lnTo>
                    <a:pt x="1089916" y="1014208"/>
                  </a:lnTo>
                  <a:lnTo>
                    <a:pt x="1053626" y="1053804"/>
                  </a:lnTo>
                  <a:lnTo>
                    <a:pt x="1014037" y="1090100"/>
                  </a:lnTo>
                  <a:lnTo>
                    <a:pt x="971388" y="1122896"/>
                  </a:lnTo>
                  <a:lnTo>
                    <a:pt x="925918" y="1151991"/>
                  </a:lnTo>
                  <a:lnTo>
                    <a:pt x="877942" y="1176849"/>
                  </a:lnTo>
                  <a:lnTo>
                    <a:pt x="828174" y="1197367"/>
                  </a:lnTo>
                  <a:lnTo>
                    <a:pt x="776925" y="1213465"/>
                  </a:lnTo>
                  <a:lnTo>
                    <a:pt x="724506" y="1225064"/>
                  </a:lnTo>
                  <a:lnTo>
                    <a:pt x="671226" y="1232082"/>
                  </a:lnTo>
                  <a:lnTo>
                    <a:pt x="617397" y="1234440"/>
                  </a:lnTo>
                  <a:lnTo>
                    <a:pt x="563418" y="1232082"/>
                  </a:lnTo>
                  <a:lnTo>
                    <a:pt x="510039" y="1225064"/>
                  </a:lnTo>
                  <a:lnTo>
                    <a:pt x="457558" y="1213465"/>
                  </a:lnTo>
                  <a:lnTo>
                    <a:pt x="406278" y="1197367"/>
                  </a:lnTo>
                  <a:lnTo>
                    <a:pt x="356499" y="1176849"/>
                  </a:lnTo>
                  <a:lnTo>
                    <a:pt x="308521" y="1151991"/>
                  </a:lnTo>
                  <a:lnTo>
                    <a:pt x="263051" y="1122896"/>
                  </a:lnTo>
                  <a:lnTo>
                    <a:pt x="220402" y="1090100"/>
                  </a:lnTo>
                  <a:lnTo>
                    <a:pt x="180813" y="1053804"/>
                  </a:lnTo>
                  <a:lnTo>
                    <a:pt x="144523" y="1014208"/>
                  </a:lnTo>
                  <a:lnTo>
                    <a:pt x="111773" y="971513"/>
                  </a:lnTo>
                  <a:lnTo>
                    <a:pt x="82803" y="925918"/>
                  </a:lnTo>
                  <a:lnTo>
                    <a:pt x="57792" y="878090"/>
                  </a:lnTo>
                  <a:lnTo>
                    <a:pt x="37172" y="828411"/>
                  </a:lnTo>
                  <a:lnTo>
                    <a:pt x="21013" y="777192"/>
                  </a:lnTo>
                  <a:lnTo>
                    <a:pt x="9385" y="724743"/>
                  </a:lnTo>
                  <a:lnTo>
                    <a:pt x="2358" y="671375"/>
                  </a:lnTo>
                  <a:lnTo>
                    <a:pt x="0" y="617397"/>
                  </a:lnTo>
                  <a:close/>
                </a:path>
              </a:pathLst>
            </a:custGeom>
            <a:ln w="7559">
              <a:solidFill>
                <a:srgbClr val="0C938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663915" y="2624035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39" h="548639">
                  <a:moveTo>
                    <a:pt x="274319" y="0"/>
                  </a:moveTo>
                  <a:lnTo>
                    <a:pt x="203315" y="9315"/>
                  </a:lnTo>
                  <a:lnTo>
                    <a:pt x="137160" y="36728"/>
                  </a:lnTo>
                  <a:lnTo>
                    <a:pt x="80329" y="80329"/>
                  </a:lnTo>
                  <a:lnTo>
                    <a:pt x="36728" y="137159"/>
                  </a:lnTo>
                  <a:lnTo>
                    <a:pt x="9315" y="203315"/>
                  </a:lnTo>
                  <a:lnTo>
                    <a:pt x="0" y="274319"/>
                  </a:lnTo>
                  <a:lnTo>
                    <a:pt x="2345" y="310233"/>
                  </a:lnTo>
                  <a:lnTo>
                    <a:pt x="20809" y="379217"/>
                  </a:lnTo>
                  <a:lnTo>
                    <a:pt x="56723" y="441404"/>
                  </a:lnTo>
                  <a:lnTo>
                    <a:pt x="107242" y="491929"/>
                  </a:lnTo>
                  <a:lnTo>
                    <a:pt x="169430" y="527835"/>
                  </a:lnTo>
                  <a:lnTo>
                    <a:pt x="238413" y="546294"/>
                  </a:lnTo>
                  <a:lnTo>
                    <a:pt x="274319" y="548639"/>
                  </a:lnTo>
                  <a:lnTo>
                    <a:pt x="310233" y="546294"/>
                  </a:lnTo>
                  <a:lnTo>
                    <a:pt x="379217" y="527835"/>
                  </a:lnTo>
                  <a:lnTo>
                    <a:pt x="441404" y="491929"/>
                  </a:lnTo>
                  <a:lnTo>
                    <a:pt x="491929" y="441404"/>
                  </a:lnTo>
                  <a:lnTo>
                    <a:pt x="527835" y="379217"/>
                  </a:lnTo>
                  <a:lnTo>
                    <a:pt x="546294" y="310233"/>
                  </a:lnTo>
                  <a:lnTo>
                    <a:pt x="548640" y="274319"/>
                  </a:lnTo>
                  <a:lnTo>
                    <a:pt x="546294" y="238413"/>
                  </a:lnTo>
                  <a:lnTo>
                    <a:pt x="527835" y="169430"/>
                  </a:lnTo>
                  <a:lnTo>
                    <a:pt x="491929" y="107242"/>
                  </a:lnTo>
                  <a:lnTo>
                    <a:pt x="441404" y="56723"/>
                  </a:lnTo>
                  <a:lnTo>
                    <a:pt x="379217" y="20809"/>
                  </a:lnTo>
                  <a:lnTo>
                    <a:pt x="310233" y="2345"/>
                  </a:lnTo>
                  <a:lnTo>
                    <a:pt x="274319" y="0"/>
                  </a:lnTo>
                  <a:close/>
                </a:path>
              </a:pathLst>
            </a:custGeom>
            <a:solidFill>
              <a:srgbClr val="0077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663915" y="2624035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39" h="548639">
                  <a:moveTo>
                    <a:pt x="0" y="274319"/>
                  </a:moveTo>
                  <a:lnTo>
                    <a:pt x="2345" y="238413"/>
                  </a:lnTo>
                  <a:lnTo>
                    <a:pt x="9315" y="203315"/>
                  </a:lnTo>
                  <a:lnTo>
                    <a:pt x="36728" y="137159"/>
                  </a:lnTo>
                  <a:lnTo>
                    <a:pt x="80329" y="80329"/>
                  </a:lnTo>
                  <a:lnTo>
                    <a:pt x="137160" y="36728"/>
                  </a:lnTo>
                  <a:lnTo>
                    <a:pt x="203315" y="9315"/>
                  </a:lnTo>
                  <a:lnTo>
                    <a:pt x="274319" y="0"/>
                  </a:lnTo>
                  <a:lnTo>
                    <a:pt x="345333" y="9315"/>
                  </a:lnTo>
                  <a:lnTo>
                    <a:pt x="411480" y="36728"/>
                  </a:lnTo>
                  <a:lnTo>
                    <a:pt x="468322" y="80329"/>
                  </a:lnTo>
                  <a:lnTo>
                    <a:pt x="511924" y="137159"/>
                  </a:lnTo>
                  <a:lnTo>
                    <a:pt x="539326" y="203315"/>
                  </a:lnTo>
                  <a:lnTo>
                    <a:pt x="548640" y="274319"/>
                  </a:lnTo>
                  <a:lnTo>
                    <a:pt x="546294" y="310233"/>
                  </a:lnTo>
                  <a:lnTo>
                    <a:pt x="539326" y="345333"/>
                  </a:lnTo>
                  <a:lnTo>
                    <a:pt x="511924" y="411479"/>
                  </a:lnTo>
                  <a:lnTo>
                    <a:pt x="468322" y="468322"/>
                  </a:lnTo>
                  <a:lnTo>
                    <a:pt x="411480" y="511924"/>
                  </a:lnTo>
                  <a:lnTo>
                    <a:pt x="345333" y="539326"/>
                  </a:lnTo>
                  <a:lnTo>
                    <a:pt x="274319" y="548639"/>
                  </a:lnTo>
                  <a:lnTo>
                    <a:pt x="203315" y="539326"/>
                  </a:lnTo>
                  <a:lnTo>
                    <a:pt x="137160" y="511924"/>
                  </a:lnTo>
                  <a:lnTo>
                    <a:pt x="80329" y="468322"/>
                  </a:lnTo>
                  <a:lnTo>
                    <a:pt x="36728" y="411479"/>
                  </a:lnTo>
                  <a:lnTo>
                    <a:pt x="9315" y="345333"/>
                  </a:lnTo>
                  <a:lnTo>
                    <a:pt x="2345" y="310233"/>
                  </a:lnTo>
                  <a:lnTo>
                    <a:pt x="0" y="274319"/>
                  </a:lnTo>
                  <a:close/>
                </a:path>
              </a:pathLst>
            </a:custGeom>
            <a:ln w="7559">
              <a:solidFill>
                <a:srgbClr val="0077D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" name="object 14"/>
          <p:cNvGrpSpPr/>
          <p:nvPr/>
        </p:nvGrpSpPr>
        <p:grpSpPr>
          <a:xfrm>
            <a:off x="3377884" y="1805040"/>
            <a:ext cx="2251075" cy="1519555"/>
            <a:chOff x="3377884" y="1805040"/>
            <a:chExt cx="2251075" cy="1519555"/>
          </a:xfrm>
        </p:grpSpPr>
        <p:sp>
          <p:nvSpPr>
            <p:cNvPr id="15" name="object 15"/>
            <p:cNvSpPr/>
            <p:nvPr/>
          </p:nvSpPr>
          <p:spPr>
            <a:xfrm>
              <a:off x="3382924" y="1810080"/>
              <a:ext cx="2240915" cy="1509395"/>
            </a:xfrm>
            <a:custGeom>
              <a:avLst/>
              <a:gdLst/>
              <a:ahLst/>
              <a:cxnLst/>
              <a:rect l="l" t="t" r="r" b="b"/>
              <a:pathLst>
                <a:path w="2240915" h="1509395">
                  <a:moveTo>
                    <a:pt x="110159" y="0"/>
                  </a:moveTo>
                  <a:lnTo>
                    <a:pt x="68088" y="8352"/>
                  </a:lnTo>
                  <a:lnTo>
                    <a:pt x="32534" y="32223"/>
                  </a:lnTo>
                  <a:lnTo>
                    <a:pt x="8708" y="67882"/>
                  </a:lnTo>
                  <a:lnTo>
                    <a:pt x="355" y="109804"/>
                  </a:lnTo>
                  <a:lnTo>
                    <a:pt x="0" y="1399324"/>
                  </a:lnTo>
                  <a:lnTo>
                    <a:pt x="939" y="1413747"/>
                  </a:lnTo>
                  <a:lnTo>
                    <a:pt x="14757" y="1454403"/>
                  </a:lnTo>
                  <a:lnTo>
                    <a:pt x="22670" y="1466111"/>
                  </a:lnTo>
                  <a:lnTo>
                    <a:pt x="22775" y="1466267"/>
                  </a:lnTo>
                  <a:lnTo>
                    <a:pt x="55079" y="1494358"/>
                  </a:lnTo>
                  <a:lnTo>
                    <a:pt x="95374" y="1508175"/>
                  </a:lnTo>
                  <a:lnTo>
                    <a:pt x="109791" y="1509115"/>
                  </a:lnTo>
                  <a:lnTo>
                    <a:pt x="2130831" y="1509115"/>
                  </a:lnTo>
                  <a:lnTo>
                    <a:pt x="2172902" y="1500762"/>
                  </a:lnTo>
                  <a:lnTo>
                    <a:pt x="2208404" y="1476948"/>
                  </a:lnTo>
                  <a:lnTo>
                    <a:pt x="2232205" y="1441388"/>
                  </a:lnTo>
                  <a:lnTo>
                    <a:pt x="2240635" y="1399324"/>
                  </a:lnTo>
                  <a:lnTo>
                    <a:pt x="2240612" y="109804"/>
                  </a:lnTo>
                  <a:lnTo>
                    <a:pt x="2232282" y="68088"/>
                  </a:lnTo>
                  <a:lnTo>
                    <a:pt x="2208412" y="32535"/>
                  </a:lnTo>
                  <a:lnTo>
                    <a:pt x="2172752" y="8713"/>
                  </a:lnTo>
                  <a:lnTo>
                    <a:pt x="2130831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3382924" y="1810080"/>
              <a:ext cx="2240915" cy="1509395"/>
            </a:xfrm>
            <a:custGeom>
              <a:avLst/>
              <a:gdLst/>
              <a:ahLst/>
              <a:cxnLst/>
              <a:rect l="l" t="t" r="r" b="b"/>
              <a:pathLst>
                <a:path w="2240915" h="1509395">
                  <a:moveTo>
                    <a:pt x="355" y="109804"/>
                  </a:moveTo>
                  <a:lnTo>
                    <a:pt x="1295" y="95379"/>
                  </a:lnTo>
                  <a:lnTo>
                    <a:pt x="4090" y="81360"/>
                  </a:lnTo>
                  <a:lnTo>
                    <a:pt x="23133" y="43010"/>
                  </a:lnTo>
                  <a:lnTo>
                    <a:pt x="55079" y="14757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2130831" y="355"/>
                  </a:lnTo>
                  <a:lnTo>
                    <a:pt x="2172752" y="8713"/>
                  </a:lnTo>
                  <a:lnTo>
                    <a:pt x="2208412" y="32535"/>
                  </a:lnTo>
                  <a:lnTo>
                    <a:pt x="2232282" y="68088"/>
                  </a:lnTo>
                  <a:lnTo>
                    <a:pt x="2240635" y="110159"/>
                  </a:lnTo>
                  <a:lnTo>
                    <a:pt x="2240635" y="1399324"/>
                  </a:lnTo>
                  <a:lnTo>
                    <a:pt x="2239695" y="1413741"/>
                  </a:lnTo>
                  <a:lnTo>
                    <a:pt x="2236900" y="1427756"/>
                  </a:lnTo>
                  <a:lnTo>
                    <a:pt x="2217858" y="1466111"/>
                  </a:lnTo>
                  <a:lnTo>
                    <a:pt x="2185911" y="1494358"/>
                  </a:lnTo>
                  <a:lnTo>
                    <a:pt x="2145261" y="1508175"/>
                  </a:lnTo>
                  <a:lnTo>
                    <a:pt x="2130831" y="1509115"/>
                  </a:lnTo>
                  <a:lnTo>
                    <a:pt x="109791" y="1509115"/>
                  </a:lnTo>
                  <a:lnTo>
                    <a:pt x="67882" y="1500762"/>
                  </a:lnTo>
                  <a:lnTo>
                    <a:pt x="32213" y="1476948"/>
                  </a:lnTo>
                  <a:lnTo>
                    <a:pt x="8352" y="1441388"/>
                  </a:lnTo>
                  <a:lnTo>
                    <a:pt x="0" y="1399324"/>
                  </a:lnTo>
                  <a:lnTo>
                    <a:pt x="355" y="109804"/>
                  </a:lnTo>
                  <a:close/>
                </a:path>
              </a:pathLst>
            </a:custGeom>
            <a:ln w="10079">
              <a:solidFill>
                <a:srgbClr val="DBE4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3383279" y="1810435"/>
              <a:ext cx="73025" cy="1508760"/>
            </a:xfrm>
            <a:custGeom>
              <a:avLst/>
              <a:gdLst/>
              <a:ahLst/>
              <a:cxnLst/>
              <a:rect l="l" t="t" r="r" b="b"/>
              <a:pathLst>
                <a:path w="73025" h="1508760">
                  <a:moveTo>
                    <a:pt x="72720" y="0"/>
                  </a:moveTo>
                  <a:lnTo>
                    <a:pt x="0" y="0"/>
                  </a:lnTo>
                  <a:lnTo>
                    <a:pt x="0" y="1508404"/>
                  </a:lnTo>
                  <a:lnTo>
                    <a:pt x="36360" y="1508404"/>
                  </a:lnTo>
                  <a:lnTo>
                    <a:pt x="72720" y="1508404"/>
                  </a:lnTo>
                  <a:lnTo>
                    <a:pt x="72720" y="0"/>
                  </a:lnTo>
                  <a:close/>
                </a:path>
              </a:pathLst>
            </a:custGeom>
            <a:solidFill>
              <a:srgbClr val="0077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3383279" y="1810435"/>
              <a:ext cx="73025" cy="1508760"/>
            </a:xfrm>
            <a:custGeom>
              <a:avLst/>
              <a:gdLst/>
              <a:ahLst/>
              <a:cxnLst/>
              <a:rect l="l" t="t" r="r" b="b"/>
              <a:pathLst>
                <a:path w="73025" h="1508760">
                  <a:moveTo>
                    <a:pt x="36360" y="1508404"/>
                  </a:moveTo>
                  <a:lnTo>
                    <a:pt x="0" y="1508404"/>
                  </a:lnTo>
                  <a:lnTo>
                    <a:pt x="0" y="0"/>
                  </a:lnTo>
                  <a:lnTo>
                    <a:pt x="72720" y="0"/>
                  </a:lnTo>
                  <a:lnTo>
                    <a:pt x="72720" y="1508404"/>
                  </a:lnTo>
                  <a:lnTo>
                    <a:pt x="36360" y="1508404"/>
                  </a:lnTo>
                  <a:close/>
                </a:path>
              </a:pathLst>
            </a:custGeom>
            <a:ln w="10079">
              <a:solidFill>
                <a:srgbClr val="0077D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3571456" y="1986750"/>
            <a:ext cx="1797685" cy="9785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0F2339"/>
                </a:solidFill>
                <a:latin typeface="Arial Black"/>
                <a:cs typeface="Arial Black"/>
              </a:rPr>
              <a:t>Region</a:t>
            </a:r>
            <a:endParaRPr sz="1600">
              <a:latin typeface="Arial Black"/>
              <a:cs typeface="Arial Black"/>
            </a:endParaRPr>
          </a:p>
          <a:p>
            <a:pPr marL="12700" marR="5080">
              <a:lnSpc>
                <a:spcPct val="104900"/>
              </a:lnSpc>
              <a:spcBef>
                <a:spcPts val="1055"/>
              </a:spcBef>
            </a:pPr>
            <a:r>
              <a:rPr dirty="0" sz="1200">
                <a:solidFill>
                  <a:srgbClr val="556478"/>
                </a:solidFill>
                <a:latin typeface="Noto Sans"/>
                <a:cs typeface="Noto Sans"/>
              </a:rPr>
              <a:t>A</a:t>
            </a:r>
            <a:r>
              <a:rPr dirty="0" sz="1200" spc="-4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00">
                <a:solidFill>
                  <a:srgbClr val="556478"/>
                </a:solidFill>
                <a:latin typeface="Noto Sans"/>
                <a:cs typeface="Noto Sans"/>
              </a:rPr>
              <a:t>geographic</a:t>
            </a:r>
            <a:r>
              <a:rPr dirty="0" sz="12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00">
                <a:solidFill>
                  <a:srgbClr val="556478"/>
                </a:solidFill>
                <a:latin typeface="Noto Sans"/>
                <a:cs typeface="Noto Sans"/>
              </a:rPr>
              <a:t>area</a:t>
            </a:r>
            <a:r>
              <a:rPr dirty="0" sz="12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00" spc="-20">
                <a:solidFill>
                  <a:srgbClr val="556478"/>
                </a:solidFill>
                <a:latin typeface="Noto Sans"/>
                <a:cs typeface="Noto Sans"/>
              </a:rPr>
              <a:t>with </a:t>
            </a:r>
            <a:r>
              <a:rPr dirty="0" sz="1200">
                <a:solidFill>
                  <a:srgbClr val="556478"/>
                </a:solidFill>
                <a:latin typeface="Noto Sans"/>
                <a:cs typeface="Noto Sans"/>
              </a:rPr>
              <a:t>one</a:t>
            </a:r>
            <a:r>
              <a:rPr dirty="0" sz="120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00">
                <a:solidFill>
                  <a:srgbClr val="556478"/>
                </a:solidFill>
                <a:latin typeface="Noto Sans"/>
                <a:cs typeface="Noto Sans"/>
              </a:rPr>
              <a:t>or</a:t>
            </a:r>
            <a:r>
              <a:rPr dirty="0" sz="120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00">
                <a:solidFill>
                  <a:srgbClr val="556478"/>
                </a:solidFill>
                <a:latin typeface="Noto Sans"/>
                <a:cs typeface="Noto Sans"/>
              </a:rPr>
              <a:t>more</a:t>
            </a:r>
            <a:r>
              <a:rPr dirty="0" sz="120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00" spc="-10">
                <a:solidFill>
                  <a:srgbClr val="556478"/>
                </a:solidFill>
                <a:latin typeface="Noto Sans"/>
                <a:cs typeface="Noto Sans"/>
              </a:rPr>
              <a:t>datacentres </a:t>
            </a:r>
            <a:r>
              <a:rPr dirty="0" sz="1200">
                <a:solidFill>
                  <a:srgbClr val="556478"/>
                </a:solidFill>
                <a:latin typeface="Noto Sans"/>
                <a:cs typeface="Noto Sans"/>
              </a:rPr>
              <a:t>and</a:t>
            </a:r>
            <a:r>
              <a:rPr dirty="0" sz="120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00">
                <a:solidFill>
                  <a:srgbClr val="556478"/>
                </a:solidFill>
                <a:latin typeface="Noto Sans"/>
                <a:cs typeface="Noto Sans"/>
              </a:rPr>
              <a:t>service</a:t>
            </a:r>
            <a:r>
              <a:rPr dirty="0" sz="1200" spc="-2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00" spc="-10">
                <a:solidFill>
                  <a:srgbClr val="556478"/>
                </a:solidFill>
                <a:latin typeface="Noto Sans"/>
                <a:cs typeface="Noto Sans"/>
              </a:rPr>
              <a:t>endpoints.</a:t>
            </a:r>
            <a:endParaRPr sz="1200">
              <a:latin typeface="Noto Sans"/>
              <a:cs typeface="Noto Sans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715000" y="2560320"/>
            <a:ext cx="548640" cy="635"/>
          </a:xfrm>
          <a:custGeom>
            <a:avLst/>
            <a:gdLst/>
            <a:ahLst/>
            <a:cxnLst/>
            <a:rect l="l" t="t" r="r" b="b"/>
            <a:pathLst>
              <a:path w="548639" h="635">
                <a:moveTo>
                  <a:pt x="0" y="0"/>
                </a:moveTo>
                <a:lnTo>
                  <a:pt x="548639" y="355"/>
                </a:lnTo>
              </a:path>
            </a:pathLst>
          </a:custGeom>
          <a:ln w="19079">
            <a:solidFill>
              <a:srgbClr val="0077D3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grpSp>
        <p:nvGrpSpPr>
          <p:cNvPr id="21" name="object 21"/>
          <p:cNvGrpSpPr/>
          <p:nvPr/>
        </p:nvGrpSpPr>
        <p:grpSpPr>
          <a:xfrm>
            <a:off x="6377040" y="1805040"/>
            <a:ext cx="2251075" cy="1519555"/>
            <a:chOff x="6377040" y="1805040"/>
            <a:chExt cx="2251075" cy="1519555"/>
          </a:xfrm>
        </p:grpSpPr>
        <p:sp>
          <p:nvSpPr>
            <p:cNvPr id="22" name="object 22"/>
            <p:cNvSpPr/>
            <p:nvPr/>
          </p:nvSpPr>
          <p:spPr>
            <a:xfrm>
              <a:off x="6382080" y="1810080"/>
              <a:ext cx="2240915" cy="1509395"/>
            </a:xfrm>
            <a:custGeom>
              <a:avLst/>
              <a:gdLst/>
              <a:ahLst/>
              <a:cxnLst/>
              <a:rect l="l" t="t" r="r" b="b"/>
              <a:pathLst>
                <a:path w="2240915" h="1509395">
                  <a:moveTo>
                    <a:pt x="110159" y="0"/>
                  </a:moveTo>
                  <a:lnTo>
                    <a:pt x="68088" y="8352"/>
                  </a:lnTo>
                  <a:lnTo>
                    <a:pt x="32535" y="32223"/>
                  </a:lnTo>
                  <a:lnTo>
                    <a:pt x="8713" y="67882"/>
                  </a:lnTo>
                  <a:lnTo>
                    <a:pt x="355" y="109804"/>
                  </a:lnTo>
                  <a:lnTo>
                    <a:pt x="0" y="1399324"/>
                  </a:lnTo>
                  <a:lnTo>
                    <a:pt x="939" y="1413747"/>
                  </a:lnTo>
                  <a:lnTo>
                    <a:pt x="14757" y="1454403"/>
                  </a:lnTo>
                  <a:lnTo>
                    <a:pt x="22677" y="1466111"/>
                  </a:lnTo>
                  <a:lnTo>
                    <a:pt x="22783" y="1466267"/>
                  </a:lnTo>
                  <a:lnTo>
                    <a:pt x="55079" y="1494358"/>
                  </a:lnTo>
                  <a:lnTo>
                    <a:pt x="95379" y="1508175"/>
                  </a:lnTo>
                  <a:lnTo>
                    <a:pt x="109804" y="1509115"/>
                  </a:lnTo>
                  <a:lnTo>
                    <a:pt x="2130844" y="1509115"/>
                  </a:lnTo>
                  <a:lnTo>
                    <a:pt x="2172908" y="1500762"/>
                  </a:lnTo>
                  <a:lnTo>
                    <a:pt x="2208415" y="1476948"/>
                  </a:lnTo>
                  <a:lnTo>
                    <a:pt x="2232205" y="1441388"/>
                  </a:lnTo>
                  <a:lnTo>
                    <a:pt x="2240635" y="1399324"/>
                  </a:lnTo>
                  <a:lnTo>
                    <a:pt x="2240612" y="109804"/>
                  </a:lnTo>
                  <a:lnTo>
                    <a:pt x="2232282" y="68088"/>
                  </a:lnTo>
                  <a:lnTo>
                    <a:pt x="2208422" y="32535"/>
                  </a:lnTo>
                  <a:lnTo>
                    <a:pt x="2172752" y="8713"/>
                  </a:lnTo>
                  <a:lnTo>
                    <a:pt x="213084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6382080" y="1810080"/>
              <a:ext cx="2240915" cy="1509395"/>
            </a:xfrm>
            <a:custGeom>
              <a:avLst/>
              <a:gdLst/>
              <a:ahLst/>
              <a:cxnLst/>
              <a:rect l="l" t="t" r="r" b="b"/>
              <a:pathLst>
                <a:path w="2240915" h="1509395">
                  <a:moveTo>
                    <a:pt x="355" y="109804"/>
                  </a:moveTo>
                  <a:lnTo>
                    <a:pt x="1295" y="95379"/>
                  </a:lnTo>
                  <a:lnTo>
                    <a:pt x="4092" y="81360"/>
                  </a:lnTo>
                  <a:lnTo>
                    <a:pt x="23138" y="43010"/>
                  </a:lnTo>
                  <a:lnTo>
                    <a:pt x="55079" y="14757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2130844" y="355"/>
                  </a:lnTo>
                  <a:lnTo>
                    <a:pt x="2172752" y="8713"/>
                  </a:lnTo>
                  <a:lnTo>
                    <a:pt x="2208422" y="32535"/>
                  </a:lnTo>
                  <a:lnTo>
                    <a:pt x="2232282" y="68088"/>
                  </a:lnTo>
                  <a:lnTo>
                    <a:pt x="2240635" y="110159"/>
                  </a:lnTo>
                  <a:lnTo>
                    <a:pt x="2240635" y="1399324"/>
                  </a:lnTo>
                  <a:lnTo>
                    <a:pt x="2239695" y="1413741"/>
                  </a:lnTo>
                  <a:lnTo>
                    <a:pt x="2236900" y="1427756"/>
                  </a:lnTo>
                  <a:lnTo>
                    <a:pt x="2217865" y="1466111"/>
                  </a:lnTo>
                  <a:lnTo>
                    <a:pt x="2185923" y="1494358"/>
                  </a:lnTo>
                  <a:lnTo>
                    <a:pt x="2145267" y="1508175"/>
                  </a:lnTo>
                  <a:lnTo>
                    <a:pt x="2130844" y="1509115"/>
                  </a:lnTo>
                  <a:lnTo>
                    <a:pt x="109804" y="1509115"/>
                  </a:lnTo>
                  <a:lnTo>
                    <a:pt x="67882" y="1500762"/>
                  </a:lnTo>
                  <a:lnTo>
                    <a:pt x="32223" y="1476948"/>
                  </a:lnTo>
                  <a:lnTo>
                    <a:pt x="8352" y="1441388"/>
                  </a:lnTo>
                  <a:lnTo>
                    <a:pt x="0" y="1399324"/>
                  </a:lnTo>
                  <a:lnTo>
                    <a:pt x="355" y="109804"/>
                  </a:lnTo>
                  <a:close/>
                </a:path>
              </a:pathLst>
            </a:custGeom>
            <a:ln w="10079">
              <a:solidFill>
                <a:srgbClr val="DBE4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6382435" y="1810435"/>
              <a:ext cx="73025" cy="1508760"/>
            </a:xfrm>
            <a:custGeom>
              <a:avLst/>
              <a:gdLst/>
              <a:ahLst/>
              <a:cxnLst/>
              <a:rect l="l" t="t" r="r" b="b"/>
              <a:pathLst>
                <a:path w="73025" h="1508760">
                  <a:moveTo>
                    <a:pt x="72720" y="0"/>
                  </a:moveTo>
                  <a:lnTo>
                    <a:pt x="0" y="0"/>
                  </a:lnTo>
                  <a:lnTo>
                    <a:pt x="0" y="1508404"/>
                  </a:lnTo>
                  <a:lnTo>
                    <a:pt x="36360" y="1508404"/>
                  </a:lnTo>
                  <a:lnTo>
                    <a:pt x="72720" y="1508404"/>
                  </a:lnTo>
                  <a:lnTo>
                    <a:pt x="72720" y="0"/>
                  </a:lnTo>
                  <a:close/>
                </a:path>
              </a:pathLst>
            </a:custGeom>
            <a:solidFill>
              <a:srgbClr val="0C938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6382435" y="1810435"/>
              <a:ext cx="73025" cy="1508760"/>
            </a:xfrm>
            <a:custGeom>
              <a:avLst/>
              <a:gdLst/>
              <a:ahLst/>
              <a:cxnLst/>
              <a:rect l="l" t="t" r="r" b="b"/>
              <a:pathLst>
                <a:path w="73025" h="1508760">
                  <a:moveTo>
                    <a:pt x="36360" y="1508404"/>
                  </a:moveTo>
                  <a:lnTo>
                    <a:pt x="0" y="1508404"/>
                  </a:lnTo>
                  <a:lnTo>
                    <a:pt x="0" y="0"/>
                  </a:lnTo>
                  <a:lnTo>
                    <a:pt x="72720" y="0"/>
                  </a:lnTo>
                  <a:lnTo>
                    <a:pt x="72720" y="1508404"/>
                  </a:lnTo>
                  <a:lnTo>
                    <a:pt x="36360" y="1508404"/>
                  </a:lnTo>
                  <a:close/>
                </a:path>
              </a:pathLst>
            </a:custGeom>
            <a:ln w="10079">
              <a:solidFill>
                <a:srgbClr val="0C938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/>
          <p:nvPr/>
        </p:nvSpPr>
        <p:spPr>
          <a:xfrm>
            <a:off x="6570624" y="1986750"/>
            <a:ext cx="1713864" cy="11709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80">
                <a:solidFill>
                  <a:srgbClr val="0F2339"/>
                </a:solidFill>
                <a:latin typeface="Arial Black"/>
                <a:cs typeface="Arial Black"/>
              </a:rPr>
              <a:t>Availability</a:t>
            </a:r>
            <a:r>
              <a:rPr dirty="0" sz="1600" spc="-4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600" spc="-85">
                <a:solidFill>
                  <a:srgbClr val="0F2339"/>
                </a:solidFill>
                <a:latin typeface="Arial Black"/>
                <a:cs typeface="Arial Black"/>
              </a:rPr>
              <a:t>Zone</a:t>
            </a:r>
            <a:endParaRPr sz="1600">
              <a:latin typeface="Arial Black"/>
              <a:cs typeface="Arial Black"/>
            </a:endParaRPr>
          </a:p>
          <a:p>
            <a:pPr marL="12700" marR="190500">
              <a:lnSpc>
                <a:spcPct val="104900"/>
              </a:lnSpc>
              <a:spcBef>
                <a:spcPts val="1055"/>
              </a:spcBef>
            </a:pPr>
            <a:r>
              <a:rPr dirty="0" sz="1200">
                <a:solidFill>
                  <a:srgbClr val="556478"/>
                </a:solidFill>
                <a:latin typeface="Noto Sans"/>
                <a:cs typeface="Noto Sans"/>
              </a:rPr>
              <a:t>A</a:t>
            </a:r>
            <a:r>
              <a:rPr dirty="0" sz="120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00">
                <a:solidFill>
                  <a:srgbClr val="556478"/>
                </a:solidFill>
                <a:latin typeface="Noto Sans"/>
                <a:cs typeface="Noto Sans"/>
              </a:rPr>
              <a:t>physically</a:t>
            </a:r>
            <a:r>
              <a:rPr dirty="0" sz="1200" spc="-2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00" spc="-10">
                <a:solidFill>
                  <a:srgbClr val="556478"/>
                </a:solidFill>
                <a:latin typeface="Noto Sans"/>
                <a:cs typeface="Noto Sans"/>
              </a:rPr>
              <a:t>separate </a:t>
            </a:r>
            <a:r>
              <a:rPr dirty="0" sz="1200">
                <a:solidFill>
                  <a:srgbClr val="556478"/>
                </a:solidFill>
                <a:latin typeface="Noto Sans"/>
                <a:cs typeface="Noto Sans"/>
              </a:rPr>
              <a:t>group</a:t>
            </a:r>
            <a:r>
              <a:rPr dirty="0" sz="1200" spc="-2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00">
                <a:solidFill>
                  <a:srgbClr val="556478"/>
                </a:solidFill>
                <a:latin typeface="Noto Sans"/>
                <a:cs typeface="Noto Sans"/>
              </a:rPr>
              <a:t>of</a:t>
            </a:r>
            <a:r>
              <a:rPr dirty="0" sz="1200" spc="-2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00" spc="-10">
                <a:solidFill>
                  <a:srgbClr val="556478"/>
                </a:solidFill>
                <a:latin typeface="Noto Sans"/>
                <a:cs typeface="Noto Sans"/>
              </a:rPr>
              <a:t>datacentres </a:t>
            </a:r>
            <a:r>
              <a:rPr dirty="0" sz="1200">
                <a:solidFill>
                  <a:srgbClr val="556478"/>
                </a:solidFill>
                <a:latin typeface="Noto Sans"/>
                <a:cs typeface="Noto Sans"/>
              </a:rPr>
              <a:t>within</a:t>
            </a:r>
            <a:r>
              <a:rPr dirty="0" sz="1200" spc="-2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00">
                <a:solidFill>
                  <a:srgbClr val="556478"/>
                </a:solidFill>
                <a:latin typeface="Noto Sans"/>
                <a:cs typeface="Noto Sans"/>
              </a:rPr>
              <a:t>a</a:t>
            </a:r>
            <a:r>
              <a:rPr dirty="0" sz="1200" spc="-2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00" spc="-10">
                <a:solidFill>
                  <a:srgbClr val="556478"/>
                </a:solidFill>
                <a:latin typeface="Noto Sans"/>
                <a:cs typeface="Noto Sans"/>
              </a:rPr>
              <a:t>supported region.</a:t>
            </a:r>
            <a:endParaRPr sz="1200">
              <a:latin typeface="Noto Sans"/>
              <a:cs typeface="Noto Sans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8714155" y="2560320"/>
            <a:ext cx="475615" cy="635"/>
          </a:xfrm>
          <a:custGeom>
            <a:avLst/>
            <a:gdLst/>
            <a:ahLst/>
            <a:cxnLst/>
            <a:rect l="l" t="t" r="r" b="b"/>
            <a:pathLst>
              <a:path w="475615" h="635">
                <a:moveTo>
                  <a:pt x="0" y="0"/>
                </a:moveTo>
                <a:lnTo>
                  <a:pt x="475564" y="355"/>
                </a:lnTo>
              </a:path>
            </a:pathLst>
          </a:custGeom>
          <a:ln w="19079">
            <a:solidFill>
              <a:srgbClr val="0077D3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grpSp>
        <p:nvGrpSpPr>
          <p:cNvPr id="28" name="object 28"/>
          <p:cNvGrpSpPr/>
          <p:nvPr/>
        </p:nvGrpSpPr>
        <p:grpSpPr>
          <a:xfrm>
            <a:off x="9275764" y="1805040"/>
            <a:ext cx="2159635" cy="1519555"/>
            <a:chOff x="9275764" y="1805040"/>
            <a:chExt cx="2159635" cy="1519555"/>
          </a:xfrm>
        </p:grpSpPr>
        <p:sp>
          <p:nvSpPr>
            <p:cNvPr id="29" name="object 29"/>
            <p:cNvSpPr/>
            <p:nvPr/>
          </p:nvSpPr>
          <p:spPr>
            <a:xfrm>
              <a:off x="9280804" y="1810080"/>
              <a:ext cx="2149475" cy="1509395"/>
            </a:xfrm>
            <a:custGeom>
              <a:avLst/>
              <a:gdLst/>
              <a:ahLst/>
              <a:cxnLst/>
              <a:rect l="l" t="t" r="r" b="b"/>
              <a:pathLst>
                <a:path w="2149475" h="1509395">
                  <a:moveTo>
                    <a:pt x="110159" y="0"/>
                  </a:moveTo>
                  <a:lnTo>
                    <a:pt x="68088" y="8352"/>
                  </a:lnTo>
                  <a:lnTo>
                    <a:pt x="32534" y="32223"/>
                  </a:lnTo>
                  <a:lnTo>
                    <a:pt x="8708" y="67882"/>
                  </a:lnTo>
                  <a:lnTo>
                    <a:pt x="355" y="109804"/>
                  </a:lnTo>
                  <a:lnTo>
                    <a:pt x="0" y="1399324"/>
                  </a:lnTo>
                  <a:lnTo>
                    <a:pt x="939" y="1413747"/>
                  </a:lnTo>
                  <a:lnTo>
                    <a:pt x="3735" y="1427802"/>
                  </a:lnTo>
                  <a:lnTo>
                    <a:pt x="8300" y="1441232"/>
                  </a:lnTo>
                  <a:lnTo>
                    <a:pt x="8352" y="1441388"/>
                  </a:lnTo>
                  <a:lnTo>
                    <a:pt x="32213" y="1476948"/>
                  </a:lnTo>
                  <a:lnTo>
                    <a:pt x="67882" y="1500762"/>
                  </a:lnTo>
                  <a:lnTo>
                    <a:pt x="109791" y="1509115"/>
                  </a:lnTo>
                  <a:lnTo>
                    <a:pt x="2039391" y="1509115"/>
                  </a:lnTo>
                  <a:lnTo>
                    <a:pt x="2081462" y="1500762"/>
                  </a:lnTo>
                  <a:lnTo>
                    <a:pt x="2116964" y="1476948"/>
                  </a:lnTo>
                  <a:lnTo>
                    <a:pt x="2140765" y="1441388"/>
                  </a:lnTo>
                  <a:lnTo>
                    <a:pt x="2149195" y="1399324"/>
                  </a:lnTo>
                  <a:lnTo>
                    <a:pt x="2149172" y="109804"/>
                  </a:lnTo>
                  <a:lnTo>
                    <a:pt x="2140842" y="68088"/>
                  </a:lnTo>
                  <a:lnTo>
                    <a:pt x="2116972" y="32535"/>
                  </a:lnTo>
                  <a:lnTo>
                    <a:pt x="2081312" y="8713"/>
                  </a:lnTo>
                  <a:lnTo>
                    <a:pt x="2039391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9280804" y="1810080"/>
              <a:ext cx="2149475" cy="1509395"/>
            </a:xfrm>
            <a:custGeom>
              <a:avLst/>
              <a:gdLst/>
              <a:ahLst/>
              <a:cxnLst/>
              <a:rect l="l" t="t" r="r" b="b"/>
              <a:pathLst>
                <a:path w="2149475" h="1509395">
                  <a:moveTo>
                    <a:pt x="355" y="109804"/>
                  </a:moveTo>
                  <a:lnTo>
                    <a:pt x="1295" y="95379"/>
                  </a:lnTo>
                  <a:lnTo>
                    <a:pt x="4090" y="81360"/>
                  </a:lnTo>
                  <a:lnTo>
                    <a:pt x="23133" y="43010"/>
                  </a:lnTo>
                  <a:lnTo>
                    <a:pt x="55079" y="14757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2039391" y="355"/>
                  </a:lnTo>
                  <a:lnTo>
                    <a:pt x="2081312" y="8713"/>
                  </a:lnTo>
                  <a:lnTo>
                    <a:pt x="2116972" y="32535"/>
                  </a:lnTo>
                  <a:lnTo>
                    <a:pt x="2140842" y="68088"/>
                  </a:lnTo>
                  <a:lnTo>
                    <a:pt x="2149195" y="110159"/>
                  </a:lnTo>
                  <a:lnTo>
                    <a:pt x="2149195" y="1399324"/>
                  </a:lnTo>
                  <a:lnTo>
                    <a:pt x="2148255" y="1413741"/>
                  </a:lnTo>
                  <a:lnTo>
                    <a:pt x="2145460" y="1427756"/>
                  </a:lnTo>
                  <a:lnTo>
                    <a:pt x="2126418" y="1466111"/>
                  </a:lnTo>
                  <a:lnTo>
                    <a:pt x="2094471" y="1494358"/>
                  </a:lnTo>
                  <a:lnTo>
                    <a:pt x="2053821" y="1508175"/>
                  </a:lnTo>
                  <a:lnTo>
                    <a:pt x="2039391" y="1509115"/>
                  </a:lnTo>
                  <a:lnTo>
                    <a:pt x="109791" y="1509115"/>
                  </a:lnTo>
                  <a:lnTo>
                    <a:pt x="67882" y="1500762"/>
                  </a:lnTo>
                  <a:lnTo>
                    <a:pt x="32213" y="1476948"/>
                  </a:lnTo>
                  <a:lnTo>
                    <a:pt x="8352" y="1441388"/>
                  </a:lnTo>
                  <a:lnTo>
                    <a:pt x="0" y="1399324"/>
                  </a:lnTo>
                  <a:lnTo>
                    <a:pt x="355" y="109804"/>
                  </a:lnTo>
                  <a:close/>
                </a:path>
              </a:pathLst>
            </a:custGeom>
            <a:ln w="10079">
              <a:solidFill>
                <a:srgbClr val="DBE4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9281160" y="1810435"/>
              <a:ext cx="73025" cy="1508760"/>
            </a:xfrm>
            <a:custGeom>
              <a:avLst/>
              <a:gdLst/>
              <a:ahLst/>
              <a:cxnLst/>
              <a:rect l="l" t="t" r="r" b="b"/>
              <a:pathLst>
                <a:path w="73025" h="1508760">
                  <a:moveTo>
                    <a:pt x="72720" y="0"/>
                  </a:moveTo>
                  <a:lnTo>
                    <a:pt x="0" y="0"/>
                  </a:lnTo>
                  <a:lnTo>
                    <a:pt x="0" y="1508404"/>
                  </a:lnTo>
                  <a:lnTo>
                    <a:pt x="36360" y="1508404"/>
                  </a:lnTo>
                  <a:lnTo>
                    <a:pt x="72720" y="1508404"/>
                  </a:lnTo>
                  <a:lnTo>
                    <a:pt x="72720" y="0"/>
                  </a:lnTo>
                  <a:close/>
                </a:path>
              </a:pathLst>
            </a:custGeom>
            <a:solidFill>
              <a:srgbClr val="5A39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9281160" y="1810435"/>
              <a:ext cx="73025" cy="1508760"/>
            </a:xfrm>
            <a:custGeom>
              <a:avLst/>
              <a:gdLst/>
              <a:ahLst/>
              <a:cxnLst/>
              <a:rect l="l" t="t" r="r" b="b"/>
              <a:pathLst>
                <a:path w="73025" h="1508760">
                  <a:moveTo>
                    <a:pt x="36360" y="1508404"/>
                  </a:moveTo>
                  <a:lnTo>
                    <a:pt x="0" y="1508404"/>
                  </a:lnTo>
                  <a:lnTo>
                    <a:pt x="0" y="0"/>
                  </a:lnTo>
                  <a:lnTo>
                    <a:pt x="72720" y="0"/>
                  </a:lnTo>
                  <a:lnTo>
                    <a:pt x="72720" y="1508404"/>
                  </a:lnTo>
                  <a:lnTo>
                    <a:pt x="36360" y="1508404"/>
                  </a:lnTo>
                  <a:close/>
                </a:path>
              </a:pathLst>
            </a:custGeom>
            <a:ln w="10079">
              <a:solidFill>
                <a:srgbClr val="5A399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 txBox="1"/>
          <p:nvPr/>
        </p:nvSpPr>
        <p:spPr>
          <a:xfrm>
            <a:off x="9469335" y="1986750"/>
            <a:ext cx="1781175" cy="11391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0F2339"/>
                </a:solidFill>
                <a:latin typeface="Arial Black"/>
                <a:cs typeface="Arial Black"/>
              </a:rPr>
              <a:t>Resource</a:t>
            </a:r>
            <a:endParaRPr sz="1600">
              <a:latin typeface="Arial Black"/>
              <a:cs typeface="Arial Black"/>
            </a:endParaRPr>
          </a:p>
          <a:p>
            <a:pPr marL="12700" marR="5080">
              <a:lnSpc>
                <a:spcPct val="105000"/>
              </a:lnSpc>
              <a:spcBef>
                <a:spcPts val="1055"/>
              </a:spcBef>
            </a:pPr>
            <a:r>
              <a:rPr dirty="0" sz="1150">
                <a:solidFill>
                  <a:srgbClr val="556478"/>
                </a:solidFill>
                <a:latin typeface="Noto Sans"/>
                <a:cs typeface="Noto Sans"/>
              </a:rPr>
              <a:t>A</a:t>
            </a:r>
            <a:r>
              <a:rPr dirty="0" sz="115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50">
                <a:solidFill>
                  <a:srgbClr val="556478"/>
                </a:solidFill>
                <a:latin typeface="Noto Sans"/>
                <a:cs typeface="Noto Sans"/>
              </a:rPr>
              <a:t>VM,</a:t>
            </a:r>
            <a:r>
              <a:rPr dirty="0" sz="1150" spc="-2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50">
                <a:solidFill>
                  <a:srgbClr val="556478"/>
                </a:solidFill>
                <a:latin typeface="Noto Sans"/>
                <a:cs typeface="Noto Sans"/>
              </a:rPr>
              <a:t>database,</a:t>
            </a:r>
            <a:r>
              <a:rPr dirty="0" sz="1150" spc="-2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50" spc="-10">
                <a:solidFill>
                  <a:srgbClr val="556478"/>
                </a:solidFill>
                <a:latin typeface="Noto Sans"/>
                <a:cs typeface="Noto Sans"/>
              </a:rPr>
              <a:t>storage </a:t>
            </a:r>
            <a:r>
              <a:rPr dirty="0" sz="1150">
                <a:solidFill>
                  <a:srgbClr val="556478"/>
                </a:solidFill>
                <a:latin typeface="Noto Sans"/>
                <a:cs typeface="Noto Sans"/>
              </a:rPr>
              <a:t>account</a:t>
            </a:r>
            <a:r>
              <a:rPr dirty="0" sz="115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50">
                <a:solidFill>
                  <a:srgbClr val="556478"/>
                </a:solidFill>
                <a:latin typeface="Noto Sans"/>
                <a:cs typeface="Noto Sans"/>
              </a:rPr>
              <a:t>or</a:t>
            </a:r>
            <a:r>
              <a:rPr dirty="0" sz="115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50">
                <a:solidFill>
                  <a:srgbClr val="556478"/>
                </a:solidFill>
                <a:latin typeface="Noto Sans"/>
                <a:cs typeface="Noto Sans"/>
              </a:rPr>
              <a:t>other</a:t>
            </a:r>
            <a:r>
              <a:rPr dirty="0" sz="115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50" spc="-10">
                <a:solidFill>
                  <a:srgbClr val="556478"/>
                </a:solidFill>
                <a:latin typeface="Noto Sans"/>
                <a:cs typeface="Noto Sans"/>
              </a:rPr>
              <a:t>service deployed</a:t>
            </a:r>
            <a:r>
              <a:rPr dirty="0" sz="1150" spc="-1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50">
                <a:solidFill>
                  <a:srgbClr val="556478"/>
                </a:solidFill>
                <a:latin typeface="Noto Sans"/>
                <a:cs typeface="Noto Sans"/>
              </a:rPr>
              <a:t>at</a:t>
            </a:r>
            <a:r>
              <a:rPr dirty="0" sz="1150" spc="-1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50">
                <a:solidFill>
                  <a:srgbClr val="556478"/>
                </a:solidFill>
                <a:latin typeface="Noto Sans"/>
                <a:cs typeface="Noto Sans"/>
              </a:rPr>
              <a:t>its</a:t>
            </a:r>
            <a:r>
              <a:rPr dirty="0" sz="1150" spc="-10">
                <a:solidFill>
                  <a:srgbClr val="556478"/>
                </a:solidFill>
                <a:latin typeface="Noto Sans"/>
                <a:cs typeface="Noto Sans"/>
              </a:rPr>
              <a:t> supported scope/location.</a:t>
            </a:r>
            <a:endParaRPr sz="1150">
              <a:latin typeface="Noto Sans"/>
              <a:cs typeface="Noto San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49502" y="4027729"/>
            <a:ext cx="2183765" cy="728980"/>
          </a:xfrm>
          <a:prstGeom prst="rect">
            <a:avLst/>
          </a:prstGeom>
        </p:spPr>
        <p:txBody>
          <a:bodyPr wrap="square" lIns="0" tIns="99060" rIns="0" bIns="0" rtlCol="0" vert="horz">
            <a:spAutoFit/>
          </a:bodyPr>
          <a:lstStyle/>
          <a:p>
            <a:pPr algn="ctr" marL="1905">
              <a:lnSpc>
                <a:spcPct val="100000"/>
              </a:lnSpc>
              <a:spcBef>
                <a:spcPts val="780"/>
              </a:spcBef>
            </a:pPr>
            <a:r>
              <a:rPr dirty="0" sz="1400" spc="-10">
                <a:solidFill>
                  <a:srgbClr val="0F2339"/>
                </a:solidFill>
                <a:latin typeface="Arial Black"/>
                <a:cs typeface="Arial Black"/>
              </a:rPr>
              <a:t>Geography</a:t>
            </a:r>
            <a:endParaRPr sz="1400">
              <a:latin typeface="Arial Black"/>
              <a:cs typeface="Arial Black"/>
            </a:endParaRPr>
          </a:p>
          <a:p>
            <a:pPr algn="ctr" marL="12700" marR="5080">
              <a:lnSpc>
                <a:spcPct val="100000"/>
              </a:lnSpc>
              <a:spcBef>
                <a:spcPts val="530"/>
              </a:spcBef>
            </a:pPr>
            <a:r>
              <a:rPr dirty="0" sz="1100">
                <a:solidFill>
                  <a:srgbClr val="556478"/>
                </a:solidFill>
                <a:latin typeface="Noto Sans"/>
                <a:cs typeface="Noto Sans"/>
              </a:rPr>
              <a:t>Region</a:t>
            </a:r>
            <a:r>
              <a:rPr dirty="0" sz="11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00">
                <a:solidFill>
                  <a:srgbClr val="556478"/>
                </a:solidFill>
                <a:latin typeface="Noto Sans"/>
                <a:cs typeface="Noto Sans"/>
              </a:rPr>
              <a:t>groupings,</a:t>
            </a:r>
            <a:r>
              <a:rPr dirty="0" sz="1100" spc="-4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00">
                <a:solidFill>
                  <a:srgbClr val="556478"/>
                </a:solidFill>
                <a:latin typeface="Noto Sans"/>
                <a:cs typeface="Noto Sans"/>
              </a:rPr>
              <a:t>residency</a:t>
            </a:r>
            <a:r>
              <a:rPr dirty="0" sz="11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00" spc="-25">
                <a:solidFill>
                  <a:srgbClr val="556478"/>
                </a:solidFill>
                <a:latin typeface="Noto Sans"/>
                <a:cs typeface="Noto Sans"/>
              </a:rPr>
              <a:t>and </a:t>
            </a:r>
            <a:r>
              <a:rPr dirty="0" sz="1100">
                <a:solidFill>
                  <a:srgbClr val="556478"/>
                </a:solidFill>
                <a:latin typeface="Noto Sans"/>
                <a:cs typeface="Noto Sans"/>
              </a:rPr>
              <a:t>regulatory</a:t>
            </a:r>
            <a:r>
              <a:rPr dirty="0" sz="1100" spc="-5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00" spc="-10">
                <a:solidFill>
                  <a:srgbClr val="556478"/>
                </a:solidFill>
                <a:latin typeface="Noto Sans"/>
                <a:cs typeface="Noto Sans"/>
              </a:rPr>
              <a:t>considerations</a:t>
            </a:r>
            <a:endParaRPr sz="1100">
              <a:latin typeface="Noto Sans"/>
              <a:cs typeface="Noto Sans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3331796" y="3972244"/>
            <a:ext cx="8057515" cy="1153795"/>
            <a:chOff x="3331796" y="3972244"/>
            <a:chExt cx="8057515" cy="1153795"/>
          </a:xfrm>
        </p:grpSpPr>
        <p:sp>
          <p:nvSpPr>
            <p:cNvPr id="35" name="object 35"/>
            <p:cNvSpPr/>
            <p:nvPr/>
          </p:nvSpPr>
          <p:spPr>
            <a:xfrm>
              <a:off x="3336836" y="3977284"/>
              <a:ext cx="8047355" cy="1143635"/>
            </a:xfrm>
            <a:custGeom>
              <a:avLst/>
              <a:gdLst/>
              <a:ahLst/>
              <a:cxnLst/>
              <a:rect l="l" t="t" r="r" b="b"/>
              <a:pathLst>
                <a:path w="8047355" h="1143635">
                  <a:moveTo>
                    <a:pt x="110159" y="0"/>
                  </a:moveTo>
                  <a:lnTo>
                    <a:pt x="68095" y="8352"/>
                  </a:lnTo>
                  <a:lnTo>
                    <a:pt x="32535" y="32213"/>
                  </a:lnTo>
                  <a:lnTo>
                    <a:pt x="8721" y="67882"/>
                  </a:lnTo>
                  <a:lnTo>
                    <a:pt x="368" y="109791"/>
                  </a:lnTo>
                  <a:lnTo>
                    <a:pt x="0" y="1033551"/>
                  </a:lnTo>
                  <a:lnTo>
                    <a:pt x="939" y="1047981"/>
                  </a:lnTo>
                  <a:lnTo>
                    <a:pt x="14770" y="1088631"/>
                  </a:lnTo>
                  <a:lnTo>
                    <a:pt x="43011" y="1120578"/>
                  </a:lnTo>
                  <a:lnTo>
                    <a:pt x="81360" y="1139620"/>
                  </a:lnTo>
                  <a:lnTo>
                    <a:pt x="109804" y="1143355"/>
                  </a:lnTo>
                  <a:lnTo>
                    <a:pt x="7937284" y="1143355"/>
                  </a:lnTo>
                  <a:lnTo>
                    <a:pt x="7979355" y="1135002"/>
                  </a:lnTo>
                  <a:lnTo>
                    <a:pt x="8014857" y="1111176"/>
                  </a:lnTo>
                  <a:lnTo>
                    <a:pt x="8038654" y="1075622"/>
                  </a:lnTo>
                  <a:lnTo>
                    <a:pt x="8047088" y="1033551"/>
                  </a:lnTo>
                  <a:lnTo>
                    <a:pt x="8047064" y="109791"/>
                  </a:lnTo>
                  <a:lnTo>
                    <a:pt x="8038730" y="68088"/>
                  </a:lnTo>
                  <a:lnTo>
                    <a:pt x="8014863" y="32534"/>
                  </a:lnTo>
                  <a:lnTo>
                    <a:pt x="7979205" y="8708"/>
                  </a:lnTo>
                  <a:lnTo>
                    <a:pt x="793728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3336836" y="3977284"/>
              <a:ext cx="8047355" cy="1143635"/>
            </a:xfrm>
            <a:custGeom>
              <a:avLst/>
              <a:gdLst/>
              <a:ahLst/>
              <a:cxnLst/>
              <a:rect l="l" t="t" r="r" b="b"/>
              <a:pathLst>
                <a:path w="8047355" h="1143635">
                  <a:moveTo>
                    <a:pt x="368" y="109791"/>
                  </a:moveTo>
                  <a:lnTo>
                    <a:pt x="1307" y="95374"/>
                  </a:lnTo>
                  <a:lnTo>
                    <a:pt x="4103" y="81359"/>
                  </a:lnTo>
                  <a:lnTo>
                    <a:pt x="23138" y="43003"/>
                  </a:lnTo>
                  <a:lnTo>
                    <a:pt x="55079" y="14757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7937284" y="355"/>
                  </a:lnTo>
                  <a:lnTo>
                    <a:pt x="7979205" y="8708"/>
                  </a:lnTo>
                  <a:lnTo>
                    <a:pt x="8014863" y="32534"/>
                  </a:lnTo>
                  <a:lnTo>
                    <a:pt x="8038730" y="68088"/>
                  </a:lnTo>
                  <a:lnTo>
                    <a:pt x="8047088" y="110159"/>
                  </a:lnTo>
                  <a:lnTo>
                    <a:pt x="8047088" y="1033551"/>
                  </a:lnTo>
                  <a:lnTo>
                    <a:pt x="8046148" y="1047976"/>
                  </a:lnTo>
                  <a:lnTo>
                    <a:pt x="8043351" y="1061994"/>
                  </a:lnTo>
                  <a:lnTo>
                    <a:pt x="8024305" y="1100344"/>
                  </a:lnTo>
                  <a:lnTo>
                    <a:pt x="7992363" y="1128598"/>
                  </a:lnTo>
                  <a:lnTo>
                    <a:pt x="7951714" y="1142415"/>
                  </a:lnTo>
                  <a:lnTo>
                    <a:pt x="7937284" y="1143355"/>
                  </a:lnTo>
                  <a:lnTo>
                    <a:pt x="109804" y="1143355"/>
                  </a:lnTo>
                  <a:lnTo>
                    <a:pt x="67882" y="1135002"/>
                  </a:lnTo>
                  <a:lnTo>
                    <a:pt x="32224" y="1111176"/>
                  </a:lnTo>
                  <a:lnTo>
                    <a:pt x="8358" y="1075622"/>
                  </a:lnTo>
                  <a:lnTo>
                    <a:pt x="0" y="1033551"/>
                  </a:lnTo>
                  <a:lnTo>
                    <a:pt x="368" y="109791"/>
                  </a:lnTo>
                  <a:close/>
                </a:path>
              </a:pathLst>
            </a:custGeom>
            <a:ln w="10079">
              <a:solidFill>
                <a:srgbClr val="DBE4E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/>
          <p:cNvSpPr txBox="1"/>
          <p:nvPr/>
        </p:nvSpPr>
        <p:spPr>
          <a:xfrm>
            <a:off x="3766934" y="4162590"/>
            <a:ext cx="7178040" cy="7651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5715">
              <a:lnSpc>
                <a:spcPct val="100000"/>
              </a:lnSpc>
              <a:spcBef>
                <a:spcPts val="95"/>
              </a:spcBef>
            </a:pPr>
            <a:r>
              <a:rPr dirty="0" sz="1600" spc="-55">
                <a:solidFill>
                  <a:srgbClr val="0F2339"/>
                </a:solidFill>
                <a:latin typeface="Arial Black"/>
                <a:cs typeface="Arial Black"/>
              </a:rPr>
              <a:t>Not</a:t>
            </a:r>
            <a:r>
              <a:rPr dirty="0" sz="1600" spc="-10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600" spc="-95">
                <a:solidFill>
                  <a:srgbClr val="0F2339"/>
                </a:solidFill>
                <a:latin typeface="Arial Black"/>
                <a:cs typeface="Arial Black"/>
              </a:rPr>
              <a:t>every</a:t>
            </a:r>
            <a:r>
              <a:rPr dirty="0" sz="1600" spc="-100">
                <a:solidFill>
                  <a:srgbClr val="0F2339"/>
                </a:solidFill>
                <a:latin typeface="Arial Black"/>
                <a:cs typeface="Arial Black"/>
              </a:rPr>
              <a:t> Azure</a:t>
            </a:r>
            <a:r>
              <a:rPr dirty="0" sz="1600" spc="-9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600" spc="-120">
                <a:solidFill>
                  <a:srgbClr val="0F2339"/>
                </a:solidFill>
                <a:latin typeface="Arial Black"/>
                <a:cs typeface="Arial Black"/>
              </a:rPr>
              <a:t>service</a:t>
            </a:r>
            <a:r>
              <a:rPr dirty="0" sz="1600" spc="-10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600" spc="-125">
                <a:solidFill>
                  <a:srgbClr val="0F2339"/>
                </a:solidFill>
                <a:latin typeface="Arial Black"/>
                <a:cs typeface="Arial Black"/>
              </a:rPr>
              <a:t>is</a:t>
            </a:r>
            <a:r>
              <a:rPr dirty="0" sz="1600" spc="-9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600" spc="-90">
                <a:solidFill>
                  <a:srgbClr val="0F2339"/>
                </a:solidFill>
                <a:latin typeface="Arial Black"/>
                <a:cs typeface="Arial Black"/>
              </a:rPr>
              <a:t>deployed</a:t>
            </a:r>
            <a:r>
              <a:rPr dirty="0" sz="1600" spc="-10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600" spc="-60">
                <a:solidFill>
                  <a:srgbClr val="0F2339"/>
                </a:solidFill>
                <a:latin typeface="Arial Black"/>
                <a:cs typeface="Arial Black"/>
              </a:rPr>
              <a:t>the</a:t>
            </a:r>
            <a:r>
              <a:rPr dirty="0" sz="1600" spc="-9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600" spc="-120">
                <a:solidFill>
                  <a:srgbClr val="0F2339"/>
                </a:solidFill>
                <a:latin typeface="Arial Black"/>
                <a:cs typeface="Arial Black"/>
              </a:rPr>
              <a:t>same</a:t>
            </a:r>
            <a:r>
              <a:rPr dirty="0" sz="1600" spc="-10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600" spc="-25">
                <a:solidFill>
                  <a:srgbClr val="0F2339"/>
                </a:solidFill>
                <a:latin typeface="Arial Black"/>
                <a:cs typeface="Arial Black"/>
              </a:rPr>
              <a:t>way</a:t>
            </a:r>
            <a:endParaRPr sz="1600">
              <a:latin typeface="Arial Black"/>
              <a:cs typeface="Arial Black"/>
            </a:endParaRPr>
          </a:p>
          <a:p>
            <a:pPr algn="ctr">
              <a:lnSpc>
                <a:spcPct val="100000"/>
              </a:lnSpc>
              <a:spcBef>
                <a:spcPts val="1030"/>
              </a:spcBef>
            </a:pPr>
            <a:r>
              <a:rPr dirty="0" sz="1200">
                <a:solidFill>
                  <a:srgbClr val="556478"/>
                </a:solidFill>
                <a:latin typeface="Noto Sans"/>
                <a:cs typeface="Noto Sans"/>
              </a:rPr>
              <a:t>Some</a:t>
            </a:r>
            <a:r>
              <a:rPr dirty="0" sz="12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00">
                <a:solidFill>
                  <a:srgbClr val="556478"/>
                </a:solidFill>
                <a:latin typeface="Noto Sans"/>
                <a:cs typeface="Noto Sans"/>
              </a:rPr>
              <a:t>services</a:t>
            </a:r>
            <a:r>
              <a:rPr dirty="0" sz="120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00">
                <a:solidFill>
                  <a:srgbClr val="556478"/>
                </a:solidFill>
                <a:latin typeface="Noto Sans"/>
                <a:cs typeface="Noto Sans"/>
              </a:rPr>
              <a:t>are</a:t>
            </a:r>
            <a:r>
              <a:rPr dirty="0" sz="120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00">
                <a:solidFill>
                  <a:srgbClr val="556478"/>
                </a:solidFill>
                <a:latin typeface="Noto Sans"/>
                <a:cs typeface="Noto Sans"/>
              </a:rPr>
              <a:t>regional,</a:t>
            </a:r>
            <a:r>
              <a:rPr dirty="0" sz="120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00">
                <a:solidFill>
                  <a:srgbClr val="556478"/>
                </a:solidFill>
                <a:latin typeface="Noto Sans"/>
                <a:cs typeface="Noto Sans"/>
              </a:rPr>
              <a:t>some</a:t>
            </a:r>
            <a:r>
              <a:rPr dirty="0" sz="1200" spc="-2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00">
                <a:solidFill>
                  <a:srgbClr val="556478"/>
                </a:solidFill>
                <a:latin typeface="Noto Sans"/>
                <a:cs typeface="Noto Sans"/>
              </a:rPr>
              <a:t>are</a:t>
            </a:r>
            <a:r>
              <a:rPr dirty="0" sz="120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00" spc="-10">
                <a:solidFill>
                  <a:srgbClr val="556478"/>
                </a:solidFill>
                <a:latin typeface="Noto Sans"/>
                <a:cs typeface="Noto Sans"/>
              </a:rPr>
              <a:t>zone-redundant,</a:t>
            </a:r>
            <a:r>
              <a:rPr dirty="0" sz="120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00">
                <a:solidFill>
                  <a:srgbClr val="556478"/>
                </a:solidFill>
                <a:latin typeface="Noto Sans"/>
                <a:cs typeface="Noto Sans"/>
              </a:rPr>
              <a:t>and</a:t>
            </a:r>
            <a:r>
              <a:rPr dirty="0" sz="120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00">
                <a:solidFill>
                  <a:srgbClr val="556478"/>
                </a:solidFill>
                <a:latin typeface="Noto Sans"/>
                <a:cs typeface="Noto Sans"/>
              </a:rPr>
              <a:t>some</a:t>
            </a:r>
            <a:r>
              <a:rPr dirty="0" sz="12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00" spc="-10">
                <a:solidFill>
                  <a:srgbClr val="556478"/>
                </a:solidFill>
                <a:latin typeface="Noto Sans"/>
                <a:cs typeface="Noto Sans"/>
              </a:rPr>
              <a:t>control-</a:t>
            </a:r>
            <a:r>
              <a:rPr dirty="0" sz="1200">
                <a:solidFill>
                  <a:srgbClr val="556478"/>
                </a:solidFill>
                <a:latin typeface="Noto Sans"/>
                <a:cs typeface="Noto Sans"/>
              </a:rPr>
              <a:t>plane</a:t>
            </a:r>
            <a:r>
              <a:rPr dirty="0" sz="1200" spc="-2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00" spc="-10">
                <a:solidFill>
                  <a:srgbClr val="556478"/>
                </a:solidFill>
                <a:latin typeface="Noto Sans"/>
                <a:cs typeface="Noto Sans"/>
              </a:rPr>
              <a:t>resources</a:t>
            </a:r>
            <a:r>
              <a:rPr dirty="0" sz="120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00">
                <a:solidFill>
                  <a:srgbClr val="556478"/>
                </a:solidFill>
                <a:latin typeface="Noto Sans"/>
                <a:cs typeface="Noto Sans"/>
              </a:rPr>
              <a:t>are</a:t>
            </a:r>
            <a:r>
              <a:rPr dirty="0" sz="120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00" spc="-10">
                <a:solidFill>
                  <a:srgbClr val="556478"/>
                </a:solidFill>
                <a:latin typeface="Noto Sans"/>
                <a:cs typeface="Noto Sans"/>
              </a:rPr>
              <a:t>global.</a:t>
            </a:r>
            <a:endParaRPr sz="1200">
              <a:latin typeface="Noto Sans"/>
              <a:cs typeface="Noto Sans"/>
            </a:endParaRPr>
          </a:p>
          <a:p>
            <a:pPr algn="ctr" marL="3810">
              <a:lnSpc>
                <a:spcPct val="100000"/>
              </a:lnSpc>
            </a:pPr>
            <a:r>
              <a:rPr dirty="0" sz="1200">
                <a:solidFill>
                  <a:srgbClr val="556478"/>
                </a:solidFill>
                <a:latin typeface="Noto Sans"/>
                <a:cs typeface="Noto Sans"/>
              </a:rPr>
              <a:t>Check</a:t>
            </a:r>
            <a:r>
              <a:rPr dirty="0" sz="1200" spc="-2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00">
                <a:solidFill>
                  <a:srgbClr val="556478"/>
                </a:solidFill>
                <a:latin typeface="Noto Sans"/>
                <a:cs typeface="Noto Sans"/>
              </a:rPr>
              <a:t>the</a:t>
            </a:r>
            <a:r>
              <a:rPr dirty="0" sz="1200" spc="-2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00">
                <a:solidFill>
                  <a:srgbClr val="556478"/>
                </a:solidFill>
                <a:latin typeface="Noto Sans"/>
                <a:cs typeface="Noto Sans"/>
              </a:rPr>
              <a:t>specific</a:t>
            </a:r>
            <a:r>
              <a:rPr dirty="0" sz="1200" spc="-2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00" spc="-10">
                <a:solidFill>
                  <a:srgbClr val="556478"/>
                </a:solidFill>
                <a:latin typeface="Noto Sans"/>
                <a:cs typeface="Noto Sans"/>
              </a:rPr>
              <a:t>service’s</a:t>
            </a:r>
            <a:r>
              <a:rPr dirty="0" sz="1200" spc="-2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00">
                <a:solidFill>
                  <a:srgbClr val="556478"/>
                </a:solidFill>
                <a:latin typeface="Noto Sans"/>
                <a:cs typeface="Noto Sans"/>
              </a:rPr>
              <a:t>regional</a:t>
            </a:r>
            <a:r>
              <a:rPr dirty="0" sz="1200" spc="-2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00">
                <a:solidFill>
                  <a:srgbClr val="556478"/>
                </a:solidFill>
                <a:latin typeface="Noto Sans"/>
                <a:cs typeface="Noto Sans"/>
              </a:rPr>
              <a:t>and</a:t>
            </a:r>
            <a:r>
              <a:rPr dirty="0" sz="1200" spc="-2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00">
                <a:solidFill>
                  <a:srgbClr val="556478"/>
                </a:solidFill>
                <a:latin typeface="Noto Sans"/>
                <a:cs typeface="Noto Sans"/>
              </a:rPr>
              <a:t>zone</a:t>
            </a:r>
            <a:r>
              <a:rPr dirty="0" sz="1200" spc="-2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00" spc="-10">
                <a:solidFill>
                  <a:srgbClr val="556478"/>
                </a:solidFill>
                <a:latin typeface="Noto Sans"/>
                <a:cs typeface="Noto Sans"/>
              </a:rPr>
              <a:t>support.</a:t>
            </a:r>
            <a:endParaRPr sz="1200">
              <a:latin typeface="Noto Sans"/>
              <a:cs typeface="Noto San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66635" y="6382435"/>
            <a:ext cx="11064240" cy="635"/>
          </a:xfrm>
          <a:custGeom>
            <a:avLst/>
            <a:gdLst/>
            <a:ahLst/>
            <a:cxnLst/>
            <a:rect l="l" t="t" r="r" b="b"/>
            <a:pathLst>
              <a:path w="11064240" h="635">
                <a:moveTo>
                  <a:pt x="0" y="0"/>
                </a:moveTo>
                <a:lnTo>
                  <a:pt x="11064240" y="368"/>
                </a:lnTo>
              </a:path>
            </a:pathLst>
          </a:custGeom>
          <a:ln w="8999">
            <a:solidFill>
              <a:srgbClr val="DBE4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90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 spc="-100"/>
              <a:t>DAY</a:t>
            </a:r>
            <a:r>
              <a:rPr dirty="0" spc="-55"/>
              <a:t> </a:t>
            </a:r>
            <a:r>
              <a:rPr dirty="0"/>
              <a:t>1</a:t>
            </a:r>
            <a:r>
              <a:rPr dirty="0" spc="105"/>
              <a:t> </a:t>
            </a:r>
            <a:r>
              <a:rPr dirty="0"/>
              <a:t>•</a:t>
            </a:r>
            <a:r>
              <a:rPr dirty="0" spc="130"/>
              <a:t> </a:t>
            </a:r>
            <a:r>
              <a:rPr dirty="0" spc="-70"/>
              <a:t>CLOUD</a:t>
            </a:r>
            <a:r>
              <a:rPr dirty="0" spc="-55"/>
              <a:t> </a:t>
            </a:r>
            <a:r>
              <a:rPr dirty="0" spc="-65"/>
              <a:t>FOUNDATIONS</a:t>
            </a:r>
            <a:r>
              <a:rPr dirty="0" spc="-55"/>
              <a:t> </a:t>
            </a:r>
            <a:r>
              <a:rPr dirty="0" spc="-105"/>
              <a:t>&amp;</a:t>
            </a:r>
            <a:r>
              <a:rPr dirty="0" spc="-50"/>
              <a:t> </a:t>
            </a:r>
            <a:r>
              <a:rPr dirty="0" spc="-95"/>
              <a:t>AZURE</a:t>
            </a:r>
            <a:r>
              <a:rPr dirty="0" spc="-55"/>
              <a:t> </a:t>
            </a:r>
            <a:r>
              <a:rPr dirty="0" spc="-50"/>
              <a:t>BASICS</a:t>
            </a:r>
          </a:p>
        </p:txBody>
      </p:sp>
      <p:sp>
        <p:nvSpPr>
          <p:cNvPr id="38" name="object 3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032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160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3935" y="299427"/>
            <a:ext cx="177609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65">
                <a:solidFill>
                  <a:srgbClr val="0077D3"/>
                </a:solidFill>
                <a:latin typeface="Arial Black"/>
                <a:cs typeface="Arial Black"/>
              </a:rPr>
              <a:t>PA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25">
                <a:solidFill>
                  <a:srgbClr val="0077D3"/>
                </a:solidFill>
                <a:latin typeface="Arial Black"/>
                <a:cs typeface="Arial Black"/>
              </a:rPr>
              <a:t>R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>
                <a:solidFill>
                  <a:srgbClr val="0077D3"/>
                </a:solidFill>
                <a:latin typeface="Arial Black"/>
                <a:cs typeface="Arial Black"/>
              </a:rPr>
              <a:t>T</a:t>
            </a:r>
            <a:r>
              <a:rPr dirty="0" sz="1000" spc="-5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>
                <a:solidFill>
                  <a:srgbClr val="0077D3"/>
                </a:solidFill>
                <a:latin typeface="Arial Black"/>
                <a:cs typeface="Arial Black"/>
              </a:rPr>
              <a:t>2</a:t>
            </a:r>
            <a:r>
              <a:rPr dirty="0" sz="1000" spc="45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>
                <a:solidFill>
                  <a:srgbClr val="0077D3"/>
                </a:solidFill>
                <a:latin typeface="Arial Black"/>
                <a:cs typeface="Arial Black"/>
              </a:rPr>
              <a:t>•</a:t>
            </a:r>
            <a:r>
              <a:rPr dirty="0" sz="1000" spc="12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95">
                <a:solidFill>
                  <a:srgbClr val="0077D3"/>
                </a:solidFill>
                <a:latin typeface="Arial Black"/>
                <a:cs typeface="Arial Black"/>
              </a:rPr>
              <a:t>A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60">
                <a:solidFill>
                  <a:srgbClr val="0077D3"/>
                </a:solidFill>
                <a:latin typeface="Arial Black"/>
                <a:cs typeface="Arial Black"/>
              </a:rPr>
              <a:t>Z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90">
                <a:solidFill>
                  <a:srgbClr val="0077D3"/>
                </a:solidFill>
                <a:latin typeface="Arial Black"/>
                <a:cs typeface="Arial Black"/>
              </a:rPr>
              <a:t>U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25">
                <a:solidFill>
                  <a:srgbClr val="0077D3"/>
                </a:solidFill>
                <a:latin typeface="Arial Black"/>
                <a:cs typeface="Arial Black"/>
              </a:rPr>
              <a:t>R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>
                <a:solidFill>
                  <a:srgbClr val="0077D3"/>
                </a:solidFill>
                <a:latin typeface="Arial Black"/>
                <a:cs typeface="Arial Black"/>
              </a:rPr>
              <a:t>E</a:t>
            </a:r>
            <a:r>
              <a:rPr dirty="0" sz="1000" spc="114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14">
                <a:solidFill>
                  <a:srgbClr val="0077D3"/>
                </a:solidFill>
                <a:latin typeface="Arial Black"/>
                <a:cs typeface="Arial Black"/>
              </a:rPr>
              <a:t>B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95">
                <a:solidFill>
                  <a:srgbClr val="0077D3"/>
                </a:solidFill>
                <a:latin typeface="Arial Black"/>
                <a:cs typeface="Arial Black"/>
              </a:rPr>
              <a:t>A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80">
                <a:solidFill>
                  <a:srgbClr val="0077D3"/>
                </a:solidFill>
                <a:latin typeface="Arial Black"/>
                <a:cs typeface="Arial Black"/>
              </a:rPr>
              <a:t>S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>
                <a:solidFill>
                  <a:srgbClr val="0077D3"/>
                </a:solidFill>
                <a:latin typeface="Arial Black"/>
                <a:cs typeface="Arial Black"/>
              </a:rPr>
              <a:t>I</a:t>
            </a:r>
            <a:r>
              <a:rPr dirty="0" sz="1000" spc="-204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45">
                <a:solidFill>
                  <a:srgbClr val="0077D3"/>
                </a:solidFill>
                <a:latin typeface="Arial Black"/>
                <a:cs typeface="Arial Black"/>
              </a:rPr>
              <a:t>C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10">
                <a:solidFill>
                  <a:srgbClr val="0077D3"/>
                </a:solidFill>
                <a:latin typeface="Arial Black"/>
                <a:cs typeface="Arial Black"/>
              </a:rPr>
              <a:t>S</a:t>
            </a:r>
            <a:endParaRPr sz="1000">
              <a:latin typeface="Arial Black"/>
              <a:cs typeface="Arial Black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54304" y="428977"/>
            <a:ext cx="6605270" cy="814705"/>
          </a:xfrm>
          <a:prstGeom prst="rect"/>
        </p:spPr>
        <p:txBody>
          <a:bodyPr wrap="square" lIns="0" tIns="133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0"/>
              </a:spcBef>
            </a:pPr>
            <a:r>
              <a:rPr dirty="0" sz="2700" spc="-165">
                <a:solidFill>
                  <a:srgbClr val="0F2339"/>
                </a:solidFill>
              </a:rPr>
              <a:t>Choosing</a:t>
            </a:r>
            <a:r>
              <a:rPr dirty="0" sz="2700" spc="-180">
                <a:solidFill>
                  <a:srgbClr val="0F2339"/>
                </a:solidFill>
              </a:rPr>
              <a:t> </a:t>
            </a:r>
            <a:r>
              <a:rPr dirty="0" sz="2700" spc="-114">
                <a:solidFill>
                  <a:srgbClr val="0F2339"/>
                </a:solidFill>
              </a:rPr>
              <a:t>an</a:t>
            </a:r>
            <a:r>
              <a:rPr dirty="0" sz="2700" spc="-185">
                <a:solidFill>
                  <a:srgbClr val="0F2339"/>
                </a:solidFill>
              </a:rPr>
              <a:t> </a:t>
            </a:r>
            <a:r>
              <a:rPr dirty="0" sz="2700" spc="-150">
                <a:solidFill>
                  <a:srgbClr val="0F2339"/>
                </a:solidFill>
              </a:rPr>
              <a:t>Azure</a:t>
            </a:r>
            <a:r>
              <a:rPr dirty="0" sz="2700" spc="-180">
                <a:solidFill>
                  <a:srgbClr val="0F2339"/>
                </a:solidFill>
              </a:rPr>
              <a:t> </a:t>
            </a:r>
            <a:r>
              <a:rPr dirty="0" sz="2700" spc="-10">
                <a:solidFill>
                  <a:srgbClr val="0F2339"/>
                </a:solidFill>
              </a:rPr>
              <a:t>Region</a:t>
            </a:r>
            <a:endParaRPr sz="2700"/>
          </a:p>
          <a:p>
            <a:pPr marL="30480">
              <a:lnSpc>
                <a:spcPct val="100000"/>
              </a:lnSpc>
              <a:spcBef>
                <a:spcPts val="459"/>
              </a:spcBef>
            </a:pP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Region</a:t>
            </a:r>
            <a:r>
              <a:rPr dirty="0" sz="13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choice</a:t>
            </a:r>
            <a:r>
              <a:rPr dirty="0" sz="130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is</a:t>
            </a:r>
            <a:r>
              <a:rPr dirty="0" sz="13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an</a:t>
            </a:r>
            <a:r>
              <a:rPr dirty="0" sz="130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architecture</a:t>
            </a:r>
            <a:r>
              <a:rPr dirty="0" sz="130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decision—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not</a:t>
            </a:r>
            <a:r>
              <a:rPr dirty="0" sz="13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just</a:t>
            </a:r>
            <a:r>
              <a:rPr dirty="0" sz="130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the</a:t>
            </a:r>
            <a:r>
              <a:rPr dirty="0" sz="130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nearest</a:t>
            </a:r>
            <a:r>
              <a:rPr dirty="0" sz="13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option</a:t>
            </a:r>
            <a:r>
              <a:rPr dirty="0" sz="130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in</a:t>
            </a:r>
            <a:r>
              <a:rPr dirty="0" sz="13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a</a:t>
            </a:r>
            <a:r>
              <a:rPr dirty="0" sz="130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dropdown.</a:t>
            </a:r>
            <a:endParaRPr sz="1300">
              <a:latin typeface="Noto Sans"/>
              <a:cs typeface="Noto San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66635" y="1417319"/>
            <a:ext cx="11064240" cy="635"/>
          </a:xfrm>
          <a:custGeom>
            <a:avLst/>
            <a:gdLst/>
            <a:ahLst/>
            <a:cxnLst/>
            <a:rect l="l" t="t" r="r" b="b"/>
            <a:pathLst>
              <a:path w="11064240" h="634">
                <a:moveTo>
                  <a:pt x="0" y="0"/>
                </a:moveTo>
                <a:lnTo>
                  <a:pt x="11064240" y="355"/>
                </a:lnTo>
              </a:path>
            </a:pathLst>
          </a:custGeom>
          <a:ln w="10079">
            <a:solidFill>
              <a:srgbClr val="DBE4ED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6" name="object 6"/>
          <p:cNvGrpSpPr/>
          <p:nvPr/>
        </p:nvGrpSpPr>
        <p:grpSpPr>
          <a:xfrm>
            <a:off x="864900" y="1788304"/>
            <a:ext cx="354965" cy="354965"/>
            <a:chOff x="864900" y="1788304"/>
            <a:chExt cx="354965" cy="354965"/>
          </a:xfrm>
        </p:grpSpPr>
        <p:sp>
          <p:nvSpPr>
            <p:cNvPr id="7" name="object 7"/>
            <p:cNvSpPr/>
            <p:nvPr/>
          </p:nvSpPr>
          <p:spPr>
            <a:xfrm>
              <a:off x="868680" y="1792084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80" h="347980">
                  <a:moveTo>
                    <a:pt x="173875" y="0"/>
                  </a:moveTo>
                  <a:lnTo>
                    <a:pt x="128833" y="5846"/>
                  </a:lnTo>
                  <a:lnTo>
                    <a:pt x="86753" y="23037"/>
                  </a:lnTo>
                  <a:lnTo>
                    <a:pt x="50893" y="50576"/>
                  </a:lnTo>
                  <a:lnTo>
                    <a:pt x="23406" y="86753"/>
                  </a:lnTo>
                  <a:lnTo>
                    <a:pt x="5897" y="128512"/>
                  </a:lnTo>
                  <a:lnTo>
                    <a:pt x="0" y="173520"/>
                  </a:lnTo>
                  <a:lnTo>
                    <a:pt x="1480" y="196287"/>
                  </a:lnTo>
                  <a:lnTo>
                    <a:pt x="13217" y="239935"/>
                  </a:lnTo>
                  <a:lnTo>
                    <a:pt x="35984" y="279344"/>
                  </a:lnTo>
                  <a:lnTo>
                    <a:pt x="67895" y="311405"/>
                  </a:lnTo>
                  <a:lnTo>
                    <a:pt x="107304" y="334028"/>
                  </a:lnTo>
                  <a:lnTo>
                    <a:pt x="151102" y="345865"/>
                  </a:lnTo>
                  <a:lnTo>
                    <a:pt x="173875" y="347395"/>
                  </a:lnTo>
                  <a:lnTo>
                    <a:pt x="196443" y="345865"/>
                  </a:lnTo>
                  <a:lnTo>
                    <a:pt x="240096" y="334028"/>
                  </a:lnTo>
                  <a:lnTo>
                    <a:pt x="279500" y="311405"/>
                  </a:lnTo>
                  <a:lnTo>
                    <a:pt x="311416" y="279344"/>
                  </a:lnTo>
                  <a:lnTo>
                    <a:pt x="334188" y="239935"/>
                  </a:lnTo>
                  <a:lnTo>
                    <a:pt x="345917" y="196287"/>
                  </a:lnTo>
                  <a:lnTo>
                    <a:pt x="347395" y="173520"/>
                  </a:lnTo>
                  <a:lnTo>
                    <a:pt x="345917" y="150745"/>
                  </a:lnTo>
                  <a:lnTo>
                    <a:pt x="334188" y="107092"/>
                  </a:lnTo>
                  <a:lnTo>
                    <a:pt x="311416" y="67688"/>
                  </a:lnTo>
                  <a:lnTo>
                    <a:pt x="279500" y="35624"/>
                  </a:lnTo>
                  <a:lnTo>
                    <a:pt x="240096" y="13056"/>
                  </a:lnTo>
                  <a:lnTo>
                    <a:pt x="196443" y="1472"/>
                  </a:lnTo>
                  <a:lnTo>
                    <a:pt x="173875" y="0"/>
                  </a:lnTo>
                  <a:close/>
                </a:path>
              </a:pathLst>
            </a:custGeom>
            <a:solidFill>
              <a:srgbClr val="0077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868680" y="1792084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80" h="347980">
                  <a:moveTo>
                    <a:pt x="0" y="173520"/>
                  </a:moveTo>
                  <a:lnTo>
                    <a:pt x="1480" y="150745"/>
                  </a:lnTo>
                  <a:lnTo>
                    <a:pt x="5897" y="128512"/>
                  </a:lnTo>
                  <a:lnTo>
                    <a:pt x="23406" y="86753"/>
                  </a:lnTo>
                  <a:lnTo>
                    <a:pt x="50893" y="50576"/>
                  </a:lnTo>
                  <a:lnTo>
                    <a:pt x="86753" y="23037"/>
                  </a:lnTo>
                  <a:lnTo>
                    <a:pt x="128833" y="5846"/>
                  </a:lnTo>
                  <a:lnTo>
                    <a:pt x="173875" y="0"/>
                  </a:lnTo>
                  <a:lnTo>
                    <a:pt x="218606" y="5846"/>
                  </a:lnTo>
                  <a:lnTo>
                    <a:pt x="260642" y="23037"/>
                  </a:lnTo>
                  <a:lnTo>
                    <a:pt x="296503" y="50576"/>
                  </a:lnTo>
                  <a:lnTo>
                    <a:pt x="324002" y="86753"/>
                  </a:lnTo>
                  <a:lnTo>
                    <a:pt x="341504" y="128512"/>
                  </a:lnTo>
                  <a:lnTo>
                    <a:pt x="347395" y="173520"/>
                  </a:lnTo>
                  <a:lnTo>
                    <a:pt x="345917" y="196287"/>
                  </a:lnTo>
                  <a:lnTo>
                    <a:pt x="341504" y="218516"/>
                  </a:lnTo>
                  <a:lnTo>
                    <a:pt x="324002" y="260273"/>
                  </a:lnTo>
                  <a:lnTo>
                    <a:pt x="296503" y="296456"/>
                  </a:lnTo>
                  <a:lnTo>
                    <a:pt x="260642" y="323989"/>
                  </a:lnTo>
                  <a:lnTo>
                    <a:pt x="218606" y="341364"/>
                  </a:lnTo>
                  <a:lnTo>
                    <a:pt x="173875" y="347395"/>
                  </a:lnTo>
                  <a:lnTo>
                    <a:pt x="128833" y="341364"/>
                  </a:lnTo>
                  <a:lnTo>
                    <a:pt x="86753" y="323989"/>
                  </a:lnTo>
                  <a:lnTo>
                    <a:pt x="50893" y="296456"/>
                  </a:lnTo>
                  <a:lnTo>
                    <a:pt x="23406" y="260273"/>
                  </a:lnTo>
                  <a:lnTo>
                    <a:pt x="5897" y="218516"/>
                  </a:lnTo>
                  <a:lnTo>
                    <a:pt x="1480" y="196287"/>
                  </a:lnTo>
                  <a:lnTo>
                    <a:pt x="0" y="173520"/>
                  </a:lnTo>
                  <a:close/>
                </a:path>
              </a:pathLst>
            </a:custGeom>
            <a:ln w="7559">
              <a:solidFill>
                <a:srgbClr val="0077D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986294" y="1843811"/>
            <a:ext cx="1130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60">
                <a:solidFill>
                  <a:srgbClr val="FFFFFF"/>
                </a:solidFill>
                <a:latin typeface="Arial Black"/>
                <a:cs typeface="Arial Black"/>
              </a:rPr>
              <a:t>1</a:t>
            </a:r>
            <a:endParaRPr sz="1200">
              <a:latin typeface="Arial Black"/>
              <a:cs typeface="Arial Black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04619" y="1759585"/>
            <a:ext cx="72580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95">
                <a:solidFill>
                  <a:srgbClr val="0F2339"/>
                </a:solidFill>
                <a:latin typeface="Arial Black"/>
                <a:cs typeface="Arial Black"/>
              </a:rPr>
              <a:t>Latency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553104" y="1733295"/>
            <a:ext cx="4708525" cy="2165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>
                <a:solidFill>
                  <a:srgbClr val="556478"/>
                </a:solidFill>
                <a:latin typeface="Noto Sans"/>
                <a:cs typeface="Noto Sans"/>
              </a:rPr>
              <a:t>Place</a:t>
            </a:r>
            <a:r>
              <a:rPr dirty="0" sz="125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50">
                <a:solidFill>
                  <a:srgbClr val="556478"/>
                </a:solidFill>
                <a:latin typeface="Noto Sans"/>
                <a:cs typeface="Noto Sans"/>
              </a:rPr>
              <a:t>compute</a:t>
            </a:r>
            <a:r>
              <a:rPr dirty="0" sz="125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50">
                <a:solidFill>
                  <a:srgbClr val="556478"/>
                </a:solidFill>
                <a:latin typeface="Noto Sans"/>
                <a:cs typeface="Noto Sans"/>
              </a:rPr>
              <a:t>and</a:t>
            </a:r>
            <a:r>
              <a:rPr dirty="0" sz="125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50">
                <a:solidFill>
                  <a:srgbClr val="556478"/>
                </a:solidFill>
                <a:latin typeface="Noto Sans"/>
                <a:cs typeface="Noto Sans"/>
              </a:rPr>
              <a:t>data</a:t>
            </a:r>
            <a:r>
              <a:rPr dirty="0" sz="125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50">
                <a:solidFill>
                  <a:srgbClr val="556478"/>
                </a:solidFill>
                <a:latin typeface="Noto Sans"/>
                <a:cs typeface="Noto Sans"/>
              </a:rPr>
              <a:t>close</a:t>
            </a:r>
            <a:r>
              <a:rPr dirty="0" sz="125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50">
                <a:solidFill>
                  <a:srgbClr val="556478"/>
                </a:solidFill>
                <a:latin typeface="Noto Sans"/>
                <a:cs typeface="Noto Sans"/>
              </a:rPr>
              <a:t>to</a:t>
            </a:r>
            <a:r>
              <a:rPr dirty="0" sz="125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50">
                <a:solidFill>
                  <a:srgbClr val="556478"/>
                </a:solidFill>
                <a:latin typeface="Noto Sans"/>
                <a:cs typeface="Noto Sans"/>
              </a:rPr>
              <a:t>users</a:t>
            </a:r>
            <a:r>
              <a:rPr dirty="0" sz="125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50">
                <a:solidFill>
                  <a:srgbClr val="556478"/>
                </a:solidFill>
                <a:latin typeface="Noto Sans"/>
                <a:cs typeface="Noto Sans"/>
              </a:rPr>
              <a:t>and</a:t>
            </a:r>
            <a:r>
              <a:rPr dirty="0" sz="125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50">
                <a:solidFill>
                  <a:srgbClr val="556478"/>
                </a:solidFill>
                <a:latin typeface="Noto Sans"/>
                <a:cs typeface="Noto Sans"/>
              </a:rPr>
              <a:t>connected</a:t>
            </a:r>
            <a:r>
              <a:rPr dirty="0" sz="125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50" spc="-10">
                <a:solidFill>
                  <a:srgbClr val="556478"/>
                </a:solidFill>
                <a:latin typeface="Noto Sans"/>
                <a:cs typeface="Noto Sans"/>
              </a:rPr>
              <a:t>systems.</a:t>
            </a:r>
            <a:endParaRPr sz="1250">
              <a:latin typeface="Noto Sans"/>
              <a:cs typeface="Noto San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417319" y="2349715"/>
            <a:ext cx="9784080" cy="635"/>
          </a:xfrm>
          <a:custGeom>
            <a:avLst/>
            <a:gdLst/>
            <a:ahLst/>
            <a:cxnLst/>
            <a:rect l="l" t="t" r="r" b="b"/>
            <a:pathLst>
              <a:path w="9784080" h="635">
                <a:moveTo>
                  <a:pt x="0" y="0"/>
                </a:moveTo>
                <a:lnTo>
                  <a:pt x="9784080" y="368"/>
                </a:lnTo>
              </a:path>
            </a:pathLst>
          </a:custGeom>
          <a:ln w="7559">
            <a:solidFill>
              <a:srgbClr val="DBE4ED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3" name="object 13"/>
          <p:cNvGrpSpPr/>
          <p:nvPr/>
        </p:nvGrpSpPr>
        <p:grpSpPr>
          <a:xfrm>
            <a:off x="864900" y="2593255"/>
            <a:ext cx="354965" cy="354965"/>
            <a:chOff x="864900" y="2593255"/>
            <a:chExt cx="354965" cy="354965"/>
          </a:xfrm>
        </p:grpSpPr>
        <p:sp>
          <p:nvSpPr>
            <p:cNvPr id="14" name="object 14"/>
            <p:cNvSpPr/>
            <p:nvPr/>
          </p:nvSpPr>
          <p:spPr>
            <a:xfrm>
              <a:off x="868680" y="2597035"/>
              <a:ext cx="347980" cy="347345"/>
            </a:xfrm>
            <a:custGeom>
              <a:avLst/>
              <a:gdLst/>
              <a:ahLst/>
              <a:cxnLst/>
              <a:rect l="l" t="t" r="r" b="b"/>
              <a:pathLst>
                <a:path w="347980" h="347344">
                  <a:moveTo>
                    <a:pt x="173875" y="0"/>
                  </a:moveTo>
                  <a:lnTo>
                    <a:pt x="128833" y="5853"/>
                  </a:lnTo>
                  <a:lnTo>
                    <a:pt x="86753" y="23050"/>
                  </a:lnTo>
                  <a:lnTo>
                    <a:pt x="50893" y="50584"/>
                  </a:lnTo>
                  <a:lnTo>
                    <a:pt x="23406" y="86766"/>
                  </a:lnTo>
                  <a:lnTo>
                    <a:pt x="5897" y="128524"/>
                  </a:lnTo>
                  <a:lnTo>
                    <a:pt x="0" y="173520"/>
                  </a:lnTo>
                  <a:lnTo>
                    <a:pt x="1480" y="196294"/>
                  </a:lnTo>
                  <a:lnTo>
                    <a:pt x="13217" y="239948"/>
                  </a:lnTo>
                  <a:lnTo>
                    <a:pt x="35984" y="279352"/>
                  </a:lnTo>
                  <a:lnTo>
                    <a:pt x="67895" y="311416"/>
                  </a:lnTo>
                  <a:lnTo>
                    <a:pt x="107304" y="333983"/>
                  </a:lnTo>
                  <a:lnTo>
                    <a:pt x="151102" y="345567"/>
                  </a:lnTo>
                  <a:lnTo>
                    <a:pt x="173875" y="347040"/>
                  </a:lnTo>
                  <a:lnTo>
                    <a:pt x="196443" y="345567"/>
                  </a:lnTo>
                  <a:lnTo>
                    <a:pt x="240096" y="333983"/>
                  </a:lnTo>
                  <a:lnTo>
                    <a:pt x="279500" y="311416"/>
                  </a:lnTo>
                  <a:lnTo>
                    <a:pt x="311416" y="279352"/>
                  </a:lnTo>
                  <a:lnTo>
                    <a:pt x="334188" y="239948"/>
                  </a:lnTo>
                  <a:lnTo>
                    <a:pt x="345917" y="196294"/>
                  </a:lnTo>
                  <a:lnTo>
                    <a:pt x="347395" y="173520"/>
                  </a:lnTo>
                  <a:lnTo>
                    <a:pt x="345917" y="150752"/>
                  </a:lnTo>
                  <a:lnTo>
                    <a:pt x="334188" y="107104"/>
                  </a:lnTo>
                  <a:lnTo>
                    <a:pt x="311416" y="67695"/>
                  </a:lnTo>
                  <a:lnTo>
                    <a:pt x="279500" y="35635"/>
                  </a:lnTo>
                  <a:lnTo>
                    <a:pt x="240096" y="13067"/>
                  </a:lnTo>
                  <a:lnTo>
                    <a:pt x="196443" y="1474"/>
                  </a:lnTo>
                  <a:lnTo>
                    <a:pt x="173875" y="0"/>
                  </a:lnTo>
                  <a:close/>
                </a:path>
              </a:pathLst>
            </a:custGeom>
            <a:solidFill>
              <a:srgbClr val="5A39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868680" y="2597035"/>
              <a:ext cx="347980" cy="347345"/>
            </a:xfrm>
            <a:custGeom>
              <a:avLst/>
              <a:gdLst/>
              <a:ahLst/>
              <a:cxnLst/>
              <a:rect l="l" t="t" r="r" b="b"/>
              <a:pathLst>
                <a:path w="347980" h="347344">
                  <a:moveTo>
                    <a:pt x="0" y="173520"/>
                  </a:moveTo>
                  <a:lnTo>
                    <a:pt x="1480" y="150752"/>
                  </a:lnTo>
                  <a:lnTo>
                    <a:pt x="5897" y="128524"/>
                  </a:lnTo>
                  <a:lnTo>
                    <a:pt x="23406" y="86766"/>
                  </a:lnTo>
                  <a:lnTo>
                    <a:pt x="50893" y="50584"/>
                  </a:lnTo>
                  <a:lnTo>
                    <a:pt x="86753" y="23050"/>
                  </a:lnTo>
                  <a:lnTo>
                    <a:pt x="128833" y="5853"/>
                  </a:lnTo>
                  <a:lnTo>
                    <a:pt x="173875" y="0"/>
                  </a:lnTo>
                  <a:lnTo>
                    <a:pt x="218606" y="5853"/>
                  </a:lnTo>
                  <a:lnTo>
                    <a:pt x="260642" y="23050"/>
                  </a:lnTo>
                  <a:lnTo>
                    <a:pt x="296503" y="50584"/>
                  </a:lnTo>
                  <a:lnTo>
                    <a:pt x="324002" y="86766"/>
                  </a:lnTo>
                  <a:lnTo>
                    <a:pt x="341504" y="128524"/>
                  </a:lnTo>
                  <a:lnTo>
                    <a:pt x="347395" y="173520"/>
                  </a:lnTo>
                  <a:lnTo>
                    <a:pt x="345917" y="196294"/>
                  </a:lnTo>
                  <a:lnTo>
                    <a:pt x="341504" y="218527"/>
                  </a:lnTo>
                  <a:lnTo>
                    <a:pt x="324002" y="260286"/>
                  </a:lnTo>
                  <a:lnTo>
                    <a:pt x="296503" y="296464"/>
                  </a:lnTo>
                  <a:lnTo>
                    <a:pt x="260642" y="324002"/>
                  </a:lnTo>
                  <a:lnTo>
                    <a:pt x="218606" y="341193"/>
                  </a:lnTo>
                  <a:lnTo>
                    <a:pt x="173875" y="347040"/>
                  </a:lnTo>
                  <a:lnTo>
                    <a:pt x="128833" y="341193"/>
                  </a:lnTo>
                  <a:lnTo>
                    <a:pt x="86753" y="324002"/>
                  </a:lnTo>
                  <a:lnTo>
                    <a:pt x="50893" y="296464"/>
                  </a:lnTo>
                  <a:lnTo>
                    <a:pt x="23406" y="260286"/>
                  </a:lnTo>
                  <a:lnTo>
                    <a:pt x="5897" y="218527"/>
                  </a:lnTo>
                  <a:lnTo>
                    <a:pt x="1480" y="196294"/>
                  </a:lnTo>
                  <a:lnTo>
                    <a:pt x="0" y="173520"/>
                  </a:lnTo>
                  <a:close/>
                </a:path>
              </a:pathLst>
            </a:custGeom>
            <a:ln w="7559">
              <a:solidFill>
                <a:srgbClr val="5A399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986294" y="2648420"/>
            <a:ext cx="1130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60">
                <a:solidFill>
                  <a:srgbClr val="FFFFFF"/>
                </a:solidFill>
                <a:latin typeface="Arial Black"/>
                <a:cs typeface="Arial Black"/>
              </a:rPr>
              <a:t>2</a:t>
            </a:r>
            <a:endParaRPr sz="1200">
              <a:latin typeface="Arial Black"/>
              <a:cs typeface="Arial Black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404619" y="2564180"/>
            <a:ext cx="134874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75">
                <a:solidFill>
                  <a:srgbClr val="0F2339"/>
                </a:solidFill>
                <a:latin typeface="Arial Black"/>
                <a:cs typeface="Arial Black"/>
              </a:rPr>
              <a:t>Data</a:t>
            </a:r>
            <a:r>
              <a:rPr dirty="0" sz="1400" spc="-9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400" spc="-80">
                <a:solidFill>
                  <a:srgbClr val="0F2339"/>
                </a:solidFill>
                <a:latin typeface="Arial Black"/>
                <a:cs typeface="Arial Black"/>
              </a:rPr>
              <a:t>residency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553104" y="2538260"/>
            <a:ext cx="4260215" cy="2165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>
                <a:solidFill>
                  <a:srgbClr val="556478"/>
                </a:solidFill>
                <a:latin typeface="Noto Sans"/>
                <a:cs typeface="Noto Sans"/>
              </a:rPr>
              <a:t>Check</a:t>
            </a:r>
            <a:r>
              <a:rPr dirty="0" sz="1250" spc="-2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50">
                <a:solidFill>
                  <a:srgbClr val="556478"/>
                </a:solidFill>
                <a:latin typeface="Noto Sans"/>
                <a:cs typeface="Noto Sans"/>
              </a:rPr>
              <a:t>legal,</a:t>
            </a:r>
            <a:r>
              <a:rPr dirty="0" sz="1250" spc="-10">
                <a:solidFill>
                  <a:srgbClr val="556478"/>
                </a:solidFill>
                <a:latin typeface="Noto Sans"/>
                <a:cs typeface="Noto Sans"/>
              </a:rPr>
              <a:t> regulatory</a:t>
            </a:r>
            <a:r>
              <a:rPr dirty="0" sz="1250" spc="-2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50">
                <a:solidFill>
                  <a:srgbClr val="556478"/>
                </a:solidFill>
                <a:latin typeface="Noto Sans"/>
                <a:cs typeface="Noto Sans"/>
              </a:rPr>
              <a:t>and</a:t>
            </a:r>
            <a:r>
              <a:rPr dirty="0" sz="1250" spc="-1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50" spc="-10">
                <a:solidFill>
                  <a:srgbClr val="556478"/>
                </a:solidFill>
                <a:latin typeface="Noto Sans"/>
                <a:cs typeface="Noto Sans"/>
              </a:rPr>
              <a:t>organizational</a:t>
            </a:r>
            <a:r>
              <a:rPr dirty="0" sz="1250" spc="-1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50" spc="-10">
                <a:solidFill>
                  <a:srgbClr val="556478"/>
                </a:solidFill>
                <a:latin typeface="Noto Sans"/>
                <a:cs typeface="Noto Sans"/>
              </a:rPr>
              <a:t>requirements.</a:t>
            </a:r>
            <a:endParaRPr sz="1250">
              <a:latin typeface="Noto Sans"/>
              <a:cs typeface="Noto Sans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417319" y="3154679"/>
            <a:ext cx="9784080" cy="635"/>
          </a:xfrm>
          <a:custGeom>
            <a:avLst/>
            <a:gdLst/>
            <a:ahLst/>
            <a:cxnLst/>
            <a:rect l="l" t="t" r="r" b="b"/>
            <a:pathLst>
              <a:path w="9784080" h="635">
                <a:moveTo>
                  <a:pt x="0" y="0"/>
                </a:moveTo>
                <a:lnTo>
                  <a:pt x="9784080" y="355"/>
                </a:lnTo>
              </a:path>
            </a:pathLst>
          </a:custGeom>
          <a:ln w="7559">
            <a:solidFill>
              <a:srgbClr val="DBE4ED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0" name="object 20"/>
          <p:cNvGrpSpPr/>
          <p:nvPr/>
        </p:nvGrpSpPr>
        <p:grpSpPr>
          <a:xfrm>
            <a:off x="864900" y="3397864"/>
            <a:ext cx="354965" cy="354965"/>
            <a:chOff x="864900" y="3397864"/>
            <a:chExt cx="354965" cy="354965"/>
          </a:xfrm>
        </p:grpSpPr>
        <p:sp>
          <p:nvSpPr>
            <p:cNvPr id="21" name="object 21"/>
            <p:cNvSpPr/>
            <p:nvPr/>
          </p:nvSpPr>
          <p:spPr>
            <a:xfrm>
              <a:off x="868680" y="3401644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80" h="347979">
                  <a:moveTo>
                    <a:pt x="173875" y="0"/>
                  </a:moveTo>
                  <a:lnTo>
                    <a:pt x="128833" y="5846"/>
                  </a:lnTo>
                  <a:lnTo>
                    <a:pt x="86753" y="23037"/>
                  </a:lnTo>
                  <a:lnTo>
                    <a:pt x="50893" y="50576"/>
                  </a:lnTo>
                  <a:lnTo>
                    <a:pt x="23406" y="86753"/>
                  </a:lnTo>
                  <a:lnTo>
                    <a:pt x="5897" y="128512"/>
                  </a:lnTo>
                  <a:lnTo>
                    <a:pt x="0" y="173520"/>
                  </a:lnTo>
                  <a:lnTo>
                    <a:pt x="1480" y="196287"/>
                  </a:lnTo>
                  <a:lnTo>
                    <a:pt x="13217" y="239935"/>
                  </a:lnTo>
                  <a:lnTo>
                    <a:pt x="35984" y="279344"/>
                  </a:lnTo>
                  <a:lnTo>
                    <a:pt x="67895" y="311405"/>
                  </a:lnTo>
                  <a:lnTo>
                    <a:pt x="107304" y="334028"/>
                  </a:lnTo>
                  <a:lnTo>
                    <a:pt x="151102" y="345865"/>
                  </a:lnTo>
                  <a:lnTo>
                    <a:pt x="173875" y="347395"/>
                  </a:lnTo>
                  <a:lnTo>
                    <a:pt x="196443" y="345865"/>
                  </a:lnTo>
                  <a:lnTo>
                    <a:pt x="240096" y="334028"/>
                  </a:lnTo>
                  <a:lnTo>
                    <a:pt x="279500" y="311405"/>
                  </a:lnTo>
                  <a:lnTo>
                    <a:pt x="311416" y="279344"/>
                  </a:lnTo>
                  <a:lnTo>
                    <a:pt x="334188" y="239935"/>
                  </a:lnTo>
                  <a:lnTo>
                    <a:pt x="345917" y="196287"/>
                  </a:lnTo>
                  <a:lnTo>
                    <a:pt x="347395" y="173520"/>
                  </a:lnTo>
                  <a:lnTo>
                    <a:pt x="345917" y="150745"/>
                  </a:lnTo>
                  <a:lnTo>
                    <a:pt x="334188" y="107092"/>
                  </a:lnTo>
                  <a:lnTo>
                    <a:pt x="311416" y="67688"/>
                  </a:lnTo>
                  <a:lnTo>
                    <a:pt x="279500" y="35624"/>
                  </a:lnTo>
                  <a:lnTo>
                    <a:pt x="240096" y="13056"/>
                  </a:lnTo>
                  <a:lnTo>
                    <a:pt x="196443" y="1472"/>
                  </a:lnTo>
                  <a:lnTo>
                    <a:pt x="173875" y="0"/>
                  </a:lnTo>
                  <a:close/>
                </a:path>
              </a:pathLst>
            </a:custGeom>
            <a:solidFill>
              <a:srgbClr val="0C938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868680" y="3401644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80" h="347979">
                  <a:moveTo>
                    <a:pt x="0" y="173520"/>
                  </a:moveTo>
                  <a:lnTo>
                    <a:pt x="1480" y="150745"/>
                  </a:lnTo>
                  <a:lnTo>
                    <a:pt x="5897" y="128512"/>
                  </a:lnTo>
                  <a:lnTo>
                    <a:pt x="23406" y="86753"/>
                  </a:lnTo>
                  <a:lnTo>
                    <a:pt x="50893" y="50576"/>
                  </a:lnTo>
                  <a:lnTo>
                    <a:pt x="86753" y="23037"/>
                  </a:lnTo>
                  <a:lnTo>
                    <a:pt x="128833" y="5846"/>
                  </a:lnTo>
                  <a:lnTo>
                    <a:pt x="173875" y="0"/>
                  </a:lnTo>
                  <a:lnTo>
                    <a:pt x="218606" y="5846"/>
                  </a:lnTo>
                  <a:lnTo>
                    <a:pt x="260642" y="23037"/>
                  </a:lnTo>
                  <a:lnTo>
                    <a:pt x="296503" y="50576"/>
                  </a:lnTo>
                  <a:lnTo>
                    <a:pt x="324002" y="86753"/>
                  </a:lnTo>
                  <a:lnTo>
                    <a:pt x="341504" y="128512"/>
                  </a:lnTo>
                  <a:lnTo>
                    <a:pt x="347395" y="173520"/>
                  </a:lnTo>
                  <a:lnTo>
                    <a:pt x="345917" y="196287"/>
                  </a:lnTo>
                  <a:lnTo>
                    <a:pt x="341504" y="218516"/>
                  </a:lnTo>
                  <a:lnTo>
                    <a:pt x="324002" y="260273"/>
                  </a:lnTo>
                  <a:lnTo>
                    <a:pt x="296503" y="296456"/>
                  </a:lnTo>
                  <a:lnTo>
                    <a:pt x="260642" y="323989"/>
                  </a:lnTo>
                  <a:lnTo>
                    <a:pt x="218606" y="341364"/>
                  </a:lnTo>
                  <a:lnTo>
                    <a:pt x="173875" y="347395"/>
                  </a:lnTo>
                  <a:lnTo>
                    <a:pt x="128833" y="341364"/>
                  </a:lnTo>
                  <a:lnTo>
                    <a:pt x="86753" y="323989"/>
                  </a:lnTo>
                  <a:lnTo>
                    <a:pt x="50893" y="296456"/>
                  </a:lnTo>
                  <a:lnTo>
                    <a:pt x="23406" y="260273"/>
                  </a:lnTo>
                  <a:lnTo>
                    <a:pt x="5897" y="218516"/>
                  </a:lnTo>
                  <a:lnTo>
                    <a:pt x="1480" y="196287"/>
                  </a:lnTo>
                  <a:lnTo>
                    <a:pt x="0" y="173520"/>
                  </a:lnTo>
                  <a:close/>
                </a:path>
              </a:pathLst>
            </a:custGeom>
            <a:ln w="7559">
              <a:solidFill>
                <a:srgbClr val="0C938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986294" y="3453015"/>
            <a:ext cx="1130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60">
                <a:solidFill>
                  <a:srgbClr val="FFFFFF"/>
                </a:solidFill>
                <a:latin typeface="Arial Black"/>
                <a:cs typeface="Arial Black"/>
              </a:rPr>
              <a:t>3</a:t>
            </a:r>
            <a:endParaRPr sz="1200">
              <a:latin typeface="Arial Black"/>
              <a:cs typeface="Arial Black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404619" y="3386061"/>
            <a:ext cx="2048510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110">
                <a:solidFill>
                  <a:srgbClr val="0F2339"/>
                </a:solidFill>
                <a:latin typeface="Arial Black"/>
                <a:cs typeface="Arial Black"/>
              </a:rPr>
              <a:t>Service</a:t>
            </a:r>
            <a:r>
              <a:rPr dirty="0" sz="1300" spc="-9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300" spc="170">
                <a:solidFill>
                  <a:srgbClr val="0F2339"/>
                </a:solidFill>
                <a:latin typeface="Arial Black"/>
                <a:cs typeface="Arial Black"/>
              </a:rPr>
              <a:t>/</a:t>
            </a:r>
            <a:r>
              <a:rPr dirty="0" sz="1300" spc="-8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300" spc="-195">
                <a:solidFill>
                  <a:srgbClr val="0F2339"/>
                </a:solidFill>
                <a:latin typeface="Arial Black"/>
                <a:cs typeface="Arial Black"/>
              </a:rPr>
              <a:t>SKU</a:t>
            </a:r>
            <a:r>
              <a:rPr dirty="0" sz="1300" spc="-9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300" spc="-50">
                <a:solidFill>
                  <a:srgbClr val="0F2339"/>
                </a:solidFill>
                <a:latin typeface="Arial Black"/>
                <a:cs typeface="Arial Black"/>
              </a:rPr>
              <a:t>availability</a:t>
            </a:r>
            <a:endParaRPr sz="1300">
              <a:latin typeface="Arial Black"/>
              <a:cs typeface="Arial Black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553104" y="3342855"/>
            <a:ext cx="5368290" cy="2165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>
                <a:solidFill>
                  <a:srgbClr val="556478"/>
                </a:solidFill>
                <a:latin typeface="Noto Sans"/>
                <a:cs typeface="Noto Sans"/>
              </a:rPr>
              <a:t>Confirm</a:t>
            </a:r>
            <a:r>
              <a:rPr dirty="0" sz="125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50">
                <a:solidFill>
                  <a:srgbClr val="556478"/>
                </a:solidFill>
                <a:latin typeface="Noto Sans"/>
                <a:cs typeface="Noto Sans"/>
              </a:rPr>
              <a:t>the</a:t>
            </a:r>
            <a:r>
              <a:rPr dirty="0" sz="125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50" spc="-10">
                <a:solidFill>
                  <a:srgbClr val="556478"/>
                </a:solidFill>
                <a:latin typeface="Noto Sans"/>
                <a:cs typeface="Noto Sans"/>
              </a:rPr>
              <a:t>required</a:t>
            </a:r>
            <a:r>
              <a:rPr dirty="0" sz="125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50">
                <a:solidFill>
                  <a:srgbClr val="556478"/>
                </a:solidFill>
                <a:latin typeface="Noto Sans"/>
                <a:cs typeface="Noto Sans"/>
              </a:rPr>
              <a:t>service,</a:t>
            </a:r>
            <a:r>
              <a:rPr dirty="0" sz="125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50">
                <a:solidFill>
                  <a:srgbClr val="556478"/>
                </a:solidFill>
                <a:latin typeface="Noto Sans"/>
                <a:cs typeface="Noto Sans"/>
              </a:rPr>
              <a:t>VM</a:t>
            </a:r>
            <a:r>
              <a:rPr dirty="0" sz="125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50">
                <a:solidFill>
                  <a:srgbClr val="556478"/>
                </a:solidFill>
                <a:latin typeface="Noto Sans"/>
                <a:cs typeface="Noto Sans"/>
              </a:rPr>
              <a:t>family</a:t>
            </a:r>
            <a:r>
              <a:rPr dirty="0" sz="125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50">
                <a:solidFill>
                  <a:srgbClr val="556478"/>
                </a:solidFill>
                <a:latin typeface="Noto Sans"/>
                <a:cs typeface="Noto Sans"/>
              </a:rPr>
              <a:t>and</a:t>
            </a:r>
            <a:r>
              <a:rPr dirty="0" sz="125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50">
                <a:solidFill>
                  <a:srgbClr val="556478"/>
                </a:solidFill>
                <a:latin typeface="Noto Sans"/>
                <a:cs typeface="Noto Sans"/>
              </a:rPr>
              <a:t>features</a:t>
            </a:r>
            <a:r>
              <a:rPr dirty="0" sz="125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50">
                <a:solidFill>
                  <a:srgbClr val="556478"/>
                </a:solidFill>
                <a:latin typeface="Noto Sans"/>
                <a:cs typeface="Noto Sans"/>
              </a:rPr>
              <a:t>exist</a:t>
            </a:r>
            <a:r>
              <a:rPr dirty="0" sz="125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50">
                <a:solidFill>
                  <a:srgbClr val="556478"/>
                </a:solidFill>
                <a:latin typeface="Noto Sans"/>
                <a:cs typeface="Noto Sans"/>
              </a:rPr>
              <a:t>in</a:t>
            </a:r>
            <a:r>
              <a:rPr dirty="0" sz="125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50">
                <a:solidFill>
                  <a:srgbClr val="556478"/>
                </a:solidFill>
                <a:latin typeface="Noto Sans"/>
                <a:cs typeface="Noto Sans"/>
              </a:rPr>
              <a:t>the</a:t>
            </a:r>
            <a:r>
              <a:rPr dirty="0" sz="125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50" spc="-10">
                <a:solidFill>
                  <a:srgbClr val="556478"/>
                </a:solidFill>
                <a:latin typeface="Noto Sans"/>
                <a:cs typeface="Noto Sans"/>
              </a:rPr>
              <a:t>region.</a:t>
            </a:r>
            <a:endParaRPr sz="1250">
              <a:latin typeface="Noto Sans"/>
              <a:cs typeface="Noto Sans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417319" y="3959275"/>
            <a:ext cx="9784080" cy="635"/>
          </a:xfrm>
          <a:custGeom>
            <a:avLst/>
            <a:gdLst/>
            <a:ahLst/>
            <a:cxnLst/>
            <a:rect l="l" t="t" r="r" b="b"/>
            <a:pathLst>
              <a:path w="9784080" h="635">
                <a:moveTo>
                  <a:pt x="0" y="0"/>
                </a:moveTo>
                <a:lnTo>
                  <a:pt x="9784080" y="368"/>
                </a:lnTo>
              </a:path>
            </a:pathLst>
          </a:custGeom>
          <a:ln w="7559">
            <a:solidFill>
              <a:srgbClr val="DBE4ED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7" name="object 27"/>
          <p:cNvGrpSpPr/>
          <p:nvPr/>
        </p:nvGrpSpPr>
        <p:grpSpPr>
          <a:xfrm>
            <a:off x="864900" y="4202460"/>
            <a:ext cx="354965" cy="354965"/>
            <a:chOff x="864900" y="4202460"/>
            <a:chExt cx="354965" cy="354965"/>
          </a:xfrm>
        </p:grpSpPr>
        <p:sp>
          <p:nvSpPr>
            <p:cNvPr id="28" name="object 28"/>
            <p:cNvSpPr/>
            <p:nvPr/>
          </p:nvSpPr>
          <p:spPr>
            <a:xfrm>
              <a:off x="868680" y="4206240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80" h="347979">
                  <a:moveTo>
                    <a:pt x="173875" y="0"/>
                  </a:moveTo>
                  <a:lnTo>
                    <a:pt x="128833" y="5851"/>
                  </a:lnTo>
                  <a:lnTo>
                    <a:pt x="86753" y="23037"/>
                  </a:lnTo>
                  <a:lnTo>
                    <a:pt x="50893" y="50580"/>
                  </a:lnTo>
                  <a:lnTo>
                    <a:pt x="23406" y="86753"/>
                  </a:lnTo>
                  <a:lnTo>
                    <a:pt x="5897" y="128522"/>
                  </a:lnTo>
                  <a:lnTo>
                    <a:pt x="0" y="173520"/>
                  </a:lnTo>
                  <a:lnTo>
                    <a:pt x="1480" y="196287"/>
                  </a:lnTo>
                  <a:lnTo>
                    <a:pt x="13217" y="239935"/>
                  </a:lnTo>
                  <a:lnTo>
                    <a:pt x="35984" y="279345"/>
                  </a:lnTo>
                  <a:lnTo>
                    <a:pt x="67895" y="311410"/>
                  </a:lnTo>
                  <a:lnTo>
                    <a:pt x="107304" y="334033"/>
                  </a:lnTo>
                  <a:lnTo>
                    <a:pt x="151102" y="345865"/>
                  </a:lnTo>
                  <a:lnTo>
                    <a:pt x="173875" y="347395"/>
                  </a:lnTo>
                  <a:lnTo>
                    <a:pt x="196443" y="345865"/>
                  </a:lnTo>
                  <a:lnTo>
                    <a:pt x="240096" y="334033"/>
                  </a:lnTo>
                  <a:lnTo>
                    <a:pt x="279500" y="311410"/>
                  </a:lnTo>
                  <a:lnTo>
                    <a:pt x="311416" y="279345"/>
                  </a:lnTo>
                  <a:lnTo>
                    <a:pt x="334188" y="239935"/>
                  </a:lnTo>
                  <a:lnTo>
                    <a:pt x="345917" y="196287"/>
                  </a:lnTo>
                  <a:lnTo>
                    <a:pt x="347395" y="173520"/>
                  </a:lnTo>
                  <a:lnTo>
                    <a:pt x="345917" y="150752"/>
                  </a:lnTo>
                  <a:lnTo>
                    <a:pt x="334188" y="107099"/>
                  </a:lnTo>
                  <a:lnTo>
                    <a:pt x="311416" y="67689"/>
                  </a:lnTo>
                  <a:lnTo>
                    <a:pt x="279500" y="35629"/>
                  </a:lnTo>
                  <a:lnTo>
                    <a:pt x="240096" y="13062"/>
                  </a:lnTo>
                  <a:lnTo>
                    <a:pt x="196443" y="1474"/>
                  </a:lnTo>
                  <a:lnTo>
                    <a:pt x="173875" y="0"/>
                  </a:lnTo>
                  <a:close/>
                </a:path>
              </a:pathLst>
            </a:custGeom>
            <a:solidFill>
              <a:srgbClr val="F49D0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868680" y="4206240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80" h="347979">
                  <a:moveTo>
                    <a:pt x="0" y="173520"/>
                  </a:moveTo>
                  <a:lnTo>
                    <a:pt x="1480" y="150752"/>
                  </a:lnTo>
                  <a:lnTo>
                    <a:pt x="5897" y="128522"/>
                  </a:lnTo>
                  <a:lnTo>
                    <a:pt x="23406" y="86753"/>
                  </a:lnTo>
                  <a:lnTo>
                    <a:pt x="50893" y="50580"/>
                  </a:lnTo>
                  <a:lnTo>
                    <a:pt x="86753" y="23037"/>
                  </a:lnTo>
                  <a:lnTo>
                    <a:pt x="128833" y="5851"/>
                  </a:lnTo>
                  <a:lnTo>
                    <a:pt x="173875" y="0"/>
                  </a:lnTo>
                  <a:lnTo>
                    <a:pt x="218606" y="5851"/>
                  </a:lnTo>
                  <a:lnTo>
                    <a:pt x="260642" y="23037"/>
                  </a:lnTo>
                  <a:lnTo>
                    <a:pt x="296503" y="50580"/>
                  </a:lnTo>
                  <a:lnTo>
                    <a:pt x="324002" y="86753"/>
                  </a:lnTo>
                  <a:lnTo>
                    <a:pt x="341504" y="128522"/>
                  </a:lnTo>
                  <a:lnTo>
                    <a:pt x="347395" y="173520"/>
                  </a:lnTo>
                  <a:lnTo>
                    <a:pt x="345917" y="196287"/>
                  </a:lnTo>
                  <a:lnTo>
                    <a:pt x="341504" y="218516"/>
                  </a:lnTo>
                  <a:lnTo>
                    <a:pt x="324002" y="260273"/>
                  </a:lnTo>
                  <a:lnTo>
                    <a:pt x="296503" y="296457"/>
                  </a:lnTo>
                  <a:lnTo>
                    <a:pt x="260642" y="324002"/>
                  </a:lnTo>
                  <a:lnTo>
                    <a:pt x="218606" y="341366"/>
                  </a:lnTo>
                  <a:lnTo>
                    <a:pt x="173875" y="347395"/>
                  </a:lnTo>
                  <a:lnTo>
                    <a:pt x="128833" y="341366"/>
                  </a:lnTo>
                  <a:lnTo>
                    <a:pt x="86753" y="324002"/>
                  </a:lnTo>
                  <a:lnTo>
                    <a:pt x="50893" y="296457"/>
                  </a:lnTo>
                  <a:lnTo>
                    <a:pt x="23406" y="260273"/>
                  </a:lnTo>
                  <a:lnTo>
                    <a:pt x="5897" y="218516"/>
                  </a:lnTo>
                  <a:lnTo>
                    <a:pt x="1480" y="196287"/>
                  </a:lnTo>
                  <a:lnTo>
                    <a:pt x="0" y="173520"/>
                  </a:lnTo>
                  <a:close/>
                </a:path>
              </a:pathLst>
            </a:custGeom>
            <a:ln w="7559">
              <a:solidFill>
                <a:srgbClr val="F49D0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/>
          <p:nvPr/>
        </p:nvSpPr>
        <p:spPr>
          <a:xfrm>
            <a:off x="986294" y="4257611"/>
            <a:ext cx="1130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60">
                <a:solidFill>
                  <a:srgbClr val="FFFFFF"/>
                </a:solidFill>
                <a:latin typeface="Arial Black"/>
                <a:cs typeface="Arial Black"/>
              </a:rPr>
              <a:t>4</a:t>
            </a:r>
            <a:endParaRPr sz="1200">
              <a:latin typeface="Arial Black"/>
              <a:cs typeface="Arial Black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404619" y="4173385"/>
            <a:ext cx="139319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10">
                <a:solidFill>
                  <a:srgbClr val="0F2339"/>
                </a:solidFill>
                <a:latin typeface="Arial Black"/>
                <a:cs typeface="Arial Black"/>
              </a:rPr>
              <a:t>Resilience</a:t>
            </a:r>
            <a:r>
              <a:rPr dirty="0" sz="1400" spc="-7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400" spc="-200">
                <a:solidFill>
                  <a:srgbClr val="0F2339"/>
                </a:solidFill>
                <a:latin typeface="Arial Black"/>
                <a:cs typeface="Arial Black"/>
              </a:rPr>
              <a:t>&amp;</a:t>
            </a:r>
            <a:r>
              <a:rPr dirty="0" sz="1400" spc="-65">
                <a:solidFill>
                  <a:srgbClr val="0F2339"/>
                </a:solidFill>
                <a:latin typeface="Arial Black"/>
                <a:cs typeface="Arial Black"/>
              </a:rPr>
              <a:t> DR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553104" y="4147451"/>
            <a:ext cx="6056630" cy="2165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>
                <a:solidFill>
                  <a:srgbClr val="556478"/>
                </a:solidFill>
                <a:latin typeface="Noto Sans"/>
                <a:cs typeface="Noto Sans"/>
              </a:rPr>
              <a:t>Design</a:t>
            </a:r>
            <a:r>
              <a:rPr dirty="0" sz="125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50">
                <a:solidFill>
                  <a:srgbClr val="556478"/>
                </a:solidFill>
                <a:latin typeface="Noto Sans"/>
                <a:cs typeface="Noto Sans"/>
              </a:rPr>
              <a:t>for</a:t>
            </a:r>
            <a:r>
              <a:rPr dirty="0" sz="125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50">
                <a:solidFill>
                  <a:srgbClr val="556478"/>
                </a:solidFill>
                <a:latin typeface="Noto Sans"/>
                <a:cs typeface="Noto Sans"/>
              </a:rPr>
              <a:t>zonal</a:t>
            </a:r>
            <a:r>
              <a:rPr dirty="0" sz="125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50">
                <a:solidFill>
                  <a:srgbClr val="556478"/>
                </a:solidFill>
                <a:latin typeface="Noto Sans"/>
                <a:cs typeface="Noto Sans"/>
              </a:rPr>
              <a:t>and</a:t>
            </a:r>
            <a:r>
              <a:rPr dirty="0" sz="125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50" spc="-10">
                <a:solidFill>
                  <a:srgbClr val="556478"/>
                </a:solidFill>
                <a:latin typeface="Noto Sans"/>
                <a:cs typeface="Noto Sans"/>
              </a:rPr>
              <a:t>regional</a:t>
            </a:r>
            <a:r>
              <a:rPr dirty="0" sz="125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50">
                <a:solidFill>
                  <a:srgbClr val="556478"/>
                </a:solidFill>
                <a:latin typeface="Noto Sans"/>
                <a:cs typeface="Noto Sans"/>
              </a:rPr>
              <a:t>failures;</a:t>
            </a:r>
            <a:r>
              <a:rPr dirty="0" sz="125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50" spc="-10">
                <a:solidFill>
                  <a:srgbClr val="556478"/>
                </a:solidFill>
                <a:latin typeface="Noto Sans"/>
                <a:cs typeface="Noto Sans"/>
              </a:rPr>
              <a:t>replication</a:t>
            </a:r>
            <a:r>
              <a:rPr dirty="0" sz="125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50">
                <a:solidFill>
                  <a:srgbClr val="556478"/>
                </a:solidFill>
                <a:latin typeface="Noto Sans"/>
                <a:cs typeface="Noto Sans"/>
              </a:rPr>
              <a:t>or</a:t>
            </a:r>
            <a:r>
              <a:rPr dirty="0" sz="125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50">
                <a:solidFill>
                  <a:srgbClr val="556478"/>
                </a:solidFill>
                <a:latin typeface="Noto Sans"/>
                <a:cs typeface="Noto Sans"/>
              </a:rPr>
              <a:t>failover</a:t>
            </a:r>
            <a:r>
              <a:rPr dirty="0" sz="125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50">
                <a:solidFill>
                  <a:srgbClr val="556478"/>
                </a:solidFill>
                <a:latin typeface="Noto Sans"/>
                <a:cs typeface="Noto Sans"/>
              </a:rPr>
              <a:t>needs</a:t>
            </a:r>
            <a:r>
              <a:rPr dirty="0" sz="125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50" spc="-10">
                <a:solidFill>
                  <a:srgbClr val="556478"/>
                </a:solidFill>
                <a:latin typeface="Noto Sans"/>
                <a:cs typeface="Noto Sans"/>
              </a:rPr>
              <a:t>configuration.</a:t>
            </a:r>
            <a:endParaRPr sz="1250">
              <a:latin typeface="Noto Sans"/>
              <a:cs typeface="Noto Sans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1417319" y="4763884"/>
            <a:ext cx="9784080" cy="635"/>
          </a:xfrm>
          <a:custGeom>
            <a:avLst/>
            <a:gdLst/>
            <a:ahLst/>
            <a:cxnLst/>
            <a:rect l="l" t="t" r="r" b="b"/>
            <a:pathLst>
              <a:path w="9784080" h="635">
                <a:moveTo>
                  <a:pt x="0" y="0"/>
                </a:moveTo>
                <a:lnTo>
                  <a:pt x="9784080" y="355"/>
                </a:lnTo>
              </a:path>
            </a:pathLst>
          </a:custGeom>
          <a:ln w="7559">
            <a:solidFill>
              <a:srgbClr val="DBE4ED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4" name="object 34"/>
          <p:cNvGrpSpPr/>
          <p:nvPr/>
        </p:nvGrpSpPr>
        <p:grpSpPr>
          <a:xfrm>
            <a:off x="864900" y="5007056"/>
            <a:ext cx="354965" cy="354965"/>
            <a:chOff x="864900" y="5007056"/>
            <a:chExt cx="354965" cy="354965"/>
          </a:xfrm>
        </p:grpSpPr>
        <p:sp>
          <p:nvSpPr>
            <p:cNvPr id="35" name="object 35"/>
            <p:cNvSpPr/>
            <p:nvPr/>
          </p:nvSpPr>
          <p:spPr>
            <a:xfrm>
              <a:off x="868680" y="5010835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80" h="347979">
                  <a:moveTo>
                    <a:pt x="173875" y="0"/>
                  </a:moveTo>
                  <a:lnTo>
                    <a:pt x="128833" y="5853"/>
                  </a:lnTo>
                  <a:lnTo>
                    <a:pt x="86753" y="23050"/>
                  </a:lnTo>
                  <a:lnTo>
                    <a:pt x="50893" y="50584"/>
                  </a:lnTo>
                  <a:lnTo>
                    <a:pt x="23406" y="86766"/>
                  </a:lnTo>
                  <a:lnTo>
                    <a:pt x="5897" y="128524"/>
                  </a:lnTo>
                  <a:lnTo>
                    <a:pt x="0" y="173520"/>
                  </a:lnTo>
                  <a:lnTo>
                    <a:pt x="1480" y="196294"/>
                  </a:lnTo>
                  <a:lnTo>
                    <a:pt x="13217" y="239948"/>
                  </a:lnTo>
                  <a:lnTo>
                    <a:pt x="35984" y="279352"/>
                  </a:lnTo>
                  <a:lnTo>
                    <a:pt x="67895" y="311416"/>
                  </a:lnTo>
                  <a:lnTo>
                    <a:pt x="107304" y="334040"/>
                  </a:lnTo>
                  <a:lnTo>
                    <a:pt x="151102" y="345878"/>
                  </a:lnTo>
                  <a:lnTo>
                    <a:pt x="173875" y="347408"/>
                  </a:lnTo>
                  <a:lnTo>
                    <a:pt x="196443" y="345878"/>
                  </a:lnTo>
                  <a:lnTo>
                    <a:pt x="240096" y="334040"/>
                  </a:lnTo>
                  <a:lnTo>
                    <a:pt x="279500" y="311416"/>
                  </a:lnTo>
                  <a:lnTo>
                    <a:pt x="311416" y="279352"/>
                  </a:lnTo>
                  <a:lnTo>
                    <a:pt x="334188" y="239948"/>
                  </a:lnTo>
                  <a:lnTo>
                    <a:pt x="345917" y="196294"/>
                  </a:lnTo>
                  <a:lnTo>
                    <a:pt x="347395" y="173520"/>
                  </a:lnTo>
                  <a:lnTo>
                    <a:pt x="345917" y="150752"/>
                  </a:lnTo>
                  <a:lnTo>
                    <a:pt x="334188" y="107104"/>
                  </a:lnTo>
                  <a:lnTo>
                    <a:pt x="311416" y="67695"/>
                  </a:lnTo>
                  <a:lnTo>
                    <a:pt x="279500" y="35635"/>
                  </a:lnTo>
                  <a:lnTo>
                    <a:pt x="240096" y="13067"/>
                  </a:lnTo>
                  <a:lnTo>
                    <a:pt x="196443" y="1474"/>
                  </a:lnTo>
                  <a:lnTo>
                    <a:pt x="173875" y="0"/>
                  </a:lnTo>
                  <a:close/>
                </a:path>
              </a:pathLst>
            </a:custGeom>
            <a:solidFill>
              <a:srgbClr val="157F5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868680" y="5010835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80" h="347979">
                  <a:moveTo>
                    <a:pt x="0" y="173520"/>
                  </a:moveTo>
                  <a:lnTo>
                    <a:pt x="1480" y="150752"/>
                  </a:lnTo>
                  <a:lnTo>
                    <a:pt x="5897" y="128524"/>
                  </a:lnTo>
                  <a:lnTo>
                    <a:pt x="23406" y="86766"/>
                  </a:lnTo>
                  <a:lnTo>
                    <a:pt x="50893" y="50584"/>
                  </a:lnTo>
                  <a:lnTo>
                    <a:pt x="86753" y="23050"/>
                  </a:lnTo>
                  <a:lnTo>
                    <a:pt x="128833" y="5853"/>
                  </a:lnTo>
                  <a:lnTo>
                    <a:pt x="173875" y="0"/>
                  </a:lnTo>
                  <a:lnTo>
                    <a:pt x="218606" y="5853"/>
                  </a:lnTo>
                  <a:lnTo>
                    <a:pt x="260642" y="23050"/>
                  </a:lnTo>
                  <a:lnTo>
                    <a:pt x="296503" y="50584"/>
                  </a:lnTo>
                  <a:lnTo>
                    <a:pt x="324002" y="86766"/>
                  </a:lnTo>
                  <a:lnTo>
                    <a:pt x="341504" y="128524"/>
                  </a:lnTo>
                  <a:lnTo>
                    <a:pt x="347395" y="173520"/>
                  </a:lnTo>
                  <a:lnTo>
                    <a:pt x="345917" y="196294"/>
                  </a:lnTo>
                  <a:lnTo>
                    <a:pt x="341504" y="218527"/>
                  </a:lnTo>
                  <a:lnTo>
                    <a:pt x="324002" y="260286"/>
                  </a:lnTo>
                  <a:lnTo>
                    <a:pt x="296503" y="296464"/>
                  </a:lnTo>
                  <a:lnTo>
                    <a:pt x="260642" y="324002"/>
                  </a:lnTo>
                  <a:lnTo>
                    <a:pt x="218606" y="341377"/>
                  </a:lnTo>
                  <a:lnTo>
                    <a:pt x="173875" y="347408"/>
                  </a:lnTo>
                  <a:lnTo>
                    <a:pt x="128833" y="341377"/>
                  </a:lnTo>
                  <a:lnTo>
                    <a:pt x="86753" y="324002"/>
                  </a:lnTo>
                  <a:lnTo>
                    <a:pt x="50893" y="296464"/>
                  </a:lnTo>
                  <a:lnTo>
                    <a:pt x="23406" y="260286"/>
                  </a:lnTo>
                  <a:lnTo>
                    <a:pt x="5897" y="218527"/>
                  </a:lnTo>
                  <a:lnTo>
                    <a:pt x="1480" y="196294"/>
                  </a:lnTo>
                  <a:lnTo>
                    <a:pt x="0" y="173520"/>
                  </a:lnTo>
                  <a:close/>
                </a:path>
              </a:pathLst>
            </a:custGeom>
            <a:ln w="7559">
              <a:solidFill>
                <a:srgbClr val="157F5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/>
          <p:cNvSpPr txBox="1"/>
          <p:nvPr/>
        </p:nvSpPr>
        <p:spPr>
          <a:xfrm>
            <a:off x="986294" y="5062575"/>
            <a:ext cx="1130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60">
                <a:solidFill>
                  <a:srgbClr val="FFFFFF"/>
                </a:solidFill>
                <a:latin typeface="Arial Black"/>
                <a:cs typeface="Arial Black"/>
              </a:rPr>
              <a:t>5</a:t>
            </a:r>
            <a:endParaRPr sz="1200">
              <a:latin typeface="Arial Black"/>
              <a:cs typeface="Arial Black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404619" y="4978336"/>
            <a:ext cx="138430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20">
                <a:solidFill>
                  <a:srgbClr val="0F2339"/>
                </a:solidFill>
                <a:latin typeface="Arial Black"/>
                <a:cs typeface="Arial Black"/>
              </a:rPr>
              <a:t>Cost</a:t>
            </a:r>
            <a:r>
              <a:rPr dirty="0" sz="1400" spc="-10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400" spc="-200">
                <a:solidFill>
                  <a:srgbClr val="0F2339"/>
                </a:solidFill>
                <a:latin typeface="Arial Black"/>
                <a:cs typeface="Arial Black"/>
              </a:rPr>
              <a:t>&amp;</a:t>
            </a:r>
            <a:r>
              <a:rPr dirty="0" sz="1400" spc="-9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400" spc="-95">
                <a:solidFill>
                  <a:srgbClr val="0F2339"/>
                </a:solidFill>
                <a:latin typeface="Arial Black"/>
                <a:cs typeface="Arial Black"/>
              </a:rPr>
              <a:t>capacity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553104" y="4952060"/>
            <a:ext cx="4531360" cy="2165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 spc="-10">
                <a:solidFill>
                  <a:srgbClr val="556478"/>
                </a:solidFill>
                <a:latin typeface="Noto Sans"/>
                <a:cs typeface="Noto Sans"/>
              </a:rPr>
              <a:t>Compare</a:t>
            </a:r>
            <a:r>
              <a:rPr dirty="0" sz="1250" spc="-2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50" spc="-10">
                <a:solidFill>
                  <a:srgbClr val="556478"/>
                </a:solidFill>
                <a:latin typeface="Noto Sans"/>
                <a:cs typeface="Noto Sans"/>
              </a:rPr>
              <a:t>regional</a:t>
            </a:r>
            <a:r>
              <a:rPr dirty="0" sz="1250" spc="-1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50">
                <a:solidFill>
                  <a:srgbClr val="556478"/>
                </a:solidFill>
                <a:latin typeface="Noto Sans"/>
                <a:cs typeface="Noto Sans"/>
              </a:rPr>
              <a:t>prices</a:t>
            </a:r>
            <a:r>
              <a:rPr dirty="0" sz="1250" spc="-2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50">
                <a:solidFill>
                  <a:srgbClr val="556478"/>
                </a:solidFill>
                <a:latin typeface="Noto Sans"/>
                <a:cs typeface="Noto Sans"/>
              </a:rPr>
              <a:t>and</a:t>
            </a:r>
            <a:r>
              <a:rPr dirty="0" sz="1250" spc="-1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50" spc="-10">
                <a:solidFill>
                  <a:srgbClr val="556478"/>
                </a:solidFill>
                <a:latin typeface="Noto Sans"/>
                <a:cs typeface="Noto Sans"/>
              </a:rPr>
              <a:t>quota/capacity</a:t>
            </a:r>
            <a:r>
              <a:rPr dirty="0" sz="1250" spc="-2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50">
                <a:solidFill>
                  <a:srgbClr val="556478"/>
                </a:solidFill>
                <a:latin typeface="Noto Sans"/>
                <a:cs typeface="Noto Sans"/>
              </a:rPr>
              <a:t>for</a:t>
            </a:r>
            <a:r>
              <a:rPr dirty="0" sz="1250" spc="-1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50">
                <a:solidFill>
                  <a:srgbClr val="556478"/>
                </a:solidFill>
                <a:latin typeface="Noto Sans"/>
                <a:cs typeface="Noto Sans"/>
              </a:rPr>
              <a:t>target</a:t>
            </a:r>
            <a:r>
              <a:rPr dirty="0" sz="1250" spc="-10">
                <a:solidFill>
                  <a:srgbClr val="556478"/>
                </a:solidFill>
                <a:latin typeface="Noto Sans"/>
                <a:cs typeface="Noto Sans"/>
              </a:rPr>
              <a:t> SKUs.</a:t>
            </a:r>
            <a:endParaRPr sz="1250">
              <a:latin typeface="Noto Sans"/>
              <a:cs typeface="Noto Sans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1417319" y="5568480"/>
            <a:ext cx="9784080" cy="635"/>
          </a:xfrm>
          <a:custGeom>
            <a:avLst/>
            <a:gdLst/>
            <a:ahLst/>
            <a:cxnLst/>
            <a:rect l="l" t="t" r="r" b="b"/>
            <a:pathLst>
              <a:path w="9784080" h="635">
                <a:moveTo>
                  <a:pt x="0" y="0"/>
                </a:moveTo>
                <a:lnTo>
                  <a:pt x="9784080" y="355"/>
                </a:lnTo>
              </a:path>
            </a:pathLst>
          </a:custGeom>
          <a:ln w="7559">
            <a:solidFill>
              <a:srgbClr val="DBE4ED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1" name="object 41"/>
          <p:cNvGrpSpPr/>
          <p:nvPr/>
        </p:nvGrpSpPr>
        <p:grpSpPr>
          <a:xfrm>
            <a:off x="1823404" y="5801044"/>
            <a:ext cx="8560435" cy="394970"/>
            <a:chOff x="1823404" y="5801044"/>
            <a:chExt cx="8560435" cy="394970"/>
          </a:xfrm>
        </p:grpSpPr>
        <p:sp>
          <p:nvSpPr>
            <p:cNvPr id="42" name="object 42"/>
            <p:cNvSpPr/>
            <p:nvPr/>
          </p:nvSpPr>
          <p:spPr>
            <a:xfrm>
              <a:off x="1828444" y="5806084"/>
              <a:ext cx="8550275" cy="384810"/>
            </a:xfrm>
            <a:custGeom>
              <a:avLst/>
              <a:gdLst/>
              <a:ahLst/>
              <a:cxnLst/>
              <a:rect l="l" t="t" r="r" b="b"/>
              <a:pathLst>
                <a:path w="8550275" h="384810">
                  <a:moveTo>
                    <a:pt x="110159" y="0"/>
                  </a:moveTo>
                  <a:lnTo>
                    <a:pt x="68088" y="8352"/>
                  </a:lnTo>
                  <a:lnTo>
                    <a:pt x="32534" y="32213"/>
                  </a:lnTo>
                  <a:lnTo>
                    <a:pt x="8708" y="67882"/>
                  </a:lnTo>
                  <a:lnTo>
                    <a:pt x="355" y="109791"/>
                  </a:lnTo>
                  <a:lnTo>
                    <a:pt x="0" y="274675"/>
                  </a:lnTo>
                  <a:lnTo>
                    <a:pt x="939" y="289105"/>
                  </a:lnTo>
                  <a:lnTo>
                    <a:pt x="3735" y="303163"/>
                  </a:lnTo>
                  <a:lnTo>
                    <a:pt x="8301" y="316596"/>
                  </a:lnTo>
                  <a:lnTo>
                    <a:pt x="8352" y="316746"/>
                  </a:lnTo>
                  <a:lnTo>
                    <a:pt x="14757" y="329755"/>
                  </a:lnTo>
                  <a:lnTo>
                    <a:pt x="22674" y="341468"/>
                  </a:lnTo>
                  <a:lnTo>
                    <a:pt x="22775" y="341618"/>
                  </a:lnTo>
                  <a:lnTo>
                    <a:pt x="55079" y="369709"/>
                  </a:lnTo>
                  <a:lnTo>
                    <a:pt x="95374" y="383539"/>
                  </a:lnTo>
                  <a:lnTo>
                    <a:pt x="109791" y="384479"/>
                  </a:lnTo>
                  <a:lnTo>
                    <a:pt x="8440191" y="384479"/>
                  </a:lnTo>
                  <a:lnTo>
                    <a:pt x="8482262" y="376121"/>
                  </a:lnTo>
                  <a:lnTo>
                    <a:pt x="8517766" y="352299"/>
                  </a:lnTo>
                  <a:lnTo>
                    <a:pt x="8541567" y="316746"/>
                  </a:lnTo>
                  <a:lnTo>
                    <a:pt x="8549995" y="274675"/>
                  </a:lnTo>
                  <a:lnTo>
                    <a:pt x="8549971" y="109791"/>
                  </a:lnTo>
                  <a:lnTo>
                    <a:pt x="8541642" y="68088"/>
                  </a:lnTo>
                  <a:lnTo>
                    <a:pt x="8517772" y="32534"/>
                  </a:lnTo>
                  <a:lnTo>
                    <a:pt x="8482112" y="8708"/>
                  </a:lnTo>
                  <a:lnTo>
                    <a:pt x="8440191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9F3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1828444" y="5806084"/>
              <a:ext cx="8550275" cy="384810"/>
            </a:xfrm>
            <a:custGeom>
              <a:avLst/>
              <a:gdLst/>
              <a:ahLst/>
              <a:cxnLst/>
              <a:rect l="l" t="t" r="r" b="b"/>
              <a:pathLst>
                <a:path w="8550275" h="384810">
                  <a:moveTo>
                    <a:pt x="355" y="109791"/>
                  </a:moveTo>
                  <a:lnTo>
                    <a:pt x="1295" y="95374"/>
                  </a:lnTo>
                  <a:lnTo>
                    <a:pt x="4090" y="81359"/>
                  </a:lnTo>
                  <a:lnTo>
                    <a:pt x="23133" y="43003"/>
                  </a:lnTo>
                  <a:lnTo>
                    <a:pt x="55079" y="14757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8440191" y="355"/>
                  </a:lnTo>
                  <a:lnTo>
                    <a:pt x="8482112" y="8708"/>
                  </a:lnTo>
                  <a:lnTo>
                    <a:pt x="8517772" y="32534"/>
                  </a:lnTo>
                  <a:lnTo>
                    <a:pt x="8541642" y="68088"/>
                  </a:lnTo>
                  <a:lnTo>
                    <a:pt x="8549995" y="110159"/>
                  </a:lnTo>
                  <a:lnTo>
                    <a:pt x="8549995" y="274675"/>
                  </a:lnTo>
                  <a:lnTo>
                    <a:pt x="8549055" y="289100"/>
                  </a:lnTo>
                  <a:lnTo>
                    <a:pt x="8546260" y="303118"/>
                  </a:lnTo>
                  <a:lnTo>
                    <a:pt x="8527218" y="341468"/>
                  </a:lnTo>
                  <a:lnTo>
                    <a:pt x="8495271" y="369709"/>
                  </a:lnTo>
                  <a:lnTo>
                    <a:pt x="8454621" y="383539"/>
                  </a:lnTo>
                  <a:lnTo>
                    <a:pt x="8440191" y="384479"/>
                  </a:lnTo>
                  <a:lnTo>
                    <a:pt x="109791" y="384479"/>
                  </a:lnTo>
                  <a:lnTo>
                    <a:pt x="67882" y="376121"/>
                  </a:lnTo>
                  <a:lnTo>
                    <a:pt x="32213" y="352299"/>
                  </a:lnTo>
                  <a:lnTo>
                    <a:pt x="8352" y="316746"/>
                  </a:lnTo>
                  <a:lnTo>
                    <a:pt x="0" y="274675"/>
                  </a:lnTo>
                  <a:lnTo>
                    <a:pt x="355" y="109791"/>
                  </a:lnTo>
                  <a:close/>
                </a:path>
              </a:pathLst>
            </a:custGeom>
            <a:ln w="10079">
              <a:solidFill>
                <a:srgbClr val="E9F3F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" name="object 44"/>
          <p:cNvSpPr txBox="1"/>
          <p:nvPr/>
        </p:nvSpPr>
        <p:spPr>
          <a:xfrm>
            <a:off x="2634018" y="5886259"/>
            <a:ext cx="6943090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85">
                <a:solidFill>
                  <a:srgbClr val="0077D3"/>
                </a:solidFill>
                <a:latin typeface="Arial Black"/>
                <a:cs typeface="Arial Black"/>
              </a:rPr>
              <a:t>Rule:</a:t>
            </a:r>
            <a:r>
              <a:rPr dirty="0" sz="1300" spc="-70">
                <a:solidFill>
                  <a:srgbClr val="0077D3"/>
                </a:solidFill>
                <a:latin typeface="Arial Black"/>
                <a:cs typeface="Arial Black"/>
              </a:rPr>
              <a:t> validate</a:t>
            </a:r>
            <a:r>
              <a:rPr dirty="0" sz="1300" spc="-65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300" spc="-100">
                <a:solidFill>
                  <a:srgbClr val="0077D3"/>
                </a:solidFill>
                <a:latin typeface="Arial Black"/>
                <a:cs typeface="Arial Black"/>
              </a:rPr>
              <a:t>service</a:t>
            </a:r>
            <a:r>
              <a:rPr dirty="0" sz="1300" spc="-65">
                <a:solidFill>
                  <a:srgbClr val="0077D3"/>
                </a:solidFill>
                <a:latin typeface="Arial Black"/>
                <a:cs typeface="Arial Black"/>
              </a:rPr>
              <a:t> availability</a:t>
            </a:r>
            <a:r>
              <a:rPr dirty="0" sz="1300" spc="-7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300" spc="-55">
                <a:solidFill>
                  <a:srgbClr val="0077D3"/>
                </a:solidFill>
                <a:latin typeface="Arial Black"/>
                <a:cs typeface="Arial Black"/>
              </a:rPr>
              <a:t>first;</a:t>
            </a:r>
            <a:r>
              <a:rPr dirty="0" sz="1300" spc="-65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300" spc="-40">
                <a:solidFill>
                  <a:srgbClr val="0077D3"/>
                </a:solidFill>
                <a:latin typeface="Arial Black"/>
                <a:cs typeface="Arial Black"/>
              </a:rPr>
              <a:t>then</a:t>
            </a:r>
            <a:r>
              <a:rPr dirty="0" sz="1300" spc="-7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300" spc="-75">
                <a:solidFill>
                  <a:srgbClr val="0077D3"/>
                </a:solidFill>
                <a:latin typeface="Arial Black"/>
                <a:cs typeface="Arial Black"/>
              </a:rPr>
              <a:t>design </a:t>
            </a:r>
            <a:r>
              <a:rPr dirty="0" sz="1300" spc="-25">
                <a:solidFill>
                  <a:srgbClr val="0077D3"/>
                </a:solidFill>
                <a:latin typeface="Arial Black"/>
                <a:cs typeface="Arial Black"/>
              </a:rPr>
              <a:t>for</a:t>
            </a:r>
            <a:r>
              <a:rPr dirty="0" sz="1300" spc="-7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300" spc="-45">
                <a:solidFill>
                  <a:srgbClr val="0077D3"/>
                </a:solidFill>
                <a:latin typeface="Arial Black"/>
                <a:cs typeface="Arial Black"/>
              </a:rPr>
              <a:t>the</a:t>
            </a:r>
            <a:r>
              <a:rPr dirty="0" sz="1300" spc="-7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300" spc="-65">
                <a:solidFill>
                  <a:srgbClr val="0077D3"/>
                </a:solidFill>
                <a:latin typeface="Arial Black"/>
                <a:cs typeface="Arial Black"/>
              </a:rPr>
              <a:t>failures </a:t>
            </a:r>
            <a:r>
              <a:rPr dirty="0" sz="1300" spc="-50">
                <a:solidFill>
                  <a:srgbClr val="0077D3"/>
                </a:solidFill>
                <a:latin typeface="Arial Black"/>
                <a:cs typeface="Arial Black"/>
              </a:rPr>
              <a:t>you</a:t>
            </a:r>
            <a:r>
              <a:rPr dirty="0" sz="1300" spc="-65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300" spc="-60">
                <a:solidFill>
                  <a:srgbClr val="0077D3"/>
                </a:solidFill>
                <a:latin typeface="Arial Black"/>
                <a:cs typeface="Arial Black"/>
              </a:rPr>
              <a:t>must</a:t>
            </a:r>
            <a:r>
              <a:rPr dirty="0" sz="1300" spc="-65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300" spc="-20">
                <a:solidFill>
                  <a:srgbClr val="0077D3"/>
                </a:solidFill>
                <a:latin typeface="Arial Black"/>
                <a:cs typeface="Arial Black"/>
              </a:rPr>
              <a:t>survive.</a:t>
            </a:r>
            <a:endParaRPr sz="1300">
              <a:latin typeface="Arial Black"/>
              <a:cs typeface="Arial Black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66635" y="6382435"/>
            <a:ext cx="11064240" cy="635"/>
          </a:xfrm>
          <a:custGeom>
            <a:avLst/>
            <a:gdLst/>
            <a:ahLst/>
            <a:cxnLst/>
            <a:rect l="l" t="t" r="r" b="b"/>
            <a:pathLst>
              <a:path w="11064240" h="635">
                <a:moveTo>
                  <a:pt x="0" y="0"/>
                </a:moveTo>
                <a:lnTo>
                  <a:pt x="11064240" y="368"/>
                </a:lnTo>
              </a:path>
            </a:pathLst>
          </a:custGeom>
          <a:ln w="8999">
            <a:solidFill>
              <a:srgbClr val="DBE4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90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 spc="-100"/>
              <a:t>DAY</a:t>
            </a:r>
            <a:r>
              <a:rPr dirty="0" spc="-55"/>
              <a:t> </a:t>
            </a:r>
            <a:r>
              <a:rPr dirty="0"/>
              <a:t>1</a:t>
            </a:r>
            <a:r>
              <a:rPr dirty="0" spc="105"/>
              <a:t> </a:t>
            </a:r>
            <a:r>
              <a:rPr dirty="0"/>
              <a:t>•</a:t>
            </a:r>
            <a:r>
              <a:rPr dirty="0" spc="130"/>
              <a:t> </a:t>
            </a:r>
            <a:r>
              <a:rPr dirty="0" spc="-70"/>
              <a:t>CLOUD</a:t>
            </a:r>
            <a:r>
              <a:rPr dirty="0" spc="-55"/>
              <a:t> </a:t>
            </a:r>
            <a:r>
              <a:rPr dirty="0" spc="-65"/>
              <a:t>FOUNDATIONS</a:t>
            </a:r>
            <a:r>
              <a:rPr dirty="0" spc="-55"/>
              <a:t> </a:t>
            </a:r>
            <a:r>
              <a:rPr dirty="0" spc="-105"/>
              <a:t>&amp;</a:t>
            </a:r>
            <a:r>
              <a:rPr dirty="0" spc="-50"/>
              <a:t> </a:t>
            </a:r>
            <a:r>
              <a:rPr dirty="0" spc="-95"/>
              <a:t>AZURE</a:t>
            </a:r>
            <a:r>
              <a:rPr dirty="0" spc="-55"/>
              <a:t> </a:t>
            </a:r>
            <a:r>
              <a:rPr dirty="0" spc="-50"/>
              <a:t>BASICS</a:t>
            </a:r>
          </a:p>
        </p:txBody>
      </p:sp>
      <p:sp>
        <p:nvSpPr>
          <p:cNvPr id="45" name="object 4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032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160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3935" y="299427"/>
            <a:ext cx="177609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65">
                <a:solidFill>
                  <a:srgbClr val="0077D3"/>
                </a:solidFill>
                <a:latin typeface="Arial Black"/>
                <a:cs typeface="Arial Black"/>
              </a:rPr>
              <a:t>PA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25">
                <a:solidFill>
                  <a:srgbClr val="0077D3"/>
                </a:solidFill>
                <a:latin typeface="Arial Black"/>
                <a:cs typeface="Arial Black"/>
              </a:rPr>
              <a:t>R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>
                <a:solidFill>
                  <a:srgbClr val="0077D3"/>
                </a:solidFill>
                <a:latin typeface="Arial Black"/>
                <a:cs typeface="Arial Black"/>
              </a:rPr>
              <a:t>T</a:t>
            </a:r>
            <a:r>
              <a:rPr dirty="0" sz="1000" spc="-5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>
                <a:solidFill>
                  <a:srgbClr val="0077D3"/>
                </a:solidFill>
                <a:latin typeface="Arial Black"/>
                <a:cs typeface="Arial Black"/>
              </a:rPr>
              <a:t>2</a:t>
            </a:r>
            <a:r>
              <a:rPr dirty="0" sz="1000" spc="45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>
                <a:solidFill>
                  <a:srgbClr val="0077D3"/>
                </a:solidFill>
                <a:latin typeface="Arial Black"/>
                <a:cs typeface="Arial Black"/>
              </a:rPr>
              <a:t>•</a:t>
            </a:r>
            <a:r>
              <a:rPr dirty="0" sz="1000" spc="12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95">
                <a:solidFill>
                  <a:srgbClr val="0077D3"/>
                </a:solidFill>
                <a:latin typeface="Arial Black"/>
                <a:cs typeface="Arial Black"/>
              </a:rPr>
              <a:t>A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60">
                <a:solidFill>
                  <a:srgbClr val="0077D3"/>
                </a:solidFill>
                <a:latin typeface="Arial Black"/>
                <a:cs typeface="Arial Black"/>
              </a:rPr>
              <a:t>Z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90">
                <a:solidFill>
                  <a:srgbClr val="0077D3"/>
                </a:solidFill>
                <a:latin typeface="Arial Black"/>
                <a:cs typeface="Arial Black"/>
              </a:rPr>
              <a:t>U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25">
                <a:solidFill>
                  <a:srgbClr val="0077D3"/>
                </a:solidFill>
                <a:latin typeface="Arial Black"/>
                <a:cs typeface="Arial Black"/>
              </a:rPr>
              <a:t>R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>
                <a:solidFill>
                  <a:srgbClr val="0077D3"/>
                </a:solidFill>
                <a:latin typeface="Arial Black"/>
                <a:cs typeface="Arial Black"/>
              </a:rPr>
              <a:t>E</a:t>
            </a:r>
            <a:r>
              <a:rPr dirty="0" sz="1000" spc="114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14">
                <a:solidFill>
                  <a:srgbClr val="0077D3"/>
                </a:solidFill>
                <a:latin typeface="Arial Black"/>
                <a:cs typeface="Arial Black"/>
              </a:rPr>
              <a:t>B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95">
                <a:solidFill>
                  <a:srgbClr val="0077D3"/>
                </a:solidFill>
                <a:latin typeface="Arial Black"/>
                <a:cs typeface="Arial Black"/>
              </a:rPr>
              <a:t>A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80">
                <a:solidFill>
                  <a:srgbClr val="0077D3"/>
                </a:solidFill>
                <a:latin typeface="Arial Black"/>
                <a:cs typeface="Arial Black"/>
              </a:rPr>
              <a:t>S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>
                <a:solidFill>
                  <a:srgbClr val="0077D3"/>
                </a:solidFill>
                <a:latin typeface="Arial Black"/>
                <a:cs typeface="Arial Black"/>
              </a:rPr>
              <a:t>I</a:t>
            </a:r>
            <a:r>
              <a:rPr dirty="0" sz="1000" spc="-204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45">
                <a:solidFill>
                  <a:srgbClr val="0077D3"/>
                </a:solidFill>
                <a:latin typeface="Arial Black"/>
                <a:cs typeface="Arial Black"/>
              </a:rPr>
              <a:t>C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10">
                <a:solidFill>
                  <a:srgbClr val="0077D3"/>
                </a:solidFill>
                <a:latin typeface="Arial Black"/>
                <a:cs typeface="Arial Black"/>
              </a:rPr>
              <a:t>S</a:t>
            </a:r>
            <a:endParaRPr sz="1000">
              <a:latin typeface="Arial Black"/>
              <a:cs typeface="Arial Black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54304" y="428977"/>
            <a:ext cx="9798685" cy="814705"/>
          </a:xfrm>
          <a:prstGeom prst="rect"/>
        </p:spPr>
        <p:txBody>
          <a:bodyPr wrap="square" lIns="0" tIns="133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0"/>
              </a:spcBef>
            </a:pPr>
            <a:r>
              <a:rPr dirty="0" sz="2700" spc="-120">
                <a:solidFill>
                  <a:srgbClr val="0F2339"/>
                </a:solidFill>
              </a:rPr>
              <a:t>Availability</a:t>
            </a:r>
            <a:r>
              <a:rPr dirty="0" sz="2700" spc="-170">
                <a:solidFill>
                  <a:srgbClr val="0F2339"/>
                </a:solidFill>
              </a:rPr>
              <a:t> </a:t>
            </a:r>
            <a:r>
              <a:rPr dirty="0" sz="2700" spc="-200">
                <a:solidFill>
                  <a:srgbClr val="0F2339"/>
                </a:solidFill>
              </a:rPr>
              <a:t>Zones:</a:t>
            </a:r>
            <a:r>
              <a:rPr dirty="0" sz="2700" spc="-165">
                <a:solidFill>
                  <a:srgbClr val="0F2339"/>
                </a:solidFill>
              </a:rPr>
              <a:t> </a:t>
            </a:r>
            <a:r>
              <a:rPr dirty="0" sz="2700" spc="-175">
                <a:solidFill>
                  <a:srgbClr val="0F2339"/>
                </a:solidFill>
              </a:rPr>
              <a:t>resilience </a:t>
            </a:r>
            <a:r>
              <a:rPr dirty="0" sz="2700" spc="-240">
                <a:solidFill>
                  <a:srgbClr val="0F2339"/>
                </a:solidFill>
              </a:rPr>
              <a:t>across</a:t>
            </a:r>
            <a:r>
              <a:rPr dirty="0" sz="2700" spc="-165">
                <a:solidFill>
                  <a:srgbClr val="0F2339"/>
                </a:solidFill>
              </a:rPr>
              <a:t> </a:t>
            </a:r>
            <a:r>
              <a:rPr dirty="0" sz="2700" spc="-170">
                <a:solidFill>
                  <a:srgbClr val="0F2339"/>
                </a:solidFill>
              </a:rPr>
              <a:t>separate</a:t>
            </a:r>
            <a:r>
              <a:rPr dirty="0" sz="2700" spc="-165">
                <a:solidFill>
                  <a:srgbClr val="0F2339"/>
                </a:solidFill>
              </a:rPr>
              <a:t> </a:t>
            </a:r>
            <a:r>
              <a:rPr dirty="0" sz="2700" spc="-120">
                <a:solidFill>
                  <a:srgbClr val="0F2339"/>
                </a:solidFill>
              </a:rPr>
              <a:t>datacentres</a:t>
            </a:r>
            <a:endParaRPr sz="2700"/>
          </a:p>
          <a:p>
            <a:pPr marL="30480">
              <a:lnSpc>
                <a:spcPct val="100000"/>
              </a:lnSpc>
              <a:spcBef>
                <a:spcPts val="459"/>
              </a:spcBef>
            </a:pP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Zones</a:t>
            </a:r>
            <a:r>
              <a:rPr dirty="0" sz="1300" spc="-4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are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designed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to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reduce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the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impact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of</a:t>
            </a:r>
            <a:r>
              <a:rPr dirty="0" sz="1300" spc="-4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a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20">
                <a:solidFill>
                  <a:srgbClr val="556478"/>
                </a:solidFill>
                <a:latin typeface="Noto Sans"/>
                <a:cs typeface="Noto Sans"/>
              </a:rPr>
              <a:t>datacentre-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level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outage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within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a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supported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Azure</a:t>
            </a:r>
            <a:r>
              <a:rPr dirty="0" sz="1300" spc="-4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region.</a:t>
            </a:r>
            <a:endParaRPr sz="1300">
              <a:latin typeface="Noto Sans"/>
              <a:cs typeface="Noto San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66635" y="1417319"/>
            <a:ext cx="11064240" cy="635"/>
          </a:xfrm>
          <a:custGeom>
            <a:avLst/>
            <a:gdLst/>
            <a:ahLst/>
            <a:cxnLst/>
            <a:rect l="l" t="t" r="r" b="b"/>
            <a:pathLst>
              <a:path w="11064240" h="634">
                <a:moveTo>
                  <a:pt x="0" y="0"/>
                </a:moveTo>
                <a:lnTo>
                  <a:pt x="11064240" y="355"/>
                </a:lnTo>
              </a:path>
            </a:pathLst>
          </a:custGeom>
          <a:ln w="10079">
            <a:solidFill>
              <a:srgbClr val="DBE4ED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6" name="object 6"/>
          <p:cNvGrpSpPr/>
          <p:nvPr/>
        </p:nvGrpSpPr>
        <p:grpSpPr>
          <a:xfrm>
            <a:off x="4383356" y="1695236"/>
            <a:ext cx="2936875" cy="394970"/>
            <a:chOff x="4383356" y="1695236"/>
            <a:chExt cx="2936875" cy="394970"/>
          </a:xfrm>
        </p:grpSpPr>
        <p:sp>
          <p:nvSpPr>
            <p:cNvPr id="7" name="object 7"/>
            <p:cNvSpPr/>
            <p:nvPr/>
          </p:nvSpPr>
          <p:spPr>
            <a:xfrm>
              <a:off x="4388395" y="1700275"/>
              <a:ext cx="2926715" cy="384810"/>
            </a:xfrm>
            <a:custGeom>
              <a:avLst/>
              <a:gdLst/>
              <a:ahLst/>
              <a:cxnLst/>
              <a:rect l="l" t="t" r="r" b="b"/>
              <a:pathLst>
                <a:path w="2926715" h="384810">
                  <a:moveTo>
                    <a:pt x="110159" y="0"/>
                  </a:moveTo>
                  <a:lnTo>
                    <a:pt x="68095" y="8358"/>
                  </a:lnTo>
                  <a:lnTo>
                    <a:pt x="32535" y="32224"/>
                  </a:lnTo>
                  <a:lnTo>
                    <a:pt x="8721" y="67882"/>
                  </a:lnTo>
                  <a:lnTo>
                    <a:pt x="368" y="109804"/>
                  </a:lnTo>
                  <a:lnTo>
                    <a:pt x="0" y="274688"/>
                  </a:lnTo>
                  <a:lnTo>
                    <a:pt x="939" y="289111"/>
                  </a:lnTo>
                  <a:lnTo>
                    <a:pt x="3736" y="303166"/>
                  </a:lnTo>
                  <a:lnTo>
                    <a:pt x="8305" y="316597"/>
                  </a:lnTo>
                  <a:lnTo>
                    <a:pt x="8358" y="316752"/>
                  </a:lnTo>
                  <a:lnTo>
                    <a:pt x="14770" y="329768"/>
                  </a:lnTo>
                  <a:lnTo>
                    <a:pt x="22683" y="341476"/>
                  </a:lnTo>
                  <a:lnTo>
                    <a:pt x="22788" y="341631"/>
                  </a:lnTo>
                  <a:lnTo>
                    <a:pt x="55079" y="369722"/>
                  </a:lnTo>
                  <a:lnTo>
                    <a:pt x="95379" y="383540"/>
                  </a:lnTo>
                  <a:lnTo>
                    <a:pt x="109804" y="384479"/>
                  </a:lnTo>
                  <a:lnTo>
                    <a:pt x="2816644" y="384479"/>
                  </a:lnTo>
                  <a:lnTo>
                    <a:pt x="2858715" y="376126"/>
                  </a:lnTo>
                  <a:lnTo>
                    <a:pt x="2894215" y="352312"/>
                  </a:lnTo>
                  <a:lnTo>
                    <a:pt x="2918012" y="316752"/>
                  </a:lnTo>
                  <a:lnTo>
                    <a:pt x="2926448" y="274688"/>
                  </a:lnTo>
                  <a:lnTo>
                    <a:pt x="2926425" y="109804"/>
                  </a:lnTo>
                  <a:lnTo>
                    <a:pt x="2918090" y="68095"/>
                  </a:lnTo>
                  <a:lnTo>
                    <a:pt x="2894223" y="32535"/>
                  </a:lnTo>
                  <a:lnTo>
                    <a:pt x="2858565" y="8721"/>
                  </a:lnTo>
                  <a:lnTo>
                    <a:pt x="2816644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9F3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4388395" y="1700275"/>
              <a:ext cx="2926715" cy="384810"/>
            </a:xfrm>
            <a:custGeom>
              <a:avLst/>
              <a:gdLst/>
              <a:ahLst/>
              <a:cxnLst/>
              <a:rect l="l" t="t" r="r" b="b"/>
              <a:pathLst>
                <a:path w="2926715" h="384810">
                  <a:moveTo>
                    <a:pt x="368" y="109804"/>
                  </a:moveTo>
                  <a:lnTo>
                    <a:pt x="1307" y="95379"/>
                  </a:lnTo>
                  <a:lnTo>
                    <a:pt x="4103" y="81360"/>
                  </a:lnTo>
                  <a:lnTo>
                    <a:pt x="23138" y="43011"/>
                  </a:lnTo>
                  <a:lnTo>
                    <a:pt x="55079" y="14770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2816644" y="368"/>
                  </a:lnTo>
                  <a:lnTo>
                    <a:pt x="2858565" y="8721"/>
                  </a:lnTo>
                  <a:lnTo>
                    <a:pt x="2894223" y="32535"/>
                  </a:lnTo>
                  <a:lnTo>
                    <a:pt x="2918090" y="68095"/>
                  </a:lnTo>
                  <a:lnTo>
                    <a:pt x="2926448" y="110159"/>
                  </a:lnTo>
                  <a:lnTo>
                    <a:pt x="2926448" y="274688"/>
                  </a:lnTo>
                  <a:lnTo>
                    <a:pt x="2925508" y="289105"/>
                  </a:lnTo>
                  <a:lnTo>
                    <a:pt x="2922711" y="303120"/>
                  </a:lnTo>
                  <a:lnTo>
                    <a:pt x="2903665" y="341476"/>
                  </a:lnTo>
                  <a:lnTo>
                    <a:pt x="2871724" y="369722"/>
                  </a:lnTo>
                  <a:lnTo>
                    <a:pt x="2831074" y="383540"/>
                  </a:lnTo>
                  <a:lnTo>
                    <a:pt x="2816644" y="384479"/>
                  </a:lnTo>
                  <a:lnTo>
                    <a:pt x="109804" y="384479"/>
                  </a:lnTo>
                  <a:lnTo>
                    <a:pt x="67882" y="376126"/>
                  </a:lnTo>
                  <a:lnTo>
                    <a:pt x="32224" y="352312"/>
                  </a:lnTo>
                  <a:lnTo>
                    <a:pt x="8358" y="316752"/>
                  </a:lnTo>
                  <a:lnTo>
                    <a:pt x="0" y="274688"/>
                  </a:lnTo>
                  <a:lnTo>
                    <a:pt x="368" y="109804"/>
                  </a:lnTo>
                  <a:close/>
                </a:path>
              </a:pathLst>
            </a:custGeom>
            <a:ln w="10079">
              <a:solidFill>
                <a:srgbClr val="E9F3F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5314937" y="1780463"/>
            <a:ext cx="1075690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110">
                <a:solidFill>
                  <a:srgbClr val="0077D3"/>
                </a:solidFill>
                <a:latin typeface="Arial Black"/>
                <a:cs typeface="Arial Black"/>
              </a:rPr>
              <a:t>ONE</a:t>
            </a:r>
            <a:r>
              <a:rPr dirty="0" sz="1300" spc="-9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300" spc="-95">
                <a:solidFill>
                  <a:srgbClr val="0077D3"/>
                </a:solidFill>
                <a:latin typeface="Arial Black"/>
                <a:cs typeface="Arial Black"/>
              </a:rPr>
              <a:t>REGION</a:t>
            </a:r>
            <a:endParaRPr sz="1300">
              <a:latin typeface="Arial Black"/>
              <a:cs typeface="Arial Black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908964" y="2326284"/>
            <a:ext cx="2799715" cy="2068195"/>
            <a:chOff x="908964" y="2326284"/>
            <a:chExt cx="2799715" cy="2068195"/>
          </a:xfrm>
        </p:grpSpPr>
        <p:sp>
          <p:nvSpPr>
            <p:cNvPr id="11" name="object 11"/>
            <p:cNvSpPr/>
            <p:nvPr/>
          </p:nvSpPr>
          <p:spPr>
            <a:xfrm>
              <a:off x="914044" y="2331364"/>
              <a:ext cx="2789555" cy="2058035"/>
            </a:xfrm>
            <a:custGeom>
              <a:avLst/>
              <a:gdLst/>
              <a:ahLst/>
              <a:cxnLst/>
              <a:rect l="l" t="t" r="r" b="b"/>
              <a:pathLst>
                <a:path w="2789554" h="2058035">
                  <a:moveTo>
                    <a:pt x="110159" y="0"/>
                  </a:moveTo>
                  <a:lnTo>
                    <a:pt x="68088" y="8352"/>
                  </a:lnTo>
                  <a:lnTo>
                    <a:pt x="32534" y="32213"/>
                  </a:lnTo>
                  <a:lnTo>
                    <a:pt x="8708" y="67882"/>
                  </a:lnTo>
                  <a:lnTo>
                    <a:pt x="355" y="109791"/>
                  </a:lnTo>
                  <a:lnTo>
                    <a:pt x="0" y="1947951"/>
                  </a:lnTo>
                  <a:lnTo>
                    <a:pt x="939" y="1962381"/>
                  </a:lnTo>
                  <a:lnTo>
                    <a:pt x="14757" y="2003031"/>
                  </a:lnTo>
                  <a:lnTo>
                    <a:pt x="22674" y="2014744"/>
                  </a:lnTo>
                  <a:lnTo>
                    <a:pt x="22775" y="2014894"/>
                  </a:lnTo>
                  <a:lnTo>
                    <a:pt x="55079" y="2042998"/>
                  </a:lnTo>
                  <a:lnTo>
                    <a:pt x="95374" y="2056815"/>
                  </a:lnTo>
                  <a:lnTo>
                    <a:pt x="109791" y="2057755"/>
                  </a:lnTo>
                  <a:lnTo>
                    <a:pt x="2679471" y="2057755"/>
                  </a:lnTo>
                  <a:lnTo>
                    <a:pt x="2721542" y="2049402"/>
                  </a:lnTo>
                  <a:lnTo>
                    <a:pt x="2757046" y="2025576"/>
                  </a:lnTo>
                  <a:lnTo>
                    <a:pt x="2780847" y="1990022"/>
                  </a:lnTo>
                  <a:lnTo>
                    <a:pt x="2789275" y="1947951"/>
                  </a:lnTo>
                  <a:lnTo>
                    <a:pt x="2789251" y="109791"/>
                  </a:lnTo>
                  <a:lnTo>
                    <a:pt x="2780922" y="68088"/>
                  </a:lnTo>
                  <a:lnTo>
                    <a:pt x="2757052" y="32534"/>
                  </a:lnTo>
                  <a:lnTo>
                    <a:pt x="2721392" y="8708"/>
                  </a:lnTo>
                  <a:lnTo>
                    <a:pt x="2679471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914044" y="2331364"/>
              <a:ext cx="2789555" cy="2058035"/>
            </a:xfrm>
            <a:custGeom>
              <a:avLst/>
              <a:gdLst/>
              <a:ahLst/>
              <a:cxnLst/>
              <a:rect l="l" t="t" r="r" b="b"/>
              <a:pathLst>
                <a:path w="2789554" h="2058035">
                  <a:moveTo>
                    <a:pt x="355" y="109791"/>
                  </a:moveTo>
                  <a:lnTo>
                    <a:pt x="1295" y="95374"/>
                  </a:lnTo>
                  <a:lnTo>
                    <a:pt x="4090" y="81359"/>
                  </a:lnTo>
                  <a:lnTo>
                    <a:pt x="23133" y="43003"/>
                  </a:lnTo>
                  <a:lnTo>
                    <a:pt x="55079" y="14757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2679471" y="355"/>
                  </a:lnTo>
                  <a:lnTo>
                    <a:pt x="2721392" y="8708"/>
                  </a:lnTo>
                  <a:lnTo>
                    <a:pt x="2757052" y="32534"/>
                  </a:lnTo>
                  <a:lnTo>
                    <a:pt x="2780922" y="68088"/>
                  </a:lnTo>
                  <a:lnTo>
                    <a:pt x="2789275" y="110159"/>
                  </a:lnTo>
                  <a:lnTo>
                    <a:pt x="2789275" y="1947951"/>
                  </a:lnTo>
                  <a:lnTo>
                    <a:pt x="2788335" y="1962376"/>
                  </a:lnTo>
                  <a:lnTo>
                    <a:pt x="2785540" y="1976394"/>
                  </a:lnTo>
                  <a:lnTo>
                    <a:pt x="2766498" y="2014744"/>
                  </a:lnTo>
                  <a:lnTo>
                    <a:pt x="2734551" y="2042998"/>
                  </a:lnTo>
                  <a:lnTo>
                    <a:pt x="2693901" y="2056815"/>
                  </a:lnTo>
                  <a:lnTo>
                    <a:pt x="2679471" y="2057755"/>
                  </a:lnTo>
                  <a:lnTo>
                    <a:pt x="109791" y="2057755"/>
                  </a:lnTo>
                  <a:lnTo>
                    <a:pt x="67882" y="2049402"/>
                  </a:lnTo>
                  <a:lnTo>
                    <a:pt x="32213" y="2025576"/>
                  </a:lnTo>
                  <a:lnTo>
                    <a:pt x="8352" y="1990022"/>
                  </a:lnTo>
                  <a:lnTo>
                    <a:pt x="0" y="1947951"/>
                  </a:lnTo>
                  <a:lnTo>
                    <a:pt x="355" y="109791"/>
                  </a:lnTo>
                  <a:close/>
                </a:path>
              </a:pathLst>
            </a:custGeom>
            <a:ln w="10079">
              <a:solidFill>
                <a:srgbClr val="0077D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096924" y="2514244"/>
              <a:ext cx="1052195" cy="293370"/>
            </a:xfrm>
            <a:custGeom>
              <a:avLst/>
              <a:gdLst/>
              <a:ahLst/>
              <a:cxnLst/>
              <a:rect l="l" t="t" r="r" b="b"/>
              <a:pathLst>
                <a:path w="1052195" h="293369">
                  <a:moveTo>
                    <a:pt x="110159" y="0"/>
                  </a:moveTo>
                  <a:lnTo>
                    <a:pt x="68088" y="8352"/>
                  </a:lnTo>
                  <a:lnTo>
                    <a:pt x="32534" y="32213"/>
                  </a:lnTo>
                  <a:lnTo>
                    <a:pt x="8708" y="67882"/>
                  </a:lnTo>
                  <a:lnTo>
                    <a:pt x="355" y="109791"/>
                  </a:lnTo>
                  <a:lnTo>
                    <a:pt x="0" y="183235"/>
                  </a:lnTo>
                  <a:lnTo>
                    <a:pt x="939" y="197665"/>
                  </a:lnTo>
                  <a:lnTo>
                    <a:pt x="3735" y="211723"/>
                  </a:lnTo>
                  <a:lnTo>
                    <a:pt x="8301" y="225156"/>
                  </a:lnTo>
                  <a:lnTo>
                    <a:pt x="8352" y="225306"/>
                  </a:lnTo>
                  <a:lnTo>
                    <a:pt x="14757" y="238315"/>
                  </a:lnTo>
                  <a:lnTo>
                    <a:pt x="22674" y="250028"/>
                  </a:lnTo>
                  <a:lnTo>
                    <a:pt x="22775" y="250178"/>
                  </a:lnTo>
                  <a:lnTo>
                    <a:pt x="55079" y="278269"/>
                  </a:lnTo>
                  <a:lnTo>
                    <a:pt x="95374" y="292100"/>
                  </a:lnTo>
                  <a:lnTo>
                    <a:pt x="109791" y="293039"/>
                  </a:lnTo>
                  <a:lnTo>
                    <a:pt x="942111" y="293039"/>
                  </a:lnTo>
                  <a:lnTo>
                    <a:pt x="984182" y="284681"/>
                  </a:lnTo>
                  <a:lnTo>
                    <a:pt x="1019686" y="260859"/>
                  </a:lnTo>
                  <a:lnTo>
                    <a:pt x="1043487" y="225306"/>
                  </a:lnTo>
                  <a:lnTo>
                    <a:pt x="1043562" y="225156"/>
                  </a:lnTo>
                  <a:lnTo>
                    <a:pt x="1048164" y="211723"/>
                  </a:lnTo>
                  <a:lnTo>
                    <a:pt x="1050974" y="197665"/>
                  </a:lnTo>
                  <a:lnTo>
                    <a:pt x="1051915" y="183235"/>
                  </a:lnTo>
                  <a:lnTo>
                    <a:pt x="1051891" y="109791"/>
                  </a:lnTo>
                  <a:lnTo>
                    <a:pt x="1043562" y="68088"/>
                  </a:lnTo>
                  <a:lnTo>
                    <a:pt x="1019692" y="32534"/>
                  </a:lnTo>
                  <a:lnTo>
                    <a:pt x="984032" y="8708"/>
                  </a:lnTo>
                  <a:lnTo>
                    <a:pt x="942111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9F3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096924" y="2514244"/>
              <a:ext cx="1052195" cy="293370"/>
            </a:xfrm>
            <a:custGeom>
              <a:avLst/>
              <a:gdLst/>
              <a:ahLst/>
              <a:cxnLst/>
              <a:rect l="l" t="t" r="r" b="b"/>
              <a:pathLst>
                <a:path w="1052195" h="293369">
                  <a:moveTo>
                    <a:pt x="355" y="109791"/>
                  </a:moveTo>
                  <a:lnTo>
                    <a:pt x="1295" y="95374"/>
                  </a:lnTo>
                  <a:lnTo>
                    <a:pt x="4090" y="81359"/>
                  </a:lnTo>
                  <a:lnTo>
                    <a:pt x="23133" y="43003"/>
                  </a:lnTo>
                  <a:lnTo>
                    <a:pt x="55079" y="14757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942111" y="355"/>
                  </a:lnTo>
                  <a:lnTo>
                    <a:pt x="984032" y="8708"/>
                  </a:lnTo>
                  <a:lnTo>
                    <a:pt x="1019692" y="32534"/>
                  </a:lnTo>
                  <a:lnTo>
                    <a:pt x="1043562" y="68088"/>
                  </a:lnTo>
                  <a:lnTo>
                    <a:pt x="1051915" y="110159"/>
                  </a:lnTo>
                  <a:lnTo>
                    <a:pt x="1051915" y="183235"/>
                  </a:lnTo>
                  <a:lnTo>
                    <a:pt x="1050975" y="197660"/>
                  </a:lnTo>
                  <a:lnTo>
                    <a:pt x="1048180" y="211678"/>
                  </a:lnTo>
                  <a:lnTo>
                    <a:pt x="1029138" y="250028"/>
                  </a:lnTo>
                  <a:lnTo>
                    <a:pt x="997191" y="278269"/>
                  </a:lnTo>
                  <a:lnTo>
                    <a:pt x="956541" y="292100"/>
                  </a:lnTo>
                  <a:lnTo>
                    <a:pt x="942111" y="293039"/>
                  </a:lnTo>
                  <a:lnTo>
                    <a:pt x="109791" y="293039"/>
                  </a:lnTo>
                  <a:lnTo>
                    <a:pt x="67882" y="284681"/>
                  </a:lnTo>
                  <a:lnTo>
                    <a:pt x="32213" y="260859"/>
                  </a:lnTo>
                  <a:lnTo>
                    <a:pt x="8352" y="225306"/>
                  </a:lnTo>
                  <a:lnTo>
                    <a:pt x="0" y="183235"/>
                  </a:lnTo>
                  <a:lnTo>
                    <a:pt x="355" y="109791"/>
                  </a:lnTo>
                  <a:close/>
                </a:path>
              </a:pathLst>
            </a:custGeom>
            <a:ln w="10079">
              <a:solidFill>
                <a:srgbClr val="E9F3F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1384820" y="2567063"/>
            <a:ext cx="47752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10">
                <a:solidFill>
                  <a:srgbClr val="0077D3"/>
                </a:solidFill>
                <a:latin typeface="Arial Black"/>
                <a:cs typeface="Arial Black"/>
              </a:rPr>
              <a:t>ZONE</a:t>
            </a:r>
            <a:r>
              <a:rPr dirty="0" sz="1000" spc="-55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50">
                <a:solidFill>
                  <a:srgbClr val="0077D3"/>
                </a:solidFill>
                <a:latin typeface="Arial Black"/>
                <a:cs typeface="Arial Black"/>
              </a:rPr>
              <a:t>1</a:t>
            </a:r>
            <a:endParaRPr sz="1000">
              <a:latin typeface="Arial Black"/>
              <a:cs typeface="Arial Black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293484" y="3085555"/>
            <a:ext cx="147320" cy="120014"/>
            <a:chOff x="1293484" y="3085555"/>
            <a:chExt cx="147320" cy="120014"/>
          </a:xfrm>
        </p:grpSpPr>
        <p:sp>
          <p:nvSpPr>
            <p:cNvPr id="17" name="object 17"/>
            <p:cNvSpPr/>
            <p:nvPr/>
          </p:nvSpPr>
          <p:spPr>
            <a:xfrm>
              <a:off x="1298524" y="3090595"/>
              <a:ext cx="137160" cy="109855"/>
            </a:xfrm>
            <a:custGeom>
              <a:avLst/>
              <a:gdLst/>
              <a:ahLst/>
              <a:cxnLst/>
              <a:rect l="l" t="t" r="r" b="b"/>
              <a:pathLst>
                <a:path w="137159" h="109855">
                  <a:moveTo>
                    <a:pt x="136791" y="0"/>
                  </a:moveTo>
                  <a:lnTo>
                    <a:pt x="0" y="0"/>
                  </a:lnTo>
                  <a:lnTo>
                    <a:pt x="0" y="109448"/>
                  </a:lnTo>
                  <a:lnTo>
                    <a:pt x="68389" y="109448"/>
                  </a:lnTo>
                  <a:lnTo>
                    <a:pt x="136791" y="109448"/>
                  </a:lnTo>
                  <a:lnTo>
                    <a:pt x="136791" y="0"/>
                  </a:lnTo>
                  <a:close/>
                </a:path>
              </a:pathLst>
            </a:custGeom>
            <a:solidFill>
              <a:srgbClr val="0077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1298524" y="3090595"/>
              <a:ext cx="137160" cy="109855"/>
            </a:xfrm>
            <a:custGeom>
              <a:avLst/>
              <a:gdLst/>
              <a:ahLst/>
              <a:cxnLst/>
              <a:rect l="l" t="t" r="r" b="b"/>
              <a:pathLst>
                <a:path w="137159" h="109855">
                  <a:moveTo>
                    <a:pt x="68389" y="109448"/>
                  </a:moveTo>
                  <a:lnTo>
                    <a:pt x="0" y="109448"/>
                  </a:lnTo>
                  <a:lnTo>
                    <a:pt x="0" y="0"/>
                  </a:lnTo>
                  <a:lnTo>
                    <a:pt x="136791" y="0"/>
                  </a:lnTo>
                  <a:lnTo>
                    <a:pt x="136791" y="109448"/>
                  </a:lnTo>
                  <a:lnTo>
                    <a:pt x="68389" y="109448"/>
                  </a:lnTo>
                  <a:close/>
                </a:path>
              </a:pathLst>
            </a:custGeom>
            <a:ln w="10079">
              <a:solidFill>
                <a:srgbClr val="0077D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9" name="object 19"/>
          <p:cNvGrpSpPr/>
          <p:nvPr/>
        </p:nvGrpSpPr>
        <p:grpSpPr>
          <a:xfrm>
            <a:off x="1293484" y="3286800"/>
            <a:ext cx="147320" cy="120014"/>
            <a:chOff x="1293484" y="3286800"/>
            <a:chExt cx="147320" cy="120014"/>
          </a:xfrm>
        </p:grpSpPr>
        <p:sp>
          <p:nvSpPr>
            <p:cNvPr id="20" name="object 20"/>
            <p:cNvSpPr/>
            <p:nvPr/>
          </p:nvSpPr>
          <p:spPr>
            <a:xfrm>
              <a:off x="1298524" y="3291840"/>
              <a:ext cx="137160" cy="109855"/>
            </a:xfrm>
            <a:custGeom>
              <a:avLst/>
              <a:gdLst/>
              <a:ahLst/>
              <a:cxnLst/>
              <a:rect l="l" t="t" r="r" b="b"/>
              <a:pathLst>
                <a:path w="137159" h="109854">
                  <a:moveTo>
                    <a:pt x="136791" y="0"/>
                  </a:moveTo>
                  <a:lnTo>
                    <a:pt x="0" y="0"/>
                  </a:lnTo>
                  <a:lnTo>
                    <a:pt x="0" y="109435"/>
                  </a:lnTo>
                  <a:lnTo>
                    <a:pt x="68389" y="109435"/>
                  </a:lnTo>
                  <a:lnTo>
                    <a:pt x="136791" y="109435"/>
                  </a:lnTo>
                  <a:lnTo>
                    <a:pt x="136791" y="0"/>
                  </a:lnTo>
                  <a:close/>
                </a:path>
              </a:pathLst>
            </a:custGeom>
            <a:solidFill>
              <a:srgbClr val="0077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1298524" y="3291840"/>
              <a:ext cx="137160" cy="109855"/>
            </a:xfrm>
            <a:custGeom>
              <a:avLst/>
              <a:gdLst/>
              <a:ahLst/>
              <a:cxnLst/>
              <a:rect l="l" t="t" r="r" b="b"/>
              <a:pathLst>
                <a:path w="137159" h="109854">
                  <a:moveTo>
                    <a:pt x="68389" y="109435"/>
                  </a:moveTo>
                  <a:lnTo>
                    <a:pt x="0" y="109435"/>
                  </a:lnTo>
                  <a:lnTo>
                    <a:pt x="0" y="0"/>
                  </a:lnTo>
                  <a:lnTo>
                    <a:pt x="136791" y="0"/>
                  </a:lnTo>
                  <a:lnTo>
                    <a:pt x="136791" y="109435"/>
                  </a:lnTo>
                  <a:lnTo>
                    <a:pt x="68389" y="109435"/>
                  </a:lnTo>
                  <a:close/>
                </a:path>
              </a:pathLst>
            </a:custGeom>
            <a:ln w="10079">
              <a:solidFill>
                <a:srgbClr val="0077D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2" name="object 22"/>
          <p:cNvGrpSpPr/>
          <p:nvPr/>
        </p:nvGrpSpPr>
        <p:grpSpPr>
          <a:xfrm>
            <a:off x="1183324" y="2966036"/>
            <a:ext cx="3141980" cy="925194"/>
            <a:chOff x="1183324" y="2966036"/>
            <a:chExt cx="3141980" cy="925194"/>
          </a:xfrm>
        </p:grpSpPr>
        <p:sp>
          <p:nvSpPr>
            <p:cNvPr id="23" name="object 23"/>
            <p:cNvSpPr/>
            <p:nvPr/>
          </p:nvSpPr>
          <p:spPr>
            <a:xfrm>
              <a:off x="1188364" y="2971076"/>
              <a:ext cx="686435" cy="915035"/>
            </a:xfrm>
            <a:custGeom>
              <a:avLst/>
              <a:gdLst/>
              <a:ahLst/>
              <a:cxnLst/>
              <a:rect l="l" t="t" r="r" b="b"/>
              <a:pathLst>
                <a:path w="686435" h="915035">
                  <a:moveTo>
                    <a:pt x="110159" y="0"/>
                  </a:moveTo>
                  <a:lnTo>
                    <a:pt x="68088" y="8358"/>
                  </a:lnTo>
                  <a:lnTo>
                    <a:pt x="32534" y="32224"/>
                  </a:lnTo>
                  <a:lnTo>
                    <a:pt x="8708" y="67882"/>
                  </a:lnTo>
                  <a:lnTo>
                    <a:pt x="355" y="109804"/>
                  </a:lnTo>
                  <a:lnTo>
                    <a:pt x="0" y="804964"/>
                  </a:lnTo>
                  <a:lnTo>
                    <a:pt x="939" y="819394"/>
                  </a:lnTo>
                  <a:lnTo>
                    <a:pt x="3735" y="833451"/>
                  </a:lnTo>
                  <a:lnTo>
                    <a:pt x="8301" y="846885"/>
                  </a:lnTo>
                  <a:lnTo>
                    <a:pt x="8352" y="847035"/>
                  </a:lnTo>
                  <a:lnTo>
                    <a:pt x="32213" y="882588"/>
                  </a:lnTo>
                  <a:lnTo>
                    <a:pt x="67882" y="906410"/>
                  </a:lnTo>
                  <a:lnTo>
                    <a:pt x="109791" y="914768"/>
                  </a:lnTo>
                  <a:lnTo>
                    <a:pt x="576351" y="914768"/>
                  </a:lnTo>
                  <a:lnTo>
                    <a:pt x="618422" y="906410"/>
                  </a:lnTo>
                  <a:lnTo>
                    <a:pt x="653926" y="882588"/>
                  </a:lnTo>
                  <a:lnTo>
                    <a:pt x="677727" y="847035"/>
                  </a:lnTo>
                  <a:lnTo>
                    <a:pt x="686155" y="804964"/>
                  </a:lnTo>
                  <a:lnTo>
                    <a:pt x="686132" y="109804"/>
                  </a:lnTo>
                  <a:lnTo>
                    <a:pt x="677802" y="68095"/>
                  </a:lnTo>
                  <a:lnTo>
                    <a:pt x="653932" y="32535"/>
                  </a:lnTo>
                  <a:lnTo>
                    <a:pt x="618272" y="8721"/>
                  </a:lnTo>
                  <a:lnTo>
                    <a:pt x="576351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9F3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1188364" y="2971076"/>
              <a:ext cx="686435" cy="915035"/>
            </a:xfrm>
            <a:custGeom>
              <a:avLst/>
              <a:gdLst/>
              <a:ahLst/>
              <a:cxnLst/>
              <a:rect l="l" t="t" r="r" b="b"/>
              <a:pathLst>
                <a:path w="686435" h="915035">
                  <a:moveTo>
                    <a:pt x="355" y="109804"/>
                  </a:moveTo>
                  <a:lnTo>
                    <a:pt x="1295" y="95379"/>
                  </a:lnTo>
                  <a:lnTo>
                    <a:pt x="4090" y="81360"/>
                  </a:lnTo>
                  <a:lnTo>
                    <a:pt x="23133" y="43011"/>
                  </a:lnTo>
                  <a:lnTo>
                    <a:pt x="55079" y="14770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576351" y="368"/>
                  </a:lnTo>
                  <a:lnTo>
                    <a:pt x="618272" y="8721"/>
                  </a:lnTo>
                  <a:lnTo>
                    <a:pt x="653932" y="32535"/>
                  </a:lnTo>
                  <a:lnTo>
                    <a:pt x="677802" y="68095"/>
                  </a:lnTo>
                  <a:lnTo>
                    <a:pt x="686155" y="110159"/>
                  </a:lnTo>
                  <a:lnTo>
                    <a:pt x="686155" y="804964"/>
                  </a:lnTo>
                  <a:lnTo>
                    <a:pt x="685215" y="819388"/>
                  </a:lnTo>
                  <a:lnTo>
                    <a:pt x="682420" y="833407"/>
                  </a:lnTo>
                  <a:lnTo>
                    <a:pt x="663378" y="871757"/>
                  </a:lnTo>
                  <a:lnTo>
                    <a:pt x="631431" y="899998"/>
                  </a:lnTo>
                  <a:lnTo>
                    <a:pt x="590781" y="913828"/>
                  </a:lnTo>
                  <a:lnTo>
                    <a:pt x="576351" y="914768"/>
                  </a:lnTo>
                  <a:lnTo>
                    <a:pt x="109791" y="914768"/>
                  </a:lnTo>
                  <a:lnTo>
                    <a:pt x="67882" y="906410"/>
                  </a:lnTo>
                  <a:lnTo>
                    <a:pt x="32213" y="882588"/>
                  </a:lnTo>
                  <a:lnTo>
                    <a:pt x="8352" y="847035"/>
                  </a:lnTo>
                  <a:lnTo>
                    <a:pt x="0" y="804964"/>
                  </a:lnTo>
                  <a:lnTo>
                    <a:pt x="355" y="109804"/>
                  </a:lnTo>
                  <a:close/>
                </a:path>
              </a:pathLst>
            </a:custGeom>
            <a:ln w="10079">
              <a:solidFill>
                <a:srgbClr val="0077D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1298524" y="3493084"/>
              <a:ext cx="137160" cy="109855"/>
            </a:xfrm>
            <a:custGeom>
              <a:avLst/>
              <a:gdLst/>
              <a:ahLst/>
              <a:cxnLst/>
              <a:rect l="l" t="t" r="r" b="b"/>
              <a:pathLst>
                <a:path w="137159" h="109854">
                  <a:moveTo>
                    <a:pt x="136791" y="0"/>
                  </a:moveTo>
                  <a:lnTo>
                    <a:pt x="0" y="0"/>
                  </a:lnTo>
                  <a:lnTo>
                    <a:pt x="0" y="109435"/>
                  </a:lnTo>
                  <a:lnTo>
                    <a:pt x="68389" y="109435"/>
                  </a:lnTo>
                  <a:lnTo>
                    <a:pt x="136791" y="109435"/>
                  </a:lnTo>
                  <a:lnTo>
                    <a:pt x="136791" y="0"/>
                  </a:lnTo>
                  <a:close/>
                </a:path>
              </a:pathLst>
            </a:custGeom>
            <a:solidFill>
              <a:srgbClr val="0077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1298524" y="3493084"/>
              <a:ext cx="137160" cy="109855"/>
            </a:xfrm>
            <a:custGeom>
              <a:avLst/>
              <a:gdLst/>
              <a:ahLst/>
              <a:cxnLst/>
              <a:rect l="l" t="t" r="r" b="b"/>
              <a:pathLst>
                <a:path w="137159" h="109854">
                  <a:moveTo>
                    <a:pt x="68389" y="109435"/>
                  </a:moveTo>
                  <a:lnTo>
                    <a:pt x="0" y="109435"/>
                  </a:lnTo>
                  <a:lnTo>
                    <a:pt x="0" y="0"/>
                  </a:lnTo>
                  <a:lnTo>
                    <a:pt x="136791" y="0"/>
                  </a:lnTo>
                  <a:lnTo>
                    <a:pt x="136791" y="109435"/>
                  </a:lnTo>
                  <a:lnTo>
                    <a:pt x="68389" y="109435"/>
                  </a:lnTo>
                  <a:close/>
                </a:path>
              </a:pathLst>
            </a:custGeom>
            <a:ln w="10079">
              <a:solidFill>
                <a:srgbClr val="0077D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3703319" y="3383279"/>
              <a:ext cx="612775" cy="635"/>
            </a:xfrm>
            <a:custGeom>
              <a:avLst/>
              <a:gdLst/>
              <a:ahLst/>
              <a:cxnLst/>
              <a:rect l="l" t="t" r="r" b="b"/>
              <a:pathLst>
                <a:path w="612775" h="635">
                  <a:moveTo>
                    <a:pt x="0" y="0"/>
                  </a:moveTo>
                  <a:lnTo>
                    <a:pt x="612355" y="355"/>
                  </a:lnTo>
                </a:path>
              </a:pathLst>
            </a:custGeom>
            <a:ln w="19079">
              <a:solidFill>
                <a:srgbClr val="DBE4ED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/>
          <p:nvPr/>
        </p:nvSpPr>
        <p:spPr>
          <a:xfrm>
            <a:off x="1998979" y="2959100"/>
            <a:ext cx="119507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0F2339"/>
                </a:solidFill>
                <a:latin typeface="Arial Black"/>
                <a:cs typeface="Arial Black"/>
              </a:rPr>
              <a:t>Independent </a:t>
            </a:r>
            <a:r>
              <a:rPr dirty="0" sz="1200" spc="-75">
                <a:solidFill>
                  <a:srgbClr val="0F2339"/>
                </a:solidFill>
                <a:latin typeface="Arial Black"/>
                <a:cs typeface="Arial Black"/>
              </a:rPr>
              <a:t>power</a:t>
            </a:r>
            <a:r>
              <a:rPr dirty="0" sz="1200" spc="-8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200" spc="-150">
                <a:solidFill>
                  <a:srgbClr val="0F2339"/>
                </a:solidFill>
                <a:latin typeface="Arial Black"/>
                <a:cs typeface="Arial Black"/>
              </a:rPr>
              <a:t>•</a:t>
            </a:r>
            <a:r>
              <a:rPr dirty="0" sz="1200" spc="-8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200" spc="-70">
                <a:solidFill>
                  <a:srgbClr val="0F2339"/>
                </a:solidFill>
                <a:latin typeface="Arial Black"/>
                <a:cs typeface="Arial Black"/>
              </a:rPr>
              <a:t>cooling </a:t>
            </a:r>
            <a:r>
              <a:rPr dirty="0" sz="1200" spc="-10">
                <a:solidFill>
                  <a:srgbClr val="0F2339"/>
                </a:solidFill>
                <a:latin typeface="Arial Black"/>
                <a:cs typeface="Arial Black"/>
              </a:rPr>
              <a:t>network</a:t>
            </a:r>
            <a:endParaRPr sz="1200">
              <a:latin typeface="Arial Black"/>
              <a:cs typeface="Arial Black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4429404" y="2326284"/>
            <a:ext cx="2799715" cy="2068195"/>
            <a:chOff x="4429404" y="2326284"/>
            <a:chExt cx="2799715" cy="2068195"/>
          </a:xfrm>
        </p:grpSpPr>
        <p:sp>
          <p:nvSpPr>
            <p:cNvPr id="30" name="object 30"/>
            <p:cNvSpPr/>
            <p:nvPr/>
          </p:nvSpPr>
          <p:spPr>
            <a:xfrm>
              <a:off x="4434484" y="2331364"/>
              <a:ext cx="2789555" cy="2058035"/>
            </a:xfrm>
            <a:custGeom>
              <a:avLst/>
              <a:gdLst/>
              <a:ahLst/>
              <a:cxnLst/>
              <a:rect l="l" t="t" r="r" b="b"/>
              <a:pathLst>
                <a:path w="2789554" h="2058035">
                  <a:moveTo>
                    <a:pt x="110159" y="0"/>
                  </a:moveTo>
                  <a:lnTo>
                    <a:pt x="68088" y="8352"/>
                  </a:lnTo>
                  <a:lnTo>
                    <a:pt x="32534" y="32213"/>
                  </a:lnTo>
                  <a:lnTo>
                    <a:pt x="8708" y="67882"/>
                  </a:lnTo>
                  <a:lnTo>
                    <a:pt x="355" y="109791"/>
                  </a:lnTo>
                  <a:lnTo>
                    <a:pt x="0" y="1947951"/>
                  </a:lnTo>
                  <a:lnTo>
                    <a:pt x="939" y="1962381"/>
                  </a:lnTo>
                  <a:lnTo>
                    <a:pt x="3735" y="1976439"/>
                  </a:lnTo>
                  <a:lnTo>
                    <a:pt x="8301" y="1989872"/>
                  </a:lnTo>
                  <a:lnTo>
                    <a:pt x="8352" y="1990022"/>
                  </a:lnTo>
                  <a:lnTo>
                    <a:pt x="32213" y="2025576"/>
                  </a:lnTo>
                  <a:lnTo>
                    <a:pt x="67882" y="2049402"/>
                  </a:lnTo>
                  <a:lnTo>
                    <a:pt x="109791" y="2057755"/>
                  </a:lnTo>
                  <a:lnTo>
                    <a:pt x="2679471" y="2057755"/>
                  </a:lnTo>
                  <a:lnTo>
                    <a:pt x="2721542" y="2049402"/>
                  </a:lnTo>
                  <a:lnTo>
                    <a:pt x="2757046" y="2025576"/>
                  </a:lnTo>
                  <a:lnTo>
                    <a:pt x="2780847" y="1990022"/>
                  </a:lnTo>
                  <a:lnTo>
                    <a:pt x="2789275" y="1947951"/>
                  </a:lnTo>
                  <a:lnTo>
                    <a:pt x="2789251" y="109791"/>
                  </a:lnTo>
                  <a:lnTo>
                    <a:pt x="2780922" y="68088"/>
                  </a:lnTo>
                  <a:lnTo>
                    <a:pt x="2757052" y="32534"/>
                  </a:lnTo>
                  <a:lnTo>
                    <a:pt x="2721392" y="8708"/>
                  </a:lnTo>
                  <a:lnTo>
                    <a:pt x="2679471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4434484" y="2331364"/>
              <a:ext cx="2789555" cy="2058035"/>
            </a:xfrm>
            <a:custGeom>
              <a:avLst/>
              <a:gdLst/>
              <a:ahLst/>
              <a:cxnLst/>
              <a:rect l="l" t="t" r="r" b="b"/>
              <a:pathLst>
                <a:path w="2789554" h="2058035">
                  <a:moveTo>
                    <a:pt x="355" y="109791"/>
                  </a:moveTo>
                  <a:lnTo>
                    <a:pt x="1295" y="95374"/>
                  </a:lnTo>
                  <a:lnTo>
                    <a:pt x="4090" y="81359"/>
                  </a:lnTo>
                  <a:lnTo>
                    <a:pt x="23133" y="43003"/>
                  </a:lnTo>
                  <a:lnTo>
                    <a:pt x="55079" y="14757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2679471" y="355"/>
                  </a:lnTo>
                  <a:lnTo>
                    <a:pt x="2721392" y="8708"/>
                  </a:lnTo>
                  <a:lnTo>
                    <a:pt x="2757052" y="32534"/>
                  </a:lnTo>
                  <a:lnTo>
                    <a:pt x="2780922" y="68088"/>
                  </a:lnTo>
                  <a:lnTo>
                    <a:pt x="2789275" y="110159"/>
                  </a:lnTo>
                  <a:lnTo>
                    <a:pt x="2789275" y="1947951"/>
                  </a:lnTo>
                  <a:lnTo>
                    <a:pt x="2788335" y="1962376"/>
                  </a:lnTo>
                  <a:lnTo>
                    <a:pt x="2785540" y="1976394"/>
                  </a:lnTo>
                  <a:lnTo>
                    <a:pt x="2766498" y="2014744"/>
                  </a:lnTo>
                  <a:lnTo>
                    <a:pt x="2734551" y="2042998"/>
                  </a:lnTo>
                  <a:lnTo>
                    <a:pt x="2693901" y="2056815"/>
                  </a:lnTo>
                  <a:lnTo>
                    <a:pt x="2679471" y="2057755"/>
                  </a:lnTo>
                  <a:lnTo>
                    <a:pt x="109791" y="2057755"/>
                  </a:lnTo>
                  <a:lnTo>
                    <a:pt x="67882" y="2049402"/>
                  </a:lnTo>
                  <a:lnTo>
                    <a:pt x="32213" y="2025576"/>
                  </a:lnTo>
                  <a:lnTo>
                    <a:pt x="8352" y="1990022"/>
                  </a:lnTo>
                  <a:lnTo>
                    <a:pt x="0" y="1947951"/>
                  </a:lnTo>
                  <a:lnTo>
                    <a:pt x="355" y="109791"/>
                  </a:lnTo>
                  <a:close/>
                </a:path>
              </a:pathLst>
            </a:custGeom>
            <a:ln w="10079">
              <a:solidFill>
                <a:srgbClr val="0C938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4617364" y="2514244"/>
              <a:ext cx="1052195" cy="293370"/>
            </a:xfrm>
            <a:custGeom>
              <a:avLst/>
              <a:gdLst/>
              <a:ahLst/>
              <a:cxnLst/>
              <a:rect l="l" t="t" r="r" b="b"/>
              <a:pathLst>
                <a:path w="1052195" h="293369">
                  <a:moveTo>
                    <a:pt x="110159" y="0"/>
                  </a:moveTo>
                  <a:lnTo>
                    <a:pt x="68088" y="8352"/>
                  </a:lnTo>
                  <a:lnTo>
                    <a:pt x="32534" y="32213"/>
                  </a:lnTo>
                  <a:lnTo>
                    <a:pt x="8708" y="67882"/>
                  </a:lnTo>
                  <a:lnTo>
                    <a:pt x="355" y="109791"/>
                  </a:lnTo>
                  <a:lnTo>
                    <a:pt x="0" y="183235"/>
                  </a:lnTo>
                  <a:lnTo>
                    <a:pt x="939" y="197665"/>
                  </a:lnTo>
                  <a:lnTo>
                    <a:pt x="14757" y="238315"/>
                  </a:lnTo>
                  <a:lnTo>
                    <a:pt x="22674" y="250028"/>
                  </a:lnTo>
                  <a:lnTo>
                    <a:pt x="22775" y="250178"/>
                  </a:lnTo>
                  <a:lnTo>
                    <a:pt x="55079" y="278269"/>
                  </a:lnTo>
                  <a:lnTo>
                    <a:pt x="95374" y="292100"/>
                  </a:lnTo>
                  <a:lnTo>
                    <a:pt x="109791" y="293039"/>
                  </a:lnTo>
                  <a:lnTo>
                    <a:pt x="942111" y="293039"/>
                  </a:lnTo>
                  <a:lnTo>
                    <a:pt x="984182" y="284681"/>
                  </a:lnTo>
                  <a:lnTo>
                    <a:pt x="1019686" y="260859"/>
                  </a:lnTo>
                  <a:lnTo>
                    <a:pt x="1043487" y="225306"/>
                  </a:lnTo>
                  <a:lnTo>
                    <a:pt x="1043562" y="225156"/>
                  </a:lnTo>
                  <a:lnTo>
                    <a:pt x="1048164" y="211723"/>
                  </a:lnTo>
                  <a:lnTo>
                    <a:pt x="1050974" y="197665"/>
                  </a:lnTo>
                  <a:lnTo>
                    <a:pt x="1051915" y="183235"/>
                  </a:lnTo>
                  <a:lnTo>
                    <a:pt x="1051891" y="109791"/>
                  </a:lnTo>
                  <a:lnTo>
                    <a:pt x="1043562" y="68088"/>
                  </a:lnTo>
                  <a:lnTo>
                    <a:pt x="1019692" y="32534"/>
                  </a:lnTo>
                  <a:lnTo>
                    <a:pt x="984032" y="8708"/>
                  </a:lnTo>
                  <a:lnTo>
                    <a:pt x="942111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6F7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4617364" y="2514244"/>
              <a:ext cx="1052195" cy="293370"/>
            </a:xfrm>
            <a:custGeom>
              <a:avLst/>
              <a:gdLst/>
              <a:ahLst/>
              <a:cxnLst/>
              <a:rect l="l" t="t" r="r" b="b"/>
              <a:pathLst>
                <a:path w="1052195" h="293369">
                  <a:moveTo>
                    <a:pt x="355" y="109791"/>
                  </a:moveTo>
                  <a:lnTo>
                    <a:pt x="1295" y="95374"/>
                  </a:lnTo>
                  <a:lnTo>
                    <a:pt x="4090" y="81359"/>
                  </a:lnTo>
                  <a:lnTo>
                    <a:pt x="23133" y="43003"/>
                  </a:lnTo>
                  <a:lnTo>
                    <a:pt x="55079" y="14757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942111" y="355"/>
                  </a:lnTo>
                  <a:lnTo>
                    <a:pt x="984032" y="8708"/>
                  </a:lnTo>
                  <a:lnTo>
                    <a:pt x="1019692" y="32534"/>
                  </a:lnTo>
                  <a:lnTo>
                    <a:pt x="1043562" y="68088"/>
                  </a:lnTo>
                  <a:lnTo>
                    <a:pt x="1051915" y="110159"/>
                  </a:lnTo>
                  <a:lnTo>
                    <a:pt x="1051915" y="183235"/>
                  </a:lnTo>
                  <a:lnTo>
                    <a:pt x="1050975" y="197660"/>
                  </a:lnTo>
                  <a:lnTo>
                    <a:pt x="1048180" y="211678"/>
                  </a:lnTo>
                  <a:lnTo>
                    <a:pt x="1029138" y="250028"/>
                  </a:lnTo>
                  <a:lnTo>
                    <a:pt x="997191" y="278269"/>
                  </a:lnTo>
                  <a:lnTo>
                    <a:pt x="956541" y="292100"/>
                  </a:lnTo>
                  <a:lnTo>
                    <a:pt x="942111" y="293039"/>
                  </a:lnTo>
                  <a:lnTo>
                    <a:pt x="109791" y="293039"/>
                  </a:lnTo>
                  <a:lnTo>
                    <a:pt x="67882" y="284681"/>
                  </a:lnTo>
                  <a:lnTo>
                    <a:pt x="32213" y="260859"/>
                  </a:lnTo>
                  <a:lnTo>
                    <a:pt x="8352" y="225306"/>
                  </a:lnTo>
                  <a:lnTo>
                    <a:pt x="0" y="183235"/>
                  </a:lnTo>
                  <a:lnTo>
                    <a:pt x="355" y="109791"/>
                  </a:lnTo>
                  <a:close/>
                </a:path>
              </a:pathLst>
            </a:custGeom>
            <a:ln w="10079">
              <a:solidFill>
                <a:srgbClr val="E6F7F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/>
          <p:cNvSpPr txBox="1"/>
          <p:nvPr/>
        </p:nvSpPr>
        <p:spPr>
          <a:xfrm>
            <a:off x="4905260" y="2567063"/>
            <a:ext cx="47752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10">
                <a:solidFill>
                  <a:srgbClr val="0C9387"/>
                </a:solidFill>
                <a:latin typeface="Arial Black"/>
                <a:cs typeface="Arial Black"/>
              </a:rPr>
              <a:t>ZONE</a:t>
            </a:r>
            <a:r>
              <a:rPr dirty="0" sz="1000" spc="-55">
                <a:solidFill>
                  <a:srgbClr val="0C9387"/>
                </a:solidFill>
                <a:latin typeface="Arial Black"/>
                <a:cs typeface="Arial Black"/>
              </a:rPr>
              <a:t> </a:t>
            </a:r>
            <a:r>
              <a:rPr dirty="0" sz="1000" spc="-50">
                <a:solidFill>
                  <a:srgbClr val="0C9387"/>
                </a:solidFill>
                <a:latin typeface="Arial Black"/>
                <a:cs typeface="Arial Black"/>
              </a:rPr>
              <a:t>2</a:t>
            </a:r>
            <a:endParaRPr sz="1000">
              <a:latin typeface="Arial Black"/>
              <a:cs typeface="Arial Black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4813924" y="3085555"/>
            <a:ext cx="147320" cy="120014"/>
            <a:chOff x="4813924" y="3085555"/>
            <a:chExt cx="147320" cy="120014"/>
          </a:xfrm>
        </p:grpSpPr>
        <p:sp>
          <p:nvSpPr>
            <p:cNvPr id="36" name="object 36"/>
            <p:cNvSpPr/>
            <p:nvPr/>
          </p:nvSpPr>
          <p:spPr>
            <a:xfrm>
              <a:off x="4818964" y="3090595"/>
              <a:ext cx="137160" cy="109855"/>
            </a:xfrm>
            <a:custGeom>
              <a:avLst/>
              <a:gdLst/>
              <a:ahLst/>
              <a:cxnLst/>
              <a:rect l="l" t="t" r="r" b="b"/>
              <a:pathLst>
                <a:path w="137160" h="109855">
                  <a:moveTo>
                    <a:pt x="136791" y="0"/>
                  </a:moveTo>
                  <a:lnTo>
                    <a:pt x="0" y="0"/>
                  </a:lnTo>
                  <a:lnTo>
                    <a:pt x="0" y="109448"/>
                  </a:lnTo>
                  <a:lnTo>
                    <a:pt x="68389" y="109448"/>
                  </a:lnTo>
                  <a:lnTo>
                    <a:pt x="136791" y="109448"/>
                  </a:lnTo>
                  <a:lnTo>
                    <a:pt x="136791" y="0"/>
                  </a:lnTo>
                  <a:close/>
                </a:path>
              </a:pathLst>
            </a:custGeom>
            <a:solidFill>
              <a:srgbClr val="0C938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4818964" y="3090595"/>
              <a:ext cx="137160" cy="109855"/>
            </a:xfrm>
            <a:custGeom>
              <a:avLst/>
              <a:gdLst/>
              <a:ahLst/>
              <a:cxnLst/>
              <a:rect l="l" t="t" r="r" b="b"/>
              <a:pathLst>
                <a:path w="137160" h="109855">
                  <a:moveTo>
                    <a:pt x="68389" y="109448"/>
                  </a:moveTo>
                  <a:lnTo>
                    <a:pt x="0" y="109448"/>
                  </a:lnTo>
                  <a:lnTo>
                    <a:pt x="0" y="0"/>
                  </a:lnTo>
                  <a:lnTo>
                    <a:pt x="136791" y="0"/>
                  </a:lnTo>
                  <a:lnTo>
                    <a:pt x="136791" y="109448"/>
                  </a:lnTo>
                  <a:lnTo>
                    <a:pt x="68389" y="109448"/>
                  </a:lnTo>
                  <a:close/>
                </a:path>
              </a:pathLst>
            </a:custGeom>
            <a:ln w="10079">
              <a:solidFill>
                <a:srgbClr val="0C938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8" name="object 38"/>
          <p:cNvGrpSpPr/>
          <p:nvPr/>
        </p:nvGrpSpPr>
        <p:grpSpPr>
          <a:xfrm>
            <a:off x="4813924" y="3286800"/>
            <a:ext cx="147320" cy="120014"/>
            <a:chOff x="4813924" y="3286800"/>
            <a:chExt cx="147320" cy="120014"/>
          </a:xfrm>
        </p:grpSpPr>
        <p:sp>
          <p:nvSpPr>
            <p:cNvPr id="39" name="object 39"/>
            <p:cNvSpPr/>
            <p:nvPr/>
          </p:nvSpPr>
          <p:spPr>
            <a:xfrm>
              <a:off x="4818964" y="3291840"/>
              <a:ext cx="137160" cy="109855"/>
            </a:xfrm>
            <a:custGeom>
              <a:avLst/>
              <a:gdLst/>
              <a:ahLst/>
              <a:cxnLst/>
              <a:rect l="l" t="t" r="r" b="b"/>
              <a:pathLst>
                <a:path w="137160" h="109854">
                  <a:moveTo>
                    <a:pt x="136791" y="0"/>
                  </a:moveTo>
                  <a:lnTo>
                    <a:pt x="0" y="0"/>
                  </a:lnTo>
                  <a:lnTo>
                    <a:pt x="0" y="109435"/>
                  </a:lnTo>
                  <a:lnTo>
                    <a:pt x="68389" y="109435"/>
                  </a:lnTo>
                  <a:lnTo>
                    <a:pt x="136791" y="109435"/>
                  </a:lnTo>
                  <a:lnTo>
                    <a:pt x="136791" y="0"/>
                  </a:lnTo>
                  <a:close/>
                </a:path>
              </a:pathLst>
            </a:custGeom>
            <a:solidFill>
              <a:srgbClr val="0C938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4818964" y="3291840"/>
              <a:ext cx="137160" cy="109855"/>
            </a:xfrm>
            <a:custGeom>
              <a:avLst/>
              <a:gdLst/>
              <a:ahLst/>
              <a:cxnLst/>
              <a:rect l="l" t="t" r="r" b="b"/>
              <a:pathLst>
                <a:path w="137160" h="109854">
                  <a:moveTo>
                    <a:pt x="68389" y="109435"/>
                  </a:moveTo>
                  <a:lnTo>
                    <a:pt x="0" y="109435"/>
                  </a:lnTo>
                  <a:lnTo>
                    <a:pt x="0" y="0"/>
                  </a:lnTo>
                  <a:lnTo>
                    <a:pt x="136791" y="0"/>
                  </a:lnTo>
                  <a:lnTo>
                    <a:pt x="136791" y="109435"/>
                  </a:lnTo>
                  <a:lnTo>
                    <a:pt x="68389" y="109435"/>
                  </a:lnTo>
                  <a:close/>
                </a:path>
              </a:pathLst>
            </a:custGeom>
            <a:ln w="10079">
              <a:solidFill>
                <a:srgbClr val="0C938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1" name="object 41"/>
          <p:cNvGrpSpPr/>
          <p:nvPr/>
        </p:nvGrpSpPr>
        <p:grpSpPr>
          <a:xfrm>
            <a:off x="4703764" y="2966036"/>
            <a:ext cx="3141980" cy="925194"/>
            <a:chOff x="4703764" y="2966036"/>
            <a:chExt cx="3141980" cy="925194"/>
          </a:xfrm>
        </p:grpSpPr>
        <p:sp>
          <p:nvSpPr>
            <p:cNvPr id="42" name="object 42"/>
            <p:cNvSpPr/>
            <p:nvPr/>
          </p:nvSpPr>
          <p:spPr>
            <a:xfrm>
              <a:off x="4708804" y="2971076"/>
              <a:ext cx="686435" cy="915035"/>
            </a:xfrm>
            <a:custGeom>
              <a:avLst/>
              <a:gdLst/>
              <a:ahLst/>
              <a:cxnLst/>
              <a:rect l="l" t="t" r="r" b="b"/>
              <a:pathLst>
                <a:path w="686435" h="915035">
                  <a:moveTo>
                    <a:pt x="110159" y="0"/>
                  </a:moveTo>
                  <a:lnTo>
                    <a:pt x="68088" y="8358"/>
                  </a:lnTo>
                  <a:lnTo>
                    <a:pt x="32534" y="32224"/>
                  </a:lnTo>
                  <a:lnTo>
                    <a:pt x="8708" y="67882"/>
                  </a:lnTo>
                  <a:lnTo>
                    <a:pt x="355" y="109804"/>
                  </a:lnTo>
                  <a:lnTo>
                    <a:pt x="0" y="804964"/>
                  </a:lnTo>
                  <a:lnTo>
                    <a:pt x="939" y="819394"/>
                  </a:lnTo>
                  <a:lnTo>
                    <a:pt x="14757" y="860044"/>
                  </a:lnTo>
                  <a:lnTo>
                    <a:pt x="22674" y="871757"/>
                  </a:lnTo>
                  <a:lnTo>
                    <a:pt x="22775" y="871907"/>
                  </a:lnTo>
                  <a:lnTo>
                    <a:pt x="55079" y="899998"/>
                  </a:lnTo>
                  <a:lnTo>
                    <a:pt x="95374" y="913828"/>
                  </a:lnTo>
                  <a:lnTo>
                    <a:pt x="109791" y="914768"/>
                  </a:lnTo>
                  <a:lnTo>
                    <a:pt x="576351" y="914768"/>
                  </a:lnTo>
                  <a:lnTo>
                    <a:pt x="618422" y="906410"/>
                  </a:lnTo>
                  <a:lnTo>
                    <a:pt x="653926" y="882588"/>
                  </a:lnTo>
                  <a:lnTo>
                    <a:pt x="677727" y="847035"/>
                  </a:lnTo>
                  <a:lnTo>
                    <a:pt x="677802" y="846885"/>
                  </a:lnTo>
                  <a:lnTo>
                    <a:pt x="682404" y="833451"/>
                  </a:lnTo>
                  <a:lnTo>
                    <a:pt x="685214" y="819394"/>
                  </a:lnTo>
                  <a:lnTo>
                    <a:pt x="686155" y="804964"/>
                  </a:lnTo>
                  <a:lnTo>
                    <a:pt x="686132" y="109804"/>
                  </a:lnTo>
                  <a:lnTo>
                    <a:pt x="677802" y="68095"/>
                  </a:lnTo>
                  <a:lnTo>
                    <a:pt x="653932" y="32535"/>
                  </a:lnTo>
                  <a:lnTo>
                    <a:pt x="618272" y="8721"/>
                  </a:lnTo>
                  <a:lnTo>
                    <a:pt x="576351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6F7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4708804" y="2971076"/>
              <a:ext cx="686435" cy="915035"/>
            </a:xfrm>
            <a:custGeom>
              <a:avLst/>
              <a:gdLst/>
              <a:ahLst/>
              <a:cxnLst/>
              <a:rect l="l" t="t" r="r" b="b"/>
              <a:pathLst>
                <a:path w="686435" h="915035">
                  <a:moveTo>
                    <a:pt x="355" y="109804"/>
                  </a:moveTo>
                  <a:lnTo>
                    <a:pt x="1295" y="95379"/>
                  </a:lnTo>
                  <a:lnTo>
                    <a:pt x="4090" y="81360"/>
                  </a:lnTo>
                  <a:lnTo>
                    <a:pt x="23133" y="43011"/>
                  </a:lnTo>
                  <a:lnTo>
                    <a:pt x="55079" y="14770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576351" y="368"/>
                  </a:lnTo>
                  <a:lnTo>
                    <a:pt x="618272" y="8721"/>
                  </a:lnTo>
                  <a:lnTo>
                    <a:pt x="653932" y="32535"/>
                  </a:lnTo>
                  <a:lnTo>
                    <a:pt x="677802" y="68095"/>
                  </a:lnTo>
                  <a:lnTo>
                    <a:pt x="686155" y="110159"/>
                  </a:lnTo>
                  <a:lnTo>
                    <a:pt x="686155" y="804964"/>
                  </a:lnTo>
                  <a:lnTo>
                    <a:pt x="685215" y="819388"/>
                  </a:lnTo>
                  <a:lnTo>
                    <a:pt x="682420" y="833407"/>
                  </a:lnTo>
                  <a:lnTo>
                    <a:pt x="663378" y="871757"/>
                  </a:lnTo>
                  <a:lnTo>
                    <a:pt x="631431" y="899998"/>
                  </a:lnTo>
                  <a:lnTo>
                    <a:pt x="590781" y="913828"/>
                  </a:lnTo>
                  <a:lnTo>
                    <a:pt x="576351" y="914768"/>
                  </a:lnTo>
                  <a:lnTo>
                    <a:pt x="109791" y="914768"/>
                  </a:lnTo>
                  <a:lnTo>
                    <a:pt x="67882" y="906410"/>
                  </a:lnTo>
                  <a:lnTo>
                    <a:pt x="32213" y="882588"/>
                  </a:lnTo>
                  <a:lnTo>
                    <a:pt x="8352" y="847035"/>
                  </a:lnTo>
                  <a:lnTo>
                    <a:pt x="0" y="804964"/>
                  </a:lnTo>
                  <a:lnTo>
                    <a:pt x="355" y="109804"/>
                  </a:lnTo>
                  <a:close/>
                </a:path>
              </a:pathLst>
            </a:custGeom>
            <a:ln w="10079">
              <a:solidFill>
                <a:srgbClr val="0C938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4818964" y="3493084"/>
              <a:ext cx="137160" cy="109855"/>
            </a:xfrm>
            <a:custGeom>
              <a:avLst/>
              <a:gdLst/>
              <a:ahLst/>
              <a:cxnLst/>
              <a:rect l="l" t="t" r="r" b="b"/>
              <a:pathLst>
                <a:path w="137160" h="109854">
                  <a:moveTo>
                    <a:pt x="136791" y="0"/>
                  </a:moveTo>
                  <a:lnTo>
                    <a:pt x="0" y="0"/>
                  </a:lnTo>
                  <a:lnTo>
                    <a:pt x="0" y="109435"/>
                  </a:lnTo>
                  <a:lnTo>
                    <a:pt x="68389" y="109435"/>
                  </a:lnTo>
                  <a:lnTo>
                    <a:pt x="136791" y="109435"/>
                  </a:lnTo>
                  <a:lnTo>
                    <a:pt x="136791" y="0"/>
                  </a:lnTo>
                  <a:close/>
                </a:path>
              </a:pathLst>
            </a:custGeom>
            <a:solidFill>
              <a:srgbClr val="0C938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4818964" y="3493084"/>
              <a:ext cx="137160" cy="109855"/>
            </a:xfrm>
            <a:custGeom>
              <a:avLst/>
              <a:gdLst/>
              <a:ahLst/>
              <a:cxnLst/>
              <a:rect l="l" t="t" r="r" b="b"/>
              <a:pathLst>
                <a:path w="137160" h="109854">
                  <a:moveTo>
                    <a:pt x="68389" y="109435"/>
                  </a:moveTo>
                  <a:lnTo>
                    <a:pt x="0" y="109435"/>
                  </a:lnTo>
                  <a:lnTo>
                    <a:pt x="0" y="0"/>
                  </a:lnTo>
                  <a:lnTo>
                    <a:pt x="136791" y="0"/>
                  </a:lnTo>
                  <a:lnTo>
                    <a:pt x="136791" y="109435"/>
                  </a:lnTo>
                  <a:lnTo>
                    <a:pt x="68389" y="109435"/>
                  </a:lnTo>
                  <a:close/>
                </a:path>
              </a:pathLst>
            </a:custGeom>
            <a:ln w="10079">
              <a:solidFill>
                <a:srgbClr val="0C938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7223759" y="3383279"/>
              <a:ext cx="612775" cy="635"/>
            </a:xfrm>
            <a:custGeom>
              <a:avLst/>
              <a:gdLst/>
              <a:ahLst/>
              <a:cxnLst/>
              <a:rect l="l" t="t" r="r" b="b"/>
              <a:pathLst>
                <a:path w="612775" h="635">
                  <a:moveTo>
                    <a:pt x="0" y="0"/>
                  </a:moveTo>
                  <a:lnTo>
                    <a:pt x="612355" y="355"/>
                  </a:lnTo>
                </a:path>
              </a:pathLst>
            </a:custGeom>
            <a:ln w="19079">
              <a:solidFill>
                <a:srgbClr val="DBE4ED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7" name="object 47"/>
          <p:cNvSpPr txBox="1"/>
          <p:nvPr/>
        </p:nvSpPr>
        <p:spPr>
          <a:xfrm>
            <a:off x="5519420" y="2959100"/>
            <a:ext cx="119507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0F2339"/>
                </a:solidFill>
                <a:latin typeface="Arial Black"/>
                <a:cs typeface="Arial Black"/>
              </a:rPr>
              <a:t>Independent </a:t>
            </a:r>
            <a:r>
              <a:rPr dirty="0" sz="1200" spc="-75">
                <a:solidFill>
                  <a:srgbClr val="0F2339"/>
                </a:solidFill>
                <a:latin typeface="Arial Black"/>
                <a:cs typeface="Arial Black"/>
              </a:rPr>
              <a:t>power</a:t>
            </a:r>
            <a:r>
              <a:rPr dirty="0" sz="1200" spc="-8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200" spc="-150">
                <a:solidFill>
                  <a:srgbClr val="0F2339"/>
                </a:solidFill>
                <a:latin typeface="Arial Black"/>
                <a:cs typeface="Arial Black"/>
              </a:rPr>
              <a:t>•</a:t>
            </a:r>
            <a:r>
              <a:rPr dirty="0" sz="1200" spc="-8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200" spc="-70">
                <a:solidFill>
                  <a:srgbClr val="0F2339"/>
                </a:solidFill>
                <a:latin typeface="Arial Black"/>
                <a:cs typeface="Arial Black"/>
              </a:rPr>
              <a:t>cooling </a:t>
            </a:r>
            <a:r>
              <a:rPr dirty="0" sz="1200" spc="-10">
                <a:solidFill>
                  <a:srgbClr val="0F2339"/>
                </a:solidFill>
                <a:latin typeface="Arial Black"/>
                <a:cs typeface="Arial Black"/>
              </a:rPr>
              <a:t>network</a:t>
            </a:r>
            <a:endParaRPr sz="1200">
              <a:latin typeface="Arial Black"/>
              <a:cs typeface="Arial Black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7949844" y="2326284"/>
            <a:ext cx="2799715" cy="2068195"/>
            <a:chOff x="7949844" y="2326284"/>
            <a:chExt cx="2799715" cy="2068195"/>
          </a:xfrm>
        </p:grpSpPr>
        <p:sp>
          <p:nvSpPr>
            <p:cNvPr id="49" name="object 49"/>
            <p:cNvSpPr/>
            <p:nvPr/>
          </p:nvSpPr>
          <p:spPr>
            <a:xfrm>
              <a:off x="7954924" y="2331364"/>
              <a:ext cx="2789555" cy="2058035"/>
            </a:xfrm>
            <a:custGeom>
              <a:avLst/>
              <a:gdLst/>
              <a:ahLst/>
              <a:cxnLst/>
              <a:rect l="l" t="t" r="r" b="b"/>
              <a:pathLst>
                <a:path w="2789554" h="2058035">
                  <a:moveTo>
                    <a:pt x="110159" y="0"/>
                  </a:moveTo>
                  <a:lnTo>
                    <a:pt x="68088" y="8352"/>
                  </a:lnTo>
                  <a:lnTo>
                    <a:pt x="32534" y="32213"/>
                  </a:lnTo>
                  <a:lnTo>
                    <a:pt x="8708" y="67882"/>
                  </a:lnTo>
                  <a:lnTo>
                    <a:pt x="355" y="109791"/>
                  </a:lnTo>
                  <a:lnTo>
                    <a:pt x="0" y="1947951"/>
                  </a:lnTo>
                  <a:lnTo>
                    <a:pt x="939" y="1962381"/>
                  </a:lnTo>
                  <a:lnTo>
                    <a:pt x="14757" y="2003031"/>
                  </a:lnTo>
                  <a:lnTo>
                    <a:pt x="43003" y="2034978"/>
                  </a:lnTo>
                  <a:lnTo>
                    <a:pt x="81359" y="2054020"/>
                  </a:lnTo>
                  <a:lnTo>
                    <a:pt x="109791" y="2057755"/>
                  </a:lnTo>
                  <a:lnTo>
                    <a:pt x="2679471" y="2057755"/>
                  </a:lnTo>
                  <a:lnTo>
                    <a:pt x="2721542" y="2049402"/>
                  </a:lnTo>
                  <a:lnTo>
                    <a:pt x="2757046" y="2025576"/>
                  </a:lnTo>
                  <a:lnTo>
                    <a:pt x="2780847" y="1990022"/>
                  </a:lnTo>
                  <a:lnTo>
                    <a:pt x="2789275" y="1947951"/>
                  </a:lnTo>
                  <a:lnTo>
                    <a:pt x="2789251" y="109791"/>
                  </a:lnTo>
                  <a:lnTo>
                    <a:pt x="2780922" y="68088"/>
                  </a:lnTo>
                  <a:lnTo>
                    <a:pt x="2757052" y="32534"/>
                  </a:lnTo>
                  <a:lnTo>
                    <a:pt x="2721392" y="8708"/>
                  </a:lnTo>
                  <a:lnTo>
                    <a:pt x="2679471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7954924" y="2331364"/>
              <a:ext cx="2789555" cy="2058035"/>
            </a:xfrm>
            <a:custGeom>
              <a:avLst/>
              <a:gdLst/>
              <a:ahLst/>
              <a:cxnLst/>
              <a:rect l="l" t="t" r="r" b="b"/>
              <a:pathLst>
                <a:path w="2789554" h="2058035">
                  <a:moveTo>
                    <a:pt x="355" y="109791"/>
                  </a:moveTo>
                  <a:lnTo>
                    <a:pt x="1295" y="95374"/>
                  </a:lnTo>
                  <a:lnTo>
                    <a:pt x="4090" y="81359"/>
                  </a:lnTo>
                  <a:lnTo>
                    <a:pt x="23133" y="43003"/>
                  </a:lnTo>
                  <a:lnTo>
                    <a:pt x="55079" y="14757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2679471" y="355"/>
                  </a:lnTo>
                  <a:lnTo>
                    <a:pt x="2721392" y="8708"/>
                  </a:lnTo>
                  <a:lnTo>
                    <a:pt x="2757052" y="32534"/>
                  </a:lnTo>
                  <a:lnTo>
                    <a:pt x="2780922" y="68088"/>
                  </a:lnTo>
                  <a:lnTo>
                    <a:pt x="2789275" y="110159"/>
                  </a:lnTo>
                  <a:lnTo>
                    <a:pt x="2789275" y="1947951"/>
                  </a:lnTo>
                  <a:lnTo>
                    <a:pt x="2788335" y="1962376"/>
                  </a:lnTo>
                  <a:lnTo>
                    <a:pt x="2785540" y="1976394"/>
                  </a:lnTo>
                  <a:lnTo>
                    <a:pt x="2766498" y="2014744"/>
                  </a:lnTo>
                  <a:lnTo>
                    <a:pt x="2734551" y="2042998"/>
                  </a:lnTo>
                  <a:lnTo>
                    <a:pt x="2693901" y="2056815"/>
                  </a:lnTo>
                  <a:lnTo>
                    <a:pt x="2679471" y="2057755"/>
                  </a:lnTo>
                  <a:lnTo>
                    <a:pt x="109791" y="2057755"/>
                  </a:lnTo>
                  <a:lnTo>
                    <a:pt x="67882" y="2049402"/>
                  </a:lnTo>
                  <a:lnTo>
                    <a:pt x="32213" y="2025576"/>
                  </a:lnTo>
                  <a:lnTo>
                    <a:pt x="8352" y="1990022"/>
                  </a:lnTo>
                  <a:lnTo>
                    <a:pt x="0" y="1947951"/>
                  </a:lnTo>
                  <a:lnTo>
                    <a:pt x="355" y="109791"/>
                  </a:lnTo>
                  <a:close/>
                </a:path>
              </a:pathLst>
            </a:custGeom>
            <a:ln w="10079">
              <a:solidFill>
                <a:srgbClr val="5A399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8137804" y="2514244"/>
              <a:ext cx="1052195" cy="293370"/>
            </a:xfrm>
            <a:custGeom>
              <a:avLst/>
              <a:gdLst/>
              <a:ahLst/>
              <a:cxnLst/>
              <a:rect l="l" t="t" r="r" b="b"/>
              <a:pathLst>
                <a:path w="1052195" h="293369">
                  <a:moveTo>
                    <a:pt x="110159" y="0"/>
                  </a:moveTo>
                  <a:lnTo>
                    <a:pt x="68088" y="8352"/>
                  </a:lnTo>
                  <a:lnTo>
                    <a:pt x="32534" y="32213"/>
                  </a:lnTo>
                  <a:lnTo>
                    <a:pt x="8708" y="67882"/>
                  </a:lnTo>
                  <a:lnTo>
                    <a:pt x="355" y="109791"/>
                  </a:lnTo>
                  <a:lnTo>
                    <a:pt x="0" y="183235"/>
                  </a:lnTo>
                  <a:lnTo>
                    <a:pt x="939" y="197665"/>
                  </a:lnTo>
                  <a:lnTo>
                    <a:pt x="14757" y="238315"/>
                  </a:lnTo>
                  <a:lnTo>
                    <a:pt x="22674" y="250028"/>
                  </a:lnTo>
                  <a:lnTo>
                    <a:pt x="22775" y="250178"/>
                  </a:lnTo>
                  <a:lnTo>
                    <a:pt x="55079" y="278269"/>
                  </a:lnTo>
                  <a:lnTo>
                    <a:pt x="95374" y="292100"/>
                  </a:lnTo>
                  <a:lnTo>
                    <a:pt x="109791" y="293039"/>
                  </a:lnTo>
                  <a:lnTo>
                    <a:pt x="942111" y="293039"/>
                  </a:lnTo>
                  <a:lnTo>
                    <a:pt x="984182" y="284681"/>
                  </a:lnTo>
                  <a:lnTo>
                    <a:pt x="1019686" y="260859"/>
                  </a:lnTo>
                  <a:lnTo>
                    <a:pt x="1043487" y="225306"/>
                  </a:lnTo>
                  <a:lnTo>
                    <a:pt x="1051915" y="183235"/>
                  </a:lnTo>
                  <a:lnTo>
                    <a:pt x="1051891" y="109791"/>
                  </a:lnTo>
                  <a:lnTo>
                    <a:pt x="1043562" y="68088"/>
                  </a:lnTo>
                  <a:lnTo>
                    <a:pt x="1019692" y="32534"/>
                  </a:lnTo>
                  <a:lnTo>
                    <a:pt x="984032" y="8708"/>
                  </a:lnTo>
                  <a:lnTo>
                    <a:pt x="942111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0EB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8137804" y="2514244"/>
              <a:ext cx="1052195" cy="293370"/>
            </a:xfrm>
            <a:custGeom>
              <a:avLst/>
              <a:gdLst/>
              <a:ahLst/>
              <a:cxnLst/>
              <a:rect l="l" t="t" r="r" b="b"/>
              <a:pathLst>
                <a:path w="1052195" h="293369">
                  <a:moveTo>
                    <a:pt x="355" y="109791"/>
                  </a:moveTo>
                  <a:lnTo>
                    <a:pt x="1295" y="95374"/>
                  </a:lnTo>
                  <a:lnTo>
                    <a:pt x="4090" y="81359"/>
                  </a:lnTo>
                  <a:lnTo>
                    <a:pt x="23133" y="43003"/>
                  </a:lnTo>
                  <a:lnTo>
                    <a:pt x="55079" y="14757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942111" y="355"/>
                  </a:lnTo>
                  <a:lnTo>
                    <a:pt x="984032" y="8708"/>
                  </a:lnTo>
                  <a:lnTo>
                    <a:pt x="1019692" y="32534"/>
                  </a:lnTo>
                  <a:lnTo>
                    <a:pt x="1043562" y="68088"/>
                  </a:lnTo>
                  <a:lnTo>
                    <a:pt x="1051915" y="110159"/>
                  </a:lnTo>
                  <a:lnTo>
                    <a:pt x="1051915" y="183235"/>
                  </a:lnTo>
                  <a:lnTo>
                    <a:pt x="1050975" y="197660"/>
                  </a:lnTo>
                  <a:lnTo>
                    <a:pt x="1048180" y="211678"/>
                  </a:lnTo>
                  <a:lnTo>
                    <a:pt x="1029138" y="250028"/>
                  </a:lnTo>
                  <a:lnTo>
                    <a:pt x="997191" y="278269"/>
                  </a:lnTo>
                  <a:lnTo>
                    <a:pt x="956541" y="292100"/>
                  </a:lnTo>
                  <a:lnTo>
                    <a:pt x="942111" y="293039"/>
                  </a:lnTo>
                  <a:lnTo>
                    <a:pt x="109791" y="293039"/>
                  </a:lnTo>
                  <a:lnTo>
                    <a:pt x="67882" y="284681"/>
                  </a:lnTo>
                  <a:lnTo>
                    <a:pt x="32213" y="260859"/>
                  </a:lnTo>
                  <a:lnTo>
                    <a:pt x="8352" y="225306"/>
                  </a:lnTo>
                  <a:lnTo>
                    <a:pt x="0" y="183235"/>
                  </a:lnTo>
                  <a:lnTo>
                    <a:pt x="355" y="109791"/>
                  </a:lnTo>
                  <a:close/>
                </a:path>
              </a:pathLst>
            </a:custGeom>
            <a:ln w="10079">
              <a:solidFill>
                <a:srgbClr val="F0EBF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3" name="object 53"/>
          <p:cNvSpPr txBox="1"/>
          <p:nvPr/>
        </p:nvSpPr>
        <p:spPr>
          <a:xfrm>
            <a:off x="8425700" y="2567063"/>
            <a:ext cx="47752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10">
                <a:solidFill>
                  <a:srgbClr val="5A399D"/>
                </a:solidFill>
                <a:latin typeface="Arial Black"/>
                <a:cs typeface="Arial Black"/>
              </a:rPr>
              <a:t>ZONE</a:t>
            </a:r>
            <a:r>
              <a:rPr dirty="0" sz="1000" spc="-55">
                <a:solidFill>
                  <a:srgbClr val="5A399D"/>
                </a:solidFill>
                <a:latin typeface="Arial Black"/>
                <a:cs typeface="Arial Black"/>
              </a:rPr>
              <a:t> </a:t>
            </a:r>
            <a:r>
              <a:rPr dirty="0" sz="1000" spc="-50">
                <a:solidFill>
                  <a:srgbClr val="5A399D"/>
                </a:solidFill>
                <a:latin typeface="Arial Black"/>
                <a:cs typeface="Arial Black"/>
              </a:rPr>
              <a:t>3</a:t>
            </a:r>
            <a:endParaRPr sz="1000">
              <a:latin typeface="Arial Black"/>
              <a:cs typeface="Arial Black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8334364" y="3085555"/>
            <a:ext cx="147320" cy="120014"/>
            <a:chOff x="8334364" y="3085555"/>
            <a:chExt cx="147320" cy="120014"/>
          </a:xfrm>
        </p:grpSpPr>
        <p:sp>
          <p:nvSpPr>
            <p:cNvPr id="55" name="object 55"/>
            <p:cNvSpPr/>
            <p:nvPr/>
          </p:nvSpPr>
          <p:spPr>
            <a:xfrm>
              <a:off x="8339404" y="3090595"/>
              <a:ext cx="137160" cy="109855"/>
            </a:xfrm>
            <a:custGeom>
              <a:avLst/>
              <a:gdLst/>
              <a:ahLst/>
              <a:cxnLst/>
              <a:rect l="l" t="t" r="r" b="b"/>
              <a:pathLst>
                <a:path w="137159" h="109855">
                  <a:moveTo>
                    <a:pt x="136791" y="0"/>
                  </a:moveTo>
                  <a:lnTo>
                    <a:pt x="0" y="0"/>
                  </a:lnTo>
                  <a:lnTo>
                    <a:pt x="0" y="109448"/>
                  </a:lnTo>
                  <a:lnTo>
                    <a:pt x="68389" y="109448"/>
                  </a:lnTo>
                  <a:lnTo>
                    <a:pt x="136791" y="109448"/>
                  </a:lnTo>
                  <a:lnTo>
                    <a:pt x="136791" y="0"/>
                  </a:lnTo>
                  <a:close/>
                </a:path>
              </a:pathLst>
            </a:custGeom>
            <a:solidFill>
              <a:srgbClr val="5A39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8339404" y="3090595"/>
              <a:ext cx="137160" cy="109855"/>
            </a:xfrm>
            <a:custGeom>
              <a:avLst/>
              <a:gdLst/>
              <a:ahLst/>
              <a:cxnLst/>
              <a:rect l="l" t="t" r="r" b="b"/>
              <a:pathLst>
                <a:path w="137159" h="109855">
                  <a:moveTo>
                    <a:pt x="68389" y="109448"/>
                  </a:moveTo>
                  <a:lnTo>
                    <a:pt x="0" y="109448"/>
                  </a:lnTo>
                  <a:lnTo>
                    <a:pt x="0" y="0"/>
                  </a:lnTo>
                  <a:lnTo>
                    <a:pt x="136791" y="0"/>
                  </a:lnTo>
                  <a:lnTo>
                    <a:pt x="136791" y="109448"/>
                  </a:lnTo>
                  <a:lnTo>
                    <a:pt x="68389" y="109448"/>
                  </a:lnTo>
                  <a:close/>
                </a:path>
              </a:pathLst>
            </a:custGeom>
            <a:ln w="10079">
              <a:solidFill>
                <a:srgbClr val="5A399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7" name="object 57"/>
          <p:cNvGrpSpPr/>
          <p:nvPr/>
        </p:nvGrpSpPr>
        <p:grpSpPr>
          <a:xfrm>
            <a:off x="8334364" y="3286800"/>
            <a:ext cx="147320" cy="120014"/>
            <a:chOff x="8334364" y="3286800"/>
            <a:chExt cx="147320" cy="120014"/>
          </a:xfrm>
        </p:grpSpPr>
        <p:sp>
          <p:nvSpPr>
            <p:cNvPr id="58" name="object 58"/>
            <p:cNvSpPr/>
            <p:nvPr/>
          </p:nvSpPr>
          <p:spPr>
            <a:xfrm>
              <a:off x="8339404" y="3291840"/>
              <a:ext cx="137160" cy="109855"/>
            </a:xfrm>
            <a:custGeom>
              <a:avLst/>
              <a:gdLst/>
              <a:ahLst/>
              <a:cxnLst/>
              <a:rect l="l" t="t" r="r" b="b"/>
              <a:pathLst>
                <a:path w="137159" h="109854">
                  <a:moveTo>
                    <a:pt x="136791" y="0"/>
                  </a:moveTo>
                  <a:lnTo>
                    <a:pt x="0" y="0"/>
                  </a:lnTo>
                  <a:lnTo>
                    <a:pt x="0" y="109435"/>
                  </a:lnTo>
                  <a:lnTo>
                    <a:pt x="68389" y="109435"/>
                  </a:lnTo>
                  <a:lnTo>
                    <a:pt x="136791" y="109435"/>
                  </a:lnTo>
                  <a:lnTo>
                    <a:pt x="136791" y="0"/>
                  </a:lnTo>
                  <a:close/>
                </a:path>
              </a:pathLst>
            </a:custGeom>
            <a:solidFill>
              <a:srgbClr val="5A39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8339404" y="3291840"/>
              <a:ext cx="137160" cy="109855"/>
            </a:xfrm>
            <a:custGeom>
              <a:avLst/>
              <a:gdLst/>
              <a:ahLst/>
              <a:cxnLst/>
              <a:rect l="l" t="t" r="r" b="b"/>
              <a:pathLst>
                <a:path w="137159" h="109854">
                  <a:moveTo>
                    <a:pt x="68389" y="109435"/>
                  </a:moveTo>
                  <a:lnTo>
                    <a:pt x="0" y="109435"/>
                  </a:lnTo>
                  <a:lnTo>
                    <a:pt x="0" y="0"/>
                  </a:lnTo>
                  <a:lnTo>
                    <a:pt x="136791" y="0"/>
                  </a:lnTo>
                  <a:lnTo>
                    <a:pt x="136791" y="109435"/>
                  </a:lnTo>
                  <a:lnTo>
                    <a:pt x="68389" y="109435"/>
                  </a:lnTo>
                  <a:close/>
                </a:path>
              </a:pathLst>
            </a:custGeom>
            <a:ln w="10079">
              <a:solidFill>
                <a:srgbClr val="5A399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0" name="object 60"/>
          <p:cNvGrpSpPr/>
          <p:nvPr/>
        </p:nvGrpSpPr>
        <p:grpSpPr>
          <a:xfrm>
            <a:off x="8224204" y="2966036"/>
            <a:ext cx="696595" cy="925194"/>
            <a:chOff x="8224204" y="2966036"/>
            <a:chExt cx="696595" cy="925194"/>
          </a:xfrm>
        </p:grpSpPr>
        <p:sp>
          <p:nvSpPr>
            <p:cNvPr id="61" name="object 61"/>
            <p:cNvSpPr/>
            <p:nvPr/>
          </p:nvSpPr>
          <p:spPr>
            <a:xfrm>
              <a:off x="8229244" y="2971076"/>
              <a:ext cx="686435" cy="915035"/>
            </a:xfrm>
            <a:custGeom>
              <a:avLst/>
              <a:gdLst/>
              <a:ahLst/>
              <a:cxnLst/>
              <a:rect l="l" t="t" r="r" b="b"/>
              <a:pathLst>
                <a:path w="686434" h="915035">
                  <a:moveTo>
                    <a:pt x="110159" y="0"/>
                  </a:moveTo>
                  <a:lnTo>
                    <a:pt x="68088" y="8358"/>
                  </a:lnTo>
                  <a:lnTo>
                    <a:pt x="32534" y="32224"/>
                  </a:lnTo>
                  <a:lnTo>
                    <a:pt x="8708" y="67882"/>
                  </a:lnTo>
                  <a:lnTo>
                    <a:pt x="355" y="109804"/>
                  </a:lnTo>
                  <a:lnTo>
                    <a:pt x="0" y="804964"/>
                  </a:lnTo>
                  <a:lnTo>
                    <a:pt x="939" y="819394"/>
                  </a:lnTo>
                  <a:lnTo>
                    <a:pt x="14757" y="860044"/>
                  </a:lnTo>
                  <a:lnTo>
                    <a:pt x="22674" y="871757"/>
                  </a:lnTo>
                  <a:lnTo>
                    <a:pt x="22775" y="871907"/>
                  </a:lnTo>
                  <a:lnTo>
                    <a:pt x="55079" y="899998"/>
                  </a:lnTo>
                  <a:lnTo>
                    <a:pt x="95374" y="913828"/>
                  </a:lnTo>
                  <a:lnTo>
                    <a:pt x="109791" y="914768"/>
                  </a:lnTo>
                  <a:lnTo>
                    <a:pt x="576351" y="914768"/>
                  </a:lnTo>
                  <a:lnTo>
                    <a:pt x="618422" y="906410"/>
                  </a:lnTo>
                  <a:lnTo>
                    <a:pt x="653926" y="882588"/>
                  </a:lnTo>
                  <a:lnTo>
                    <a:pt x="677727" y="847035"/>
                  </a:lnTo>
                  <a:lnTo>
                    <a:pt x="686155" y="804964"/>
                  </a:lnTo>
                  <a:lnTo>
                    <a:pt x="686132" y="109804"/>
                  </a:lnTo>
                  <a:lnTo>
                    <a:pt x="677802" y="68095"/>
                  </a:lnTo>
                  <a:lnTo>
                    <a:pt x="653932" y="32535"/>
                  </a:lnTo>
                  <a:lnTo>
                    <a:pt x="618272" y="8721"/>
                  </a:lnTo>
                  <a:lnTo>
                    <a:pt x="576351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0EB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8229244" y="2971076"/>
              <a:ext cx="686435" cy="915035"/>
            </a:xfrm>
            <a:custGeom>
              <a:avLst/>
              <a:gdLst/>
              <a:ahLst/>
              <a:cxnLst/>
              <a:rect l="l" t="t" r="r" b="b"/>
              <a:pathLst>
                <a:path w="686434" h="915035">
                  <a:moveTo>
                    <a:pt x="355" y="109804"/>
                  </a:moveTo>
                  <a:lnTo>
                    <a:pt x="1295" y="95379"/>
                  </a:lnTo>
                  <a:lnTo>
                    <a:pt x="4090" y="81360"/>
                  </a:lnTo>
                  <a:lnTo>
                    <a:pt x="23133" y="43011"/>
                  </a:lnTo>
                  <a:lnTo>
                    <a:pt x="55079" y="14770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576351" y="368"/>
                  </a:lnTo>
                  <a:lnTo>
                    <a:pt x="618272" y="8721"/>
                  </a:lnTo>
                  <a:lnTo>
                    <a:pt x="653932" y="32535"/>
                  </a:lnTo>
                  <a:lnTo>
                    <a:pt x="677802" y="68095"/>
                  </a:lnTo>
                  <a:lnTo>
                    <a:pt x="686155" y="110159"/>
                  </a:lnTo>
                  <a:lnTo>
                    <a:pt x="686155" y="804964"/>
                  </a:lnTo>
                  <a:lnTo>
                    <a:pt x="685215" y="819388"/>
                  </a:lnTo>
                  <a:lnTo>
                    <a:pt x="682420" y="833407"/>
                  </a:lnTo>
                  <a:lnTo>
                    <a:pt x="663378" y="871757"/>
                  </a:lnTo>
                  <a:lnTo>
                    <a:pt x="631431" y="899998"/>
                  </a:lnTo>
                  <a:lnTo>
                    <a:pt x="590781" y="913828"/>
                  </a:lnTo>
                  <a:lnTo>
                    <a:pt x="576351" y="914768"/>
                  </a:lnTo>
                  <a:lnTo>
                    <a:pt x="109791" y="914768"/>
                  </a:lnTo>
                  <a:lnTo>
                    <a:pt x="67882" y="906410"/>
                  </a:lnTo>
                  <a:lnTo>
                    <a:pt x="32213" y="882588"/>
                  </a:lnTo>
                  <a:lnTo>
                    <a:pt x="8352" y="847035"/>
                  </a:lnTo>
                  <a:lnTo>
                    <a:pt x="0" y="804964"/>
                  </a:lnTo>
                  <a:lnTo>
                    <a:pt x="355" y="109804"/>
                  </a:lnTo>
                  <a:close/>
                </a:path>
              </a:pathLst>
            </a:custGeom>
            <a:ln w="10079">
              <a:solidFill>
                <a:srgbClr val="5A399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8339403" y="3493084"/>
              <a:ext cx="137160" cy="109855"/>
            </a:xfrm>
            <a:custGeom>
              <a:avLst/>
              <a:gdLst/>
              <a:ahLst/>
              <a:cxnLst/>
              <a:rect l="l" t="t" r="r" b="b"/>
              <a:pathLst>
                <a:path w="137159" h="109854">
                  <a:moveTo>
                    <a:pt x="136791" y="0"/>
                  </a:moveTo>
                  <a:lnTo>
                    <a:pt x="0" y="0"/>
                  </a:lnTo>
                  <a:lnTo>
                    <a:pt x="0" y="109435"/>
                  </a:lnTo>
                  <a:lnTo>
                    <a:pt x="68389" y="109435"/>
                  </a:lnTo>
                  <a:lnTo>
                    <a:pt x="136791" y="109435"/>
                  </a:lnTo>
                  <a:lnTo>
                    <a:pt x="136791" y="0"/>
                  </a:lnTo>
                  <a:close/>
                </a:path>
              </a:pathLst>
            </a:custGeom>
            <a:solidFill>
              <a:srgbClr val="5A39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8339403" y="3493084"/>
              <a:ext cx="137160" cy="109855"/>
            </a:xfrm>
            <a:custGeom>
              <a:avLst/>
              <a:gdLst/>
              <a:ahLst/>
              <a:cxnLst/>
              <a:rect l="l" t="t" r="r" b="b"/>
              <a:pathLst>
                <a:path w="137159" h="109854">
                  <a:moveTo>
                    <a:pt x="68389" y="109435"/>
                  </a:moveTo>
                  <a:lnTo>
                    <a:pt x="0" y="109435"/>
                  </a:lnTo>
                  <a:lnTo>
                    <a:pt x="0" y="0"/>
                  </a:lnTo>
                  <a:lnTo>
                    <a:pt x="136791" y="0"/>
                  </a:lnTo>
                  <a:lnTo>
                    <a:pt x="136791" y="109435"/>
                  </a:lnTo>
                  <a:lnTo>
                    <a:pt x="68389" y="109435"/>
                  </a:lnTo>
                  <a:close/>
                </a:path>
              </a:pathLst>
            </a:custGeom>
            <a:ln w="10079">
              <a:solidFill>
                <a:srgbClr val="5A399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5" name="object 65"/>
          <p:cNvSpPr txBox="1"/>
          <p:nvPr/>
        </p:nvSpPr>
        <p:spPr>
          <a:xfrm>
            <a:off x="9039859" y="2959100"/>
            <a:ext cx="119507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0F2339"/>
                </a:solidFill>
                <a:latin typeface="Arial Black"/>
                <a:cs typeface="Arial Black"/>
              </a:rPr>
              <a:t>Independent </a:t>
            </a:r>
            <a:r>
              <a:rPr dirty="0" sz="1200" spc="-75">
                <a:solidFill>
                  <a:srgbClr val="0F2339"/>
                </a:solidFill>
                <a:latin typeface="Arial Black"/>
                <a:cs typeface="Arial Black"/>
              </a:rPr>
              <a:t>power</a:t>
            </a:r>
            <a:r>
              <a:rPr dirty="0" sz="1200" spc="-8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200" spc="-150">
                <a:solidFill>
                  <a:srgbClr val="0F2339"/>
                </a:solidFill>
                <a:latin typeface="Arial Black"/>
                <a:cs typeface="Arial Black"/>
              </a:rPr>
              <a:t>•</a:t>
            </a:r>
            <a:r>
              <a:rPr dirty="0" sz="1200" spc="-8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200" spc="-70">
                <a:solidFill>
                  <a:srgbClr val="0F2339"/>
                </a:solidFill>
                <a:latin typeface="Arial Black"/>
                <a:cs typeface="Arial Black"/>
              </a:rPr>
              <a:t>cooling </a:t>
            </a:r>
            <a:r>
              <a:rPr dirty="0" sz="1200" spc="-10">
                <a:solidFill>
                  <a:srgbClr val="0F2339"/>
                </a:solidFill>
                <a:latin typeface="Arial Black"/>
                <a:cs typeface="Arial Black"/>
              </a:rPr>
              <a:t>network</a:t>
            </a:r>
            <a:endParaRPr sz="1200">
              <a:latin typeface="Arial Black"/>
              <a:cs typeface="Arial Black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817524" y="4698619"/>
            <a:ext cx="9937115" cy="478155"/>
          </a:xfrm>
          <a:prstGeom prst="rect">
            <a:avLst/>
          </a:prstGeom>
        </p:spPr>
        <p:txBody>
          <a:bodyPr wrap="square" lIns="0" tIns="45085" rIns="0" bIns="0" rtlCol="0" vert="horz">
            <a:spAutoFit/>
          </a:bodyPr>
          <a:lstStyle/>
          <a:p>
            <a:pPr marL="2565400" marR="43180" indent="-2514600">
              <a:lnSpc>
                <a:spcPts val="1680"/>
              </a:lnSpc>
              <a:spcBef>
                <a:spcPts val="355"/>
              </a:spcBef>
            </a:pPr>
            <a:r>
              <a:rPr dirty="0" baseline="-27777" sz="2400" spc="-157">
                <a:solidFill>
                  <a:srgbClr val="0F2339"/>
                </a:solidFill>
                <a:latin typeface="Arial Black"/>
                <a:cs typeface="Arial Black"/>
              </a:rPr>
              <a:t>Resilient</a:t>
            </a:r>
            <a:r>
              <a:rPr dirty="0" baseline="-27777" sz="2400" spc="-187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baseline="-27777" sz="2400" spc="-135">
                <a:solidFill>
                  <a:srgbClr val="0F2339"/>
                </a:solidFill>
                <a:latin typeface="Arial Black"/>
                <a:cs typeface="Arial Black"/>
              </a:rPr>
              <a:t>design</a:t>
            </a:r>
            <a:r>
              <a:rPr dirty="0" baseline="-27777" sz="2400" spc="-179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baseline="-27777" sz="2400" spc="-37">
                <a:solidFill>
                  <a:srgbClr val="0F2339"/>
                </a:solidFill>
                <a:latin typeface="Arial Black"/>
                <a:cs typeface="Arial Black"/>
              </a:rPr>
              <a:t>pattern</a:t>
            </a:r>
            <a:r>
              <a:rPr dirty="0" baseline="-27777" sz="2400" spc="37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400">
                <a:solidFill>
                  <a:srgbClr val="556478"/>
                </a:solidFill>
                <a:latin typeface="Noto Sans"/>
                <a:cs typeface="Noto Sans"/>
              </a:rPr>
              <a:t>Run</a:t>
            </a:r>
            <a:r>
              <a:rPr dirty="0" sz="1400" spc="-2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400">
                <a:solidFill>
                  <a:srgbClr val="556478"/>
                </a:solidFill>
                <a:latin typeface="Noto Sans"/>
                <a:cs typeface="Noto Sans"/>
              </a:rPr>
              <a:t>replicas</a:t>
            </a:r>
            <a:r>
              <a:rPr dirty="0" sz="140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400">
                <a:solidFill>
                  <a:srgbClr val="556478"/>
                </a:solidFill>
                <a:latin typeface="Noto Sans"/>
                <a:cs typeface="Noto Sans"/>
              </a:rPr>
              <a:t>across</a:t>
            </a:r>
            <a:r>
              <a:rPr dirty="0" sz="140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400">
                <a:solidFill>
                  <a:srgbClr val="556478"/>
                </a:solidFill>
                <a:latin typeface="Noto Sans"/>
                <a:cs typeface="Noto Sans"/>
              </a:rPr>
              <a:t>more</a:t>
            </a:r>
            <a:r>
              <a:rPr dirty="0" sz="1400" spc="-2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400">
                <a:solidFill>
                  <a:srgbClr val="556478"/>
                </a:solidFill>
                <a:latin typeface="Noto Sans"/>
                <a:cs typeface="Noto Sans"/>
              </a:rPr>
              <a:t>than</a:t>
            </a:r>
            <a:r>
              <a:rPr dirty="0" sz="140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400">
                <a:solidFill>
                  <a:srgbClr val="556478"/>
                </a:solidFill>
                <a:latin typeface="Noto Sans"/>
                <a:cs typeface="Noto Sans"/>
              </a:rPr>
              <a:t>one</a:t>
            </a:r>
            <a:r>
              <a:rPr dirty="0" sz="1400" spc="-2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400">
                <a:solidFill>
                  <a:srgbClr val="556478"/>
                </a:solidFill>
                <a:latin typeface="Noto Sans"/>
                <a:cs typeface="Noto Sans"/>
              </a:rPr>
              <a:t>zone,</a:t>
            </a:r>
            <a:r>
              <a:rPr dirty="0" sz="14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400">
                <a:solidFill>
                  <a:srgbClr val="556478"/>
                </a:solidFill>
                <a:latin typeface="Noto Sans"/>
                <a:cs typeface="Noto Sans"/>
              </a:rPr>
              <a:t>then</a:t>
            </a:r>
            <a:r>
              <a:rPr dirty="0" sz="1400" spc="-2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400" spc="-10">
                <a:solidFill>
                  <a:srgbClr val="556478"/>
                </a:solidFill>
                <a:latin typeface="Noto Sans"/>
                <a:cs typeface="Noto Sans"/>
              </a:rPr>
              <a:t>provide</a:t>
            </a:r>
            <a:r>
              <a:rPr dirty="0" sz="140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400">
                <a:solidFill>
                  <a:srgbClr val="556478"/>
                </a:solidFill>
                <a:latin typeface="Noto Sans"/>
                <a:cs typeface="Noto Sans"/>
              </a:rPr>
              <a:t>traffic</a:t>
            </a:r>
            <a:r>
              <a:rPr dirty="0" sz="140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400">
                <a:solidFill>
                  <a:srgbClr val="556478"/>
                </a:solidFill>
                <a:latin typeface="Noto Sans"/>
                <a:cs typeface="Noto Sans"/>
              </a:rPr>
              <a:t>distribution,</a:t>
            </a:r>
            <a:r>
              <a:rPr dirty="0" sz="140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400">
                <a:solidFill>
                  <a:srgbClr val="556478"/>
                </a:solidFill>
                <a:latin typeface="Noto Sans"/>
                <a:cs typeface="Noto Sans"/>
              </a:rPr>
              <a:t>health</a:t>
            </a:r>
            <a:r>
              <a:rPr dirty="0" sz="140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400" spc="-10">
                <a:solidFill>
                  <a:srgbClr val="556478"/>
                </a:solidFill>
                <a:latin typeface="Noto Sans"/>
                <a:cs typeface="Noto Sans"/>
              </a:rPr>
              <a:t>checks, </a:t>
            </a:r>
            <a:r>
              <a:rPr dirty="0" sz="1400">
                <a:solidFill>
                  <a:srgbClr val="556478"/>
                </a:solidFill>
                <a:latin typeface="Noto Sans"/>
                <a:cs typeface="Noto Sans"/>
              </a:rPr>
              <a:t>data</a:t>
            </a:r>
            <a:r>
              <a:rPr dirty="0" sz="14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400">
                <a:solidFill>
                  <a:srgbClr val="556478"/>
                </a:solidFill>
                <a:latin typeface="Noto Sans"/>
                <a:cs typeface="Noto Sans"/>
              </a:rPr>
              <a:t>replication</a:t>
            </a:r>
            <a:r>
              <a:rPr dirty="0" sz="14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400">
                <a:solidFill>
                  <a:srgbClr val="556478"/>
                </a:solidFill>
                <a:latin typeface="Noto Sans"/>
                <a:cs typeface="Noto Sans"/>
              </a:rPr>
              <a:t>and</a:t>
            </a:r>
            <a:r>
              <a:rPr dirty="0" sz="14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400">
                <a:solidFill>
                  <a:srgbClr val="556478"/>
                </a:solidFill>
                <a:latin typeface="Noto Sans"/>
                <a:cs typeface="Noto Sans"/>
              </a:rPr>
              <a:t>failover</a:t>
            </a:r>
            <a:r>
              <a:rPr dirty="0" sz="14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400" spc="-10">
                <a:solidFill>
                  <a:srgbClr val="556478"/>
                </a:solidFill>
                <a:latin typeface="Noto Sans"/>
                <a:cs typeface="Noto Sans"/>
              </a:rPr>
              <a:t>behavior.</a:t>
            </a:r>
            <a:endParaRPr sz="1400">
              <a:latin typeface="Noto Sans"/>
              <a:cs typeface="Noto Sans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1190777" y="5658383"/>
            <a:ext cx="9778365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04385" marR="5080" indent="-4592320">
              <a:lnSpc>
                <a:spcPct val="100000"/>
              </a:lnSpc>
              <a:spcBef>
                <a:spcPts val="100"/>
              </a:spcBef>
            </a:pPr>
            <a:r>
              <a:rPr dirty="0" sz="1250" spc="-40">
                <a:solidFill>
                  <a:srgbClr val="C1403A"/>
                </a:solidFill>
                <a:latin typeface="Arial Black"/>
                <a:cs typeface="Arial Black"/>
              </a:rPr>
              <a:t>Important:</a:t>
            </a:r>
            <a:r>
              <a:rPr dirty="0" sz="1250" spc="-70">
                <a:solidFill>
                  <a:srgbClr val="C1403A"/>
                </a:solidFill>
                <a:latin typeface="Arial Black"/>
                <a:cs typeface="Arial Black"/>
              </a:rPr>
              <a:t> </a:t>
            </a:r>
            <a:r>
              <a:rPr dirty="0" sz="1250" spc="-80">
                <a:solidFill>
                  <a:srgbClr val="C1403A"/>
                </a:solidFill>
                <a:latin typeface="Arial Black"/>
                <a:cs typeface="Arial Black"/>
              </a:rPr>
              <a:t>zone</a:t>
            </a:r>
            <a:r>
              <a:rPr dirty="0" sz="1250" spc="-60">
                <a:solidFill>
                  <a:srgbClr val="C1403A"/>
                </a:solidFill>
                <a:latin typeface="Arial Black"/>
                <a:cs typeface="Arial Black"/>
              </a:rPr>
              <a:t> </a:t>
            </a:r>
            <a:r>
              <a:rPr dirty="0" sz="1250" spc="-55">
                <a:solidFill>
                  <a:srgbClr val="C1403A"/>
                </a:solidFill>
                <a:latin typeface="Arial Black"/>
                <a:cs typeface="Arial Black"/>
              </a:rPr>
              <a:t>support</a:t>
            </a:r>
            <a:r>
              <a:rPr dirty="0" sz="1250" spc="-65">
                <a:solidFill>
                  <a:srgbClr val="C1403A"/>
                </a:solidFill>
                <a:latin typeface="Arial Black"/>
                <a:cs typeface="Arial Black"/>
              </a:rPr>
              <a:t> </a:t>
            </a:r>
            <a:r>
              <a:rPr dirty="0" sz="1250" spc="-60">
                <a:solidFill>
                  <a:srgbClr val="C1403A"/>
                </a:solidFill>
                <a:latin typeface="Arial Black"/>
                <a:cs typeface="Arial Black"/>
              </a:rPr>
              <a:t>and </a:t>
            </a:r>
            <a:r>
              <a:rPr dirty="0" sz="1250" spc="-55">
                <a:solidFill>
                  <a:srgbClr val="C1403A"/>
                </a:solidFill>
                <a:latin typeface="Arial Black"/>
                <a:cs typeface="Arial Black"/>
              </a:rPr>
              <a:t>configuration</a:t>
            </a:r>
            <a:r>
              <a:rPr dirty="0" sz="1250" spc="-65">
                <a:solidFill>
                  <a:srgbClr val="C1403A"/>
                </a:solidFill>
                <a:latin typeface="Arial Black"/>
                <a:cs typeface="Arial Black"/>
              </a:rPr>
              <a:t> </a:t>
            </a:r>
            <a:r>
              <a:rPr dirty="0" sz="1250" spc="-50">
                <a:solidFill>
                  <a:srgbClr val="C1403A"/>
                </a:solidFill>
                <a:latin typeface="Arial Black"/>
                <a:cs typeface="Arial Black"/>
              </a:rPr>
              <a:t>vary</a:t>
            </a:r>
            <a:r>
              <a:rPr dirty="0" sz="1250" spc="-60">
                <a:solidFill>
                  <a:srgbClr val="C1403A"/>
                </a:solidFill>
                <a:latin typeface="Arial Black"/>
                <a:cs typeface="Arial Black"/>
              </a:rPr>
              <a:t> </a:t>
            </a:r>
            <a:r>
              <a:rPr dirty="0" sz="1250" spc="-70">
                <a:solidFill>
                  <a:srgbClr val="C1403A"/>
                </a:solidFill>
                <a:latin typeface="Arial Black"/>
                <a:cs typeface="Arial Black"/>
              </a:rPr>
              <a:t>by</a:t>
            </a:r>
            <a:r>
              <a:rPr dirty="0" sz="1250" spc="-65">
                <a:solidFill>
                  <a:srgbClr val="C1403A"/>
                </a:solidFill>
                <a:latin typeface="Arial Black"/>
                <a:cs typeface="Arial Black"/>
              </a:rPr>
              <a:t> </a:t>
            </a:r>
            <a:r>
              <a:rPr dirty="0" sz="1250" spc="-95">
                <a:solidFill>
                  <a:srgbClr val="C1403A"/>
                </a:solidFill>
                <a:latin typeface="Arial Black"/>
                <a:cs typeface="Arial Black"/>
              </a:rPr>
              <a:t>service</a:t>
            </a:r>
            <a:r>
              <a:rPr dirty="0" sz="1250" spc="-60">
                <a:solidFill>
                  <a:srgbClr val="C1403A"/>
                </a:solidFill>
                <a:latin typeface="Arial Black"/>
                <a:cs typeface="Arial Black"/>
              </a:rPr>
              <a:t> and</a:t>
            </a:r>
            <a:r>
              <a:rPr dirty="0" sz="1250" spc="-70">
                <a:solidFill>
                  <a:srgbClr val="C1403A"/>
                </a:solidFill>
                <a:latin typeface="Arial Black"/>
                <a:cs typeface="Arial Black"/>
              </a:rPr>
              <a:t> </a:t>
            </a:r>
            <a:r>
              <a:rPr dirty="0" sz="1250" spc="-60">
                <a:solidFill>
                  <a:srgbClr val="C1403A"/>
                </a:solidFill>
                <a:latin typeface="Arial Black"/>
                <a:cs typeface="Arial Black"/>
              </a:rPr>
              <a:t>region; </a:t>
            </a:r>
            <a:r>
              <a:rPr dirty="0" sz="1250" spc="-75">
                <a:solidFill>
                  <a:srgbClr val="C1403A"/>
                </a:solidFill>
                <a:latin typeface="Arial Black"/>
                <a:cs typeface="Arial Black"/>
              </a:rPr>
              <a:t>creating</a:t>
            </a:r>
            <a:r>
              <a:rPr dirty="0" sz="1250" spc="-65">
                <a:solidFill>
                  <a:srgbClr val="C1403A"/>
                </a:solidFill>
                <a:latin typeface="Arial Black"/>
                <a:cs typeface="Arial Black"/>
              </a:rPr>
              <a:t> </a:t>
            </a:r>
            <a:r>
              <a:rPr dirty="0" sz="1250" spc="-85">
                <a:solidFill>
                  <a:srgbClr val="C1403A"/>
                </a:solidFill>
                <a:latin typeface="Arial Black"/>
                <a:cs typeface="Arial Black"/>
              </a:rPr>
              <a:t>a</a:t>
            </a:r>
            <a:r>
              <a:rPr dirty="0" sz="1250" spc="-60">
                <a:solidFill>
                  <a:srgbClr val="C1403A"/>
                </a:solidFill>
                <a:latin typeface="Arial Black"/>
                <a:cs typeface="Arial Black"/>
              </a:rPr>
              <a:t> </a:t>
            </a:r>
            <a:r>
              <a:rPr dirty="0" sz="1250" spc="-70">
                <a:solidFill>
                  <a:srgbClr val="C1403A"/>
                </a:solidFill>
                <a:latin typeface="Arial Black"/>
                <a:cs typeface="Arial Black"/>
              </a:rPr>
              <a:t>zonal</a:t>
            </a:r>
            <a:r>
              <a:rPr dirty="0" sz="1250" spc="-60">
                <a:solidFill>
                  <a:srgbClr val="C1403A"/>
                </a:solidFill>
                <a:latin typeface="Arial Black"/>
                <a:cs typeface="Arial Black"/>
              </a:rPr>
              <a:t> </a:t>
            </a:r>
            <a:r>
              <a:rPr dirty="0" sz="1250" spc="-90">
                <a:solidFill>
                  <a:srgbClr val="C1403A"/>
                </a:solidFill>
                <a:latin typeface="Arial Black"/>
                <a:cs typeface="Arial Black"/>
              </a:rPr>
              <a:t>resource</a:t>
            </a:r>
            <a:r>
              <a:rPr dirty="0" sz="1250" spc="-65">
                <a:solidFill>
                  <a:srgbClr val="C1403A"/>
                </a:solidFill>
                <a:latin typeface="Arial Black"/>
                <a:cs typeface="Arial Black"/>
              </a:rPr>
              <a:t> </a:t>
            </a:r>
            <a:r>
              <a:rPr dirty="0" sz="1250" spc="-70">
                <a:solidFill>
                  <a:srgbClr val="C1403A"/>
                </a:solidFill>
                <a:latin typeface="Arial Black"/>
                <a:cs typeface="Arial Black"/>
              </a:rPr>
              <a:t>alone</a:t>
            </a:r>
            <a:r>
              <a:rPr dirty="0" sz="1250" spc="-60">
                <a:solidFill>
                  <a:srgbClr val="C1403A"/>
                </a:solidFill>
                <a:latin typeface="Arial Black"/>
                <a:cs typeface="Arial Black"/>
              </a:rPr>
              <a:t> </a:t>
            </a:r>
            <a:r>
              <a:rPr dirty="0" sz="1250" spc="-95">
                <a:solidFill>
                  <a:srgbClr val="C1403A"/>
                </a:solidFill>
                <a:latin typeface="Arial Black"/>
                <a:cs typeface="Arial Black"/>
              </a:rPr>
              <a:t>is</a:t>
            </a:r>
            <a:r>
              <a:rPr dirty="0" sz="1250" spc="-70">
                <a:solidFill>
                  <a:srgbClr val="C1403A"/>
                </a:solidFill>
                <a:latin typeface="Arial Black"/>
                <a:cs typeface="Arial Black"/>
              </a:rPr>
              <a:t> </a:t>
            </a:r>
            <a:r>
              <a:rPr dirty="0" sz="1250" spc="-40">
                <a:solidFill>
                  <a:srgbClr val="C1403A"/>
                </a:solidFill>
                <a:latin typeface="Arial Black"/>
                <a:cs typeface="Arial Black"/>
              </a:rPr>
              <a:t>not</a:t>
            </a:r>
            <a:r>
              <a:rPr dirty="0" sz="1250" spc="-60">
                <a:solidFill>
                  <a:srgbClr val="C1403A"/>
                </a:solidFill>
                <a:latin typeface="Arial Black"/>
                <a:cs typeface="Arial Black"/>
              </a:rPr>
              <a:t> </a:t>
            </a:r>
            <a:r>
              <a:rPr dirty="0" sz="1250" spc="-85">
                <a:solidFill>
                  <a:srgbClr val="C1403A"/>
                </a:solidFill>
                <a:latin typeface="Arial Black"/>
                <a:cs typeface="Arial Black"/>
              </a:rPr>
              <a:t>a</a:t>
            </a:r>
            <a:r>
              <a:rPr dirty="0" sz="1250" spc="-65">
                <a:solidFill>
                  <a:srgbClr val="C1403A"/>
                </a:solidFill>
                <a:latin typeface="Arial Black"/>
                <a:cs typeface="Arial Black"/>
              </a:rPr>
              <a:t> </a:t>
            </a:r>
            <a:r>
              <a:rPr dirty="0" sz="1250" spc="-85">
                <a:solidFill>
                  <a:srgbClr val="C1403A"/>
                </a:solidFill>
                <a:latin typeface="Arial Black"/>
                <a:cs typeface="Arial Black"/>
              </a:rPr>
              <a:t>complete</a:t>
            </a:r>
            <a:r>
              <a:rPr dirty="0" sz="1250" spc="-60">
                <a:solidFill>
                  <a:srgbClr val="C1403A"/>
                </a:solidFill>
                <a:latin typeface="Arial Black"/>
                <a:cs typeface="Arial Black"/>
              </a:rPr>
              <a:t> </a:t>
            </a:r>
            <a:r>
              <a:rPr dirty="0" sz="1250" spc="-25">
                <a:solidFill>
                  <a:srgbClr val="C1403A"/>
                </a:solidFill>
                <a:latin typeface="Arial Black"/>
                <a:cs typeface="Arial Black"/>
              </a:rPr>
              <a:t>HA </a:t>
            </a:r>
            <a:r>
              <a:rPr dirty="0" sz="1250" spc="-10">
                <a:solidFill>
                  <a:srgbClr val="C1403A"/>
                </a:solidFill>
                <a:latin typeface="Arial Black"/>
                <a:cs typeface="Arial Black"/>
              </a:rPr>
              <a:t>design.</a:t>
            </a:r>
            <a:endParaRPr sz="1250">
              <a:latin typeface="Arial Black"/>
              <a:cs typeface="Arial Black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66635" y="6382435"/>
            <a:ext cx="11064240" cy="635"/>
          </a:xfrm>
          <a:custGeom>
            <a:avLst/>
            <a:gdLst/>
            <a:ahLst/>
            <a:cxnLst/>
            <a:rect l="l" t="t" r="r" b="b"/>
            <a:pathLst>
              <a:path w="11064240" h="635">
                <a:moveTo>
                  <a:pt x="0" y="0"/>
                </a:moveTo>
                <a:lnTo>
                  <a:pt x="11064240" y="368"/>
                </a:lnTo>
              </a:path>
            </a:pathLst>
          </a:custGeom>
          <a:ln w="8999">
            <a:solidFill>
              <a:srgbClr val="DBE4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90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 spc="-100"/>
              <a:t>DAY</a:t>
            </a:r>
            <a:r>
              <a:rPr dirty="0" spc="-55"/>
              <a:t> </a:t>
            </a:r>
            <a:r>
              <a:rPr dirty="0"/>
              <a:t>1</a:t>
            </a:r>
            <a:r>
              <a:rPr dirty="0" spc="105"/>
              <a:t> </a:t>
            </a:r>
            <a:r>
              <a:rPr dirty="0"/>
              <a:t>•</a:t>
            </a:r>
            <a:r>
              <a:rPr dirty="0" spc="130"/>
              <a:t> </a:t>
            </a:r>
            <a:r>
              <a:rPr dirty="0" spc="-70"/>
              <a:t>CLOUD</a:t>
            </a:r>
            <a:r>
              <a:rPr dirty="0" spc="-55"/>
              <a:t> </a:t>
            </a:r>
            <a:r>
              <a:rPr dirty="0" spc="-65"/>
              <a:t>FOUNDATIONS</a:t>
            </a:r>
            <a:r>
              <a:rPr dirty="0" spc="-55"/>
              <a:t> </a:t>
            </a:r>
            <a:r>
              <a:rPr dirty="0" spc="-105"/>
              <a:t>&amp;</a:t>
            </a:r>
            <a:r>
              <a:rPr dirty="0" spc="-50"/>
              <a:t> </a:t>
            </a:r>
            <a:r>
              <a:rPr dirty="0" spc="-95"/>
              <a:t>AZURE</a:t>
            </a:r>
            <a:r>
              <a:rPr dirty="0" spc="-55"/>
              <a:t> </a:t>
            </a:r>
            <a:r>
              <a:rPr dirty="0" spc="-50"/>
              <a:t>BASICS</a:t>
            </a:r>
          </a:p>
        </p:txBody>
      </p:sp>
      <p:sp>
        <p:nvSpPr>
          <p:cNvPr id="68" name="object 6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032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160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3935" y="299427"/>
            <a:ext cx="177609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65">
                <a:solidFill>
                  <a:srgbClr val="0077D3"/>
                </a:solidFill>
                <a:latin typeface="Arial Black"/>
                <a:cs typeface="Arial Black"/>
              </a:rPr>
              <a:t>PA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25">
                <a:solidFill>
                  <a:srgbClr val="0077D3"/>
                </a:solidFill>
                <a:latin typeface="Arial Black"/>
                <a:cs typeface="Arial Black"/>
              </a:rPr>
              <a:t>R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>
                <a:solidFill>
                  <a:srgbClr val="0077D3"/>
                </a:solidFill>
                <a:latin typeface="Arial Black"/>
                <a:cs typeface="Arial Black"/>
              </a:rPr>
              <a:t>T</a:t>
            </a:r>
            <a:r>
              <a:rPr dirty="0" sz="1000" spc="-5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>
                <a:solidFill>
                  <a:srgbClr val="0077D3"/>
                </a:solidFill>
                <a:latin typeface="Arial Black"/>
                <a:cs typeface="Arial Black"/>
              </a:rPr>
              <a:t>2</a:t>
            </a:r>
            <a:r>
              <a:rPr dirty="0" sz="1000" spc="45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>
                <a:solidFill>
                  <a:srgbClr val="0077D3"/>
                </a:solidFill>
                <a:latin typeface="Arial Black"/>
                <a:cs typeface="Arial Black"/>
              </a:rPr>
              <a:t>•</a:t>
            </a:r>
            <a:r>
              <a:rPr dirty="0" sz="1000" spc="12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95">
                <a:solidFill>
                  <a:srgbClr val="0077D3"/>
                </a:solidFill>
                <a:latin typeface="Arial Black"/>
                <a:cs typeface="Arial Black"/>
              </a:rPr>
              <a:t>A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60">
                <a:solidFill>
                  <a:srgbClr val="0077D3"/>
                </a:solidFill>
                <a:latin typeface="Arial Black"/>
                <a:cs typeface="Arial Black"/>
              </a:rPr>
              <a:t>Z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90">
                <a:solidFill>
                  <a:srgbClr val="0077D3"/>
                </a:solidFill>
                <a:latin typeface="Arial Black"/>
                <a:cs typeface="Arial Black"/>
              </a:rPr>
              <a:t>U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25">
                <a:solidFill>
                  <a:srgbClr val="0077D3"/>
                </a:solidFill>
                <a:latin typeface="Arial Black"/>
                <a:cs typeface="Arial Black"/>
              </a:rPr>
              <a:t>R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>
                <a:solidFill>
                  <a:srgbClr val="0077D3"/>
                </a:solidFill>
                <a:latin typeface="Arial Black"/>
                <a:cs typeface="Arial Black"/>
              </a:rPr>
              <a:t>E</a:t>
            </a:r>
            <a:r>
              <a:rPr dirty="0" sz="1000" spc="114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14">
                <a:solidFill>
                  <a:srgbClr val="0077D3"/>
                </a:solidFill>
                <a:latin typeface="Arial Black"/>
                <a:cs typeface="Arial Black"/>
              </a:rPr>
              <a:t>B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95">
                <a:solidFill>
                  <a:srgbClr val="0077D3"/>
                </a:solidFill>
                <a:latin typeface="Arial Black"/>
                <a:cs typeface="Arial Black"/>
              </a:rPr>
              <a:t>A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80">
                <a:solidFill>
                  <a:srgbClr val="0077D3"/>
                </a:solidFill>
                <a:latin typeface="Arial Black"/>
                <a:cs typeface="Arial Black"/>
              </a:rPr>
              <a:t>S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>
                <a:solidFill>
                  <a:srgbClr val="0077D3"/>
                </a:solidFill>
                <a:latin typeface="Arial Black"/>
                <a:cs typeface="Arial Black"/>
              </a:rPr>
              <a:t>I</a:t>
            </a:r>
            <a:r>
              <a:rPr dirty="0" sz="1000" spc="-204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45">
                <a:solidFill>
                  <a:srgbClr val="0077D3"/>
                </a:solidFill>
                <a:latin typeface="Arial Black"/>
                <a:cs typeface="Arial Black"/>
              </a:rPr>
              <a:t>C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10">
                <a:solidFill>
                  <a:srgbClr val="0077D3"/>
                </a:solidFill>
                <a:latin typeface="Arial Black"/>
                <a:cs typeface="Arial Black"/>
              </a:rPr>
              <a:t>S</a:t>
            </a:r>
            <a:endParaRPr sz="1000">
              <a:latin typeface="Arial Black"/>
              <a:cs typeface="Arial Black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54304" y="480002"/>
            <a:ext cx="10297795" cy="763270"/>
          </a:xfrm>
          <a:prstGeom prst="rect"/>
        </p:spPr>
        <p:txBody>
          <a:bodyPr wrap="square" lIns="0" tIns="11683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19"/>
              </a:spcBef>
            </a:pPr>
            <a:r>
              <a:rPr dirty="0" sz="2500" spc="-114">
                <a:solidFill>
                  <a:srgbClr val="0F2339"/>
                </a:solidFill>
              </a:rPr>
              <a:t>Availability</a:t>
            </a:r>
            <a:r>
              <a:rPr dirty="0" sz="2500" spc="-165">
                <a:solidFill>
                  <a:srgbClr val="0F2339"/>
                </a:solidFill>
              </a:rPr>
              <a:t> </a:t>
            </a:r>
            <a:r>
              <a:rPr dirty="0" sz="2500" spc="-220">
                <a:solidFill>
                  <a:srgbClr val="0F2339"/>
                </a:solidFill>
              </a:rPr>
              <a:t>Sets:</a:t>
            </a:r>
            <a:r>
              <a:rPr dirty="0" sz="2500" spc="-155">
                <a:solidFill>
                  <a:srgbClr val="0F2339"/>
                </a:solidFill>
              </a:rPr>
              <a:t> </a:t>
            </a:r>
            <a:r>
              <a:rPr dirty="0" sz="2500" spc="-100">
                <a:solidFill>
                  <a:srgbClr val="0F2339"/>
                </a:solidFill>
              </a:rPr>
              <a:t>distribute</a:t>
            </a:r>
            <a:r>
              <a:rPr dirty="0" sz="2500" spc="-160">
                <a:solidFill>
                  <a:srgbClr val="0F2339"/>
                </a:solidFill>
              </a:rPr>
              <a:t> </a:t>
            </a:r>
            <a:r>
              <a:rPr dirty="0" sz="2500" spc="-220">
                <a:solidFill>
                  <a:srgbClr val="0F2339"/>
                </a:solidFill>
              </a:rPr>
              <a:t>VMs</a:t>
            </a:r>
            <a:r>
              <a:rPr dirty="0" sz="2500" spc="-155">
                <a:solidFill>
                  <a:srgbClr val="0F2339"/>
                </a:solidFill>
              </a:rPr>
              <a:t> </a:t>
            </a:r>
            <a:r>
              <a:rPr dirty="0" sz="2500" spc="-220">
                <a:solidFill>
                  <a:srgbClr val="0F2339"/>
                </a:solidFill>
              </a:rPr>
              <a:t>across</a:t>
            </a:r>
            <a:r>
              <a:rPr dirty="0" sz="2500" spc="-160">
                <a:solidFill>
                  <a:srgbClr val="0F2339"/>
                </a:solidFill>
              </a:rPr>
              <a:t> </a:t>
            </a:r>
            <a:r>
              <a:rPr dirty="0" sz="2500" spc="-70">
                <a:solidFill>
                  <a:srgbClr val="0F2339"/>
                </a:solidFill>
              </a:rPr>
              <a:t>fault</a:t>
            </a:r>
            <a:r>
              <a:rPr dirty="0" sz="2500" spc="-155">
                <a:solidFill>
                  <a:srgbClr val="0F2339"/>
                </a:solidFill>
              </a:rPr>
              <a:t> </a:t>
            </a:r>
            <a:r>
              <a:rPr dirty="0" sz="2500" spc="-105">
                <a:solidFill>
                  <a:srgbClr val="0F2339"/>
                </a:solidFill>
              </a:rPr>
              <a:t>and</a:t>
            </a:r>
            <a:r>
              <a:rPr dirty="0" sz="2500" spc="-165">
                <a:solidFill>
                  <a:srgbClr val="0F2339"/>
                </a:solidFill>
              </a:rPr>
              <a:t> </a:t>
            </a:r>
            <a:r>
              <a:rPr dirty="0" sz="2500" spc="-105">
                <a:solidFill>
                  <a:srgbClr val="0F2339"/>
                </a:solidFill>
              </a:rPr>
              <a:t>update</a:t>
            </a:r>
            <a:r>
              <a:rPr dirty="0" sz="2500" spc="-160">
                <a:solidFill>
                  <a:srgbClr val="0F2339"/>
                </a:solidFill>
              </a:rPr>
              <a:t> </a:t>
            </a:r>
            <a:r>
              <a:rPr dirty="0" sz="2500" spc="-50">
                <a:solidFill>
                  <a:srgbClr val="0F2339"/>
                </a:solidFill>
              </a:rPr>
              <a:t>domains</a:t>
            </a:r>
            <a:endParaRPr sz="2500"/>
          </a:p>
          <a:p>
            <a:pPr marL="30480">
              <a:lnSpc>
                <a:spcPct val="100000"/>
              </a:lnSpc>
              <a:spcBef>
                <a:spcPts val="425"/>
              </a:spcBef>
            </a:pP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A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logical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grouping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for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VMs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that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helps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reduce</a:t>
            </a:r>
            <a:r>
              <a:rPr dirty="0" sz="13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simultaneous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impact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from</a:t>
            </a:r>
            <a:r>
              <a:rPr dirty="0" sz="1300" spc="-4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hardware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faults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and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planned</a:t>
            </a:r>
            <a:r>
              <a:rPr dirty="0" sz="13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maintenance.</a:t>
            </a:r>
            <a:endParaRPr sz="1300">
              <a:latin typeface="Noto Sans"/>
              <a:cs typeface="Noto San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66635" y="1417319"/>
            <a:ext cx="11064240" cy="635"/>
          </a:xfrm>
          <a:custGeom>
            <a:avLst/>
            <a:gdLst/>
            <a:ahLst/>
            <a:cxnLst/>
            <a:rect l="l" t="t" r="r" b="b"/>
            <a:pathLst>
              <a:path w="11064240" h="634">
                <a:moveTo>
                  <a:pt x="0" y="0"/>
                </a:moveTo>
                <a:lnTo>
                  <a:pt x="11064240" y="355"/>
                </a:lnTo>
              </a:path>
            </a:pathLst>
          </a:custGeom>
          <a:ln w="10079">
            <a:solidFill>
              <a:srgbClr val="DBE4ED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6" name="object 6"/>
          <p:cNvGrpSpPr/>
          <p:nvPr/>
        </p:nvGrpSpPr>
        <p:grpSpPr>
          <a:xfrm>
            <a:off x="771436" y="1758924"/>
            <a:ext cx="5222875" cy="3211195"/>
            <a:chOff x="771436" y="1758924"/>
            <a:chExt cx="5222875" cy="3211195"/>
          </a:xfrm>
        </p:grpSpPr>
        <p:sp>
          <p:nvSpPr>
            <p:cNvPr id="7" name="object 7"/>
            <p:cNvSpPr/>
            <p:nvPr/>
          </p:nvSpPr>
          <p:spPr>
            <a:xfrm>
              <a:off x="776516" y="1764004"/>
              <a:ext cx="5212715" cy="3201035"/>
            </a:xfrm>
            <a:custGeom>
              <a:avLst/>
              <a:gdLst/>
              <a:ahLst/>
              <a:cxnLst/>
              <a:rect l="l" t="t" r="r" b="b"/>
              <a:pathLst>
                <a:path w="5212715" h="3201035">
                  <a:moveTo>
                    <a:pt x="110159" y="0"/>
                  </a:moveTo>
                  <a:lnTo>
                    <a:pt x="68095" y="8347"/>
                  </a:lnTo>
                  <a:lnTo>
                    <a:pt x="32535" y="32213"/>
                  </a:lnTo>
                  <a:lnTo>
                    <a:pt x="8721" y="67882"/>
                  </a:lnTo>
                  <a:lnTo>
                    <a:pt x="368" y="109791"/>
                  </a:lnTo>
                  <a:lnTo>
                    <a:pt x="0" y="3090951"/>
                  </a:lnTo>
                  <a:lnTo>
                    <a:pt x="939" y="3105381"/>
                  </a:lnTo>
                  <a:lnTo>
                    <a:pt x="14770" y="3146031"/>
                  </a:lnTo>
                  <a:lnTo>
                    <a:pt x="43011" y="3177978"/>
                  </a:lnTo>
                  <a:lnTo>
                    <a:pt x="81360" y="3197020"/>
                  </a:lnTo>
                  <a:lnTo>
                    <a:pt x="109804" y="3200755"/>
                  </a:lnTo>
                  <a:lnTo>
                    <a:pt x="5102644" y="3200755"/>
                  </a:lnTo>
                  <a:lnTo>
                    <a:pt x="5144715" y="3192402"/>
                  </a:lnTo>
                  <a:lnTo>
                    <a:pt x="5180217" y="3168576"/>
                  </a:lnTo>
                  <a:lnTo>
                    <a:pt x="5204014" y="3133022"/>
                  </a:lnTo>
                  <a:lnTo>
                    <a:pt x="5204090" y="3132872"/>
                  </a:lnTo>
                  <a:lnTo>
                    <a:pt x="5208696" y="3119439"/>
                  </a:lnTo>
                  <a:lnTo>
                    <a:pt x="5211507" y="3105381"/>
                  </a:lnTo>
                  <a:lnTo>
                    <a:pt x="5212448" y="3090951"/>
                  </a:lnTo>
                  <a:lnTo>
                    <a:pt x="5212424" y="109791"/>
                  </a:lnTo>
                  <a:lnTo>
                    <a:pt x="5204090" y="68088"/>
                  </a:lnTo>
                  <a:lnTo>
                    <a:pt x="5180223" y="32534"/>
                  </a:lnTo>
                  <a:lnTo>
                    <a:pt x="5144565" y="8708"/>
                  </a:lnTo>
                  <a:lnTo>
                    <a:pt x="510264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776516" y="1764004"/>
              <a:ext cx="5212715" cy="3201035"/>
            </a:xfrm>
            <a:custGeom>
              <a:avLst/>
              <a:gdLst/>
              <a:ahLst/>
              <a:cxnLst/>
              <a:rect l="l" t="t" r="r" b="b"/>
              <a:pathLst>
                <a:path w="5212715" h="3201035">
                  <a:moveTo>
                    <a:pt x="368" y="109791"/>
                  </a:moveTo>
                  <a:lnTo>
                    <a:pt x="1307" y="95374"/>
                  </a:lnTo>
                  <a:lnTo>
                    <a:pt x="4103" y="81359"/>
                  </a:lnTo>
                  <a:lnTo>
                    <a:pt x="23138" y="43003"/>
                  </a:lnTo>
                  <a:lnTo>
                    <a:pt x="55079" y="14757"/>
                  </a:lnTo>
                  <a:lnTo>
                    <a:pt x="95736" y="937"/>
                  </a:lnTo>
                  <a:lnTo>
                    <a:pt x="110159" y="0"/>
                  </a:lnTo>
                  <a:lnTo>
                    <a:pt x="5102644" y="355"/>
                  </a:lnTo>
                  <a:lnTo>
                    <a:pt x="5144565" y="8708"/>
                  </a:lnTo>
                  <a:lnTo>
                    <a:pt x="5180223" y="32534"/>
                  </a:lnTo>
                  <a:lnTo>
                    <a:pt x="5204090" y="68088"/>
                  </a:lnTo>
                  <a:lnTo>
                    <a:pt x="5212448" y="110159"/>
                  </a:lnTo>
                  <a:lnTo>
                    <a:pt x="5212448" y="3090951"/>
                  </a:lnTo>
                  <a:lnTo>
                    <a:pt x="5211508" y="3105376"/>
                  </a:lnTo>
                  <a:lnTo>
                    <a:pt x="5208711" y="3119394"/>
                  </a:lnTo>
                  <a:lnTo>
                    <a:pt x="5189665" y="3157744"/>
                  </a:lnTo>
                  <a:lnTo>
                    <a:pt x="5157724" y="3185998"/>
                  </a:lnTo>
                  <a:lnTo>
                    <a:pt x="5117074" y="3199815"/>
                  </a:lnTo>
                  <a:lnTo>
                    <a:pt x="5102644" y="3200755"/>
                  </a:lnTo>
                  <a:lnTo>
                    <a:pt x="109804" y="3200755"/>
                  </a:lnTo>
                  <a:lnTo>
                    <a:pt x="67882" y="3192402"/>
                  </a:lnTo>
                  <a:lnTo>
                    <a:pt x="32224" y="3168576"/>
                  </a:lnTo>
                  <a:lnTo>
                    <a:pt x="8358" y="3133022"/>
                  </a:lnTo>
                  <a:lnTo>
                    <a:pt x="0" y="3090951"/>
                  </a:lnTo>
                  <a:lnTo>
                    <a:pt x="368" y="109791"/>
                  </a:lnTo>
                  <a:close/>
                </a:path>
              </a:pathLst>
            </a:custGeom>
            <a:ln w="10079">
              <a:solidFill>
                <a:srgbClr val="DBE4E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1011135" y="1844805"/>
            <a:ext cx="4333240" cy="1119505"/>
          </a:xfrm>
          <a:prstGeom prst="rect">
            <a:avLst/>
          </a:prstGeom>
        </p:spPr>
        <p:txBody>
          <a:bodyPr wrap="square" lIns="0" tIns="144145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135"/>
              </a:spcBef>
            </a:pPr>
            <a:r>
              <a:rPr dirty="0" sz="1800" spc="-95">
                <a:solidFill>
                  <a:srgbClr val="0F2339"/>
                </a:solidFill>
                <a:latin typeface="Arial Black"/>
                <a:cs typeface="Arial Black"/>
              </a:rPr>
              <a:t>Fault</a:t>
            </a:r>
            <a:r>
              <a:rPr dirty="0" sz="1800" spc="-10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800" spc="-95">
                <a:solidFill>
                  <a:srgbClr val="0F2339"/>
                </a:solidFill>
                <a:latin typeface="Arial Black"/>
                <a:cs typeface="Arial Black"/>
              </a:rPr>
              <a:t>domains</a:t>
            </a:r>
            <a:r>
              <a:rPr dirty="0" sz="1800" spc="-10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800" spc="-20">
                <a:solidFill>
                  <a:srgbClr val="0F2339"/>
                </a:solidFill>
                <a:latin typeface="Arial Black"/>
                <a:cs typeface="Arial Black"/>
              </a:rPr>
              <a:t>(FD)</a:t>
            </a:r>
            <a:endParaRPr sz="1800">
              <a:latin typeface="Arial Black"/>
              <a:cs typeface="Arial Black"/>
            </a:endParaRPr>
          </a:p>
          <a:p>
            <a:pPr algn="just" marL="12700" marR="5080">
              <a:lnSpc>
                <a:spcPct val="100000"/>
              </a:lnSpc>
              <a:spcBef>
                <a:spcPts val="750"/>
              </a:spcBef>
            </a:pP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Separate</a:t>
            </a:r>
            <a:r>
              <a:rPr dirty="0" sz="1300" spc="-4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groups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of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shared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infrastructure</a:t>
            </a:r>
            <a:r>
              <a:rPr dirty="0" sz="1300" spc="-4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such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as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power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and</a:t>
            </a:r>
            <a:r>
              <a:rPr dirty="0" sz="1300" spc="-4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network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switch.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A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hardware/rack</a:t>
            </a:r>
            <a:r>
              <a:rPr dirty="0" sz="1300" spc="-4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failure</a:t>
            </a:r>
            <a:r>
              <a:rPr dirty="0" sz="1300" spc="-4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should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25">
                <a:solidFill>
                  <a:srgbClr val="556478"/>
                </a:solidFill>
                <a:latin typeface="Noto Sans"/>
                <a:cs typeface="Noto Sans"/>
              </a:rPr>
              <a:t>not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take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every</a:t>
            </a:r>
            <a:r>
              <a:rPr dirty="0" sz="13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VM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in</a:t>
            </a:r>
            <a:r>
              <a:rPr dirty="0" sz="13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the</a:t>
            </a:r>
            <a:r>
              <a:rPr dirty="0" sz="13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20">
                <a:solidFill>
                  <a:srgbClr val="556478"/>
                </a:solidFill>
                <a:latin typeface="Noto Sans"/>
                <a:cs typeface="Noto Sans"/>
              </a:rPr>
              <a:t>set.</a:t>
            </a:r>
            <a:endParaRPr sz="1300">
              <a:latin typeface="Noto Sans"/>
              <a:cs typeface="Noto Sans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046124" y="3286404"/>
            <a:ext cx="1272540" cy="970915"/>
            <a:chOff x="1046124" y="3286404"/>
            <a:chExt cx="1272540" cy="970915"/>
          </a:xfrm>
        </p:grpSpPr>
        <p:sp>
          <p:nvSpPr>
            <p:cNvPr id="11" name="object 11"/>
            <p:cNvSpPr/>
            <p:nvPr/>
          </p:nvSpPr>
          <p:spPr>
            <a:xfrm>
              <a:off x="1051204" y="3291484"/>
              <a:ext cx="1262380" cy="960755"/>
            </a:xfrm>
            <a:custGeom>
              <a:avLst/>
              <a:gdLst/>
              <a:ahLst/>
              <a:cxnLst/>
              <a:rect l="l" t="t" r="r" b="b"/>
              <a:pathLst>
                <a:path w="1262380" h="960754">
                  <a:moveTo>
                    <a:pt x="110159" y="0"/>
                  </a:moveTo>
                  <a:lnTo>
                    <a:pt x="68088" y="8352"/>
                  </a:lnTo>
                  <a:lnTo>
                    <a:pt x="32534" y="32213"/>
                  </a:lnTo>
                  <a:lnTo>
                    <a:pt x="8708" y="67882"/>
                  </a:lnTo>
                  <a:lnTo>
                    <a:pt x="355" y="109791"/>
                  </a:lnTo>
                  <a:lnTo>
                    <a:pt x="0" y="850671"/>
                  </a:lnTo>
                  <a:lnTo>
                    <a:pt x="939" y="865101"/>
                  </a:lnTo>
                  <a:lnTo>
                    <a:pt x="3735" y="879159"/>
                  </a:lnTo>
                  <a:lnTo>
                    <a:pt x="8301" y="892592"/>
                  </a:lnTo>
                  <a:lnTo>
                    <a:pt x="8352" y="892742"/>
                  </a:lnTo>
                  <a:lnTo>
                    <a:pt x="32213" y="928296"/>
                  </a:lnTo>
                  <a:lnTo>
                    <a:pt x="67882" y="952122"/>
                  </a:lnTo>
                  <a:lnTo>
                    <a:pt x="109791" y="960475"/>
                  </a:lnTo>
                  <a:lnTo>
                    <a:pt x="1152359" y="960475"/>
                  </a:lnTo>
                  <a:lnTo>
                    <a:pt x="1194424" y="952122"/>
                  </a:lnTo>
                  <a:lnTo>
                    <a:pt x="1229933" y="928296"/>
                  </a:lnTo>
                  <a:lnTo>
                    <a:pt x="1253723" y="892742"/>
                  </a:lnTo>
                  <a:lnTo>
                    <a:pt x="1262151" y="850671"/>
                  </a:lnTo>
                  <a:lnTo>
                    <a:pt x="1262127" y="109791"/>
                  </a:lnTo>
                  <a:lnTo>
                    <a:pt x="1253798" y="68088"/>
                  </a:lnTo>
                  <a:lnTo>
                    <a:pt x="1229937" y="32534"/>
                  </a:lnTo>
                  <a:lnTo>
                    <a:pt x="1194268" y="8708"/>
                  </a:lnTo>
                  <a:lnTo>
                    <a:pt x="1152359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9F3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051204" y="3291484"/>
              <a:ext cx="1262380" cy="960755"/>
            </a:xfrm>
            <a:custGeom>
              <a:avLst/>
              <a:gdLst/>
              <a:ahLst/>
              <a:cxnLst/>
              <a:rect l="l" t="t" r="r" b="b"/>
              <a:pathLst>
                <a:path w="1262380" h="960754">
                  <a:moveTo>
                    <a:pt x="355" y="109791"/>
                  </a:moveTo>
                  <a:lnTo>
                    <a:pt x="1295" y="95374"/>
                  </a:lnTo>
                  <a:lnTo>
                    <a:pt x="4090" y="81359"/>
                  </a:lnTo>
                  <a:lnTo>
                    <a:pt x="23133" y="43003"/>
                  </a:lnTo>
                  <a:lnTo>
                    <a:pt x="55079" y="14757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1152359" y="355"/>
                  </a:lnTo>
                  <a:lnTo>
                    <a:pt x="1194268" y="8708"/>
                  </a:lnTo>
                  <a:lnTo>
                    <a:pt x="1229937" y="32534"/>
                  </a:lnTo>
                  <a:lnTo>
                    <a:pt x="1253798" y="68088"/>
                  </a:lnTo>
                  <a:lnTo>
                    <a:pt x="1262151" y="110159"/>
                  </a:lnTo>
                  <a:lnTo>
                    <a:pt x="1262151" y="850671"/>
                  </a:lnTo>
                  <a:lnTo>
                    <a:pt x="1261211" y="865096"/>
                  </a:lnTo>
                  <a:lnTo>
                    <a:pt x="1258416" y="879114"/>
                  </a:lnTo>
                  <a:lnTo>
                    <a:pt x="1239381" y="917464"/>
                  </a:lnTo>
                  <a:lnTo>
                    <a:pt x="1207439" y="945718"/>
                  </a:lnTo>
                  <a:lnTo>
                    <a:pt x="1166782" y="959535"/>
                  </a:lnTo>
                  <a:lnTo>
                    <a:pt x="1152359" y="960475"/>
                  </a:lnTo>
                  <a:lnTo>
                    <a:pt x="109791" y="960475"/>
                  </a:lnTo>
                  <a:lnTo>
                    <a:pt x="67882" y="952122"/>
                  </a:lnTo>
                  <a:lnTo>
                    <a:pt x="32213" y="928296"/>
                  </a:lnTo>
                  <a:lnTo>
                    <a:pt x="8352" y="892742"/>
                  </a:lnTo>
                  <a:lnTo>
                    <a:pt x="0" y="850671"/>
                  </a:lnTo>
                  <a:lnTo>
                    <a:pt x="355" y="109791"/>
                  </a:lnTo>
                  <a:close/>
                </a:path>
              </a:pathLst>
            </a:custGeom>
            <a:ln w="10079">
              <a:solidFill>
                <a:srgbClr val="0077D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1488503" y="3431425"/>
            <a:ext cx="387350" cy="5473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9050">
              <a:lnSpc>
                <a:spcPct val="100000"/>
              </a:lnSpc>
              <a:spcBef>
                <a:spcPts val="100"/>
              </a:spcBef>
            </a:pPr>
            <a:r>
              <a:rPr dirty="0" sz="1300" spc="-110">
                <a:solidFill>
                  <a:srgbClr val="0077D3"/>
                </a:solidFill>
                <a:latin typeface="Arial Black"/>
                <a:cs typeface="Arial Black"/>
              </a:rPr>
              <a:t>FD</a:t>
            </a:r>
            <a:r>
              <a:rPr dirty="0" sz="1300" spc="-10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300" spc="-50">
                <a:solidFill>
                  <a:srgbClr val="0077D3"/>
                </a:solidFill>
                <a:latin typeface="Arial Black"/>
                <a:cs typeface="Arial Black"/>
              </a:rPr>
              <a:t>1</a:t>
            </a:r>
            <a:endParaRPr sz="13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1225"/>
              </a:spcBef>
            </a:pPr>
            <a:r>
              <a:rPr dirty="0" sz="1100" spc="-10">
                <a:solidFill>
                  <a:srgbClr val="556478"/>
                </a:solidFill>
                <a:latin typeface="Noto Sans"/>
                <a:cs typeface="Noto Sans"/>
              </a:rPr>
              <a:t>VM(s)</a:t>
            </a:r>
            <a:endParaRPr sz="1100">
              <a:latin typeface="Noto Sans"/>
              <a:cs typeface="Noto Sans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527515" y="3286404"/>
            <a:ext cx="1272540" cy="970915"/>
            <a:chOff x="2527515" y="3286404"/>
            <a:chExt cx="1272540" cy="970915"/>
          </a:xfrm>
        </p:grpSpPr>
        <p:sp>
          <p:nvSpPr>
            <p:cNvPr id="15" name="object 15"/>
            <p:cNvSpPr/>
            <p:nvPr/>
          </p:nvSpPr>
          <p:spPr>
            <a:xfrm>
              <a:off x="2532595" y="3291484"/>
              <a:ext cx="1262380" cy="960755"/>
            </a:xfrm>
            <a:custGeom>
              <a:avLst/>
              <a:gdLst/>
              <a:ahLst/>
              <a:cxnLst/>
              <a:rect l="l" t="t" r="r" b="b"/>
              <a:pathLst>
                <a:path w="1262379" h="960754">
                  <a:moveTo>
                    <a:pt x="110159" y="0"/>
                  </a:moveTo>
                  <a:lnTo>
                    <a:pt x="68095" y="8352"/>
                  </a:lnTo>
                  <a:lnTo>
                    <a:pt x="32535" y="32213"/>
                  </a:lnTo>
                  <a:lnTo>
                    <a:pt x="8721" y="67882"/>
                  </a:lnTo>
                  <a:lnTo>
                    <a:pt x="368" y="109791"/>
                  </a:lnTo>
                  <a:lnTo>
                    <a:pt x="0" y="850671"/>
                  </a:lnTo>
                  <a:lnTo>
                    <a:pt x="939" y="865101"/>
                  </a:lnTo>
                  <a:lnTo>
                    <a:pt x="14770" y="905751"/>
                  </a:lnTo>
                  <a:lnTo>
                    <a:pt x="22686" y="917464"/>
                  </a:lnTo>
                  <a:lnTo>
                    <a:pt x="22788" y="917614"/>
                  </a:lnTo>
                  <a:lnTo>
                    <a:pt x="55079" y="945718"/>
                  </a:lnTo>
                  <a:lnTo>
                    <a:pt x="95379" y="959535"/>
                  </a:lnTo>
                  <a:lnTo>
                    <a:pt x="109804" y="960475"/>
                  </a:lnTo>
                  <a:lnTo>
                    <a:pt x="1152359" y="960475"/>
                  </a:lnTo>
                  <a:lnTo>
                    <a:pt x="1194431" y="952122"/>
                  </a:lnTo>
                  <a:lnTo>
                    <a:pt x="1229935" y="928296"/>
                  </a:lnTo>
                  <a:lnTo>
                    <a:pt x="1253736" y="892742"/>
                  </a:lnTo>
                  <a:lnTo>
                    <a:pt x="1253811" y="892592"/>
                  </a:lnTo>
                  <a:lnTo>
                    <a:pt x="1258413" y="879159"/>
                  </a:lnTo>
                  <a:lnTo>
                    <a:pt x="1261223" y="865101"/>
                  </a:lnTo>
                  <a:lnTo>
                    <a:pt x="1262164" y="850671"/>
                  </a:lnTo>
                  <a:lnTo>
                    <a:pt x="1262140" y="109791"/>
                  </a:lnTo>
                  <a:lnTo>
                    <a:pt x="1253811" y="68088"/>
                  </a:lnTo>
                  <a:lnTo>
                    <a:pt x="1229941" y="32534"/>
                  </a:lnTo>
                  <a:lnTo>
                    <a:pt x="1194281" y="8708"/>
                  </a:lnTo>
                  <a:lnTo>
                    <a:pt x="1152359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6F7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532595" y="3291484"/>
              <a:ext cx="1262380" cy="960755"/>
            </a:xfrm>
            <a:custGeom>
              <a:avLst/>
              <a:gdLst/>
              <a:ahLst/>
              <a:cxnLst/>
              <a:rect l="l" t="t" r="r" b="b"/>
              <a:pathLst>
                <a:path w="1262379" h="960754">
                  <a:moveTo>
                    <a:pt x="368" y="109791"/>
                  </a:moveTo>
                  <a:lnTo>
                    <a:pt x="1307" y="95374"/>
                  </a:lnTo>
                  <a:lnTo>
                    <a:pt x="4103" y="81359"/>
                  </a:lnTo>
                  <a:lnTo>
                    <a:pt x="23138" y="43003"/>
                  </a:lnTo>
                  <a:lnTo>
                    <a:pt x="55079" y="14757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1152359" y="355"/>
                  </a:lnTo>
                  <a:lnTo>
                    <a:pt x="1194281" y="8708"/>
                  </a:lnTo>
                  <a:lnTo>
                    <a:pt x="1229941" y="32534"/>
                  </a:lnTo>
                  <a:lnTo>
                    <a:pt x="1253811" y="68088"/>
                  </a:lnTo>
                  <a:lnTo>
                    <a:pt x="1262164" y="110159"/>
                  </a:lnTo>
                  <a:lnTo>
                    <a:pt x="1262164" y="850671"/>
                  </a:lnTo>
                  <a:lnTo>
                    <a:pt x="1261224" y="865096"/>
                  </a:lnTo>
                  <a:lnTo>
                    <a:pt x="1258428" y="879114"/>
                  </a:lnTo>
                  <a:lnTo>
                    <a:pt x="1239386" y="917464"/>
                  </a:lnTo>
                  <a:lnTo>
                    <a:pt x="1207439" y="945718"/>
                  </a:lnTo>
                  <a:lnTo>
                    <a:pt x="1166790" y="959535"/>
                  </a:lnTo>
                  <a:lnTo>
                    <a:pt x="1152359" y="960475"/>
                  </a:lnTo>
                  <a:lnTo>
                    <a:pt x="109804" y="960475"/>
                  </a:lnTo>
                  <a:lnTo>
                    <a:pt x="67882" y="952122"/>
                  </a:lnTo>
                  <a:lnTo>
                    <a:pt x="32224" y="928296"/>
                  </a:lnTo>
                  <a:lnTo>
                    <a:pt x="8358" y="892742"/>
                  </a:lnTo>
                  <a:lnTo>
                    <a:pt x="0" y="850671"/>
                  </a:lnTo>
                  <a:lnTo>
                    <a:pt x="368" y="109791"/>
                  </a:lnTo>
                  <a:close/>
                </a:path>
              </a:pathLst>
            </a:custGeom>
            <a:ln w="10079">
              <a:solidFill>
                <a:srgbClr val="0C938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2969895" y="3431425"/>
            <a:ext cx="387350" cy="5473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9050">
              <a:lnSpc>
                <a:spcPct val="100000"/>
              </a:lnSpc>
              <a:spcBef>
                <a:spcPts val="100"/>
              </a:spcBef>
            </a:pPr>
            <a:r>
              <a:rPr dirty="0" sz="1300" spc="-110">
                <a:solidFill>
                  <a:srgbClr val="0C9387"/>
                </a:solidFill>
                <a:latin typeface="Arial Black"/>
                <a:cs typeface="Arial Black"/>
              </a:rPr>
              <a:t>FD</a:t>
            </a:r>
            <a:r>
              <a:rPr dirty="0" sz="1300" spc="-100">
                <a:solidFill>
                  <a:srgbClr val="0C9387"/>
                </a:solidFill>
                <a:latin typeface="Arial Black"/>
                <a:cs typeface="Arial Black"/>
              </a:rPr>
              <a:t> </a:t>
            </a:r>
            <a:r>
              <a:rPr dirty="0" sz="1300" spc="-50">
                <a:solidFill>
                  <a:srgbClr val="0C9387"/>
                </a:solidFill>
                <a:latin typeface="Arial Black"/>
                <a:cs typeface="Arial Black"/>
              </a:rPr>
              <a:t>2</a:t>
            </a:r>
            <a:endParaRPr sz="13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1225"/>
              </a:spcBef>
            </a:pPr>
            <a:r>
              <a:rPr dirty="0" sz="1100" spc="-10">
                <a:solidFill>
                  <a:srgbClr val="556478"/>
                </a:solidFill>
                <a:latin typeface="Noto Sans"/>
                <a:cs typeface="Noto Sans"/>
              </a:rPr>
              <a:t>VM(s)</a:t>
            </a:r>
            <a:endParaRPr sz="1100">
              <a:latin typeface="Noto Sans"/>
              <a:cs typeface="Noto Sans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008960" y="3286444"/>
            <a:ext cx="1272540" cy="970915"/>
            <a:chOff x="4008960" y="3286444"/>
            <a:chExt cx="1272540" cy="970915"/>
          </a:xfrm>
        </p:grpSpPr>
        <p:sp>
          <p:nvSpPr>
            <p:cNvPr id="19" name="object 19"/>
            <p:cNvSpPr/>
            <p:nvPr/>
          </p:nvSpPr>
          <p:spPr>
            <a:xfrm>
              <a:off x="4014000" y="3291484"/>
              <a:ext cx="1262380" cy="960755"/>
            </a:xfrm>
            <a:custGeom>
              <a:avLst/>
              <a:gdLst/>
              <a:ahLst/>
              <a:cxnLst/>
              <a:rect l="l" t="t" r="r" b="b"/>
              <a:pathLst>
                <a:path w="1262379" h="960754">
                  <a:moveTo>
                    <a:pt x="110159" y="0"/>
                  </a:moveTo>
                  <a:lnTo>
                    <a:pt x="68088" y="8352"/>
                  </a:lnTo>
                  <a:lnTo>
                    <a:pt x="32535" y="32213"/>
                  </a:lnTo>
                  <a:lnTo>
                    <a:pt x="8713" y="67882"/>
                  </a:lnTo>
                  <a:lnTo>
                    <a:pt x="355" y="109791"/>
                  </a:lnTo>
                  <a:lnTo>
                    <a:pt x="0" y="850671"/>
                  </a:lnTo>
                  <a:lnTo>
                    <a:pt x="939" y="865101"/>
                  </a:lnTo>
                  <a:lnTo>
                    <a:pt x="14757" y="905751"/>
                  </a:lnTo>
                  <a:lnTo>
                    <a:pt x="22681" y="917464"/>
                  </a:lnTo>
                  <a:lnTo>
                    <a:pt x="22783" y="917614"/>
                  </a:lnTo>
                  <a:lnTo>
                    <a:pt x="55079" y="945718"/>
                  </a:lnTo>
                  <a:lnTo>
                    <a:pt x="95379" y="959535"/>
                  </a:lnTo>
                  <a:lnTo>
                    <a:pt x="109804" y="960475"/>
                  </a:lnTo>
                  <a:lnTo>
                    <a:pt x="1152359" y="960475"/>
                  </a:lnTo>
                  <a:lnTo>
                    <a:pt x="1194431" y="952122"/>
                  </a:lnTo>
                  <a:lnTo>
                    <a:pt x="1229933" y="928296"/>
                  </a:lnTo>
                  <a:lnTo>
                    <a:pt x="1253730" y="892742"/>
                  </a:lnTo>
                  <a:lnTo>
                    <a:pt x="1253805" y="892592"/>
                  </a:lnTo>
                  <a:lnTo>
                    <a:pt x="1258411" y="879159"/>
                  </a:lnTo>
                  <a:lnTo>
                    <a:pt x="1261223" y="865101"/>
                  </a:lnTo>
                  <a:lnTo>
                    <a:pt x="1262164" y="850671"/>
                  </a:lnTo>
                  <a:lnTo>
                    <a:pt x="1262140" y="109791"/>
                  </a:lnTo>
                  <a:lnTo>
                    <a:pt x="1253805" y="68088"/>
                  </a:lnTo>
                  <a:lnTo>
                    <a:pt x="1229939" y="32534"/>
                  </a:lnTo>
                  <a:lnTo>
                    <a:pt x="1194281" y="8708"/>
                  </a:lnTo>
                  <a:lnTo>
                    <a:pt x="1152359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0EB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4014000" y="3291484"/>
              <a:ext cx="1262380" cy="960755"/>
            </a:xfrm>
            <a:custGeom>
              <a:avLst/>
              <a:gdLst/>
              <a:ahLst/>
              <a:cxnLst/>
              <a:rect l="l" t="t" r="r" b="b"/>
              <a:pathLst>
                <a:path w="1262379" h="960754">
                  <a:moveTo>
                    <a:pt x="355" y="109791"/>
                  </a:moveTo>
                  <a:lnTo>
                    <a:pt x="1295" y="95374"/>
                  </a:lnTo>
                  <a:lnTo>
                    <a:pt x="4092" y="81359"/>
                  </a:lnTo>
                  <a:lnTo>
                    <a:pt x="23138" y="43003"/>
                  </a:lnTo>
                  <a:lnTo>
                    <a:pt x="55079" y="14757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1152359" y="355"/>
                  </a:lnTo>
                  <a:lnTo>
                    <a:pt x="1194281" y="8708"/>
                  </a:lnTo>
                  <a:lnTo>
                    <a:pt x="1229939" y="32534"/>
                  </a:lnTo>
                  <a:lnTo>
                    <a:pt x="1253805" y="68088"/>
                  </a:lnTo>
                  <a:lnTo>
                    <a:pt x="1262164" y="110159"/>
                  </a:lnTo>
                  <a:lnTo>
                    <a:pt x="1262164" y="850671"/>
                  </a:lnTo>
                  <a:lnTo>
                    <a:pt x="1261224" y="865096"/>
                  </a:lnTo>
                  <a:lnTo>
                    <a:pt x="1258427" y="879114"/>
                  </a:lnTo>
                  <a:lnTo>
                    <a:pt x="1239381" y="917464"/>
                  </a:lnTo>
                  <a:lnTo>
                    <a:pt x="1207439" y="945718"/>
                  </a:lnTo>
                  <a:lnTo>
                    <a:pt x="1166790" y="959535"/>
                  </a:lnTo>
                  <a:lnTo>
                    <a:pt x="1152359" y="960475"/>
                  </a:lnTo>
                  <a:lnTo>
                    <a:pt x="109804" y="960475"/>
                  </a:lnTo>
                  <a:lnTo>
                    <a:pt x="67882" y="952122"/>
                  </a:lnTo>
                  <a:lnTo>
                    <a:pt x="32223" y="928296"/>
                  </a:lnTo>
                  <a:lnTo>
                    <a:pt x="8352" y="892742"/>
                  </a:lnTo>
                  <a:lnTo>
                    <a:pt x="0" y="850671"/>
                  </a:lnTo>
                  <a:lnTo>
                    <a:pt x="355" y="109791"/>
                  </a:lnTo>
                  <a:close/>
                </a:path>
              </a:pathLst>
            </a:custGeom>
            <a:ln w="10079">
              <a:solidFill>
                <a:srgbClr val="5A399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4451299" y="3431425"/>
            <a:ext cx="387350" cy="5473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9050">
              <a:lnSpc>
                <a:spcPct val="100000"/>
              </a:lnSpc>
              <a:spcBef>
                <a:spcPts val="100"/>
              </a:spcBef>
            </a:pPr>
            <a:r>
              <a:rPr dirty="0" sz="1300" spc="-110">
                <a:solidFill>
                  <a:srgbClr val="5A399D"/>
                </a:solidFill>
                <a:latin typeface="Arial Black"/>
                <a:cs typeface="Arial Black"/>
              </a:rPr>
              <a:t>FD</a:t>
            </a:r>
            <a:r>
              <a:rPr dirty="0" sz="1300" spc="-100">
                <a:solidFill>
                  <a:srgbClr val="5A399D"/>
                </a:solidFill>
                <a:latin typeface="Arial Black"/>
                <a:cs typeface="Arial Black"/>
              </a:rPr>
              <a:t> </a:t>
            </a:r>
            <a:r>
              <a:rPr dirty="0" sz="1300" spc="-50">
                <a:solidFill>
                  <a:srgbClr val="5A399D"/>
                </a:solidFill>
                <a:latin typeface="Arial Black"/>
                <a:cs typeface="Arial Black"/>
              </a:rPr>
              <a:t>3</a:t>
            </a:r>
            <a:endParaRPr sz="13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1225"/>
              </a:spcBef>
            </a:pPr>
            <a:r>
              <a:rPr dirty="0" sz="1100" spc="-10">
                <a:solidFill>
                  <a:srgbClr val="556478"/>
                </a:solidFill>
                <a:latin typeface="Noto Sans"/>
                <a:cs typeface="Noto Sans"/>
              </a:rPr>
              <a:t>VM(s)</a:t>
            </a:r>
            <a:endParaRPr sz="1100">
              <a:latin typeface="Noto Sans"/>
              <a:cs typeface="Noto Sans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6212484" y="1758924"/>
            <a:ext cx="5177155" cy="3211195"/>
            <a:chOff x="6212484" y="1758924"/>
            <a:chExt cx="5177155" cy="3211195"/>
          </a:xfrm>
        </p:grpSpPr>
        <p:sp>
          <p:nvSpPr>
            <p:cNvPr id="23" name="object 23"/>
            <p:cNvSpPr/>
            <p:nvPr/>
          </p:nvSpPr>
          <p:spPr>
            <a:xfrm>
              <a:off x="6217564" y="1764004"/>
              <a:ext cx="5166995" cy="3201035"/>
            </a:xfrm>
            <a:custGeom>
              <a:avLst/>
              <a:gdLst/>
              <a:ahLst/>
              <a:cxnLst/>
              <a:rect l="l" t="t" r="r" b="b"/>
              <a:pathLst>
                <a:path w="5166995" h="3201035">
                  <a:moveTo>
                    <a:pt x="110159" y="0"/>
                  </a:moveTo>
                  <a:lnTo>
                    <a:pt x="68088" y="8347"/>
                  </a:lnTo>
                  <a:lnTo>
                    <a:pt x="32534" y="32213"/>
                  </a:lnTo>
                  <a:lnTo>
                    <a:pt x="8708" y="67882"/>
                  </a:lnTo>
                  <a:lnTo>
                    <a:pt x="355" y="109791"/>
                  </a:lnTo>
                  <a:lnTo>
                    <a:pt x="0" y="3090951"/>
                  </a:lnTo>
                  <a:lnTo>
                    <a:pt x="939" y="3105381"/>
                  </a:lnTo>
                  <a:lnTo>
                    <a:pt x="3735" y="3119439"/>
                  </a:lnTo>
                  <a:lnTo>
                    <a:pt x="8301" y="3132872"/>
                  </a:lnTo>
                  <a:lnTo>
                    <a:pt x="8352" y="3133022"/>
                  </a:lnTo>
                  <a:lnTo>
                    <a:pt x="32213" y="3168576"/>
                  </a:lnTo>
                  <a:lnTo>
                    <a:pt x="67882" y="3192402"/>
                  </a:lnTo>
                  <a:lnTo>
                    <a:pt x="109791" y="3200755"/>
                  </a:lnTo>
                  <a:lnTo>
                    <a:pt x="5056911" y="3200755"/>
                  </a:lnTo>
                  <a:lnTo>
                    <a:pt x="5098982" y="3192402"/>
                  </a:lnTo>
                  <a:lnTo>
                    <a:pt x="5134486" y="3168576"/>
                  </a:lnTo>
                  <a:lnTo>
                    <a:pt x="5158287" y="3133022"/>
                  </a:lnTo>
                  <a:lnTo>
                    <a:pt x="5166715" y="3090951"/>
                  </a:lnTo>
                  <a:lnTo>
                    <a:pt x="5166691" y="109791"/>
                  </a:lnTo>
                  <a:lnTo>
                    <a:pt x="5158362" y="68088"/>
                  </a:lnTo>
                  <a:lnTo>
                    <a:pt x="5134492" y="32534"/>
                  </a:lnTo>
                  <a:lnTo>
                    <a:pt x="5098832" y="8708"/>
                  </a:lnTo>
                  <a:lnTo>
                    <a:pt x="5056911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6217564" y="1764004"/>
              <a:ext cx="5166995" cy="3201035"/>
            </a:xfrm>
            <a:custGeom>
              <a:avLst/>
              <a:gdLst/>
              <a:ahLst/>
              <a:cxnLst/>
              <a:rect l="l" t="t" r="r" b="b"/>
              <a:pathLst>
                <a:path w="5166995" h="3201035">
                  <a:moveTo>
                    <a:pt x="355" y="109791"/>
                  </a:moveTo>
                  <a:lnTo>
                    <a:pt x="1295" y="95374"/>
                  </a:lnTo>
                  <a:lnTo>
                    <a:pt x="4090" y="81359"/>
                  </a:lnTo>
                  <a:lnTo>
                    <a:pt x="23133" y="43003"/>
                  </a:lnTo>
                  <a:lnTo>
                    <a:pt x="55079" y="14757"/>
                  </a:lnTo>
                  <a:lnTo>
                    <a:pt x="95729" y="937"/>
                  </a:lnTo>
                  <a:lnTo>
                    <a:pt x="110159" y="0"/>
                  </a:lnTo>
                  <a:lnTo>
                    <a:pt x="5056911" y="355"/>
                  </a:lnTo>
                  <a:lnTo>
                    <a:pt x="5098832" y="8708"/>
                  </a:lnTo>
                  <a:lnTo>
                    <a:pt x="5134492" y="32534"/>
                  </a:lnTo>
                  <a:lnTo>
                    <a:pt x="5158362" y="68088"/>
                  </a:lnTo>
                  <a:lnTo>
                    <a:pt x="5166715" y="110159"/>
                  </a:lnTo>
                  <a:lnTo>
                    <a:pt x="5166715" y="3090951"/>
                  </a:lnTo>
                  <a:lnTo>
                    <a:pt x="5165775" y="3105376"/>
                  </a:lnTo>
                  <a:lnTo>
                    <a:pt x="5162980" y="3119394"/>
                  </a:lnTo>
                  <a:lnTo>
                    <a:pt x="5143938" y="3157744"/>
                  </a:lnTo>
                  <a:lnTo>
                    <a:pt x="5111991" y="3185998"/>
                  </a:lnTo>
                  <a:lnTo>
                    <a:pt x="5071341" y="3199815"/>
                  </a:lnTo>
                  <a:lnTo>
                    <a:pt x="5056911" y="3200755"/>
                  </a:lnTo>
                  <a:lnTo>
                    <a:pt x="109791" y="3200755"/>
                  </a:lnTo>
                  <a:lnTo>
                    <a:pt x="67882" y="3192402"/>
                  </a:lnTo>
                  <a:lnTo>
                    <a:pt x="32213" y="3168576"/>
                  </a:lnTo>
                  <a:lnTo>
                    <a:pt x="8352" y="3133022"/>
                  </a:lnTo>
                  <a:lnTo>
                    <a:pt x="0" y="3090951"/>
                  </a:lnTo>
                  <a:lnTo>
                    <a:pt x="355" y="109791"/>
                  </a:lnTo>
                  <a:close/>
                </a:path>
              </a:pathLst>
            </a:custGeom>
            <a:ln w="10079">
              <a:solidFill>
                <a:srgbClr val="DBE4E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6460820" y="1844805"/>
            <a:ext cx="4408170" cy="922019"/>
          </a:xfrm>
          <a:prstGeom prst="rect">
            <a:avLst/>
          </a:prstGeom>
        </p:spPr>
        <p:txBody>
          <a:bodyPr wrap="square" lIns="0" tIns="144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35"/>
              </a:spcBef>
            </a:pPr>
            <a:r>
              <a:rPr dirty="0" sz="1800" spc="-100">
                <a:solidFill>
                  <a:srgbClr val="0F2339"/>
                </a:solidFill>
                <a:latin typeface="Arial Black"/>
                <a:cs typeface="Arial Black"/>
              </a:rPr>
              <a:t>Update</a:t>
            </a:r>
            <a:r>
              <a:rPr dirty="0" sz="1800" spc="-10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800" spc="-95">
                <a:solidFill>
                  <a:srgbClr val="0F2339"/>
                </a:solidFill>
                <a:latin typeface="Arial Black"/>
                <a:cs typeface="Arial Black"/>
              </a:rPr>
              <a:t>domains </a:t>
            </a:r>
            <a:r>
              <a:rPr dirty="0" sz="1800" spc="-20">
                <a:solidFill>
                  <a:srgbClr val="0F2339"/>
                </a:solidFill>
                <a:latin typeface="Arial Black"/>
                <a:cs typeface="Arial Black"/>
              </a:rPr>
              <a:t>(UD)</a:t>
            </a:r>
            <a:endParaRPr sz="180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  <a:spcBef>
                <a:spcPts val="750"/>
              </a:spcBef>
            </a:pP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Groups</a:t>
            </a:r>
            <a:r>
              <a:rPr dirty="0" sz="1300" spc="-2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of</a:t>
            </a:r>
            <a:r>
              <a:rPr dirty="0" sz="1300" spc="-2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VMs</a:t>
            </a:r>
            <a:r>
              <a:rPr dirty="0" sz="1300" spc="-2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eligible</a:t>
            </a:r>
            <a:r>
              <a:rPr dirty="0" sz="1300" spc="-2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for</a:t>
            </a:r>
            <a:r>
              <a:rPr dirty="0" sz="1300" spc="-2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planned-maintenance</a:t>
            </a:r>
            <a:r>
              <a:rPr dirty="0" sz="1300" spc="-2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restarts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in</a:t>
            </a:r>
            <a:r>
              <a:rPr dirty="0" sz="13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a</a:t>
            </a:r>
            <a:r>
              <a:rPr dirty="0" sz="13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coordinated</a:t>
            </a:r>
            <a:r>
              <a:rPr dirty="0" sz="13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sequence,</a:t>
            </a:r>
            <a:r>
              <a:rPr dirty="0" sz="130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rather</a:t>
            </a:r>
            <a:r>
              <a:rPr dirty="0" sz="13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than</a:t>
            </a:r>
            <a:r>
              <a:rPr dirty="0" sz="13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all</a:t>
            </a:r>
            <a:r>
              <a:rPr dirty="0" sz="130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at</a:t>
            </a:r>
            <a:r>
              <a:rPr dirty="0" sz="13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once.</a:t>
            </a:r>
            <a:endParaRPr sz="1300">
              <a:latin typeface="Noto Sans"/>
              <a:cs typeface="Noto Sans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6514160" y="3240684"/>
            <a:ext cx="1702435" cy="394970"/>
            <a:chOff x="6514160" y="3240684"/>
            <a:chExt cx="1702435" cy="394970"/>
          </a:xfrm>
        </p:grpSpPr>
        <p:sp>
          <p:nvSpPr>
            <p:cNvPr id="27" name="object 27"/>
            <p:cNvSpPr/>
            <p:nvPr/>
          </p:nvSpPr>
          <p:spPr>
            <a:xfrm>
              <a:off x="6519240" y="3245764"/>
              <a:ext cx="1692275" cy="384810"/>
            </a:xfrm>
            <a:custGeom>
              <a:avLst/>
              <a:gdLst/>
              <a:ahLst/>
              <a:cxnLst/>
              <a:rect l="l" t="t" r="r" b="b"/>
              <a:pathLst>
                <a:path w="1692275" h="384810">
                  <a:moveTo>
                    <a:pt x="110159" y="0"/>
                  </a:moveTo>
                  <a:lnTo>
                    <a:pt x="68088" y="8352"/>
                  </a:lnTo>
                  <a:lnTo>
                    <a:pt x="32535" y="32213"/>
                  </a:lnTo>
                  <a:lnTo>
                    <a:pt x="8713" y="67882"/>
                  </a:lnTo>
                  <a:lnTo>
                    <a:pt x="355" y="109791"/>
                  </a:lnTo>
                  <a:lnTo>
                    <a:pt x="0" y="274675"/>
                  </a:lnTo>
                  <a:lnTo>
                    <a:pt x="939" y="289105"/>
                  </a:lnTo>
                  <a:lnTo>
                    <a:pt x="14757" y="329755"/>
                  </a:lnTo>
                  <a:lnTo>
                    <a:pt x="22681" y="341468"/>
                  </a:lnTo>
                  <a:lnTo>
                    <a:pt x="22783" y="341618"/>
                  </a:lnTo>
                  <a:lnTo>
                    <a:pt x="55079" y="369709"/>
                  </a:lnTo>
                  <a:lnTo>
                    <a:pt x="95379" y="383539"/>
                  </a:lnTo>
                  <a:lnTo>
                    <a:pt x="109804" y="384479"/>
                  </a:lnTo>
                  <a:lnTo>
                    <a:pt x="1582204" y="384479"/>
                  </a:lnTo>
                  <a:lnTo>
                    <a:pt x="1624268" y="376121"/>
                  </a:lnTo>
                  <a:lnTo>
                    <a:pt x="1659777" y="352299"/>
                  </a:lnTo>
                  <a:lnTo>
                    <a:pt x="1683567" y="316746"/>
                  </a:lnTo>
                  <a:lnTo>
                    <a:pt x="1691995" y="274675"/>
                  </a:lnTo>
                  <a:lnTo>
                    <a:pt x="1691971" y="109791"/>
                  </a:lnTo>
                  <a:lnTo>
                    <a:pt x="1683642" y="68088"/>
                  </a:lnTo>
                  <a:lnTo>
                    <a:pt x="1659782" y="32534"/>
                  </a:lnTo>
                  <a:lnTo>
                    <a:pt x="1624112" y="8708"/>
                  </a:lnTo>
                  <a:lnTo>
                    <a:pt x="158220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9F3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6519240" y="3245764"/>
              <a:ext cx="1692275" cy="384810"/>
            </a:xfrm>
            <a:custGeom>
              <a:avLst/>
              <a:gdLst/>
              <a:ahLst/>
              <a:cxnLst/>
              <a:rect l="l" t="t" r="r" b="b"/>
              <a:pathLst>
                <a:path w="1692275" h="384810">
                  <a:moveTo>
                    <a:pt x="355" y="109791"/>
                  </a:moveTo>
                  <a:lnTo>
                    <a:pt x="1295" y="95374"/>
                  </a:lnTo>
                  <a:lnTo>
                    <a:pt x="4092" y="81359"/>
                  </a:lnTo>
                  <a:lnTo>
                    <a:pt x="23138" y="43003"/>
                  </a:lnTo>
                  <a:lnTo>
                    <a:pt x="55079" y="14757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1582204" y="355"/>
                  </a:lnTo>
                  <a:lnTo>
                    <a:pt x="1624112" y="8708"/>
                  </a:lnTo>
                  <a:lnTo>
                    <a:pt x="1659782" y="32534"/>
                  </a:lnTo>
                  <a:lnTo>
                    <a:pt x="1683642" y="68088"/>
                  </a:lnTo>
                  <a:lnTo>
                    <a:pt x="1691995" y="110159"/>
                  </a:lnTo>
                  <a:lnTo>
                    <a:pt x="1691995" y="274675"/>
                  </a:lnTo>
                  <a:lnTo>
                    <a:pt x="1691055" y="289100"/>
                  </a:lnTo>
                  <a:lnTo>
                    <a:pt x="1688260" y="303118"/>
                  </a:lnTo>
                  <a:lnTo>
                    <a:pt x="1669225" y="341468"/>
                  </a:lnTo>
                  <a:lnTo>
                    <a:pt x="1637283" y="369709"/>
                  </a:lnTo>
                  <a:lnTo>
                    <a:pt x="1596627" y="383539"/>
                  </a:lnTo>
                  <a:lnTo>
                    <a:pt x="1582204" y="384479"/>
                  </a:lnTo>
                  <a:lnTo>
                    <a:pt x="109804" y="384479"/>
                  </a:lnTo>
                  <a:lnTo>
                    <a:pt x="67882" y="376121"/>
                  </a:lnTo>
                  <a:lnTo>
                    <a:pt x="32223" y="352299"/>
                  </a:lnTo>
                  <a:lnTo>
                    <a:pt x="8352" y="316746"/>
                  </a:lnTo>
                  <a:lnTo>
                    <a:pt x="0" y="274675"/>
                  </a:lnTo>
                  <a:lnTo>
                    <a:pt x="355" y="109791"/>
                  </a:lnTo>
                  <a:close/>
                </a:path>
              </a:pathLst>
            </a:custGeom>
            <a:ln w="10079">
              <a:solidFill>
                <a:srgbClr val="E9F3F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7175424" y="3333851"/>
            <a:ext cx="38036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80">
                <a:solidFill>
                  <a:srgbClr val="0077D3"/>
                </a:solidFill>
                <a:latin typeface="Arial Black"/>
                <a:cs typeface="Arial Black"/>
              </a:rPr>
              <a:t>UD</a:t>
            </a:r>
            <a:r>
              <a:rPr dirty="0" sz="1200" spc="-85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200" spc="-50">
                <a:solidFill>
                  <a:srgbClr val="0077D3"/>
                </a:solidFill>
                <a:latin typeface="Arial Black"/>
                <a:cs typeface="Arial Black"/>
              </a:rPr>
              <a:t>1</a:t>
            </a:r>
            <a:endParaRPr sz="1200">
              <a:latin typeface="Arial Black"/>
              <a:cs typeface="Arial Black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8617280" y="3240684"/>
            <a:ext cx="1702435" cy="394970"/>
            <a:chOff x="8617280" y="3240684"/>
            <a:chExt cx="1702435" cy="394970"/>
          </a:xfrm>
        </p:grpSpPr>
        <p:sp>
          <p:nvSpPr>
            <p:cNvPr id="31" name="object 31"/>
            <p:cNvSpPr/>
            <p:nvPr/>
          </p:nvSpPr>
          <p:spPr>
            <a:xfrm>
              <a:off x="8622360" y="3245764"/>
              <a:ext cx="1692275" cy="384810"/>
            </a:xfrm>
            <a:custGeom>
              <a:avLst/>
              <a:gdLst/>
              <a:ahLst/>
              <a:cxnLst/>
              <a:rect l="l" t="t" r="r" b="b"/>
              <a:pathLst>
                <a:path w="1692275" h="384810">
                  <a:moveTo>
                    <a:pt x="110159" y="0"/>
                  </a:moveTo>
                  <a:lnTo>
                    <a:pt x="68088" y="8352"/>
                  </a:lnTo>
                  <a:lnTo>
                    <a:pt x="32535" y="32213"/>
                  </a:lnTo>
                  <a:lnTo>
                    <a:pt x="8713" y="67882"/>
                  </a:lnTo>
                  <a:lnTo>
                    <a:pt x="355" y="109791"/>
                  </a:lnTo>
                  <a:lnTo>
                    <a:pt x="0" y="274675"/>
                  </a:lnTo>
                  <a:lnTo>
                    <a:pt x="939" y="289105"/>
                  </a:lnTo>
                  <a:lnTo>
                    <a:pt x="14757" y="329755"/>
                  </a:lnTo>
                  <a:lnTo>
                    <a:pt x="22681" y="341468"/>
                  </a:lnTo>
                  <a:lnTo>
                    <a:pt x="22783" y="341618"/>
                  </a:lnTo>
                  <a:lnTo>
                    <a:pt x="55079" y="369709"/>
                  </a:lnTo>
                  <a:lnTo>
                    <a:pt x="95379" y="383539"/>
                  </a:lnTo>
                  <a:lnTo>
                    <a:pt x="109804" y="384479"/>
                  </a:lnTo>
                  <a:lnTo>
                    <a:pt x="1582204" y="384479"/>
                  </a:lnTo>
                  <a:lnTo>
                    <a:pt x="1624268" y="376121"/>
                  </a:lnTo>
                  <a:lnTo>
                    <a:pt x="1659777" y="352299"/>
                  </a:lnTo>
                  <a:lnTo>
                    <a:pt x="1683567" y="316746"/>
                  </a:lnTo>
                  <a:lnTo>
                    <a:pt x="1691995" y="274675"/>
                  </a:lnTo>
                  <a:lnTo>
                    <a:pt x="1691971" y="109791"/>
                  </a:lnTo>
                  <a:lnTo>
                    <a:pt x="1683642" y="68088"/>
                  </a:lnTo>
                  <a:lnTo>
                    <a:pt x="1659782" y="32534"/>
                  </a:lnTo>
                  <a:lnTo>
                    <a:pt x="1624112" y="8708"/>
                  </a:lnTo>
                  <a:lnTo>
                    <a:pt x="158220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6F7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8622360" y="3245764"/>
              <a:ext cx="1692275" cy="384810"/>
            </a:xfrm>
            <a:custGeom>
              <a:avLst/>
              <a:gdLst/>
              <a:ahLst/>
              <a:cxnLst/>
              <a:rect l="l" t="t" r="r" b="b"/>
              <a:pathLst>
                <a:path w="1692275" h="384810">
                  <a:moveTo>
                    <a:pt x="355" y="109791"/>
                  </a:moveTo>
                  <a:lnTo>
                    <a:pt x="1295" y="95374"/>
                  </a:lnTo>
                  <a:lnTo>
                    <a:pt x="4092" y="81359"/>
                  </a:lnTo>
                  <a:lnTo>
                    <a:pt x="23138" y="43003"/>
                  </a:lnTo>
                  <a:lnTo>
                    <a:pt x="55079" y="14757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1582204" y="355"/>
                  </a:lnTo>
                  <a:lnTo>
                    <a:pt x="1624112" y="8708"/>
                  </a:lnTo>
                  <a:lnTo>
                    <a:pt x="1659782" y="32534"/>
                  </a:lnTo>
                  <a:lnTo>
                    <a:pt x="1683642" y="68088"/>
                  </a:lnTo>
                  <a:lnTo>
                    <a:pt x="1691995" y="110159"/>
                  </a:lnTo>
                  <a:lnTo>
                    <a:pt x="1691995" y="274675"/>
                  </a:lnTo>
                  <a:lnTo>
                    <a:pt x="1691055" y="289100"/>
                  </a:lnTo>
                  <a:lnTo>
                    <a:pt x="1688260" y="303118"/>
                  </a:lnTo>
                  <a:lnTo>
                    <a:pt x="1669225" y="341468"/>
                  </a:lnTo>
                  <a:lnTo>
                    <a:pt x="1637283" y="369709"/>
                  </a:lnTo>
                  <a:lnTo>
                    <a:pt x="1596627" y="383539"/>
                  </a:lnTo>
                  <a:lnTo>
                    <a:pt x="1582204" y="384479"/>
                  </a:lnTo>
                  <a:lnTo>
                    <a:pt x="109804" y="384479"/>
                  </a:lnTo>
                  <a:lnTo>
                    <a:pt x="67882" y="376121"/>
                  </a:lnTo>
                  <a:lnTo>
                    <a:pt x="32223" y="352299"/>
                  </a:lnTo>
                  <a:lnTo>
                    <a:pt x="8352" y="316746"/>
                  </a:lnTo>
                  <a:lnTo>
                    <a:pt x="0" y="274675"/>
                  </a:lnTo>
                  <a:lnTo>
                    <a:pt x="355" y="109791"/>
                  </a:lnTo>
                  <a:close/>
                </a:path>
              </a:pathLst>
            </a:custGeom>
            <a:ln w="10079">
              <a:solidFill>
                <a:srgbClr val="E6F7F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 txBox="1"/>
          <p:nvPr/>
        </p:nvSpPr>
        <p:spPr>
          <a:xfrm>
            <a:off x="9278543" y="3333851"/>
            <a:ext cx="38036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80">
                <a:solidFill>
                  <a:srgbClr val="0C9387"/>
                </a:solidFill>
                <a:latin typeface="Arial Black"/>
                <a:cs typeface="Arial Black"/>
              </a:rPr>
              <a:t>UD</a:t>
            </a:r>
            <a:r>
              <a:rPr dirty="0" sz="1200" spc="-85">
                <a:solidFill>
                  <a:srgbClr val="0C9387"/>
                </a:solidFill>
                <a:latin typeface="Arial Black"/>
                <a:cs typeface="Arial Black"/>
              </a:rPr>
              <a:t> </a:t>
            </a:r>
            <a:r>
              <a:rPr dirty="0" sz="1200" spc="-50">
                <a:solidFill>
                  <a:srgbClr val="0C9387"/>
                </a:solidFill>
                <a:latin typeface="Arial Black"/>
                <a:cs typeface="Arial Black"/>
              </a:rPr>
              <a:t>2</a:t>
            </a:r>
            <a:endParaRPr sz="1200">
              <a:latin typeface="Arial Black"/>
              <a:cs typeface="Arial Black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6514160" y="3835044"/>
            <a:ext cx="1702435" cy="394970"/>
            <a:chOff x="6514160" y="3835044"/>
            <a:chExt cx="1702435" cy="394970"/>
          </a:xfrm>
        </p:grpSpPr>
        <p:sp>
          <p:nvSpPr>
            <p:cNvPr id="35" name="object 35"/>
            <p:cNvSpPr/>
            <p:nvPr/>
          </p:nvSpPr>
          <p:spPr>
            <a:xfrm>
              <a:off x="6519240" y="3840124"/>
              <a:ext cx="1692275" cy="384810"/>
            </a:xfrm>
            <a:custGeom>
              <a:avLst/>
              <a:gdLst/>
              <a:ahLst/>
              <a:cxnLst/>
              <a:rect l="l" t="t" r="r" b="b"/>
              <a:pathLst>
                <a:path w="1692275" h="384810">
                  <a:moveTo>
                    <a:pt x="110159" y="0"/>
                  </a:moveTo>
                  <a:lnTo>
                    <a:pt x="68088" y="8352"/>
                  </a:lnTo>
                  <a:lnTo>
                    <a:pt x="32535" y="32213"/>
                  </a:lnTo>
                  <a:lnTo>
                    <a:pt x="8713" y="67882"/>
                  </a:lnTo>
                  <a:lnTo>
                    <a:pt x="355" y="109791"/>
                  </a:lnTo>
                  <a:lnTo>
                    <a:pt x="0" y="274675"/>
                  </a:lnTo>
                  <a:lnTo>
                    <a:pt x="939" y="289105"/>
                  </a:lnTo>
                  <a:lnTo>
                    <a:pt x="14757" y="329755"/>
                  </a:lnTo>
                  <a:lnTo>
                    <a:pt x="22681" y="341468"/>
                  </a:lnTo>
                  <a:lnTo>
                    <a:pt x="22783" y="341618"/>
                  </a:lnTo>
                  <a:lnTo>
                    <a:pt x="55079" y="369709"/>
                  </a:lnTo>
                  <a:lnTo>
                    <a:pt x="95379" y="383539"/>
                  </a:lnTo>
                  <a:lnTo>
                    <a:pt x="109804" y="384479"/>
                  </a:lnTo>
                  <a:lnTo>
                    <a:pt x="1582204" y="384479"/>
                  </a:lnTo>
                  <a:lnTo>
                    <a:pt x="1624268" y="376121"/>
                  </a:lnTo>
                  <a:lnTo>
                    <a:pt x="1659777" y="352299"/>
                  </a:lnTo>
                  <a:lnTo>
                    <a:pt x="1683567" y="316746"/>
                  </a:lnTo>
                  <a:lnTo>
                    <a:pt x="1691995" y="274675"/>
                  </a:lnTo>
                  <a:lnTo>
                    <a:pt x="1691971" y="109791"/>
                  </a:lnTo>
                  <a:lnTo>
                    <a:pt x="1683642" y="68088"/>
                  </a:lnTo>
                  <a:lnTo>
                    <a:pt x="1659782" y="32534"/>
                  </a:lnTo>
                  <a:lnTo>
                    <a:pt x="1624112" y="8708"/>
                  </a:lnTo>
                  <a:lnTo>
                    <a:pt x="158220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0EB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6519240" y="3840124"/>
              <a:ext cx="1692275" cy="384810"/>
            </a:xfrm>
            <a:custGeom>
              <a:avLst/>
              <a:gdLst/>
              <a:ahLst/>
              <a:cxnLst/>
              <a:rect l="l" t="t" r="r" b="b"/>
              <a:pathLst>
                <a:path w="1692275" h="384810">
                  <a:moveTo>
                    <a:pt x="355" y="109791"/>
                  </a:moveTo>
                  <a:lnTo>
                    <a:pt x="1295" y="95374"/>
                  </a:lnTo>
                  <a:lnTo>
                    <a:pt x="4092" y="81359"/>
                  </a:lnTo>
                  <a:lnTo>
                    <a:pt x="23138" y="43003"/>
                  </a:lnTo>
                  <a:lnTo>
                    <a:pt x="55079" y="14757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1582204" y="355"/>
                  </a:lnTo>
                  <a:lnTo>
                    <a:pt x="1624112" y="8708"/>
                  </a:lnTo>
                  <a:lnTo>
                    <a:pt x="1659782" y="32534"/>
                  </a:lnTo>
                  <a:lnTo>
                    <a:pt x="1683642" y="68088"/>
                  </a:lnTo>
                  <a:lnTo>
                    <a:pt x="1691995" y="110159"/>
                  </a:lnTo>
                  <a:lnTo>
                    <a:pt x="1691995" y="274675"/>
                  </a:lnTo>
                  <a:lnTo>
                    <a:pt x="1691055" y="289100"/>
                  </a:lnTo>
                  <a:lnTo>
                    <a:pt x="1688260" y="303118"/>
                  </a:lnTo>
                  <a:lnTo>
                    <a:pt x="1669225" y="341468"/>
                  </a:lnTo>
                  <a:lnTo>
                    <a:pt x="1637283" y="369709"/>
                  </a:lnTo>
                  <a:lnTo>
                    <a:pt x="1596627" y="383539"/>
                  </a:lnTo>
                  <a:lnTo>
                    <a:pt x="1582204" y="384479"/>
                  </a:lnTo>
                  <a:lnTo>
                    <a:pt x="109804" y="384479"/>
                  </a:lnTo>
                  <a:lnTo>
                    <a:pt x="67882" y="376121"/>
                  </a:lnTo>
                  <a:lnTo>
                    <a:pt x="32223" y="352299"/>
                  </a:lnTo>
                  <a:lnTo>
                    <a:pt x="8352" y="316746"/>
                  </a:lnTo>
                  <a:lnTo>
                    <a:pt x="0" y="274675"/>
                  </a:lnTo>
                  <a:lnTo>
                    <a:pt x="355" y="109791"/>
                  </a:lnTo>
                  <a:close/>
                </a:path>
              </a:pathLst>
            </a:custGeom>
            <a:ln w="10079">
              <a:solidFill>
                <a:srgbClr val="F0EBF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/>
          <p:cNvSpPr txBox="1"/>
          <p:nvPr/>
        </p:nvSpPr>
        <p:spPr>
          <a:xfrm>
            <a:off x="7175424" y="3928211"/>
            <a:ext cx="38036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80">
                <a:solidFill>
                  <a:srgbClr val="5A399D"/>
                </a:solidFill>
                <a:latin typeface="Arial Black"/>
                <a:cs typeface="Arial Black"/>
              </a:rPr>
              <a:t>UD</a:t>
            </a:r>
            <a:r>
              <a:rPr dirty="0" sz="1200" spc="-85">
                <a:solidFill>
                  <a:srgbClr val="5A399D"/>
                </a:solidFill>
                <a:latin typeface="Arial Black"/>
                <a:cs typeface="Arial Black"/>
              </a:rPr>
              <a:t> </a:t>
            </a:r>
            <a:r>
              <a:rPr dirty="0" sz="1200" spc="-50">
                <a:solidFill>
                  <a:srgbClr val="5A399D"/>
                </a:solidFill>
                <a:latin typeface="Arial Black"/>
                <a:cs typeface="Arial Black"/>
              </a:rPr>
              <a:t>3</a:t>
            </a:r>
            <a:endParaRPr sz="1200">
              <a:latin typeface="Arial Black"/>
              <a:cs typeface="Arial Black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8617320" y="3835084"/>
            <a:ext cx="1702435" cy="394970"/>
            <a:chOff x="8617320" y="3835084"/>
            <a:chExt cx="1702435" cy="394970"/>
          </a:xfrm>
        </p:grpSpPr>
        <p:sp>
          <p:nvSpPr>
            <p:cNvPr id="39" name="object 39"/>
            <p:cNvSpPr/>
            <p:nvPr/>
          </p:nvSpPr>
          <p:spPr>
            <a:xfrm>
              <a:off x="8622360" y="3840124"/>
              <a:ext cx="1692275" cy="384810"/>
            </a:xfrm>
            <a:custGeom>
              <a:avLst/>
              <a:gdLst/>
              <a:ahLst/>
              <a:cxnLst/>
              <a:rect l="l" t="t" r="r" b="b"/>
              <a:pathLst>
                <a:path w="1692275" h="384810">
                  <a:moveTo>
                    <a:pt x="110159" y="0"/>
                  </a:moveTo>
                  <a:lnTo>
                    <a:pt x="68088" y="8352"/>
                  </a:lnTo>
                  <a:lnTo>
                    <a:pt x="32535" y="32213"/>
                  </a:lnTo>
                  <a:lnTo>
                    <a:pt x="8713" y="67882"/>
                  </a:lnTo>
                  <a:lnTo>
                    <a:pt x="355" y="109791"/>
                  </a:lnTo>
                  <a:lnTo>
                    <a:pt x="0" y="274675"/>
                  </a:lnTo>
                  <a:lnTo>
                    <a:pt x="939" y="289105"/>
                  </a:lnTo>
                  <a:lnTo>
                    <a:pt x="14757" y="329755"/>
                  </a:lnTo>
                  <a:lnTo>
                    <a:pt x="22681" y="341468"/>
                  </a:lnTo>
                  <a:lnTo>
                    <a:pt x="22783" y="341618"/>
                  </a:lnTo>
                  <a:lnTo>
                    <a:pt x="55079" y="369709"/>
                  </a:lnTo>
                  <a:lnTo>
                    <a:pt x="95379" y="383539"/>
                  </a:lnTo>
                  <a:lnTo>
                    <a:pt x="109804" y="384479"/>
                  </a:lnTo>
                  <a:lnTo>
                    <a:pt x="1582204" y="384479"/>
                  </a:lnTo>
                  <a:lnTo>
                    <a:pt x="1624268" y="376121"/>
                  </a:lnTo>
                  <a:lnTo>
                    <a:pt x="1659777" y="352299"/>
                  </a:lnTo>
                  <a:lnTo>
                    <a:pt x="1683567" y="316746"/>
                  </a:lnTo>
                  <a:lnTo>
                    <a:pt x="1691995" y="274675"/>
                  </a:lnTo>
                  <a:lnTo>
                    <a:pt x="1691971" y="109791"/>
                  </a:lnTo>
                  <a:lnTo>
                    <a:pt x="1683642" y="68088"/>
                  </a:lnTo>
                  <a:lnTo>
                    <a:pt x="1659782" y="32534"/>
                  </a:lnTo>
                  <a:lnTo>
                    <a:pt x="1624112" y="8708"/>
                  </a:lnTo>
                  <a:lnTo>
                    <a:pt x="158220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8F6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8622360" y="3840124"/>
              <a:ext cx="1692275" cy="384810"/>
            </a:xfrm>
            <a:custGeom>
              <a:avLst/>
              <a:gdLst/>
              <a:ahLst/>
              <a:cxnLst/>
              <a:rect l="l" t="t" r="r" b="b"/>
              <a:pathLst>
                <a:path w="1692275" h="384810">
                  <a:moveTo>
                    <a:pt x="355" y="109791"/>
                  </a:moveTo>
                  <a:lnTo>
                    <a:pt x="1295" y="95374"/>
                  </a:lnTo>
                  <a:lnTo>
                    <a:pt x="4092" y="81359"/>
                  </a:lnTo>
                  <a:lnTo>
                    <a:pt x="23138" y="43003"/>
                  </a:lnTo>
                  <a:lnTo>
                    <a:pt x="55079" y="14757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1582204" y="355"/>
                  </a:lnTo>
                  <a:lnTo>
                    <a:pt x="1624112" y="8708"/>
                  </a:lnTo>
                  <a:lnTo>
                    <a:pt x="1659782" y="32534"/>
                  </a:lnTo>
                  <a:lnTo>
                    <a:pt x="1683642" y="68088"/>
                  </a:lnTo>
                  <a:lnTo>
                    <a:pt x="1691995" y="110159"/>
                  </a:lnTo>
                  <a:lnTo>
                    <a:pt x="1691995" y="274675"/>
                  </a:lnTo>
                  <a:lnTo>
                    <a:pt x="1691055" y="289100"/>
                  </a:lnTo>
                  <a:lnTo>
                    <a:pt x="1688260" y="303118"/>
                  </a:lnTo>
                  <a:lnTo>
                    <a:pt x="1669225" y="341468"/>
                  </a:lnTo>
                  <a:lnTo>
                    <a:pt x="1637283" y="369709"/>
                  </a:lnTo>
                  <a:lnTo>
                    <a:pt x="1596627" y="383539"/>
                  </a:lnTo>
                  <a:lnTo>
                    <a:pt x="1582204" y="384479"/>
                  </a:lnTo>
                  <a:lnTo>
                    <a:pt x="109804" y="384479"/>
                  </a:lnTo>
                  <a:lnTo>
                    <a:pt x="67882" y="376121"/>
                  </a:lnTo>
                  <a:lnTo>
                    <a:pt x="32223" y="352299"/>
                  </a:lnTo>
                  <a:lnTo>
                    <a:pt x="8352" y="316746"/>
                  </a:lnTo>
                  <a:lnTo>
                    <a:pt x="0" y="274675"/>
                  </a:lnTo>
                  <a:lnTo>
                    <a:pt x="355" y="109791"/>
                  </a:lnTo>
                  <a:close/>
                </a:path>
              </a:pathLst>
            </a:custGeom>
            <a:ln w="10079">
              <a:solidFill>
                <a:srgbClr val="E8F6E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/>
          <p:cNvSpPr txBox="1"/>
          <p:nvPr/>
        </p:nvSpPr>
        <p:spPr>
          <a:xfrm>
            <a:off x="9278543" y="3928211"/>
            <a:ext cx="38036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80">
                <a:solidFill>
                  <a:srgbClr val="157F5C"/>
                </a:solidFill>
                <a:latin typeface="Arial Black"/>
                <a:cs typeface="Arial Black"/>
              </a:rPr>
              <a:t>UD</a:t>
            </a:r>
            <a:r>
              <a:rPr dirty="0" sz="1200" spc="-85">
                <a:solidFill>
                  <a:srgbClr val="157F5C"/>
                </a:solidFill>
                <a:latin typeface="Arial Black"/>
                <a:cs typeface="Arial Black"/>
              </a:rPr>
              <a:t> </a:t>
            </a:r>
            <a:r>
              <a:rPr dirty="0" sz="1200" spc="-50">
                <a:solidFill>
                  <a:srgbClr val="157F5C"/>
                </a:solidFill>
                <a:latin typeface="Arial Black"/>
                <a:cs typeface="Arial Black"/>
              </a:rPr>
              <a:t>4</a:t>
            </a:r>
            <a:endParaRPr sz="1200">
              <a:latin typeface="Arial Black"/>
              <a:cs typeface="Arial Black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926541" y="5426176"/>
            <a:ext cx="10406380" cy="4210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406775" marR="5080" indent="-3394075">
              <a:lnSpc>
                <a:spcPct val="100000"/>
              </a:lnSpc>
              <a:spcBef>
                <a:spcPts val="100"/>
              </a:spcBef>
            </a:pPr>
            <a:r>
              <a:rPr dirty="0" sz="1300" spc="-80">
                <a:solidFill>
                  <a:srgbClr val="0F2339"/>
                </a:solidFill>
                <a:latin typeface="Arial Black"/>
                <a:cs typeface="Arial Black"/>
              </a:rPr>
              <a:t>Limits</a:t>
            </a:r>
            <a:r>
              <a:rPr dirty="0" sz="1300" spc="-7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300" spc="-55">
                <a:solidFill>
                  <a:srgbClr val="0F2339"/>
                </a:solidFill>
                <a:latin typeface="Arial Black"/>
                <a:cs typeface="Arial Black"/>
              </a:rPr>
              <a:t>and</a:t>
            </a:r>
            <a:r>
              <a:rPr dirty="0" sz="1300" spc="-70">
                <a:solidFill>
                  <a:srgbClr val="0F2339"/>
                </a:solidFill>
                <a:latin typeface="Arial Black"/>
                <a:cs typeface="Arial Black"/>
              </a:rPr>
              <a:t> benefits: </a:t>
            </a:r>
            <a:r>
              <a:rPr dirty="0" sz="1300" spc="-50">
                <a:solidFill>
                  <a:srgbClr val="0F2339"/>
                </a:solidFill>
                <a:latin typeface="Arial Black"/>
                <a:cs typeface="Arial Black"/>
              </a:rPr>
              <a:t>an</a:t>
            </a:r>
            <a:r>
              <a:rPr dirty="0" sz="1300" spc="-65">
                <a:solidFill>
                  <a:srgbClr val="0F2339"/>
                </a:solidFill>
                <a:latin typeface="Arial Black"/>
                <a:cs typeface="Arial Black"/>
              </a:rPr>
              <a:t> availability</a:t>
            </a:r>
            <a:r>
              <a:rPr dirty="0" sz="1300" spc="-7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300" spc="-95">
                <a:solidFill>
                  <a:srgbClr val="0F2339"/>
                </a:solidFill>
                <a:latin typeface="Arial Black"/>
                <a:cs typeface="Arial Black"/>
              </a:rPr>
              <a:t>set</a:t>
            </a:r>
            <a:r>
              <a:rPr dirty="0" sz="1300" spc="-65">
                <a:solidFill>
                  <a:srgbClr val="0F2339"/>
                </a:solidFill>
                <a:latin typeface="Arial Black"/>
                <a:cs typeface="Arial Black"/>
              </a:rPr>
              <a:t> itself </a:t>
            </a:r>
            <a:r>
              <a:rPr dirty="0" sz="1300" spc="-90">
                <a:solidFill>
                  <a:srgbClr val="0F2339"/>
                </a:solidFill>
                <a:latin typeface="Arial Black"/>
                <a:cs typeface="Arial Black"/>
              </a:rPr>
              <a:t>has</a:t>
            </a:r>
            <a:r>
              <a:rPr dirty="0" sz="1300" spc="-7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300" spc="-40">
                <a:solidFill>
                  <a:srgbClr val="0F2339"/>
                </a:solidFill>
                <a:latin typeface="Arial Black"/>
                <a:cs typeface="Arial Black"/>
              </a:rPr>
              <a:t>no</a:t>
            </a:r>
            <a:r>
              <a:rPr dirty="0" sz="1300" spc="-6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300" spc="-80">
                <a:solidFill>
                  <a:srgbClr val="0F2339"/>
                </a:solidFill>
                <a:latin typeface="Arial Black"/>
                <a:cs typeface="Arial Black"/>
              </a:rPr>
              <a:t>direct</a:t>
            </a:r>
            <a:r>
              <a:rPr dirty="0" sz="1300" spc="-6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300" spc="-80">
                <a:solidFill>
                  <a:srgbClr val="0F2339"/>
                </a:solidFill>
                <a:latin typeface="Arial Black"/>
                <a:cs typeface="Arial Black"/>
              </a:rPr>
              <a:t>charge;</a:t>
            </a:r>
            <a:r>
              <a:rPr dirty="0" sz="1300" spc="-7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300" spc="-120">
                <a:solidFill>
                  <a:srgbClr val="0F2339"/>
                </a:solidFill>
                <a:latin typeface="Arial Black"/>
                <a:cs typeface="Arial Black"/>
              </a:rPr>
              <a:t>VMs</a:t>
            </a:r>
            <a:r>
              <a:rPr dirty="0" sz="1300" spc="-6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300" spc="-55">
                <a:solidFill>
                  <a:srgbClr val="0F2339"/>
                </a:solidFill>
                <a:latin typeface="Arial Black"/>
                <a:cs typeface="Arial Black"/>
              </a:rPr>
              <a:t>and</a:t>
            </a:r>
            <a:r>
              <a:rPr dirty="0" sz="1300" spc="-75">
                <a:solidFill>
                  <a:srgbClr val="0F2339"/>
                </a:solidFill>
                <a:latin typeface="Arial Black"/>
                <a:cs typeface="Arial Black"/>
              </a:rPr>
              <a:t> attached</a:t>
            </a:r>
            <a:r>
              <a:rPr dirty="0" sz="1300" spc="-7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300" spc="-100">
                <a:solidFill>
                  <a:srgbClr val="0F2339"/>
                </a:solidFill>
                <a:latin typeface="Arial Black"/>
                <a:cs typeface="Arial Black"/>
              </a:rPr>
              <a:t>resources</a:t>
            </a:r>
            <a:r>
              <a:rPr dirty="0" sz="1300" spc="-7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300" spc="-65">
                <a:solidFill>
                  <a:srgbClr val="0F2339"/>
                </a:solidFill>
                <a:latin typeface="Arial Black"/>
                <a:cs typeface="Arial Black"/>
              </a:rPr>
              <a:t>do. </a:t>
            </a:r>
            <a:r>
              <a:rPr dirty="0" sz="1300" spc="-10">
                <a:solidFill>
                  <a:srgbClr val="0F2339"/>
                </a:solidFill>
                <a:latin typeface="Arial Black"/>
                <a:cs typeface="Arial Black"/>
              </a:rPr>
              <a:t>It</a:t>
            </a:r>
            <a:r>
              <a:rPr dirty="0" sz="1300" spc="-6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300" spc="-100">
                <a:solidFill>
                  <a:srgbClr val="0F2339"/>
                </a:solidFill>
                <a:latin typeface="Arial Black"/>
                <a:cs typeface="Arial Black"/>
              </a:rPr>
              <a:t>does</a:t>
            </a:r>
            <a:r>
              <a:rPr dirty="0" sz="1300" spc="-7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300" spc="-35">
                <a:solidFill>
                  <a:srgbClr val="0F2339"/>
                </a:solidFill>
                <a:latin typeface="Arial Black"/>
                <a:cs typeface="Arial Black"/>
              </a:rPr>
              <a:t>not</a:t>
            </a:r>
            <a:r>
              <a:rPr dirty="0" sz="1300" spc="-6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300" spc="-70">
                <a:solidFill>
                  <a:srgbClr val="0F2339"/>
                </a:solidFill>
                <a:latin typeface="Arial Black"/>
                <a:cs typeface="Arial Black"/>
              </a:rPr>
              <a:t>protect against</a:t>
            </a:r>
            <a:r>
              <a:rPr dirty="0" sz="1300" spc="-6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300" spc="-50">
                <a:solidFill>
                  <a:srgbClr val="0F2339"/>
                </a:solidFill>
                <a:latin typeface="Arial Black"/>
                <a:cs typeface="Arial Black"/>
              </a:rPr>
              <a:t>a </a:t>
            </a:r>
            <a:r>
              <a:rPr dirty="0" sz="1300" spc="-70">
                <a:solidFill>
                  <a:srgbClr val="0F2339"/>
                </a:solidFill>
                <a:latin typeface="Arial Black"/>
                <a:cs typeface="Arial Black"/>
              </a:rPr>
              <a:t>whole-</a:t>
            </a:r>
            <a:r>
              <a:rPr dirty="0" sz="1300" spc="-55">
                <a:solidFill>
                  <a:srgbClr val="0F2339"/>
                </a:solidFill>
                <a:latin typeface="Arial Black"/>
                <a:cs typeface="Arial Black"/>
              </a:rPr>
              <a:t>region</a:t>
            </a:r>
            <a:r>
              <a:rPr dirty="0" sz="1300" spc="-60">
                <a:solidFill>
                  <a:srgbClr val="0F2339"/>
                </a:solidFill>
                <a:latin typeface="Arial Black"/>
                <a:cs typeface="Arial Black"/>
              </a:rPr>
              <a:t> outage</a:t>
            </a:r>
            <a:r>
              <a:rPr dirty="0" sz="1300" spc="-5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300" spc="-30">
                <a:solidFill>
                  <a:srgbClr val="0F2339"/>
                </a:solidFill>
                <a:latin typeface="Arial Black"/>
                <a:cs typeface="Arial Black"/>
              </a:rPr>
              <a:t>or</a:t>
            </a:r>
            <a:r>
              <a:rPr dirty="0" sz="1300" spc="-5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300" spc="-70">
                <a:solidFill>
                  <a:srgbClr val="0F2339"/>
                </a:solidFill>
                <a:latin typeface="Arial Black"/>
                <a:cs typeface="Arial Black"/>
              </a:rPr>
              <a:t>application</a:t>
            </a:r>
            <a:r>
              <a:rPr dirty="0" sz="1300" spc="-5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300" spc="-10">
                <a:solidFill>
                  <a:srgbClr val="0F2339"/>
                </a:solidFill>
                <a:latin typeface="Arial Black"/>
                <a:cs typeface="Arial Black"/>
              </a:rPr>
              <a:t>defects.</a:t>
            </a:r>
            <a:endParaRPr sz="1300">
              <a:latin typeface="Arial Black"/>
              <a:cs typeface="Arial Black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66635" y="6382435"/>
            <a:ext cx="11064240" cy="635"/>
          </a:xfrm>
          <a:custGeom>
            <a:avLst/>
            <a:gdLst/>
            <a:ahLst/>
            <a:cxnLst/>
            <a:rect l="l" t="t" r="r" b="b"/>
            <a:pathLst>
              <a:path w="11064240" h="635">
                <a:moveTo>
                  <a:pt x="0" y="0"/>
                </a:moveTo>
                <a:lnTo>
                  <a:pt x="11064240" y="368"/>
                </a:lnTo>
              </a:path>
            </a:pathLst>
          </a:custGeom>
          <a:ln w="8999">
            <a:solidFill>
              <a:srgbClr val="DBE4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90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 spc="-100"/>
              <a:t>DAY</a:t>
            </a:r>
            <a:r>
              <a:rPr dirty="0" spc="-55"/>
              <a:t> </a:t>
            </a:r>
            <a:r>
              <a:rPr dirty="0"/>
              <a:t>1</a:t>
            </a:r>
            <a:r>
              <a:rPr dirty="0" spc="105"/>
              <a:t> </a:t>
            </a:r>
            <a:r>
              <a:rPr dirty="0"/>
              <a:t>•</a:t>
            </a:r>
            <a:r>
              <a:rPr dirty="0" spc="130"/>
              <a:t> </a:t>
            </a:r>
            <a:r>
              <a:rPr dirty="0" spc="-70"/>
              <a:t>CLOUD</a:t>
            </a:r>
            <a:r>
              <a:rPr dirty="0" spc="-55"/>
              <a:t> </a:t>
            </a:r>
            <a:r>
              <a:rPr dirty="0" spc="-65"/>
              <a:t>FOUNDATIONS</a:t>
            </a:r>
            <a:r>
              <a:rPr dirty="0" spc="-55"/>
              <a:t> </a:t>
            </a:r>
            <a:r>
              <a:rPr dirty="0" spc="-105"/>
              <a:t>&amp;</a:t>
            </a:r>
            <a:r>
              <a:rPr dirty="0" spc="-50"/>
              <a:t> </a:t>
            </a:r>
            <a:r>
              <a:rPr dirty="0" spc="-95"/>
              <a:t>AZURE</a:t>
            </a:r>
            <a:r>
              <a:rPr dirty="0" spc="-55"/>
              <a:t> </a:t>
            </a:r>
            <a:r>
              <a:rPr dirty="0" spc="-50"/>
              <a:t>BASICS</a:t>
            </a:r>
          </a:p>
        </p:txBody>
      </p:sp>
      <p:sp>
        <p:nvSpPr>
          <p:cNvPr id="43" name="object 4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032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160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3935" y="299427"/>
            <a:ext cx="177609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65">
                <a:solidFill>
                  <a:srgbClr val="0077D3"/>
                </a:solidFill>
                <a:latin typeface="Arial Black"/>
                <a:cs typeface="Arial Black"/>
              </a:rPr>
              <a:t>PA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25">
                <a:solidFill>
                  <a:srgbClr val="0077D3"/>
                </a:solidFill>
                <a:latin typeface="Arial Black"/>
                <a:cs typeface="Arial Black"/>
              </a:rPr>
              <a:t>R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>
                <a:solidFill>
                  <a:srgbClr val="0077D3"/>
                </a:solidFill>
                <a:latin typeface="Arial Black"/>
                <a:cs typeface="Arial Black"/>
              </a:rPr>
              <a:t>T</a:t>
            </a:r>
            <a:r>
              <a:rPr dirty="0" sz="1000" spc="-5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>
                <a:solidFill>
                  <a:srgbClr val="0077D3"/>
                </a:solidFill>
                <a:latin typeface="Arial Black"/>
                <a:cs typeface="Arial Black"/>
              </a:rPr>
              <a:t>2</a:t>
            </a:r>
            <a:r>
              <a:rPr dirty="0" sz="1000" spc="45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>
                <a:solidFill>
                  <a:srgbClr val="0077D3"/>
                </a:solidFill>
                <a:latin typeface="Arial Black"/>
                <a:cs typeface="Arial Black"/>
              </a:rPr>
              <a:t>•</a:t>
            </a:r>
            <a:r>
              <a:rPr dirty="0" sz="1000" spc="12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95">
                <a:solidFill>
                  <a:srgbClr val="0077D3"/>
                </a:solidFill>
                <a:latin typeface="Arial Black"/>
                <a:cs typeface="Arial Black"/>
              </a:rPr>
              <a:t>A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60">
                <a:solidFill>
                  <a:srgbClr val="0077D3"/>
                </a:solidFill>
                <a:latin typeface="Arial Black"/>
                <a:cs typeface="Arial Black"/>
              </a:rPr>
              <a:t>Z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90">
                <a:solidFill>
                  <a:srgbClr val="0077D3"/>
                </a:solidFill>
                <a:latin typeface="Arial Black"/>
                <a:cs typeface="Arial Black"/>
              </a:rPr>
              <a:t>U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25">
                <a:solidFill>
                  <a:srgbClr val="0077D3"/>
                </a:solidFill>
                <a:latin typeface="Arial Black"/>
                <a:cs typeface="Arial Black"/>
              </a:rPr>
              <a:t>R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>
                <a:solidFill>
                  <a:srgbClr val="0077D3"/>
                </a:solidFill>
                <a:latin typeface="Arial Black"/>
                <a:cs typeface="Arial Black"/>
              </a:rPr>
              <a:t>E</a:t>
            </a:r>
            <a:r>
              <a:rPr dirty="0" sz="1000" spc="114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14">
                <a:solidFill>
                  <a:srgbClr val="0077D3"/>
                </a:solidFill>
                <a:latin typeface="Arial Black"/>
                <a:cs typeface="Arial Black"/>
              </a:rPr>
              <a:t>B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95">
                <a:solidFill>
                  <a:srgbClr val="0077D3"/>
                </a:solidFill>
                <a:latin typeface="Arial Black"/>
                <a:cs typeface="Arial Black"/>
              </a:rPr>
              <a:t>A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80">
                <a:solidFill>
                  <a:srgbClr val="0077D3"/>
                </a:solidFill>
                <a:latin typeface="Arial Black"/>
                <a:cs typeface="Arial Black"/>
              </a:rPr>
              <a:t>S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>
                <a:solidFill>
                  <a:srgbClr val="0077D3"/>
                </a:solidFill>
                <a:latin typeface="Arial Black"/>
                <a:cs typeface="Arial Black"/>
              </a:rPr>
              <a:t>I</a:t>
            </a:r>
            <a:r>
              <a:rPr dirty="0" sz="1000" spc="-204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45">
                <a:solidFill>
                  <a:srgbClr val="0077D3"/>
                </a:solidFill>
                <a:latin typeface="Arial Black"/>
                <a:cs typeface="Arial Black"/>
              </a:rPr>
              <a:t>C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10">
                <a:solidFill>
                  <a:srgbClr val="0077D3"/>
                </a:solidFill>
                <a:latin typeface="Arial Black"/>
                <a:cs typeface="Arial Black"/>
              </a:rPr>
              <a:t>S</a:t>
            </a:r>
            <a:endParaRPr sz="1000">
              <a:latin typeface="Arial Black"/>
              <a:cs typeface="Arial Black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54304" y="428977"/>
            <a:ext cx="8279130" cy="814705"/>
          </a:xfrm>
          <a:prstGeom prst="rect"/>
        </p:spPr>
        <p:txBody>
          <a:bodyPr wrap="square" lIns="0" tIns="133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0"/>
              </a:spcBef>
            </a:pPr>
            <a:r>
              <a:rPr dirty="0" sz="2700" spc="-120">
                <a:solidFill>
                  <a:srgbClr val="0F2339"/>
                </a:solidFill>
              </a:rPr>
              <a:t>Availability</a:t>
            </a:r>
            <a:r>
              <a:rPr dirty="0" sz="2700" spc="-180">
                <a:solidFill>
                  <a:srgbClr val="0F2339"/>
                </a:solidFill>
              </a:rPr>
              <a:t> </a:t>
            </a:r>
            <a:r>
              <a:rPr dirty="0" sz="2700" spc="-265">
                <a:solidFill>
                  <a:srgbClr val="0F2339"/>
                </a:solidFill>
              </a:rPr>
              <a:t>Sets</a:t>
            </a:r>
            <a:r>
              <a:rPr dirty="0" sz="2700" spc="-175">
                <a:solidFill>
                  <a:srgbClr val="0F2339"/>
                </a:solidFill>
              </a:rPr>
              <a:t> </a:t>
            </a:r>
            <a:r>
              <a:rPr dirty="0" sz="2700" spc="-220">
                <a:solidFill>
                  <a:srgbClr val="0F2339"/>
                </a:solidFill>
              </a:rPr>
              <a:t>vs</a:t>
            </a:r>
            <a:r>
              <a:rPr dirty="0" sz="2700" spc="-175">
                <a:solidFill>
                  <a:srgbClr val="0F2339"/>
                </a:solidFill>
              </a:rPr>
              <a:t> </a:t>
            </a:r>
            <a:r>
              <a:rPr dirty="0" sz="2700" spc="-120">
                <a:solidFill>
                  <a:srgbClr val="0F2339"/>
                </a:solidFill>
              </a:rPr>
              <a:t>Availability</a:t>
            </a:r>
            <a:r>
              <a:rPr dirty="0" sz="2700" spc="-180">
                <a:solidFill>
                  <a:srgbClr val="0F2339"/>
                </a:solidFill>
              </a:rPr>
              <a:t> </a:t>
            </a:r>
            <a:r>
              <a:rPr dirty="0" sz="2700" spc="-10">
                <a:solidFill>
                  <a:srgbClr val="0F2339"/>
                </a:solidFill>
              </a:rPr>
              <a:t>Zones</a:t>
            </a:r>
            <a:endParaRPr sz="2700"/>
          </a:p>
          <a:p>
            <a:pPr marL="30480">
              <a:lnSpc>
                <a:spcPct val="100000"/>
              </a:lnSpc>
              <a:spcBef>
                <a:spcPts val="459"/>
              </a:spcBef>
            </a:pP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Pick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the</a:t>
            </a:r>
            <a:r>
              <a:rPr dirty="0" sz="13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protection</a:t>
            </a:r>
            <a:r>
              <a:rPr dirty="0" sz="13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mechanism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based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on</a:t>
            </a:r>
            <a:r>
              <a:rPr dirty="0" sz="13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the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failure</a:t>
            </a:r>
            <a:r>
              <a:rPr dirty="0" sz="13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domain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you</a:t>
            </a:r>
            <a:r>
              <a:rPr dirty="0" sz="13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need</a:t>
            </a:r>
            <a:r>
              <a:rPr dirty="0" sz="13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to</a:t>
            </a:r>
            <a:r>
              <a:rPr dirty="0" sz="13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tolerate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and</a:t>
            </a:r>
            <a:r>
              <a:rPr dirty="0" sz="13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the</a:t>
            </a:r>
            <a:r>
              <a:rPr dirty="0" sz="13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service’s</a:t>
            </a:r>
            <a:r>
              <a:rPr dirty="0" sz="13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support.</a:t>
            </a:r>
            <a:endParaRPr sz="1300">
              <a:latin typeface="Noto Sans"/>
              <a:cs typeface="Noto San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66635" y="1417319"/>
            <a:ext cx="11064240" cy="635"/>
          </a:xfrm>
          <a:custGeom>
            <a:avLst/>
            <a:gdLst/>
            <a:ahLst/>
            <a:cxnLst/>
            <a:rect l="l" t="t" r="r" b="b"/>
            <a:pathLst>
              <a:path w="11064240" h="634">
                <a:moveTo>
                  <a:pt x="0" y="0"/>
                </a:moveTo>
                <a:lnTo>
                  <a:pt x="11064240" y="355"/>
                </a:lnTo>
              </a:path>
            </a:pathLst>
          </a:custGeom>
          <a:ln w="10079">
            <a:solidFill>
              <a:srgbClr val="DBE4ED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6" name="object 6"/>
          <p:cNvGrpSpPr/>
          <p:nvPr/>
        </p:nvGrpSpPr>
        <p:grpSpPr>
          <a:xfrm>
            <a:off x="804595" y="1828444"/>
            <a:ext cx="10194925" cy="3749040"/>
            <a:chOff x="804595" y="1828444"/>
            <a:chExt cx="10194925" cy="3749040"/>
          </a:xfrm>
        </p:grpSpPr>
        <p:sp>
          <p:nvSpPr>
            <p:cNvPr id="7" name="object 7"/>
            <p:cNvSpPr/>
            <p:nvPr/>
          </p:nvSpPr>
          <p:spPr>
            <a:xfrm>
              <a:off x="804595" y="1828444"/>
              <a:ext cx="2148840" cy="457200"/>
            </a:xfrm>
            <a:custGeom>
              <a:avLst/>
              <a:gdLst/>
              <a:ahLst/>
              <a:cxnLst/>
              <a:rect l="l" t="t" r="r" b="b"/>
              <a:pathLst>
                <a:path w="2148840" h="457200">
                  <a:moveTo>
                    <a:pt x="2148484" y="0"/>
                  </a:moveTo>
                  <a:lnTo>
                    <a:pt x="0" y="0"/>
                  </a:lnTo>
                  <a:lnTo>
                    <a:pt x="0" y="456831"/>
                  </a:lnTo>
                  <a:lnTo>
                    <a:pt x="1074242" y="456831"/>
                  </a:lnTo>
                  <a:lnTo>
                    <a:pt x="2148484" y="456831"/>
                  </a:lnTo>
                  <a:lnTo>
                    <a:pt x="2148484" y="0"/>
                  </a:lnTo>
                  <a:close/>
                </a:path>
              </a:pathLst>
            </a:custGeom>
            <a:solidFill>
              <a:srgbClr val="0F233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2953080" y="1828444"/>
              <a:ext cx="4023360" cy="457200"/>
            </a:xfrm>
            <a:custGeom>
              <a:avLst/>
              <a:gdLst/>
              <a:ahLst/>
              <a:cxnLst/>
              <a:rect l="l" t="t" r="r" b="b"/>
              <a:pathLst>
                <a:path w="4023359" h="457200">
                  <a:moveTo>
                    <a:pt x="4023004" y="0"/>
                  </a:moveTo>
                  <a:lnTo>
                    <a:pt x="0" y="0"/>
                  </a:lnTo>
                  <a:lnTo>
                    <a:pt x="0" y="456831"/>
                  </a:lnTo>
                  <a:lnTo>
                    <a:pt x="2011679" y="456831"/>
                  </a:lnTo>
                  <a:lnTo>
                    <a:pt x="4023004" y="456831"/>
                  </a:lnTo>
                  <a:lnTo>
                    <a:pt x="4023004" y="0"/>
                  </a:lnTo>
                  <a:close/>
                </a:path>
              </a:pathLst>
            </a:custGeom>
            <a:solidFill>
              <a:srgbClr val="0077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976440" y="1828444"/>
              <a:ext cx="4023360" cy="457200"/>
            </a:xfrm>
            <a:custGeom>
              <a:avLst/>
              <a:gdLst/>
              <a:ahLst/>
              <a:cxnLst/>
              <a:rect l="l" t="t" r="r" b="b"/>
              <a:pathLst>
                <a:path w="4023359" h="457200">
                  <a:moveTo>
                    <a:pt x="4023004" y="0"/>
                  </a:moveTo>
                  <a:lnTo>
                    <a:pt x="0" y="0"/>
                  </a:lnTo>
                  <a:lnTo>
                    <a:pt x="0" y="456831"/>
                  </a:lnTo>
                  <a:lnTo>
                    <a:pt x="2011679" y="456831"/>
                  </a:lnTo>
                  <a:lnTo>
                    <a:pt x="4023004" y="456831"/>
                  </a:lnTo>
                  <a:lnTo>
                    <a:pt x="4023004" y="0"/>
                  </a:lnTo>
                  <a:close/>
                </a:path>
              </a:pathLst>
            </a:custGeom>
            <a:solidFill>
              <a:srgbClr val="0C938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804595" y="2285999"/>
              <a:ext cx="10194925" cy="658495"/>
            </a:xfrm>
            <a:custGeom>
              <a:avLst/>
              <a:gdLst/>
              <a:ahLst/>
              <a:cxnLst/>
              <a:rect l="l" t="t" r="r" b="b"/>
              <a:pathLst>
                <a:path w="10194925" h="658494">
                  <a:moveTo>
                    <a:pt x="6171489" y="0"/>
                  </a:moveTo>
                  <a:lnTo>
                    <a:pt x="2148484" y="0"/>
                  </a:lnTo>
                  <a:lnTo>
                    <a:pt x="0" y="0"/>
                  </a:lnTo>
                  <a:lnTo>
                    <a:pt x="0" y="658075"/>
                  </a:lnTo>
                  <a:lnTo>
                    <a:pt x="1074242" y="658075"/>
                  </a:lnTo>
                  <a:lnTo>
                    <a:pt x="2148484" y="658075"/>
                  </a:lnTo>
                  <a:lnTo>
                    <a:pt x="4160164" y="658075"/>
                  </a:lnTo>
                  <a:lnTo>
                    <a:pt x="6171489" y="658075"/>
                  </a:lnTo>
                  <a:lnTo>
                    <a:pt x="6171489" y="0"/>
                  </a:lnTo>
                  <a:close/>
                </a:path>
                <a:path w="10194925" h="658494">
                  <a:moveTo>
                    <a:pt x="10194849" y="0"/>
                  </a:moveTo>
                  <a:lnTo>
                    <a:pt x="6171844" y="0"/>
                  </a:lnTo>
                  <a:lnTo>
                    <a:pt x="6171844" y="658075"/>
                  </a:lnTo>
                  <a:lnTo>
                    <a:pt x="8183524" y="658075"/>
                  </a:lnTo>
                  <a:lnTo>
                    <a:pt x="10194849" y="658075"/>
                  </a:lnTo>
                  <a:lnTo>
                    <a:pt x="101948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804595" y="2944444"/>
              <a:ext cx="10194925" cy="658495"/>
            </a:xfrm>
            <a:custGeom>
              <a:avLst/>
              <a:gdLst/>
              <a:ahLst/>
              <a:cxnLst/>
              <a:rect l="l" t="t" r="r" b="b"/>
              <a:pathLst>
                <a:path w="10194925" h="658495">
                  <a:moveTo>
                    <a:pt x="6171489" y="0"/>
                  </a:moveTo>
                  <a:lnTo>
                    <a:pt x="2148484" y="0"/>
                  </a:lnTo>
                  <a:lnTo>
                    <a:pt x="0" y="0"/>
                  </a:lnTo>
                  <a:lnTo>
                    <a:pt x="0" y="658075"/>
                  </a:lnTo>
                  <a:lnTo>
                    <a:pt x="1074242" y="658075"/>
                  </a:lnTo>
                  <a:lnTo>
                    <a:pt x="2148484" y="658075"/>
                  </a:lnTo>
                  <a:lnTo>
                    <a:pt x="4160164" y="658075"/>
                  </a:lnTo>
                  <a:lnTo>
                    <a:pt x="6171489" y="658075"/>
                  </a:lnTo>
                  <a:lnTo>
                    <a:pt x="6171489" y="0"/>
                  </a:lnTo>
                  <a:close/>
                </a:path>
                <a:path w="10194925" h="658495">
                  <a:moveTo>
                    <a:pt x="10194849" y="0"/>
                  </a:moveTo>
                  <a:lnTo>
                    <a:pt x="6171844" y="0"/>
                  </a:lnTo>
                  <a:lnTo>
                    <a:pt x="6171844" y="658075"/>
                  </a:lnTo>
                  <a:lnTo>
                    <a:pt x="8183524" y="658075"/>
                  </a:lnTo>
                  <a:lnTo>
                    <a:pt x="10194849" y="658075"/>
                  </a:lnTo>
                  <a:lnTo>
                    <a:pt x="10194849" y="0"/>
                  </a:lnTo>
                  <a:close/>
                </a:path>
              </a:pathLst>
            </a:custGeom>
            <a:solidFill>
              <a:srgbClr val="F2F6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804595" y="3602875"/>
              <a:ext cx="10194925" cy="658495"/>
            </a:xfrm>
            <a:custGeom>
              <a:avLst/>
              <a:gdLst/>
              <a:ahLst/>
              <a:cxnLst/>
              <a:rect l="l" t="t" r="r" b="b"/>
              <a:pathLst>
                <a:path w="10194925" h="658495">
                  <a:moveTo>
                    <a:pt x="6171489" y="0"/>
                  </a:moveTo>
                  <a:lnTo>
                    <a:pt x="2148484" y="0"/>
                  </a:lnTo>
                  <a:lnTo>
                    <a:pt x="0" y="0"/>
                  </a:lnTo>
                  <a:lnTo>
                    <a:pt x="0" y="658088"/>
                  </a:lnTo>
                  <a:lnTo>
                    <a:pt x="1074242" y="658088"/>
                  </a:lnTo>
                  <a:lnTo>
                    <a:pt x="2148484" y="658088"/>
                  </a:lnTo>
                  <a:lnTo>
                    <a:pt x="4160164" y="658088"/>
                  </a:lnTo>
                  <a:lnTo>
                    <a:pt x="6171489" y="658088"/>
                  </a:lnTo>
                  <a:lnTo>
                    <a:pt x="6171489" y="0"/>
                  </a:lnTo>
                  <a:close/>
                </a:path>
                <a:path w="10194925" h="658495">
                  <a:moveTo>
                    <a:pt x="10194849" y="0"/>
                  </a:moveTo>
                  <a:lnTo>
                    <a:pt x="6171844" y="0"/>
                  </a:lnTo>
                  <a:lnTo>
                    <a:pt x="6171844" y="658088"/>
                  </a:lnTo>
                  <a:lnTo>
                    <a:pt x="8183524" y="658088"/>
                  </a:lnTo>
                  <a:lnTo>
                    <a:pt x="10194849" y="658088"/>
                  </a:lnTo>
                  <a:lnTo>
                    <a:pt x="101948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804595" y="4260964"/>
              <a:ext cx="10194925" cy="658495"/>
            </a:xfrm>
            <a:custGeom>
              <a:avLst/>
              <a:gdLst/>
              <a:ahLst/>
              <a:cxnLst/>
              <a:rect l="l" t="t" r="r" b="b"/>
              <a:pathLst>
                <a:path w="10194925" h="658495">
                  <a:moveTo>
                    <a:pt x="6171489" y="0"/>
                  </a:moveTo>
                  <a:lnTo>
                    <a:pt x="2148484" y="0"/>
                  </a:lnTo>
                  <a:lnTo>
                    <a:pt x="0" y="0"/>
                  </a:lnTo>
                  <a:lnTo>
                    <a:pt x="0" y="658075"/>
                  </a:lnTo>
                  <a:lnTo>
                    <a:pt x="1074242" y="658075"/>
                  </a:lnTo>
                  <a:lnTo>
                    <a:pt x="2148484" y="658075"/>
                  </a:lnTo>
                  <a:lnTo>
                    <a:pt x="4160164" y="658075"/>
                  </a:lnTo>
                  <a:lnTo>
                    <a:pt x="6171489" y="658075"/>
                  </a:lnTo>
                  <a:lnTo>
                    <a:pt x="6171489" y="0"/>
                  </a:lnTo>
                  <a:close/>
                </a:path>
                <a:path w="10194925" h="658495">
                  <a:moveTo>
                    <a:pt x="10194849" y="0"/>
                  </a:moveTo>
                  <a:lnTo>
                    <a:pt x="6171844" y="0"/>
                  </a:lnTo>
                  <a:lnTo>
                    <a:pt x="6171844" y="658075"/>
                  </a:lnTo>
                  <a:lnTo>
                    <a:pt x="8183524" y="658075"/>
                  </a:lnTo>
                  <a:lnTo>
                    <a:pt x="10194849" y="658075"/>
                  </a:lnTo>
                  <a:lnTo>
                    <a:pt x="10194849" y="0"/>
                  </a:lnTo>
                  <a:close/>
                </a:path>
              </a:pathLst>
            </a:custGeom>
            <a:solidFill>
              <a:srgbClr val="F2F6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804595" y="4919395"/>
              <a:ext cx="10194925" cy="658495"/>
            </a:xfrm>
            <a:custGeom>
              <a:avLst/>
              <a:gdLst/>
              <a:ahLst/>
              <a:cxnLst/>
              <a:rect l="l" t="t" r="r" b="b"/>
              <a:pathLst>
                <a:path w="10194925" h="658495">
                  <a:moveTo>
                    <a:pt x="6171489" y="0"/>
                  </a:moveTo>
                  <a:lnTo>
                    <a:pt x="2148484" y="0"/>
                  </a:lnTo>
                  <a:lnTo>
                    <a:pt x="0" y="0"/>
                  </a:lnTo>
                  <a:lnTo>
                    <a:pt x="0" y="658088"/>
                  </a:lnTo>
                  <a:lnTo>
                    <a:pt x="1074242" y="658088"/>
                  </a:lnTo>
                  <a:lnTo>
                    <a:pt x="2148484" y="658088"/>
                  </a:lnTo>
                  <a:lnTo>
                    <a:pt x="4160164" y="658088"/>
                  </a:lnTo>
                  <a:lnTo>
                    <a:pt x="6171489" y="658088"/>
                  </a:lnTo>
                  <a:lnTo>
                    <a:pt x="6171489" y="0"/>
                  </a:lnTo>
                  <a:close/>
                </a:path>
                <a:path w="10194925" h="658495">
                  <a:moveTo>
                    <a:pt x="10194849" y="0"/>
                  </a:moveTo>
                  <a:lnTo>
                    <a:pt x="6171844" y="0"/>
                  </a:lnTo>
                  <a:lnTo>
                    <a:pt x="6171844" y="658088"/>
                  </a:lnTo>
                  <a:lnTo>
                    <a:pt x="8183524" y="658088"/>
                  </a:lnTo>
                  <a:lnTo>
                    <a:pt x="10194849" y="658088"/>
                  </a:lnTo>
                  <a:lnTo>
                    <a:pt x="101948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799555" y="1823404"/>
          <a:ext cx="10281285" cy="37465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48205"/>
                <a:gridCol w="4022725"/>
                <a:gridCol w="4022725"/>
              </a:tblGrid>
              <a:tr h="457200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dirty="0" sz="1200" spc="-1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Question</a:t>
                      </a:r>
                      <a:endParaRPr sz="1200">
                        <a:latin typeface="Arial Black"/>
                        <a:cs typeface="Arial Black"/>
                      </a:endParaRPr>
                    </a:p>
                  </a:txBody>
                  <a:tcPr marL="0" marR="0" marB="0" marT="128270">
                    <a:lnL w="12700">
                      <a:solidFill>
                        <a:srgbClr val="0F2339"/>
                      </a:solidFill>
                      <a:prstDash val="solid"/>
                    </a:lnL>
                    <a:lnR w="12700">
                      <a:solidFill>
                        <a:srgbClr val="0077D3"/>
                      </a:solidFill>
                      <a:prstDash val="solid"/>
                    </a:lnR>
                    <a:lnT w="12700">
                      <a:solidFill>
                        <a:srgbClr val="0F2339"/>
                      </a:solidFill>
                      <a:prstDash val="solid"/>
                    </a:lnT>
                    <a:lnB w="12700">
                      <a:solidFill>
                        <a:srgbClr val="DBE4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dirty="0" sz="1200" spc="-6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Availability</a:t>
                      </a:r>
                      <a:r>
                        <a:rPr dirty="0" sz="120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1200" spc="-25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Set</a:t>
                      </a:r>
                      <a:endParaRPr sz="1200">
                        <a:latin typeface="Arial Black"/>
                        <a:cs typeface="Arial Black"/>
                      </a:endParaRPr>
                    </a:p>
                  </a:txBody>
                  <a:tcPr marL="0" marR="0" marB="0" marT="128270">
                    <a:lnL w="12700">
                      <a:solidFill>
                        <a:srgbClr val="0077D3"/>
                      </a:solidFill>
                      <a:prstDash val="solid"/>
                    </a:lnL>
                    <a:lnR w="12700">
                      <a:solidFill>
                        <a:srgbClr val="0C9387"/>
                      </a:solidFill>
                      <a:prstDash val="solid"/>
                    </a:lnR>
                    <a:lnT w="12700">
                      <a:solidFill>
                        <a:srgbClr val="0077D3"/>
                      </a:solidFill>
                      <a:prstDash val="solid"/>
                    </a:lnT>
                    <a:lnB w="12700">
                      <a:solidFill>
                        <a:srgbClr val="DBE4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dirty="0" sz="1200" spc="-6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Availability</a:t>
                      </a:r>
                      <a:r>
                        <a:rPr dirty="0" sz="120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1200" spc="-2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Zone</a:t>
                      </a:r>
                      <a:endParaRPr sz="1200">
                        <a:latin typeface="Arial Black"/>
                        <a:cs typeface="Arial Black"/>
                      </a:endParaRPr>
                    </a:p>
                  </a:txBody>
                  <a:tcPr marL="0" marR="0" marB="0" marT="128270">
                    <a:lnL w="12700">
                      <a:solidFill>
                        <a:srgbClr val="0C9387"/>
                      </a:solidFill>
                      <a:prstDash val="solid"/>
                    </a:lnL>
                    <a:lnR w="12700">
                      <a:solidFill>
                        <a:srgbClr val="0C9387"/>
                      </a:solidFill>
                      <a:prstDash val="solid"/>
                    </a:lnR>
                    <a:lnT w="12700">
                      <a:solidFill>
                        <a:srgbClr val="0C9387"/>
                      </a:solidFill>
                      <a:prstDash val="solid"/>
                    </a:lnT>
                    <a:lnB w="12700">
                      <a:solidFill>
                        <a:srgbClr val="DBE4ED"/>
                      </a:solidFill>
                      <a:prstDash val="solid"/>
                    </a:lnB>
                  </a:tcPr>
                </a:tc>
              </a:tr>
              <a:tr h="6578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dirty="0" sz="1150" spc="-45">
                          <a:solidFill>
                            <a:srgbClr val="0F2339"/>
                          </a:solidFill>
                          <a:latin typeface="Arial Black"/>
                          <a:cs typeface="Arial Black"/>
                        </a:rPr>
                        <a:t>Primary</a:t>
                      </a:r>
                      <a:r>
                        <a:rPr dirty="0" sz="1150" spc="-65">
                          <a:solidFill>
                            <a:srgbClr val="0F2339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1150" spc="-10">
                          <a:solidFill>
                            <a:srgbClr val="0F2339"/>
                          </a:solidFill>
                          <a:latin typeface="Arial Black"/>
                          <a:cs typeface="Arial Black"/>
                        </a:rPr>
                        <a:t>separation</a:t>
                      </a:r>
                      <a:endParaRPr sz="1150">
                        <a:latin typeface="Arial Black"/>
                        <a:cs typeface="Arial Black"/>
                      </a:endParaRPr>
                    </a:p>
                  </a:txBody>
                  <a:tcPr marL="0" marR="0" marB="0" marT="73025">
                    <a:lnL w="12700">
                      <a:solidFill>
                        <a:srgbClr val="DBE4ED"/>
                      </a:solidFill>
                      <a:prstDash val="solid"/>
                    </a:lnL>
                    <a:lnR w="12700">
                      <a:solidFill>
                        <a:srgbClr val="DBE4ED"/>
                      </a:solidFill>
                      <a:prstDash val="solid"/>
                    </a:lnR>
                    <a:lnT w="12700">
                      <a:solidFill>
                        <a:srgbClr val="DBE4ED"/>
                      </a:solidFill>
                      <a:prstDash val="solid"/>
                    </a:lnT>
                    <a:lnB w="12700">
                      <a:solidFill>
                        <a:srgbClr val="DBE4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150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Fault</a:t>
                      </a:r>
                      <a:r>
                        <a:rPr dirty="0" sz="1150" spc="-35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 </a:t>
                      </a:r>
                      <a:r>
                        <a:rPr dirty="0" sz="1150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domains</a:t>
                      </a:r>
                      <a:r>
                        <a:rPr dirty="0" sz="1150" spc="-35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 </a:t>
                      </a:r>
                      <a:r>
                        <a:rPr dirty="0" sz="1150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+</a:t>
                      </a:r>
                      <a:r>
                        <a:rPr dirty="0" sz="1150" spc="-35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 </a:t>
                      </a:r>
                      <a:r>
                        <a:rPr dirty="0" sz="1150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update</a:t>
                      </a:r>
                      <a:r>
                        <a:rPr dirty="0" sz="1150" spc="-30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 </a:t>
                      </a:r>
                      <a:r>
                        <a:rPr dirty="0" sz="1150" spc="-10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domains</a:t>
                      </a:r>
                      <a:endParaRPr sz="1150">
                        <a:latin typeface="Noto Sans"/>
                        <a:cs typeface="Noto Sans"/>
                      </a:endParaRPr>
                    </a:p>
                  </a:txBody>
                  <a:tcPr marL="0" marR="0" marB="0" marT="73025">
                    <a:lnL w="12700">
                      <a:solidFill>
                        <a:srgbClr val="DBE4ED"/>
                      </a:solidFill>
                      <a:prstDash val="solid"/>
                    </a:lnL>
                    <a:lnR w="12700">
                      <a:solidFill>
                        <a:srgbClr val="DBE4ED"/>
                      </a:solidFill>
                      <a:prstDash val="solid"/>
                    </a:lnR>
                    <a:lnT w="12700">
                      <a:solidFill>
                        <a:srgbClr val="DBE4ED"/>
                      </a:solidFill>
                      <a:prstDash val="solid"/>
                    </a:lnT>
                    <a:lnB w="12700">
                      <a:solidFill>
                        <a:srgbClr val="DBE4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150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Physically</a:t>
                      </a:r>
                      <a:r>
                        <a:rPr dirty="0" sz="1150" spc="-25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 </a:t>
                      </a:r>
                      <a:r>
                        <a:rPr dirty="0" sz="1150" spc="-10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separated</a:t>
                      </a:r>
                      <a:r>
                        <a:rPr dirty="0" sz="1150" spc="-25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 </a:t>
                      </a:r>
                      <a:r>
                        <a:rPr dirty="0" sz="1150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zones</a:t>
                      </a:r>
                      <a:r>
                        <a:rPr dirty="0" sz="1150" spc="-25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 </a:t>
                      </a:r>
                      <a:r>
                        <a:rPr dirty="0" sz="1150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within</a:t>
                      </a:r>
                      <a:r>
                        <a:rPr dirty="0" sz="1150" spc="-30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 </a:t>
                      </a:r>
                      <a:r>
                        <a:rPr dirty="0" sz="1150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a</a:t>
                      </a:r>
                      <a:r>
                        <a:rPr dirty="0" sz="1150" spc="-25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 </a:t>
                      </a:r>
                      <a:r>
                        <a:rPr dirty="0" sz="1150" spc="-10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region</a:t>
                      </a:r>
                      <a:endParaRPr sz="1150">
                        <a:latin typeface="Noto Sans"/>
                        <a:cs typeface="Noto Sans"/>
                      </a:endParaRPr>
                    </a:p>
                  </a:txBody>
                  <a:tcPr marL="0" marR="0" marB="0" marT="73025">
                    <a:lnL w="12700">
                      <a:solidFill>
                        <a:srgbClr val="DBE4ED"/>
                      </a:solidFill>
                      <a:prstDash val="solid"/>
                    </a:lnL>
                    <a:lnR w="12700">
                      <a:solidFill>
                        <a:srgbClr val="DBE4ED"/>
                      </a:solidFill>
                      <a:prstDash val="solid"/>
                    </a:lnR>
                    <a:lnT w="12700">
                      <a:solidFill>
                        <a:srgbClr val="DBE4ED"/>
                      </a:solidFill>
                      <a:prstDash val="solid"/>
                    </a:lnT>
                    <a:lnB w="12700">
                      <a:solidFill>
                        <a:srgbClr val="DBE4ED"/>
                      </a:solidFill>
                      <a:prstDash val="solid"/>
                    </a:lnB>
                  </a:tcPr>
                </a:tc>
              </a:tr>
              <a:tr h="6578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dirty="0" sz="1150" spc="-100">
                          <a:solidFill>
                            <a:srgbClr val="0F2339"/>
                          </a:solidFill>
                          <a:latin typeface="Arial Black"/>
                          <a:cs typeface="Arial Black"/>
                        </a:rPr>
                        <a:t>Best</a:t>
                      </a:r>
                      <a:r>
                        <a:rPr dirty="0" sz="1150" spc="-60">
                          <a:solidFill>
                            <a:srgbClr val="0F2339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1150" spc="-25">
                          <a:solidFill>
                            <a:srgbClr val="0F2339"/>
                          </a:solidFill>
                          <a:latin typeface="Arial Black"/>
                          <a:cs typeface="Arial Black"/>
                        </a:rPr>
                        <a:t>fit</a:t>
                      </a:r>
                      <a:endParaRPr sz="1150">
                        <a:latin typeface="Arial Black"/>
                        <a:cs typeface="Arial Black"/>
                      </a:endParaRPr>
                    </a:p>
                  </a:txBody>
                  <a:tcPr marL="0" marR="0" marB="0" marT="73025">
                    <a:lnL w="12700">
                      <a:solidFill>
                        <a:srgbClr val="DBE4ED"/>
                      </a:solidFill>
                      <a:prstDash val="solid"/>
                    </a:lnL>
                    <a:lnR w="12700">
                      <a:solidFill>
                        <a:srgbClr val="DBE4ED"/>
                      </a:solidFill>
                      <a:prstDash val="solid"/>
                    </a:lnR>
                    <a:lnT w="12700">
                      <a:solidFill>
                        <a:srgbClr val="DBE4ED"/>
                      </a:solidFill>
                      <a:prstDash val="solid"/>
                    </a:lnT>
                    <a:lnB w="12700">
                      <a:solidFill>
                        <a:srgbClr val="DBE4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69720" marR="443230" indent="-1120775">
                        <a:lnSpc>
                          <a:spcPct val="100000"/>
                        </a:lnSpc>
                        <a:spcBef>
                          <a:spcPts val="1205"/>
                        </a:spcBef>
                      </a:pPr>
                      <a:r>
                        <a:rPr dirty="0" sz="1150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VMs</a:t>
                      </a:r>
                      <a:r>
                        <a:rPr dirty="0" sz="1150" spc="-15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 </a:t>
                      </a:r>
                      <a:r>
                        <a:rPr dirty="0" sz="1150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that</a:t>
                      </a:r>
                      <a:r>
                        <a:rPr dirty="0" sz="1150" spc="-15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 </a:t>
                      </a:r>
                      <a:r>
                        <a:rPr dirty="0" sz="1150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need</a:t>
                      </a:r>
                      <a:r>
                        <a:rPr dirty="0" sz="1150" spc="-15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 </a:t>
                      </a:r>
                      <a:r>
                        <a:rPr dirty="0" sz="1150" spc="-10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separation</a:t>
                      </a:r>
                      <a:r>
                        <a:rPr dirty="0" sz="1150" spc="-20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 </a:t>
                      </a:r>
                      <a:r>
                        <a:rPr dirty="0" sz="1150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within</a:t>
                      </a:r>
                      <a:r>
                        <a:rPr dirty="0" sz="1150" spc="-15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 </a:t>
                      </a:r>
                      <a:r>
                        <a:rPr dirty="0" sz="1150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a</a:t>
                      </a:r>
                      <a:r>
                        <a:rPr dirty="0" sz="1150" spc="-15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 </a:t>
                      </a:r>
                      <a:r>
                        <a:rPr dirty="0" sz="1150" spc="-10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datacentre environment</a:t>
                      </a:r>
                      <a:endParaRPr sz="1150">
                        <a:latin typeface="Noto Sans"/>
                        <a:cs typeface="Noto Sans"/>
                      </a:endParaRPr>
                    </a:p>
                  </a:txBody>
                  <a:tcPr marL="0" marR="0" marB="0" marT="153035">
                    <a:lnL w="12700">
                      <a:solidFill>
                        <a:srgbClr val="DBE4ED"/>
                      </a:solidFill>
                      <a:prstDash val="solid"/>
                    </a:lnL>
                    <a:lnR w="12700">
                      <a:solidFill>
                        <a:srgbClr val="DBE4ED"/>
                      </a:solidFill>
                      <a:prstDash val="solid"/>
                    </a:lnR>
                    <a:lnT w="12700">
                      <a:solidFill>
                        <a:srgbClr val="DBE4ED"/>
                      </a:solidFill>
                      <a:prstDash val="solid"/>
                    </a:lnT>
                    <a:lnB w="12700">
                      <a:solidFill>
                        <a:srgbClr val="DBE4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150" spc="-10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Workloads requiring datacentre-</a:t>
                      </a:r>
                      <a:r>
                        <a:rPr dirty="0" sz="1150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level</a:t>
                      </a:r>
                      <a:r>
                        <a:rPr dirty="0" sz="1150" spc="-5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 </a:t>
                      </a:r>
                      <a:r>
                        <a:rPr dirty="0" sz="1150" spc="-10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isolation</a:t>
                      </a:r>
                      <a:endParaRPr sz="1150">
                        <a:latin typeface="Noto Sans"/>
                        <a:cs typeface="Noto Sans"/>
                      </a:endParaRPr>
                    </a:p>
                  </a:txBody>
                  <a:tcPr marL="0" marR="0" marB="0" marT="73025">
                    <a:lnL w="12700">
                      <a:solidFill>
                        <a:srgbClr val="DBE4ED"/>
                      </a:solidFill>
                      <a:prstDash val="solid"/>
                    </a:lnL>
                    <a:lnR w="12700">
                      <a:solidFill>
                        <a:srgbClr val="DBE4ED"/>
                      </a:solidFill>
                      <a:prstDash val="solid"/>
                    </a:lnR>
                    <a:lnT w="12700">
                      <a:solidFill>
                        <a:srgbClr val="DBE4ED"/>
                      </a:solidFill>
                      <a:prstDash val="solid"/>
                    </a:lnT>
                    <a:lnB w="12700">
                      <a:solidFill>
                        <a:srgbClr val="DBE4ED"/>
                      </a:solidFill>
                      <a:prstDash val="solid"/>
                    </a:lnB>
                  </a:tcPr>
                </a:tc>
              </a:tr>
              <a:tr h="6578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dirty="0" sz="1150" spc="-65">
                          <a:solidFill>
                            <a:srgbClr val="0F2339"/>
                          </a:solidFill>
                          <a:latin typeface="Arial Black"/>
                          <a:cs typeface="Arial Black"/>
                        </a:rPr>
                        <a:t>Region</a:t>
                      </a:r>
                      <a:r>
                        <a:rPr dirty="0" sz="1150" spc="-70">
                          <a:solidFill>
                            <a:srgbClr val="0F2339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1150" spc="-10">
                          <a:solidFill>
                            <a:srgbClr val="0F2339"/>
                          </a:solidFill>
                          <a:latin typeface="Arial Black"/>
                          <a:cs typeface="Arial Black"/>
                        </a:rPr>
                        <a:t>outage</a:t>
                      </a:r>
                      <a:endParaRPr sz="1150">
                        <a:latin typeface="Arial Black"/>
                        <a:cs typeface="Arial Black"/>
                      </a:endParaRPr>
                    </a:p>
                  </a:txBody>
                  <a:tcPr marL="0" marR="0" marB="0" marT="73025">
                    <a:lnL w="12700">
                      <a:solidFill>
                        <a:srgbClr val="DBE4ED"/>
                      </a:solidFill>
                      <a:prstDash val="solid"/>
                    </a:lnL>
                    <a:lnR w="12700">
                      <a:solidFill>
                        <a:srgbClr val="DBE4ED"/>
                      </a:solidFill>
                      <a:prstDash val="solid"/>
                    </a:lnR>
                    <a:lnT w="12700">
                      <a:solidFill>
                        <a:srgbClr val="DBE4ED"/>
                      </a:solidFill>
                      <a:prstDash val="solid"/>
                    </a:lnT>
                    <a:lnB w="12700">
                      <a:solidFill>
                        <a:srgbClr val="DBE4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150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Does</a:t>
                      </a:r>
                      <a:r>
                        <a:rPr dirty="0" sz="1150" spc="-35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 </a:t>
                      </a:r>
                      <a:r>
                        <a:rPr dirty="0" sz="1150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not</a:t>
                      </a:r>
                      <a:r>
                        <a:rPr dirty="0" sz="1150" spc="-40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 </a:t>
                      </a:r>
                      <a:r>
                        <a:rPr dirty="0" sz="1150" spc="-10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provide</a:t>
                      </a:r>
                      <a:r>
                        <a:rPr dirty="0" sz="1150" spc="-40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 </a:t>
                      </a:r>
                      <a:r>
                        <a:rPr dirty="0" sz="1150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regional</a:t>
                      </a:r>
                      <a:r>
                        <a:rPr dirty="0" sz="1150" spc="-35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 </a:t>
                      </a:r>
                      <a:r>
                        <a:rPr dirty="0" sz="1150" spc="-25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DR</a:t>
                      </a:r>
                      <a:endParaRPr sz="1150">
                        <a:latin typeface="Noto Sans"/>
                        <a:cs typeface="Noto Sans"/>
                      </a:endParaRPr>
                    </a:p>
                  </a:txBody>
                  <a:tcPr marL="0" marR="0" marB="0" marT="73025">
                    <a:lnL w="12700">
                      <a:solidFill>
                        <a:srgbClr val="DBE4ED"/>
                      </a:solidFill>
                      <a:prstDash val="solid"/>
                    </a:lnL>
                    <a:lnR w="12700">
                      <a:solidFill>
                        <a:srgbClr val="DBE4ED"/>
                      </a:solidFill>
                      <a:prstDash val="solid"/>
                    </a:lnR>
                    <a:lnT w="12700">
                      <a:solidFill>
                        <a:srgbClr val="DBE4ED"/>
                      </a:solidFill>
                      <a:prstDash val="solid"/>
                    </a:lnT>
                    <a:lnB w="12700">
                      <a:solidFill>
                        <a:srgbClr val="DBE4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150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Does</a:t>
                      </a:r>
                      <a:r>
                        <a:rPr dirty="0" sz="1150" spc="-35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 </a:t>
                      </a:r>
                      <a:r>
                        <a:rPr dirty="0" sz="1150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not</a:t>
                      </a:r>
                      <a:r>
                        <a:rPr dirty="0" sz="1150" spc="-35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 </a:t>
                      </a:r>
                      <a:r>
                        <a:rPr dirty="0" sz="1150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alone</a:t>
                      </a:r>
                      <a:r>
                        <a:rPr dirty="0" sz="1150" spc="-30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 </a:t>
                      </a:r>
                      <a:r>
                        <a:rPr dirty="0" sz="1150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protect</a:t>
                      </a:r>
                      <a:r>
                        <a:rPr dirty="0" sz="1150" spc="-30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 </a:t>
                      </a:r>
                      <a:r>
                        <a:rPr dirty="0" sz="1150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from</a:t>
                      </a:r>
                      <a:r>
                        <a:rPr dirty="0" sz="1150" spc="-30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 </a:t>
                      </a:r>
                      <a:r>
                        <a:rPr dirty="0" sz="1150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a</a:t>
                      </a:r>
                      <a:r>
                        <a:rPr dirty="0" sz="1150" spc="-35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 </a:t>
                      </a:r>
                      <a:r>
                        <a:rPr dirty="0" sz="1150" spc="-10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full-</a:t>
                      </a:r>
                      <a:r>
                        <a:rPr dirty="0" sz="1150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region</a:t>
                      </a:r>
                      <a:r>
                        <a:rPr dirty="0" sz="1150" spc="-35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 </a:t>
                      </a:r>
                      <a:r>
                        <a:rPr dirty="0" sz="1150" spc="-10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outage</a:t>
                      </a:r>
                      <a:endParaRPr sz="1150">
                        <a:latin typeface="Noto Sans"/>
                        <a:cs typeface="Noto Sans"/>
                      </a:endParaRPr>
                    </a:p>
                  </a:txBody>
                  <a:tcPr marL="0" marR="0" marB="0" marT="73025">
                    <a:lnL w="12700">
                      <a:solidFill>
                        <a:srgbClr val="DBE4ED"/>
                      </a:solidFill>
                      <a:prstDash val="solid"/>
                    </a:lnL>
                    <a:lnR w="12700">
                      <a:solidFill>
                        <a:srgbClr val="DBE4ED"/>
                      </a:solidFill>
                      <a:prstDash val="solid"/>
                    </a:lnR>
                    <a:lnT w="12700">
                      <a:solidFill>
                        <a:srgbClr val="DBE4ED"/>
                      </a:solidFill>
                      <a:prstDash val="solid"/>
                    </a:lnT>
                    <a:lnB w="12700">
                      <a:solidFill>
                        <a:srgbClr val="DBE4ED"/>
                      </a:solidFill>
                      <a:prstDash val="solid"/>
                    </a:lnB>
                  </a:tcPr>
                </a:tc>
              </a:tr>
              <a:tr h="6578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dirty="0" sz="1150" spc="-45">
                          <a:solidFill>
                            <a:srgbClr val="0F2339"/>
                          </a:solidFill>
                          <a:latin typeface="Arial Black"/>
                          <a:cs typeface="Arial Black"/>
                        </a:rPr>
                        <a:t>Platform</a:t>
                      </a:r>
                      <a:r>
                        <a:rPr dirty="0" sz="1150" spc="-25">
                          <a:solidFill>
                            <a:srgbClr val="0F2339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1150" spc="-10">
                          <a:solidFill>
                            <a:srgbClr val="0F2339"/>
                          </a:solidFill>
                          <a:latin typeface="Arial Black"/>
                          <a:cs typeface="Arial Black"/>
                        </a:rPr>
                        <a:t>setup</a:t>
                      </a:r>
                      <a:endParaRPr sz="1150">
                        <a:latin typeface="Arial Black"/>
                        <a:cs typeface="Arial Black"/>
                      </a:endParaRPr>
                    </a:p>
                  </a:txBody>
                  <a:tcPr marL="0" marR="0" marB="0" marT="73660">
                    <a:lnL w="12700">
                      <a:solidFill>
                        <a:srgbClr val="DBE4ED"/>
                      </a:solidFill>
                      <a:prstDash val="solid"/>
                    </a:lnL>
                    <a:lnR w="12700">
                      <a:solidFill>
                        <a:srgbClr val="DBE4ED"/>
                      </a:solidFill>
                      <a:prstDash val="solid"/>
                    </a:lnR>
                    <a:lnT w="12700">
                      <a:solidFill>
                        <a:srgbClr val="DBE4ED"/>
                      </a:solidFill>
                      <a:prstDash val="solid"/>
                    </a:lnT>
                    <a:lnB w="12700">
                      <a:solidFill>
                        <a:srgbClr val="DBE4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150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Group</a:t>
                      </a:r>
                      <a:r>
                        <a:rPr dirty="0" sz="1150" spc="-35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 </a:t>
                      </a:r>
                      <a:r>
                        <a:rPr dirty="0" sz="1150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VMs</a:t>
                      </a:r>
                      <a:r>
                        <a:rPr dirty="0" sz="1150" spc="-30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 </a:t>
                      </a:r>
                      <a:r>
                        <a:rPr dirty="0" sz="1150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into</a:t>
                      </a:r>
                      <a:r>
                        <a:rPr dirty="0" sz="1150" spc="-35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 </a:t>
                      </a:r>
                      <a:r>
                        <a:rPr dirty="0" sz="1150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an</a:t>
                      </a:r>
                      <a:r>
                        <a:rPr dirty="0" sz="1150" spc="-30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 </a:t>
                      </a:r>
                      <a:r>
                        <a:rPr dirty="0" sz="1150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availability</a:t>
                      </a:r>
                      <a:r>
                        <a:rPr dirty="0" sz="1150" spc="-35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 </a:t>
                      </a:r>
                      <a:r>
                        <a:rPr dirty="0" sz="1150" spc="-25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set</a:t>
                      </a:r>
                      <a:endParaRPr sz="1150">
                        <a:latin typeface="Noto Sans"/>
                        <a:cs typeface="Noto Sans"/>
                      </a:endParaRPr>
                    </a:p>
                  </a:txBody>
                  <a:tcPr marL="0" marR="0" marB="0" marT="73660">
                    <a:lnL w="12700">
                      <a:solidFill>
                        <a:srgbClr val="DBE4ED"/>
                      </a:solidFill>
                      <a:prstDash val="solid"/>
                    </a:lnL>
                    <a:lnR w="12700">
                      <a:solidFill>
                        <a:srgbClr val="DBE4ED"/>
                      </a:solidFill>
                      <a:prstDash val="solid"/>
                    </a:lnR>
                    <a:lnT w="12700">
                      <a:solidFill>
                        <a:srgbClr val="DBE4ED"/>
                      </a:solidFill>
                      <a:prstDash val="solid"/>
                    </a:lnT>
                    <a:lnB w="12700">
                      <a:solidFill>
                        <a:srgbClr val="DBE4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150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Deploy</a:t>
                      </a:r>
                      <a:r>
                        <a:rPr dirty="0" sz="1150" spc="-40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 </a:t>
                      </a:r>
                      <a:r>
                        <a:rPr dirty="0" sz="1150" spc="-10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zone-</a:t>
                      </a:r>
                      <a:r>
                        <a:rPr dirty="0" sz="1150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supported</a:t>
                      </a:r>
                      <a:r>
                        <a:rPr dirty="0" sz="1150" spc="-40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 </a:t>
                      </a:r>
                      <a:r>
                        <a:rPr dirty="0" sz="1150" spc="-10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resources</a:t>
                      </a:r>
                      <a:r>
                        <a:rPr dirty="0" sz="1150" spc="-40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 </a:t>
                      </a:r>
                      <a:r>
                        <a:rPr dirty="0" sz="1150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into</a:t>
                      </a:r>
                      <a:r>
                        <a:rPr dirty="0" sz="1150" spc="-45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 </a:t>
                      </a:r>
                      <a:r>
                        <a:rPr dirty="0" sz="1150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different</a:t>
                      </a:r>
                      <a:r>
                        <a:rPr dirty="0" sz="1150" spc="-40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 </a:t>
                      </a:r>
                      <a:r>
                        <a:rPr dirty="0" sz="1150" spc="-10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zones</a:t>
                      </a:r>
                      <a:endParaRPr sz="1150">
                        <a:latin typeface="Noto Sans"/>
                        <a:cs typeface="Noto Sans"/>
                      </a:endParaRPr>
                    </a:p>
                  </a:txBody>
                  <a:tcPr marL="0" marR="0" marB="0" marT="73660">
                    <a:lnL w="12700">
                      <a:solidFill>
                        <a:srgbClr val="DBE4ED"/>
                      </a:solidFill>
                      <a:prstDash val="solid"/>
                    </a:lnL>
                    <a:lnR w="12700">
                      <a:solidFill>
                        <a:srgbClr val="DBE4ED"/>
                      </a:solidFill>
                      <a:prstDash val="solid"/>
                    </a:lnR>
                    <a:lnT w="12700">
                      <a:solidFill>
                        <a:srgbClr val="DBE4ED"/>
                      </a:solidFill>
                      <a:prstDash val="solid"/>
                    </a:lnT>
                    <a:lnB w="12700">
                      <a:solidFill>
                        <a:srgbClr val="DBE4ED"/>
                      </a:solidFill>
                      <a:prstDash val="solid"/>
                    </a:lnB>
                  </a:tcPr>
                </a:tc>
              </a:tr>
              <a:tr h="6578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dirty="0" sz="1150" spc="-80">
                          <a:solidFill>
                            <a:srgbClr val="0F2339"/>
                          </a:solidFill>
                          <a:latin typeface="Arial Black"/>
                          <a:cs typeface="Arial Black"/>
                        </a:rPr>
                        <a:t>Extra</a:t>
                      </a:r>
                      <a:r>
                        <a:rPr dirty="0" sz="1150" spc="-65">
                          <a:solidFill>
                            <a:srgbClr val="0F2339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1150" spc="-60">
                          <a:solidFill>
                            <a:srgbClr val="0F2339"/>
                          </a:solidFill>
                          <a:latin typeface="Arial Black"/>
                          <a:cs typeface="Arial Black"/>
                        </a:rPr>
                        <a:t>design </a:t>
                      </a:r>
                      <a:r>
                        <a:rPr dirty="0" sz="1150" spc="-10">
                          <a:solidFill>
                            <a:srgbClr val="0F2339"/>
                          </a:solidFill>
                          <a:latin typeface="Arial Black"/>
                          <a:cs typeface="Arial Black"/>
                        </a:rPr>
                        <a:t>needed</a:t>
                      </a:r>
                      <a:endParaRPr sz="1150">
                        <a:latin typeface="Arial Black"/>
                        <a:cs typeface="Arial Black"/>
                      </a:endParaRPr>
                    </a:p>
                  </a:txBody>
                  <a:tcPr marL="0" marR="0" marB="0" marT="73660">
                    <a:lnL w="12700">
                      <a:solidFill>
                        <a:srgbClr val="DBE4ED"/>
                      </a:solidFill>
                      <a:prstDash val="solid"/>
                    </a:lnL>
                    <a:lnR w="12700">
                      <a:solidFill>
                        <a:srgbClr val="DBE4ED"/>
                      </a:solidFill>
                      <a:prstDash val="solid"/>
                    </a:lnR>
                    <a:lnT w="12700">
                      <a:solidFill>
                        <a:srgbClr val="DBE4ED"/>
                      </a:solidFill>
                      <a:prstDash val="solid"/>
                    </a:lnT>
                    <a:lnB w="12700">
                      <a:solidFill>
                        <a:srgbClr val="DBE4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150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Load</a:t>
                      </a:r>
                      <a:r>
                        <a:rPr dirty="0" sz="1150" spc="-40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 </a:t>
                      </a:r>
                      <a:r>
                        <a:rPr dirty="0" sz="1150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balancing,</a:t>
                      </a:r>
                      <a:r>
                        <a:rPr dirty="0" sz="1150" spc="-35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 </a:t>
                      </a:r>
                      <a:r>
                        <a:rPr dirty="0" sz="1150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app</a:t>
                      </a:r>
                      <a:r>
                        <a:rPr dirty="0" sz="1150" spc="-35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 </a:t>
                      </a:r>
                      <a:r>
                        <a:rPr dirty="0" sz="1150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health,</a:t>
                      </a:r>
                      <a:r>
                        <a:rPr dirty="0" sz="1150" spc="-35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 </a:t>
                      </a:r>
                      <a:r>
                        <a:rPr dirty="0" sz="1150" spc="-10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backup</a:t>
                      </a:r>
                      <a:endParaRPr sz="1150">
                        <a:latin typeface="Noto Sans"/>
                        <a:cs typeface="Noto Sans"/>
                      </a:endParaRPr>
                    </a:p>
                  </a:txBody>
                  <a:tcPr marL="0" marR="0" marB="0" marT="73660">
                    <a:lnL w="12700">
                      <a:solidFill>
                        <a:srgbClr val="DBE4ED"/>
                      </a:solidFill>
                      <a:prstDash val="solid"/>
                    </a:lnL>
                    <a:lnR w="12700">
                      <a:solidFill>
                        <a:srgbClr val="DBE4ED"/>
                      </a:solidFill>
                      <a:prstDash val="solid"/>
                    </a:lnR>
                    <a:lnT w="12700">
                      <a:solidFill>
                        <a:srgbClr val="DBE4ED"/>
                      </a:solidFill>
                      <a:prstDash val="solid"/>
                    </a:lnT>
                    <a:lnB w="12700">
                      <a:solidFill>
                        <a:srgbClr val="DBE4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150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Load</a:t>
                      </a:r>
                      <a:r>
                        <a:rPr dirty="0" sz="1150" spc="-25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 </a:t>
                      </a:r>
                      <a:r>
                        <a:rPr dirty="0" sz="1150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balancing,</a:t>
                      </a:r>
                      <a:r>
                        <a:rPr dirty="0" sz="1150" spc="-25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 </a:t>
                      </a:r>
                      <a:r>
                        <a:rPr dirty="0" sz="1150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data</a:t>
                      </a:r>
                      <a:r>
                        <a:rPr dirty="0" sz="1150" spc="-20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 </a:t>
                      </a:r>
                      <a:r>
                        <a:rPr dirty="0" sz="1150" spc="-10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replication,</a:t>
                      </a:r>
                      <a:r>
                        <a:rPr dirty="0" sz="1150" spc="-20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 </a:t>
                      </a:r>
                      <a:r>
                        <a:rPr dirty="0" sz="1150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app</a:t>
                      </a:r>
                      <a:r>
                        <a:rPr dirty="0" sz="1150" spc="-20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 </a:t>
                      </a:r>
                      <a:r>
                        <a:rPr dirty="0" sz="1150" spc="-10">
                          <a:solidFill>
                            <a:srgbClr val="556478"/>
                          </a:solidFill>
                          <a:latin typeface="Noto Sans"/>
                          <a:cs typeface="Noto Sans"/>
                        </a:rPr>
                        <a:t>failover</a:t>
                      </a:r>
                      <a:endParaRPr sz="1150">
                        <a:latin typeface="Noto Sans"/>
                        <a:cs typeface="Noto Sans"/>
                      </a:endParaRPr>
                    </a:p>
                  </a:txBody>
                  <a:tcPr marL="0" marR="0" marB="0" marT="73660">
                    <a:lnL w="12700">
                      <a:solidFill>
                        <a:srgbClr val="DBE4ED"/>
                      </a:solidFill>
                      <a:prstDash val="solid"/>
                    </a:lnL>
                    <a:lnR w="12700">
                      <a:solidFill>
                        <a:srgbClr val="DBE4ED"/>
                      </a:solidFill>
                      <a:prstDash val="solid"/>
                    </a:lnR>
                    <a:lnT w="12700">
                      <a:solidFill>
                        <a:srgbClr val="DBE4ED"/>
                      </a:solidFill>
                      <a:prstDash val="solid"/>
                    </a:lnT>
                    <a:lnB w="12700">
                      <a:solidFill>
                        <a:srgbClr val="DBE4ED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16" name="object 16"/>
          <p:cNvGrpSpPr/>
          <p:nvPr/>
        </p:nvGrpSpPr>
        <p:grpSpPr>
          <a:xfrm>
            <a:off x="1045796" y="5755324"/>
            <a:ext cx="10069195" cy="394970"/>
            <a:chOff x="1045796" y="5755324"/>
            <a:chExt cx="10069195" cy="394970"/>
          </a:xfrm>
        </p:grpSpPr>
        <p:sp>
          <p:nvSpPr>
            <p:cNvPr id="17" name="object 17"/>
            <p:cNvSpPr/>
            <p:nvPr/>
          </p:nvSpPr>
          <p:spPr>
            <a:xfrm>
              <a:off x="1050836" y="5760364"/>
              <a:ext cx="10059035" cy="384810"/>
            </a:xfrm>
            <a:custGeom>
              <a:avLst/>
              <a:gdLst/>
              <a:ahLst/>
              <a:cxnLst/>
              <a:rect l="l" t="t" r="r" b="b"/>
              <a:pathLst>
                <a:path w="10059035" h="384810">
                  <a:moveTo>
                    <a:pt x="110159" y="0"/>
                  </a:moveTo>
                  <a:lnTo>
                    <a:pt x="68095" y="8352"/>
                  </a:lnTo>
                  <a:lnTo>
                    <a:pt x="32535" y="32213"/>
                  </a:lnTo>
                  <a:lnTo>
                    <a:pt x="8721" y="67882"/>
                  </a:lnTo>
                  <a:lnTo>
                    <a:pt x="368" y="109791"/>
                  </a:lnTo>
                  <a:lnTo>
                    <a:pt x="0" y="274675"/>
                  </a:lnTo>
                  <a:lnTo>
                    <a:pt x="939" y="289105"/>
                  </a:lnTo>
                  <a:lnTo>
                    <a:pt x="3736" y="303163"/>
                  </a:lnTo>
                  <a:lnTo>
                    <a:pt x="8307" y="316596"/>
                  </a:lnTo>
                  <a:lnTo>
                    <a:pt x="8358" y="316746"/>
                  </a:lnTo>
                  <a:lnTo>
                    <a:pt x="14770" y="329755"/>
                  </a:lnTo>
                  <a:lnTo>
                    <a:pt x="22686" y="341468"/>
                  </a:lnTo>
                  <a:lnTo>
                    <a:pt x="22788" y="341618"/>
                  </a:lnTo>
                  <a:lnTo>
                    <a:pt x="55079" y="369709"/>
                  </a:lnTo>
                  <a:lnTo>
                    <a:pt x="95379" y="383539"/>
                  </a:lnTo>
                  <a:lnTo>
                    <a:pt x="109804" y="384479"/>
                  </a:lnTo>
                  <a:lnTo>
                    <a:pt x="9948964" y="384479"/>
                  </a:lnTo>
                  <a:lnTo>
                    <a:pt x="9991035" y="376121"/>
                  </a:lnTo>
                  <a:lnTo>
                    <a:pt x="10026537" y="352299"/>
                  </a:lnTo>
                  <a:lnTo>
                    <a:pt x="10050334" y="316746"/>
                  </a:lnTo>
                  <a:lnTo>
                    <a:pt x="10058768" y="274675"/>
                  </a:lnTo>
                  <a:lnTo>
                    <a:pt x="10058744" y="109791"/>
                  </a:lnTo>
                  <a:lnTo>
                    <a:pt x="10050410" y="68088"/>
                  </a:lnTo>
                  <a:lnTo>
                    <a:pt x="10026543" y="32534"/>
                  </a:lnTo>
                  <a:lnTo>
                    <a:pt x="9990885" y="8708"/>
                  </a:lnTo>
                  <a:lnTo>
                    <a:pt x="994896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9F3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1050836" y="5760364"/>
              <a:ext cx="10059035" cy="384810"/>
            </a:xfrm>
            <a:custGeom>
              <a:avLst/>
              <a:gdLst/>
              <a:ahLst/>
              <a:cxnLst/>
              <a:rect l="l" t="t" r="r" b="b"/>
              <a:pathLst>
                <a:path w="10059035" h="384810">
                  <a:moveTo>
                    <a:pt x="368" y="109791"/>
                  </a:moveTo>
                  <a:lnTo>
                    <a:pt x="1307" y="95374"/>
                  </a:lnTo>
                  <a:lnTo>
                    <a:pt x="4103" y="81359"/>
                  </a:lnTo>
                  <a:lnTo>
                    <a:pt x="23138" y="43003"/>
                  </a:lnTo>
                  <a:lnTo>
                    <a:pt x="55079" y="14757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9948964" y="355"/>
                  </a:lnTo>
                  <a:lnTo>
                    <a:pt x="9990885" y="8708"/>
                  </a:lnTo>
                  <a:lnTo>
                    <a:pt x="10026543" y="32534"/>
                  </a:lnTo>
                  <a:lnTo>
                    <a:pt x="10050410" y="68088"/>
                  </a:lnTo>
                  <a:lnTo>
                    <a:pt x="10058768" y="110159"/>
                  </a:lnTo>
                  <a:lnTo>
                    <a:pt x="10058768" y="274675"/>
                  </a:lnTo>
                  <a:lnTo>
                    <a:pt x="10057828" y="289100"/>
                  </a:lnTo>
                  <a:lnTo>
                    <a:pt x="10055031" y="303118"/>
                  </a:lnTo>
                  <a:lnTo>
                    <a:pt x="10035985" y="341468"/>
                  </a:lnTo>
                  <a:lnTo>
                    <a:pt x="10004044" y="369709"/>
                  </a:lnTo>
                  <a:lnTo>
                    <a:pt x="9963394" y="383539"/>
                  </a:lnTo>
                  <a:lnTo>
                    <a:pt x="9948964" y="384479"/>
                  </a:lnTo>
                  <a:lnTo>
                    <a:pt x="109804" y="384479"/>
                  </a:lnTo>
                  <a:lnTo>
                    <a:pt x="67882" y="376121"/>
                  </a:lnTo>
                  <a:lnTo>
                    <a:pt x="32224" y="352299"/>
                  </a:lnTo>
                  <a:lnTo>
                    <a:pt x="8358" y="316746"/>
                  </a:lnTo>
                  <a:lnTo>
                    <a:pt x="0" y="274675"/>
                  </a:lnTo>
                  <a:lnTo>
                    <a:pt x="368" y="109791"/>
                  </a:lnTo>
                  <a:close/>
                </a:path>
              </a:pathLst>
            </a:custGeom>
            <a:ln w="10079">
              <a:solidFill>
                <a:srgbClr val="E9F3F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1611617" y="5852058"/>
            <a:ext cx="89344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5">
                <a:solidFill>
                  <a:srgbClr val="0077D3"/>
                </a:solidFill>
                <a:latin typeface="Arial Black"/>
                <a:cs typeface="Arial Black"/>
              </a:rPr>
              <a:t>Interview</a:t>
            </a:r>
            <a:r>
              <a:rPr dirty="0" sz="1200" spc="-165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200" spc="155">
                <a:solidFill>
                  <a:srgbClr val="0077D3"/>
                </a:solidFill>
                <a:latin typeface="Arial Black"/>
                <a:cs typeface="Arial Black"/>
              </a:rPr>
              <a:t>/</a:t>
            </a:r>
            <a:r>
              <a:rPr dirty="0" sz="1200" spc="-114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200" spc="-135">
                <a:solidFill>
                  <a:srgbClr val="0077D3"/>
                </a:solidFill>
                <a:latin typeface="Arial Black"/>
                <a:cs typeface="Arial Black"/>
              </a:rPr>
              <a:t>exam</a:t>
            </a:r>
            <a:r>
              <a:rPr dirty="0" sz="1200" spc="-175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200" spc="-85">
                <a:solidFill>
                  <a:srgbClr val="0077D3"/>
                </a:solidFill>
                <a:latin typeface="Arial Black"/>
                <a:cs typeface="Arial Black"/>
              </a:rPr>
              <a:t>tip:</a:t>
            </a:r>
            <a:r>
              <a:rPr dirty="0" sz="1200" spc="-10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200" spc="-135">
                <a:solidFill>
                  <a:srgbClr val="0077D3"/>
                </a:solidFill>
                <a:latin typeface="Arial Black"/>
                <a:cs typeface="Arial Black"/>
              </a:rPr>
              <a:t>zones</a:t>
            </a:r>
            <a:r>
              <a:rPr dirty="0" sz="1200" spc="-125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200" spc="-110">
                <a:solidFill>
                  <a:srgbClr val="0077D3"/>
                </a:solidFill>
                <a:latin typeface="Arial Black"/>
                <a:cs typeface="Arial Black"/>
              </a:rPr>
              <a:t>are</a:t>
            </a:r>
            <a:r>
              <a:rPr dirty="0" sz="1200" spc="-135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200" spc="-105">
                <a:solidFill>
                  <a:srgbClr val="0077D3"/>
                </a:solidFill>
                <a:latin typeface="Arial Black"/>
                <a:cs typeface="Arial Black"/>
              </a:rPr>
              <a:t>usually</a:t>
            </a:r>
            <a:r>
              <a:rPr dirty="0" sz="1200" spc="-13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200" spc="-90">
                <a:solidFill>
                  <a:srgbClr val="0077D3"/>
                </a:solidFill>
                <a:latin typeface="Arial Black"/>
                <a:cs typeface="Arial Black"/>
              </a:rPr>
              <a:t>the</a:t>
            </a:r>
            <a:r>
              <a:rPr dirty="0" sz="1200" spc="-13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200" spc="-105">
                <a:solidFill>
                  <a:srgbClr val="0077D3"/>
                </a:solidFill>
                <a:latin typeface="Arial Black"/>
                <a:cs typeface="Arial Black"/>
              </a:rPr>
              <a:t>stronger</a:t>
            </a:r>
            <a:r>
              <a:rPr dirty="0" sz="1200" spc="-12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200" spc="-150">
                <a:solidFill>
                  <a:srgbClr val="0077D3"/>
                </a:solidFill>
                <a:latin typeface="Arial Black"/>
                <a:cs typeface="Arial Black"/>
              </a:rPr>
              <a:t>choice</a:t>
            </a:r>
            <a:r>
              <a:rPr dirty="0" sz="1200" spc="-135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200" spc="-60">
                <a:solidFill>
                  <a:srgbClr val="0077D3"/>
                </a:solidFill>
                <a:latin typeface="Arial Black"/>
                <a:cs typeface="Arial Black"/>
              </a:rPr>
              <a:t>for</a:t>
            </a:r>
            <a:r>
              <a:rPr dirty="0" sz="1200" spc="-114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200" spc="-125">
                <a:solidFill>
                  <a:srgbClr val="0077D3"/>
                </a:solidFill>
                <a:latin typeface="Arial Black"/>
                <a:cs typeface="Arial Black"/>
              </a:rPr>
              <a:t>datacentre</a:t>
            </a:r>
            <a:r>
              <a:rPr dirty="0" sz="1200" spc="-135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200" spc="-125">
                <a:solidFill>
                  <a:srgbClr val="0077D3"/>
                </a:solidFill>
                <a:latin typeface="Arial Black"/>
                <a:cs typeface="Arial Black"/>
              </a:rPr>
              <a:t>resilience</a:t>
            </a:r>
            <a:r>
              <a:rPr dirty="0" sz="1200" spc="-135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200" spc="-120">
                <a:solidFill>
                  <a:srgbClr val="0077D3"/>
                </a:solidFill>
                <a:latin typeface="Arial Black"/>
                <a:cs typeface="Arial Black"/>
              </a:rPr>
              <a:t>when</a:t>
            </a:r>
            <a:r>
              <a:rPr dirty="0" sz="1200" spc="-14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200" spc="-90">
                <a:solidFill>
                  <a:srgbClr val="0077D3"/>
                </a:solidFill>
                <a:latin typeface="Arial Black"/>
                <a:cs typeface="Arial Black"/>
              </a:rPr>
              <a:t>the</a:t>
            </a:r>
            <a:r>
              <a:rPr dirty="0" sz="1200" spc="-125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200" spc="-135">
                <a:solidFill>
                  <a:srgbClr val="0077D3"/>
                </a:solidFill>
                <a:latin typeface="Arial Black"/>
                <a:cs typeface="Arial Black"/>
              </a:rPr>
              <a:t>service</a:t>
            </a:r>
            <a:r>
              <a:rPr dirty="0" sz="1200" spc="-14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200" spc="-95">
                <a:solidFill>
                  <a:srgbClr val="0077D3"/>
                </a:solidFill>
                <a:latin typeface="Arial Black"/>
                <a:cs typeface="Arial Black"/>
              </a:rPr>
              <a:t>and</a:t>
            </a:r>
            <a:r>
              <a:rPr dirty="0" sz="1200" spc="-14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200" spc="-95">
                <a:solidFill>
                  <a:srgbClr val="0077D3"/>
                </a:solidFill>
                <a:latin typeface="Arial Black"/>
                <a:cs typeface="Arial Black"/>
              </a:rPr>
              <a:t>region</a:t>
            </a:r>
            <a:r>
              <a:rPr dirty="0" sz="1200" spc="-14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200" spc="-105">
                <a:solidFill>
                  <a:srgbClr val="0077D3"/>
                </a:solidFill>
                <a:latin typeface="Arial Black"/>
                <a:cs typeface="Arial Black"/>
              </a:rPr>
              <a:t>support</a:t>
            </a:r>
            <a:r>
              <a:rPr dirty="0" sz="1200" spc="-12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200" spc="-10">
                <a:solidFill>
                  <a:srgbClr val="0077D3"/>
                </a:solidFill>
                <a:latin typeface="Arial Black"/>
                <a:cs typeface="Arial Black"/>
              </a:rPr>
              <a:t>them.</a:t>
            </a:r>
            <a:endParaRPr sz="1200">
              <a:latin typeface="Arial Black"/>
              <a:cs typeface="Arial Black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66635" y="6382435"/>
            <a:ext cx="11064240" cy="635"/>
          </a:xfrm>
          <a:custGeom>
            <a:avLst/>
            <a:gdLst/>
            <a:ahLst/>
            <a:cxnLst/>
            <a:rect l="l" t="t" r="r" b="b"/>
            <a:pathLst>
              <a:path w="11064240" h="635">
                <a:moveTo>
                  <a:pt x="0" y="0"/>
                </a:moveTo>
                <a:lnTo>
                  <a:pt x="11064240" y="368"/>
                </a:lnTo>
              </a:path>
            </a:pathLst>
          </a:custGeom>
          <a:ln w="8999">
            <a:solidFill>
              <a:srgbClr val="DBE4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90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 spc="-100"/>
              <a:t>DAY</a:t>
            </a:r>
            <a:r>
              <a:rPr dirty="0" spc="-55"/>
              <a:t> </a:t>
            </a:r>
            <a:r>
              <a:rPr dirty="0"/>
              <a:t>1</a:t>
            </a:r>
            <a:r>
              <a:rPr dirty="0" spc="105"/>
              <a:t> </a:t>
            </a:r>
            <a:r>
              <a:rPr dirty="0"/>
              <a:t>•</a:t>
            </a:r>
            <a:r>
              <a:rPr dirty="0" spc="130"/>
              <a:t> </a:t>
            </a:r>
            <a:r>
              <a:rPr dirty="0" spc="-70"/>
              <a:t>CLOUD</a:t>
            </a:r>
            <a:r>
              <a:rPr dirty="0" spc="-55"/>
              <a:t> </a:t>
            </a:r>
            <a:r>
              <a:rPr dirty="0" spc="-65"/>
              <a:t>FOUNDATIONS</a:t>
            </a:r>
            <a:r>
              <a:rPr dirty="0" spc="-55"/>
              <a:t> </a:t>
            </a:r>
            <a:r>
              <a:rPr dirty="0" spc="-105"/>
              <a:t>&amp;</a:t>
            </a:r>
            <a:r>
              <a:rPr dirty="0" spc="-50"/>
              <a:t> </a:t>
            </a:r>
            <a:r>
              <a:rPr dirty="0" spc="-95"/>
              <a:t>AZURE</a:t>
            </a:r>
            <a:r>
              <a:rPr dirty="0" spc="-55"/>
              <a:t> </a:t>
            </a:r>
            <a:r>
              <a:rPr dirty="0" spc="-50"/>
              <a:t>BASICS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032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160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3935" y="299427"/>
            <a:ext cx="177609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65">
                <a:solidFill>
                  <a:srgbClr val="0077D3"/>
                </a:solidFill>
                <a:latin typeface="Arial Black"/>
                <a:cs typeface="Arial Black"/>
              </a:rPr>
              <a:t>PA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25">
                <a:solidFill>
                  <a:srgbClr val="0077D3"/>
                </a:solidFill>
                <a:latin typeface="Arial Black"/>
                <a:cs typeface="Arial Black"/>
              </a:rPr>
              <a:t>R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>
                <a:solidFill>
                  <a:srgbClr val="0077D3"/>
                </a:solidFill>
                <a:latin typeface="Arial Black"/>
                <a:cs typeface="Arial Black"/>
              </a:rPr>
              <a:t>T</a:t>
            </a:r>
            <a:r>
              <a:rPr dirty="0" sz="1000" spc="-5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>
                <a:solidFill>
                  <a:srgbClr val="0077D3"/>
                </a:solidFill>
                <a:latin typeface="Arial Black"/>
                <a:cs typeface="Arial Black"/>
              </a:rPr>
              <a:t>2</a:t>
            </a:r>
            <a:r>
              <a:rPr dirty="0" sz="1000" spc="45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>
                <a:solidFill>
                  <a:srgbClr val="0077D3"/>
                </a:solidFill>
                <a:latin typeface="Arial Black"/>
                <a:cs typeface="Arial Black"/>
              </a:rPr>
              <a:t>•</a:t>
            </a:r>
            <a:r>
              <a:rPr dirty="0" sz="1000" spc="12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95">
                <a:solidFill>
                  <a:srgbClr val="0077D3"/>
                </a:solidFill>
                <a:latin typeface="Arial Black"/>
                <a:cs typeface="Arial Black"/>
              </a:rPr>
              <a:t>A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60">
                <a:solidFill>
                  <a:srgbClr val="0077D3"/>
                </a:solidFill>
                <a:latin typeface="Arial Black"/>
                <a:cs typeface="Arial Black"/>
              </a:rPr>
              <a:t>Z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90">
                <a:solidFill>
                  <a:srgbClr val="0077D3"/>
                </a:solidFill>
                <a:latin typeface="Arial Black"/>
                <a:cs typeface="Arial Black"/>
              </a:rPr>
              <a:t>U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25">
                <a:solidFill>
                  <a:srgbClr val="0077D3"/>
                </a:solidFill>
                <a:latin typeface="Arial Black"/>
                <a:cs typeface="Arial Black"/>
              </a:rPr>
              <a:t>R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>
                <a:solidFill>
                  <a:srgbClr val="0077D3"/>
                </a:solidFill>
                <a:latin typeface="Arial Black"/>
                <a:cs typeface="Arial Black"/>
              </a:rPr>
              <a:t>E</a:t>
            </a:r>
            <a:r>
              <a:rPr dirty="0" sz="1000" spc="114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14">
                <a:solidFill>
                  <a:srgbClr val="0077D3"/>
                </a:solidFill>
                <a:latin typeface="Arial Black"/>
                <a:cs typeface="Arial Black"/>
              </a:rPr>
              <a:t>B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95">
                <a:solidFill>
                  <a:srgbClr val="0077D3"/>
                </a:solidFill>
                <a:latin typeface="Arial Black"/>
                <a:cs typeface="Arial Black"/>
              </a:rPr>
              <a:t>A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80">
                <a:solidFill>
                  <a:srgbClr val="0077D3"/>
                </a:solidFill>
                <a:latin typeface="Arial Black"/>
                <a:cs typeface="Arial Black"/>
              </a:rPr>
              <a:t>S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>
                <a:solidFill>
                  <a:srgbClr val="0077D3"/>
                </a:solidFill>
                <a:latin typeface="Arial Black"/>
                <a:cs typeface="Arial Black"/>
              </a:rPr>
              <a:t>I</a:t>
            </a:r>
            <a:r>
              <a:rPr dirty="0" sz="1000" spc="-204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45">
                <a:solidFill>
                  <a:srgbClr val="0077D3"/>
                </a:solidFill>
                <a:latin typeface="Arial Black"/>
                <a:cs typeface="Arial Black"/>
              </a:rPr>
              <a:t>C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10">
                <a:solidFill>
                  <a:srgbClr val="0077D3"/>
                </a:solidFill>
                <a:latin typeface="Arial Black"/>
                <a:cs typeface="Arial Black"/>
              </a:rPr>
              <a:t>S</a:t>
            </a:r>
            <a:endParaRPr sz="1000">
              <a:latin typeface="Arial Black"/>
              <a:cs typeface="Arial Black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54304" y="428977"/>
            <a:ext cx="8388350" cy="814705"/>
          </a:xfrm>
          <a:prstGeom prst="rect"/>
        </p:spPr>
        <p:txBody>
          <a:bodyPr wrap="square" lIns="0" tIns="133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0"/>
              </a:spcBef>
            </a:pPr>
            <a:r>
              <a:rPr dirty="0" sz="2700" spc="-215">
                <a:solidFill>
                  <a:srgbClr val="0F2339"/>
                </a:solidFill>
              </a:rPr>
              <a:t>Choose</a:t>
            </a:r>
            <a:r>
              <a:rPr dirty="0" sz="2700" spc="-175">
                <a:solidFill>
                  <a:srgbClr val="0F2339"/>
                </a:solidFill>
              </a:rPr>
              <a:t> </a:t>
            </a:r>
            <a:r>
              <a:rPr dirty="0" sz="2700" spc="-95">
                <a:solidFill>
                  <a:srgbClr val="0F2339"/>
                </a:solidFill>
              </a:rPr>
              <a:t>the</a:t>
            </a:r>
            <a:r>
              <a:rPr dirty="0" sz="2700" spc="-165">
                <a:solidFill>
                  <a:srgbClr val="0F2339"/>
                </a:solidFill>
              </a:rPr>
              <a:t> </a:t>
            </a:r>
            <a:r>
              <a:rPr dirty="0" sz="2700" spc="-175">
                <a:solidFill>
                  <a:srgbClr val="0F2339"/>
                </a:solidFill>
              </a:rPr>
              <a:t>resilience</a:t>
            </a:r>
            <a:r>
              <a:rPr dirty="0" sz="2700" spc="-170">
                <a:solidFill>
                  <a:srgbClr val="0F2339"/>
                </a:solidFill>
              </a:rPr>
              <a:t> </a:t>
            </a:r>
            <a:r>
              <a:rPr dirty="0" sz="2700" spc="-95">
                <a:solidFill>
                  <a:srgbClr val="0F2339"/>
                </a:solidFill>
              </a:rPr>
              <a:t>pattern:</a:t>
            </a:r>
            <a:r>
              <a:rPr dirty="0" sz="2700" spc="-175">
                <a:solidFill>
                  <a:srgbClr val="0F2339"/>
                </a:solidFill>
              </a:rPr>
              <a:t> </a:t>
            </a:r>
            <a:r>
              <a:rPr dirty="0" sz="2700" spc="-155">
                <a:solidFill>
                  <a:srgbClr val="0F2339"/>
                </a:solidFill>
              </a:rPr>
              <a:t>quick</a:t>
            </a:r>
            <a:r>
              <a:rPr dirty="0" sz="2700" spc="-170">
                <a:solidFill>
                  <a:srgbClr val="0F2339"/>
                </a:solidFill>
              </a:rPr>
              <a:t> </a:t>
            </a:r>
            <a:r>
              <a:rPr dirty="0" sz="2700" spc="-150">
                <a:solidFill>
                  <a:srgbClr val="0F2339"/>
                </a:solidFill>
              </a:rPr>
              <a:t>design</a:t>
            </a:r>
            <a:r>
              <a:rPr dirty="0" sz="2700" spc="-165">
                <a:solidFill>
                  <a:srgbClr val="0F2339"/>
                </a:solidFill>
              </a:rPr>
              <a:t> </a:t>
            </a:r>
            <a:r>
              <a:rPr dirty="0" sz="2700" spc="-120">
                <a:solidFill>
                  <a:srgbClr val="0F2339"/>
                </a:solidFill>
              </a:rPr>
              <a:t>clinic</a:t>
            </a:r>
            <a:endParaRPr sz="2700"/>
          </a:p>
          <a:p>
            <a:pPr marL="30480">
              <a:lnSpc>
                <a:spcPct val="100000"/>
              </a:lnSpc>
              <a:spcBef>
                <a:spcPts val="459"/>
              </a:spcBef>
            </a:pP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Match</a:t>
            </a:r>
            <a:r>
              <a:rPr dirty="0" sz="13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the</a:t>
            </a:r>
            <a:r>
              <a:rPr dirty="0" sz="13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pattern</a:t>
            </a:r>
            <a:r>
              <a:rPr dirty="0" sz="13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to</a:t>
            </a:r>
            <a:r>
              <a:rPr dirty="0" sz="13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the</a:t>
            </a:r>
            <a:r>
              <a:rPr dirty="0" sz="13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failure</a:t>
            </a:r>
            <a:r>
              <a:rPr dirty="0" sz="13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you</a:t>
            </a:r>
            <a:r>
              <a:rPr dirty="0" sz="13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want</a:t>
            </a:r>
            <a:r>
              <a:rPr dirty="0" sz="13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to</a:t>
            </a:r>
            <a:r>
              <a:rPr dirty="0" sz="13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tolerate.</a:t>
            </a:r>
            <a:endParaRPr sz="1300">
              <a:latin typeface="Noto Sans"/>
              <a:cs typeface="Noto San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66635" y="1417319"/>
            <a:ext cx="11064240" cy="635"/>
          </a:xfrm>
          <a:custGeom>
            <a:avLst/>
            <a:gdLst/>
            <a:ahLst/>
            <a:cxnLst/>
            <a:rect l="l" t="t" r="r" b="b"/>
            <a:pathLst>
              <a:path w="11064240" h="634">
                <a:moveTo>
                  <a:pt x="0" y="0"/>
                </a:moveTo>
                <a:lnTo>
                  <a:pt x="11064240" y="355"/>
                </a:lnTo>
              </a:path>
            </a:pathLst>
          </a:custGeom>
          <a:ln w="10079">
            <a:solidFill>
              <a:srgbClr val="DBE4ED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6" name="object 6"/>
          <p:cNvGrpSpPr/>
          <p:nvPr/>
        </p:nvGrpSpPr>
        <p:grpSpPr>
          <a:xfrm>
            <a:off x="864544" y="1778944"/>
            <a:ext cx="400685" cy="400685"/>
            <a:chOff x="864544" y="1778944"/>
            <a:chExt cx="400685" cy="400685"/>
          </a:xfrm>
        </p:grpSpPr>
        <p:sp>
          <p:nvSpPr>
            <p:cNvPr id="7" name="object 7"/>
            <p:cNvSpPr/>
            <p:nvPr/>
          </p:nvSpPr>
          <p:spPr>
            <a:xfrm>
              <a:off x="868324" y="1782724"/>
              <a:ext cx="393700" cy="393700"/>
            </a:xfrm>
            <a:custGeom>
              <a:avLst/>
              <a:gdLst/>
              <a:ahLst/>
              <a:cxnLst/>
              <a:rect l="l" t="t" r="r" b="b"/>
              <a:pathLst>
                <a:path w="393700" h="393700">
                  <a:moveTo>
                    <a:pt x="196557" y="0"/>
                  </a:moveTo>
                  <a:lnTo>
                    <a:pt x="145662" y="6656"/>
                  </a:lnTo>
                  <a:lnTo>
                    <a:pt x="98272" y="26276"/>
                  </a:lnTo>
                  <a:lnTo>
                    <a:pt x="57550" y="57550"/>
                  </a:lnTo>
                  <a:lnTo>
                    <a:pt x="26276" y="98272"/>
                  </a:lnTo>
                  <a:lnTo>
                    <a:pt x="6656" y="145662"/>
                  </a:lnTo>
                  <a:lnTo>
                    <a:pt x="0" y="196557"/>
                  </a:lnTo>
                  <a:lnTo>
                    <a:pt x="1675" y="222291"/>
                  </a:lnTo>
                  <a:lnTo>
                    <a:pt x="14878" y="271733"/>
                  </a:lnTo>
                  <a:lnTo>
                    <a:pt x="40615" y="316258"/>
                  </a:lnTo>
                  <a:lnTo>
                    <a:pt x="76846" y="352498"/>
                  </a:lnTo>
                  <a:lnTo>
                    <a:pt x="121377" y="378231"/>
                  </a:lnTo>
                  <a:lnTo>
                    <a:pt x="170824" y="391439"/>
                  </a:lnTo>
                  <a:lnTo>
                    <a:pt x="196557" y="393115"/>
                  </a:lnTo>
                  <a:lnTo>
                    <a:pt x="222291" y="391439"/>
                  </a:lnTo>
                  <a:lnTo>
                    <a:pt x="271733" y="378231"/>
                  </a:lnTo>
                  <a:lnTo>
                    <a:pt x="316258" y="352498"/>
                  </a:lnTo>
                  <a:lnTo>
                    <a:pt x="352498" y="316258"/>
                  </a:lnTo>
                  <a:lnTo>
                    <a:pt x="378231" y="271733"/>
                  </a:lnTo>
                  <a:lnTo>
                    <a:pt x="391439" y="222291"/>
                  </a:lnTo>
                  <a:lnTo>
                    <a:pt x="393115" y="196557"/>
                  </a:lnTo>
                  <a:lnTo>
                    <a:pt x="391439" y="170824"/>
                  </a:lnTo>
                  <a:lnTo>
                    <a:pt x="378231" y="121377"/>
                  </a:lnTo>
                  <a:lnTo>
                    <a:pt x="352498" y="76846"/>
                  </a:lnTo>
                  <a:lnTo>
                    <a:pt x="316258" y="40615"/>
                  </a:lnTo>
                  <a:lnTo>
                    <a:pt x="271733" y="14878"/>
                  </a:lnTo>
                  <a:lnTo>
                    <a:pt x="222291" y="1675"/>
                  </a:lnTo>
                  <a:lnTo>
                    <a:pt x="196557" y="0"/>
                  </a:lnTo>
                  <a:close/>
                </a:path>
              </a:pathLst>
            </a:custGeom>
            <a:solidFill>
              <a:srgbClr val="55647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868324" y="1782724"/>
              <a:ext cx="393700" cy="393700"/>
            </a:xfrm>
            <a:custGeom>
              <a:avLst/>
              <a:gdLst/>
              <a:ahLst/>
              <a:cxnLst/>
              <a:rect l="l" t="t" r="r" b="b"/>
              <a:pathLst>
                <a:path w="393700" h="393700">
                  <a:moveTo>
                    <a:pt x="0" y="196557"/>
                  </a:moveTo>
                  <a:lnTo>
                    <a:pt x="1675" y="170824"/>
                  </a:lnTo>
                  <a:lnTo>
                    <a:pt x="6656" y="145662"/>
                  </a:lnTo>
                  <a:lnTo>
                    <a:pt x="26276" y="98272"/>
                  </a:lnTo>
                  <a:lnTo>
                    <a:pt x="57550" y="57550"/>
                  </a:lnTo>
                  <a:lnTo>
                    <a:pt x="98272" y="26276"/>
                  </a:lnTo>
                  <a:lnTo>
                    <a:pt x="145662" y="6656"/>
                  </a:lnTo>
                  <a:lnTo>
                    <a:pt x="196557" y="0"/>
                  </a:lnTo>
                  <a:lnTo>
                    <a:pt x="247451" y="6656"/>
                  </a:lnTo>
                  <a:lnTo>
                    <a:pt x="294830" y="26276"/>
                  </a:lnTo>
                  <a:lnTo>
                    <a:pt x="335559" y="57550"/>
                  </a:lnTo>
                  <a:lnTo>
                    <a:pt x="366839" y="98272"/>
                  </a:lnTo>
                  <a:lnTo>
                    <a:pt x="386454" y="145662"/>
                  </a:lnTo>
                  <a:lnTo>
                    <a:pt x="393115" y="196557"/>
                  </a:lnTo>
                  <a:lnTo>
                    <a:pt x="391439" y="222291"/>
                  </a:lnTo>
                  <a:lnTo>
                    <a:pt x="386454" y="247451"/>
                  </a:lnTo>
                  <a:lnTo>
                    <a:pt x="366839" y="294830"/>
                  </a:lnTo>
                  <a:lnTo>
                    <a:pt x="335559" y="335559"/>
                  </a:lnTo>
                  <a:lnTo>
                    <a:pt x="294830" y="366839"/>
                  </a:lnTo>
                  <a:lnTo>
                    <a:pt x="247451" y="386454"/>
                  </a:lnTo>
                  <a:lnTo>
                    <a:pt x="196557" y="393115"/>
                  </a:lnTo>
                  <a:lnTo>
                    <a:pt x="145662" y="386454"/>
                  </a:lnTo>
                  <a:lnTo>
                    <a:pt x="98272" y="366839"/>
                  </a:lnTo>
                  <a:lnTo>
                    <a:pt x="57550" y="335559"/>
                  </a:lnTo>
                  <a:lnTo>
                    <a:pt x="26276" y="294830"/>
                  </a:lnTo>
                  <a:lnTo>
                    <a:pt x="6656" y="247451"/>
                  </a:lnTo>
                  <a:lnTo>
                    <a:pt x="1675" y="222291"/>
                  </a:lnTo>
                  <a:lnTo>
                    <a:pt x="0" y="196557"/>
                  </a:lnTo>
                  <a:close/>
                </a:path>
              </a:pathLst>
            </a:custGeom>
            <a:ln w="7559">
              <a:solidFill>
                <a:srgbClr val="55647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1404264" y="1723936"/>
            <a:ext cx="3467100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65">
                <a:solidFill>
                  <a:srgbClr val="0F2339"/>
                </a:solidFill>
                <a:latin typeface="Arial Black"/>
                <a:cs typeface="Arial Black"/>
              </a:rPr>
              <a:t>Development</a:t>
            </a:r>
            <a:r>
              <a:rPr dirty="0" sz="1300" spc="-7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300" spc="-90">
                <a:solidFill>
                  <a:srgbClr val="0F2339"/>
                </a:solidFill>
                <a:latin typeface="Arial Black"/>
                <a:cs typeface="Arial Black"/>
              </a:rPr>
              <a:t>VM;</a:t>
            </a:r>
            <a:r>
              <a:rPr dirty="0" sz="1300" spc="-7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300" spc="-65">
                <a:solidFill>
                  <a:srgbClr val="0F2339"/>
                </a:solidFill>
                <a:latin typeface="Arial Black"/>
                <a:cs typeface="Arial Black"/>
              </a:rPr>
              <a:t>downtime</a:t>
            </a:r>
            <a:r>
              <a:rPr dirty="0" sz="1300" spc="-7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300" spc="-100">
                <a:solidFill>
                  <a:srgbClr val="0F2339"/>
                </a:solidFill>
                <a:latin typeface="Arial Black"/>
                <a:cs typeface="Arial Black"/>
              </a:rPr>
              <a:t>is</a:t>
            </a:r>
            <a:r>
              <a:rPr dirty="0" sz="1300" spc="-7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300" spc="-80">
                <a:solidFill>
                  <a:srgbClr val="0F2339"/>
                </a:solidFill>
                <a:latin typeface="Arial Black"/>
                <a:cs typeface="Arial Black"/>
              </a:rPr>
              <a:t>acceptable</a:t>
            </a:r>
            <a:endParaRPr sz="1300">
              <a:latin typeface="Arial Black"/>
              <a:cs typeface="Arial Black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790040" y="1723936"/>
            <a:ext cx="2355215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18490" algn="l"/>
                <a:tab pos="753110" algn="l"/>
              </a:tabLst>
            </a:pPr>
            <a:r>
              <a:rPr dirty="0" u="heavy" sz="1300">
                <a:solidFill>
                  <a:srgbClr val="0C9387"/>
                </a:solidFill>
                <a:uFill>
                  <a:solidFill>
                    <a:srgbClr val="0077D3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sz="1300">
                <a:solidFill>
                  <a:srgbClr val="0C9387"/>
                </a:solidFill>
                <a:latin typeface="Times New Roman"/>
                <a:cs typeface="Times New Roman"/>
              </a:rPr>
              <a:t>	</a:t>
            </a:r>
            <a:r>
              <a:rPr dirty="0" sz="1300" spc="-85">
                <a:solidFill>
                  <a:srgbClr val="0C9387"/>
                </a:solidFill>
                <a:latin typeface="Arial Black"/>
                <a:cs typeface="Arial Black"/>
              </a:rPr>
              <a:t>Single </a:t>
            </a:r>
            <a:r>
              <a:rPr dirty="0" sz="1300" spc="-95">
                <a:solidFill>
                  <a:srgbClr val="0C9387"/>
                </a:solidFill>
                <a:latin typeface="Arial Black"/>
                <a:cs typeface="Arial Black"/>
              </a:rPr>
              <a:t>VM</a:t>
            </a:r>
            <a:r>
              <a:rPr dirty="0" sz="1300" spc="-90">
                <a:solidFill>
                  <a:srgbClr val="0C9387"/>
                </a:solidFill>
                <a:latin typeface="Arial Black"/>
                <a:cs typeface="Arial Black"/>
              </a:rPr>
              <a:t> </a:t>
            </a:r>
            <a:r>
              <a:rPr dirty="0" sz="1300" spc="-130">
                <a:solidFill>
                  <a:srgbClr val="0C9387"/>
                </a:solidFill>
                <a:latin typeface="Arial Black"/>
                <a:cs typeface="Arial Black"/>
              </a:rPr>
              <a:t>+</a:t>
            </a:r>
            <a:r>
              <a:rPr dirty="0" sz="1300" spc="-85">
                <a:solidFill>
                  <a:srgbClr val="0C9387"/>
                </a:solidFill>
                <a:latin typeface="Arial Black"/>
                <a:cs typeface="Arial Black"/>
              </a:rPr>
              <a:t> </a:t>
            </a:r>
            <a:r>
              <a:rPr dirty="0" sz="1300" spc="-65">
                <a:solidFill>
                  <a:srgbClr val="0C9387"/>
                </a:solidFill>
                <a:latin typeface="Arial Black"/>
                <a:cs typeface="Arial Black"/>
              </a:rPr>
              <a:t>backup</a:t>
            </a:r>
            <a:endParaRPr sz="1300">
              <a:latin typeface="Arial Black"/>
              <a:cs typeface="Arial Black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95654" y="1835175"/>
            <a:ext cx="139700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70">
                <a:solidFill>
                  <a:srgbClr val="FFFFFF"/>
                </a:solidFill>
                <a:latin typeface="Arial Black"/>
                <a:cs typeface="Arial Black"/>
              </a:rPr>
              <a:t>A</a:t>
            </a:r>
            <a:endParaRPr sz="1300">
              <a:latin typeface="Arial Black"/>
              <a:cs typeface="Arial Black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864544" y="2739064"/>
            <a:ext cx="400685" cy="400685"/>
            <a:chOff x="864544" y="2739064"/>
            <a:chExt cx="400685" cy="400685"/>
          </a:xfrm>
        </p:grpSpPr>
        <p:sp>
          <p:nvSpPr>
            <p:cNvPr id="13" name="object 13"/>
            <p:cNvSpPr/>
            <p:nvPr/>
          </p:nvSpPr>
          <p:spPr>
            <a:xfrm>
              <a:off x="868324" y="2742844"/>
              <a:ext cx="393700" cy="393700"/>
            </a:xfrm>
            <a:custGeom>
              <a:avLst/>
              <a:gdLst/>
              <a:ahLst/>
              <a:cxnLst/>
              <a:rect l="l" t="t" r="r" b="b"/>
              <a:pathLst>
                <a:path w="393700" h="393700">
                  <a:moveTo>
                    <a:pt x="196557" y="0"/>
                  </a:moveTo>
                  <a:lnTo>
                    <a:pt x="145662" y="6656"/>
                  </a:lnTo>
                  <a:lnTo>
                    <a:pt x="98272" y="26276"/>
                  </a:lnTo>
                  <a:lnTo>
                    <a:pt x="57550" y="57550"/>
                  </a:lnTo>
                  <a:lnTo>
                    <a:pt x="26276" y="98272"/>
                  </a:lnTo>
                  <a:lnTo>
                    <a:pt x="6656" y="145662"/>
                  </a:lnTo>
                  <a:lnTo>
                    <a:pt x="0" y="196557"/>
                  </a:lnTo>
                  <a:lnTo>
                    <a:pt x="1675" y="222291"/>
                  </a:lnTo>
                  <a:lnTo>
                    <a:pt x="14878" y="271733"/>
                  </a:lnTo>
                  <a:lnTo>
                    <a:pt x="40615" y="316258"/>
                  </a:lnTo>
                  <a:lnTo>
                    <a:pt x="76846" y="352498"/>
                  </a:lnTo>
                  <a:lnTo>
                    <a:pt x="121377" y="378231"/>
                  </a:lnTo>
                  <a:lnTo>
                    <a:pt x="170824" y="391439"/>
                  </a:lnTo>
                  <a:lnTo>
                    <a:pt x="196557" y="393115"/>
                  </a:lnTo>
                  <a:lnTo>
                    <a:pt x="222291" y="391439"/>
                  </a:lnTo>
                  <a:lnTo>
                    <a:pt x="271733" y="378231"/>
                  </a:lnTo>
                  <a:lnTo>
                    <a:pt x="316258" y="352498"/>
                  </a:lnTo>
                  <a:lnTo>
                    <a:pt x="352498" y="316258"/>
                  </a:lnTo>
                  <a:lnTo>
                    <a:pt x="378231" y="271733"/>
                  </a:lnTo>
                  <a:lnTo>
                    <a:pt x="391439" y="222291"/>
                  </a:lnTo>
                  <a:lnTo>
                    <a:pt x="393115" y="196557"/>
                  </a:lnTo>
                  <a:lnTo>
                    <a:pt x="391439" y="170824"/>
                  </a:lnTo>
                  <a:lnTo>
                    <a:pt x="378231" y="121377"/>
                  </a:lnTo>
                  <a:lnTo>
                    <a:pt x="352498" y="76846"/>
                  </a:lnTo>
                  <a:lnTo>
                    <a:pt x="316258" y="40615"/>
                  </a:lnTo>
                  <a:lnTo>
                    <a:pt x="271733" y="14878"/>
                  </a:lnTo>
                  <a:lnTo>
                    <a:pt x="222291" y="1675"/>
                  </a:lnTo>
                  <a:lnTo>
                    <a:pt x="196557" y="0"/>
                  </a:lnTo>
                  <a:close/>
                </a:path>
              </a:pathLst>
            </a:custGeom>
            <a:solidFill>
              <a:srgbClr val="0077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868324" y="2742844"/>
              <a:ext cx="393700" cy="393700"/>
            </a:xfrm>
            <a:custGeom>
              <a:avLst/>
              <a:gdLst/>
              <a:ahLst/>
              <a:cxnLst/>
              <a:rect l="l" t="t" r="r" b="b"/>
              <a:pathLst>
                <a:path w="393700" h="393700">
                  <a:moveTo>
                    <a:pt x="0" y="196557"/>
                  </a:moveTo>
                  <a:lnTo>
                    <a:pt x="1675" y="170824"/>
                  </a:lnTo>
                  <a:lnTo>
                    <a:pt x="6656" y="145662"/>
                  </a:lnTo>
                  <a:lnTo>
                    <a:pt x="26276" y="98272"/>
                  </a:lnTo>
                  <a:lnTo>
                    <a:pt x="57550" y="57550"/>
                  </a:lnTo>
                  <a:lnTo>
                    <a:pt x="98272" y="26276"/>
                  </a:lnTo>
                  <a:lnTo>
                    <a:pt x="145662" y="6656"/>
                  </a:lnTo>
                  <a:lnTo>
                    <a:pt x="196557" y="0"/>
                  </a:lnTo>
                  <a:lnTo>
                    <a:pt x="247451" y="6656"/>
                  </a:lnTo>
                  <a:lnTo>
                    <a:pt x="294830" y="26276"/>
                  </a:lnTo>
                  <a:lnTo>
                    <a:pt x="335559" y="57550"/>
                  </a:lnTo>
                  <a:lnTo>
                    <a:pt x="366839" y="98272"/>
                  </a:lnTo>
                  <a:lnTo>
                    <a:pt x="386454" y="145662"/>
                  </a:lnTo>
                  <a:lnTo>
                    <a:pt x="393115" y="196557"/>
                  </a:lnTo>
                  <a:lnTo>
                    <a:pt x="391439" y="222291"/>
                  </a:lnTo>
                  <a:lnTo>
                    <a:pt x="386454" y="247451"/>
                  </a:lnTo>
                  <a:lnTo>
                    <a:pt x="366839" y="294830"/>
                  </a:lnTo>
                  <a:lnTo>
                    <a:pt x="335559" y="335559"/>
                  </a:lnTo>
                  <a:lnTo>
                    <a:pt x="294830" y="366839"/>
                  </a:lnTo>
                  <a:lnTo>
                    <a:pt x="247451" y="386454"/>
                  </a:lnTo>
                  <a:lnTo>
                    <a:pt x="196557" y="393115"/>
                  </a:lnTo>
                  <a:lnTo>
                    <a:pt x="145662" y="386454"/>
                  </a:lnTo>
                  <a:lnTo>
                    <a:pt x="98272" y="366839"/>
                  </a:lnTo>
                  <a:lnTo>
                    <a:pt x="57550" y="335559"/>
                  </a:lnTo>
                  <a:lnTo>
                    <a:pt x="26276" y="294830"/>
                  </a:lnTo>
                  <a:lnTo>
                    <a:pt x="6656" y="247451"/>
                  </a:lnTo>
                  <a:lnTo>
                    <a:pt x="1675" y="222291"/>
                  </a:lnTo>
                  <a:lnTo>
                    <a:pt x="0" y="196557"/>
                  </a:lnTo>
                  <a:close/>
                </a:path>
              </a:pathLst>
            </a:custGeom>
            <a:ln w="7559">
              <a:solidFill>
                <a:srgbClr val="0077D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1404264" y="2684056"/>
            <a:ext cx="4418965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140">
                <a:solidFill>
                  <a:srgbClr val="0F2339"/>
                </a:solidFill>
                <a:latin typeface="Arial Black"/>
                <a:cs typeface="Arial Black"/>
              </a:rPr>
              <a:t>Two</a:t>
            </a:r>
            <a:r>
              <a:rPr dirty="0" sz="1300" spc="-8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300" spc="-120">
                <a:solidFill>
                  <a:srgbClr val="0F2339"/>
                </a:solidFill>
                <a:latin typeface="Arial Black"/>
                <a:cs typeface="Arial Black"/>
              </a:rPr>
              <a:t>VMs</a:t>
            </a:r>
            <a:r>
              <a:rPr dirty="0" sz="1300" spc="-7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300" spc="-60">
                <a:solidFill>
                  <a:srgbClr val="0F2339"/>
                </a:solidFill>
                <a:latin typeface="Arial Black"/>
                <a:cs typeface="Arial Black"/>
              </a:rPr>
              <a:t>must</a:t>
            </a:r>
            <a:r>
              <a:rPr dirty="0" sz="1300" spc="-7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300" spc="-35">
                <a:solidFill>
                  <a:srgbClr val="0F2339"/>
                </a:solidFill>
                <a:latin typeface="Arial Black"/>
                <a:cs typeface="Arial Black"/>
              </a:rPr>
              <a:t>not</a:t>
            </a:r>
            <a:r>
              <a:rPr dirty="0" sz="1300" spc="-7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300" spc="-80">
                <a:solidFill>
                  <a:srgbClr val="0F2339"/>
                </a:solidFill>
                <a:latin typeface="Arial Black"/>
                <a:cs typeface="Arial Black"/>
              </a:rPr>
              <a:t>share</a:t>
            </a:r>
            <a:r>
              <a:rPr dirty="0" sz="1300" spc="-7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300" spc="-85">
                <a:solidFill>
                  <a:srgbClr val="0F2339"/>
                </a:solidFill>
                <a:latin typeface="Arial Black"/>
                <a:cs typeface="Arial Black"/>
              </a:rPr>
              <a:t>a</a:t>
            </a:r>
            <a:r>
              <a:rPr dirty="0" sz="1300" spc="-7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300" spc="-60">
                <a:solidFill>
                  <a:srgbClr val="0F2339"/>
                </a:solidFill>
                <a:latin typeface="Arial Black"/>
                <a:cs typeface="Arial Black"/>
              </a:rPr>
              <a:t>rack/power</a:t>
            </a:r>
            <a:r>
              <a:rPr dirty="0" sz="1300" spc="-8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300" spc="-50">
                <a:solidFill>
                  <a:srgbClr val="0F2339"/>
                </a:solidFill>
                <a:latin typeface="Arial Black"/>
                <a:cs typeface="Arial Black"/>
              </a:rPr>
              <a:t>failure</a:t>
            </a:r>
            <a:r>
              <a:rPr dirty="0" sz="1300" spc="-7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300" spc="-10">
                <a:solidFill>
                  <a:srgbClr val="0F2339"/>
                </a:solidFill>
                <a:latin typeface="Arial Black"/>
                <a:cs typeface="Arial Black"/>
              </a:rPr>
              <a:t>domain</a:t>
            </a:r>
            <a:endParaRPr sz="1300">
              <a:latin typeface="Arial Black"/>
              <a:cs typeface="Arial Black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790040" y="2684056"/>
            <a:ext cx="3383279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18490" algn="l"/>
                <a:tab pos="753110" algn="l"/>
              </a:tabLst>
            </a:pPr>
            <a:r>
              <a:rPr dirty="0" u="heavy" sz="1300">
                <a:solidFill>
                  <a:srgbClr val="0F2339"/>
                </a:solidFill>
                <a:uFill>
                  <a:solidFill>
                    <a:srgbClr val="0077D3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sz="1300">
                <a:solidFill>
                  <a:srgbClr val="0F2339"/>
                </a:solidFill>
                <a:latin typeface="Times New Roman"/>
                <a:cs typeface="Times New Roman"/>
              </a:rPr>
              <a:t>	</a:t>
            </a:r>
            <a:r>
              <a:rPr dirty="0" sz="1300" spc="-65">
                <a:solidFill>
                  <a:srgbClr val="0C9387"/>
                </a:solidFill>
                <a:latin typeface="Arial Black"/>
                <a:cs typeface="Arial Black"/>
              </a:rPr>
              <a:t>Availability</a:t>
            </a:r>
            <a:r>
              <a:rPr dirty="0" sz="1300" spc="-75">
                <a:solidFill>
                  <a:srgbClr val="0C9387"/>
                </a:solidFill>
                <a:latin typeface="Arial Black"/>
                <a:cs typeface="Arial Black"/>
              </a:rPr>
              <a:t> </a:t>
            </a:r>
            <a:r>
              <a:rPr dirty="0" sz="1300" spc="-120">
                <a:solidFill>
                  <a:srgbClr val="0C9387"/>
                </a:solidFill>
                <a:latin typeface="Arial Black"/>
                <a:cs typeface="Arial Black"/>
              </a:rPr>
              <a:t>Set</a:t>
            </a:r>
            <a:r>
              <a:rPr dirty="0" sz="1300" spc="-75">
                <a:solidFill>
                  <a:srgbClr val="0C9387"/>
                </a:solidFill>
                <a:latin typeface="Arial Black"/>
                <a:cs typeface="Arial Black"/>
              </a:rPr>
              <a:t> </a:t>
            </a:r>
            <a:r>
              <a:rPr dirty="0" sz="1300" spc="-125">
                <a:solidFill>
                  <a:srgbClr val="0C9387"/>
                </a:solidFill>
                <a:latin typeface="Arial Black"/>
                <a:cs typeface="Arial Black"/>
              </a:rPr>
              <a:t>+</a:t>
            </a:r>
            <a:r>
              <a:rPr dirty="0" sz="1300" spc="-80">
                <a:solidFill>
                  <a:srgbClr val="0C9387"/>
                </a:solidFill>
                <a:latin typeface="Arial Black"/>
                <a:cs typeface="Arial Black"/>
              </a:rPr>
              <a:t> </a:t>
            </a:r>
            <a:r>
              <a:rPr dirty="0" sz="1300" spc="-65">
                <a:solidFill>
                  <a:srgbClr val="0C9387"/>
                </a:solidFill>
                <a:latin typeface="Arial Black"/>
                <a:cs typeface="Arial Black"/>
              </a:rPr>
              <a:t>load</a:t>
            </a:r>
            <a:r>
              <a:rPr dirty="0" sz="1300" spc="-80">
                <a:solidFill>
                  <a:srgbClr val="0C9387"/>
                </a:solidFill>
                <a:latin typeface="Arial Black"/>
                <a:cs typeface="Arial Black"/>
              </a:rPr>
              <a:t> </a:t>
            </a:r>
            <a:r>
              <a:rPr dirty="0" sz="1300" spc="-50">
                <a:solidFill>
                  <a:srgbClr val="0C9387"/>
                </a:solidFill>
                <a:latin typeface="Arial Black"/>
                <a:cs typeface="Arial Black"/>
              </a:rPr>
              <a:t>balancing</a:t>
            </a:r>
            <a:endParaRPr sz="1300">
              <a:latin typeface="Arial Black"/>
              <a:cs typeface="Arial Black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97102" y="2795295"/>
            <a:ext cx="136525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95">
                <a:solidFill>
                  <a:srgbClr val="FFFFFF"/>
                </a:solidFill>
                <a:latin typeface="Arial Black"/>
                <a:cs typeface="Arial Black"/>
              </a:rPr>
              <a:t>B</a:t>
            </a:r>
            <a:endParaRPr sz="1300">
              <a:latin typeface="Arial Black"/>
              <a:cs typeface="Arial Black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864544" y="3699184"/>
            <a:ext cx="400685" cy="400685"/>
            <a:chOff x="864544" y="3699184"/>
            <a:chExt cx="400685" cy="400685"/>
          </a:xfrm>
        </p:grpSpPr>
        <p:sp>
          <p:nvSpPr>
            <p:cNvPr id="19" name="object 19"/>
            <p:cNvSpPr/>
            <p:nvPr/>
          </p:nvSpPr>
          <p:spPr>
            <a:xfrm>
              <a:off x="868324" y="3702964"/>
              <a:ext cx="393700" cy="393700"/>
            </a:xfrm>
            <a:custGeom>
              <a:avLst/>
              <a:gdLst/>
              <a:ahLst/>
              <a:cxnLst/>
              <a:rect l="l" t="t" r="r" b="b"/>
              <a:pathLst>
                <a:path w="393700" h="393700">
                  <a:moveTo>
                    <a:pt x="196557" y="0"/>
                  </a:moveTo>
                  <a:lnTo>
                    <a:pt x="145662" y="6656"/>
                  </a:lnTo>
                  <a:lnTo>
                    <a:pt x="98272" y="26276"/>
                  </a:lnTo>
                  <a:lnTo>
                    <a:pt x="57550" y="57550"/>
                  </a:lnTo>
                  <a:lnTo>
                    <a:pt x="26276" y="98272"/>
                  </a:lnTo>
                  <a:lnTo>
                    <a:pt x="6656" y="145662"/>
                  </a:lnTo>
                  <a:lnTo>
                    <a:pt x="0" y="196557"/>
                  </a:lnTo>
                  <a:lnTo>
                    <a:pt x="1675" y="222291"/>
                  </a:lnTo>
                  <a:lnTo>
                    <a:pt x="14878" y="271733"/>
                  </a:lnTo>
                  <a:lnTo>
                    <a:pt x="40615" y="316258"/>
                  </a:lnTo>
                  <a:lnTo>
                    <a:pt x="76846" y="352498"/>
                  </a:lnTo>
                  <a:lnTo>
                    <a:pt x="121377" y="378231"/>
                  </a:lnTo>
                  <a:lnTo>
                    <a:pt x="170824" y="391439"/>
                  </a:lnTo>
                  <a:lnTo>
                    <a:pt x="196557" y="393115"/>
                  </a:lnTo>
                  <a:lnTo>
                    <a:pt x="222291" y="391439"/>
                  </a:lnTo>
                  <a:lnTo>
                    <a:pt x="271733" y="378231"/>
                  </a:lnTo>
                  <a:lnTo>
                    <a:pt x="316258" y="352498"/>
                  </a:lnTo>
                  <a:lnTo>
                    <a:pt x="352498" y="316258"/>
                  </a:lnTo>
                  <a:lnTo>
                    <a:pt x="378231" y="271733"/>
                  </a:lnTo>
                  <a:lnTo>
                    <a:pt x="391439" y="222291"/>
                  </a:lnTo>
                  <a:lnTo>
                    <a:pt x="393115" y="196557"/>
                  </a:lnTo>
                  <a:lnTo>
                    <a:pt x="391439" y="170824"/>
                  </a:lnTo>
                  <a:lnTo>
                    <a:pt x="378231" y="121377"/>
                  </a:lnTo>
                  <a:lnTo>
                    <a:pt x="352498" y="76846"/>
                  </a:lnTo>
                  <a:lnTo>
                    <a:pt x="316258" y="40615"/>
                  </a:lnTo>
                  <a:lnTo>
                    <a:pt x="271733" y="14878"/>
                  </a:lnTo>
                  <a:lnTo>
                    <a:pt x="222291" y="1675"/>
                  </a:lnTo>
                  <a:lnTo>
                    <a:pt x="196557" y="0"/>
                  </a:lnTo>
                  <a:close/>
                </a:path>
              </a:pathLst>
            </a:custGeom>
            <a:solidFill>
              <a:srgbClr val="0C938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868324" y="3702964"/>
              <a:ext cx="393700" cy="393700"/>
            </a:xfrm>
            <a:custGeom>
              <a:avLst/>
              <a:gdLst/>
              <a:ahLst/>
              <a:cxnLst/>
              <a:rect l="l" t="t" r="r" b="b"/>
              <a:pathLst>
                <a:path w="393700" h="393700">
                  <a:moveTo>
                    <a:pt x="0" y="196557"/>
                  </a:moveTo>
                  <a:lnTo>
                    <a:pt x="1675" y="170824"/>
                  </a:lnTo>
                  <a:lnTo>
                    <a:pt x="6656" y="145662"/>
                  </a:lnTo>
                  <a:lnTo>
                    <a:pt x="26276" y="98272"/>
                  </a:lnTo>
                  <a:lnTo>
                    <a:pt x="57550" y="57550"/>
                  </a:lnTo>
                  <a:lnTo>
                    <a:pt x="98272" y="26276"/>
                  </a:lnTo>
                  <a:lnTo>
                    <a:pt x="145662" y="6656"/>
                  </a:lnTo>
                  <a:lnTo>
                    <a:pt x="196557" y="0"/>
                  </a:lnTo>
                  <a:lnTo>
                    <a:pt x="247451" y="6656"/>
                  </a:lnTo>
                  <a:lnTo>
                    <a:pt x="294830" y="26276"/>
                  </a:lnTo>
                  <a:lnTo>
                    <a:pt x="335559" y="57550"/>
                  </a:lnTo>
                  <a:lnTo>
                    <a:pt x="366839" y="98272"/>
                  </a:lnTo>
                  <a:lnTo>
                    <a:pt x="386454" y="145662"/>
                  </a:lnTo>
                  <a:lnTo>
                    <a:pt x="393115" y="196557"/>
                  </a:lnTo>
                  <a:lnTo>
                    <a:pt x="391439" y="222291"/>
                  </a:lnTo>
                  <a:lnTo>
                    <a:pt x="386454" y="247451"/>
                  </a:lnTo>
                  <a:lnTo>
                    <a:pt x="366839" y="294830"/>
                  </a:lnTo>
                  <a:lnTo>
                    <a:pt x="335559" y="335559"/>
                  </a:lnTo>
                  <a:lnTo>
                    <a:pt x="294830" y="366839"/>
                  </a:lnTo>
                  <a:lnTo>
                    <a:pt x="247451" y="386454"/>
                  </a:lnTo>
                  <a:lnTo>
                    <a:pt x="196557" y="393115"/>
                  </a:lnTo>
                  <a:lnTo>
                    <a:pt x="145662" y="386454"/>
                  </a:lnTo>
                  <a:lnTo>
                    <a:pt x="98272" y="366839"/>
                  </a:lnTo>
                  <a:lnTo>
                    <a:pt x="57550" y="335559"/>
                  </a:lnTo>
                  <a:lnTo>
                    <a:pt x="26276" y="294830"/>
                  </a:lnTo>
                  <a:lnTo>
                    <a:pt x="6656" y="247451"/>
                  </a:lnTo>
                  <a:lnTo>
                    <a:pt x="1675" y="222291"/>
                  </a:lnTo>
                  <a:lnTo>
                    <a:pt x="0" y="196557"/>
                  </a:lnTo>
                  <a:close/>
                </a:path>
              </a:pathLst>
            </a:custGeom>
            <a:ln w="7559">
              <a:solidFill>
                <a:srgbClr val="0C938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1404264" y="3644176"/>
            <a:ext cx="4514215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75">
                <a:solidFill>
                  <a:srgbClr val="0F2339"/>
                </a:solidFill>
                <a:latin typeface="Arial Black"/>
                <a:cs typeface="Arial Black"/>
              </a:rPr>
              <a:t>Application</a:t>
            </a:r>
            <a:r>
              <a:rPr dirty="0" sz="1300" spc="-5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300" spc="-60">
                <a:solidFill>
                  <a:srgbClr val="0F2339"/>
                </a:solidFill>
                <a:latin typeface="Arial Black"/>
                <a:cs typeface="Arial Black"/>
              </a:rPr>
              <a:t>must</a:t>
            </a:r>
            <a:r>
              <a:rPr dirty="0" sz="1300" spc="-4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300" spc="-60">
                <a:solidFill>
                  <a:srgbClr val="0F2339"/>
                </a:solidFill>
                <a:latin typeface="Arial Black"/>
                <a:cs typeface="Arial Black"/>
              </a:rPr>
              <a:t>tolerate</a:t>
            </a:r>
            <a:r>
              <a:rPr dirty="0" sz="1300" spc="-4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300" spc="-60">
                <a:solidFill>
                  <a:srgbClr val="0F2339"/>
                </a:solidFill>
                <a:latin typeface="Arial Black"/>
                <a:cs typeface="Arial Black"/>
              </a:rPr>
              <a:t>one</a:t>
            </a:r>
            <a:r>
              <a:rPr dirty="0" sz="1300" spc="-4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300" spc="-60">
                <a:solidFill>
                  <a:srgbClr val="0F2339"/>
                </a:solidFill>
                <a:latin typeface="Arial Black"/>
                <a:cs typeface="Arial Black"/>
              </a:rPr>
              <a:t>datacentre/zone</a:t>
            </a:r>
            <a:r>
              <a:rPr dirty="0" sz="1300" spc="-4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300" spc="-20">
                <a:solidFill>
                  <a:srgbClr val="0F2339"/>
                </a:solidFill>
                <a:latin typeface="Arial Black"/>
                <a:cs typeface="Arial Black"/>
              </a:rPr>
              <a:t>outage</a:t>
            </a:r>
            <a:endParaRPr sz="1300">
              <a:latin typeface="Arial Black"/>
              <a:cs typeface="Arial Black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790040" y="3644176"/>
            <a:ext cx="3851275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18490" algn="l"/>
                <a:tab pos="753110" algn="l"/>
              </a:tabLst>
            </a:pPr>
            <a:r>
              <a:rPr dirty="0" u="heavy" sz="1300">
                <a:solidFill>
                  <a:srgbClr val="0F2339"/>
                </a:solidFill>
                <a:uFill>
                  <a:solidFill>
                    <a:srgbClr val="0077D3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sz="1300">
                <a:solidFill>
                  <a:srgbClr val="0F2339"/>
                </a:solidFill>
                <a:latin typeface="Times New Roman"/>
                <a:cs typeface="Times New Roman"/>
              </a:rPr>
              <a:t>	</a:t>
            </a:r>
            <a:r>
              <a:rPr dirty="0" sz="1300" spc="-85">
                <a:solidFill>
                  <a:srgbClr val="0C9387"/>
                </a:solidFill>
                <a:latin typeface="Arial Black"/>
                <a:cs typeface="Arial Black"/>
              </a:rPr>
              <a:t>Zone-</a:t>
            </a:r>
            <a:r>
              <a:rPr dirty="0" sz="1300" spc="-80">
                <a:solidFill>
                  <a:srgbClr val="0C9387"/>
                </a:solidFill>
                <a:latin typeface="Arial Black"/>
                <a:cs typeface="Arial Black"/>
              </a:rPr>
              <a:t>spread</a:t>
            </a:r>
            <a:r>
              <a:rPr dirty="0" sz="1300" spc="-70">
                <a:solidFill>
                  <a:srgbClr val="0C9387"/>
                </a:solidFill>
                <a:latin typeface="Arial Black"/>
                <a:cs typeface="Arial Black"/>
              </a:rPr>
              <a:t> </a:t>
            </a:r>
            <a:r>
              <a:rPr dirty="0" sz="1300" spc="-95">
                <a:solidFill>
                  <a:srgbClr val="0C9387"/>
                </a:solidFill>
                <a:latin typeface="Arial Black"/>
                <a:cs typeface="Arial Black"/>
              </a:rPr>
              <a:t>replicas</a:t>
            </a:r>
            <a:r>
              <a:rPr dirty="0" sz="1300" spc="-65">
                <a:solidFill>
                  <a:srgbClr val="0C9387"/>
                </a:solidFill>
                <a:latin typeface="Arial Black"/>
                <a:cs typeface="Arial Black"/>
              </a:rPr>
              <a:t> </a:t>
            </a:r>
            <a:r>
              <a:rPr dirty="0" sz="1300" spc="-125">
                <a:solidFill>
                  <a:srgbClr val="0C9387"/>
                </a:solidFill>
                <a:latin typeface="Arial Black"/>
                <a:cs typeface="Arial Black"/>
              </a:rPr>
              <a:t>+</a:t>
            </a:r>
            <a:r>
              <a:rPr dirty="0" sz="1300" spc="-75">
                <a:solidFill>
                  <a:srgbClr val="0C9387"/>
                </a:solidFill>
                <a:latin typeface="Arial Black"/>
                <a:cs typeface="Arial Black"/>
              </a:rPr>
              <a:t> </a:t>
            </a:r>
            <a:r>
              <a:rPr dirty="0" sz="1300" spc="-65">
                <a:solidFill>
                  <a:srgbClr val="0C9387"/>
                </a:solidFill>
                <a:latin typeface="Arial Black"/>
                <a:cs typeface="Arial Black"/>
              </a:rPr>
              <a:t>load</a:t>
            </a:r>
            <a:r>
              <a:rPr dirty="0" sz="1300" spc="-75">
                <a:solidFill>
                  <a:srgbClr val="0C9387"/>
                </a:solidFill>
                <a:latin typeface="Arial Black"/>
                <a:cs typeface="Arial Black"/>
              </a:rPr>
              <a:t> </a:t>
            </a:r>
            <a:r>
              <a:rPr dirty="0" sz="1300" spc="-50">
                <a:solidFill>
                  <a:srgbClr val="0C9387"/>
                </a:solidFill>
                <a:latin typeface="Arial Black"/>
                <a:cs typeface="Arial Black"/>
              </a:rPr>
              <a:t>balancing</a:t>
            </a:r>
            <a:endParaRPr sz="1300">
              <a:latin typeface="Arial Black"/>
              <a:cs typeface="Arial Black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99985" y="3755415"/>
            <a:ext cx="130810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140">
                <a:solidFill>
                  <a:srgbClr val="FFFFFF"/>
                </a:solidFill>
                <a:latin typeface="Arial Black"/>
                <a:cs typeface="Arial Black"/>
              </a:rPr>
              <a:t>C</a:t>
            </a:r>
            <a:endParaRPr sz="1300">
              <a:latin typeface="Arial Black"/>
              <a:cs typeface="Arial Black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864544" y="4659304"/>
            <a:ext cx="400685" cy="400685"/>
            <a:chOff x="864544" y="4659304"/>
            <a:chExt cx="400685" cy="400685"/>
          </a:xfrm>
        </p:grpSpPr>
        <p:sp>
          <p:nvSpPr>
            <p:cNvPr id="25" name="object 25"/>
            <p:cNvSpPr/>
            <p:nvPr/>
          </p:nvSpPr>
          <p:spPr>
            <a:xfrm>
              <a:off x="868324" y="4663084"/>
              <a:ext cx="393700" cy="393700"/>
            </a:xfrm>
            <a:custGeom>
              <a:avLst/>
              <a:gdLst/>
              <a:ahLst/>
              <a:cxnLst/>
              <a:rect l="l" t="t" r="r" b="b"/>
              <a:pathLst>
                <a:path w="393700" h="393700">
                  <a:moveTo>
                    <a:pt x="196557" y="0"/>
                  </a:moveTo>
                  <a:lnTo>
                    <a:pt x="145662" y="6656"/>
                  </a:lnTo>
                  <a:lnTo>
                    <a:pt x="98272" y="26276"/>
                  </a:lnTo>
                  <a:lnTo>
                    <a:pt x="57550" y="57550"/>
                  </a:lnTo>
                  <a:lnTo>
                    <a:pt x="26276" y="98272"/>
                  </a:lnTo>
                  <a:lnTo>
                    <a:pt x="6656" y="145662"/>
                  </a:lnTo>
                  <a:lnTo>
                    <a:pt x="0" y="196557"/>
                  </a:lnTo>
                  <a:lnTo>
                    <a:pt x="1675" y="222291"/>
                  </a:lnTo>
                  <a:lnTo>
                    <a:pt x="14878" y="271733"/>
                  </a:lnTo>
                  <a:lnTo>
                    <a:pt x="40615" y="316258"/>
                  </a:lnTo>
                  <a:lnTo>
                    <a:pt x="76846" y="352498"/>
                  </a:lnTo>
                  <a:lnTo>
                    <a:pt x="121377" y="378231"/>
                  </a:lnTo>
                  <a:lnTo>
                    <a:pt x="170824" y="391439"/>
                  </a:lnTo>
                  <a:lnTo>
                    <a:pt x="196557" y="393115"/>
                  </a:lnTo>
                  <a:lnTo>
                    <a:pt x="222291" y="391439"/>
                  </a:lnTo>
                  <a:lnTo>
                    <a:pt x="271733" y="378231"/>
                  </a:lnTo>
                  <a:lnTo>
                    <a:pt x="316258" y="352498"/>
                  </a:lnTo>
                  <a:lnTo>
                    <a:pt x="352498" y="316258"/>
                  </a:lnTo>
                  <a:lnTo>
                    <a:pt x="378231" y="271733"/>
                  </a:lnTo>
                  <a:lnTo>
                    <a:pt x="391439" y="222291"/>
                  </a:lnTo>
                  <a:lnTo>
                    <a:pt x="393115" y="196557"/>
                  </a:lnTo>
                  <a:lnTo>
                    <a:pt x="391439" y="170824"/>
                  </a:lnTo>
                  <a:lnTo>
                    <a:pt x="378231" y="121377"/>
                  </a:lnTo>
                  <a:lnTo>
                    <a:pt x="352498" y="76846"/>
                  </a:lnTo>
                  <a:lnTo>
                    <a:pt x="316258" y="40615"/>
                  </a:lnTo>
                  <a:lnTo>
                    <a:pt x="271733" y="14878"/>
                  </a:lnTo>
                  <a:lnTo>
                    <a:pt x="222291" y="1675"/>
                  </a:lnTo>
                  <a:lnTo>
                    <a:pt x="196557" y="0"/>
                  </a:lnTo>
                  <a:close/>
                </a:path>
              </a:pathLst>
            </a:custGeom>
            <a:solidFill>
              <a:srgbClr val="5A39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868324" y="4663084"/>
              <a:ext cx="393700" cy="393700"/>
            </a:xfrm>
            <a:custGeom>
              <a:avLst/>
              <a:gdLst/>
              <a:ahLst/>
              <a:cxnLst/>
              <a:rect l="l" t="t" r="r" b="b"/>
              <a:pathLst>
                <a:path w="393700" h="393700">
                  <a:moveTo>
                    <a:pt x="0" y="196557"/>
                  </a:moveTo>
                  <a:lnTo>
                    <a:pt x="1675" y="170824"/>
                  </a:lnTo>
                  <a:lnTo>
                    <a:pt x="6656" y="145662"/>
                  </a:lnTo>
                  <a:lnTo>
                    <a:pt x="26276" y="98272"/>
                  </a:lnTo>
                  <a:lnTo>
                    <a:pt x="57550" y="57550"/>
                  </a:lnTo>
                  <a:lnTo>
                    <a:pt x="98272" y="26276"/>
                  </a:lnTo>
                  <a:lnTo>
                    <a:pt x="145662" y="6656"/>
                  </a:lnTo>
                  <a:lnTo>
                    <a:pt x="196557" y="0"/>
                  </a:lnTo>
                  <a:lnTo>
                    <a:pt x="247451" y="6656"/>
                  </a:lnTo>
                  <a:lnTo>
                    <a:pt x="294830" y="26276"/>
                  </a:lnTo>
                  <a:lnTo>
                    <a:pt x="335559" y="57550"/>
                  </a:lnTo>
                  <a:lnTo>
                    <a:pt x="366839" y="98272"/>
                  </a:lnTo>
                  <a:lnTo>
                    <a:pt x="386454" y="145662"/>
                  </a:lnTo>
                  <a:lnTo>
                    <a:pt x="393115" y="196557"/>
                  </a:lnTo>
                  <a:lnTo>
                    <a:pt x="391439" y="222291"/>
                  </a:lnTo>
                  <a:lnTo>
                    <a:pt x="386454" y="247451"/>
                  </a:lnTo>
                  <a:lnTo>
                    <a:pt x="366839" y="294830"/>
                  </a:lnTo>
                  <a:lnTo>
                    <a:pt x="335559" y="335559"/>
                  </a:lnTo>
                  <a:lnTo>
                    <a:pt x="294830" y="366839"/>
                  </a:lnTo>
                  <a:lnTo>
                    <a:pt x="247451" y="386454"/>
                  </a:lnTo>
                  <a:lnTo>
                    <a:pt x="196557" y="393115"/>
                  </a:lnTo>
                  <a:lnTo>
                    <a:pt x="145662" y="386454"/>
                  </a:lnTo>
                  <a:lnTo>
                    <a:pt x="98272" y="366839"/>
                  </a:lnTo>
                  <a:lnTo>
                    <a:pt x="57550" y="335559"/>
                  </a:lnTo>
                  <a:lnTo>
                    <a:pt x="26276" y="294830"/>
                  </a:lnTo>
                  <a:lnTo>
                    <a:pt x="6656" y="247451"/>
                  </a:lnTo>
                  <a:lnTo>
                    <a:pt x="1675" y="222291"/>
                  </a:lnTo>
                  <a:lnTo>
                    <a:pt x="0" y="196557"/>
                  </a:lnTo>
                  <a:close/>
                </a:path>
              </a:pathLst>
            </a:custGeom>
            <a:ln w="7559">
              <a:solidFill>
                <a:srgbClr val="5A399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/>
          <p:nvPr/>
        </p:nvSpPr>
        <p:spPr>
          <a:xfrm>
            <a:off x="1404264" y="4604296"/>
            <a:ext cx="3892550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75">
                <a:solidFill>
                  <a:srgbClr val="0F2339"/>
                </a:solidFill>
                <a:latin typeface="Arial Black"/>
                <a:cs typeface="Arial Black"/>
              </a:rPr>
              <a:t>Application</a:t>
            </a:r>
            <a:r>
              <a:rPr dirty="0" sz="1300" spc="-5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300" spc="-60">
                <a:solidFill>
                  <a:srgbClr val="0F2339"/>
                </a:solidFill>
                <a:latin typeface="Arial Black"/>
                <a:cs typeface="Arial Black"/>
              </a:rPr>
              <a:t>must</a:t>
            </a:r>
            <a:r>
              <a:rPr dirty="0" sz="1300" spc="-4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300" spc="-90">
                <a:solidFill>
                  <a:srgbClr val="0F2339"/>
                </a:solidFill>
                <a:latin typeface="Arial Black"/>
                <a:cs typeface="Arial Black"/>
              </a:rPr>
              <a:t>recover</a:t>
            </a:r>
            <a:r>
              <a:rPr dirty="0" sz="1300" spc="-5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300" spc="-45">
                <a:solidFill>
                  <a:srgbClr val="0F2339"/>
                </a:solidFill>
                <a:latin typeface="Arial Black"/>
                <a:cs typeface="Arial Black"/>
              </a:rPr>
              <a:t>after</a:t>
            </a:r>
            <a:r>
              <a:rPr dirty="0" sz="1300" spc="-5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300" spc="-60">
                <a:solidFill>
                  <a:srgbClr val="0F2339"/>
                </a:solidFill>
                <a:latin typeface="Arial Black"/>
                <a:cs typeface="Arial Black"/>
              </a:rPr>
              <a:t>regional</a:t>
            </a:r>
            <a:r>
              <a:rPr dirty="0" sz="1300" spc="-4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300" spc="-20">
                <a:solidFill>
                  <a:srgbClr val="0F2339"/>
                </a:solidFill>
                <a:latin typeface="Arial Black"/>
                <a:cs typeface="Arial Black"/>
              </a:rPr>
              <a:t>outage</a:t>
            </a:r>
            <a:endParaRPr sz="1300">
              <a:latin typeface="Arial Black"/>
              <a:cs typeface="Arial Black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991336" y="4715535"/>
            <a:ext cx="147955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50">
                <a:solidFill>
                  <a:srgbClr val="FFFFFF"/>
                </a:solidFill>
                <a:latin typeface="Arial Black"/>
                <a:cs typeface="Arial Black"/>
              </a:rPr>
              <a:t>D</a:t>
            </a:r>
            <a:endParaRPr sz="1300">
              <a:latin typeface="Arial Black"/>
              <a:cs typeface="Arial Black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790040" y="4604296"/>
            <a:ext cx="4259580" cy="4210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53110" marR="5080" indent="-741045">
              <a:lnSpc>
                <a:spcPct val="100000"/>
              </a:lnSpc>
              <a:spcBef>
                <a:spcPts val="100"/>
              </a:spcBef>
              <a:tabLst>
                <a:tab pos="618490" algn="l"/>
                <a:tab pos="753110" algn="l"/>
              </a:tabLst>
            </a:pPr>
            <a:r>
              <a:rPr dirty="0" u="heavy" sz="1300">
                <a:solidFill>
                  <a:srgbClr val="0F2339"/>
                </a:solidFill>
                <a:uFill>
                  <a:solidFill>
                    <a:srgbClr val="0077D3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sz="1300">
                <a:solidFill>
                  <a:srgbClr val="0F2339"/>
                </a:solidFill>
                <a:latin typeface="Times New Roman"/>
                <a:cs typeface="Times New Roman"/>
              </a:rPr>
              <a:t>	</a:t>
            </a:r>
            <a:r>
              <a:rPr dirty="0" sz="1300" spc="-110">
                <a:solidFill>
                  <a:srgbClr val="0C9387"/>
                </a:solidFill>
                <a:latin typeface="Arial Black"/>
                <a:cs typeface="Arial Black"/>
              </a:rPr>
              <a:t>Cross-</a:t>
            </a:r>
            <a:r>
              <a:rPr dirty="0" sz="1300" spc="-55">
                <a:solidFill>
                  <a:srgbClr val="0C9387"/>
                </a:solidFill>
                <a:latin typeface="Arial Black"/>
                <a:cs typeface="Arial Black"/>
              </a:rPr>
              <a:t>region</a:t>
            </a:r>
            <a:r>
              <a:rPr dirty="0" sz="1300" spc="-65">
                <a:solidFill>
                  <a:srgbClr val="0C9387"/>
                </a:solidFill>
                <a:latin typeface="Arial Black"/>
                <a:cs typeface="Arial Black"/>
              </a:rPr>
              <a:t> </a:t>
            </a:r>
            <a:r>
              <a:rPr dirty="0" sz="1300" spc="-110">
                <a:solidFill>
                  <a:srgbClr val="0C9387"/>
                </a:solidFill>
                <a:latin typeface="Arial Black"/>
                <a:cs typeface="Arial Black"/>
              </a:rPr>
              <a:t>DR</a:t>
            </a:r>
            <a:r>
              <a:rPr dirty="0" sz="1300" spc="-65">
                <a:solidFill>
                  <a:srgbClr val="0C9387"/>
                </a:solidFill>
                <a:latin typeface="Arial Black"/>
                <a:cs typeface="Arial Black"/>
              </a:rPr>
              <a:t> </a:t>
            </a:r>
            <a:r>
              <a:rPr dirty="0" sz="1300" spc="-125">
                <a:solidFill>
                  <a:srgbClr val="0C9387"/>
                </a:solidFill>
                <a:latin typeface="Arial Black"/>
                <a:cs typeface="Arial Black"/>
              </a:rPr>
              <a:t>+</a:t>
            </a:r>
            <a:r>
              <a:rPr dirty="0" sz="1300" spc="-70">
                <a:solidFill>
                  <a:srgbClr val="0C9387"/>
                </a:solidFill>
                <a:latin typeface="Arial Black"/>
                <a:cs typeface="Arial Black"/>
              </a:rPr>
              <a:t> </a:t>
            </a:r>
            <a:r>
              <a:rPr dirty="0" sz="1300" spc="-65">
                <a:solidFill>
                  <a:srgbClr val="0C9387"/>
                </a:solidFill>
                <a:latin typeface="Arial Black"/>
                <a:cs typeface="Arial Black"/>
              </a:rPr>
              <a:t>data </a:t>
            </a:r>
            <a:r>
              <a:rPr dirty="0" sz="1300" spc="-70">
                <a:solidFill>
                  <a:srgbClr val="0C9387"/>
                </a:solidFill>
                <a:latin typeface="Arial Black"/>
                <a:cs typeface="Arial Black"/>
              </a:rPr>
              <a:t>replication </a:t>
            </a:r>
            <a:r>
              <a:rPr dirty="0" sz="1300" spc="-130">
                <a:solidFill>
                  <a:srgbClr val="0C9387"/>
                </a:solidFill>
                <a:latin typeface="Arial Black"/>
                <a:cs typeface="Arial Black"/>
              </a:rPr>
              <a:t>+</a:t>
            </a:r>
            <a:r>
              <a:rPr dirty="0" sz="1300" spc="-65">
                <a:solidFill>
                  <a:srgbClr val="0C9387"/>
                </a:solidFill>
                <a:latin typeface="Arial Black"/>
                <a:cs typeface="Arial Black"/>
              </a:rPr>
              <a:t> </a:t>
            </a:r>
            <a:r>
              <a:rPr dirty="0" sz="1300" spc="-55">
                <a:solidFill>
                  <a:srgbClr val="0C9387"/>
                </a:solidFill>
                <a:latin typeface="Arial Black"/>
                <a:cs typeface="Arial Black"/>
              </a:rPr>
              <a:t>tested </a:t>
            </a:r>
            <a:r>
              <a:rPr dirty="0" sz="1300" spc="-10">
                <a:solidFill>
                  <a:srgbClr val="0C9387"/>
                </a:solidFill>
                <a:latin typeface="Arial Black"/>
                <a:cs typeface="Arial Black"/>
              </a:rPr>
              <a:t>failover</a:t>
            </a:r>
            <a:endParaRPr sz="1300">
              <a:latin typeface="Arial Black"/>
              <a:cs typeface="Arial Black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980541" y="5854585"/>
            <a:ext cx="10113645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60">
                <a:solidFill>
                  <a:srgbClr val="C1403A"/>
                </a:solidFill>
                <a:latin typeface="Arial Black"/>
                <a:cs typeface="Arial Black"/>
              </a:rPr>
              <a:t>Do</a:t>
            </a:r>
            <a:r>
              <a:rPr dirty="0" sz="1300" spc="-75">
                <a:solidFill>
                  <a:srgbClr val="C1403A"/>
                </a:solidFill>
                <a:latin typeface="Arial Black"/>
                <a:cs typeface="Arial Black"/>
              </a:rPr>
              <a:t> </a:t>
            </a:r>
            <a:r>
              <a:rPr dirty="0" sz="1300" spc="-35">
                <a:solidFill>
                  <a:srgbClr val="C1403A"/>
                </a:solidFill>
                <a:latin typeface="Arial Black"/>
                <a:cs typeface="Arial Black"/>
              </a:rPr>
              <a:t>not</a:t>
            </a:r>
            <a:r>
              <a:rPr dirty="0" sz="1300" spc="-70">
                <a:solidFill>
                  <a:srgbClr val="C1403A"/>
                </a:solidFill>
                <a:latin typeface="Arial Black"/>
                <a:cs typeface="Arial Black"/>
              </a:rPr>
              <a:t> promise </a:t>
            </a:r>
            <a:r>
              <a:rPr dirty="0" sz="1300" spc="-35">
                <a:solidFill>
                  <a:srgbClr val="C1403A"/>
                </a:solidFill>
                <a:latin typeface="Arial Black"/>
                <a:cs typeface="Arial Black"/>
              </a:rPr>
              <a:t>high</a:t>
            </a:r>
            <a:r>
              <a:rPr dirty="0" sz="1300" spc="-75">
                <a:solidFill>
                  <a:srgbClr val="C1403A"/>
                </a:solidFill>
                <a:latin typeface="Arial Black"/>
                <a:cs typeface="Arial Black"/>
              </a:rPr>
              <a:t> </a:t>
            </a:r>
            <a:r>
              <a:rPr dirty="0" sz="1300" spc="-65">
                <a:solidFill>
                  <a:srgbClr val="C1403A"/>
                </a:solidFill>
                <a:latin typeface="Arial Black"/>
                <a:cs typeface="Arial Black"/>
              </a:rPr>
              <a:t>availability</a:t>
            </a:r>
            <a:r>
              <a:rPr dirty="0" sz="1300" spc="-75">
                <a:solidFill>
                  <a:srgbClr val="C1403A"/>
                </a:solidFill>
                <a:latin typeface="Arial Black"/>
                <a:cs typeface="Arial Black"/>
              </a:rPr>
              <a:t> </a:t>
            </a:r>
            <a:r>
              <a:rPr dirty="0" sz="1300" spc="-105">
                <a:solidFill>
                  <a:srgbClr val="C1403A"/>
                </a:solidFill>
                <a:latin typeface="Arial Black"/>
                <a:cs typeface="Arial Black"/>
              </a:rPr>
              <a:t>because</a:t>
            </a:r>
            <a:r>
              <a:rPr dirty="0" sz="1300" spc="-70">
                <a:solidFill>
                  <a:srgbClr val="C1403A"/>
                </a:solidFill>
                <a:latin typeface="Arial Black"/>
                <a:cs typeface="Arial Black"/>
              </a:rPr>
              <a:t> </a:t>
            </a:r>
            <a:r>
              <a:rPr dirty="0" sz="1300" spc="-85">
                <a:solidFill>
                  <a:srgbClr val="C1403A"/>
                </a:solidFill>
                <a:latin typeface="Arial Black"/>
                <a:cs typeface="Arial Black"/>
              </a:rPr>
              <a:t>a</a:t>
            </a:r>
            <a:r>
              <a:rPr dirty="0" sz="1300" spc="-70">
                <a:solidFill>
                  <a:srgbClr val="C1403A"/>
                </a:solidFill>
                <a:latin typeface="Arial Black"/>
                <a:cs typeface="Arial Black"/>
              </a:rPr>
              <a:t> </a:t>
            </a:r>
            <a:r>
              <a:rPr dirty="0" sz="1300" spc="-95">
                <a:solidFill>
                  <a:srgbClr val="C1403A"/>
                </a:solidFill>
                <a:latin typeface="Arial Black"/>
                <a:cs typeface="Arial Black"/>
              </a:rPr>
              <a:t>VM</a:t>
            </a:r>
            <a:r>
              <a:rPr dirty="0" sz="1300" spc="-75">
                <a:solidFill>
                  <a:srgbClr val="C1403A"/>
                </a:solidFill>
                <a:latin typeface="Arial Black"/>
                <a:cs typeface="Arial Black"/>
              </a:rPr>
              <a:t> </a:t>
            </a:r>
            <a:r>
              <a:rPr dirty="0" sz="1300" spc="-105">
                <a:solidFill>
                  <a:srgbClr val="C1403A"/>
                </a:solidFill>
                <a:latin typeface="Arial Black"/>
                <a:cs typeface="Arial Black"/>
              </a:rPr>
              <a:t>is</a:t>
            </a:r>
            <a:r>
              <a:rPr dirty="0" sz="1300" spc="-75">
                <a:solidFill>
                  <a:srgbClr val="C1403A"/>
                </a:solidFill>
                <a:latin typeface="Arial Black"/>
                <a:cs typeface="Arial Black"/>
              </a:rPr>
              <a:t> </a:t>
            </a:r>
            <a:r>
              <a:rPr dirty="0" sz="1300" spc="-50">
                <a:solidFill>
                  <a:srgbClr val="C1403A"/>
                </a:solidFill>
                <a:latin typeface="Arial Black"/>
                <a:cs typeface="Arial Black"/>
              </a:rPr>
              <a:t>“in</a:t>
            </a:r>
            <a:r>
              <a:rPr dirty="0" sz="1300" spc="-75">
                <a:solidFill>
                  <a:srgbClr val="C1403A"/>
                </a:solidFill>
                <a:latin typeface="Arial Black"/>
                <a:cs typeface="Arial Black"/>
              </a:rPr>
              <a:t> </a:t>
            </a:r>
            <a:r>
              <a:rPr dirty="0" sz="1300" spc="-80">
                <a:solidFill>
                  <a:srgbClr val="C1403A"/>
                </a:solidFill>
                <a:latin typeface="Arial Black"/>
                <a:cs typeface="Arial Black"/>
              </a:rPr>
              <a:t>Azure.”</a:t>
            </a:r>
            <a:r>
              <a:rPr dirty="0" sz="1300" spc="-70">
                <a:solidFill>
                  <a:srgbClr val="C1403A"/>
                </a:solidFill>
                <a:latin typeface="Arial Black"/>
                <a:cs typeface="Arial Black"/>
              </a:rPr>
              <a:t> </a:t>
            </a:r>
            <a:r>
              <a:rPr dirty="0" sz="1300" spc="-65">
                <a:solidFill>
                  <a:srgbClr val="C1403A"/>
                </a:solidFill>
                <a:latin typeface="Arial Black"/>
                <a:cs typeface="Arial Black"/>
              </a:rPr>
              <a:t>Availability</a:t>
            </a:r>
            <a:r>
              <a:rPr dirty="0" sz="1300" spc="-70">
                <a:solidFill>
                  <a:srgbClr val="C1403A"/>
                </a:solidFill>
                <a:latin typeface="Arial Black"/>
                <a:cs typeface="Arial Black"/>
              </a:rPr>
              <a:t> </a:t>
            </a:r>
            <a:r>
              <a:rPr dirty="0" sz="1300" spc="-80">
                <a:solidFill>
                  <a:srgbClr val="C1403A"/>
                </a:solidFill>
                <a:latin typeface="Arial Black"/>
                <a:cs typeface="Arial Black"/>
              </a:rPr>
              <a:t>depends</a:t>
            </a:r>
            <a:r>
              <a:rPr dirty="0" sz="1300" spc="-75">
                <a:solidFill>
                  <a:srgbClr val="C1403A"/>
                </a:solidFill>
                <a:latin typeface="Arial Black"/>
                <a:cs typeface="Arial Black"/>
              </a:rPr>
              <a:t> </a:t>
            </a:r>
            <a:r>
              <a:rPr dirty="0" sz="1300" spc="-40">
                <a:solidFill>
                  <a:srgbClr val="C1403A"/>
                </a:solidFill>
                <a:latin typeface="Arial Black"/>
                <a:cs typeface="Arial Black"/>
              </a:rPr>
              <a:t>on</a:t>
            </a:r>
            <a:r>
              <a:rPr dirty="0" sz="1300" spc="-75">
                <a:solidFill>
                  <a:srgbClr val="C1403A"/>
                </a:solidFill>
                <a:latin typeface="Arial Black"/>
                <a:cs typeface="Arial Black"/>
              </a:rPr>
              <a:t> architecture</a:t>
            </a:r>
            <a:r>
              <a:rPr dirty="0" sz="1300" spc="-70">
                <a:solidFill>
                  <a:srgbClr val="C1403A"/>
                </a:solidFill>
                <a:latin typeface="Arial Black"/>
                <a:cs typeface="Arial Black"/>
              </a:rPr>
              <a:t> </a:t>
            </a:r>
            <a:r>
              <a:rPr dirty="0" sz="1300" spc="-50">
                <a:solidFill>
                  <a:srgbClr val="C1403A"/>
                </a:solidFill>
                <a:latin typeface="Arial Black"/>
                <a:cs typeface="Arial Black"/>
              </a:rPr>
              <a:t>and</a:t>
            </a:r>
            <a:r>
              <a:rPr dirty="0" sz="1300" spc="-80">
                <a:solidFill>
                  <a:srgbClr val="C1403A"/>
                </a:solidFill>
                <a:latin typeface="Arial Black"/>
                <a:cs typeface="Arial Black"/>
              </a:rPr>
              <a:t> </a:t>
            </a:r>
            <a:r>
              <a:rPr dirty="0" sz="1300" spc="-100">
                <a:solidFill>
                  <a:srgbClr val="C1403A"/>
                </a:solidFill>
                <a:latin typeface="Arial Black"/>
                <a:cs typeface="Arial Black"/>
              </a:rPr>
              <a:t>service</a:t>
            </a:r>
            <a:r>
              <a:rPr dirty="0" sz="1300" spc="-70">
                <a:solidFill>
                  <a:srgbClr val="C1403A"/>
                </a:solidFill>
                <a:latin typeface="Arial Black"/>
                <a:cs typeface="Arial Black"/>
              </a:rPr>
              <a:t> </a:t>
            </a:r>
            <a:r>
              <a:rPr dirty="0" sz="1300" spc="-20">
                <a:solidFill>
                  <a:srgbClr val="C1403A"/>
                </a:solidFill>
                <a:latin typeface="Arial Black"/>
                <a:cs typeface="Arial Black"/>
              </a:rPr>
              <a:t>configuration.</a:t>
            </a:r>
            <a:endParaRPr sz="1300">
              <a:latin typeface="Arial Black"/>
              <a:cs typeface="Arial Black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66635" y="6382435"/>
            <a:ext cx="11064240" cy="635"/>
          </a:xfrm>
          <a:custGeom>
            <a:avLst/>
            <a:gdLst/>
            <a:ahLst/>
            <a:cxnLst/>
            <a:rect l="l" t="t" r="r" b="b"/>
            <a:pathLst>
              <a:path w="11064240" h="635">
                <a:moveTo>
                  <a:pt x="0" y="0"/>
                </a:moveTo>
                <a:lnTo>
                  <a:pt x="11064240" y="368"/>
                </a:lnTo>
              </a:path>
            </a:pathLst>
          </a:custGeom>
          <a:ln w="8999">
            <a:solidFill>
              <a:srgbClr val="DBE4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90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 spc="-100"/>
              <a:t>DAY</a:t>
            </a:r>
            <a:r>
              <a:rPr dirty="0" spc="-55"/>
              <a:t> </a:t>
            </a:r>
            <a:r>
              <a:rPr dirty="0"/>
              <a:t>1</a:t>
            </a:r>
            <a:r>
              <a:rPr dirty="0" spc="105"/>
              <a:t> </a:t>
            </a:r>
            <a:r>
              <a:rPr dirty="0"/>
              <a:t>•</a:t>
            </a:r>
            <a:r>
              <a:rPr dirty="0" spc="130"/>
              <a:t> </a:t>
            </a:r>
            <a:r>
              <a:rPr dirty="0" spc="-70"/>
              <a:t>CLOUD</a:t>
            </a:r>
            <a:r>
              <a:rPr dirty="0" spc="-55"/>
              <a:t> </a:t>
            </a:r>
            <a:r>
              <a:rPr dirty="0" spc="-65"/>
              <a:t>FOUNDATIONS</a:t>
            </a:r>
            <a:r>
              <a:rPr dirty="0" spc="-55"/>
              <a:t> </a:t>
            </a:r>
            <a:r>
              <a:rPr dirty="0" spc="-105"/>
              <a:t>&amp;</a:t>
            </a:r>
            <a:r>
              <a:rPr dirty="0" spc="-50"/>
              <a:t> </a:t>
            </a:r>
            <a:r>
              <a:rPr dirty="0" spc="-95"/>
              <a:t>AZURE</a:t>
            </a:r>
            <a:r>
              <a:rPr dirty="0" spc="-55"/>
              <a:t> </a:t>
            </a:r>
            <a:r>
              <a:rPr dirty="0" spc="-50"/>
              <a:t>BASICS</a:t>
            </a:r>
          </a:p>
        </p:txBody>
      </p:sp>
      <p:sp>
        <p:nvSpPr>
          <p:cNvPr id="31" name="object 3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032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160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3935" y="299427"/>
            <a:ext cx="242633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65">
                <a:solidFill>
                  <a:srgbClr val="0077D3"/>
                </a:solidFill>
                <a:latin typeface="Arial Black"/>
                <a:cs typeface="Arial Black"/>
              </a:rPr>
              <a:t>PA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25">
                <a:solidFill>
                  <a:srgbClr val="0077D3"/>
                </a:solidFill>
                <a:latin typeface="Arial Black"/>
                <a:cs typeface="Arial Black"/>
              </a:rPr>
              <a:t>R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>
                <a:solidFill>
                  <a:srgbClr val="0077D3"/>
                </a:solidFill>
                <a:latin typeface="Arial Black"/>
                <a:cs typeface="Arial Black"/>
              </a:rPr>
              <a:t>T</a:t>
            </a:r>
            <a:r>
              <a:rPr dirty="0" sz="1000" spc="-5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>
                <a:solidFill>
                  <a:srgbClr val="0077D3"/>
                </a:solidFill>
                <a:latin typeface="Arial Black"/>
                <a:cs typeface="Arial Black"/>
              </a:rPr>
              <a:t>3</a:t>
            </a:r>
            <a:r>
              <a:rPr dirty="0" sz="1000" spc="13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>
                <a:solidFill>
                  <a:srgbClr val="0077D3"/>
                </a:solidFill>
                <a:latin typeface="Arial Black"/>
                <a:cs typeface="Arial Black"/>
              </a:rPr>
              <a:t>•</a:t>
            </a:r>
            <a:r>
              <a:rPr dirty="0" sz="1000" spc="145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95">
                <a:solidFill>
                  <a:srgbClr val="0077D3"/>
                </a:solidFill>
                <a:latin typeface="Arial Black"/>
                <a:cs typeface="Arial Black"/>
              </a:rPr>
              <a:t>A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60">
                <a:solidFill>
                  <a:srgbClr val="0077D3"/>
                </a:solidFill>
                <a:latin typeface="Arial Black"/>
                <a:cs typeface="Arial Black"/>
              </a:rPr>
              <a:t>Z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90">
                <a:solidFill>
                  <a:srgbClr val="0077D3"/>
                </a:solidFill>
                <a:latin typeface="Arial Black"/>
                <a:cs typeface="Arial Black"/>
              </a:rPr>
              <a:t>U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25">
                <a:solidFill>
                  <a:srgbClr val="0077D3"/>
                </a:solidFill>
                <a:latin typeface="Arial Black"/>
                <a:cs typeface="Arial Black"/>
              </a:rPr>
              <a:t>R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>
                <a:solidFill>
                  <a:srgbClr val="0077D3"/>
                </a:solidFill>
                <a:latin typeface="Arial Black"/>
                <a:cs typeface="Arial Black"/>
              </a:rPr>
              <a:t>E</a:t>
            </a:r>
            <a:r>
              <a:rPr dirty="0" sz="1000" spc="14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50">
                <a:solidFill>
                  <a:srgbClr val="0077D3"/>
                </a:solidFill>
                <a:latin typeface="Arial Black"/>
                <a:cs typeface="Arial Black"/>
              </a:rPr>
              <a:t>O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25">
                <a:solidFill>
                  <a:srgbClr val="0077D3"/>
                </a:solidFill>
                <a:latin typeface="Arial Black"/>
                <a:cs typeface="Arial Black"/>
              </a:rPr>
              <a:t>R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25">
                <a:solidFill>
                  <a:srgbClr val="0077D3"/>
                </a:solidFill>
                <a:latin typeface="Arial Black"/>
                <a:cs typeface="Arial Black"/>
              </a:rPr>
              <a:t>G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95">
                <a:solidFill>
                  <a:srgbClr val="0077D3"/>
                </a:solidFill>
                <a:latin typeface="Arial Black"/>
                <a:cs typeface="Arial Black"/>
              </a:rPr>
              <a:t>A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>
                <a:solidFill>
                  <a:srgbClr val="0077D3"/>
                </a:solidFill>
                <a:latin typeface="Arial Black"/>
                <a:cs typeface="Arial Black"/>
              </a:rPr>
              <a:t>NI</a:t>
            </a:r>
            <a:r>
              <a:rPr dirty="0" sz="1000" spc="-204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60">
                <a:solidFill>
                  <a:srgbClr val="0077D3"/>
                </a:solidFill>
                <a:latin typeface="Arial Black"/>
                <a:cs typeface="Arial Black"/>
              </a:rPr>
              <a:t>Z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00">
                <a:solidFill>
                  <a:srgbClr val="0077D3"/>
                </a:solidFill>
                <a:latin typeface="Arial Black"/>
                <a:cs typeface="Arial Black"/>
              </a:rPr>
              <a:t>AT</a:t>
            </a:r>
            <a:r>
              <a:rPr dirty="0" sz="1000" spc="-204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>
                <a:solidFill>
                  <a:srgbClr val="0077D3"/>
                </a:solidFill>
                <a:latin typeface="Arial Black"/>
                <a:cs typeface="Arial Black"/>
              </a:rPr>
              <a:t>I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50">
                <a:solidFill>
                  <a:srgbClr val="0077D3"/>
                </a:solidFill>
                <a:latin typeface="Arial Black"/>
                <a:cs typeface="Arial Black"/>
              </a:rPr>
              <a:t>O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50">
                <a:solidFill>
                  <a:srgbClr val="0077D3"/>
                </a:solidFill>
                <a:latin typeface="Arial Black"/>
                <a:cs typeface="Arial Black"/>
              </a:rPr>
              <a:t>N</a:t>
            </a:r>
            <a:endParaRPr sz="1000">
              <a:latin typeface="Arial Black"/>
              <a:cs typeface="Arial Black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54304" y="428977"/>
            <a:ext cx="8710295" cy="814705"/>
          </a:xfrm>
          <a:prstGeom prst="rect"/>
        </p:spPr>
        <p:txBody>
          <a:bodyPr wrap="square" lIns="0" tIns="133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0"/>
              </a:spcBef>
            </a:pPr>
            <a:r>
              <a:rPr dirty="0" sz="2700" spc="-150">
                <a:solidFill>
                  <a:srgbClr val="0F2339"/>
                </a:solidFill>
              </a:rPr>
              <a:t>Azure</a:t>
            </a:r>
            <a:r>
              <a:rPr dirty="0" sz="2700" spc="-190">
                <a:solidFill>
                  <a:srgbClr val="0F2339"/>
                </a:solidFill>
              </a:rPr>
              <a:t> </a:t>
            </a:r>
            <a:r>
              <a:rPr dirty="0" sz="2700" spc="-180">
                <a:solidFill>
                  <a:srgbClr val="0F2339"/>
                </a:solidFill>
              </a:rPr>
              <a:t>resource</a:t>
            </a:r>
            <a:r>
              <a:rPr dirty="0" sz="2700" spc="-185">
                <a:solidFill>
                  <a:srgbClr val="0F2339"/>
                </a:solidFill>
              </a:rPr>
              <a:t> </a:t>
            </a:r>
            <a:r>
              <a:rPr dirty="0" sz="2700" spc="-130">
                <a:solidFill>
                  <a:srgbClr val="0F2339"/>
                </a:solidFill>
              </a:rPr>
              <a:t>hierarchy</a:t>
            </a:r>
            <a:r>
              <a:rPr dirty="0" sz="2700" spc="-185">
                <a:solidFill>
                  <a:srgbClr val="0F2339"/>
                </a:solidFill>
              </a:rPr>
              <a:t> </a:t>
            </a:r>
            <a:r>
              <a:rPr dirty="0" sz="2700" spc="-105">
                <a:solidFill>
                  <a:srgbClr val="0F2339"/>
                </a:solidFill>
              </a:rPr>
              <a:t>at</a:t>
            </a:r>
            <a:r>
              <a:rPr dirty="0" sz="2700" spc="-185">
                <a:solidFill>
                  <a:srgbClr val="0F2339"/>
                </a:solidFill>
              </a:rPr>
              <a:t> </a:t>
            </a:r>
            <a:r>
              <a:rPr dirty="0" sz="2700" spc="-180">
                <a:solidFill>
                  <a:srgbClr val="0F2339"/>
                </a:solidFill>
              </a:rPr>
              <a:t>a</a:t>
            </a:r>
            <a:r>
              <a:rPr dirty="0" sz="2700" spc="-185">
                <a:solidFill>
                  <a:srgbClr val="0F2339"/>
                </a:solidFill>
              </a:rPr>
              <a:t> </a:t>
            </a:r>
            <a:r>
              <a:rPr dirty="0" sz="2700" spc="-10">
                <a:solidFill>
                  <a:srgbClr val="0F2339"/>
                </a:solidFill>
              </a:rPr>
              <a:t>glance</a:t>
            </a:r>
            <a:endParaRPr sz="2700"/>
          </a:p>
          <a:p>
            <a:pPr marL="30480">
              <a:lnSpc>
                <a:spcPct val="100000"/>
              </a:lnSpc>
              <a:spcBef>
                <a:spcPts val="459"/>
              </a:spcBef>
            </a:pP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Think</a:t>
            </a:r>
            <a:r>
              <a:rPr dirty="0" sz="1300" spc="-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of</a:t>
            </a:r>
            <a:r>
              <a:rPr dirty="0" sz="1300" spc="-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identity,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governance,</a:t>
            </a:r>
            <a:r>
              <a:rPr dirty="0" sz="1300" spc="-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billing/management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 and</a:t>
            </a:r>
            <a:r>
              <a:rPr dirty="0" sz="1300" spc="-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resource</a:t>
            </a:r>
            <a:r>
              <a:rPr dirty="0" sz="1300" spc="-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containers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 as</a:t>
            </a:r>
            <a:r>
              <a:rPr dirty="0" sz="1300" spc="-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20">
                <a:solidFill>
                  <a:srgbClr val="556478"/>
                </a:solidFill>
                <a:latin typeface="Noto Sans"/>
                <a:cs typeface="Noto Sans"/>
              </a:rPr>
              <a:t>related—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but </a:t>
            </a:r>
            <a:r>
              <a:rPr dirty="0" sz="1300" spc="-20">
                <a:solidFill>
                  <a:srgbClr val="556478"/>
                </a:solidFill>
                <a:latin typeface="Noto Sans"/>
                <a:cs typeface="Noto Sans"/>
              </a:rPr>
              <a:t>different—</a:t>
            </a: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concepts.</a:t>
            </a:r>
            <a:endParaRPr sz="1300">
              <a:latin typeface="Noto Sans"/>
              <a:cs typeface="Noto San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66635" y="1417319"/>
            <a:ext cx="11064240" cy="635"/>
          </a:xfrm>
          <a:custGeom>
            <a:avLst/>
            <a:gdLst/>
            <a:ahLst/>
            <a:cxnLst/>
            <a:rect l="l" t="t" r="r" b="b"/>
            <a:pathLst>
              <a:path w="11064240" h="634">
                <a:moveTo>
                  <a:pt x="0" y="0"/>
                </a:moveTo>
                <a:lnTo>
                  <a:pt x="11064240" y="355"/>
                </a:lnTo>
              </a:path>
            </a:pathLst>
          </a:custGeom>
          <a:ln w="10079">
            <a:solidFill>
              <a:srgbClr val="DBE4ED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6" name="object 6"/>
          <p:cNvGrpSpPr/>
          <p:nvPr/>
        </p:nvGrpSpPr>
        <p:grpSpPr>
          <a:xfrm>
            <a:off x="4292244" y="1896440"/>
            <a:ext cx="3531235" cy="696595"/>
            <a:chOff x="4292244" y="1896440"/>
            <a:chExt cx="3531235" cy="696595"/>
          </a:xfrm>
        </p:grpSpPr>
        <p:sp>
          <p:nvSpPr>
            <p:cNvPr id="7" name="object 7"/>
            <p:cNvSpPr/>
            <p:nvPr/>
          </p:nvSpPr>
          <p:spPr>
            <a:xfrm>
              <a:off x="4297324" y="1901520"/>
              <a:ext cx="3521075" cy="686435"/>
            </a:xfrm>
            <a:custGeom>
              <a:avLst/>
              <a:gdLst/>
              <a:ahLst/>
              <a:cxnLst/>
              <a:rect l="l" t="t" r="r" b="b"/>
              <a:pathLst>
                <a:path w="3521075" h="686435">
                  <a:moveTo>
                    <a:pt x="110159" y="0"/>
                  </a:moveTo>
                  <a:lnTo>
                    <a:pt x="68088" y="8352"/>
                  </a:lnTo>
                  <a:lnTo>
                    <a:pt x="32534" y="32223"/>
                  </a:lnTo>
                  <a:lnTo>
                    <a:pt x="8708" y="67882"/>
                  </a:lnTo>
                  <a:lnTo>
                    <a:pt x="355" y="109804"/>
                  </a:lnTo>
                  <a:lnTo>
                    <a:pt x="0" y="576364"/>
                  </a:lnTo>
                  <a:lnTo>
                    <a:pt x="939" y="590787"/>
                  </a:lnTo>
                  <a:lnTo>
                    <a:pt x="14757" y="631444"/>
                  </a:lnTo>
                  <a:lnTo>
                    <a:pt x="22670" y="643151"/>
                  </a:lnTo>
                  <a:lnTo>
                    <a:pt x="22775" y="643307"/>
                  </a:lnTo>
                  <a:lnTo>
                    <a:pt x="55079" y="671398"/>
                  </a:lnTo>
                  <a:lnTo>
                    <a:pt x="95374" y="685215"/>
                  </a:lnTo>
                  <a:lnTo>
                    <a:pt x="109791" y="686155"/>
                  </a:lnTo>
                  <a:lnTo>
                    <a:pt x="3410991" y="686155"/>
                  </a:lnTo>
                  <a:lnTo>
                    <a:pt x="3453062" y="677802"/>
                  </a:lnTo>
                  <a:lnTo>
                    <a:pt x="3488564" y="653988"/>
                  </a:lnTo>
                  <a:lnTo>
                    <a:pt x="3512365" y="618428"/>
                  </a:lnTo>
                  <a:lnTo>
                    <a:pt x="3520795" y="576364"/>
                  </a:lnTo>
                  <a:lnTo>
                    <a:pt x="3520772" y="109804"/>
                  </a:lnTo>
                  <a:lnTo>
                    <a:pt x="3512442" y="68088"/>
                  </a:lnTo>
                  <a:lnTo>
                    <a:pt x="3488572" y="32535"/>
                  </a:lnTo>
                  <a:lnTo>
                    <a:pt x="3452912" y="8713"/>
                  </a:lnTo>
                  <a:lnTo>
                    <a:pt x="3410991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0EB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4297324" y="1901520"/>
              <a:ext cx="3521075" cy="686435"/>
            </a:xfrm>
            <a:custGeom>
              <a:avLst/>
              <a:gdLst/>
              <a:ahLst/>
              <a:cxnLst/>
              <a:rect l="l" t="t" r="r" b="b"/>
              <a:pathLst>
                <a:path w="3521075" h="686435">
                  <a:moveTo>
                    <a:pt x="355" y="109804"/>
                  </a:moveTo>
                  <a:lnTo>
                    <a:pt x="1295" y="95379"/>
                  </a:lnTo>
                  <a:lnTo>
                    <a:pt x="4090" y="81360"/>
                  </a:lnTo>
                  <a:lnTo>
                    <a:pt x="23133" y="43010"/>
                  </a:lnTo>
                  <a:lnTo>
                    <a:pt x="55079" y="14757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3410991" y="355"/>
                  </a:lnTo>
                  <a:lnTo>
                    <a:pt x="3452912" y="8713"/>
                  </a:lnTo>
                  <a:lnTo>
                    <a:pt x="3488572" y="32535"/>
                  </a:lnTo>
                  <a:lnTo>
                    <a:pt x="3512442" y="68088"/>
                  </a:lnTo>
                  <a:lnTo>
                    <a:pt x="3520795" y="110159"/>
                  </a:lnTo>
                  <a:lnTo>
                    <a:pt x="3520795" y="576364"/>
                  </a:lnTo>
                  <a:lnTo>
                    <a:pt x="3519855" y="590781"/>
                  </a:lnTo>
                  <a:lnTo>
                    <a:pt x="3517060" y="604796"/>
                  </a:lnTo>
                  <a:lnTo>
                    <a:pt x="3498018" y="643151"/>
                  </a:lnTo>
                  <a:lnTo>
                    <a:pt x="3466071" y="671398"/>
                  </a:lnTo>
                  <a:lnTo>
                    <a:pt x="3425421" y="685215"/>
                  </a:lnTo>
                  <a:lnTo>
                    <a:pt x="3410991" y="686155"/>
                  </a:lnTo>
                  <a:lnTo>
                    <a:pt x="109791" y="686155"/>
                  </a:lnTo>
                  <a:lnTo>
                    <a:pt x="67882" y="677802"/>
                  </a:lnTo>
                  <a:lnTo>
                    <a:pt x="32213" y="653988"/>
                  </a:lnTo>
                  <a:lnTo>
                    <a:pt x="8352" y="618428"/>
                  </a:lnTo>
                  <a:lnTo>
                    <a:pt x="0" y="576364"/>
                  </a:lnTo>
                  <a:lnTo>
                    <a:pt x="355" y="109804"/>
                  </a:lnTo>
                  <a:close/>
                </a:path>
              </a:pathLst>
            </a:custGeom>
            <a:ln w="10079">
              <a:solidFill>
                <a:srgbClr val="F0EBF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5034495" y="2018423"/>
            <a:ext cx="2044064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36220" marR="5080" indent="-224154">
              <a:lnSpc>
                <a:spcPct val="100000"/>
              </a:lnSpc>
              <a:spcBef>
                <a:spcPts val="100"/>
              </a:spcBef>
            </a:pPr>
            <a:r>
              <a:rPr dirty="0" sz="1400" spc="-75">
                <a:solidFill>
                  <a:srgbClr val="5A399D"/>
                </a:solidFill>
                <a:latin typeface="Arial Black"/>
                <a:cs typeface="Arial Black"/>
              </a:rPr>
              <a:t>Microsoft</a:t>
            </a:r>
            <a:r>
              <a:rPr dirty="0" sz="1400" spc="-65">
                <a:solidFill>
                  <a:srgbClr val="5A399D"/>
                </a:solidFill>
                <a:latin typeface="Arial Black"/>
                <a:cs typeface="Arial Black"/>
              </a:rPr>
              <a:t> </a:t>
            </a:r>
            <a:r>
              <a:rPr dirty="0" sz="1400" spc="-85">
                <a:solidFill>
                  <a:srgbClr val="5A399D"/>
                </a:solidFill>
                <a:latin typeface="Arial Black"/>
                <a:cs typeface="Arial Black"/>
              </a:rPr>
              <a:t>Entra</a:t>
            </a:r>
            <a:r>
              <a:rPr dirty="0" sz="1400" spc="-65">
                <a:solidFill>
                  <a:srgbClr val="5A399D"/>
                </a:solidFill>
                <a:latin typeface="Arial Black"/>
                <a:cs typeface="Arial Black"/>
              </a:rPr>
              <a:t> </a:t>
            </a:r>
            <a:r>
              <a:rPr dirty="0" sz="1400" spc="-45">
                <a:solidFill>
                  <a:srgbClr val="5A399D"/>
                </a:solidFill>
                <a:latin typeface="Arial Black"/>
                <a:cs typeface="Arial Black"/>
              </a:rPr>
              <a:t>tenant Identity</a:t>
            </a:r>
            <a:r>
              <a:rPr dirty="0" sz="1400" spc="-65">
                <a:solidFill>
                  <a:srgbClr val="5A399D"/>
                </a:solidFill>
                <a:latin typeface="Arial Black"/>
                <a:cs typeface="Arial Black"/>
              </a:rPr>
              <a:t> </a:t>
            </a:r>
            <a:r>
              <a:rPr dirty="0" sz="1400" spc="-10">
                <a:solidFill>
                  <a:srgbClr val="5A399D"/>
                </a:solidFill>
                <a:latin typeface="Arial Black"/>
                <a:cs typeface="Arial Black"/>
              </a:rPr>
              <a:t>directory</a:t>
            </a:r>
            <a:endParaRPr sz="1400">
              <a:latin typeface="Arial Black"/>
              <a:cs typeface="Arial Black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377844" y="2577833"/>
            <a:ext cx="5360035" cy="948055"/>
            <a:chOff x="3377844" y="2577833"/>
            <a:chExt cx="5360035" cy="948055"/>
          </a:xfrm>
        </p:grpSpPr>
        <p:sp>
          <p:nvSpPr>
            <p:cNvPr id="11" name="object 11"/>
            <p:cNvSpPr/>
            <p:nvPr/>
          </p:nvSpPr>
          <p:spPr>
            <a:xfrm>
              <a:off x="6062395" y="2587675"/>
              <a:ext cx="635" cy="228600"/>
            </a:xfrm>
            <a:custGeom>
              <a:avLst/>
              <a:gdLst/>
              <a:ahLst/>
              <a:cxnLst/>
              <a:rect l="l" t="t" r="r" b="b"/>
              <a:pathLst>
                <a:path w="635" h="228600">
                  <a:moveTo>
                    <a:pt x="0" y="0"/>
                  </a:moveTo>
                  <a:lnTo>
                    <a:pt x="368" y="228600"/>
                  </a:lnTo>
                </a:path>
              </a:pathLst>
            </a:custGeom>
            <a:ln w="19079">
              <a:solidFill>
                <a:srgbClr val="5A399D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382924" y="2861640"/>
              <a:ext cx="5349875" cy="659130"/>
            </a:xfrm>
            <a:custGeom>
              <a:avLst/>
              <a:gdLst/>
              <a:ahLst/>
              <a:cxnLst/>
              <a:rect l="l" t="t" r="r" b="b"/>
              <a:pathLst>
                <a:path w="5349875" h="659129">
                  <a:moveTo>
                    <a:pt x="110159" y="0"/>
                  </a:moveTo>
                  <a:lnTo>
                    <a:pt x="68088" y="8352"/>
                  </a:lnTo>
                  <a:lnTo>
                    <a:pt x="32534" y="32223"/>
                  </a:lnTo>
                  <a:lnTo>
                    <a:pt x="8708" y="67882"/>
                  </a:lnTo>
                  <a:lnTo>
                    <a:pt x="355" y="109804"/>
                  </a:lnTo>
                  <a:lnTo>
                    <a:pt x="0" y="548995"/>
                  </a:lnTo>
                  <a:lnTo>
                    <a:pt x="939" y="563425"/>
                  </a:lnTo>
                  <a:lnTo>
                    <a:pt x="14757" y="604075"/>
                  </a:lnTo>
                  <a:lnTo>
                    <a:pt x="22674" y="615788"/>
                  </a:lnTo>
                  <a:lnTo>
                    <a:pt x="22775" y="615938"/>
                  </a:lnTo>
                  <a:lnTo>
                    <a:pt x="55079" y="644042"/>
                  </a:lnTo>
                  <a:lnTo>
                    <a:pt x="95374" y="657860"/>
                  </a:lnTo>
                  <a:lnTo>
                    <a:pt x="109791" y="658799"/>
                  </a:lnTo>
                  <a:lnTo>
                    <a:pt x="5239791" y="658799"/>
                  </a:lnTo>
                  <a:lnTo>
                    <a:pt x="5281862" y="650446"/>
                  </a:lnTo>
                  <a:lnTo>
                    <a:pt x="5317366" y="626621"/>
                  </a:lnTo>
                  <a:lnTo>
                    <a:pt x="5341167" y="591066"/>
                  </a:lnTo>
                  <a:lnTo>
                    <a:pt x="5349595" y="548995"/>
                  </a:lnTo>
                  <a:lnTo>
                    <a:pt x="5349572" y="109804"/>
                  </a:lnTo>
                  <a:lnTo>
                    <a:pt x="5341242" y="68088"/>
                  </a:lnTo>
                  <a:lnTo>
                    <a:pt x="5317372" y="32535"/>
                  </a:lnTo>
                  <a:lnTo>
                    <a:pt x="5281712" y="8713"/>
                  </a:lnTo>
                  <a:lnTo>
                    <a:pt x="5239791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9F3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3382924" y="2861640"/>
              <a:ext cx="5349875" cy="659130"/>
            </a:xfrm>
            <a:custGeom>
              <a:avLst/>
              <a:gdLst/>
              <a:ahLst/>
              <a:cxnLst/>
              <a:rect l="l" t="t" r="r" b="b"/>
              <a:pathLst>
                <a:path w="5349875" h="659129">
                  <a:moveTo>
                    <a:pt x="355" y="109804"/>
                  </a:moveTo>
                  <a:lnTo>
                    <a:pt x="1295" y="95379"/>
                  </a:lnTo>
                  <a:lnTo>
                    <a:pt x="4090" y="81360"/>
                  </a:lnTo>
                  <a:lnTo>
                    <a:pt x="23133" y="43010"/>
                  </a:lnTo>
                  <a:lnTo>
                    <a:pt x="55079" y="14757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5239791" y="355"/>
                  </a:lnTo>
                  <a:lnTo>
                    <a:pt x="5281712" y="8713"/>
                  </a:lnTo>
                  <a:lnTo>
                    <a:pt x="5317372" y="32535"/>
                  </a:lnTo>
                  <a:lnTo>
                    <a:pt x="5341242" y="68088"/>
                  </a:lnTo>
                  <a:lnTo>
                    <a:pt x="5349595" y="110159"/>
                  </a:lnTo>
                  <a:lnTo>
                    <a:pt x="5349595" y="548995"/>
                  </a:lnTo>
                  <a:lnTo>
                    <a:pt x="5348655" y="563420"/>
                  </a:lnTo>
                  <a:lnTo>
                    <a:pt x="5345860" y="577438"/>
                  </a:lnTo>
                  <a:lnTo>
                    <a:pt x="5326818" y="615788"/>
                  </a:lnTo>
                  <a:lnTo>
                    <a:pt x="5294871" y="644042"/>
                  </a:lnTo>
                  <a:lnTo>
                    <a:pt x="5254221" y="657860"/>
                  </a:lnTo>
                  <a:lnTo>
                    <a:pt x="5239791" y="658799"/>
                  </a:lnTo>
                  <a:lnTo>
                    <a:pt x="109791" y="658799"/>
                  </a:lnTo>
                  <a:lnTo>
                    <a:pt x="67882" y="650446"/>
                  </a:lnTo>
                  <a:lnTo>
                    <a:pt x="32213" y="626621"/>
                  </a:lnTo>
                  <a:lnTo>
                    <a:pt x="8352" y="591066"/>
                  </a:lnTo>
                  <a:lnTo>
                    <a:pt x="0" y="548995"/>
                  </a:lnTo>
                  <a:lnTo>
                    <a:pt x="355" y="109804"/>
                  </a:lnTo>
                  <a:close/>
                </a:path>
              </a:pathLst>
            </a:custGeom>
            <a:ln w="10079">
              <a:solidFill>
                <a:srgbClr val="E9F3F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4076179" y="2980334"/>
            <a:ext cx="3966210" cy="4210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55955" marR="5080" indent="-643890">
              <a:lnSpc>
                <a:spcPct val="100000"/>
              </a:lnSpc>
              <a:spcBef>
                <a:spcPts val="100"/>
              </a:spcBef>
            </a:pPr>
            <a:r>
              <a:rPr dirty="0" sz="1300" spc="-85">
                <a:solidFill>
                  <a:srgbClr val="0077D3"/>
                </a:solidFill>
                <a:latin typeface="Arial Black"/>
                <a:cs typeface="Arial Black"/>
              </a:rPr>
              <a:t>Root</a:t>
            </a:r>
            <a:r>
              <a:rPr dirty="0" sz="1300" spc="-60">
                <a:solidFill>
                  <a:srgbClr val="0077D3"/>
                </a:solidFill>
                <a:latin typeface="Arial Black"/>
                <a:cs typeface="Arial Black"/>
              </a:rPr>
              <a:t> management</a:t>
            </a:r>
            <a:r>
              <a:rPr dirty="0" sz="1300" spc="-55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300" spc="-45">
                <a:solidFill>
                  <a:srgbClr val="0077D3"/>
                </a:solidFill>
                <a:latin typeface="Arial Black"/>
                <a:cs typeface="Arial Black"/>
              </a:rPr>
              <a:t>group</a:t>
            </a:r>
            <a:r>
              <a:rPr dirty="0" sz="1300" spc="-65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300" spc="170">
                <a:solidFill>
                  <a:srgbClr val="0077D3"/>
                </a:solidFill>
                <a:latin typeface="Arial Black"/>
                <a:cs typeface="Arial Black"/>
              </a:rPr>
              <a:t>/</a:t>
            </a:r>
            <a:r>
              <a:rPr dirty="0" sz="1300" spc="-55">
                <a:solidFill>
                  <a:srgbClr val="0077D3"/>
                </a:solidFill>
                <a:latin typeface="Arial Black"/>
                <a:cs typeface="Arial Black"/>
              </a:rPr>
              <a:t> Management</a:t>
            </a:r>
            <a:r>
              <a:rPr dirty="0" sz="1300" spc="-6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300" spc="-45">
                <a:solidFill>
                  <a:srgbClr val="0077D3"/>
                </a:solidFill>
                <a:latin typeface="Arial Black"/>
                <a:cs typeface="Arial Black"/>
              </a:rPr>
              <a:t>groups </a:t>
            </a:r>
            <a:r>
              <a:rPr dirty="0" sz="1300" spc="-100">
                <a:solidFill>
                  <a:srgbClr val="0077D3"/>
                </a:solidFill>
                <a:latin typeface="Arial Black"/>
                <a:cs typeface="Arial Black"/>
              </a:rPr>
              <a:t>Policy</a:t>
            </a:r>
            <a:r>
              <a:rPr dirty="0" sz="1300" spc="-75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300" spc="-185">
                <a:solidFill>
                  <a:srgbClr val="0077D3"/>
                </a:solidFill>
                <a:latin typeface="Arial Black"/>
                <a:cs typeface="Arial Black"/>
              </a:rPr>
              <a:t>&amp;</a:t>
            </a:r>
            <a:r>
              <a:rPr dirty="0" sz="1300" spc="-75">
                <a:solidFill>
                  <a:srgbClr val="0077D3"/>
                </a:solidFill>
                <a:latin typeface="Arial Black"/>
                <a:cs typeface="Arial Black"/>
              </a:rPr>
              <a:t> governance</a:t>
            </a:r>
            <a:r>
              <a:rPr dirty="0" sz="1300" spc="-7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300" spc="-10">
                <a:solidFill>
                  <a:srgbClr val="0077D3"/>
                </a:solidFill>
                <a:latin typeface="Arial Black"/>
                <a:cs typeface="Arial Black"/>
              </a:rPr>
              <a:t>inheritance</a:t>
            </a:r>
            <a:endParaRPr sz="1300">
              <a:latin typeface="Arial Black"/>
              <a:cs typeface="Arial Black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908964" y="3510597"/>
            <a:ext cx="5163820" cy="837565"/>
            <a:chOff x="908964" y="3510597"/>
            <a:chExt cx="5163820" cy="837565"/>
          </a:xfrm>
        </p:grpSpPr>
        <p:sp>
          <p:nvSpPr>
            <p:cNvPr id="16" name="object 16"/>
            <p:cNvSpPr/>
            <p:nvPr/>
          </p:nvSpPr>
          <p:spPr>
            <a:xfrm>
              <a:off x="6062395" y="3520439"/>
              <a:ext cx="635" cy="228600"/>
            </a:xfrm>
            <a:custGeom>
              <a:avLst/>
              <a:gdLst/>
              <a:ahLst/>
              <a:cxnLst/>
              <a:rect l="l" t="t" r="r" b="b"/>
              <a:pathLst>
                <a:path w="635" h="228600">
                  <a:moveTo>
                    <a:pt x="0" y="0"/>
                  </a:moveTo>
                  <a:lnTo>
                    <a:pt x="368" y="228600"/>
                  </a:lnTo>
                </a:path>
              </a:pathLst>
            </a:custGeom>
            <a:ln w="19079">
              <a:solidFill>
                <a:srgbClr val="0077D3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914044" y="3794035"/>
              <a:ext cx="3795395" cy="549275"/>
            </a:xfrm>
            <a:custGeom>
              <a:avLst/>
              <a:gdLst/>
              <a:ahLst/>
              <a:cxnLst/>
              <a:rect l="l" t="t" r="r" b="b"/>
              <a:pathLst>
                <a:path w="3795395" h="549275">
                  <a:moveTo>
                    <a:pt x="110159" y="0"/>
                  </a:moveTo>
                  <a:lnTo>
                    <a:pt x="68088" y="8358"/>
                  </a:lnTo>
                  <a:lnTo>
                    <a:pt x="32534" y="32224"/>
                  </a:lnTo>
                  <a:lnTo>
                    <a:pt x="8708" y="67882"/>
                  </a:lnTo>
                  <a:lnTo>
                    <a:pt x="355" y="109804"/>
                  </a:lnTo>
                  <a:lnTo>
                    <a:pt x="0" y="439204"/>
                  </a:lnTo>
                  <a:lnTo>
                    <a:pt x="939" y="453634"/>
                  </a:lnTo>
                  <a:lnTo>
                    <a:pt x="3735" y="467691"/>
                  </a:lnTo>
                  <a:lnTo>
                    <a:pt x="8301" y="481125"/>
                  </a:lnTo>
                  <a:lnTo>
                    <a:pt x="8352" y="481275"/>
                  </a:lnTo>
                  <a:lnTo>
                    <a:pt x="32213" y="516828"/>
                  </a:lnTo>
                  <a:lnTo>
                    <a:pt x="67882" y="540650"/>
                  </a:lnTo>
                  <a:lnTo>
                    <a:pt x="109791" y="549008"/>
                  </a:lnTo>
                  <a:lnTo>
                    <a:pt x="3685311" y="549008"/>
                  </a:lnTo>
                  <a:lnTo>
                    <a:pt x="3727382" y="540650"/>
                  </a:lnTo>
                  <a:lnTo>
                    <a:pt x="3762886" y="516828"/>
                  </a:lnTo>
                  <a:lnTo>
                    <a:pt x="3786687" y="481275"/>
                  </a:lnTo>
                  <a:lnTo>
                    <a:pt x="3786762" y="481125"/>
                  </a:lnTo>
                  <a:lnTo>
                    <a:pt x="3791364" y="467691"/>
                  </a:lnTo>
                  <a:lnTo>
                    <a:pt x="3794174" y="453634"/>
                  </a:lnTo>
                  <a:lnTo>
                    <a:pt x="3795115" y="439204"/>
                  </a:lnTo>
                  <a:lnTo>
                    <a:pt x="3795092" y="109804"/>
                  </a:lnTo>
                  <a:lnTo>
                    <a:pt x="3786762" y="68095"/>
                  </a:lnTo>
                  <a:lnTo>
                    <a:pt x="3762892" y="32535"/>
                  </a:lnTo>
                  <a:lnTo>
                    <a:pt x="3727232" y="8721"/>
                  </a:lnTo>
                  <a:lnTo>
                    <a:pt x="3685311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6F7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914044" y="3794035"/>
              <a:ext cx="3795395" cy="549275"/>
            </a:xfrm>
            <a:custGeom>
              <a:avLst/>
              <a:gdLst/>
              <a:ahLst/>
              <a:cxnLst/>
              <a:rect l="l" t="t" r="r" b="b"/>
              <a:pathLst>
                <a:path w="3795395" h="549275">
                  <a:moveTo>
                    <a:pt x="355" y="109804"/>
                  </a:moveTo>
                  <a:lnTo>
                    <a:pt x="1295" y="95379"/>
                  </a:lnTo>
                  <a:lnTo>
                    <a:pt x="4090" y="81360"/>
                  </a:lnTo>
                  <a:lnTo>
                    <a:pt x="23133" y="43011"/>
                  </a:lnTo>
                  <a:lnTo>
                    <a:pt x="55079" y="14770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3685311" y="368"/>
                  </a:lnTo>
                  <a:lnTo>
                    <a:pt x="3727232" y="8721"/>
                  </a:lnTo>
                  <a:lnTo>
                    <a:pt x="3762892" y="32535"/>
                  </a:lnTo>
                  <a:lnTo>
                    <a:pt x="3786762" y="68095"/>
                  </a:lnTo>
                  <a:lnTo>
                    <a:pt x="3795115" y="110159"/>
                  </a:lnTo>
                  <a:lnTo>
                    <a:pt x="3795115" y="439204"/>
                  </a:lnTo>
                  <a:lnTo>
                    <a:pt x="3794175" y="453628"/>
                  </a:lnTo>
                  <a:lnTo>
                    <a:pt x="3791380" y="467647"/>
                  </a:lnTo>
                  <a:lnTo>
                    <a:pt x="3772338" y="505997"/>
                  </a:lnTo>
                  <a:lnTo>
                    <a:pt x="3740391" y="534238"/>
                  </a:lnTo>
                  <a:lnTo>
                    <a:pt x="3699741" y="548068"/>
                  </a:lnTo>
                  <a:lnTo>
                    <a:pt x="3685311" y="549008"/>
                  </a:lnTo>
                  <a:lnTo>
                    <a:pt x="109791" y="549008"/>
                  </a:lnTo>
                  <a:lnTo>
                    <a:pt x="67882" y="540650"/>
                  </a:lnTo>
                  <a:lnTo>
                    <a:pt x="32213" y="516828"/>
                  </a:lnTo>
                  <a:lnTo>
                    <a:pt x="8352" y="481275"/>
                  </a:lnTo>
                  <a:lnTo>
                    <a:pt x="0" y="439204"/>
                  </a:lnTo>
                  <a:lnTo>
                    <a:pt x="355" y="109804"/>
                  </a:lnTo>
                  <a:close/>
                </a:path>
              </a:pathLst>
            </a:custGeom>
            <a:ln w="10079">
              <a:solidFill>
                <a:srgbClr val="E6F7F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/>
          <p:nvPr/>
        </p:nvSpPr>
        <p:spPr>
          <a:xfrm>
            <a:off x="2834639" y="3520440"/>
            <a:ext cx="6492240" cy="247015"/>
          </a:xfrm>
          <a:custGeom>
            <a:avLst/>
            <a:gdLst/>
            <a:ahLst/>
            <a:cxnLst/>
            <a:rect l="l" t="t" r="r" b="b"/>
            <a:pathLst>
              <a:path w="6492240" h="247014">
                <a:moveTo>
                  <a:pt x="2743200" y="0"/>
                </a:moveTo>
                <a:lnTo>
                  <a:pt x="0" y="246595"/>
                </a:lnTo>
              </a:path>
              <a:path w="6492240" h="247014">
                <a:moveTo>
                  <a:pt x="3721315" y="0"/>
                </a:moveTo>
                <a:lnTo>
                  <a:pt x="6492240" y="246595"/>
                </a:lnTo>
              </a:path>
            </a:pathLst>
          </a:custGeom>
          <a:ln w="17639">
            <a:solidFill>
              <a:srgbClr val="0077D3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2205977" y="3957383"/>
            <a:ext cx="1212850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80">
                <a:solidFill>
                  <a:srgbClr val="0C9387"/>
                </a:solidFill>
                <a:latin typeface="Arial Black"/>
                <a:cs typeface="Arial Black"/>
              </a:rPr>
              <a:t>Subscription</a:t>
            </a:r>
            <a:r>
              <a:rPr dirty="0" sz="1300" spc="-30">
                <a:solidFill>
                  <a:srgbClr val="0C9387"/>
                </a:solidFill>
                <a:latin typeface="Arial Black"/>
                <a:cs typeface="Arial Black"/>
              </a:rPr>
              <a:t> </a:t>
            </a:r>
            <a:r>
              <a:rPr dirty="0" sz="1300" spc="-50">
                <a:solidFill>
                  <a:srgbClr val="0C9387"/>
                </a:solidFill>
                <a:latin typeface="Arial Black"/>
                <a:cs typeface="Arial Black"/>
              </a:rPr>
              <a:t>A</a:t>
            </a:r>
            <a:endParaRPr sz="1300">
              <a:latin typeface="Arial Black"/>
              <a:cs typeface="Arial Black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7446924" y="3788955"/>
            <a:ext cx="3805554" cy="559435"/>
            <a:chOff x="7446924" y="3788955"/>
            <a:chExt cx="3805554" cy="559435"/>
          </a:xfrm>
        </p:grpSpPr>
        <p:sp>
          <p:nvSpPr>
            <p:cNvPr id="21" name="object 21"/>
            <p:cNvSpPr/>
            <p:nvPr/>
          </p:nvSpPr>
          <p:spPr>
            <a:xfrm>
              <a:off x="7452004" y="3794035"/>
              <a:ext cx="3795395" cy="549275"/>
            </a:xfrm>
            <a:custGeom>
              <a:avLst/>
              <a:gdLst/>
              <a:ahLst/>
              <a:cxnLst/>
              <a:rect l="l" t="t" r="r" b="b"/>
              <a:pathLst>
                <a:path w="3795395" h="549275">
                  <a:moveTo>
                    <a:pt x="110159" y="0"/>
                  </a:moveTo>
                  <a:lnTo>
                    <a:pt x="68088" y="8358"/>
                  </a:lnTo>
                  <a:lnTo>
                    <a:pt x="32534" y="32224"/>
                  </a:lnTo>
                  <a:lnTo>
                    <a:pt x="8708" y="67882"/>
                  </a:lnTo>
                  <a:lnTo>
                    <a:pt x="355" y="109804"/>
                  </a:lnTo>
                  <a:lnTo>
                    <a:pt x="0" y="439204"/>
                  </a:lnTo>
                  <a:lnTo>
                    <a:pt x="939" y="453634"/>
                  </a:lnTo>
                  <a:lnTo>
                    <a:pt x="14757" y="494284"/>
                  </a:lnTo>
                  <a:lnTo>
                    <a:pt x="22674" y="505997"/>
                  </a:lnTo>
                  <a:lnTo>
                    <a:pt x="22775" y="506147"/>
                  </a:lnTo>
                  <a:lnTo>
                    <a:pt x="55079" y="534238"/>
                  </a:lnTo>
                  <a:lnTo>
                    <a:pt x="95374" y="548068"/>
                  </a:lnTo>
                  <a:lnTo>
                    <a:pt x="109791" y="549008"/>
                  </a:lnTo>
                  <a:lnTo>
                    <a:pt x="3685311" y="549008"/>
                  </a:lnTo>
                  <a:lnTo>
                    <a:pt x="3727382" y="540650"/>
                  </a:lnTo>
                  <a:lnTo>
                    <a:pt x="3762886" y="516828"/>
                  </a:lnTo>
                  <a:lnTo>
                    <a:pt x="3786687" y="481275"/>
                  </a:lnTo>
                  <a:lnTo>
                    <a:pt x="3795115" y="439204"/>
                  </a:lnTo>
                  <a:lnTo>
                    <a:pt x="3795092" y="109804"/>
                  </a:lnTo>
                  <a:lnTo>
                    <a:pt x="3786762" y="68095"/>
                  </a:lnTo>
                  <a:lnTo>
                    <a:pt x="3762892" y="32535"/>
                  </a:lnTo>
                  <a:lnTo>
                    <a:pt x="3727232" y="8721"/>
                  </a:lnTo>
                  <a:lnTo>
                    <a:pt x="3685311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6F7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7452004" y="3794035"/>
              <a:ext cx="3795395" cy="549275"/>
            </a:xfrm>
            <a:custGeom>
              <a:avLst/>
              <a:gdLst/>
              <a:ahLst/>
              <a:cxnLst/>
              <a:rect l="l" t="t" r="r" b="b"/>
              <a:pathLst>
                <a:path w="3795395" h="549275">
                  <a:moveTo>
                    <a:pt x="355" y="109804"/>
                  </a:moveTo>
                  <a:lnTo>
                    <a:pt x="1295" y="95379"/>
                  </a:lnTo>
                  <a:lnTo>
                    <a:pt x="4090" y="81360"/>
                  </a:lnTo>
                  <a:lnTo>
                    <a:pt x="23133" y="43011"/>
                  </a:lnTo>
                  <a:lnTo>
                    <a:pt x="55079" y="14770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3685311" y="368"/>
                  </a:lnTo>
                  <a:lnTo>
                    <a:pt x="3727232" y="8721"/>
                  </a:lnTo>
                  <a:lnTo>
                    <a:pt x="3762892" y="32535"/>
                  </a:lnTo>
                  <a:lnTo>
                    <a:pt x="3786762" y="68095"/>
                  </a:lnTo>
                  <a:lnTo>
                    <a:pt x="3795115" y="110159"/>
                  </a:lnTo>
                  <a:lnTo>
                    <a:pt x="3795115" y="439204"/>
                  </a:lnTo>
                  <a:lnTo>
                    <a:pt x="3794175" y="453628"/>
                  </a:lnTo>
                  <a:lnTo>
                    <a:pt x="3791380" y="467647"/>
                  </a:lnTo>
                  <a:lnTo>
                    <a:pt x="3772338" y="505997"/>
                  </a:lnTo>
                  <a:lnTo>
                    <a:pt x="3740391" y="534238"/>
                  </a:lnTo>
                  <a:lnTo>
                    <a:pt x="3699741" y="548068"/>
                  </a:lnTo>
                  <a:lnTo>
                    <a:pt x="3685311" y="549008"/>
                  </a:lnTo>
                  <a:lnTo>
                    <a:pt x="109791" y="549008"/>
                  </a:lnTo>
                  <a:lnTo>
                    <a:pt x="67882" y="540650"/>
                  </a:lnTo>
                  <a:lnTo>
                    <a:pt x="32213" y="516828"/>
                  </a:lnTo>
                  <a:lnTo>
                    <a:pt x="8352" y="481275"/>
                  </a:lnTo>
                  <a:lnTo>
                    <a:pt x="0" y="439204"/>
                  </a:lnTo>
                  <a:lnTo>
                    <a:pt x="355" y="109804"/>
                  </a:lnTo>
                  <a:close/>
                </a:path>
              </a:pathLst>
            </a:custGeom>
            <a:ln w="10079">
              <a:solidFill>
                <a:srgbClr val="E6F7F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8745384" y="3957383"/>
            <a:ext cx="1210310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80">
                <a:solidFill>
                  <a:srgbClr val="0C9387"/>
                </a:solidFill>
                <a:latin typeface="Arial Black"/>
                <a:cs typeface="Arial Black"/>
              </a:rPr>
              <a:t>Subscription</a:t>
            </a:r>
            <a:r>
              <a:rPr dirty="0" sz="1300" spc="-30">
                <a:solidFill>
                  <a:srgbClr val="0C9387"/>
                </a:solidFill>
                <a:latin typeface="Arial Black"/>
                <a:cs typeface="Arial Black"/>
              </a:rPr>
              <a:t> </a:t>
            </a:r>
            <a:r>
              <a:rPr dirty="0" sz="1300" spc="-50">
                <a:solidFill>
                  <a:srgbClr val="0C9387"/>
                </a:solidFill>
                <a:latin typeface="Arial Black"/>
                <a:cs typeface="Arial Black"/>
              </a:rPr>
              <a:t>B</a:t>
            </a:r>
            <a:endParaRPr sz="1300">
              <a:latin typeface="Arial Black"/>
              <a:cs typeface="Arial Black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909004" y="4575596"/>
            <a:ext cx="1793875" cy="605155"/>
            <a:chOff x="909004" y="4575596"/>
            <a:chExt cx="1793875" cy="605155"/>
          </a:xfrm>
        </p:grpSpPr>
        <p:sp>
          <p:nvSpPr>
            <p:cNvPr id="26" name="object 26"/>
            <p:cNvSpPr/>
            <p:nvPr/>
          </p:nvSpPr>
          <p:spPr>
            <a:xfrm>
              <a:off x="914044" y="4580636"/>
              <a:ext cx="1783714" cy="594995"/>
            </a:xfrm>
            <a:custGeom>
              <a:avLst/>
              <a:gdLst/>
              <a:ahLst/>
              <a:cxnLst/>
              <a:rect l="l" t="t" r="r" b="b"/>
              <a:pathLst>
                <a:path w="1783714" h="594995">
                  <a:moveTo>
                    <a:pt x="110159" y="0"/>
                  </a:moveTo>
                  <a:lnTo>
                    <a:pt x="68088" y="8358"/>
                  </a:lnTo>
                  <a:lnTo>
                    <a:pt x="32534" y="32224"/>
                  </a:lnTo>
                  <a:lnTo>
                    <a:pt x="8708" y="67882"/>
                  </a:lnTo>
                  <a:lnTo>
                    <a:pt x="355" y="109804"/>
                  </a:lnTo>
                  <a:lnTo>
                    <a:pt x="0" y="484924"/>
                  </a:lnTo>
                  <a:lnTo>
                    <a:pt x="939" y="499354"/>
                  </a:lnTo>
                  <a:lnTo>
                    <a:pt x="14757" y="540003"/>
                  </a:lnTo>
                  <a:lnTo>
                    <a:pt x="43003" y="571945"/>
                  </a:lnTo>
                  <a:lnTo>
                    <a:pt x="81359" y="590991"/>
                  </a:lnTo>
                  <a:lnTo>
                    <a:pt x="109791" y="594728"/>
                  </a:lnTo>
                  <a:lnTo>
                    <a:pt x="1673631" y="594728"/>
                  </a:lnTo>
                  <a:lnTo>
                    <a:pt x="1715702" y="586370"/>
                  </a:lnTo>
                  <a:lnTo>
                    <a:pt x="1751206" y="562548"/>
                  </a:lnTo>
                  <a:lnTo>
                    <a:pt x="1775007" y="526995"/>
                  </a:lnTo>
                  <a:lnTo>
                    <a:pt x="1783435" y="484924"/>
                  </a:lnTo>
                  <a:lnTo>
                    <a:pt x="1783412" y="109804"/>
                  </a:lnTo>
                  <a:lnTo>
                    <a:pt x="1775082" y="68095"/>
                  </a:lnTo>
                  <a:lnTo>
                    <a:pt x="1751212" y="32535"/>
                  </a:lnTo>
                  <a:lnTo>
                    <a:pt x="1715552" y="8721"/>
                  </a:lnTo>
                  <a:lnTo>
                    <a:pt x="1673631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914044" y="4580636"/>
              <a:ext cx="1783714" cy="594995"/>
            </a:xfrm>
            <a:custGeom>
              <a:avLst/>
              <a:gdLst/>
              <a:ahLst/>
              <a:cxnLst/>
              <a:rect l="l" t="t" r="r" b="b"/>
              <a:pathLst>
                <a:path w="1783714" h="594995">
                  <a:moveTo>
                    <a:pt x="355" y="109804"/>
                  </a:moveTo>
                  <a:lnTo>
                    <a:pt x="1295" y="95379"/>
                  </a:lnTo>
                  <a:lnTo>
                    <a:pt x="4090" y="81360"/>
                  </a:lnTo>
                  <a:lnTo>
                    <a:pt x="23133" y="43011"/>
                  </a:lnTo>
                  <a:lnTo>
                    <a:pt x="55079" y="14770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1673631" y="368"/>
                  </a:lnTo>
                  <a:lnTo>
                    <a:pt x="1715552" y="8721"/>
                  </a:lnTo>
                  <a:lnTo>
                    <a:pt x="1751212" y="32535"/>
                  </a:lnTo>
                  <a:lnTo>
                    <a:pt x="1775082" y="68095"/>
                  </a:lnTo>
                  <a:lnTo>
                    <a:pt x="1783435" y="110159"/>
                  </a:lnTo>
                  <a:lnTo>
                    <a:pt x="1783435" y="484924"/>
                  </a:lnTo>
                  <a:lnTo>
                    <a:pt x="1782495" y="499348"/>
                  </a:lnTo>
                  <a:lnTo>
                    <a:pt x="1779700" y="513367"/>
                  </a:lnTo>
                  <a:lnTo>
                    <a:pt x="1760658" y="551717"/>
                  </a:lnTo>
                  <a:lnTo>
                    <a:pt x="1728711" y="579958"/>
                  </a:lnTo>
                  <a:lnTo>
                    <a:pt x="1688061" y="593788"/>
                  </a:lnTo>
                  <a:lnTo>
                    <a:pt x="1673631" y="594728"/>
                  </a:lnTo>
                  <a:lnTo>
                    <a:pt x="109791" y="594728"/>
                  </a:lnTo>
                  <a:lnTo>
                    <a:pt x="67882" y="586370"/>
                  </a:lnTo>
                  <a:lnTo>
                    <a:pt x="32213" y="562548"/>
                  </a:lnTo>
                  <a:lnTo>
                    <a:pt x="8352" y="526995"/>
                  </a:lnTo>
                  <a:lnTo>
                    <a:pt x="0" y="484924"/>
                  </a:lnTo>
                  <a:lnTo>
                    <a:pt x="355" y="109804"/>
                  </a:lnTo>
                  <a:close/>
                </a:path>
              </a:pathLst>
            </a:custGeom>
            <a:ln w="1007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/>
          <p:nvPr/>
        </p:nvSpPr>
        <p:spPr>
          <a:xfrm>
            <a:off x="1216342" y="4689970"/>
            <a:ext cx="1179195" cy="376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6845" marR="5080" indent="-144780">
              <a:lnSpc>
                <a:spcPct val="100000"/>
              </a:lnSpc>
              <a:spcBef>
                <a:spcPts val="100"/>
              </a:spcBef>
            </a:pPr>
            <a:r>
              <a:rPr dirty="0" sz="1150" spc="-95">
                <a:solidFill>
                  <a:srgbClr val="DBE4ED"/>
                </a:solidFill>
                <a:latin typeface="Arial Black"/>
                <a:cs typeface="Arial Black"/>
              </a:rPr>
              <a:t>Resource</a:t>
            </a:r>
            <a:r>
              <a:rPr dirty="0" sz="1150" spc="-50">
                <a:solidFill>
                  <a:srgbClr val="DBE4ED"/>
                </a:solidFill>
                <a:latin typeface="Arial Black"/>
                <a:cs typeface="Arial Black"/>
              </a:rPr>
              <a:t> Group </a:t>
            </a:r>
            <a:r>
              <a:rPr dirty="0" sz="1150" spc="-40">
                <a:solidFill>
                  <a:srgbClr val="DBE4ED"/>
                </a:solidFill>
                <a:latin typeface="Arial Black"/>
                <a:cs typeface="Arial Black"/>
              </a:rPr>
              <a:t>rg-app-</a:t>
            </a:r>
            <a:r>
              <a:rPr dirty="0" sz="1150" spc="-20">
                <a:solidFill>
                  <a:srgbClr val="DBE4ED"/>
                </a:solidFill>
                <a:latin typeface="Arial Black"/>
                <a:cs typeface="Arial Black"/>
              </a:rPr>
              <a:t>prod</a:t>
            </a:r>
            <a:endParaRPr sz="1150">
              <a:latin typeface="Arial Black"/>
              <a:cs typeface="Arial Black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2902320" y="4575596"/>
            <a:ext cx="1793875" cy="605155"/>
            <a:chOff x="2902320" y="4575596"/>
            <a:chExt cx="1793875" cy="605155"/>
          </a:xfrm>
        </p:grpSpPr>
        <p:sp>
          <p:nvSpPr>
            <p:cNvPr id="30" name="object 30"/>
            <p:cNvSpPr/>
            <p:nvPr/>
          </p:nvSpPr>
          <p:spPr>
            <a:xfrm>
              <a:off x="2907360" y="4580636"/>
              <a:ext cx="1783714" cy="594995"/>
            </a:xfrm>
            <a:custGeom>
              <a:avLst/>
              <a:gdLst/>
              <a:ahLst/>
              <a:cxnLst/>
              <a:rect l="l" t="t" r="r" b="b"/>
              <a:pathLst>
                <a:path w="1783714" h="594995">
                  <a:moveTo>
                    <a:pt x="110159" y="0"/>
                  </a:moveTo>
                  <a:lnTo>
                    <a:pt x="68088" y="8358"/>
                  </a:lnTo>
                  <a:lnTo>
                    <a:pt x="32535" y="32224"/>
                  </a:lnTo>
                  <a:lnTo>
                    <a:pt x="8713" y="67882"/>
                  </a:lnTo>
                  <a:lnTo>
                    <a:pt x="355" y="109804"/>
                  </a:lnTo>
                  <a:lnTo>
                    <a:pt x="0" y="484924"/>
                  </a:lnTo>
                  <a:lnTo>
                    <a:pt x="939" y="499354"/>
                  </a:lnTo>
                  <a:lnTo>
                    <a:pt x="14757" y="540003"/>
                  </a:lnTo>
                  <a:lnTo>
                    <a:pt x="22681" y="551717"/>
                  </a:lnTo>
                  <a:lnTo>
                    <a:pt x="22783" y="551867"/>
                  </a:lnTo>
                  <a:lnTo>
                    <a:pt x="55079" y="579958"/>
                  </a:lnTo>
                  <a:lnTo>
                    <a:pt x="95379" y="593788"/>
                  </a:lnTo>
                  <a:lnTo>
                    <a:pt x="109804" y="594728"/>
                  </a:lnTo>
                  <a:lnTo>
                    <a:pt x="1673644" y="594728"/>
                  </a:lnTo>
                  <a:lnTo>
                    <a:pt x="1715708" y="586370"/>
                  </a:lnTo>
                  <a:lnTo>
                    <a:pt x="1751217" y="562548"/>
                  </a:lnTo>
                  <a:lnTo>
                    <a:pt x="1775007" y="526995"/>
                  </a:lnTo>
                  <a:lnTo>
                    <a:pt x="1783435" y="484924"/>
                  </a:lnTo>
                  <a:lnTo>
                    <a:pt x="1783412" y="109804"/>
                  </a:lnTo>
                  <a:lnTo>
                    <a:pt x="1775082" y="68095"/>
                  </a:lnTo>
                  <a:lnTo>
                    <a:pt x="1751222" y="32535"/>
                  </a:lnTo>
                  <a:lnTo>
                    <a:pt x="1715552" y="8721"/>
                  </a:lnTo>
                  <a:lnTo>
                    <a:pt x="1673644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2907360" y="4580636"/>
              <a:ext cx="1783714" cy="594995"/>
            </a:xfrm>
            <a:custGeom>
              <a:avLst/>
              <a:gdLst/>
              <a:ahLst/>
              <a:cxnLst/>
              <a:rect l="l" t="t" r="r" b="b"/>
              <a:pathLst>
                <a:path w="1783714" h="594995">
                  <a:moveTo>
                    <a:pt x="355" y="109804"/>
                  </a:moveTo>
                  <a:lnTo>
                    <a:pt x="1295" y="95379"/>
                  </a:lnTo>
                  <a:lnTo>
                    <a:pt x="4092" y="81360"/>
                  </a:lnTo>
                  <a:lnTo>
                    <a:pt x="23138" y="43011"/>
                  </a:lnTo>
                  <a:lnTo>
                    <a:pt x="55079" y="14770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1673644" y="368"/>
                  </a:lnTo>
                  <a:lnTo>
                    <a:pt x="1715552" y="8721"/>
                  </a:lnTo>
                  <a:lnTo>
                    <a:pt x="1751222" y="32535"/>
                  </a:lnTo>
                  <a:lnTo>
                    <a:pt x="1775082" y="68095"/>
                  </a:lnTo>
                  <a:lnTo>
                    <a:pt x="1783435" y="110159"/>
                  </a:lnTo>
                  <a:lnTo>
                    <a:pt x="1783435" y="484924"/>
                  </a:lnTo>
                  <a:lnTo>
                    <a:pt x="1782495" y="499348"/>
                  </a:lnTo>
                  <a:lnTo>
                    <a:pt x="1779700" y="513367"/>
                  </a:lnTo>
                  <a:lnTo>
                    <a:pt x="1760665" y="551717"/>
                  </a:lnTo>
                  <a:lnTo>
                    <a:pt x="1728724" y="579958"/>
                  </a:lnTo>
                  <a:lnTo>
                    <a:pt x="1688067" y="593788"/>
                  </a:lnTo>
                  <a:lnTo>
                    <a:pt x="1673644" y="594728"/>
                  </a:lnTo>
                  <a:lnTo>
                    <a:pt x="109804" y="594728"/>
                  </a:lnTo>
                  <a:lnTo>
                    <a:pt x="67882" y="586370"/>
                  </a:lnTo>
                  <a:lnTo>
                    <a:pt x="32223" y="562548"/>
                  </a:lnTo>
                  <a:lnTo>
                    <a:pt x="8352" y="526995"/>
                  </a:lnTo>
                  <a:lnTo>
                    <a:pt x="0" y="484924"/>
                  </a:lnTo>
                  <a:lnTo>
                    <a:pt x="355" y="109804"/>
                  </a:lnTo>
                  <a:close/>
                </a:path>
              </a:pathLst>
            </a:custGeom>
            <a:ln w="1007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3209658" y="4689970"/>
            <a:ext cx="1179195" cy="376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635" marR="5080" indent="-115570">
              <a:lnSpc>
                <a:spcPct val="100000"/>
              </a:lnSpc>
              <a:spcBef>
                <a:spcPts val="100"/>
              </a:spcBef>
            </a:pPr>
            <a:r>
              <a:rPr dirty="0" sz="1150" spc="-95">
                <a:solidFill>
                  <a:srgbClr val="DBE4ED"/>
                </a:solidFill>
                <a:latin typeface="Arial Black"/>
                <a:cs typeface="Arial Black"/>
              </a:rPr>
              <a:t>Resource</a:t>
            </a:r>
            <a:r>
              <a:rPr dirty="0" sz="1150" spc="-50">
                <a:solidFill>
                  <a:srgbClr val="DBE4ED"/>
                </a:solidFill>
                <a:latin typeface="Arial Black"/>
                <a:cs typeface="Arial Black"/>
              </a:rPr>
              <a:t> Group </a:t>
            </a:r>
            <a:r>
              <a:rPr dirty="0" sz="1150" spc="-35">
                <a:solidFill>
                  <a:srgbClr val="DBE4ED"/>
                </a:solidFill>
                <a:latin typeface="Arial Black"/>
                <a:cs typeface="Arial Black"/>
              </a:rPr>
              <a:t>rg-</a:t>
            </a:r>
            <a:r>
              <a:rPr dirty="0" sz="1150" spc="-50">
                <a:solidFill>
                  <a:srgbClr val="DBE4ED"/>
                </a:solidFill>
                <a:latin typeface="Arial Black"/>
                <a:cs typeface="Arial Black"/>
              </a:rPr>
              <a:t>data-</a:t>
            </a:r>
            <a:r>
              <a:rPr dirty="0" sz="1150" spc="-20">
                <a:solidFill>
                  <a:srgbClr val="DBE4ED"/>
                </a:solidFill>
                <a:latin typeface="Arial Black"/>
                <a:cs typeface="Arial Black"/>
              </a:rPr>
              <a:t>prod</a:t>
            </a:r>
            <a:endParaRPr sz="1150">
              <a:latin typeface="Arial Black"/>
              <a:cs typeface="Arial Black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7446964" y="4575596"/>
            <a:ext cx="1793875" cy="605155"/>
            <a:chOff x="7446964" y="4575596"/>
            <a:chExt cx="1793875" cy="605155"/>
          </a:xfrm>
        </p:grpSpPr>
        <p:sp>
          <p:nvSpPr>
            <p:cNvPr id="34" name="object 34"/>
            <p:cNvSpPr/>
            <p:nvPr/>
          </p:nvSpPr>
          <p:spPr>
            <a:xfrm>
              <a:off x="7452004" y="4580636"/>
              <a:ext cx="1783714" cy="594995"/>
            </a:xfrm>
            <a:custGeom>
              <a:avLst/>
              <a:gdLst/>
              <a:ahLst/>
              <a:cxnLst/>
              <a:rect l="l" t="t" r="r" b="b"/>
              <a:pathLst>
                <a:path w="1783715" h="594995">
                  <a:moveTo>
                    <a:pt x="110159" y="0"/>
                  </a:moveTo>
                  <a:lnTo>
                    <a:pt x="68088" y="8358"/>
                  </a:lnTo>
                  <a:lnTo>
                    <a:pt x="32534" y="32224"/>
                  </a:lnTo>
                  <a:lnTo>
                    <a:pt x="8708" y="67882"/>
                  </a:lnTo>
                  <a:lnTo>
                    <a:pt x="355" y="109804"/>
                  </a:lnTo>
                  <a:lnTo>
                    <a:pt x="0" y="484924"/>
                  </a:lnTo>
                  <a:lnTo>
                    <a:pt x="939" y="499354"/>
                  </a:lnTo>
                  <a:lnTo>
                    <a:pt x="14757" y="540003"/>
                  </a:lnTo>
                  <a:lnTo>
                    <a:pt x="22674" y="551717"/>
                  </a:lnTo>
                  <a:lnTo>
                    <a:pt x="22775" y="551867"/>
                  </a:lnTo>
                  <a:lnTo>
                    <a:pt x="55079" y="579958"/>
                  </a:lnTo>
                  <a:lnTo>
                    <a:pt x="95374" y="593788"/>
                  </a:lnTo>
                  <a:lnTo>
                    <a:pt x="109791" y="594728"/>
                  </a:lnTo>
                  <a:lnTo>
                    <a:pt x="1673631" y="594728"/>
                  </a:lnTo>
                  <a:lnTo>
                    <a:pt x="1715702" y="586370"/>
                  </a:lnTo>
                  <a:lnTo>
                    <a:pt x="1751206" y="562548"/>
                  </a:lnTo>
                  <a:lnTo>
                    <a:pt x="1775007" y="526995"/>
                  </a:lnTo>
                  <a:lnTo>
                    <a:pt x="1783435" y="484924"/>
                  </a:lnTo>
                  <a:lnTo>
                    <a:pt x="1783412" y="109804"/>
                  </a:lnTo>
                  <a:lnTo>
                    <a:pt x="1775082" y="68095"/>
                  </a:lnTo>
                  <a:lnTo>
                    <a:pt x="1751212" y="32535"/>
                  </a:lnTo>
                  <a:lnTo>
                    <a:pt x="1715552" y="8721"/>
                  </a:lnTo>
                  <a:lnTo>
                    <a:pt x="1673631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7452004" y="4580636"/>
              <a:ext cx="1783714" cy="594995"/>
            </a:xfrm>
            <a:custGeom>
              <a:avLst/>
              <a:gdLst/>
              <a:ahLst/>
              <a:cxnLst/>
              <a:rect l="l" t="t" r="r" b="b"/>
              <a:pathLst>
                <a:path w="1783715" h="594995">
                  <a:moveTo>
                    <a:pt x="355" y="109804"/>
                  </a:moveTo>
                  <a:lnTo>
                    <a:pt x="1295" y="95379"/>
                  </a:lnTo>
                  <a:lnTo>
                    <a:pt x="4090" y="81360"/>
                  </a:lnTo>
                  <a:lnTo>
                    <a:pt x="23133" y="43011"/>
                  </a:lnTo>
                  <a:lnTo>
                    <a:pt x="55079" y="14770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1673631" y="368"/>
                  </a:lnTo>
                  <a:lnTo>
                    <a:pt x="1715552" y="8721"/>
                  </a:lnTo>
                  <a:lnTo>
                    <a:pt x="1751212" y="32535"/>
                  </a:lnTo>
                  <a:lnTo>
                    <a:pt x="1775082" y="68095"/>
                  </a:lnTo>
                  <a:lnTo>
                    <a:pt x="1783435" y="110159"/>
                  </a:lnTo>
                  <a:lnTo>
                    <a:pt x="1783435" y="484924"/>
                  </a:lnTo>
                  <a:lnTo>
                    <a:pt x="1782495" y="499348"/>
                  </a:lnTo>
                  <a:lnTo>
                    <a:pt x="1779700" y="513367"/>
                  </a:lnTo>
                  <a:lnTo>
                    <a:pt x="1760658" y="551717"/>
                  </a:lnTo>
                  <a:lnTo>
                    <a:pt x="1728711" y="579958"/>
                  </a:lnTo>
                  <a:lnTo>
                    <a:pt x="1688061" y="593788"/>
                  </a:lnTo>
                  <a:lnTo>
                    <a:pt x="1673631" y="594728"/>
                  </a:lnTo>
                  <a:lnTo>
                    <a:pt x="109791" y="594728"/>
                  </a:lnTo>
                  <a:lnTo>
                    <a:pt x="67882" y="586370"/>
                  </a:lnTo>
                  <a:lnTo>
                    <a:pt x="32213" y="562548"/>
                  </a:lnTo>
                  <a:lnTo>
                    <a:pt x="8352" y="526995"/>
                  </a:lnTo>
                  <a:lnTo>
                    <a:pt x="0" y="484924"/>
                  </a:lnTo>
                  <a:lnTo>
                    <a:pt x="355" y="109804"/>
                  </a:lnTo>
                  <a:close/>
                </a:path>
              </a:pathLst>
            </a:custGeom>
            <a:ln w="1007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/>
          <p:cNvSpPr txBox="1"/>
          <p:nvPr/>
        </p:nvSpPr>
        <p:spPr>
          <a:xfrm>
            <a:off x="7754302" y="4689970"/>
            <a:ext cx="1179195" cy="376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7505" marR="5080" indent="-345440">
              <a:lnSpc>
                <a:spcPct val="100000"/>
              </a:lnSpc>
              <a:spcBef>
                <a:spcPts val="100"/>
              </a:spcBef>
            </a:pPr>
            <a:r>
              <a:rPr dirty="0" sz="1150" spc="-95">
                <a:solidFill>
                  <a:srgbClr val="DBE4ED"/>
                </a:solidFill>
                <a:latin typeface="Arial Black"/>
                <a:cs typeface="Arial Black"/>
              </a:rPr>
              <a:t>Resource</a:t>
            </a:r>
            <a:r>
              <a:rPr dirty="0" sz="1150" spc="-50">
                <a:solidFill>
                  <a:srgbClr val="DBE4ED"/>
                </a:solidFill>
                <a:latin typeface="Arial Black"/>
                <a:cs typeface="Arial Black"/>
              </a:rPr>
              <a:t> Group </a:t>
            </a:r>
            <a:r>
              <a:rPr dirty="0" sz="1150" spc="-40">
                <a:solidFill>
                  <a:srgbClr val="DBE4ED"/>
                </a:solidFill>
                <a:latin typeface="Arial Black"/>
                <a:cs typeface="Arial Black"/>
              </a:rPr>
              <a:t>rg-</a:t>
            </a:r>
            <a:r>
              <a:rPr dirty="0" sz="1150" spc="-25">
                <a:solidFill>
                  <a:srgbClr val="DBE4ED"/>
                </a:solidFill>
                <a:latin typeface="Arial Black"/>
                <a:cs typeface="Arial Black"/>
              </a:rPr>
              <a:t>dev</a:t>
            </a:r>
            <a:endParaRPr sz="1150">
              <a:latin typeface="Arial Black"/>
              <a:cs typeface="Arial Black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9440280" y="4575596"/>
            <a:ext cx="1793875" cy="605155"/>
            <a:chOff x="9440280" y="4575596"/>
            <a:chExt cx="1793875" cy="605155"/>
          </a:xfrm>
        </p:grpSpPr>
        <p:sp>
          <p:nvSpPr>
            <p:cNvPr id="38" name="object 38"/>
            <p:cNvSpPr/>
            <p:nvPr/>
          </p:nvSpPr>
          <p:spPr>
            <a:xfrm>
              <a:off x="9445320" y="4580636"/>
              <a:ext cx="1783714" cy="594995"/>
            </a:xfrm>
            <a:custGeom>
              <a:avLst/>
              <a:gdLst/>
              <a:ahLst/>
              <a:cxnLst/>
              <a:rect l="l" t="t" r="r" b="b"/>
              <a:pathLst>
                <a:path w="1783715" h="594995">
                  <a:moveTo>
                    <a:pt x="110159" y="0"/>
                  </a:moveTo>
                  <a:lnTo>
                    <a:pt x="68088" y="8358"/>
                  </a:lnTo>
                  <a:lnTo>
                    <a:pt x="32535" y="32224"/>
                  </a:lnTo>
                  <a:lnTo>
                    <a:pt x="8713" y="67882"/>
                  </a:lnTo>
                  <a:lnTo>
                    <a:pt x="355" y="109804"/>
                  </a:lnTo>
                  <a:lnTo>
                    <a:pt x="0" y="484924"/>
                  </a:lnTo>
                  <a:lnTo>
                    <a:pt x="939" y="499354"/>
                  </a:lnTo>
                  <a:lnTo>
                    <a:pt x="14757" y="540003"/>
                  </a:lnTo>
                  <a:lnTo>
                    <a:pt x="22681" y="551717"/>
                  </a:lnTo>
                  <a:lnTo>
                    <a:pt x="22783" y="551867"/>
                  </a:lnTo>
                  <a:lnTo>
                    <a:pt x="55079" y="579958"/>
                  </a:lnTo>
                  <a:lnTo>
                    <a:pt x="95379" y="593788"/>
                  </a:lnTo>
                  <a:lnTo>
                    <a:pt x="109804" y="594728"/>
                  </a:lnTo>
                  <a:lnTo>
                    <a:pt x="1673644" y="594728"/>
                  </a:lnTo>
                  <a:lnTo>
                    <a:pt x="1715708" y="586370"/>
                  </a:lnTo>
                  <a:lnTo>
                    <a:pt x="1751217" y="562548"/>
                  </a:lnTo>
                  <a:lnTo>
                    <a:pt x="1775007" y="526995"/>
                  </a:lnTo>
                  <a:lnTo>
                    <a:pt x="1783435" y="484924"/>
                  </a:lnTo>
                  <a:lnTo>
                    <a:pt x="1783412" y="109804"/>
                  </a:lnTo>
                  <a:lnTo>
                    <a:pt x="1775082" y="68095"/>
                  </a:lnTo>
                  <a:lnTo>
                    <a:pt x="1751222" y="32535"/>
                  </a:lnTo>
                  <a:lnTo>
                    <a:pt x="1715552" y="8721"/>
                  </a:lnTo>
                  <a:lnTo>
                    <a:pt x="1673644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9445320" y="4580636"/>
              <a:ext cx="1783714" cy="594995"/>
            </a:xfrm>
            <a:custGeom>
              <a:avLst/>
              <a:gdLst/>
              <a:ahLst/>
              <a:cxnLst/>
              <a:rect l="l" t="t" r="r" b="b"/>
              <a:pathLst>
                <a:path w="1783715" h="594995">
                  <a:moveTo>
                    <a:pt x="355" y="109804"/>
                  </a:moveTo>
                  <a:lnTo>
                    <a:pt x="1295" y="95379"/>
                  </a:lnTo>
                  <a:lnTo>
                    <a:pt x="4092" y="81360"/>
                  </a:lnTo>
                  <a:lnTo>
                    <a:pt x="23138" y="43011"/>
                  </a:lnTo>
                  <a:lnTo>
                    <a:pt x="55079" y="14770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1673644" y="368"/>
                  </a:lnTo>
                  <a:lnTo>
                    <a:pt x="1715552" y="8721"/>
                  </a:lnTo>
                  <a:lnTo>
                    <a:pt x="1751222" y="32535"/>
                  </a:lnTo>
                  <a:lnTo>
                    <a:pt x="1775082" y="68095"/>
                  </a:lnTo>
                  <a:lnTo>
                    <a:pt x="1783435" y="110159"/>
                  </a:lnTo>
                  <a:lnTo>
                    <a:pt x="1783435" y="484924"/>
                  </a:lnTo>
                  <a:lnTo>
                    <a:pt x="1782495" y="499348"/>
                  </a:lnTo>
                  <a:lnTo>
                    <a:pt x="1779700" y="513367"/>
                  </a:lnTo>
                  <a:lnTo>
                    <a:pt x="1760665" y="551717"/>
                  </a:lnTo>
                  <a:lnTo>
                    <a:pt x="1728724" y="579958"/>
                  </a:lnTo>
                  <a:lnTo>
                    <a:pt x="1688067" y="593788"/>
                  </a:lnTo>
                  <a:lnTo>
                    <a:pt x="1673644" y="594728"/>
                  </a:lnTo>
                  <a:lnTo>
                    <a:pt x="109804" y="594728"/>
                  </a:lnTo>
                  <a:lnTo>
                    <a:pt x="67882" y="586370"/>
                  </a:lnTo>
                  <a:lnTo>
                    <a:pt x="32223" y="562548"/>
                  </a:lnTo>
                  <a:lnTo>
                    <a:pt x="8352" y="526995"/>
                  </a:lnTo>
                  <a:lnTo>
                    <a:pt x="0" y="484924"/>
                  </a:lnTo>
                  <a:lnTo>
                    <a:pt x="355" y="109804"/>
                  </a:lnTo>
                  <a:close/>
                </a:path>
              </a:pathLst>
            </a:custGeom>
            <a:ln w="1007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" name="object 40"/>
          <p:cNvSpPr txBox="1"/>
          <p:nvPr/>
        </p:nvSpPr>
        <p:spPr>
          <a:xfrm>
            <a:off x="9747618" y="4689970"/>
            <a:ext cx="1179195" cy="376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36854" marR="5080" indent="-224790">
              <a:lnSpc>
                <a:spcPct val="100000"/>
              </a:lnSpc>
              <a:spcBef>
                <a:spcPts val="100"/>
              </a:spcBef>
            </a:pPr>
            <a:r>
              <a:rPr dirty="0" sz="1150" spc="-95">
                <a:solidFill>
                  <a:srgbClr val="DBE4ED"/>
                </a:solidFill>
                <a:latin typeface="Arial Black"/>
                <a:cs typeface="Arial Black"/>
              </a:rPr>
              <a:t>Resource</a:t>
            </a:r>
            <a:r>
              <a:rPr dirty="0" sz="1150" spc="-50">
                <a:solidFill>
                  <a:srgbClr val="DBE4ED"/>
                </a:solidFill>
                <a:latin typeface="Arial Black"/>
                <a:cs typeface="Arial Black"/>
              </a:rPr>
              <a:t> Group </a:t>
            </a:r>
            <a:r>
              <a:rPr dirty="0" sz="1150" spc="-40">
                <a:solidFill>
                  <a:srgbClr val="DBE4ED"/>
                </a:solidFill>
                <a:latin typeface="Arial Black"/>
                <a:cs typeface="Arial Black"/>
              </a:rPr>
              <a:t>rg-</a:t>
            </a:r>
            <a:r>
              <a:rPr dirty="0" sz="1150" spc="-10">
                <a:solidFill>
                  <a:srgbClr val="DBE4ED"/>
                </a:solidFill>
                <a:latin typeface="Arial Black"/>
                <a:cs typeface="Arial Black"/>
              </a:rPr>
              <a:t>shared</a:t>
            </a:r>
            <a:endParaRPr sz="1150">
              <a:latin typeface="Arial Black"/>
              <a:cs typeface="Arial Black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658135" y="5899213"/>
            <a:ext cx="6844665" cy="2165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 spc="-110">
                <a:solidFill>
                  <a:srgbClr val="0F2339"/>
                </a:solidFill>
                <a:latin typeface="Arial Black"/>
                <a:cs typeface="Arial Black"/>
              </a:rPr>
              <a:t>Resources:</a:t>
            </a:r>
            <a:r>
              <a:rPr dirty="0" sz="1250" spc="-7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250" spc="-114">
                <a:solidFill>
                  <a:srgbClr val="0F2339"/>
                </a:solidFill>
                <a:latin typeface="Arial Black"/>
                <a:cs typeface="Arial Black"/>
              </a:rPr>
              <a:t>VMs</a:t>
            </a:r>
            <a:r>
              <a:rPr dirty="0" sz="1250" spc="-7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250" spc="-165">
                <a:solidFill>
                  <a:srgbClr val="0F2339"/>
                </a:solidFill>
                <a:latin typeface="Arial Black"/>
                <a:cs typeface="Arial Black"/>
              </a:rPr>
              <a:t>•</a:t>
            </a:r>
            <a:r>
              <a:rPr dirty="0" sz="1250" spc="-6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250" spc="-95">
                <a:solidFill>
                  <a:srgbClr val="0F2339"/>
                </a:solidFill>
                <a:latin typeface="Arial Black"/>
                <a:cs typeface="Arial Black"/>
              </a:rPr>
              <a:t>disks</a:t>
            </a:r>
            <a:r>
              <a:rPr dirty="0" sz="1250" spc="-7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250" spc="-165">
                <a:solidFill>
                  <a:srgbClr val="0F2339"/>
                </a:solidFill>
                <a:latin typeface="Arial Black"/>
                <a:cs typeface="Arial Black"/>
              </a:rPr>
              <a:t>•</a:t>
            </a:r>
            <a:r>
              <a:rPr dirty="0" sz="1250" spc="-7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250" spc="-100">
                <a:solidFill>
                  <a:srgbClr val="0F2339"/>
                </a:solidFill>
                <a:latin typeface="Arial Black"/>
                <a:cs typeface="Arial Black"/>
              </a:rPr>
              <a:t>VNets</a:t>
            </a:r>
            <a:r>
              <a:rPr dirty="0" sz="1250" spc="-6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250" spc="-165">
                <a:solidFill>
                  <a:srgbClr val="0F2339"/>
                </a:solidFill>
                <a:latin typeface="Arial Black"/>
                <a:cs typeface="Arial Black"/>
              </a:rPr>
              <a:t>•</a:t>
            </a:r>
            <a:r>
              <a:rPr dirty="0" sz="1250" spc="-6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250" spc="-95">
                <a:solidFill>
                  <a:srgbClr val="0F2339"/>
                </a:solidFill>
                <a:latin typeface="Arial Black"/>
                <a:cs typeface="Arial Black"/>
              </a:rPr>
              <a:t>databases</a:t>
            </a:r>
            <a:r>
              <a:rPr dirty="0" sz="1250" spc="-6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250" spc="-165">
                <a:solidFill>
                  <a:srgbClr val="0F2339"/>
                </a:solidFill>
                <a:latin typeface="Arial Black"/>
                <a:cs typeface="Arial Black"/>
              </a:rPr>
              <a:t>•</a:t>
            </a:r>
            <a:r>
              <a:rPr dirty="0" sz="1250" spc="-6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250" spc="-75">
                <a:solidFill>
                  <a:srgbClr val="0F2339"/>
                </a:solidFill>
                <a:latin typeface="Arial Black"/>
                <a:cs typeface="Arial Black"/>
              </a:rPr>
              <a:t>storage</a:t>
            </a:r>
            <a:r>
              <a:rPr dirty="0" sz="1250" spc="-7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250" spc="-105">
                <a:solidFill>
                  <a:srgbClr val="0F2339"/>
                </a:solidFill>
                <a:latin typeface="Arial Black"/>
                <a:cs typeface="Arial Black"/>
              </a:rPr>
              <a:t>accounts</a:t>
            </a:r>
            <a:r>
              <a:rPr dirty="0" sz="1250" spc="-6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250" spc="-165">
                <a:solidFill>
                  <a:srgbClr val="0F2339"/>
                </a:solidFill>
                <a:latin typeface="Arial Black"/>
                <a:cs typeface="Arial Black"/>
              </a:rPr>
              <a:t>•</a:t>
            </a:r>
            <a:r>
              <a:rPr dirty="0" sz="1250" spc="-6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250" spc="-90">
                <a:solidFill>
                  <a:srgbClr val="0F2339"/>
                </a:solidFill>
                <a:latin typeface="Arial Black"/>
                <a:cs typeface="Arial Black"/>
              </a:rPr>
              <a:t>key</a:t>
            </a:r>
            <a:r>
              <a:rPr dirty="0" sz="1250" spc="-6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250" spc="-70">
                <a:solidFill>
                  <a:srgbClr val="0F2339"/>
                </a:solidFill>
                <a:latin typeface="Arial Black"/>
                <a:cs typeface="Arial Black"/>
              </a:rPr>
              <a:t>vaults</a:t>
            </a:r>
            <a:r>
              <a:rPr dirty="0" sz="1250" spc="-6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250" spc="-165">
                <a:solidFill>
                  <a:srgbClr val="0F2339"/>
                </a:solidFill>
                <a:latin typeface="Arial Black"/>
                <a:cs typeface="Arial Black"/>
              </a:rPr>
              <a:t>•</a:t>
            </a:r>
            <a:r>
              <a:rPr dirty="0" sz="1250" spc="-6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250" spc="-10">
                <a:solidFill>
                  <a:srgbClr val="0F2339"/>
                </a:solidFill>
                <a:latin typeface="Arial Black"/>
                <a:cs typeface="Arial Black"/>
              </a:rPr>
              <a:t>monitoring</a:t>
            </a:r>
            <a:endParaRPr sz="1250">
              <a:latin typeface="Arial Black"/>
              <a:cs typeface="Arial Black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66635" y="6382435"/>
            <a:ext cx="11064240" cy="635"/>
          </a:xfrm>
          <a:custGeom>
            <a:avLst/>
            <a:gdLst/>
            <a:ahLst/>
            <a:cxnLst/>
            <a:rect l="l" t="t" r="r" b="b"/>
            <a:pathLst>
              <a:path w="11064240" h="635">
                <a:moveTo>
                  <a:pt x="0" y="0"/>
                </a:moveTo>
                <a:lnTo>
                  <a:pt x="11064240" y="368"/>
                </a:lnTo>
              </a:path>
            </a:pathLst>
          </a:custGeom>
          <a:ln w="8999">
            <a:solidFill>
              <a:srgbClr val="DBE4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90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 spc="-100"/>
              <a:t>DAY</a:t>
            </a:r>
            <a:r>
              <a:rPr dirty="0" spc="-55"/>
              <a:t> </a:t>
            </a:r>
            <a:r>
              <a:rPr dirty="0"/>
              <a:t>1</a:t>
            </a:r>
            <a:r>
              <a:rPr dirty="0" spc="105"/>
              <a:t> </a:t>
            </a:r>
            <a:r>
              <a:rPr dirty="0"/>
              <a:t>•</a:t>
            </a:r>
            <a:r>
              <a:rPr dirty="0" spc="130"/>
              <a:t> </a:t>
            </a:r>
            <a:r>
              <a:rPr dirty="0" spc="-70"/>
              <a:t>CLOUD</a:t>
            </a:r>
            <a:r>
              <a:rPr dirty="0" spc="-55"/>
              <a:t> </a:t>
            </a:r>
            <a:r>
              <a:rPr dirty="0" spc="-65"/>
              <a:t>FOUNDATIONS</a:t>
            </a:r>
            <a:r>
              <a:rPr dirty="0" spc="-55"/>
              <a:t> </a:t>
            </a:r>
            <a:r>
              <a:rPr dirty="0" spc="-105"/>
              <a:t>&amp;</a:t>
            </a:r>
            <a:r>
              <a:rPr dirty="0" spc="-50"/>
              <a:t> </a:t>
            </a:r>
            <a:r>
              <a:rPr dirty="0" spc="-95"/>
              <a:t>AZURE</a:t>
            </a:r>
            <a:r>
              <a:rPr dirty="0" spc="-55"/>
              <a:t> </a:t>
            </a:r>
            <a:r>
              <a:rPr dirty="0" spc="-50"/>
              <a:t>BASICS</a:t>
            </a:r>
          </a:p>
        </p:txBody>
      </p:sp>
      <p:sp>
        <p:nvSpPr>
          <p:cNvPr id="42" name="object 4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032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160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3935" y="299427"/>
            <a:ext cx="242633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65">
                <a:solidFill>
                  <a:srgbClr val="0077D3"/>
                </a:solidFill>
                <a:latin typeface="Arial Black"/>
                <a:cs typeface="Arial Black"/>
              </a:rPr>
              <a:t>PA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25">
                <a:solidFill>
                  <a:srgbClr val="0077D3"/>
                </a:solidFill>
                <a:latin typeface="Arial Black"/>
                <a:cs typeface="Arial Black"/>
              </a:rPr>
              <a:t>R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>
                <a:solidFill>
                  <a:srgbClr val="0077D3"/>
                </a:solidFill>
                <a:latin typeface="Arial Black"/>
                <a:cs typeface="Arial Black"/>
              </a:rPr>
              <a:t>T</a:t>
            </a:r>
            <a:r>
              <a:rPr dirty="0" sz="1000" spc="-5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>
                <a:solidFill>
                  <a:srgbClr val="0077D3"/>
                </a:solidFill>
                <a:latin typeface="Arial Black"/>
                <a:cs typeface="Arial Black"/>
              </a:rPr>
              <a:t>3</a:t>
            </a:r>
            <a:r>
              <a:rPr dirty="0" sz="1000" spc="13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>
                <a:solidFill>
                  <a:srgbClr val="0077D3"/>
                </a:solidFill>
                <a:latin typeface="Arial Black"/>
                <a:cs typeface="Arial Black"/>
              </a:rPr>
              <a:t>•</a:t>
            </a:r>
            <a:r>
              <a:rPr dirty="0" sz="1000" spc="145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95">
                <a:solidFill>
                  <a:srgbClr val="0077D3"/>
                </a:solidFill>
                <a:latin typeface="Arial Black"/>
                <a:cs typeface="Arial Black"/>
              </a:rPr>
              <a:t>A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60">
                <a:solidFill>
                  <a:srgbClr val="0077D3"/>
                </a:solidFill>
                <a:latin typeface="Arial Black"/>
                <a:cs typeface="Arial Black"/>
              </a:rPr>
              <a:t>Z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90">
                <a:solidFill>
                  <a:srgbClr val="0077D3"/>
                </a:solidFill>
                <a:latin typeface="Arial Black"/>
                <a:cs typeface="Arial Black"/>
              </a:rPr>
              <a:t>U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25">
                <a:solidFill>
                  <a:srgbClr val="0077D3"/>
                </a:solidFill>
                <a:latin typeface="Arial Black"/>
                <a:cs typeface="Arial Black"/>
              </a:rPr>
              <a:t>R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>
                <a:solidFill>
                  <a:srgbClr val="0077D3"/>
                </a:solidFill>
                <a:latin typeface="Arial Black"/>
                <a:cs typeface="Arial Black"/>
              </a:rPr>
              <a:t>E</a:t>
            </a:r>
            <a:r>
              <a:rPr dirty="0" sz="1000" spc="14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50">
                <a:solidFill>
                  <a:srgbClr val="0077D3"/>
                </a:solidFill>
                <a:latin typeface="Arial Black"/>
                <a:cs typeface="Arial Black"/>
              </a:rPr>
              <a:t>O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25">
                <a:solidFill>
                  <a:srgbClr val="0077D3"/>
                </a:solidFill>
                <a:latin typeface="Arial Black"/>
                <a:cs typeface="Arial Black"/>
              </a:rPr>
              <a:t>R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25">
                <a:solidFill>
                  <a:srgbClr val="0077D3"/>
                </a:solidFill>
                <a:latin typeface="Arial Black"/>
                <a:cs typeface="Arial Black"/>
              </a:rPr>
              <a:t>G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95">
                <a:solidFill>
                  <a:srgbClr val="0077D3"/>
                </a:solidFill>
                <a:latin typeface="Arial Black"/>
                <a:cs typeface="Arial Black"/>
              </a:rPr>
              <a:t>A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>
                <a:solidFill>
                  <a:srgbClr val="0077D3"/>
                </a:solidFill>
                <a:latin typeface="Arial Black"/>
                <a:cs typeface="Arial Black"/>
              </a:rPr>
              <a:t>NI</a:t>
            </a:r>
            <a:r>
              <a:rPr dirty="0" sz="1000" spc="-204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60">
                <a:solidFill>
                  <a:srgbClr val="0077D3"/>
                </a:solidFill>
                <a:latin typeface="Arial Black"/>
                <a:cs typeface="Arial Black"/>
              </a:rPr>
              <a:t>Z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00">
                <a:solidFill>
                  <a:srgbClr val="0077D3"/>
                </a:solidFill>
                <a:latin typeface="Arial Black"/>
                <a:cs typeface="Arial Black"/>
              </a:rPr>
              <a:t>AT</a:t>
            </a:r>
            <a:r>
              <a:rPr dirty="0" sz="1000" spc="-204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>
                <a:solidFill>
                  <a:srgbClr val="0077D3"/>
                </a:solidFill>
                <a:latin typeface="Arial Black"/>
                <a:cs typeface="Arial Black"/>
              </a:rPr>
              <a:t>I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50">
                <a:solidFill>
                  <a:srgbClr val="0077D3"/>
                </a:solidFill>
                <a:latin typeface="Arial Black"/>
                <a:cs typeface="Arial Black"/>
              </a:rPr>
              <a:t>O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50">
                <a:solidFill>
                  <a:srgbClr val="0077D3"/>
                </a:solidFill>
                <a:latin typeface="Arial Black"/>
                <a:cs typeface="Arial Black"/>
              </a:rPr>
              <a:t>N</a:t>
            </a:r>
            <a:endParaRPr sz="1000">
              <a:latin typeface="Arial Black"/>
              <a:cs typeface="Arial Black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54304" y="428977"/>
            <a:ext cx="8854440" cy="814705"/>
          </a:xfrm>
          <a:prstGeom prst="rect"/>
        </p:spPr>
        <p:txBody>
          <a:bodyPr wrap="square" lIns="0" tIns="133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0"/>
              </a:spcBef>
            </a:pPr>
            <a:r>
              <a:rPr dirty="0" sz="2700" spc="-185">
                <a:solidFill>
                  <a:srgbClr val="0F2339"/>
                </a:solidFill>
              </a:rPr>
              <a:t>Tenant:</a:t>
            </a:r>
            <a:r>
              <a:rPr dirty="0" sz="2700" spc="-165">
                <a:solidFill>
                  <a:srgbClr val="0F2339"/>
                </a:solidFill>
              </a:rPr>
              <a:t> </a:t>
            </a:r>
            <a:r>
              <a:rPr dirty="0" sz="2700" spc="-105">
                <a:solidFill>
                  <a:srgbClr val="0F2339"/>
                </a:solidFill>
              </a:rPr>
              <a:t>the</a:t>
            </a:r>
            <a:r>
              <a:rPr dirty="0" sz="2700" spc="-165">
                <a:solidFill>
                  <a:srgbClr val="0F2339"/>
                </a:solidFill>
              </a:rPr>
              <a:t> </a:t>
            </a:r>
            <a:r>
              <a:rPr dirty="0" sz="2700" spc="-85">
                <a:solidFill>
                  <a:srgbClr val="0F2339"/>
                </a:solidFill>
              </a:rPr>
              <a:t>identity</a:t>
            </a:r>
            <a:r>
              <a:rPr dirty="0" sz="2700" spc="-165">
                <a:solidFill>
                  <a:srgbClr val="0F2339"/>
                </a:solidFill>
              </a:rPr>
              <a:t> </a:t>
            </a:r>
            <a:r>
              <a:rPr dirty="0" sz="2700" spc="-135">
                <a:solidFill>
                  <a:srgbClr val="0F2339"/>
                </a:solidFill>
              </a:rPr>
              <a:t>directory</a:t>
            </a:r>
            <a:r>
              <a:rPr dirty="0" sz="2700" spc="-160">
                <a:solidFill>
                  <a:srgbClr val="0F2339"/>
                </a:solidFill>
              </a:rPr>
              <a:t> </a:t>
            </a:r>
            <a:r>
              <a:rPr dirty="0" sz="2700" spc="-10">
                <a:solidFill>
                  <a:srgbClr val="0F2339"/>
                </a:solidFill>
              </a:rPr>
              <a:t>boundary</a:t>
            </a:r>
            <a:endParaRPr sz="2700"/>
          </a:p>
          <a:p>
            <a:pPr marL="30480">
              <a:lnSpc>
                <a:spcPct val="100000"/>
              </a:lnSpc>
              <a:spcBef>
                <a:spcPts val="459"/>
              </a:spcBef>
            </a:pP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Microsoft</a:t>
            </a:r>
            <a:r>
              <a:rPr dirty="0" sz="130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Entra</a:t>
            </a:r>
            <a:r>
              <a:rPr dirty="0" sz="130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ID</a:t>
            </a:r>
            <a:r>
              <a:rPr dirty="0" sz="13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is</a:t>
            </a:r>
            <a:r>
              <a:rPr dirty="0" sz="130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the</a:t>
            </a:r>
            <a:r>
              <a:rPr dirty="0" sz="13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cloud</a:t>
            </a:r>
            <a:r>
              <a:rPr dirty="0" sz="130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identity</a:t>
            </a:r>
            <a:r>
              <a:rPr dirty="0" sz="130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service</a:t>
            </a:r>
            <a:r>
              <a:rPr dirty="0" sz="130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used</a:t>
            </a:r>
            <a:r>
              <a:rPr dirty="0" sz="130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to</a:t>
            </a:r>
            <a:r>
              <a:rPr dirty="0" sz="130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authenticate</a:t>
            </a:r>
            <a:r>
              <a:rPr dirty="0" sz="130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identities</a:t>
            </a:r>
            <a:r>
              <a:rPr dirty="0" sz="130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and</a:t>
            </a:r>
            <a:r>
              <a:rPr dirty="0" sz="130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support</a:t>
            </a:r>
            <a:r>
              <a:rPr dirty="0" sz="130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authorization</a:t>
            </a:r>
            <a:r>
              <a:rPr dirty="0" sz="130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decisions.</a:t>
            </a:r>
            <a:endParaRPr sz="1300">
              <a:latin typeface="Noto Sans"/>
              <a:cs typeface="Noto San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66635" y="1417319"/>
            <a:ext cx="11064240" cy="635"/>
          </a:xfrm>
          <a:custGeom>
            <a:avLst/>
            <a:gdLst/>
            <a:ahLst/>
            <a:cxnLst/>
            <a:rect l="l" t="t" r="r" b="b"/>
            <a:pathLst>
              <a:path w="11064240" h="634">
                <a:moveTo>
                  <a:pt x="0" y="0"/>
                </a:moveTo>
                <a:lnTo>
                  <a:pt x="11064240" y="355"/>
                </a:lnTo>
              </a:path>
            </a:pathLst>
          </a:custGeom>
          <a:ln w="10079">
            <a:solidFill>
              <a:srgbClr val="DBE4ED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6" name="object 6"/>
          <p:cNvGrpSpPr/>
          <p:nvPr/>
        </p:nvGrpSpPr>
        <p:grpSpPr>
          <a:xfrm>
            <a:off x="771476" y="1777684"/>
            <a:ext cx="3668395" cy="2159635"/>
            <a:chOff x="771476" y="1777684"/>
            <a:chExt cx="3668395" cy="2159635"/>
          </a:xfrm>
        </p:grpSpPr>
        <p:sp>
          <p:nvSpPr>
            <p:cNvPr id="7" name="object 7"/>
            <p:cNvSpPr/>
            <p:nvPr/>
          </p:nvSpPr>
          <p:spPr>
            <a:xfrm>
              <a:off x="776516" y="1782724"/>
              <a:ext cx="3658235" cy="2149475"/>
            </a:xfrm>
            <a:custGeom>
              <a:avLst/>
              <a:gdLst/>
              <a:ahLst/>
              <a:cxnLst/>
              <a:rect l="l" t="t" r="r" b="b"/>
              <a:pathLst>
                <a:path w="3658235" h="2149475">
                  <a:moveTo>
                    <a:pt x="110159" y="0"/>
                  </a:moveTo>
                  <a:lnTo>
                    <a:pt x="68095" y="8352"/>
                  </a:lnTo>
                  <a:lnTo>
                    <a:pt x="32535" y="32213"/>
                  </a:lnTo>
                  <a:lnTo>
                    <a:pt x="8721" y="67932"/>
                  </a:lnTo>
                  <a:lnTo>
                    <a:pt x="368" y="109791"/>
                  </a:lnTo>
                  <a:lnTo>
                    <a:pt x="0" y="2039391"/>
                  </a:lnTo>
                  <a:lnTo>
                    <a:pt x="929" y="2053666"/>
                  </a:lnTo>
                  <a:lnTo>
                    <a:pt x="14770" y="2094471"/>
                  </a:lnTo>
                  <a:lnTo>
                    <a:pt x="43011" y="2126418"/>
                  </a:lnTo>
                  <a:lnTo>
                    <a:pt x="81499" y="2145460"/>
                  </a:lnTo>
                  <a:lnTo>
                    <a:pt x="109804" y="2149195"/>
                  </a:lnTo>
                  <a:lnTo>
                    <a:pt x="3548164" y="2149195"/>
                  </a:lnTo>
                  <a:lnTo>
                    <a:pt x="3590235" y="2140842"/>
                  </a:lnTo>
                  <a:lnTo>
                    <a:pt x="3625737" y="2117016"/>
                  </a:lnTo>
                  <a:lnTo>
                    <a:pt x="3649510" y="2081462"/>
                  </a:lnTo>
                  <a:lnTo>
                    <a:pt x="3657968" y="2039391"/>
                  </a:lnTo>
                  <a:lnTo>
                    <a:pt x="3657944" y="109791"/>
                  </a:lnTo>
                  <a:lnTo>
                    <a:pt x="3649610" y="68088"/>
                  </a:lnTo>
                  <a:lnTo>
                    <a:pt x="3625743" y="32534"/>
                  </a:lnTo>
                  <a:lnTo>
                    <a:pt x="3590033" y="8708"/>
                  </a:lnTo>
                  <a:lnTo>
                    <a:pt x="354816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776516" y="1782724"/>
              <a:ext cx="3658235" cy="2149475"/>
            </a:xfrm>
            <a:custGeom>
              <a:avLst/>
              <a:gdLst/>
              <a:ahLst/>
              <a:cxnLst/>
              <a:rect l="l" t="t" r="r" b="b"/>
              <a:pathLst>
                <a:path w="3658235" h="2149475">
                  <a:moveTo>
                    <a:pt x="368" y="109791"/>
                  </a:moveTo>
                  <a:lnTo>
                    <a:pt x="1307" y="95524"/>
                  </a:lnTo>
                  <a:lnTo>
                    <a:pt x="4103" y="81492"/>
                  </a:lnTo>
                  <a:lnTo>
                    <a:pt x="23138" y="43003"/>
                  </a:lnTo>
                  <a:lnTo>
                    <a:pt x="55079" y="14757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3548164" y="355"/>
                  </a:lnTo>
                  <a:lnTo>
                    <a:pt x="3590033" y="8708"/>
                  </a:lnTo>
                  <a:lnTo>
                    <a:pt x="3625743" y="32534"/>
                  </a:lnTo>
                  <a:lnTo>
                    <a:pt x="3649610" y="68088"/>
                  </a:lnTo>
                  <a:lnTo>
                    <a:pt x="3657968" y="110159"/>
                  </a:lnTo>
                  <a:lnTo>
                    <a:pt x="3657968" y="2039391"/>
                  </a:lnTo>
                  <a:lnTo>
                    <a:pt x="3657028" y="2053666"/>
                  </a:lnTo>
                  <a:lnTo>
                    <a:pt x="3654231" y="2067701"/>
                  </a:lnTo>
                  <a:lnTo>
                    <a:pt x="3635185" y="2106184"/>
                  </a:lnTo>
                  <a:lnTo>
                    <a:pt x="3603244" y="2134438"/>
                  </a:lnTo>
                  <a:lnTo>
                    <a:pt x="3562594" y="2148255"/>
                  </a:lnTo>
                  <a:lnTo>
                    <a:pt x="3548164" y="2149195"/>
                  </a:lnTo>
                  <a:lnTo>
                    <a:pt x="109804" y="2149195"/>
                  </a:lnTo>
                  <a:lnTo>
                    <a:pt x="67934" y="2140842"/>
                  </a:lnTo>
                  <a:lnTo>
                    <a:pt x="32224" y="2117016"/>
                  </a:lnTo>
                  <a:lnTo>
                    <a:pt x="8358" y="2081462"/>
                  </a:lnTo>
                  <a:lnTo>
                    <a:pt x="0" y="2039391"/>
                  </a:lnTo>
                  <a:lnTo>
                    <a:pt x="368" y="109791"/>
                  </a:lnTo>
                  <a:close/>
                </a:path>
              </a:pathLst>
            </a:custGeom>
            <a:ln w="10079">
              <a:solidFill>
                <a:srgbClr val="DBE4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777239" y="1783079"/>
              <a:ext cx="73025" cy="2148840"/>
            </a:xfrm>
            <a:custGeom>
              <a:avLst/>
              <a:gdLst/>
              <a:ahLst/>
              <a:cxnLst/>
              <a:rect l="l" t="t" r="r" b="b"/>
              <a:pathLst>
                <a:path w="73025" h="2148840">
                  <a:moveTo>
                    <a:pt x="72720" y="0"/>
                  </a:moveTo>
                  <a:lnTo>
                    <a:pt x="0" y="0"/>
                  </a:lnTo>
                  <a:lnTo>
                    <a:pt x="0" y="2148484"/>
                  </a:lnTo>
                  <a:lnTo>
                    <a:pt x="36360" y="2148484"/>
                  </a:lnTo>
                  <a:lnTo>
                    <a:pt x="72720" y="2148484"/>
                  </a:lnTo>
                  <a:lnTo>
                    <a:pt x="72720" y="0"/>
                  </a:lnTo>
                  <a:close/>
                </a:path>
              </a:pathLst>
            </a:custGeom>
            <a:solidFill>
              <a:srgbClr val="5A39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777239" y="1783079"/>
              <a:ext cx="73025" cy="2148840"/>
            </a:xfrm>
            <a:custGeom>
              <a:avLst/>
              <a:gdLst/>
              <a:ahLst/>
              <a:cxnLst/>
              <a:rect l="l" t="t" r="r" b="b"/>
              <a:pathLst>
                <a:path w="73025" h="2148840">
                  <a:moveTo>
                    <a:pt x="36360" y="2148484"/>
                  </a:moveTo>
                  <a:lnTo>
                    <a:pt x="0" y="2148484"/>
                  </a:lnTo>
                  <a:lnTo>
                    <a:pt x="0" y="0"/>
                  </a:lnTo>
                  <a:lnTo>
                    <a:pt x="72720" y="0"/>
                  </a:lnTo>
                  <a:lnTo>
                    <a:pt x="72720" y="2148484"/>
                  </a:lnTo>
                  <a:lnTo>
                    <a:pt x="36360" y="2148484"/>
                  </a:lnTo>
                  <a:close/>
                </a:path>
              </a:pathLst>
            </a:custGeom>
            <a:ln w="10079">
              <a:solidFill>
                <a:srgbClr val="5A399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965784" y="1959381"/>
            <a:ext cx="3175000" cy="13004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60">
                <a:solidFill>
                  <a:srgbClr val="0F2339"/>
                </a:solidFill>
                <a:latin typeface="Arial Black"/>
                <a:cs typeface="Arial Black"/>
              </a:rPr>
              <a:t>What</a:t>
            </a:r>
            <a:r>
              <a:rPr dirty="0" sz="1600" spc="-11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600" spc="-114">
                <a:solidFill>
                  <a:srgbClr val="0F2339"/>
                </a:solidFill>
                <a:latin typeface="Arial Black"/>
                <a:cs typeface="Arial Black"/>
              </a:rPr>
              <a:t>a</a:t>
            </a:r>
            <a:r>
              <a:rPr dirty="0" sz="1600" spc="-11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600" spc="-60">
                <a:solidFill>
                  <a:srgbClr val="0F2339"/>
                </a:solidFill>
                <a:latin typeface="Arial Black"/>
                <a:cs typeface="Arial Black"/>
              </a:rPr>
              <a:t>tenant</a:t>
            </a:r>
            <a:r>
              <a:rPr dirty="0" sz="1600" spc="-10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600" spc="-10">
                <a:solidFill>
                  <a:srgbClr val="0F2339"/>
                </a:solidFill>
                <a:latin typeface="Arial Black"/>
                <a:cs typeface="Arial Black"/>
              </a:rPr>
              <a:t>contains</a:t>
            </a:r>
            <a:endParaRPr sz="1600">
              <a:latin typeface="Arial Black"/>
              <a:cs typeface="Arial Black"/>
            </a:endParaRPr>
          </a:p>
          <a:p>
            <a:pPr marL="12700" marR="5080">
              <a:lnSpc>
                <a:spcPct val="105100"/>
              </a:lnSpc>
              <a:spcBef>
                <a:spcPts val="1055"/>
              </a:spcBef>
            </a:pPr>
            <a:r>
              <a:rPr dirty="0" sz="1400">
                <a:solidFill>
                  <a:srgbClr val="556478"/>
                </a:solidFill>
                <a:latin typeface="Noto Sans"/>
                <a:cs typeface="Noto Sans"/>
              </a:rPr>
              <a:t>Users</a:t>
            </a:r>
            <a:r>
              <a:rPr dirty="0" sz="1400" spc="-2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400">
                <a:solidFill>
                  <a:srgbClr val="556478"/>
                </a:solidFill>
                <a:latin typeface="Noto Sans"/>
                <a:cs typeface="Noto Sans"/>
              </a:rPr>
              <a:t>•</a:t>
            </a:r>
            <a:r>
              <a:rPr dirty="0" sz="1400" spc="-2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400">
                <a:solidFill>
                  <a:srgbClr val="556478"/>
                </a:solidFill>
                <a:latin typeface="Noto Sans"/>
                <a:cs typeface="Noto Sans"/>
              </a:rPr>
              <a:t>groups</a:t>
            </a:r>
            <a:r>
              <a:rPr dirty="0" sz="1400" spc="-1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400">
                <a:solidFill>
                  <a:srgbClr val="556478"/>
                </a:solidFill>
                <a:latin typeface="Noto Sans"/>
                <a:cs typeface="Noto Sans"/>
              </a:rPr>
              <a:t>•</a:t>
            </a:r>
            <a:r>
              <a:rPr dirty="0" sz="1400" spc="-2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400" spc="-10">
                <a:solidFill>
                  <a:srgbClr val="556478"/>
                </a:solidFill>
                <a:latin typeface="Noto Sans"/>
                <a:cs typeface="Noto Sans"/>
              </a:rPr>
              <a:t>application registrations </a:t>
            </a:r>
            <a:r>
              <a:rPr dirty="0" sz="1400">
                <a:solidFill>
                  <a:srgbClr val="556478"/>
                </a:solidFill>
                <a:latin typeface="Noto Sans"/>
                <a:cs typeface="Noto Sans"/>
              </a:rPr>
              <a:t>•</a:t>
            </a:r>
            <a:r>
              <a:rPr dirty="0" sz="1400" spc="-1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400">
                <a:solidFill>
                  <a:srgbClr val="556478"/>
                </a:solidFill>
                <a:latin typeface="Noto Sans"/>
                <a:cs typeface="Noto Sans"/>
              </a:rPr>
              <a:t>service</a:t>
            </a:r>
            <a:r>
              <a:rPr dirty="0" sz="1400" spc="-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400">
                <a:solidFill>
                  <a:srgbClr val="556478"/>
                </a:solidFill>
                <a:latin typeface="Noto Sans"/>
                <a:cs typeface="Noto Sans"/>
              </a:rPr>
              <a:t>principals</a:t>
            </a:r>
            <a:r>
              <a:rPr dirty="0" sz="1400" spc="-1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400" spc="-50">
                <a:solidFill>
                  <a:srgbClr val="556478"/>
                </a:solidFill>
                <a:latin typeface="Noto Sans"/>
                <a:cs typeface="Noto Sans"/>
              </a:rPr>
              <a:t>• </a:t>
            </a:r>
            <a:r>
              <a:rPr dirty="0" sz="1400">
                <a:solidFill>
                  <a:srgbClr val="556478"/>
                </a:solidFill>
                <a:latin typeface="Noto Sans"/>
                <a:cs typeface="Noto Sans"/>
              </a:rPr>
              <a:t>directory</a:t>
            </a:r>
            <a:r>
              <a:rPr dirty="0" sz="1400" spc="-1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400">
                <a:solidFill>
                  <a:srgbClr val="556478"/>
                </a:solidFill>
                <a:latin typeface="Noto Sans"/>
                <a:cs typeface="Noto Sans"/>
              </a:rPr>
              <a:t>settings</a:t>
            </a:r>
            <a:r>
              <a:rPr dirty="0" sz="1400" spc="-1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400">
                <a:solidFill>
                  <a:srgbClr val="556478"/>
                </a:solidFill>
                <a:latin typeface="Noto Sans"/>
                <a:cs typeface="Noto Sans"/>
              </a:rPr>
              <a:t>and</a:t>
            </a:r>
            <a:r>
              <a:rPr dirty="0" sz="1400" spc="-10">
                <a:solidFill>
                  <a:srgbClr val="556478"/>
                </a:solidFill>
                <a:latin typeface="Noto Sans"/>
                <a:cs typeface="Noto Sans"/>
              </a:rPr>
              <a:t> identity-related policies</a:t>
            </a:r>
            <a:endParaRPr sz="1400">
              <a:latin typeface="Noto Sans"/>
              <a:cs typeface="Noto San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703396" y="1777684"/>
            <a:ext cx="2936875" cy="2159635"/>
            <a:chOff x="4703396" y="1777684"/>
            <a:chExt cx="2936875" cy="2159635"/>
          </a:xfrm>
        </p:grpSpPr>
        <p:sp>
          <p:nvSpPr>
            <p:cNvPr id="13" name="object 13"/>
            <p:cNvSpPr/>
            <p:nvPr/>
          </p:nvSpPr>
          <p:spPr>
            <a:xfrm>
              <a:off x="4708436" y="1782724"/>
              <a:ext cx="2926715" cy="2149475"/>
            </a:xfrm>
            <a:custGeom>
              <a:avLst/>
              <a:gdLst/>
              <a:ahLst/>
              <a:cxnLst/>
              <a:rect l="l" t="t" r="r" b="b"/>
              <a:pathLst>
                <a:path w="2926715" h="2149475">
                  <a:moveTo>
                    <a:pt x="110159" y="0"/>
                  </a:moveTo>
                  <a:lnTo>
                    <a:pt x="68095" y="8352"/>
                  </a:lnTo>
                  <a:lnTo>
                    <a:pt x="32535" y="32213"/>
                  </a:lnTo>
                  <a:lnTo>
                    <a:pt x="8721" y="67932"/>
                  </a:lnTo>
                  <a:lnTo>
                    <a:pt x="368" y="109791"/>
                  </a:lnTo>
                  <a:lnTo>
                    <a:pt x="0" y="2039391"/>
                  </a:lnTo>
                  <a:lnTo>
                    <a:pt x="929" y="2053666"/>
                  </a:lnTo>
                  <a:lnTo>
                    <a:pt x="939" y="2053821"/>
                  </a:lnTo>
                  <a:lnTo>
                    <a:pt x="3701" y="2067701"/>
                  </a:lnTo>
                  <a:lnTo>
                    <a:pt x="3736" y="2067879"/>
                  </a:lnTo>
                  <a:lnTo>
                    <a:pt x="8290" y="2081262"/>
                  </a:lnTo>
                  <a:lnTo>
                    <a:pt x="8358" y="2081462"/>
                  </a:lnTo>
                  <a:lnTo>
                    <a:pt x="32224" y="2117016"/>
                  </a:lnTo>
                  <a:lnTo>
                    <a:pt x="67934" y="2140842"/>
                  </a:lnTo>
                  <a:lnTo>
                    <a:pt x="109804" y="2149195"/>
                  </a:lnTo>
                  <a:lnTo>
                    <a:pt x="2816644" y="2149195"/>
                  </a:lnTo>
                  <a:lnTo>
                    <a:pt x="2858715" y="2140842"/>
                  </a:lnTo>
                  <a:lnTo>
                    <a:pt x="2894217" y="2117016"/>
                  </a:lnTo>
                  <a:lnTo>
                    <a:pt x="2917990" y="2081462"/>
                  </a:lnTo>
                  <a:lnTo>
                    <a:pt x="2926448" y="2039391"/>
                  </a:lnTo>
                  <a:lnTo>
                    <a:pt x="2926424" y="109791"/>
                  </a:lnTo>
                  <a:lnTo>
                    <a:pt x="2918090" y="68088"/>
                  </a:lnTo>
                  <a:lnTo>
                    <a:pt x="2894223" y="32534"/>
                  </a:lnTo>
                  <a:lnTo>
                    <a:pt x="2858513" y="8708"/>
                  </a:lnTo>
                  <a:lnTo>
                    <a:pt x="281664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708436" y="1782724"/>
              <a:ext cx="2926715" cy="2149475"/>
            </a:xfrm>
            <a:custGeom>
              <a:avLst/>
              <a:gdLst/>
              <a:ahLst/>
              <a:cxnLst/>
              <a:rect l="l" t="t" r="r" b="b"/>
              <a:pathLst>
                <a:path w="2926715" h="2149475">
                  <a:moveTo>
                    <a:pt x="368" y="109791"/>
                  </a:moveTo>
                  <a:lnTo>
                    <a:pt x="1307" y="95524"/>
                  </a:lnTo>
                  <a:lnTo>
                    <a:pt x="4103" y="81492"/>
                  </a:lnTo>
                  <a:lnTo>
                    <a:pt x="23138" y="43003"/>
                  </a:lnTo>
                  <a:lnTo>
                    <a:pt x="55079" y="14757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2816644" y="355"/>
                  </a:lnTo>
                  <a:lnTo>
                    <a:pt x="2858513" y="8708"/>
                  </a:lnTo>
                  <a:lnTo>
                    <a:pt x="2894223" y="32534"/>
                  </a:lnTo>
                  <a:lnTo>
                    <a:pt x="2918090" y="68088"/>
                  </a:lnTo>
                  <a:lnTo>
                    <a:pt x="2926448" y="110159"/>
                  </a:lnTo>
                  <a:lnTo>
                    <a:pt x="2926448" y="2039391"/>
                  </a:lnTo>
                  <a:lnTo>
                    <a:pt x="2925508" y="2053666"/>
                  </a:lnTo>
                  <a:lnTo>
                    <a:pt x="2922711" y="2067701"/>
                  </a:lnTo>
                  <a:lnTo>
                    <a:pt x="2903665" y="2106184"/>
                  </a:lnTo>
                  <a:lnTo>
                    <a:pt x="2871724" y="2134438"/>
                  </a:lnTo>
                  <a:lnTo>
                    <a:pt x="2831074" y="2148255"/>
                  </a:lnTo>
                  <a:lnTo>
                    <a:pt x="2816644" y="2149195"/>
                  </a:lnTo>
                  <a:lnTo>
                    <a:pt x="109804" y="2149195"/>
                  </a:lnTo>
                  <a:lnTo>
                    <a:pt x="67934" y="2140842"/>
                  </a:lnTo>
                  <a:lnTo>
                    <a:pt x="32224" y="2117016"/>
                  </a:lnTo>
                  <a:lnTo>
                    <a:pt x="8358" y="2081462"/>
                  </a:lnTo>
                  <a:lnTo>
                    <a:pt x="0" y="2039391"/>
                  </a:lnTo>
                  <a:lnTo>
                    <a:pt x="368" y="109791"/>
                  </a:lnTo>
                  <a:close/>
                </a:path>
              </a:pathLst>
            </a:custGeom>
            <a:ln w="10079">
              <a:solidFill>
                <a:srgbClr val="DBE4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4709160" y="1783079"/>
              <a:ext cx="73025" cy="2148840"/>
            </a:xfrm>
            <a:custGeom>
              <a:avLst/>
              <a:gdLst/>
              <a:ahLst/>
              <a:cxnLst/>
              <a:rect l="l" t="t" r="r" b="b"/>
              <a:pathLst>
                <a:path w="73025" h="2148840">
                  <a:moveTo>
                    <a:pt x="72720" y="0"/>
                  </a:moveTo>
                  <a:lnTo>
                    <a:pt x="0" y="0"/>
                  </a:lnTo>
                  <a:lnTo>
                    <a:pt x="0" y="2148484"/>
                  </a:lnTo>
                  <a:lnTo>
                    <a:pt x="36360" y="2148484"/>
                  </a:lnTo>
                  <a:lnTo>
                    <a:pt x="72720" y="2148484"/>
                  </a:lnTo>
                  <a:lnTo>
                    <a:pt x="72720" y="0"/>
                  </a:lnTo>
                  <a:close/>
                </a:path>
              </a:pathLst>
            </a:custGeom>
            <a:solidFill>
              <a:srgbClr val="F49D0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4709160" y="1783079"/>
              <a:ext cx="73025" cy="2148840"/>
            </a:xfrm>
            <a:custGeom>
              <a:avLst/>
              <a:gdLst/>
              <a:ahLst/>
              <a:cxnLst/>
              <a:rect l="l" t="t" r="r" b="b"/>
              <a:pathLst>
                <a:path w="73025" h="2148840">
                  <a:moveTo>
                    <a:pt x="36360" y="2148484"/>
                  </a:moveTo>
                  <a:lnTo>
                    <a:pt x="0" y="2148484"/>
                  </a:lnTo>
                  <a:lnTo>
                    <a:pt x="0" y="0"/>
                  </a:lnTo>
                  <a:lnTo>
                    <a:pt x="72720" y="0"/>
                  </a:lnTo>
                  <a:lnTo>
                    <a:pt x="72720" y="2148484"/>
                  </a:lnTo>
                  <a:lnTo>
                    <a:pt x="36360" y="2148484"/>
                  </a:lnTo>
                  <a:close/>
                </a:path>
              </a:pathLst>
            </a:custGeom>
            <a:ln w="10079">
              <a:solidFill>
                <a:srgbClr val="F49D0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4897704" y="1959381"/>
            <a:ext cx="2447925" cy="10763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95"/>
              </a:spcBef>
            </a:pPr>
            <a:r>
              <a:rPr dirty="0" sz="1600" spc="-60">
                <a:solidFill>
                  <a:srgbClr val="0F2339"/>
                </a:solidFill>
                <a:latin typeface="Arial Black"/>
                <a:cs typeface="Arial Black"/>
              </a:rPr>
              <a:t>What</a:t>
            </a:r>
            <a:r>
              <a:rPr dirty="0" sz="1600" spc="-114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600" spc="-50">
                <a:solidFill>
                  <a:srgbClr val="0F2339"/>
                </a:solidFill>
                <a:latin typeface="Arial Black"/>
                <a:cs typeface="Arial Black"/>
              </a:rPr>
              <a:t>it</a:t>
            </a:r>
            <a:r>
              <a:rPr dirty="0" sz="1600" spc="-10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600" spc="-125">
                <a:solidFill>
                  <a:srgbClr val="0F2339"/>
                </a:solidFill>
                <a:latin typeface="Arial Black"/>
                <a:cs typeface="Arial Black"/>
              </a:rPr>
              <a:t>is</a:t>
            </a:r>
            <a:r>
              <a:rPr dirty="0" sz="1600" spc="-11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600" spc="-25">
                <a:solidFill>
                  <a:srgbClr val="0F2339"/>
                </a:solidFill>
                <a:latin typeface="Arial Black"/>
                <a:cs typeface="Arial Black"/>
              </a:rPr>
              <a:t>not</a:t>
            </a:r>
            <a:endParaRPr sz="1600">
              <a:latin typeface="Arial Black"/>
              <a:cs typeface="Arial Black"/>
            </a:endParaRPr>
          </a:p>
          <a:p>
            <a:pPr algn="just" marL="12700" marR="5080">
              <a:lnSpc>
                <a:spcPct val="105100"/>
              </a:lnSpc>
              <a:spcBef>
                <a:spcPts val="1055"/>
              </a:spcBef>
            </a:pPr>
            <a:r>
              <a:rPr dirty="0" sz="1400">
                <a:solidFill>
                  <a:srgbClr val="556478"/>
                </a:solidFill>
                <a:latin typeface="Noto Sans"/>
                <a:cs typeface="Noto Sans"/>
              </a:rPr>
              <a:t>It</a:t>
            </a:r>
            <a:r>
              <a:rPr dirty="0" sz="1400" spc="-1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400">
                <a:solidFill>
                  <a:srgbClr val="556478"/>
                </a:solidFill>
                <a:latin typeface="Noto Sans"/>
                <a:cs typeface="Noto Sans"/>
              </a:rPr>
              <a:t>is</a:t>
            </a:r>
            <a:r>
              <a:rPr dirty="0" sz="1400" spc="-1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400">
                <a:solidFill>
                  <a:srgbClr val="556478"/>
                </a:solidFill>
                <a:latin typeface="Noto Sans"/>
                <a:cs typeface="Noto Sans"/>
              </a:rPr>
              <a:t>not</a:t>
            </a:r>
            <a:r>
              <a:rPr dirty="0" sz="1400" spc="-1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400">
                <a:solidFill>
                  <a:srgbClr val="556478"/>
                </a:solidFill>
                <a:latin typeface="Noto Sans"/>
                <a:cs typeface="Noto Sans"/>
              </a:rPr>
              <a:t>the</a:t>
            </a:r>
            <a:r>
              <a:rPr dirty="0" sz="1400" spc="-1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400">
                <a:solidFill>
                  <a:srgbClr val="556478"/>
                </a:solidFill>
                <a:latin typeface="Noto Sans"/>
                <a:cs typeface="Noto Sans"/>
              </a:rPr>
              <a:t>same</a:t>
            </a:r>
            <a:r>
              <a:rPr dirty="0" sz="1400" spc="-1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400">
                <a:solidFill>
                  <a:srgbClr val="556478"/>
                </a:solidFill>
                <a:latin typeface="Noto Sans"/>
                <a:cs typeface="Noto Sans"/>
              </a:rPr>
              <a:t>thing</a:t>
            </a:r>
            <a:r>
              <a:rPr dirty="0" sz="1400" spc="-1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400">
                <a:solidFill>
                  <a:srgbClr val="556478"/>
                </a:solidFill>
                <a:latin typeface="Noto Sans"/>
                <a:cs typeface="Noto Sans"/>
              </a:rPr>
              <a:t>as</a:t>
            </a:r>
            <a:r>
              <a:rPr dirty="0" sz="1400" spc="-1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400" spc="-25">
                <a:solidFill>
                  <a:srgbClr val="556478"/>
                </a:solidFill>
                <a:latin typeface="Noto Sans"/>
                <a:cs typeface="Noto Sans"/>
              </a:rPr>
              <a:t>an </a:t>
            </a:r>
            <a:r>
              <a:rPr dirty="0" sz="1400">
                <a:solidFill>
                  <a:srgbClr val="556478"/>
                </a:solidFill>
                <a:latin typeface="Noto Sans"/>
                <a:cs typeface="Noto Sans"/>
              </a:rPr>
              <a:t>Azure</a:t>
            </a:r>
            <a:r>
              <a:rPr dirty="0" sz="1400" spc="-5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400">
                <a:solidFill>
                  <a:srgbClr val="556478"/>
                </a:solidFill>
                <a:latin typeface="Noto Sans"/>
                <a:cs typeface="Noto Sans"/>
              </a:rPr>
              <a:t>subscription,</a:t>
            </a:r>
            <a:r>
              <a:rPr dirty="0" sz="1400" spc="-5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400" spc="-10">
                <a:solidFill>
                  <a:srgbClr val="556478"/>
                </a:solidFill>
                <a:latin typeface="Noto Sans"/>
                <a:cs typeface="Noto Sans"/>
              </a:rPr>
              <a:t>resource </a:t>
            </a:r>
            <a:r>
              <a:rPr dirty="0" sz="1400">
                <a:solidFill>
                  <a:srgbClr val="556478"/>
                </a:solidFill>
                <a:latin typeface="Noto Sans"/>
                <a:cs typeface="Noto Sans"/>
              </a:rPr>
              <a:t>group</a:t>
            </a:r>
            <a:r>
              <a:rPr dirty="0" sz="14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400">
                <a:solidFill>
                  <a:srgbClr val="556478"/>
                </a:solidFill>
                <a:latin typeface="Noto Sans"/>
                <a:cs typeface="Noto Sans"/>
              </a:rPr>
              <a:t>or</a:t>
            </a:r>
            <a:r>
              <a:rPr dirty="0" sz="140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400" spc="-10">
                <a:solidFill>
                  <a:srgbClr val="556478"/>
                </a:solidFill>
                <a:latin typeface="Noto Sans"/>
                <a:cs typeface="Noto Sans"/>
              </a:rPr>
              <a:t>region.</a:t>
            </a:r>
            <a:endParaRPr sz="1400">
              <a:latin typeface="Noto Sans"/>
              <a:cs typeface="Noto Sans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7903795" y="1777684"/>
            <a:ext cx="3485515" cy="2159635"/>
            <a:chOff x="7903795" y="1777684"/>
            <a:chExt cx="3485515" cy="2159635"/>
          </a:xfrm>
        </p:grpSpPr>
        <p:sp>
          <p:nvSpPr>
            <p:cNvPr id="19" name="object 19"/>
            <p:cNvSpPr/>
            <p:nvPr/>
          </p:nvSpPr>
          <p:spPr>
            <a:xfrm>
              <a:off x="7908835" y="1782724"/>
              <a:ext cx="3475354" cy="2149475"/>
            </a:xfrm>
            <a:custGeom>
              <a:avLst/>
              <a:gdLst/>
              <a:ahLst/>
              <a:cxnLst/>
              <a:rect l="l" t="t" r="r" b="b"/>
              <a:pathLst>
                <a:path w="3475354" h="2149475">
                  <a:moveTo>
                    <a:pt x="110159" y="0"/>
                  </a:moveTo>
                  <a:lnTo>
                    <a:pt x="68095" y="8352"/>
                  </a:lnTo>
                  <a:lnTo>
                    <a:pt x="32535" y="32213"/>
                  </a:lnTo>
                  <a:lnTo>
                    <a:pt x="8721" y="67932"/>
                  </a:lnTo>
                  <a:lnTo>
                    <a:pt x="368" y="109791"/>
                  </a:lnTo>
                  <a:lnTo>
                    <a:pt x="0" y="2039391"/>
                  </a:lnTo>
                  <a:lnTo>
                    <a:pt x="929" y="2053666"/>
                  </a:lnTo>
                  <a:lnTo>
                    <a:pt x="939" y="2053821"/>
                  </a:lnTo>
                  <a:lnTo>
                    <a:pt x="3701" y="2067701"/>
                  </a:lnTo>
                  <a:lnTo>
                    <a:pt x="3736" y="2067879"/>
                  </a:lnTo>
                  <a:lnTo>
                    <a:pt x="8290" y="2081262"/>
                  </a:lnTo>
                  <a:lnTo>
                    <a:pt x="8358" y="2081462"/>
                  </a:lnTo>
                  <a:lnTo>
                    <a:pt x="14770" y="2094471"/>
                  </a:lnTo>
                  <a:lnTo>
                    <a:pt x="22686" y="2106184"/>
                  </a:lnTo>
                  <a:lnTo>
                    <a:pt x="22788" y="2106334"/>
                  </a:lnTo>
                  <a:lnTo>
                    <a:pt x="55079" y="2134438"/>
                  </a:lnTo>
                  <a:lnTo>
                    <a:pt x="95534" y="2148255"/>
                  </a:lnTo>
                  <a:lnTo>
                    <a:pt x="109804" y="2149195"/>
                  </a:lnTo>
                  <a:lnTo>
                    <a:pt x="3365284" y="2149195"/>
                  </a:lnTo>
                  <a:lnTo>
                    <a:pt x="3407355" y="2140842"/>
                  </a:lnTo>
                  <a:lnTo>
                    <a:pt x="3442857" y="2117016"/>
                  </a:lnTo>
                  <a:lnTo>
                    <a:pt x="3466630" y="2081462"/>
                  </a:lnTo>
                  <a:lnTo>
                    <a:pt x="3475088" y="2039391"/>
                  </a:lnTo>
                  <a:lnTo>
                    <a:pt x="3475064" y="109791"/>
                  </a:lnTo>
                  <a:lnTo>
                    <a:pt x="3466730" y="68088"/>
                  </a:lnTo>
                  <a:lnTo>
                    <a:pt x="3442863" y="32534"/>
                  </a:lnTo>
                  <a:lnTo>
                    <a:pt x="3407153" y="8708"/>
                  </a:lnTo>
                  <a:lnTo>
                    <a:pt x="336528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7908835" y="1782724"/>
              <a:ext cx="3475354" cy="2149475"/>
            </a:xfrm>
            <a:custGeom>
              <a:avLst/>
              <a:gdLst/>
              <a:ahLst/>
              <a:cxnLst/>
              <a:rect l="l" t="t" r="r" b="b"/>
              <a:pathLst>
                <a:path w="3475354" h="2149475">
                  <a:moveTo>
                    <a:pt x="368" y="109791"/>
                  </a:moveTo>
                  <a:lnTo>
                    <a:pt x="1307" y="95524"/>
                  </a:lnTo>
                  <a:lnTo>
                    <a:pt x="4103" y="81492"/>
                  </a:lnTo>
                  <a:lnTo>
                    <a:pt x="23138" y="43003"/>
                  </a:lnTo>
                  <a:lnTo>
                    <a:pt x="55079" y="14757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3365284" y="355"/>
                  </a:lnTo>
                  <a:lnTo>
                    <a:pt x="3407153" y="8708"/>
                  </a:lnTo>
                  <a:lnTo>
                    <a:pt x="3442863" y="32534"/>
                  </a:lnTo>
                  <a:lnTo>
                    <a:pt x="3466730" y="68088"/>
                  </a:lnTo>
                  <a:lnTo>
                    <a:pt x="3475088" y="110159"/>
                  </a:lnTo>
                  <a:lnTo>
                    <a:pt x="3475088" y="2039391"/>
                  </a:lnTo>
                  <a:lnTo>
                    <a:pt x="3474148" y="2053666"/>
                  </a:lnTo>
                  <a:lnTo>
                    <a:pt x="3471351" y="2067701"/>
                  </a:lnTo>
                  <a:lnTo>
                    <a:pt x="3452305" y="2106184"/>
                  </a:lnTo>
                  <a:lnTo>
                    <a:pt x="3420363" y="2134438"/>
                  </a:lnTo>
                  <a:lnTo>
                    <a:pt x="3379714" y="2148255"/>
                  </a:lnTo>
                  <a:lnTo>
                    <a:pt x="3365284" y="2149195"/>
                  </a:lnTo>
                  <a:lnTo>
                    <a:pt x="109804" y="2149195"/>
                  </a:lnTo>
                  <a:lnTo>
                    <a:pt x="67934" y="2140842"/>
                  </a:lnTo>
                  <a:lnTo>
                    <a:pt x="32224" y="2117016"/>
                  </a:lnTo>
                  <a:lnTo>
                    <a:pt x="8358" y="2081462"/>
                  </a:lnTo>
                  <a:lnTo>
                    <a:pt x="0" y="2039391"/>
                  </a:lnTo>
                  <a:lnTo>
                    <a:pt x="368" y="109791"/>
                  </a:lnTo>
                  <a:close/>
                </a:path>
              </a:pathLst>
            </a:custGeom>
            <a:ln w="10079">
              <a:solidFill>
                <a:srgbClr val="DBE4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7909559" y="1783079"/>
              <a:ext cx="73025" cy="2148840"/>
            </a:xfrm>
            <a:custGeom>
              <a:avLst/>
              <a:gdLst/>
              <a:ahLst/>
              <a:cxnLst/>
              <a:rect l="l" t="t" r="r" b="b"/>
              <a:pathLst>
                <a:path w="73025" h="2148840">
                  <a:moveTo>
                    <a:pt x="72720" y="0"/>
                  </a:moveTo>
                  <a:lnTo>
                    <a:pt x="0" y="0"/>
                  </a:lnTo>
                  <a:lnTo>
                    <a:pt x="0" y="2148484"/>
                  </a:lnTo>
                  <a:lnTo>
                    <a:pt x="36360" y="2148484"/>
                  </a:lnTo>
                  <a:lnTo>
                    <a:pt x="72720" y="2148484"/>
                  </a:lnTo>
                  <a:lnTo>
                    <a:pt x="72720" y="0"/>
                  </a:lnTo>
                  <a:close/>
                </a:path>
              </a:pathLst>
            </a:custGeom>
            <a:solidFill>
              <a:srgbClr val="0077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7909559" y="1783079"/>
              <a:ext cx="73025" cy="2148840"/>
            </a:xfrm>
            <a:custGeom>
              <a:avLst/>
              <a:gdLst/>
              <a:ahLst/>
              <a:cxnLst/>
              <a:rect l="l" t="t" r="r" b="b"/>
              <a:pathLst>
                <a:path w="73025" h="2148840">
                  <a:moveTo>
                    <a:pt x="36360" y="2148484"/>
                  </a:moveTo>
                  <a:lnTo>
                    <a:pt x="0" y="2148484"/>
                  </a:lnTo>
                  <a:lnTo>
                    <a:pt x="0" y="0"/>
                  </a:lnTo>
                  <a:lnTo>
                    <a:pt x="72720" y="0"/>
                  </a:lnTo>
                  <a:lnTo>
                    <a:pt x="72720" y="2148484"/>
                  </a:lnTo>
                  <a:lnTo>
                    <a:pt x="36360" y="2148484"/>
                  </a:lnTo>
                  <a:close/>
                </a:path>
              </a:pathLst>
            </a:custGeom>
            <a:ln w="10079">
              <a:solidFill>
                <a:srgbClr val="0077D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8098104" y="1959381"/>
            <a:ext cx="2987040" cy="10483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95"/>
              </a:spcBef>
            </a:pPr>
            <a:r>
              <a:rPr dirty="0" sz="1600" spc="-75">
                <a:solidFill>
                  <a:srgbClr val="0F2339"/>
                </a:solidFill>
                <a:latin typeface="Arial Black"/>
                <a:cs typeface="Arial Black"/>
              </a:rPr>
              <a:t>Operational</a:t>
            </a:r>
            <a:r>
              <a:rPr dirty="0" sz="1600" spc="-5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600" spc="-20">
                <a:solidFill>
                  <a:srgbClr val="0F2339"/>
                </a:solidFill>
                <a:latin typeface="Arial Black"/>
                <a:cs typeface="Arial Black"/>
              </a:rPr>
              <a:t>clue</a:t>
            </a:r>
            <a:endParaRPr sz="1600">
              <a:latin typeface="Arial Black"/>
              <a:cs typeface="Arial Black"/>
            </a:endParaRPr>
          </a:p>
          <a:p>
            <a:pPr algn="just" marL="12700" marR="5080">
              <a:lnSpc>
                <a:spcPct val="104500"/>
              </a:lnSpc>
              <a:spcBef>
                <a:spcPts val="1055"/>
              </a:spcBef>
            </a:pPr>
            <a:r>
              <a:rPr dirty="0" sz="1350">
                <a:solidFill>
                  <a:srgbClr val="556478"/>
                </a:solidFill>
                <a:latin typeface="Noto Sans"/>
                <a:cs typeface="Noto Sans"/>
              </a:rPr>
              <a:t>A</a:t>
            </a:r>
            <a:r>
              <a:rPr dirty="0" sz="135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50" spc="-10">
                <a:solidFill>
                  <a:srgbClr val="556478"/>
                </a:solidFill>
                <a:latin typeface="Noto Sans"/>
                <a:cs typeface="Noto Sans"/>
              </a:rPr>
              <a:t>subscription</a:t>
            </a:r>
            <a:r>
              <a:rPr dirty="0" sz="1350" spc="-2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50">
                <a:solidFill>
                  <a:srgbClr val="556478"/>
                </a:solidFill>
                <a:latin typeface="Noto Sans"/>
                <a:cs typeface="Noto Sans"/>
              </a:rPr>
              <a:t>trusts</a:t>
            </a:r>
            <a:r>
              <a:rPr dirty="0" sz="1350" spc="-2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50">
                <a:solidFill>
                  <a:srgbClr val="556478"/>
                </a:solidFill>
                <a:latin typeface="Noto Sans"/>
                <a:cs typeface="Noto Sans"/>
              </a:rPr>
              <a:t>one</a:t>
            </a:r>
            <a:r>
              <a:rPr dirty="0" sz="1350" spc="-2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50" spc="-10">
                <a:solidFill>
                  <a:srgbClr val="556478"/>
                </a:solidFill>
                <a:latin typeface="Noto Sans"/>
                <a:cs typeface="Noto Sans"/>
              </a:rPr>
              <a:t>directory</a:t>
            </a:r>
            <a:r>
              <a:rPr dirty="0" sz="135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50" spc="-25">
                <a:solidFill>
                  <a:srgbClr val="556478"/>
                </a:solidFill>
                <a:latin typeface="Noto Sans"/>
                <a:cs typeface="Noto Sans"/>
              </a:rPr>
              <a:t>at </a:t>
            </a:r>
            <a:r>
              <a:rPr dirty="0" sz="1350">
                <a:solidFill>
                  <a:srgbClr val="556478"/>
                </a:solidFill>
                <a:latin typeface="Noto Sans"/>
                <a:cs typeface="Noto Sans"/>
              </a:rPr>
              <a:t>a</a:t>
            </a:r>
            <a:r>
              <a:rPr dirty="0" sz="1350" spc="-4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50">
                <a:solidFill>
                  <a:srgbClr val="556478"/>
                </a:solidFill>
                <a:latin typeface="Noto Sans"/>
                <a:cs typeface="Noto Sans"/>
              </a:rPr>
              <a:t>time;</a:t>
            </a:r>
            <a:r>
              <a:rPr dirty="0" sz="135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50">
                <a:solidFill>
                  <a:srgbClr val="556478"/>
                </a:solidFill>
                <a:latin typeface="Noto Sans"/>
                <a:cs typeface="Noto Sans"/>
              </a:rPr>
              <a:t>one</a:t>
            </a:r>
            <a:r>
              <a:rPr dirty="0" sz="135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50">
                <a:solidFill>
                  <a:srgbClr val="556478"/>
                </a:solidFill>
                <a:latin typeface="Noto Sans"/>
                <a:cs typeface="Noto Sans"/>
              </a:rPr>
              <a:t>tenant</a:t>
            </a:r>
            <a:r>
              <a:rPr dirty="0" sz="135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50">
                <a:solidFill>
                  <a:srgbClr val="556478"/>
                </a:solidFill>
                <a:latin typeface="Noto Sans"/>
                <a:cs typeface="Noto Sans"/>
              </a:rPr>
              <a:t>can</a:t>
            </a:r>
            <a:r>
              <a:rPr dirty="0" sz="135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50">
                <a:solidFill>
                  <a:srgbClr val="556478"/>
                </a:solidFill>
                <a:latin typeface="Noto Sans"/>
                <a:cs typeface="Noto Sans"/>
              </a:rPr>
              <a:t>be</a:t>
            </a:r>
            <a:r>
              <a:rPr dirty="0" sz="135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50" spc="-10">
                <a:solidFill>
                  <a:srgbClr val="556478"/>
                </a:solidFill>
                <a:latin typeface="Noto Sans"/>
                <a:cs typeface="Noto Sans"/>
              </a:rPr>
              <a:t>associated </a:t>
            </a:r>
            <a:r>
              <a:rPr dirty="0" sz="1350">
                <a:solidFill>
                  <a:srgbClr val="556478"/>
                </a:solidFill>
                <a:latin typeface="Noto Sans"/>
                <a:cs typeface="Noto Sans"/>
              </a:rPr>
              <a:t>with</a:t>
            </a:r>
            <a:r>
              <a:rPr dirty="0" sz="1350" spc="-7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50">
                <a:solidFill>
                  <a:srgbClr val="556478"/>
                </a:solidFill>
                <a:latin typeface="Noto Sans"/>
                <a:cs typeface="Noto Sans"/>
              </a:rPr>
              <a:t>multiple</a:t>
            </a:r>
            <a:r>
              <a:rPr dirty="0" sz="1350" spc="-6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50" spc="-10">
                <a:solidFill>
                  <a:srgbClr val="556478"/>
                </a:solidFill>
                <a:latin typeface="Noto Sans"/>
                <a:cs typeface="Noto Sans"/>
              </a:rPr>
              <a:t>subscriptions.</a:t>
            </a:r>
            <a:endParaRPr sz="1350">
              <a:latin typeface="Noto Sans"/>
              <a:cs typeface="Noto Sans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502996" y="4520884"/>
            <a:ext cx="9154795" cy="513715"/>
            <a:chOff x="1502996" y="4520884"/>
            <a:chExt cx="9154795" cy="513715"/>
          </a:xfrm>
        </p:grpSpPr>
        <p:sp>
          <p:nvSpPr>
            <p:cNvPr id="25" name="object 25"/>
            <p:cNvSpPr/>
            <p:nvPr/>
          </p:nvSpPr>
          <p:spPr>
            <a:xfrm>
              <a:off x="1508036" y="4525924"/>
              <a:ext cx="9144635" cy="503555"/>
            </a:xfrm>
            <a:custGeom>
              <a:avLst/>
              <a:gdLst/>
              <a:ahLst/>
              <a:cxnLst/>
              <a:rect l="l" t="t" r="r" b="b"/>
              <a:pathLst>
                <a:path w="9144635" h="503554">
                  <a:moveTo>
                    <a:pt x="110159" y="0"/>
                  </a:moveTo>
                  <a:lnTo>
                    <a:pt x="68095" y="8352"/>
                  </a:lnTo>
                  <a:lnTo>
                    <a:pt x="32535" y="32213"/>
                  </a:lnTo>
                  <a:lnTo>
                    <a:pt x="8721" y="67882"/>
                  </a:lnTo>
                  <a:lnTo>
                    <a:pt x="368" y="109791"/>
                  </a:lnTo>
                  <a:lnTo>
                    <a:pt x="0" y="393471"/>
                  </a:lnTo>
                  <a:lnTo>
                    <a:pt x="939" y="407901"/>
                  </a:lnTo>
                  <a:lnTo>
                    <a:pt x="3736" y="421959"/>
                  </a:lnTo>
                  <a:lnTo>
                    <a:pt x="8307" y="435392"/>
                  </a:lnTo>
                  <a:lnTo>
                    <a:pt x="8358" y="435542"/>
                  </a:lnTo>
                  <a:lnTo>
                    <a:pt x="32224" y="471096"/>
                  </a:lnTo>
                  <a:lnTo>
                    <a:pt x="67882" y="494922"/>
                  </a:lnTo>
                  <a:lnTo>
                    <a:pt x="109804" y="503275"/>
                  </a:lnTo>
                  <a:lnTo>
                    <a:pt x="9034564" y="503275"/>
                  </a:lnTo>
                  <a:lnTo>
                    <a:pt x="9076635" y="494922"/>
                  </a:lnTo>
                  <a:lnTo>
                    <a:pt x="9112137" y="471096"/>
                  </a:lnTo>
                  <a:lnTo>
                    <a:pt x="9135934" y="435542"/>
                  </a:lnTo>
                  <a:lnTo>
                    <a:pt x="9144368" y="393471"/>
                  </a:lnTo>
                  <a:lnTo>
                    <a:pt x="9144344" y="109791"/>
                  </a:lnTo>
                  <a:lnTo>
                    <a:pt x="9136010" y="68088"/>
                  </a:lnTo>
                  <a:lnTo>
                    <a:pt x="9112143" y="32534"/>
                  </a:lnTo>
                  <a:lnTo>
                    <a:pt x="9076485" y="8708"/>
                  </a:lnTo>
                  <a:lnTo>
                    <a:pt x="903456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0EB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1508036" y="4525924"/>
              <a:ext cx="9144635" cy="503555"/>
            </a:xfrm>
            <a:custGeom>
              <a:avLst/>
              <a:gdLst/>
              <a:ahLst/>
              <a:cxnLst/>
              <a:rect l="l" t="t" r="r" b="b"/>
              <a:pathLst>
                <a:path w="9144635" h="503554">
                  <a:moveTo>
                    <a:pt x="368" y="109791"/>
                  </a:moveTo>
                  <a:lnTo>
                    <a:pt x="1307" y="95374"/>
                  </a:lnTo>
                  <a:lnTo>
                    <a:pt x="4103" y="81359"/>
                  </a:lnTo>
                  <a:lnTo>
                    <a:pt x="23138" y="43003"/>
                  </a:lnTo>
                  <a:lnTo>
                    <a:pt x="55079" y="14757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9034564" y="355"/>
                  </a:lnTo>
                  <a:lnTo>
                    <a:pt x="9076485" y="8708"/>
                  </a:lnTo>
                  <a:lnTo>
                    <a:pt x="9112143" y="32534"/>
                  </a:lnTo>
                  <a:lnTo>
                    <a:pt x="9136010" y="68088"/>
                  </a:lnTo>
                  <a:lnTo>
                    <a:pt x="9144368" y="110159"/>
                  </a:lnTo>
                  <a:lnTo>
                    <a:pt x="9144368" y="393471"/>
                  </a:lnTo>
                  <a:lnTo>
                    <a:pt x="9143428" y="407896"/>
                  </a:lnTo>
                  <a:lnTo>
                    <a:pt x="9140631" y="421914"/>
                  </a:lnTo>
                  <a:lnTo>
                    <a:pt x="9121585" y="460264"/>
                  </a:lnTo>
                  <a:lnTo>
                    <a:pt x="9089644" y="488518"/>
                  </a:lnTo>
                  <a:lnTo>
                    <a:pt x="9048994" y="502335"/>
                  </a:lnTo>
                  <a:lnTo>
                    <a:pt x="9034564" y="503275"/>
                  </a:lnTo>
                  <a:lnTo>
                    <a:pt x="109804" y="503275"/>
                  </a:lnTo>
                  <a:lnTo>
                    <a:pt x="67882" y="494922"/>
                  </a:lnTo>
                  <a:lnTo>
                    <a:pt x="32224" y="471096"/>
                  </a:lnTo>
                  <a:lnTo>
                    <a:pt x="8358" y="435542"/>
                  </a:lnTo>
                  <a:lnTo>
                    <a:pt x="0" y="393471"/>
                  </a:lnTo>
                  <a:lnTo>
                    <a:pt x="368" y="109791"/>
                  </a:lnTo>
                  <a:close/>
                </a:path>
              </a:pathLst>
            </a:custGeom>
            <a:ln w="10079">
              <a:solidFill>
                <a:srgbClr val="F0EBF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3843616" y="4658296"/>
            <a:ext cx="446659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65">
                <a:solidFill>
                  <a:srgbClr val="5A399D"/>
                </a:solidFill>
                <a:latin typeface="Arial Black"/>
                <a:cs typeface="Arial Black"/>
              </a:rPr>
              <a:t>Portal:</a:t>
            </a:r>
            <a:r>
              <a:rPr dirty="0" sz="1400" spc="-85">
                <a:solidFill>
                  <a:srgbClr val="5A399D"/>
                </a:solidFill>
                <a:latin typeface="Arial Black"/>
                <a:cs typeface="Arial Black"/>
              </a:rPr>
              <a:t> </a:t>
            </a:r>
            <a:r>
              <a:rPr dirty="0" sz="1400" spc="-80">
                <a:solidFill>
                  <a:srgbClr val="5A399D"/>
                </a:solidFill>
                <a:latin typeface="Arial Black"/>
                <a:cs typeface="Arial Black"/>
              </a:rPr>
              <a:t>Microsoft</a:t>
            </a:r>
            <a:r>
              <a:rPr dirty="0" sz="1400" spc="-85">
                <a:solidFill>
                  <a:srgbClr val="5A399D"/>
                </a:solidFill>
                <a:latin typeface="Arial Black"/>
                <a:cs typeface="Arial Black"/>
              </a:rPr>
              <a:t> </a:t>
            </a:r>
            <a:r>
              <a:rPr dirty="0" sz="1400" spc="-80">
                <a:solidFill>
                  <a:srgbClr val="5A399D"/>
                </a:solidFill>
                <a:latin typeface="Arial Black"/>
                <a:cs typeface="Arial Black"/>
              </a:rPr>
              <a:t>Entra</a:t>
            </a:r>
            <a:r>
              <a:rPr dirty="0" sz="1400" spc="-85">
                <a:solidFill>
                  <a:srgbClr val="5A399D"/>
                </a:solidFill>
                <a:latin typeface="Arial Black"/>
                <a:cs typeface="Arial Black"/>
              </a:rPr>
              <a:t> </a:t>
            </a:r>
            <a:r>
              <a:rPr dirty="0" sz="1400" spc="-20">
                <a:solidFill>
                  <a:srgbClr val="5A399D"/>
                </a:solidFill>
                <a:latin typeface="Arial Black"/>
                <a:cs typeface="Arial Black"/>
              </a:rPr>
              <a:t>ID</a:t>
            </a:r>
            <a:r>
              <a:rPr dirty="0" sz="1400" spc="-55">
                <a:solidFill>
                  <a:srgbClr val="5A399D"/>
                </a:solidFill>
                <a:latin typeface="Arial Black"/>
                <a:cs typeface="Arial Black"/>
              </a:rPr>
              <a:t> </a:t>
            </a:r>
            <a:r>
              <a:rPr dirty="0" sz="1400" spc="335" b="1">
                <a:solidFill>
                  <a:srgbClr val="5A399D"/>
                </a:solidFill>
                <a:latin typeface="Aptos"/>
                <a:cs typeface="Aptos"/>
              </a:rPr>
              <a:t>→</a:t>
            </a:r>
            <a:r>
              <a:rPr dirty="0" sz="1400" spc="70" b="1">
                <a:solidFill>
                  <a:srgbClr val="5A399D"/>
                </a:solidFill>
                <a:latin typeface="Aptos"/>
                <a:cs typeface="Aptos"/>
              </a:rPr>
              <a:t> </a:t>
            </a:r>
            <a:r>
              <a:rPr dirty="0" sz="1400" spc="-75">
                <a:solidFill>
                  <a:srgbClr val="5A399D"/>
                </a:solidFill>
                <a:latin typeface="Arial Black"/>
                <a:cs typeface="Arial Black"/>
              </a:rPr>
              <a:t>Overview</a:t>
            </a:r>
            <a:r>
              <a:rPr dirty="0" sz="1400" spc="-45">
                <a:solidFill>
                  <a:srgbClr val="5A399D"/>
                </a:solidFill>
                <a:latin typeface="Arial Black"/>
                <a:cs typeface="Arial Black"/>
              </a:rPr>
              <a:t> </a:t>
            </a:r>
            <a:r>
              <a:rPr dirty="0" sz="1400" spc="335" b="1">
                <a:solidFill>
                  <a:srgbClr val="5A399D"/>
                </a:solidFill>
                <a:latin typeface="Aptos"/>
                <a:cs typeface="Aptos"/>
              </a:rPr>
              <a:t>→</a:t>
            </a:r>
            <a:r>
              <a:rPr dirty="0" sz="1400" spc="60" b="1">
                <a:solidFill>
                  <a:srgbClr val="5A399D"/>
                </a:solidFill>
                <a:latin typeface="Aptos"/>
                <a:cs typeface="Aptos"/>
              </a:rPr>
              <a:t> </a:t>
            </a:r>
            <a:r>
              <a:rPr dirty="0" sz="1400" spc="-105">
                <a:solidFill>
                  <a:srgbClr val="5A399D"/>
                </a:solidFill>
                <a:latin typeface="Arial Black"/>
                <a:cs typeface="Arial Black"/>
              </a:rPr>
              <a:t>Tenant</a:t>
            </a:r>
            <a:r>
              <a:rPr dirty="0" sz="1400" spc="-85">
                <a:solidFill>
                  <a:srgbClr val="5A399D"/>
                </a:solidFill>
                <a:latin typeface="Arial Black"/>
                <a:cs typeface="Arial Black"/>
              </a:rPr>
              <a:t> </a:t>
            </a:r>
            <a:r>
              <a:rPr dirty="0" sz="1400" spc="-25">
                <a:solidFill>
                  <a:srgbClr val="5A399D"/>
                </a:solidFill>
                <a:latin typeface="Arial Black"/>
                <a:cs typeface="Arial Black"/>
              </a:rPr>
              <a:t>ID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847418" y="5420423"/>
            <a:ext cx="855154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65">
                <a:solidFill>
                  <a:srgbClr val="0F2339"/>
                </a:solidFill>
                <a:latin typeface="Arial Black"/>
                <a:cs typeface="Arial Black"/>
              </a:rPr>
              <a:t>When</a:t>
            </a:r>
            <a:r>
              <a:rPr dirty="0" sz="1600" spc="-10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600" spc="-190">
                <a:solidFill>
                  <a:srgbClr val="0F2339"/>
                </a:solidFill>
                <a:latin typeface="Arial Black"/>
                <a:cs typeface="Arial Black"/>
              </a:rPr>
              <a:t>access</a:t>
            </a:r>
            <a:r>
              <a:rPr dirty="0" sz="1600" spc="-9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600" spc="-100">
                <a:solidFill>
                  <a:srgbClr val="0F2339"/>
                </a:solidFill>
                <a:latin typeface="Arial Black"/>
                <a:cs typeface="Arial Black"/>
              </a:rPr>
              <a:t>looks</a:t>
            </a:r>
            <a:r>
              <a:rPr dirty="0" sz="1600" spc="-9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600" spc="-80">
                <a:solidFill>
                  <a:srgbClr val="0F2339"/>
                </a:solidFill>
                <a:latin typeface="Arial Black"/>
                <a:cs typeface="Arial Black"/>
              </a:rPr>
              <a:t>wrong,</a:t>
            </a:r>
            <a:r>
              <a:rPr dirty="0" sz="1600" spc="-10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600" spc="-55">
                <a:solidFill>
                  <a:srgbClr val="0F2339"/>
                </a:solidFill>
                <a:latin typeface="Arial Black"/>
                <a:cs typeface="Arial Black"/>
              </a:rPr>
              <a:t>first</a:t>
            </a:r>
            <a:r>
              <a:rPr dirty="0" sz="1600" spc="-9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600" spc="-70">
                <a:solidFill>
                  <a:srgbClr val="0F2339"/>
                </a:solidFill>
                <a:latin typeface="Arial Black"/>
                <a:cs typeface="Arial Black"/>
              </a:rPr>
              <a:t>confirm</a:t>
            </a:r>
            <a:r>
              <a:rPr dirty="0" sz="1600" spc="-10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600" spc="-60">
                <a:solidFill>
                  <a:srgbClr val="0F2339"/>
                </a:solidFill>
                <a:latin typeface="Arial Black"/>
                <a:cs typeface="Arial Black"/>
              </a:rPr>
              <a:t>you</a:t>
            </a:r>
            <a:r>
              <a:rPr dirty="0" sz="1600" spc="-90">
                <a:solidFill>
                  <a:srgbClr val="0F2339"/>
                </a:solidFill>
                <a:latin typeface="Arial Black"/>
                <a:cs typeface="Arial Black"/>
              </a:rPr>
              <a:t> signed</a:t>
            </a:r>
            <a:r>
              <a:rPr dirty="0" sz="1600" spc="-10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600" spc="-50">
                <a:solidFill>
                  <a:srgbClr val="0F2339"/>
                </a:solidFill>
                <a:latin typeface="Arial Black"/>
                <a:cs typeface="Arial Black"/>
              </a:rPr>
              <a:t>into</a:t>
            </a:r>
            <a:r>
              <a:rPr dirty="0" sz="1600" spc="-9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600" spc="-65">
                <a:solidFill>
                  <a:srgbClr val="0F2339"/>
                </a:solidFill>
                <a:latin typeface="Arial Black"/>
                <a:cs typeface="Arial Black"/>
              </a:rPr>
              <a:t>the</a:t>
            </a:r>
            <a:r>
              <a:rPr dirty="0" sz="1600" spc="-10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600" spc="-114">
                <a:solidFill>
                  <a:srgbClr val="0F2339"/>
                </a:solidFill>
                <a:latin typeface="Arial Black"/>
                <a:cs typeface="Arial Black"/>
              </a:rPr>
              <a:t>correct</a:t>
            </a:r>
            <a:r>
              <a:rPr dirty="0" sz="1600" spc="-9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600" spc="-35">
                <a:solidFill>
                  <a:srgbClr val="0F2339"/>
                </a:solidFill>
                <a:latin typeface="Arial Black"/>
                <a:cs typeface="Arial Black"/>
              </a:rPr>
              <a:t>tenant/directory.</a:t>
            </a:r>
            <a:endParaRPr sz="1600">
              <a:latin typeface="Arial Black"/>
              <a:cs typeface="Arial Black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66635" y="6382435"/>
            <a:ext cx="11064240" cy="635"/>
          </a:xfrm>
          <a:custGeom>
            <a:avLst/>
            <a:gdLst/>
            <a:ahLst/>
            <a:cxnLst/>
            <a:rect l="l" t="t" r="r" b="b"/>
            <a:pathLst>
              <a:path w="11064240" h="635">
                <a:moveTo>
                  <a:pt x="0" y="0"/>
                </a:moveTo>
                <a:lnTo>
                  <a:pt x="11064240" y="368"/>
                </a:lnTo>
              </a:path>
            </a:pathLst>
          </a:custGeom>
          <a:ln w="8999">
            <a:solidFill>
              <a:srgbClr val="DBE4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90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 spc="-100"/>
              <a:t>DAY</a:t>
            </a:r>
            <a:r>
              <a:rPr dirty="0" spc="-55"/>
              <a:t> </a:t>
            </a:r>
            <a:r>
              <a:rPr dirty="0"/>
              <a:t>1</a:t>
            </a:r>
            <a:r>
              <a:rPr dirty="0" spc="105"/>
              <a:t> </a:t>
            </a:r>
            <a:r>
              <a:rPr dirty="0"/>
              <a:t>•</a:t>
            </a:r>
            <a:r>
              <a:rPr dirty="0" spc="130"/>
              <a:t> </a:t>
            </a:r>
            <a:r>
              <a:rPr dirty="0" spc="-70"/>
              <a:t>CLOUD</a:t>
            </a:r>
            <a:r>
              <a:rPr dirty="0" spc="-55"/>
              <a:t> </a:t>
            </a:r>
            <a:r>
              <a:rPr dirty="0" spc="-65"/>
              <a:t>FOUNDATIONS</a:t>
            </a:r>
            <a:r>
              <a:rPr dirty="0" spc="-55"/>
              <a:t> </a:t>
            </a:r>
            <a:r>
              <a:rPr dirty="0" spc="-105"/>
              <a:t>&amp;</a:t>
            </a:r>
            <a:r>
              <a:rPr dirty="0" spc="-50"/>
              <a:t> </a:t>
            </a:r>
            <a:r>
              <a:rPr dirty="0" spc="-95"/>
              <a:t>AZURE</a:t>
            </a:r>
            <a:r>
              <a:rPr dirty="0" spc="-55"/>
              <a:t> </a:t>
            </a:r>
            <a:r>
              <a:rPr dirty="0" spc="-50"/>
              <a:t>BASICS</a:t>
            </a:r>
          </a:p>
        </p:txBody>
      </p:sp>
      <p:sp>
        <p:nvSpPr>
          <p:cNvPr id="29" name="object 2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032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160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3935" y="299427"/>
            <a:ext cx="242633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65">
                <a:solidFill>
                  <a:srgbClr val="0077D3"/>
                </a:solidFill>
                <a:latin typeface="Arial Black"/>
                <a:cs typeface="Arial Black"/>
              </a:rPr>
              <a:t>PA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25">
                <a:solidFill>
                  <a:srgbClr val="0077D3"/>
                </a:solidFill>
                <a:latin typeface="Arial Black"/>
                <a:cs typeface="Arial Black"/>
              </a:rPr>
              <a:t>R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>
                <a:solidFill>
                  <a:srgbClr val="0077D3"/>
                </a:solidFill>
                <a:latin typeface="Arial Black"/>
                <a:cs typeface="Arial Black"/>
              </a:rPr>
              <a:t>T</a:t>
            </a:r>
            <a:r>
              <a:rPr dirty="0" sz="1000" spc="-5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>
                <a:solidFill>
                  <a:srgbClr val="0077D3"/>
                </a:solidFill>
                <a:latin typeface="Arial Black"/>
                <a:cs typeface="Arial Black"/>
              </a:rPr>
              <a:t>3</a:t>
            </a:r>
            <a:r>
              <a:rPr dirty="0" sz="1000" spc="13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>
                <a:solidFill>
                  <a:srgbClr val="0077D3"/>
                </a:solidFill>
                <a:latin typeface="Arial Black"/>
                <a:cs typeface="Arial Black"/>
              </a:rPr>
              <a:t>•</a:t>
            </a:r>
            <a:r>
              <a:rPr dirty="0" sz="1000" spc="145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95">
                <a:solidFill>
                  <a:srgbClr val="0077D3"/>
                </a:solidFill>
                <a:latin typeface="Arial Black"/>
                <a:cs typeface="Arial Black"/>
              </a:rPr>
              <a:t>A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60">
                <a:solidFill>
                  <a:srgbClr val="0077D3"/>
                </a:solidFill>
                <a:latin typeface="Arial Black"/>
                <a:cs typeface="Arial Black"/>
              </a:rPr>
              <a:t>Z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90">
                <a:solidFill>
                  <a:srgbClr val="0077D3"/>
                </a:solidFill>
                <a:latin typeface="Arial Black"/>
                <a:cs typeface="Arial Black"/>
              </a:rPr>
              <a:t>U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25">
                <a:solidFill>
                  <a:srgbClr val="0077D3"/>
                </a:solidFill>
                <a:latin typeface="Arial Black"/>
                <a:cs typeface="Arial Black"/>
              </a:rPr>
              <a:t>R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>
                <a:solidFill>
                  <a:srgbClr val="0077D3"/>
                </a:solidFill>
                <a:latin typeface="Arial Black"/>
                <a:cs typeface="Arial Black"/>
              </a:rPr>
              <a:t>E</a:t>
            </a:r>
            <a:r>
              <a:rPr dirty="0" sz="1000" spc="14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50">
                <a:solidFill>
                  <a:srgbClr val="0077D3"/>
                </a:solidFill>
                <a:latin typeface="Arial Black"/>
                <a:cs typeface="Arial Black"/>
              </a:rPr>
              <a:t>O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25">
                <a:solidFill>
                  <a:srgbClr val="0077D3"/>
                </a:solidFill>
                <a:latin typeface="Arial Black"/>
                <a:cs typeface="Arial Black"/>
              </a:rPr>
              <a:t>R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25">
                <a:solidFill>
                  <a:srgbClr val="0077D3"/>
                </a:solidFill>
                <a:latin typeface="Arial Black"/>
                <a:cs typeface="Arial Black"/>
              </a:rPr>
              <a:t>G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95">
                <a:solidFill>
                  <a:srgbClr val="0077D3"/>
                </a:solidFill>
                <a:latin typeface="Arial Black"/>
                <a:cs typeface="Arial Black"/>
              </a:rPr>
              <a:t>A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>
                <a:solidFill>
                  <a:srgbClr val="0077D3"/>
                </a:solidFill>
                <a:latin typeface="Arial Black"/>
                <a:cs typeface="Arial Black"/>
              </a:rPr>
              <a:t>NI</a:t>
            </a:r>
            <a:r>
              <a:rPr dirty="0" sz="1000" spc="-204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60">
                <a:solidFill>
                  <a:srgbClr val="0077D3"/>
                </a:solidFill>
                <a:latin typeface="Arial Black"/>
                <a:cs typeface="Arial Black"/>
              </a:rPr>
              <a:t>Z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00">
                <a:solidFill>
                  <a:srgbClr val="0077D3"/>
                </a:solidFill>
                <a:latin typeface="Arial Black"/>
                <a:cs typeface="Arial Black"/>
              </a:rPr>
              <a:t>AT</a:t>
            </a:r>
            <a:r>
              <a:rPr dirty="0" sz="1000" spc="-204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>
                <a:solidFill>
                  <a:srgbClr val="0077D3"/>
                </a:solidFill>
                <a:latin typeface="Arial Black"/>
                <a:cs typeface="Arial Black"/>
              </a:rPr>
              <a:t>I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50">
                <a:solidFill>
                  <a:srgbClr val="0077D3"/>
                </a:solidFill>
                <a:latin typeface="Arial Black"/>
                <a:cs typeface="Arial Black"/>
              </a:rPr>
              <a:t>O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50">
                <a:solidFill>
                  <a:srgbClr val="0077D3"/>
                </a:solidFill>
                <a:latin typeface="Arial Black"/>
                <a:cs typeface="Arial Black"/>
              </a:rPr>
              <a:t>N</a:t>
            </a:r>
            <a:endParaRPr sz="1000">
              <a:latin typeface="Arial Black"/>
              <a:cs typeface="Arial Black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54304" y="428977"/>
            <a:ext cx="10077450" cy="814705"/>
          </a:xfrm>
          <a:prstGeom prst="rect"/>
        </p:spPr>
        <p:txBody>
          <a:bodyPr wrap="square" lIns="0" tIns="133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0"/>
              </a:spcBef>
            </a:pPr>
            <a:r>
              <a:rPr dirty="0" sz="2700" spc="-160">
                <a:solidFill>
                  <a:srgbClr val="0F2339"/>
                </a:solidFill>
              </a:rPr>
              <a:t>Subscription: </a:t>
            </a:r>
            <a:r>
              <a:rPr dirty="0" sz="2700" spc="-180">
                <a:solidFill>
                  <a:srgbClr val="0F2339"/>
                </a:solidFill>
              </a:rPr>
              <a:t>resource</a:t>
            </a:r>
            <a:r>
              <a:rPr dirty="0" sz="2700" spc="-150">
                <a:solidFill>
                  <a:srgbClr val="0F2339"/>
                </a:solidFill>
              </a:rPr>
              <a:t> </a:t>
            </a:r>
            <a:r>
              <a:rPr dirty="0" sz="2700" spc="-110">
                <a:solidFill>
                  <a:srgbClr val="0F2339"/>
                </a:solidFill>
              </a:rPr>
              <a:t>management</a:t>
            </a:r>
            <a:r>
              <a:rPr dirty="0" sz="2700" spc="-155">
                <a:solidFill>
                  <a:srgbClr val="0F2339"/>
                </a:solidFill>
              </a:rPr>
              <a:t> </a:t>
            </a:r>
            <a:r>
              <a:rPr dirty="0" sz="2700" spc="-110">
                <a:solidFill>
                  <a:srgbClr val="0F2339"/>
                </a:solidFill>
              </a:rPr>
              <a:t>and</a:t>
            </a:r>
            <a:r>
              <a:rPr dirty="0" sz="2700" spc="-155">
                <a:solidFill>
                  <a:srgbClr val="0F2339"/>
                </a:solidFill>
              </a:rPr>
              <a:t> </a:t>
            </a:r>
            <a:r>
              <a:rPr dirty="0" sz="2700" spc="-85">
                <a:solidFill>
                  <a:srgbClr val="0F2339"/>
                </a:solidFill>
              </a:rPr>
              <a:t>billing</a:t>
            </a:r>
            <a:r>
              <a:rPr dirty="0" sz="2700" spc="-155">
                <a:solidFill>
                  <a:srgbClr val="0F2339"/>
                </a:solidFill>
              </a:rPr>
              <a:t> </a:t>
            </a:r>
            <a:r>
              <a:rPr dirty="0" sz="2700" spc="-10">
                <a:solidFill>
                  <a:srgbClr val="0F2339"/>
                </a:solidFill>
              </a:rPr>
              <a:t>boundary</a:t>
            </a:r>
            <a:endParaRPr sz="2700"/>
          </a:p>
          <a:p>
            <a:pPr marL="30480">
              <a:lnSpc>
                <a:spcPct val="100000"/>
              </a:lnSpc>
              <a:spcBef>
                <a:spcPts val="459"/>
              </a:spcBef>
            </a:pP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A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subscription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is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where</a:t>
            </a:r>
            <a:r>
              <a:rPr dirty="0" sz="13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resources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are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deployed</a:t>
            </a:r>
            <a:r>
              <a:rPr dirty="0" sz="13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and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where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many</a:t>
            </a:r>
            <a:r>
              <a:rPr dirty="0" sz="13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quota,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billing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and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access</a:t>
            </a:r>
            <a:r>
              <a:rPr dirty="0" sz="13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management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operations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are</a:t>
            </a:r>
            <a:r>
              <a:rPr dirty="0" sz="13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organized.</a:t>
            </a:r>
            <a:endParaRPr sz="1300">
              <a:latin typeface="Noto Sans"/>
              <a:cs typeface="Noto San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66635" y="1417319"/>
            <a:ext cx="11064240" cy="635"/>
          </a:xfrm>
          <a:custGeom>
            <a:avLst/>
            <a:gdLst/>
            <a:ahLst/>
            <a:cxnLst/>
            <a:rect l="l" t="t" r="r" b="b"/>
            <a:pathLst>
              <a:path w="11064240" h="634">
                <a:moveTo>
                  <a:pt x="0" y="0"/>
                </a:moveTo>
                <a:lnTo>
                  <a:pt x="11064240" y="355"/>
                </a:lnTo>
              </a:path>
            </a:pathLst>
          </a:custGeom>
          <a:ln w="10079">
            <a:solidFill>
              <a:srgbClr val="DBE4ED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6" name="object 6"/>
          <p:cNvGrpSpPr/>
          <p:nvPr/>
        </p:nvGrpSpPr>
        <p:grpSpPr>
          <a:xfrm>
            <a:off x="817564" y="1823404"/>
            <a:ext cx="2982595" cy="2251075"/>
            <a:chOff x="817564" y="1823404"/>
            <a:chExt cx="2982595" cy="2251075"/>
          </a:xfrm>
        </p:grpSpPr>
        <p:sp>
          <p:nvSpPr>
            <p:cNvPr id="7" name="object 7"/>
            <p:cNvSpPr/>
            <p:nvPr/>
          </p:nvSpPr>
          <p:spPr>
            <a:xfrm>
              <a:off x="822604" y="1828444"/>
              <a:ext cx="2972435" cy="2240915"/>
            </a:xfrm>
            <a:custGeom>
              <a:avLst/>
              <a:gdLst/>
              <a:ahLst/>
              <a:cxnLst/>
              <a:rect l="l" t="t" r="r" b="b"/>
              <a:pathLst>
                <a:path w="2972435" h="2240915">
                  <a:moveTo>
                    <a:pt x="110159" y="0"/>
                  </a:moveTo>
                  <a:lnTo>
                    <a:pt x="68088" y="8352"/>
                  </a:lnTo>
                  <a:lnTo>
                    <a:pt x="32534" y="32213"/>
                  </a:lnTo>
                  <a:lnTo>
                    <a:pt x="8708" y="67882"/>
                  </a:lnTo>
                  <a:lnTo>
                    <a:pt x="355" y="109791"/>
                  </a:lnTo>
                  <a:lnTo>
                    <a:pt x="0" y="2130831"/>
                  </a:lnTo>
                  <a:lnTo>
                    <a:pt x="939" y="2145261"/>
                  </a:lnTo>
                  <a:lnTo>
                    <a:pt x="3735" y="2159319"/>
                  </a:lnTo>
                  <a:lnTo>
                    <a:pt x="8301" y="2172752"/>
                  </a:lnTo>
                  <a:lnTo>
                    <a:pt x="8352" y="2172902"/>
                  </a:lnTo>
                  <a:lnTo>
                    <a:pt x="14757" y="2185911"/>
                  </a:lnTo>
                  <a:lnTo>
                    <a:pt x="22674" y="2197624"/>
                  </a:lnTo>
                  <a:lnTo>
                    <a:pt x="22775" y="2197774"/>
                  </a:lnTo>
                  <a:lnTo>
                    <a:pt x="55079" y="2225878"/>
                  </a:lnTo>
                  <a:lnTo>
                    <a:pt x="95374" y="2239695"/>
                  </a:lnTo>
                  <a:lnTo>
                    <a:pt x="109791" y="2240635"/>
                  </a:lnTo>
                  <a:lnTo>
                    <a:pt x="2862351" y="2240635"/>
                  </a:lnTo>
                  <a:lnTo>
                    <a:pt x="2904422" y="2232282"/>
                  </a:lnTo>
                  <a:lnTo>
                    <a:pt x="2939926" y="2208456"/>
                  </a:lnTo>
                  <a:lnTo>
                    <a:pt x="2963727" y="2172902"/>
                  </a:lnTo>
                  <a:lnTo>
                    <a:pt x="2963802" y="2172752"/>
                  </a:lnTo>
                  <a:lnTo>
                    <a:pt x="2968404" y="2159319"/>
                  </a:lnTo>
                  <a:lnTo>
                    <a:pt x="2971214" y="2145261"/>
                  </a:lnTo>
                  <a:lnTo>
                    <a:pt x="2972155" y="2130831"/>
                  </a:lnTo>
                  <a:lnTo>
                    <a:pt x="2972131" y="109791"/>
                  </a:lnTo>
                  <a:lnTo>
                    <a:pt x="2963802" y="68088"/>
                  </a:lnTo>
                  <a:lnTo>
                    <a:pt x="2939932" y="32534"/>
                  </a:lnTo>
                  <a:lnTo>
                    <a:pt x="2904272" y="8708"/>
                  </a:lnTo>
                  <a:lnTo>
                    <a:pt x="2862351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822604" y="1828444"/>
              <a:ext cx="2972435" cy="2240915"/>
            </a:xfrm>
            <a:custGeom>
              <a:avLst/>
              <a:gdLst/>
              <a:ahLst/>
              <a:cxnLst/>
              <a:rect l="l" t="t" r="r" b="b"/>
              <a:pathLst>
                <a:path w="2972435" h="2240915">
                  <a:moveTo>
                    <a:pt x="355" y="109791"/>
                  </a:moveTo>
                  <a:lnTo>
                    <a:pt x="1295" y="95374"/>
                  </a:lnTo>
                  <a:lnTo>
                    <a:pt x="4090" y="81359"/>
                  </a:lnTo>
                  <a:lnTo>
                    <a:pt x="23133" y="43003"/>
                  </a:lnTo>
                  <a:lnTo>
                    <a:pt x="55079" y="14757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2862351" y="355"/>
                  </a:lnTo>
                  <a:lnTo>
                    <a:pt x="2904272" y="8708"/>
                  </a:lnTo>
                  <a:lnTo>
                    <a:pt x="2939932" y="32534"/>
                  </a:lnTo>
                  <a:lnTo>
                    <a:pt x="2963802" y="68088"/>
                  </a:lnTo>
                  <a:lnTo>
                    <a:pt x="2972155" y="110159"/>
                  </a:lnTo>
                  <a:lnTo>
                    <a:pt x="2972155" y="2130831"/>
                  </a:lnTo>
                  <a:lnTo>
                    <a:pt x="2971215" y="2145256"/>
                  </a:lnTo>
                  <a:lnTo>
                    <a:pt x="2968420" y="2159274"/>
                  </a:lnTo>
                  <a:lnTo>
                    <a:pt x="2949378" y="2197624"/>
                  </a:lnTo>
                  <a:lnTo>
                    <a:pt x="2917431" y="2225878"/>
                  </a:lnTo>
                  <a:lnTo>
                    <a:pt x="2876781" y="2239695"/>
                  </a:lnTo>
                  <a:lnTo>
                    <a:pt x="2862351" y="2240635"/>
                  </a:lnTo>
                  <a:lnTo>
                    <a:pt x="109791" y="2240635"/>
                  </a:lnTo>
                  <a:lnTo>
                    <a:pt x="67882" y="2232282"/>
                  </a:lnTo>
                  <a:lnTo>
                    <a:pt x="32213" y="2208456"/>
                  </a:lnTo>
                  <a:lnTo>
                    <a:pt x="8352" y="2172902"/>
                  </a:lnTo>
                  <a:lnTo>
                    <a:pt x="0" y="2130831"/>
                  </a:lnTo>
                  <a:lnTo>
                    <a:pt x="355" y="109791"/>
                  </a:lnTo>
                  <a:close/>
                </a:path>
              </a:pathLst>
            </a:custGeom>
            <a:ln w="10079">
              <a:solidFill>
                <a:srgbClr val="DBE4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822960" y="1828800"/>
              <a:ext cx="73025" cy="2240280"/>
            </a:xfrm>
            <a:custGeom>
              <a:avLst/>
              <a:gdLst/>
              <a:ahLst/>
              <a:cxnLst/>
              <a:rect l="l" t="t" r="r" b="b"/>
              <a:pathLst>
                <a:path w="73025" h="2240279">
                  <a:moveTo>
                    <a:pt x="72720" y="0"/>
                  </a:moveTo>
                  <a:lnTo>
                    <a:pt x="0" y="0"/>
                  </a:lnTo>
                  <a:lnTo>
                    <a:pt x="0" y="2239924"/>
                  </a:lnTo>
                  <a:lnTo>
                    <a:pt x="36360" y="2239924"/>
                  </a:lnTo>
                  <a:lnTo>
                    <a:pt x="72720" y="2239924"/>
                  </a:lnTo>
                  <a:lnTo>
                    <a:pt x="72720" y="0"/>
                  </a:lnTo>
                  <a:close/>
                </a:path>
              </a:pathLst>
            </a:custGeom>
            <a:solidFill>
              <a:srgbClr val="0077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822960" y="1828800"/>
              <a:ext cx="73025" cy="2240280"/>
            </a:xfrm>
            <a:custGeom>
              <a:avLst/>
              <a:gdLst/>
              <a:ahLst/>
              <a:cxnLst/>
              <a:rect l="l" t="t" r="r" b="b"/>
              <a:pathLst>
                <a:path w="73025" h="2240279">
                  <a:moveTo>
                    <a:pt x="36360" y="2239924"/>
                  </a:moveTo>
                  <a:lnTo>
                    <a:pt x="0" y="2239924"/>
                  </a:lnTo>
                  <a:lnTo>
                    <a:pt x="0" y="0"/>
                  </a:lnTo>
                  <a:lnTo>
                    <a:pt x="72720" y="0"/>
                  </a:lnTo>
                  <a:lnTo>
                    <a:pt x="72720" y="2239924"/>
                  </a:lnTo>
                  <a:lnTo>
                    <a:pt x="36360" y="2239924"/>
                  </a:lnTo>
                  <a:close/>
                </a:path>
              </a:pathLst>
            </a:custGeom>
            <a:ln w="10079">
              <a:solidFill>
                <a:srgbClr val="0077D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1011135" y="1949297"/>
            <a:ext cx="2506980" cy="1318895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12700" marR="876935">
              <a:lnSpc>
                <a:spcPct val="80000"/>
              </a:lnSpc>
              <a:spcBef>
                <a:spcPts val="434"/>
              </a:spcBef>
            </a:pPr>
            <a:r>
              <a:rPr dirty="0" sz="1400" spc="-65">
                <a:solidFill>
                  <a:srgbClr val="0F2339"/>
                </a:solidFill>
                <a:latin typeface="Arial Black"/>
                <a:cs typeface="Arial Black"/>
              </a:rPr>
              <a:t>One</a:t>
            </a:r>
            <a:r>
              <a:rPr dirty="0" sz="1400" spc="-9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400" spc="-55">
                <a:solidFill>
                  <a:srgbClr val="0F2339"/>
                </a:solidFill>
                <a:latin typeface="Arial Black"/>
                <a:cs typeface="Arial Black"/>
              </a:rPr>
              <a:t>tenant,</a:t>
            </a:r>
            <a:r>
              <a:rPr dirty="0" sz="1400" spc="-9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400" spc="-45">
                <a:solidFill>
                  <a:srgbClr val="0F2339"/>
                </a:solidFill>
                <a:latin typeface="Arial Black"/>
                <a:cs typeface="Arial Black"/>
              </a:rPr>
              <a:t>many </a:t>
            </a:r>
            <a:r>
              <a:rPr dirty="0" sz="1400" spc="-10">
                <a:solidFill>
                  <a:srgbClr val="0F2339"/>
                </a:solidFill>
                <a:latin typeface="Arial Black"/>
                <a:cs typeface="Arial Black"/>
              </a:rPr>
              <a:t>subscriptions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04500"/>
              </a:lnSpc>
              <a:spcBef>
                <a:spcPts val="390"/>
              </a:spcBef>
            </a:pPr>
            <a:r>
              <a:rPr dirty="0" sz="1350" spc="-10">
                <a:solidFill>
                  <a:srgbClr val="556478"/>
                </a:solidFill>
                <a:latin typeface="Noto Sans"/>
                <a:cs typeface="Noto Sans"/>
              </a:rPr>
              <a:t>Production,</a:t>
            </a:r>
            <a:r>
              <a:rPr dirty="0" sz="1350" spc="-2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50" spc="-10">
                <a:solidFill>
                  <a:srgbClr val="556478"/>
                </a:solidFill>
                <a:latin typeface="Noto Sans"/>
                <a:cs typeface="Noto Sans"/>
              </a:rPr>
              <a:t>development, sandbox</a:t>
            </a:r>
            <a:r>
              <a:rPr dirty="0" sz="135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50">
                <a:solidFill>
                  <a:srgbClr val="556478"/>
                </a:solidFill>
                <a:latin typeface="Noto Sans"/>
                <a:cs typeface="Noto Sans"/>
              </a:rPr>
              <a:t>or</a:t>
            </a:r>
            <a:r>
              <a:rPr dirty="0" sz="1350" spc="-2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50" spc="-10">
                <a:solidFill>
                  <a:srgbClr val="556478"/>
                </a:solidFill>
                <a:latin typeface="Noto Sans"/>
                <a:cs typeface="Noto Sans"/>
              </a:rPr>
              <a:t>separate</a:t>
            </a:r>
            <a:r>
              <a:rPr dirty="0" sz="135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50" spc="-10">
                <a:solidFill>
                  <a:srgbClr val="556478"/>
                </a:solidFill>
                <a:latin typeface="Noto Sans"/>
                <a:cs typeface="Noto Sans"/>
              </a:rPr>
              <a:t>business </a:t>
            </a:r>
            <a:r>
              <a:rPr dirty="0" sz="1350">
                <a:solidFill>
                  <a:srgbClr val="556478"/>
                </a:solidFill>
                <a:latin typeface="Noto Sans"/>
                <a:cs typeface="Noto Sans"/>
              </a:rPr>
              <a:t>units</a:t>
            </a:r>
            <a:r>
              <a:rPr dirty="0" sz="1350" spc="-4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50">
                <a:solidFill>
                  <a:srgbClr val="556478"/>
                </a:solidFill>
                <a:latin typeface="Noto Sans"/>
                <a:cs typeface="Noto Sans"/>
              </a:rPr>
              <a:t>can</a:t>
            </a:r>
            <a:r>
              <a:rPr dirty="0" sz="1350" spc="-4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50">
                <a:solidFill>
                  <a:srgbClr val="556478"/>
                </a:solidFill>
                <a:latin typeface="Noto Sans"/>
                <a:cs typeface="Noto Sans"/>
              </a:rPr>
              <a:t>be</a:t>
            </a:r>
            <a:r>
              <a:rPr dirty="0" sz="135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50">
                <a:solidFill>
                  <a:srgbClr val="556478"/>
                </a:solidFill>
                <a:latin typeface="Noto Sans"/>
                <a:cs typeface="Noto Sans"/>
              </a:rPr>
              <a:t>placed</a:t>
            </a:r>
            <a:r>
              <a:rPr dirty="0" sz="1350" spc="-4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50">
                <a:solidFill>
                  <a:srgbClr val="556478"/>
                </a:solidFill>
                <a:latin typeface="Noto Sans"/>
                <a:cs typeface="Noto Sans"/>
              </a:rPr>
              <a:t>in</a:t>
            </a:r>
            <a:r>
              <a:rPr dirty="0" sz="135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50" spc="-10">
                <a:solidFill>
                  <a:srgbClr val="556478"/>
                </a:solidFill>
                <a:latin typeface="Noto Sans"/>
                <a:cs typeface="Noto Sans"/>
              </a:rPr>
              <a:t>separate subscriptions.</a:t>
            </a:r>
            <a:endParaRPr sz="1350">
              <a:latin typeface="Noto Sans"/>
              <a:cs typeface="Noto San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155124" y="1823404"/>
            <a:ext cx="2982595" cy="2251075"/>
            <a:chOff x="4155124" y="1823404"/>
            <a:chExt cx="2982595" cy="2251075"/>
          </a:xfrm>
        </p:grpSpPr>
        <p:sp>
          <p:nvSpPr>
            <p:cNvPr id="13" name="object 13"/>
            <p:cNvSpPr/>
            <p:nvPr/>
          </p:nvSpPr>
          <p:spPr>
            <a:xfrm>
              <a:off x="4160164" y="1828444"/>
              <a:ext cx="2972435" cy="2240915"/>
            </a:xfrm>
            <a:custGeom>
              <a:avLst/>
              <a:gdLst/>
              <a:ahLst/>
              <a:cxnLst/>
              <a:rect l="l" t="t" r="r" b="b"/>
              <a:pathLst>
                <a:path w="2972434" h="2240915">
                  <a:moveTo>
                    <a:pt x="110159" y="0"/>
                  </a:moveTo>
                  <a:lnTo>
                    <a:pt x="68088" y="8352"/>
                  </a:lnTo>
                  <a:lnTo>
                    <a:pt x="32534" y="32213"/>
                  </a:lnTo>
                  <a:lnTo>
                    <a:pt x="8708" y="67882"/>
                  </a:lnTo>
                  <a:lnTo>
                    <a:pt x="355" y="109791"/>
                  </a:lnTo>
                  <a:lnTo>
                    <a:pt x="0" y="2130831"/>
                  </a:lnTo>
                  <a:lnTo>
                    <a:pt x="939" y="2145261"/>
                  </a:lnTo>
                  <a:lnTo>
                    <a:pt x="14757" y="2185911"/>
                  </a:lnTo>
                  <a:lnTo>
                    <a:pt x="43003" y="2217858"/>
                  </a:lnTo>
                  <a:lnTo>
                    <a:pt x="81359" y="2236900"/>
                  </a:lnTo>
                  <a:lnTo>
                    <a:pt x="109791" y="2240635"/>
                  </a:lnTo>
                  <a:lnTo>
                    <a:pt x="2862351" y="2240635"/>
                  </a:lnTo>
                  <a:lnTo>
                    <a:pt x="2904422" y="2232282"/>
                  </a:lnTo>
                  <a:lnTo>
                    <a:pt x="2939926" y="2208456"/>
                  </a:lnTo>
                  <a:lnTo>
                    <a:pt x="2963727" y="2172902"/>
                  </a:lnTo>
                  <a:lnTo>
                    <a:pt x="2972155" y="2130831"/>
                  </a:lnTo>
                  <a:lnTo>
                    <a:pt x="2972131" y="109791"/>
                  </a:lnTo>
                  <a:lnTo>
                    <a:pt x="2963802" y="68088"/>
                  </a:lnTo>
                  <a:lnTo>
                    <a:pt x="2939932" y="32534"/>
                  </a:lnTo>
                  <a:lnTo>
                    <a:pt x="2904272" y="8708"/>
                  </a:lnTo>
                  <a:lnTo>
                    <a:pt x="2862351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160164" y="1828444"/>
              <a:ext cx="2972435" cy="2240915"/>
            </a:xfrm>
            <a:custGeom>
              <a:avLst/>
              <a:gdLst/>
              <a:ahLst/>
              <a:cxnLst/>
              <a:rect l="l" t="t" r="r" b="b"/>
              <a:pathLst>
                <a:path w="2972434" h="2240915">
                  <a:moveTo>
                    <a:pt x="355" y="109791"/>
                  </a:moveTo>
                  <a:lnTo>
                    <a:pt x="1295" y="95374"/>
                  </a:lnTo>
                  <a:lnTo>
                    <a:pt x="4090" y="81359"/>
                  </a:lnTo>
                  <a:lnTo>
                    <a:pt x="23133" y="43003"/>
                  </a:lnTo>
                  <a:lnTo>
                    <a:pt x="55079" y="14757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2862351" y="355"/>
                  </a:lnTo>
                  <a:lnTo>
                    <a:pt x="2904272" y="8708"/>
                  </a:lnTo>
                  <a:lnTo>
                    <a:pt x="2939932" y="32534"/>
                  </a:lnTo>
                  <a:lnTo>
                    <a:pt x="2963802" y="68088"/>
                  </a:lnTo>
                  <a:lnTo>
                    <a:pt x="2972155" y="110159"/>
                  </a:lnTo>
                  <a:lnTo>
                    <a:pt x="2972155" y="2130831"/>
                  </a:lnTo>
                  <a:lnTo>
                    <a:pt x="2971215" y="2145256"/>
                  </a:lnTo>
                  <a:lnTo>
                    <a:pt x="2968420" y="2159274"/>
                  </a:lnTo>
                  <a:lnTo>
                    <a:pt x="2949378" y="2197624"/>
                  </a:lnTo>
                  <a:lnTo>
                    <a:pt x="2917431" y="2225878"/>
                  </a:lnTo>
                  <a:lnTo>
                    <a:pt x="2876781" y="2239695"/>
                  </a:lnTo>
                  <a:lnTo>
                    <a:pt x="2862351" y="2240635"/>
                  </a:lnTo>
                  <a:lnTo>
                    <a:pt x="109791" y="2240635"/>
                  </a:lnTo>
                  <a:lnTo>
                    <a:pt x="67882" y="2232282"/>
                  </a:lnTo>
                  <a:lnTo>
                    <a:pt x="32213" y="2208456"/>
                  </a:lnTo>
                  <a:lnTo>
                    <a:pt x="8352" y="2172902"/>
                  </a:lnTo>
                  <a:lnTo>
                    <a:pt x="0" y="2130831"/>
                  </a:lnTo>
                  <a:lnTo>
                    <a:pt x="355" y="109791"/>
                  </a:lnTo>
                  <a:close/>
                </a:path>
              </a:pathLst>
            </a:custGeom>
            <a:ln w="10079">
              <a:solidFill>
                <a:srgbClr val="DBE4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4160520" y="1828800"/>
              <a:ext cx="73025" cy="2240280"/>
            </a:xfrm>
            <a:custGeom>
              <a:avLst/>
              <a:gdLst/>
              <a:ahLst/>
              <a:cxnLst/>
              <a:rect l="l" t="t" r="r" b="b"/>
              <a:pathLst>
                <a:path w="73025" h="2240279">
                  <a:moveTo>
                    <a:pt x="72720" y="0"/>
                  </a:moveTo>
                  <a:lnTo>
                    <a:pt x="0" y="0"/>
                  </a:lnTo>
                  <a:lnTo>
                    <a:pt x="0" y="2239924"/>
                  </a:lnTo>
                  <a:lnTo>
                    <a:pt x="36360" y="2239924"/>
                  </a:lnTo>
                  <a:lnTo>
                    <a:pt x="72720" y="2239924"/>
                  </a:lnTo>
                  <a:lnTo>
                    <a:pt x="72720" y="0"/>
                  </a:lnTo>
                  <a:close/>
                </a:path>
              </a:pathLst>
            </a:custGeom>
            <a:solidFill>
              <a:srgbClr val="0C938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4160520" y="1828800"/>
              <a:ext cx="73025" cy="2240280"/>
            </a:xfrm>
            <a:custGeom>
              <a:avLst/>
              <a:gdLst/>
              <a:ahLst/>
              <a:cxnLst/>
              <a:rect l="l" t="t" r="r" b="b"/>
              <a:pathLst>
                <a:path w="73025" h="2240279">
                  <a:moveTo>
                    <a:pt x="36360" y="2239924"/>
                  </a:moveTo>
                  <a:lnTo>
                    <a:pt x="0" y="2239924"/>
                  </a:lnTo>
                  <a:lnTo>
                    <a:pt x="0" y="0"/>
                  </a:lnTo>
                  <a:lnTo>
                    <a:pt x="72720" y="0"/>
                  </a:lnTo>
                  <a:lnTo>
                    <a:pt x="72720" y="2239924"/>
                  </a:lnTo>
                  <a:lnTo>
                    <a:pt x="36360" y="2239924"/>
                  </a:lnTo>
                  <a:close/>
                </a:path>
              </a:pathLst>
            </a:custGeom>
            <a:ln w="10079">
              <a:solidFill>
                <a:srgbClr val="0C938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4348695" y="2031021"/>
            <a:ext cx="2567940" cy="10223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45">
                <a:solidFill>
                  <a:srgbClr val="0F2339"/>
                </a:solidFill>
                <a:latin typeface="Arial Black"/>
                <a:cs typeface="Arial Black"/>
              </a:rPr>
              <a:t>Why</a:t>
            </a:r>
            <a:r>
              <a:rPr dirty="0" sz="1400" spc="-8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400" spc="-90">
                <a:solidFill>
                  <a:srgbClr val="0F2339"/>
                </a:solidFill>
                <a:latin typeface="Arial Black"/>
                <a:cs typeface="Arial Black"/>
              </a:rPr>
              <a:t>separate</a:t>
            </a:r>
            <a:r>
              <a:rPr dirty="0" sz="1400" spc="-80">
                <a:solidFill>
                  <a:srgbClr val="0F2339"/>
                </a:solidFill>
                <a:latin typeface="Arial Black"/>
                <a:cs typeface="Arial Black"/>
              </a:rPr>
              <a:t> subscriptions?</a:t>
            </a:r>
            <a:endParaRPr sz="1400">
              <a:latin typeface="Arial Black"/>
              <a:cs typeface="Arial Black"/>
            </a:endParaRPr>
          </a:p>
          <a:p>
            <a:pPr marL="12700" marR="218440">
              <a:lnSpc>
                <a:spcPct val="104500"/>
              </a:lnSpc>
              <a:spcBef>
                <a:spcPts val="1090"/>
              </a:spcBef>
            </a:pPr>
            <a:r>
              <a:rPr dirty="0" sz="1350">
                <a:solidFill>
                  <a:srgbClr val="556478"/>
                </a:solidFill>
                <a:latin typeface="Noto Sans"/>
                <a:cs typeface="Noto Sans"/>
              </a:rPr>
              <a:t>Isolate</a:t>
            </a:r>
            <a:r>
              <a:rPr dirty="0" sz="1350" spc="-7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50">
                <a:solidFill>
                  <a:srgbClr val="556478"/>
                </a:solidFill>
                <a:latin typeface="Noto Sans"/>
                <a:cs typeface="Noto Sans"/>
              </a:rPr>
              <a:t>billing,</a:t>
            </a:r>
            <a:r>
              <a:rPr dirty="0" sz="1350" spc="-7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50">
                <a:solidFill>
                  <a:srgbClr val="556478"/>
                </a:solidFill>
                <a:latin typeface="Noto Sans"/>
                <a:cs typeface="Noto Sans"/>
              </a:rPr>
              <a:t>quotas,</a:t>
            </a:r>
            <a:r>
              <a:rPr dirty="0" sz="1350" spc="-6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50" spc="-10">
                <a:solidFill>
                  <a:srgbClr val="556478"/>
                </a:solidFill>
                <a:latin typeface="Noto Sans"/>
                <a:cs typeface="Noto Sans"/>
              </a:rPr>
              <a:t>access </a:t>
            </a:r>
            <a:r>
              <a:rPr dirty="0" sz="1350">
                <a:solidFill>
                  <a:srgbClr val="556478"/>
                </a:solidFill>
                <a:latin typeface="Noto Sans"/>
                <a:cs typeface="Noto Sans"/>
              </a:rPr>
              <a:t>and</a:t>
            </a:r>
            <a:r>
              <a:rPr dirty="0" sz="1350" spc="-4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50" spc="-10">
                <a:solidFill>
                  <a:srgbClr val="556478"/>
                </a:solidFill>
                <a:latin typeface="Noto Sans"/>
                <a:cs typeface="Noto Sans"/>
              </a:rPr>
              <a:t>governance;</a:t>
            </a:r>
            <a:r>
              <a:rPr dirty="0" sz="135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50" spc="-10">
                <a:solidFill>
                  <a:srgbClr val="556478"/>
                </a:solidFill>
                <a:latin typeface="Noto Sans"/>
                <a:cs typeface="Noto Sans"/>
              </a:rPr>
              <a:t>reduce</a:t>
            </a:r>
            <a:r>
              <a:rPr dirty="0" sz="135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50" spc="-25">
                <a:solidFill>
                  <a:srgbClr val="556478"/>
                </a:solidFill>
                <a:latin typeface="Noto Sans"/>
                <a:cs typeface="Noto Sans"/>
              </a:rPr>
              <a:t>the </a:t>
            </a:r>
            <a:r>
              <a:rPr dirty="0" sz="1350">
                <a:solidFill>
                  <a:srgbClr val="556478"/>
                </a:solidFill>
                <a:latin typeface="Noto Sans"/>
                <a:cs typeface="Noto Sans"/>
              </a:rPr>
              <a:t>blast</a:t>
            </a:r>
            <a:r>
              <a:rPr dirty="0" sz="1350" spc="-5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50">
                <a:solidFill>
                  <a:srgbClr val="556478"/>
                </a:solidFill>
                <a:latin typeface="Noto Sans"/>
                <a:cs typeface="Noto Sans"/>
              </a:rPr>
              <a:t>radius</a:t>
            </a:r>
            <a:r>
              <a:rPr dirty="0" sz="1350" spc="-5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50">
                <a:solidFill>
                  <a:srgbClr val="556478"/>
                </a:solidFill>
                <a:latin typeface="Noto Sans"/>
                <a:cs typeface="Noto Sans"/>
              </a:rPr>
              <a:t>of</a:t>
            </a:r>
            <a:r>
              <a:rPr dirty="0" sz="1350" spc="-5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50" spc="-10">
                <a:solidFill>
                  <a:srgbClr val="556478"/>
                </a:solidFill>
                <a:latin typeface="Noto Sans"/>
                <a:cs typeface="Noto Sans"/>
              </a:rPr>
              <a:t>mistakes.</a:t>
            </a:r>
            <a:endParaRPr sz="1350">
              <a:latin typeface="Noto Sans"/>
              <a:cs typeface="Noto Sans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7492316" y="1823404"/>
            <a:ext cx="3668395" cy="2251075"/>
            <a:chOff x="7492316" y="1823404"/>
            <a:chExt cx="3668395" cy="2251075"/>
          </a:xfrm>
        </p:grpSpPr>
        <p:sp>
          <p:nvSpPr>
            <p:cNvPr id="19" name="object 19"/>
            <p:cNvSpPr/>
            <p:nvPr/>
          </p:nvSpPr>
          <p:spPr>
            <a:xfrm>
              <a:off x="7497356" y="1828444"/>
              <a:ext cx="3658235" cy="2240915"/>
            </a:xfrm>
            <a:custGeom>
              <a:avLst/>
              <a:gdLst/>
              <a:ahLst/>
              <a:cxnLst/>
              <a:rect l="l" t="t" r="r" b="b"/>
              <a:pathLst>
                <a:path w="3658234" h="2240915">
                  <a:moveTo>
                    <a:pt x="110159" y="0"/>
                  </a:moveTo>
                  <a:lnTo>
                    <a:pt x="68095" y="8352"/>
                  </a:lnTo>
                  <a:lnTo>
                    <a:pt x="32535" y="32213"/>
                  </a:lnTo>
                  <a:lnTo>
                    <a:pt x="8721" y="67882"/>
                  </a:lnTo>
                  <a:lnTo>
                    <a:pt x="368" y="109791"/>
                  </a:lnTo>
                  <a:lnTo>
                    <a:pt x="0" y="2130831"/>
                  </a:lnTo>
                  <a:lnTo>
                    <a:pt x="939" y="2145261"/>
                  </a:lnTo>
                  <a:lnTo>
                    <a:pt x="3736" y="2159319"/>
                  </a:lnTo>
                  <a:lnTo>
                    <a:pt x="8307" y="2172752"/>
                  </a:lnTo>
                  <a:lnTo>
                    <a:pt x="8358" y="2172902"/>
                  </a:lnTo>
                  <a:lnTo>
                    <a:pt x="14770" y="2185911"/>
                  </a:lnTo>
                  <a:lnTo>
                    <a:pt x="22686" y="2197624"/>
                  </a:lnTo>
                  <a:lnTo>
                    <a:pt x="22788" y="2197774"/>
                  </a:lnTo>
                  <a:lnTo>
                    <a:pt x="55079" y="2225878"/>
                  </a:lnTo>
                  <a:lnTo>
                    <a:pt x="95379" y="2239695"/>
                  </a:lnTo>
                  <a:lnTo>
                    <a:pt x="109804" y="2240635"/>
                  </a:lnTo>
                  <a:lnTo>
                    <a:pt x="3548164" y="2240635"/>
                  </a:lnTo>
                  <a:lnTo>
                    <a:pt x="3590235" y="2232282"/>
                  </a:lnTo>
                  <a:lnTo>
                    <a:pt x="3625737" y="2208456"/>
                  </a:lnTo>
                  <a:lnTo>
                    <a:pt x="3649534" y="2172902"/>
                  </a:lnTo>
                  <a:lnTo>
                    <a:pt x="3649610" y="2172752"/>
                  </a:lnTo>
                  <a:lnTo>
                    <a:pt x="3654216" y="2159319"/>
                  </a:lnTo>
                  <a:lnTo>
                    <a:pt x="3657027" y="2145261"/>
                  </a:lnTo>
                  <a:lnTo>
                    <a:pt x="3657968" y="2130831"/>
                  </a:lnTo>
                  <a:lnTo>
                    <a:pt x="3657944" y="109791"/>
                  </a:lnTo>
                  <a:lnTo>
                    <a:pt x="3649610" y="68088"/>
                  </a:lnTo>
                  <a:lnTo>
                    <a:pt x="3625743" y="32534"/>
                  </a:lnTo>
                  <a:lnTo>
                    <a:pt x="3590085" y="8708"/>
                  </a:lnTo>
                  <a:lnTo>
                    <a:pt x="354816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7497356" y="1828444"/>
              <a:ext cx="3658235" cy="2240915"/>
            </a:xfrm>
            <a:custGeom>
              <a:avLst/>
              <a:gdLst/>
              <a:ahLst/>
              <a:cxnLst/>
              <a:rect l="l" t="t" r="r" b="b"/>
              <a:pathLst>
                <a:path w="3658234" h="2240915">
                  <a:moveTo>
                    <a:pt x="368" y="109791"/>
                  </a:moveTo>
                  <a:lnTo>
                    <a:pt x="1307" y="95374"/>
                  </a:lnTo>
                  <a:lnTo>
                    <a:pt x="4103" y="81359"/>
                  </a:lnTo>
                  <a:lnTo>
                    <a:pt x="23138" y="43003"/>
                  </a:lnTo>
                  <a:lnTo>
                    <a:pt x="55079" y="14757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3548164" y="355"/>
                  </a:lnTo>
                  <a:lnTo>
                    <a:pt x="3590085" y="8708"/>
                  </a:lnTo>
                  <a:lnTo>
                    <a:pt x="3625743" y="32534"/>
                  </a:lnTo>
                  <a:lnTo>
                    <a:pt x="3649610" y="68088"/>
                  </a:lnTo>
                  <a:lnTo>
                    <a:pt x="3657968" y="110159"/>
                  </a:lnTo>
                  <a:lnTo>
                    <a:pt x="3657968" y="2130831"/>
                  </a:lnTo>
                  <a:lnTo>
                    <a:pt x="3657028" y="2145256"/>
                  </a:lnTo>
                  <a:lnTo>
                    <a:pt x="3654231" y="2159274"/>
                  </a:lnTo>
                  <a:lnTo>
                    <a:pt x="3635185" y="2197624"/>
                  </a:lnTo>
                  <a:lnTo>
                    <a:pt x="3603244" y="2225878"/>
                  </a:lnTo>
                  <a:lnTo>
                    <a:pt x="3562594" y="2239695"/>
                  </a:lnTo>
                  <a:lnTo>
                    <a:pt x="3548164" y="2240635"/>
                  </a:lnTo>
                  <a:lnTo>
                    <a:pt x="109804" y="2240635"/>
                  </a:lnTo>
                  <a:lnTo>
                    <a:pt x="67882" y="2232282"/>
                  </a:lnTo>
                  <a:lnTo>
                    <a:pt x="32224" y="2208456"/>
                  </a:lnTo>
                  <a:lnTo>
                    <a:pt x="8358" y="2172902"/>
                  </a:lnTo>
                  <a:lnTo>
                    <a:pt x="0" y="2130831"/>
                  </a:lnTo>
                  <a:lnTo>
                    <a:pt x="368" y="109791"/>
                  </a:lnTo>
                  <a:close/>
                </a:path>
              </a:pathLst>
            </a:custGeom>
            <a:ln w="10079">
              <a:solidFill>
                <a:srgbClr val="DBE4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7498080" y="1828800"/>
              <a:ext cx="73025" cy="2240280"/>
            </a:xfrm>
            <a:custGeom>
              <a:avLst/>
              <a:gdLst/>
              <a:ahLst/>
              <a:cxnLst/>
              <a:rect l="l" t="t" r="r" b="b"/>
              <a:pathLst>
                <a:path w="73025" h="2240279">
                  <a:moveTo>
                    <a:pt x="72720" y="0"/>
                  </a:moveTo>
                  <a:lnTo>
                    <a:pt x="0" y="0"/>
                  </a:lnTo>
                  <a:lnTo>
                    <a:pt x="0" y="2239924"/>
                  </a:lnTo>
                  <a:lnTo>
                    <a:pt x="36360" y="2239924"/>
                  </a:lnTo>
                  <a:lnTo>
                    <a:pt x="72720" y="2239924"/>
                  </a:lnTo>
                  <a:lnTo>
                    <a:pt x="72720" y="0"/>
                  </a:lnTo>
                  <a:close/>
                </a:path>
              </a:pathLst>
            </a:custGeom>
            <a:solidFill>
              <a:srgbClr val="5A39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7498080" y="1828800"/>
              <a:ext cx="73025" cy="2240280"/>
            </a:xfrm>
            <a:custGeom>
              <a:avLst/>
              <a:gdLst/>
              <a:ahLst/>
              <a:cxnLst/>
              <a:rect l="l" t="t" r="r" b="b"/>
              <a:pathLst>
                <a:path w="73025" h="2240279">
                  <a:moveTo>
                    <a:pt x="36360" y="2239924"/>
                  </a:moveTo>
                  <a:lnTo>
                    <a:pt x="0" y="2239924"/>
                  </a:lnTo>
                  <a:lnTo>
                    <a:pt x="0" y="0"/>
                  </a:lnTo>
                  <a:lnTo>
                    <a:pt x="72720" y="0"/>
                  </a:lnTo>
                  <a:lnTo>
                    <a:pt x="72720" y="2239924"/>
                  </a:lnTo>
                  <a:lnTo>
                    <a:pt x="36360" y="2239924"/>
                  </a:lnTo>
                  <a:close/>
                </a:path>
              </a:pathLst>
            </a:custGeom>
            <a:ln w="10079">
              <a:solidFill>
                <a:srgbClr val="5A399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7686623" y="2005101"/>
            <a:ext cx="2930525" cy="10483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60">
                <a:solidFill>
                  <a:srgbClr val="0F2339"/>
                </a:solidFill>
                <a:latin typeface="Arial Black"/>
                <a:cs typeface="Arial Black"/>
              </a:rPr>
              <a:t>What</a:t>
            </a:r>
            <a:r>
              <a:rPr dirty="0" sz="1600" spc="-10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600" spc="-85">
                <a:solidFill>
                  <a:srgbClr val="0F2339"/>
                </a:solidFill>
                <a:latin typeface="Arial Black"/>
                <a:cs typeface="Arial Black"/>
              </a:rPr>
              <a:t>learners </a:t>
            </a:r>
            <a:r>
              <a:rPr dirty="0" sz="1600" spc="-80">
                <a:solidFill>
                  <a:srgbClr val="0F2339"/>
                </a:solidFill>
                <a:latin typeface="Arial Black"/>
                <a:cs typeface="Arial Black"/>
              </a:rPr>
              <a:t>should</a:t>
            </a:r>
            <a:r>
              <a:rPr dirty="0" sz="1600" spc="-8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600" spc="-15">
                <a:solidFill>
                  <a:srgbClr val="0F2339"/>
                </a:solidFill>
                <a:latin typeface="Arial Black"/>
                <a:cs typeface="Arial Black"/>
              </a:rPr>
              <a:t>record</a:t>
            </a:r>
            <a:endParaRPr sz="1600">
              <a:latin typeface="Arial Black"/>
              <a:cs typeface="Arial Black"/>
            </a:endParaRPr>
          </a:p>
          <a:p>
            <a:pPr marL="12700" marR="5080">
              <a:lnSpc>
                <a:spcPct val="104500"/>
              </a:lnSpc>
              <a:spcBef>
                <a:spcPts val="1055"/>
              </a:spcBef>
            </a:pPr>
            <a:r>
              <a:rPr dirty="0" sz="1350" spc="-10">
                <a:solidFill>
                  <a:srgbClr val="556478"/>
                </a:solidFill>
                <a:latin typeface="Noto Sans"/>
                <a:cs typeface="Noto Sans"/>
              </a:rPr>
              <a:t>Subscription</a:t>
            </a:r>
            <a:r>
              <a:rPr dirty="0" sz="1350" spc="-2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50">
                <a:solidFill>
                  <a:srgbClr val="556478"/>
                </a:solidFill>
                <a:latin typeface="Noto Sans"/>
                <a:cs typeface="Noto Sans"/>
              </a:rPr>
              <a:t>name</a:t>
            </a:r>
            <a:r>
              <a:rPr dirty="0" sz="1350" spc="-2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50">
                <a:solidFill>
                  <a:srgbClr val="556478"/>
                </a:solidFill>
                <a:latin typeface="Noto Sans"/>
                <a:cs typeface="Noto Sans"/>
              </a:rPr>
              <a:t>+</a:t>
            </a:r>
            <a:r>
              <a:rPr dirty="0" sz="1350" spc="-2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50">
                <a:solidFill>
                  <a:srgbClr val="556478"/>
                </a:solidFill>
                <a:latin typeface="Noto Sans"/>
                <a:cs typeface="Noto Sans"/>
              </a:rPr>
              <a:t>ID</a:t>
            </a:r>
            <a:r>
              <a:rPr dirty="0" sz="1350" spc="-2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50">
                <a:solidFill>
                  <a:srgbClr val="556478"/>
                </a:solidFill>
                <a:latin typeface="Noto Sans"/>
                <a:cs typeface="Noto Sans"/>
              </a:rPr>
              <a:t>+</a:t>
            </a:r>
            <a:r>
              <a:rPr dirty="0" sz="1350" spc="-2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50" spc="-10">
                <a:solidFill>
                  <a:srgbClr val="556478"/>
                </a:solidFill>
                <a:latin typeface="Noto Sans"/>
                <a:cs typeface="Noto Sans"/>
              </a:rPr>
              <a:t>associated directory/tenant</a:t>
            </a:r>
            <a:r>
              <a:rPr dirty="0" sz="1350" spc="-2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50">
                <a:solidFill>
                  <a:srgbClr val="556478"/>
                </a:solidFill>
                <a:latin typeface="Noto Sans"/>
                <a:cs typeface="Noto Sans"/>
              </a:rPr>
              <a:t>+</a:t>
            </a:r>
            <a:r>
              <a:rPr dirty="0" sz="1350" spc="-2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50" spc="-10">
                <a:solidFill>
                  <a:srgbClr val="556478"/>
                </a:solidFill>
                <a:latin typeface="Noto Sans"/>
                <a:cs typeface="Noto Sans"/>
              </a:rPr>
              <a:t>selected/default subscription.</a:t>
            </a:r>
            <a:endParaRPr sz="1350">
              <a:latin typeface="Noto Sans"/>
              <a:cs typeface="Noto Sans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091516" y="4520884"/>
            <a:ext cx="9977755" cy="1035050"/>
            <a:chOff x="1091516" y="4520884"/>
            <a:chExt cx="9977755" cy="1035050"/>
          </a:xfrm>
        </p:grpSpPr>
        <p:sp>
          <p:nvSpPr>
            <p:cNvPr id="25" name="object 25"/>
            <p:cNvSpPr/>
            <p:nvPr/>
          </p:nvSpPr>
          <p:spPr>
            <a:xfrm>
              <a:off x="1096556" y="4525924"/>
              <a:ext cx="9967595" cy="1024890"/>
            </a:xfrm>
            <a:custGeom>
              <a:avLst/>
              <a:gdLst/>
              <a:ahLst/>
              <a:cxnLst/>
              <a:rect l="l" t="t" r="r" b="b"/>
              <a:pathLst>
                <a:path w="9967595" h="1024889">
                  <a:moveTo>
                    <a:pt x="110159" y="0"/>
                  </a:moveTo>
                  <a:lnTo>
                    <a:pt x="68095" y="8352"/>
                  </a:lnTo>
                  <a:lnTo>
                    <a:pt x="32535" y="32213"/>
                  </a:lnTo>
                  <a:lnTo>
                    <a:pt x="8721" y="67882"/>
                  </a:lnTo>
                  <a:lnTo>
                    <a:pt x="368" y="109791"/>
                  </a:lnTo>
                  <a:lnTo>
                    <a:pt x="0" y="914755"/>
                  </a:lnTo>
                  <a:lnTo>
                    <a:pt x="939" y="929185"/>
                  </a:lnTo>
                  <a:lnTo>
                    <a:pt x="3736" y="943243"/>
                  </a:lnTo>
                  <a:lnTo>
                    <a:pt x="8307" y="956676"/>
                  </a:lnTo>
                  <a:lnTo>
                    <a:pt x="8358" y="956826"/>
                  </a:lnTo>
                  <a:lnTo>
                    <a:pt x="14770" y="969835"/>
                  </a:lnTo>
                  <a:lnTo>
                    <a:pt x="22686" y="981548"/>
                  </a:lnTo>
                  <a:lnTo>
                    <a:pt x="22788" y="981698"/>
                  </a:lnTo>
                  <a:lnTo>
                    <a:pt x="55079" y="1009789"/>
                  </a:lnTo>
                  <a:lnTo>
                    <a:pt x="95379" y="1023619"/>
                  </a:lnTo>
                  <a:lnTo>
                    <a:pt x="109804" y="1024559"/>
                  </a:lnTo>
                  <a:lnTo>
                    <a:pt x="9857524" y="1024559"/>
                  </a:lnTo>
                  <a:lnTo>
                    <a:pt x="9899595" y="1016201"/>
                  </a:lnTo>
                  <a:lnTo>
                    <a:pt x="9935097" y="992379"/>
                  </a:lnTo>
                  <a:lnTo>
                    <a:pt x="9958894" y="956826"/>
                  </a:lnTo>
                  <a:lnTo>
                    <a:pt x="9967328" y="914755"/>
                  </a:lnTo>
                  <a:lnTo>
                    <a:pt x="9967304" y="109791"/>
                  </a:lnTo>
                  <a:lnTo>
                    <a:pt x="9958970" y="68088"/>
                  </a:lnTo>
                  <a:lnTo>
                    <a:pt x="9935103" y="32534"/>
                  </a:lnTo>
                  <a:lnTo>
                    <a:pt x="9899445" y="8708"/>
                  </a:lnTo>
                  <a:lnTo>
                    <a:pt x="985752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0F233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1096556" y="4525924"/>
              <a:ext cx="9967595" cy="1024890"/>
            </a:xfrm>
            <a:custGeom>
              <a:avLst/>
              <a:gdLst/>
              <a:ahLst/>
              <a:cxnLst/>
              <a:rect l="l" t="t" r="r" b="b"/>
              <a:pathLst>
                <a:path w="9967595" h="1024889">
                  <a:moveTo>
                    <a:pt x="368" y="109791"/>
                  </a:moveTo>
                  <a:lnTo>
                    <a:pt x="1307" y="95374"/>
                  </a:lnTo>
                  <a:lnTo>
                    <a:pt x="4103" y="81359"/>
                  </a:lnTo>
                  <a:lnTo>
                    <a:pt x="23138" y="43003"/>
                  </a:lnTo>
                  <a:lnTo>
                    <a:pt x="55079" y="14757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9857524" y="355"/>
                  </a:lnTo>
                  <a:lnTo>
                    <a:pt x="9899445" y="8708"/>
                  </a:lnTo>
                  <a:lnTo>
                    <a:pt x="9935103" y="32534"/>
                  </a:lnTo>
                  <a:lnTo>
                    <a:pt x="9958970" y="68088"/>
                  </a:lnTo>
                  <a:lnTo>
                    <a:pt x="9967328" y="110159"/>
                  </a:lnTo>
                  <a:lnTo>
                    <a:pt x="9967328" y="914755"/>
                  </a:lnTo>
                  <a:lnTo>
                    <a:pt x="9966388" y="929180"/>
                  </a:lnTo>
                  <a:lnTo>
                    <a:pt x="9963591" y="943198"/>
                  </a:lnTo>
                  <a:lnTo>
                    <a:pt x="9944545" y="981548"/>
                  </a:lnTo>
                  <a:lnTo>
                    <a:pt x="9912604" y="1009789"/>
                  </a:lnTo>
                  <a:lnTo>
                    <a:pt x="9871954" y="1023619"/>
                  </a:lnTo>
                  <a:lnTo>
                    <a:pt x="9857524" y="1024559"/>
                  </a:lnTo>
                  <a:lnTo>
                    <a:pt x="109804" y="1024559"/>
                  </a:lnTo>
                  <a:lnTo>
                    <a:pt x="67882" y="1016201"/>
                  </a:lnTo>
                  <a:lnTo>
                    <a:pt x="32224" y="992379"/>
                  </a:lnTo>
                  <a:lnTo>
                    <a:pt x="8358" y="956826"/>
                  </a:lnTo>
                  <a:lnTo>
                    <a:pt x="0" y="914755"/>
                  </a:lnTo>
                  <a:lnTo>
                    <a:pt x="368" y="109791"/>
                  </a:lnTo>
                  <a:close/>
                </a:path>
              </a:pathLst>
            </a:custGeom>
            <a:ln w="10079">
              <a:solidFill>
                <a:srgbClr val="0F233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1230744" y="4564868"/>
            <a:ext cx="3126105" cy="762635"/>
          </a:xfrm>
          <a:prstGeom prst="rect">
            <a:avLst/>
          </a:prstGeom>
        </p:spPr>
        <p:txBody>
          <a:bodyPr wrap="square" lIns="0" tIns="704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dirty="0" sz="850" spc="-25">
                <a:solidFill>
                  <a:srgbClr val="7CD2FB"/>
                </a:solidFill>
                <a:latin typeface="Arial Black"/>
                <a:cs typeface="Arial Black"/>
              </a:rPr>
              <a:t>AZURE</a:t>
            </a:r>
            <a:r>
              <a:rPr dirty="0" sz="850" spc="5">
                <a:solidFill>
                  <a:srgbClr val="7CD2FB"/>
                </a:solidFill>
                <a:latin typeface="Arial Black"/>
                <a:cs typeface="Arial Black"/>
              </a:rPr>
              <a:t> </a:t>
            </a:r>
            <a:r>
              <a:rPr dirty="0" sz="850">
                <a:solidFill>
                  <a:srgbClr val="7CD2FB"/>
                </a:solidFill>
                <a:latin typeface="Arial Black"/>
                <a:cs typeface="Arial Black"/>
              </a:rPr>
              <a:t>CLI</a:t>
            </a:r>
            <a:r>
              <a:rPr dirty="0" sz="850" spc="10">
                <a:solidFill>
                  <a:srgbClr val="7CD2FB"/>
                </a:solidFill>
                <a:latin typeface="Arial Black"/>
                <a:cs typeface="Arial Black"/>
              </a:rPr>
              <a:t> </a:t>
            </a:r>
            <a:r>
              <a:rPr dirty="0" sz="850">
                <a:solidFill>
                  <a:srgbClr val="7CD2FB"/>
                </a:solidFill>
                <a:latin typeface="Arial Black"/>
                <a:cs typeface="Arial Black"/>
              </a:rPr>
              <a:t>•</a:t>
            </a:r>
            <a:r>
              <a:rPr dirty="0" sz="850" spc="10">
                <a:solidFill>
                  <a:srgbClr val="7CD2FB"/>
                </a:solidFill>
                <a:latin typeface="Arial Black"/>
                <a:cs typeface="Arial Black"/>
              </a:rPr>
              <a:t> </a:t>
            </a:r>
            <a:r>
              <a:rPr dirty="0" sz="850" spc="-30">
                <a:solidFill>
                  <a:srgbClr val="7CD2FB"/>
                </a:solidFill>
                <a:latin typeface="Arial Black"/>
                <a:cs typeface="Arial Black"/>
              </a:rPr>
              <a:t>SCOPE</a:t>
            </a:r>
            <a:r>
              <a:rPr dirty="0" sz="850" spc="10">
                <a:solidFill>
                  <a:srgbClr val="7CD2FB"/>
                </a:solidFill>
                <a:latin typeface="Arial Black"/>
                <a:cs typeface="Arial Black"/>
              </a:rPr>
              <a:t> </a:t>
            </a:r>
            <a:r>
              <a:rPr dirty="0" sz="850" spc="-20">
                <a:solidFill>
                  <a:srgbClr val="7CD2FB"/>
                </a:solidFill>
                <a:latin typeface="Arial Black"/>
                <a:cs typeface="Arial Black"/>
              </a:rPr>
              <a:t>CHECK</a:t>
            </a:r>
            <a:endParaRPr sz="850">
              <a:latin typeface="Arial Black"/>
              <a:cs typeface="Arial Black"/>
            </a:endParaRPr>
          </a:p>
          <a:p>
            <a:pPr marL="12700" marR="1192530">
              <a:lnSpc>
                <a:spcPct val="100000"/>
              </a:lnSpc>
              <a:spcBef>
                <a:spcPts val="560"/>
              </a:spcBef>
            </a:pPr>
            <a:r>
              <a:rPr dirty="0" sz="1050">
                <a:solidFill>
                  <a:srgbClr val="E4F4FF"/>
                </a:solidFill>
                <a:latin typeface="Noto Sans"/>
                <a:cs typeface="Noto Sans"/>
              </a:rPr>
              <a:t>az</a:t>
            </a:r>
            <a:r>
              <a:rPr dirty="0" sz="1050" spc="-50">
                <a:solidFill>
                  <a:srgbClr val="E4F4FF"/>
                </a:solidFill>
                <a:latin typeface="Noto Sans"/>
                <a:cs typeface="Noto Sans"/>
              </a:rPr>
              <a:t> </a:t>
            </a:r>
            <a:r>
              <a:rPr dirty="0" sz="1050">
                <a:solidFill>
                  <a:srgbClr val="E4F4FF"/>
                </a:solidFill>
                <a:latin typeface="Noto Sans"/>
                <a:cs typeface="Noto Sans"/>
              </a:rPr>
              <a:t>account</a:t>
            </a:r>
            <a:r>
              <a:rPr dirty="0" sz="1050" spc="-50">
                <a:solidFill>
                  <a:srgbClr val="E4F4FF"/>
                </a:solidFill>
                <a:latin typeface="Noto Sans"/>
                <a:cs typeface="Noto Sans"/>
              </a:rPr>
              <a:t> </a:t>
            </a:r>
            <a:r>
              <a:rPr dirty="0" sz="1050">
                <a:solidFill>
                  <a:srgbClr val="E4F4FF"/>
                </a:solidFill>
                <a:latin typeface="Noto Sans"/>
                <a:cs typeface="Noto Sans"/>
              </a:rPr>
              <a:t>show</a:t>
            </a:r>
            <a:r>
              <a:rPr dirty="0" sz="1050" spc="-50">
                <a:solidFill>
                  <a:srgbClr val="E4F4FF"/>
                </a:solidFill>
                <a:latin typeface="Noto Sans"/>
                <a:cs typeface="Noto Sans"/>
              </a:rPr>
              <a:t> </a:t>
            </a:r>
            <a:r>
              <a:rPr dirty="0" sz="1050" spc="-10">
                <a:solidFill>
                  <a:srgbClr val="E4F4FF"/>
                </a:solidFill>
                <a:latin typeface="Noto Sans"/>
                <a:cs typeface="Noto Sans"/>
              </a:rPr>
              <a:t>--</a:t>
            </a:r>
            <a:r>
              <a:rPr dirty="0" sz="1050">
                <a:solidFill>
                  <a:srgbClr val="E4F4FF"/>
                </a:solidFill>
                <a:latin typeface="Noto Sans"/>
                <a:cs typeface="Noto Sans"/>
              </a:rPr>
              <a:t>output</a:t>
            </a:r>
            <a:r>
              <a:rPr dirty="0" sz="1050" spc="-50">
                <a:solidFill>
                  <a:srgbClr val="E4F4FF"/>
                </a:solidFill>
                <a:latin typeface="Noto Sans"/>
                <a:cs typeface="Noto Sans"/>
              </a:rPr>
              <a:t> </a:t>
            </a:r>
            <a:r>
              <a:rPr dirty="0" sz="1050" spc="-20">
                <a:solidFill>
                  <a:srgbClr val="E4F4FF"/>
                </a:solidFill>
                <a:latin typeface="Noto Sans"/>
                <a:cs typeface="Noto Sans"/>
              </a:rPr>
              <a:t>table </a:t>
            </a:r>
            <a:r>
              <a:rPr dirty="0" sz="1050">
                <a:solidFill>
                  <a:srgbClr val="E4F4FF"/>
                </a:solidFill>
                <a:latin typeface="Noto Sans"/>
                <a:cs typeface="Noto Sans"/>
              </a:rPr>
              <a:t>az</a:t>
            </a:r>
            <a:r>
              <a:rPr dirty="0" sz="1050" spc="-40">
                <a:solidFill>
                  <a:srgbClr val="E4F4FF"/>
                </a:solidFill>
                <a:latin typeface="Noto Sans"/>
                <a:cs typeface="Noto Sans"/>
              </a:rPr>
              <a:t> </a:t>
            </a:r>
            <a:r>
              <a:rPr dirty="0" sz="1050">
                <a:solidFill>
                  <a:srgbClr val="E4F4FF"/>
                </a:solidFill>
                <a:latin typeface="Noto Sans"/>
                <a:cs typeface="Noto Sans"/>
              </a:rPr>
              <a:t>account</a:t>
            </a:r>
            <a:r>
              <a:rPr dirty="0" sz="1050" spc="-40">
                <a:solidFill>
                  <a:srgbClr val="E4F4FF"/>
                </a:solidFill>
                <a:latin typeface="Noto Sans"/>
                <a:cs typeface="Noto Sans"/>
              </a:rPr>
              <a:t> </a:t>
            </a:r>
            <a:r>
              <a:rPr dirty="0" sz="1050">
                <a:solidFill>
                  <a:srgbClr val="E4F4FF"/>
                </a:solidFill>
                <a:latin typeface="Noto Sans"/>
                <a:cs typeface="Noto Sans"/>
              </a:rPr>
              <a:t>list</a:t>
            </a:r>
            <a:r>
              <a:rPr dirty="0" sz="1050" spc="-40">
                <a:solidFill>
                  <a:srgbClr val="E4F4FF"/>
                </a:solidFill>
                <a:latin typeface="Noto Sans"/>
                <a:cs typeface="Noto Sans"/>
              </a:rPr>
              <a:t> </a:t>
            </a:r>
            <a:r>
              <a:rPr dirty="0" sz="1050" spc="-10">
                <a:solidFill>
                  <a:srgbClr val="E4F4FF"/>
                </a:solidFill>
                <a:latin typeface="Noto Sans"/>
                <a:cs typeface="Noto Sans"/>
              </a:rPr>
              <a:t>--</a:t>
            </a:r>
            <a:r>
              <a:rPr dirty="0" sz="1050">
                <a:solidFill>
                  <a:srgbClr val="E4F4FF"/>
                </a:solidFill>
                <a:latin typeface="Noto Sans"/>
                <a:cs typeface="Noto Sans"/>
              </a:rPr>
              <a:t>output</a:t>
            </a:r>
            <a:r>
              <a:rPr dirty="0" sz="1050" spc="-45">
                <a:solidFill>
                  <a:srgbClr val="E4F4FF"/>
                </a:solidFill>
                <a:latin typeface="Noto Sans"/>
                <a:cs typeface="Noto Sans"/>
              </a:rPr>
              <a:t> </a:t>
            </a:r>
            <a:r>
              <a:rPr dirty="0" sz="1050" spc="-20">
                <a:solidFill>
                  <a:srgbClr val="E4F4FF"/>
                </a:solidFill>
                <a:latin typeface="Noto Sans"/>
                <a:cs typeface="Noto Sans"/>
              </a:rPr>
              <a:t>table</a:t>
            </a:r>
            <a:endParaRPr sz="1050">
              <a:latin typeface="Noto Sans"/>
              <a:cs typeface="Noto Sans"/>
            </a:endParaRPr>
          </a:p>
          <a:p>
            <a:pPr marL="12700">
              <a:lnSpc>
                <a:spcPts val="1245"/>
              </a:lnSpc>
            </a:pPr>
            <a:r>
              <a:rPr dirty="0" sz="1050">
                <a:solidFill>
                  <a:srgbClr val="E4F4FF"/>
                </a:solidFill>
                <a:latin typeface="Noto Sans"/>
                <a:cs typeface="Noto Sans"/>
              </a:rPr>
              <a:t>az</a:t>
            </a:r>
            <a:r>
              <a:rPr dirty="0" sz="1050" spc="-20">
                <a:solidFill>
                  <a:srgbClr val="E4F4FF"/>
                </a:solidFill>
                <a:latin typeface="Noto Sans"/>
                <a:cs typeface="Noto Sans"/>
              </a:rPr>
              <a:t> </a:t>
            </a:r>
            <a:r>
              <a:rPr dirty="0" sz="1050">
                <a:solidFill>
                  <a:srgbClr val="E4F4FF"/>
                </a:solidFill>
                <a:latin typeface="Noto Sans"/>
                <a:cs typeface="Noto Sans"/>
              </a:rPr>
              <a:t>account</a:t>
            </a:r>
            <a:r>
              <a:rPr dirty="0" sz="1050" spc="-20">
                <a:solidFill>
                  <a:srgbClr val="E4F4FF"/>
                </a:solidFill>
                <a:latin typeface="Noto Sans"/>
                <a:cs typeface="Noto Sans"/>
              </a:rPr>
              <a:t> </a:t>
            </a:r>
            <a:r>
              <a:rPr dirty="0" sz="1050">
                <a:solidFill>
                  <a:srgbClr val="E4F4FF"/>
                </a:solidFill>
                <a:latin typeface="Noto Sans"/>
                <a:cs typeface="Noto Sans"/>
              </a:rPr>
              <a:t>set</a:t>
            </a:r>
            <a:r>
              <a:rPr dirty="0" sz="1050" spc="-20">
                <a:solidFill>
                  <a:srgbClr val="E4F4FF"/>
                </a:solidFill>
                <a:latin typeface="Noto Sans"/>
                <a:cs typeface="Noto Sans"/>
              </a:rPr>
              <a:t> </a:t>
            </a:r>
            <a:r>
              <a:rPr dirty="0" sz="1050" spc="-10">
                <a:solidFill>
                  <a:srgbClr val="E4F4FF"/>
                </a:solidFill>
                <a:latin typeface="Noto Sans"/>
                <a:cs typeface="Noto Sans"/>
              </a:rPr>
              <a:t>--subscription</a:t>
            </a:r>
            <a:r>
              <a:rPr dirty="0" sz="1050" spc="-25">
                <a:solidFill>
                  <a:srgbClr val="E4F4FF"/>
                </a:solidFill>
                <a:latin typeface="Noto Sans"/>
                <a:cs typeface="Noto Sans"/>
              </a:rPr>
              <a:t> </a:t>
            </a:r>
            <a:r>
              <a:rPr dirty="0" sz="1050" spc="-10">
                <a:solidFill>
                  <a:srgbClr val="E4F4FF"/>
                </a:solidFill>
                <a:latin typeface="Noto Sans"/>
                <a:cs typeface="Noto Sans"/>
              </a:rPr>
              <a:t>&lt;SUBSCRIPTION_ID&gt;</a:t>
            </a:r>
            <a:endParaRPr sz="1050">
              <a:latin typeface="Noto Sans"/>
              <a:cs typeface="Noto San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66635" y="6382435"/>
            <a:ext cx="11064240" cy="635"/>
          </a:xfrm>
          <a:custGeom>
            <a:avLst/>
            <a:gdLst/>
            <a:ahLst/>
            <a:cxnLst/>
            <a:rect l="l" t="t" r="r" b="b"/>
            <a:pathLst>
              <a:path w="11064240" h="635">
                <a:moveTo>
                  <a:pt x="0" y="0"/>
                </a:moveTo>
                <a:lnTo>
                  <a:pt x="11064240" y="368"/>
                </a:lnTo>
              </a:path>
            </a:pathLst>
          </a:custGeom>
          <a:ln w="8999">
            <a:solidFill>
              <a:srgbClr val="DBE4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90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 spc="-100"/>
              <a:t>DAY</a:t>
            </a:r>
            <a:r>
              <a:rPr dirty="0" spc="-55"/>
              <a:t> </a:t>
            </a:r>
            <a:r>
              <a:rPr dirty="0"/>
              <a:t>1</a:t>
            </a:r>
            <a:r>
              <a:rPr dirty="0" spc="105"/>
              <a:t> </a:t>
            </a:r>
            <a:r>
              <a:rPr dirty="0"/>
              <a:t>•</a:t>
            </a:r>
            <a:r>
              <a:rPr dirty="0" spc="130"/>
              <a:t> </a:t>
            </a:r>
            <a:r>
              <a:rPr dirty="0" spc="-70"/>
              <a:t>CLOUD</a:t>
            </a:r>
            <a:r>
              <a:rPr dirty="0" spc="-55"/>
              <a:t> </a:t>
            </a:r>
            <a:r>
              <a:rPr dirty="0" spc="-65"/>
              <a:t>FOUNDATIONS</a:t>
            </a:r>
            <a:r>
              <a:rPr dirty="0" spc="-55"/>
              <a:t> </a:t>
            </a:r>
            <a:r>
              <a:rPr dirty="0" spc="-105"/>
              <a:t>&amp;</a:t>
            </a:r>
            <a:r>
              <a:rPr dirty="0" spc="-50"/>
              <a:t> </a:t>
            </a:r>
            <a:r>
              <a:rPr dirty="0" spc="-95"/>
              <a:t>AZURE</a:t>
            </a:r>
            <a:r>
              <a:rPr dirty="0" spc="-55"/>
              <a:t> </a:t>
            </a:r>
            <a:r>
              <a:rPr dirty="0" spc="-50"/>
              <a:t>BASICS</a:t>
            </a:r>
          </a:p>
        </p:txBody>
      </p:sp>
      <p:sp>
        <p:nvSpPr>
          <p:cNvPr id="28" name="object 2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032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160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3935" y="299427"/>
            <a:ext cx="242633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65">
                <a:solidFill>
                  <a:srgbClr val="0077D3"/>
                </a:solidFill>
                <a:latin typeface="Arial Black"/>
                <a:cs typeface="Arial Black"/>
              </a:rPr>
              <a:t>PA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25">
                <a:solidFill>
                  <a:srgbClr val="0077D3"/>
                </a:solidFill>
                <a:latin typeface="Arial Black"/>
                <a:cs typeface="Arial Black"/>
              </a:rPr>
              <a:t>R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>
                <a:solidFill>
                  <a:srgbClr val="0077D3"/>
                </a:solidFill>
                <a:latin typeface="Arial Black"/>
                <a:cs typeface="Arial Black"/>
              </a:rPr>
              <a:t>T</a:t>
            </a:r>
            <a:r>
              <a:rPr dirty="0" sz="1000" spc="-5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>
                <a:solidFill>
                  <a:srgbClr val="0077D3"/>
                </a:solidFill>
                <a:latin typeface="Arial Black"/>
                <a:cs typeface="Arial Black"/>
              </a:rPr>
              <a:t>3</a:t>
            </a:r>
            <a:r>
              <a:rPr dirty="0" sz="1000" spc="13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>
                <a:solidFill>
                  <a:srgbClr val="0077D3"/>
                </a:solidFill>
                <a:latin typeface="Arial Black"/>
                <a:cs typeface="Arial Black"/>
              </a:rPr>
              <a:t>•</a:t>
            </a:r>
            <a:r>
              <a:rPr dirty="0" sz="1000" spc="145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95">
                <a:solidFill>
                  <a:srgbClr val="0077D3"/>
                </a:solidFill>
                <a:latin typeface="Arial Black"/>
                <a:cs typeface="Arial Black"/>
              </a:rPr>
              <a:t>A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60">
                <a:solidFill>
                  <a:srgbClr val="0077D3"/>
                </a:solidFill>
                <a:latin typeface="Arial Black"/>
                <a:cs typeface="Arial Black"/>
              </a:rPr>
              <a:t>Z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90">
                <a:solidFill>
                  <a:srgbClr val="0077D3"/>
                </a:solidFill>
                <a:latin typeface="Arial Black"/>
                <a:cs typeface="Arial Black"/>
              </a:rPr>
              <a:t>U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25">
                <a:solidFill>
                  <a:srgbClr val="0077D3"/>
                </a:solidFill>
                <a:latin typeface="Arial Black"/>
                <a:cs typeface="Arial Black"/>
              </a:rPr>
              <a:t>R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>
                <a:solidFill>
                  <a:srgbClr val="0077D3"/>
                </a:solidFill>
                <a:latin typeface="Arial Black"/>
                <a:cs typeface="Arial Black"/>
              </a:rPr>
              <a:t>E</a:t>
            </a:r>
            <a:r>
              <a:rPr dirty="0" sz="1000" spc="14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50">
                <a:solidFill>
                  <a:srgbClr val="0077D3"/>
                </a:solidFill>
                <a:latin typeface="Arial Black"/>
                <a:cs typeface="Arial Black"/>
              </a:rPr>
              <a:t>O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25">
                <a:solidFill>
                  <a:srgbClr val="0077D3"/>
                </a:solidFill>
                <a:latin typeface="Arial Black"/>
                <a:cs typeface="Arial Black"/>
              </a:rPr>
              <a:t>R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25">
                <a:solidFill>
                  <a:srgbClr val="0077D3"/>
                </a:solidFill>
                <a:latin typeface="Arial Black"/>
                <a:cs typeface="Arial Black"/>
              </a:rPr>
              <a:t>G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95">
                <a:solidFill>
                  <a:srgbClr val="0077D3"/>
                </a:solidFill>
                <a:latin typeface="Arial Black"/>
                <a:cs typeface="Arial Black"/>
              </a:rPr>
              <a:t>A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>
                <a:solidFill>
                  <a:srgbClr val="0077D3"/>
                </a:solidFill>
                <a:latin typeface="Arial Black"/>
                <a:cs typeface="Arial Black"/>
              </a:rPr>
              <a:t>NI</a:t>
            </a:r>
            <a:r>
              <a:rPr dirty="0" sz="1000" spc="-204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60">
                <a:solidFill>
                  <a:srgbClr val="0077D3"/>
                </a:solidFill>
                <a:latin typeface="Arial Black"/>
                <a:cs typeface="Arial Black"/>
              </a:rPr>
              <a:t>Z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00">
                <a:solidFill>
                  <a:srgbClr val="0077D3"/>
                </a:solidFill>
                <a:latin typeface="Arial Black"/>
                <a:cs typeface="Arial Black"/>
              </a:rPr>
              <a:t>AT</a:t>
            </a:r>
            <a:r>
              <a:rPr dirty="0" sz="1000" spc="-204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>
                <a:solidFill>
                  <a:srgbClr val="0077D3"/>
                </a:solidFill>
                <a:latin typeface="Arial Black"/>
                <a:cs typeface="Arial Black"/>
              </a:rPr>
              <a:t>I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50">
                <a:solidFill>
                  <a:srgbClr val="0077D3"/>
                </a:solidFill>
                <a:latin typeface="Arial Black"/>
                <a:cs typeface="Arial Black"/>
              </a:rPr>
              <a:t>O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50">
                <a:solidFill>
                  <a:srgbClr val="0077D3"/>
                </a:solidFill>
                <a:latin typeface="Arial Black"/>
                <a:cs typeface="Arial Black"/>
              </a:rPr>
              <a:t>N</a:t>
            </a:r>
            <a:endParaRPr sz="1000">
              <a:latin typeface="Arial Black"/>
              <a:cs typeface="Arial Black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54304" y="428977"/>
            <a:ext cx="8703310" cy="814705"/>
          </a:xfrm>
          <a:prstGeom prst="rect"/>
        </p:spPr>
        <p:txBody>
          <a:bodyPr wrap="square" lIns="0" tIns="133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0"/>
              </a:spcBef>
            </a:pPr>
            <a:r>
              <a:rPr dirty="0" sz="2700" spc="-220">
                <a:solidFill>
                  <a:srgbClr val="0F2339"/>
                </a:solidFill>
              </a:rPr>
              <a:t>Resource</a:t>
            </a:r>
            <a:r>
              <a:rPr dirty="0" sz="2700" spc="-170">
                <a:solidFill>
                  <a:srgbClr val="0F2339"/>
                </a:solidFill>
              </a:rPr>
              <a:t> </a:t>
            </a:r>
            <a:r>
              <a:rPr dirty="0" sz="2700" spc="-100">
                <a:solidFill>
                  <a:srgbClr val="0F2339"/>
                </a:solidFill>
              </a:rPr>
              <a:t>group:</a:t>
            </a:r>
            <a:r>
              <a:rPr dirty="0" sz="2700" spc="-165">
                <a:solidFill>
                  <a:srgbClr val="0F2339"/>
                </a:solidFill>
              </a:rPr>
              <a:t> </a:t>
            </a:r>
            <a:r>
              <a:rPr dirty="0" sz="2700" spc="-120">
                <a:solidFill>
                  <a:srgbClr val="0F2339"/>
                </a:solidFill>
              </a:rPr>
              <a:t>organize</a:t>
            </a:r>
            <a:r>
              <a:rPr dirty="0" sz="2700" spc="-160">
                <a:solidFill>
                  <a:srgbClr val="0F2339"/>
                </a:solidFill>
              </a:rPr>
              <a:t> </a:t>
            </a:r>
            <a:r>
              <a:rPr dirty="0" sz="2700" spc="-195">
                <a:solidFill>
                  <a:srgbClr val="0F2339"/>
                </a:solidFill>
              </a:rPr>
              <a:t>resources</a:t>
            </a:r>
            <a:r>
              <a:rPr dirty="0" sz="2700" spc="-160">
                <a:solidFill>
                  <a:srgbClr val="0F2339"/>
                </a:solidFill>
              </a:rPr>
              <a:t> </a:t>
            </a:r>
            <a:r>
              <a:rPr dirty="0" sz="2700" spc="-145">
                <a:solidFill>
                  <a:srgbClr val="0F2339"/>
                </a:solidFill>
              </a:rPr>
              <a:t>by</a:t>
            </a:r>
            <a:r>
              <a:rPr dirty="0" sz="2700" spc="-165">
                <a:solidFill>
                  <a:srgbClr val="0F2339"/>
                </a:solidFill>
              </a:rPr>
              <a:t> </a:t>
            </a:r>
            <a:r>
              <a:rPr dirty="0" sz="2700" spc="-50">
                <a:solidFill>
                  <a:srgbClr val="0F2339"/>
                </a:solidFill>
              </a:rPr>
              <a:t>lifecycle</a:t>
            </a:r>
            <a:endParaRPr sz="2700"/>
          </a:p>
          <a:p>
            <a:pPr marL="30480">
              <a:lnSpc>
                <a:spcPct val="100000"/>
              </a:lnSpc>
              <a:spcBef>
                <a:spcPts val="459"/>
              </a:spcBef>
            </a:pP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A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resource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group</a:t>
            </a:r>
            <a:r>
              <a:rPr dirty="0" sz="13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is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a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container</a:t>
            </a:r>
            <a:r>
              <a:rPr dirty="0" sz="13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for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related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resources</a:t>
            </a:r>
            <a:r>
              <a:rPr dirty="0" sz="13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that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you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want</a:t>
            </a:r>
            <a:r>
              <a:rPr dirty="0" sz="13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to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deploy,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manage,</a:t>
            </a:r>
            <a:r>
              <a:rPr dirty="0" sz="13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secure</a:t>
            </a:r>
            <a:r>
              <a:rPr dirty="0" sz="1300" spc="-4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or</a:t>
            </a:r>
            <a:r>
              <a:rPr dirty="0" sz="13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retire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together.</a:t>
            </a:r>
            <a:endParaRPr sz="1300">
              <a:latin typeface="Noto Sans"/>
              <a:cs typeface="Noto San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66635" y="1417319"/>
            <a:ext cx="11064240" cy="635"/>
          </a:xfrm>
          <a:custGeom>
            <a:avLst/>
            <a:gdLst/>
            <a:ahLst/>
            <a:cxnLst/>
            <a:rect l="l" t="t" r="r" b="b"/>
            <a:pathLst>
              <a:path w="11064240" h="634">
                <a:moveTo>
                  <a:pt x="0" y="0"/>
                </a:moveTo>
                <a:lnTo>
                  <a:pt x="11064240" y="355"/>
                </a:lnTo>
              </a:path>
            </a:pathLst>
          </a:custGeom>
          <a:ln w="10079">
            <a:solidFill>
              <a:srgbClr val="DBE4ED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6" name="object 6"/>
          <p:cNvGrpSpPr/>
          <p:nvPr/>
        </p:nvGrpSpPr>
        <p:grpSpPr>
          <a:xfrm>
            <a:off x="817524" y="1823364"/>
            <a:ext cx="3439795" cy="2251075"/>
            <a:chOff x="817524" y="1823364"/>
            <a:chExt cx="3439795" cy="2251075"/>
          </a:xfrm>
        </p:grpSpPr>
        <p:sp>
          <p:nvSpPr>
            <p:cNvPr id="7" name="object 7"/>
            <p:cNvSpPr/>
            <p:nvPr/>
          </p:nvSpPr>
          <p:spPr>
            <a:xfrm>
              <a:off x="822604" y="1828444"/>
              <a:ext cx="3429635" cy="2240915"/>
            </a:xfrm>
            <a:custGeom>
              <a:avLst/>
              <a:gdLst/>
              <a:ahLst/>
              <a:cxnLst/>
              <a:rect l="l" t="t" r="r" b="b"/>
              <a:pathLst>
                <a:path w="3429635" h="2240915">
                  <a:moveTo>
                    <a:pt x="110159" y="0"/>
                  </a:moveTo>
                  <a:lnTo>
                    <a:pt x="68088" y="8352"/>
                  </a:lnTo>
                  <a:lnTo>
                    <a:pt x="32534" y="32213"/>
                  </a:lnTo>
                  <a:lnTo>
                    <a:pt x="8708" y="67882"/>
                  </a:lnTo>
                  <a:lnTo>
                    <a:pt x="355" y="109791"/>
                  </a:lnTo>
                  <a:lnTo>
                    <a:pt x="0" y="2130831"/>
                  </a:lnTo>
                  <a:lnTo>
                    <a:pt x="939" y="2145261"/>
                  </a:lnTo>
                  <a:lnTo>
                    <a:pt x="3735" y="2159319"/>
                  </a:lnTo>
                  <a:lnTo>
                    <a:pt x="8301" y="2172752"/>
                  </a:lnTo>
                  <a:lnTo>
                    <a:pt x="8352" y="2172902"/>
                  </a:lnTo>
                  <a:lnTo>
                    <a:pt x="14757" y="2185911"/>
                  </a:lnTo>
                  <a:lnTo>
                    <a:pt x="22674" y="2197624"/>
                  </a:lnTo>
                  <a:lnTo>
                    <a:pt x="22775" y="2197774"/>
                  </a:lnTo>
                  <a:lnTo>
                    <a:pt x="55079" y="2225878"/>
                  </a:lnTo>
                  <a:lnTo>
                    <a:pt x="95374" y="2239695"/>
                  </a:lnTo>
                  <a:lnTo>
                    <a:pt x="109791" y="2240635"/>
                  </a:lnTo>
                  <a:lnTo>
                    <a:pt x="3319551" y="2240635"/>
                  </a:lnTo>
                  <a:lnTo>
                    <a:pt x="3361622" y="2232282"/>
                  </a:lnTo>
                  <a:lnTo>
                    <a:pt x="3397126" y="2208456"/>
                  </a:lnTo>
                  <a:lnTo>
                    <a:pt x="3420927" y="2172902"/>
                  </a:lnTo>
                  <a:lnTo>
                    <a:pt x="3421002" y="2172752"/>
                  </a:lnTo>
                  <a:lnTo>
                    <a:pt x="3425604" y="2159319"/>
                  </a:lnTo>
                  <a:lnTo>
                    <a:pt x="3428414" y="2145261"/>
                  </a:lnTo>
                  <a:lnTo>
                    <a:pt x="3429355" y="2130831"/>
                  </a:lnTo>
                  <a:lnTo>
                    <a:pt x="3429331" y="109791"/>
                  </a:lnTo>
                  <a:lnTo>
                    <a:pt x="3421002" y="68088"/>
                  </a:lnTo>
                  <a:lnTo>
                    <a:pt x="3397132" y="32534"/>
                  </a:lnTo>
                  <a:lnTo>
                    <a:pt x="3361472" y="8708"/>
                  </a:lnTo>
                  <a:lnTo>
                    <a:pt x="3319551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822604" y="1828444"/>
              <a:ext cx="3429635" cy="2240915"/>
            </a:xfrm>
            <a:custGeom>
              <a:avLst/>
              <a:gdLst/>
              <a:ahLst/>
              <a:cxnLst/>
              <a:rect l="l" t="t" r="r" b="b"/>
              <a:pathLst>
                <a:path w="3429635" h="2240915">
                  <a:moveTo>
                    <a:pt x="355" y="109791"/>
                  </a:moveTo>
                  <a:lnTo>
                    <a:pt x="1295" y="95374"/>
                  </a:lnTo>
                  <a:lnTo>
                    <a:pt x="4090" y="81359"/>
                  </a:lnTo>
                  <a:lnTo>
                    <a:pt x="23133" y="43003"/>
                  </a:lnTo>
                  <a:lnTo>
                    <a:pt x="55079" y="14757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3319551" y="355"/>
                  </a:lnTo>
                  <a:lnTo>
                    <a:pt x="3361472" y="8708"/>
                  </a:lnTo>
                  <a:lnTo>
                    <a:pt x="3397132" y="32534"/>
                  </a:lnTo>
                  <a:lnTo>
                    <a:pt x="3421002" y="68088"/>
                  </a:lnTo>
                  <a:lnTo>
                    <a:pt x="3429355" y="110159"/>
                  </a:lnTo>
                  <a:lnTo>
                    <a:pt x="3429355" y="2130831"/>
                  </a:lnTo>
                  <a:lnTo>
                    <a:pt x="3428415" y="2145256"/>
                  </a:lnTo>
                  <a:lnTo>
                    <a:pt x="3425620" y="2159274"/>
                  </a:lnTo>
                  <a:lnTo>
                    <a:pt x="3406578" y="2197624"/>
                  </a:lnTo>
                  <a:lnTo>
                    <a:pt x="3374631" y="2225878"/>
                  </a:lnTo>
                  <a:lnTo>
                    <a:pt x="3333981" y="2239695"/>
                  </a:lnTo>
                  <a:lnTo>
                    <a:pt x="3319551" y="2240635"/>
                  </a:lnTo>
                  <a:lnTo>
                    <a:pt x="109791" y="2240635"/>
                  </a:lnTo>
                  <a:lnTo>
                    <a:pt x="67882" y="2232282"/>
                  </a:lnTo>
                  <a:lnTo>
                    <a:pt x="32213" y="2208456"/>
                  </a:lnTo>
                  <a:lnTo>
                    <a:pt x="8352" y="2172902"/>
                  </a:lnTo>
                  <a:lnTo>
                    <a:pt x="0" y="2130831"/>
                  </a:lnTo>
                  <a:lnTo>
                    <a:pt x="355" y="109791"/>
                  </a:lnTo>
                  <a:close/>
                </a:path>
              </a:pathLst>
            </a:custGeom>
            <a:ln w="10079">
              <a:solidFill>
                <a:srgbClr val="DBE4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005484" y="2029675"/>
              <a:ext cx="3063875" cy="439420"/>
            </a:xfrm>
            <a:custGeom>
              <a:avLst/>
              <a:gdLst/>
              <a:ahLst/>
              <a:cxnLst/>
              <a:rect l="l" t="t" r="r" b="b"/>
              <a:pathLst>
                <a:path w="3063875" h="439419">
                  <a:moveTo>
                    <a:pt x="110159" y="0"/>
                  </a:moveTo>
                  <a:lnTo>
                    <a:pt x="68088" y="8358"/>
                  </a:lnTo>
                  <a:lnTo>
                    <a:pt x="32534" y="32224"/>
                  </a:lnTo>
                  <a:lnTo>
                    <a:pt x="8708" y="67934"/>
                  </a:lnTo>
                  <a:lnTo>
                    <a:pt x="355" y="109804"/>
                  </a:lnTo>
                  <a:lnTo>
                    <a:pt x="0" y="329399"/>
                  </a:lnTo>
                  <a:lnTo>
                    <a:pt x="929" y="343674"/>
                  </a:lnTo>
                  <a:lnTo>
                    <a:pt x="939" y="343830"/>
                  </a:lnTo>
                  <a:lnTo>
                    <a:pt x="3700" y="357709"/>
                  </a:lnTo>
                  <a:lnTo>
                    <a:pt x="3735" y="357887"/>
                  </a:lnTo>
                  <a:lnTo>
                    <a:pt x="8284" y="371271"/>
                  </a:lnTo>
                  <a:lnTo>
                    <a:pt x="8352" y="371471"/>
                  </a:lnTo>
                  <a:lnTo>
                    <a:pt x="32213" y="407025"/>
                  </a:lnTo>
                  <a:lnTo>
                    <a:pt x="67932" y="430851"/>
                  </a:lnTo>
                  <a:lnTo>
                    <a:pt x="109791" y="439204"/>
                  </a:lnTo>
                  <a:lnTo>
                    <a:pt x="2953791" y="439204"/>
                  </a:lnTo>
                  <a:lnTo>
                    <a:pt x="2995862" y="430851"/>
                  </a:lnTo>
                  <a:lnTo>
                    <a:pt x="3031366" y="407025"/>
                  </a:lnTo>
                  <a:lnTo>
                    <a:pt x="3055143" y="371471"/>
                  </a:lnTo>
                  <a:lnTo>
                    <a:pt x="3059799" y="357887"/>
                  </a:lnTo>
                  <a:lnTo>
                    <a:pt x="3059860" y="357709"/>
                  </a:lnTo>
                  <a:lnTo>
                    <a:pt x="3062625" y="343830"/>
                  </a:lnTo>
                  <a:lnTo>
                    <a:pt x="3062655" y="343674"/>
                  </a:lnTo>
                  <a:lnTo>
                    <a:pt x="3063595" y="329399"/>
                  </a:lnTo>
                  <a:lnTo>
                    <a:pt x="3063572" y="109804"/>
                  </a:lnTo>
                  <a:lnTo>
                    <a:pt x="3055242" y="68095"/>
                  </a:lnTo>
                  <a:lnTo>
                    <a:pt x="3031372" y="32535"/>
                  </a:lnTo>
                  <a:lnTo>
                    <a:pt x="2995662" y="8721"/>
                  </a:lnTo>
                  <a:lnTo>
                    <a:pt x="2953791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9F3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005484" y="2029675"/>
              <a:ext cx="3063875" cy="439420"/>
            </a:xfrm>
            <a:custGeom>
              <a:avLst/>
              <a:gdLst/>
              <a:ahLst/>
              <a:cxnLst/>
              <a:rect l="l" t="t" r="r" b="b"/>
              <a:pathLst>
                <a:path w="3063875" h="439419">
                  <a:moveTo>
                    <a:pt x="355" y="109804"/>
                  </a:moveTo>
                  <a:lnTo>
                    <a:pt x="1295" y="95534"/>
                  </a:lnTo>
                  <a:lnTo>
                    <a:pt x="4090" y="81499"/>
                  </a:lnTo>
                  <a:lnTo>
                    <a:pt x="23133" y="43011"/>
                  </a:lnTo>
                  <a:lnTo>
                    <a:pt x="55079" y="14770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2953791" y="368"/>
                  </a:lnTo>
                  <a:lnTo>
                    <a:pt x="2995662" y="8721"/>
                  </a:lnTo>
                  <a:lnTo>
                    <a:pt x="3031372" y="32535"/>
                  </a:lnTo>
                  <a:lnTo>
                    <a:pt x="3055242" y="68095"/>
                  </a:lnTo>
                  <a:lnTo>
                    <a:pt x="3063595" y="110159"/>
                  </a:lnTo>
                  <a:lnTo>
                    <a:pt x="3063595" y="329399"/>
                  </a:lnTo>
                  <a:lnTo>
                    <a:pt x="3062655" y="343674"/>
                  </a:lnTo>
                  <a:lnTo>
                    <a:pt x="3059860" y="357709"/>
                  </a:lnTo>
                  <a:lnTo>
                    <a:pt x="3040818" y="396193"/>
                  </a:lnTo>
                  <a:lnTo>
                    <a:pt x="3008871" y="424446"/>
                  </a:lnTo>
                  <a:lnTo>
                    <a:pt x="2968221" y="438264"/>
                  </a:lnTo>
                  <a:lnTo>
                    <a:pt x="2953791" y="439204"/>
                  </a:lnTo>
                  <a:lnTo>
                    <a:pt x="109791" y="439204"/>
                  </a:lnTo>
                  <a:lnTo>
                    <a:pt x="67932" y="430851"/>
                  </a:lnTo>
                  <a:lnTo>
                    <a:pt x="32213" y="407025"/>
                  </a:lnTo>
                  <a:lnTo>
                    <a:pt x="8352" y="371471"/>
                  </a:lnTo>
                  <a:lnTo>
                    <a:pt x="0" y="329399"/>
                  </a:lnTo>
                  <a:lnTo>
                    <a:pt x="355" y="109804"/>
                  </a:lnTo>
                  <a:close/>
                </a:path>
              </a:pathLst>
            </a:custGeom>
            <a:ln w="10079">
              <a:solidFill>
                <a:srgbClr val="E9F3F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1979180" y="2129662"/>
            <a:ext cx="111569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45">
                <a:solidFill>
                  <a:srgbClr val="0077D3"/>
                </a:solidFill>
                <a:latin typeface="Arial Black"/>
                <a:cs typeface="Arial Black"/>
              </a:rPr>
              <a:t>rg-</a:t>
            </a:r>
            <a:r>
              <a:rPr dirty="0" sz="1400" spc="-80">
                <a:solidFill>
                  <a:srgbClr val="0077D3"/>
                </a:solidFill>
                <a:latin typeface="Arial Black"/>
                <a:cs typeface="Arial Black"/>
              </a:rPr>
              <a:t>web-</a:t>
            </a:r>
            <a:r>
              <a:rPr dirty="0" sz="1400" spc="-30">
                <a:solidFill>
                  <a:srgbClr val="0077D3"/>
                </a:solidFill>
                <a:latin typeface="Arial Black"/>
                <a:cs typeface="Arial Black"/>
              </a:rPr>
              <a:t>prod</a:t>
            </a:r>
            <a:endParaRPr sz="1400">
              <a:latin typeface="Arial Black"/>
              <a:cs typeface="Arial Black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146200" y="2664675"/>
            <a:ext cx="2753995" cy="303530"/>
            <a:chOff x="1146200" y="2664675"/>
            <a:chExt cx="2753995" cy="303530"/>
          </a:xfrm>
        </p:grpSpPr>
        <p:sp>
          <p:nvSpPr>
            <p:cNvPr id="13" name="object 13"/>
            <p:cNvSpPr/>
            <p:nvPr/>
          </p:nvSpPr>
          <p:spPr>
            <a:xfrm>
              <a:off x="1151280" y="2669755"/>
              <a:ext cx="2743835" cy="293370"/>
            </a:xfrm>
            <a:custGeom>
              <a:avLst/>
              <a:gdLst/>
              <a:ahLst/>
              <a:cxnLst/>
              <a:rect l="l" t="t" r="r" b="b"/>
              <a:pathLst>
                <a:path w="2743835" h="293369">
                  <a:moveTo>
                    <a:pt x="110159" y="0"/>
                  </a:moveTo>
                  <a:lnTo>
                    <a:pt x="68088" y="8358"/>
                  </a:lnTo>
                  <a:lnTo>
                    <a:pt x="32535" y="32224"/>
                  </a:lnTo>
                  <a:lnTo>
                    <a:pt x="8713" y="67882"/>
                  </a:lnTo>
                  <a:lnTo>
                    <a:pt x="355" y="109804"/>
                  </a:lnTo>
                  <a:lnTo>
                    <a:pt x="0" y="183248"/>
                  </a:lnTo>
                  <a:lnTo>
                    <a:pt x="939" y="197671"/>
                  </a:lnTo>
                  <a:lnTo>
                    <a:pt x="3735" y="211726"/>
                  </a:lnTo>
                  <a:lnTo>
                    <a:pt x="8300" y="225157"/>
                  </a:lnTo>
                  <a:lnTo>
                    <a:pt x="8352" y="225312"/>
                  </a:lnTo>
                  <a:lnTo>
                    <a:pt x="32223" y="260872"/>
                  </a:lnTo>
                  <a:lnTo>
                    <a:pt x="67882" y="284686"/>
                  </a:lnTo>
                  <a:lnTo>
                    <a:pt x="109804" y="293039"/>
                  </a:lnTo>
                  <a:lnTo>
                    <a:pt x="2633764" y="293039"/>
                  </a:lnTo>
                  <a:lnTo>
                    <a:pt x="2675828" y="284686"/>
                  </a:lnTo>
                  <a:lnTo>
                    <a:pt x="2711335" y="260872"/>
                  </a:lnTo>
                  <a:lnTo>
                    <a:pt x="2735125" y="225312"/>
                  </a:lnTo>
                  <a:lnTo>
                    <a:pt x="2743555" y="183248"/>
                  </a:lnTo>
                  <a:lnTo>
                    <a:pt x="2743532" y="109804"/>
                  </a:lnTo>
                  <a:lnTo>
                    <a:pt x="2735202" y="68095"/>
                  </a:lnTo>
                  <a:lnTo>
                    <a:pt x="2711342" y="32535"/>
                  </a:lnTo>
                  <a:lnTo>
                    <a:pt x="2675672" y="8721"/>
                  </a:lnTo>
                  <a:lnTo>
                    <a:pt x="2633764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5F7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151280" y="2669755"/>
              <a:ext cx="2743835" cy="293370"/>
            </a:xfrm>
            <a:custGeom>
              <a:avLst/>
              <a:gdLst/>
              <a:ahLst/>
              <a:cxnLst/>
              <a:rect l="l" t="t" r="r" b="b"/>
              <a:pathLst>
                <a:path w="2743835" h="293369">
                  <a:moveTo>
                    <a:pt x="355" y="109804"/>
                  </a:moveTo>
                  <a:lnTo>
                    <a:pt x="1295" y="95379"/>
                  </a:lnTo>
                  <a:lnTo>
                    <a:pt x="4092" y="81360"/>
                  </a:lnTo>
                  <a:lnTo>
                    <a:pt x="23138" y="43011"/>
                  </a:lnTo>
                  <a:lnTo>
                    <a:pt x="55079" y="14770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2633764" y="368"/>
                  </a:lnTo>
                  <a:lnTo>
                    <a:pt x="2675672" y="8721"/>
                  </a:lnTo>
                  <a:lnTo>
                    <a:pt x="2711342" y="32535"/>
                  </a:lnTo>
                  <a:lnTo>
                    <a:pt x="2735202" y="68095"/>
                  </a:lnTo>
                  <a:lnTo>
                    <a:pt x="2743555" y="110159"/>
                  </a:lnTo>
                  <a:lnTo>
                    <a:pt x="2743555" y="183248"/>
                  </a:lnTo>
                  <a:lnTo>
                    <a:pt x="2742615" y="197665"/>
                  </a:lnTo>
                  <a:lnTo>
                    <a:pt x="2739820" y="211680"/>
                  </a:lnTo>
                  <a:lnTo>
                    <a:pt x="2720785" y="250036"/>
                  </a:lnTo>
                  <a:lnTo>
                    <a:pt x="2688844" y="278282"/>
                  </a:lnTo>
                  <a:lnTo>
                    <a:pt x="2648187" y="292100"/>
                  </a:lnTo>
                  <a:lnTo>
                    <a:pt x="2633764" y="293039"/>
                  </a:lnTo>
                  <a:lnTo>
                    <a:pt x="109804" y="293039"/>
                  </a:lnTo>
                  <a:lnTo>
                    <a:pt x="67882" y="284686"/>
                  </a:lnTo>
                  <a:lnTo>
                    <a:pt x="32223" y="260872"/>
                  </a:lnTo>
                  <a:lnTo>
                    <a:pt x="8352" y="225312"/>
                  </a:lnTo>
                  <a:lnTo>
                    <a:pt x="0" y="183248"/>
                  </a:lnTo>
                  <a:lnTo>
                    <a:pt x="355" y="109804"/>
                  </a:lnTo>
                  <a:close/>
                </a:path>
              </a:pathLst>
            </a:custGeom>
            <a:ln w="10079">
              <a:solidFill>
                <a:srgbClr val="F5F7F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2160257" y="2719705"/>
            <a:ext cx="72580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556478"/>
                </a:solidFill>
                <a:latin typeface="Noto Sans"/>
                <a:cs typeface="Noto Sans"/>
              </a:rPr>
              <a:t>VM</a:t>
            </a:r>
            <a:r>
              <a:rPr dirty="0" sz="1100" spc="-1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00">
                <a:solidFill>
                  <a:srgbClr val="556478"/>
                </a:solidFill>
                <a:latin typeface="Noto Sans"/>
                <a:cs typeface="Noto Sans"/>
              </a:rPr>
              <a:t>/</a:t>
            </a:r>
            <a:r>
              <a:rPr dirty="0" sz="1100" spc="-1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00" spc="-20">
                <a:solidFill>
                  <a:srgbClr val="556478"/>
                </a:solidFill>
                <a:latin typeface="Noto Sans"/>
                <a:cs typeface="Noto Sans"/>
              </a:rPr>
              <a:t>VMSS</a:t>
            </a:r>
            <a:endParaRPr sz="1100">
              <a:latin typeface="Noto Sans"/>
              <a:cs typeface="Noto Sans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146200" y="3057804"/>
            <a:ext cx="2753995" cy="303530"/>
            <a:chOff x="1146200" y="3057804"/>
            <a:chExt cx="2753995" cy="303530"/>
          </a:xfrm>
        </p:grpSpPr>
        <p:sp>
          <p:nvSpPr>
            <p:cNvPr id="17" name="object 17"/>
            <p:cNvSpPr/>
            <p:nvPr/>
          </p:nvSpPr>
          <p:spPr>
            <a:xfrm>
              <a:off x="1151280" y="3062884"/>
              <a:ext cx="2743835" cy="293370"/>
            </a:xfrm>
            <a:custGeom>
              <a:avLst/>
              <a:gdLst/>
              <a:ahLst/>
              <a:cxnLst/>
              <a:rect l="l" t="t" r="r" b="b"/>
              <a:pathLst>
                <a:path w="2743835" h="293370">
                  <a:moveTo>
                    <a:pt x="110159" y="0"/>
                  </a:moveTo>
                  <a:lnTo>
                    <a:pt x="68088" y="8352"/>
                  </a:lnTo>
                  <a:lnTo>
                    <a:pt x="32535" y="32213"/>
                  </a:lnTo>
                  <a:lnTo>
                    <a:pt x="8713" y="67882"/>
                  </a:lnTo>
                  <a:lnTo>
                    <a:pt x="355" y="109791"/>
                  </a:lnTo>
                  <a:lnTo>
                    <a:pt x="0" y="183235"/>
                  </a:lnTo>
                  <a:lnTo>
                    <a:pt x="939" y="197665"/>
                  </a:lnTo>
                  <a:lnTo>
                    <a:pt x="3735" y="211723"/>
                  </a:lnTo>
                  <a:lnTo>
                    <a:pt x="8301" y="225156"/>
                  </a:lnTo>
                  <a:lnTo>
                    <a:pt x="8352" y="225306"/>
                  </a:lnTo>
                  <a:lnTo>
                    <a:pt x="14757" y="238315"/>
                  </a:lnTo>
                  <a:lnTo>
                    <a:pt x="22681" y="250028"/>
                  </a:lnTo>
                  <a:lnTo>
                    <a:pt x="22783" y="250178"/>
                  </a:lnTo>
                  <a:lnTo>
                    <a:pt x="55079" y="278269"/>
                  </a:lnTo>
                  <a:lnTo>
                    <a:pt x="95379" y="292100"/>
                  </a:lnTo>
                  <a:lnTo>
                    <a:pt x="109804" y="293039"/>
                  </a:lnTo>
                  <a:lnTo>
                    <a:pt x="2633764" y="293039"/>
                  </a:lnTo>
                  <a:lnTo>
                    <a:pt x="2675828" y="284681"/>
                  </a:lnTo>
                  <a:lnTo>
                    <a:pt x="2711337" y="260859"/>
                  </a:lnTo>
                  <a:lnTo>
                    <a:pt x="2735127" y="225306"/>
                  </a:lnTo>
                  <a:lnTo>
                    <a:pt x="2735202" y="225156"/>
                  </a:lnTo>
                  <a:lnTo>
                    <a:pt x="2739804" y="211723"/>
                  </a:lnTo>
                  <a:lnTo>
                    <a:pt x="2742614" y="197665"/>
                  </a:lnTo>
                  <a:lnTo>
                    <a:pt x="2743555" y="183235"/>
                  </a:lnTo>
                  <a:lnTo>
                    <a:pt x="2743531" y="109791"/>
                  </a:lnTo>
                  <a:lnTo>
                    <a:pt x="2735202" y="68088"/>
                  </a:lnTo>
                  <a:lnTo>
                    <a:pt x="2711342" y="32534"/>
                  </a:lnTo>
                  <a:lnTo>
                    <a:pt x="2675672" y="8708"/>
                  </a:lnTo>
                  <a:lnTo>
                    <a:pt x="263376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5F7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1151280" y="3062884"/>
              <a:ext cx="2743835" cy="293370"/>
            </a:xfrm>
            <a:custGeom>
              <a:avLst/>
              <a:gdLst/>
              <a:ahLst/>
              <a:cxnLst/>
              <a:rect l="l" t="t" r="r" b="b"/>
              <a:pathLst>
                <a:path w="2743835" h="293370">
                  <a:moveTo>
                    <a:pt x="355" y="109791"/>
                  </a:moveTo>
                  <a:lnTo>
                    <a:pt x="1295" y="95374"/>
                  </a:lnTo>
                  <a:lnTo>
                    <a:pt x="4092" y="81359"/>
                  </a:lnTo>
                  <a:lnTo>
                    <a:pt x="23138" y="43003"/>
                  </a:lnTo>
                  <a:lnTo>
                    <a:pt x="55079" y="14757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2633764" y="355"/>
                  </a:lnTo>
                  <a:lnTo>
                    <a:pt x="2675672" y="8708"/>
                  </a:lnTo>
                  <a:lnTo>
                    <a:pt x="2711342" y="32534"/>
                  </a:lnTo>
                  <a:lnTo>
                    <a:pt x="2735202" y="68088"/>
                  </a:lnTo>
                  <a:lnTo>
                    <a:pt x="2743555" y="110159"/>
                  </a:lnTo>
                  <a:lnTo>
                    <a:pt x="2743555" y="183235"/>
                  </a:lnTo>
                  <a:lnTo>
                    <a:pt x="2742615" y="197660"/>
                  </a:lnTo>
                  <a:lnTo>
                    <a:pt x="2739820" y="211678"/>
                  </a:lnTo>
                  <a:lnTo>
                    <a:pt x="2720785" y="250028"/>
                  </a:lnTo>
                  <a:lnTo>
                    <a:pt x="2688844" y="278269"/>
                  </a:lnTo>
                  <a:lnTo>
                    <a:pt x="2648187" y="292100"/>
                  </a:lnTo>
                  <a:lnTo>
                    <a:pt x="2633764" y="293039"/>
                  </a:lnTo>
                  <a:lnTo>
                    <a:pt x="109804" y="293039"/>
                  </a:lnTo>
                  <a:lnTo>
                    <a:pt x="67882" y="284681"/>
                  </a:lnTo>
                  <a:lnTo>
                    <a:pt x="32223" y="260859"/>
                  </a:lnTo>
                  <a:lnTo>
                    <a:pt x="8352" y="225306"/>
                  </a:lnTo>
                  <a:lnTo>
                    <a:pt x="0" y="183235"/>
                  </a:lnTo>
                  <a:lnTo>
                    <a:pt x="355" y="109791"/>
                  </a:lnTo>
                  <a:close/>
                </a:path>
              </a:pathLst>
            </a:custGeom>
            <a:ln w="10079">
              <a:solidFill>
                <a:srgbClr val="F5F7F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2045779" y="3113189"/>
            <a:ext cx="953769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556478"/>
                </a:solidFill>
                <a:latin typeface="Noto Sans"/>
                <a:cs typeface="Noto Sans"/>
              </a:rPr>
              <a:t>Load</a:t>
            </a:r>
            <a:r>
              <a:rPr dirty="0" sz="1100" spc="-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00" spc="-10">
                <a:solidFill>
                  <a:srgbClr val="556478"/>
                </a:solidFill>
                <a:latin typeface="Noto Sans"/>
                <a:cs typeface="Noto Sans"/>
              </a:rPr>
              <a:t>balancer</a:t>
            </a:r>
            <a:endParaRPr sz="1100">
              <a:latin typeface="Noto Sans"/>
              <a:cs typeface="Noto Sans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146240" y="3450960"/>
            <a:ext cx="2753995" cy="303530"/>
            <a:chOff x="1146240" y="3450960"/>
            <a:chExt cx="2753995" cy="303530"/>
          </a:xfrm>
        </p:grpSpPr>
        <p:sp>
          <p:nvSpPr>
            <p:cNvPr id="21" name="object 21"/>
            <p:cNvSpPr/>
            <p:nvPr/>
          </p:nvSpPr>
          <p:spPr>
            <a:xfrm>
              <a:off x="1151280" y="3456000"/>
              <a:ext cx="2743835" cy="293370"/>
            </a:xfrm>
            <a:custGeom>
              <a:avLst/>
              <a:gdLst/>
              <a:ahLst/>
              <a:cxnLst/>
              <a:rect l="l" t="t" r="r" b="b"/>
              <a:pathLst>
                <a:path w="2743835" h="293370">
                  <a:moveTo>
                    <a:pt x="110159" y="0"/>
                  </a:moveTo>
                  <a:lnTo>
                    <a:pt x="68088" y="8352"/>
                  </a:lnTo>
                  <a:lnTo>
                    <a:pt x="32535" y="32223"/>
                  </a:lnTo>
                  <a:lnTo>
                    <a:pt x="8713" y="67882"/>
                  </a:lnTo>
                  <a:lnTo>
                    <a:pt x="355" y="109804"/>
                  </a:lnTo>
                  <a:lnTo>
                    <a:pt x="0" y="183235"/>
                  </a:lnTo>
                  <a:lnTo>
                    <a:pt x="939" y="197665"/>
                  </a:lnTo>
                  <a:lnTo>
                    <a:pt x="14757" y="238315"/>
                  </a:lnTo>
                  <a:lnTo>
                    <a:pt x="22681" y="250028"/>
                  </a:lnTo>
                  <a:lnTo>
                    <a:pt x="22783" y="250178"/>
                  </a:lnTo>
                  <a:lnTo>
                    <a:pt x="55079" y="278282"/>
                  </a:lnTo>
                  <a:lnTo>
                    <a:pt x="95379" y="292100"/>
                  </a:lnTo>
                  <a:lnTo>
                    <a:pt x="109804" y="293039"/>
                  </a:lnTo>
                  <a:lnTo>
                    <a:pt x="2633764" y="293039"/>
                  </a:lnTo>
                  <a:lnTo>
                    <a:pt x="2675828" y="284686"/>
                  </a:lnTo>
                  <a:lnTo>
                    <a:pt x="2711337" y="260861"/>
                  </a:lnTo>
                  <a:lnTo>
                    <a:pt x="2735127" y="225306"/>
                  </a:lnTo>
                  <a:lnTo>
                    <a:pt x="2743555" y="183235"/>
                  </a:lnTo>
                  <a:lnTo>
                    <a:pt x="2743532" y="109804"/>
                  </a:lnTo>
                  <a:lnTo>
                    <a:pt x="2735202" y="68088"/>
                  </a:lnTo>
                  <a:lnTo>
                    <a:pt x="2711342" y="32535"/>
                  </a:lnTo>
                  <a:lnTo>
                    <a:pt x="2675672" y="8713"/>
                  </a:lnTo>
                  <a:lnTo>
                    <a:pt x="263376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5F7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1151280" y="3456000"/>
              <a:ext cx="2743835" cy="293370"/>
            </a:xfrm>
            <a:custGeom>
              <a:avLst/>
              <a:gdLst/>
              <a:ahLst/>
              <a:cxnLst/>
              <a:rect l="l" t="t" r="r" b="b"/>
              <a:pathLst>
                <a:path w="2743835" h="293370">
                  <a:moveTo>
                    <a:pt x="355" y="109804"/>
                  </a:moveTo>
                  <a:lnTo>
                    <a:pt x="1295" y="95379"/>
                  </a:lnTo>
                  <a:lnTo>
                    <a:pt x="4092" y="81360"/>
                  </a:lnTo>
                  <a:lnTo>
                    <a:pt x="23138" y="43010"/>
                  </a:lnTo>
                  <a:lnTo>
                    <a:pt x="55079" y="14757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2633764" y="355"/>
                  </a:lnTo>
                  <a:lnTo>
                    <a:pt x="2675672" y="8713"/>
                  </a:lnTo>
                  <a:lnTo>
                    <a:pt x="2711342" y="32535"/>
                  </a:lnTo>
                  <a:lnTo>
                    <a:pt x="2735202" y="68088"/>
                  </a:lnTo>
                  <a:lnTo>
                    <a:pt x="2743555" y="110159"/>
                  </a:lnTo>
                  <a:lnTo>
                    <a:pt x="2743555" y="183235"/>
                  </a:lnTo>
                  <a:lnTo>
                    <a:pt x="2742615" y="197660"/>
                  </a:lnTo>
                  <a:lnTo>
                    <a:pt x="2739820" y="211678"/>
                  </a:lnTo>
                  <a:lnTo>
                    <a:pt x="2720785" y="250028"/>
                  </a:lnTo>
                  <a:lnTo>
                    <a:pt x="2688844" y="278282"/>
                  </a:lnTo>
                  <a:lnTo>
                    <a:pt x="2648187" y="292100"/>
                  </a:lnTo>
                  <a:lnTo>
                    <a:pt x="2633764" y="293039"/>
                  </a:lnTo>
                  <a:lnTo>
                    <a:pt x="109804" y="293039"/>
                  </a:lnTo>
                  <a:lnTo>
                    <a:pt x="67882" y="284686"/>
                  </a:lnTo>
                  <a:lnTo>
                    <a:pt x="32223" y="260861"/>
                  </a:lnTo>
                  <a:lnTo>
                    <a:pt x="8352" y="225306"/>
                  </a:lnTo>
                  <a:lnTo>
                    <a:pt x="0" y="183235"/>
                  </a:lnTo>
                  <a:lnTo>
                    <a:pt x="355" y="109804"/>
                  </a:lnTo>
                  <a:close/>
                </a:path>
              </a:pathLst>
            </a:custGeom>
            <a:ln w="10079">
              <a:solidFill>
                <a:srgbClr val="F5F7F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1919058" y="3506304"/>
            <a:ext cx="120777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556478"/>
                </a:solidFill>
                <a:latin typeface="Noto Sans"/>
                <a:cs typeface="Noto Sans"/>
              </a:rPr>
              <a:t>Network</a:t>
            </a:r>
            <a:r>
              <a:rPr dirty="0" sz="1100" spc="-2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00" spc="-10">
                <a:solidFill>
                  <a:srgbClr val="556478"/>
                </a:solidFill>
                <a:latin typeface="Noto Sans"/>
                <a:cs typeface="Noto Sans"/>
              </a:rPr>
              <a:t>interface</a:t>
            </a:r>
            <a:endParaRPr sz="1100">
              <a:latin typeface="Noto Sans"/>
              <a:cs typeface="Noto Sans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4612284" y="1823364"/>
            <a:ext cx="3439795" cy="2251075"/>
            <a:chOff x="4612284" y="1823364"/>
            <a:chExt cx="3439795" cy="2251075"/>
          </a:xfrm>
        </p:grpSpPr>
        <p:sp>
          <p:nvSpPr>
            <p:cNvPr id="25" name="object 25"/>
            <p:cNvSpPr/>
            <p:nvPr/>
          </p:nvSpPr>
          <p:spPr>
            <a:xfrm>
              <a:off x="4617364" y="1828444"/>
              <a:ext cx="3429635" cy="2240915"/>
            </a:xfrm>
            <a:custGeom>
              <a:avLst/>
              <a:gdLst/>
              <a:ahLst/>
              <a:cxnLst/>
              <a:rect l="l" t="t" r="r" b="b"/>
              <a:pathLst>
                <a:path w="3429634" h="2240915">
                  <a:moveTo>
                    <a:pt x="110159" y="0"/>
                  </a:moveTo>
                  <a:lnTo>
                    <a:pt x="68088" y="8352"/>
                  </a:lnTo>
                  <a:lnTo>
                    <a:pt x="32534" y="32213"/>
                  </a:lnTo>
                  <a:lnTo>
                    <a:pt x="8708" y="67882"/>
                  </a:lnTo>
                  <a:lnTo>
                    <a:pt x="355" y="109791"/>
                  </a:lnTo>
                  <a:lnTo>
                    <a:pt x="0" y="2130831"/>
                  </a:lnTo>
                  <a:lnTo>
                    <a:pt x="939" y="2145261"/>
                  </a:lnTo>
                  <a:lnTo>
                    <a:pt x="14757" y="2185911"/>
                  </a:lnTo>
                  <a:lnTo>
                    <a:pt x="43003" y="2217858"/>
                  </a:lnTo>
                  <a:lnTo>
                    <a:pt x="81359" y="2236900"/>
                  </a:lnTo>
                  <a:lnTo>
                    <a:pt x="109791" y="2240635"/>
                  </a:lnTo>
                  <a:lnTo>
                    <a:pt x="3319551" y="2240635"/>
                  </a:lnTo>
                  <a:lnTo>
                    <a:pt x="3361622" y="2232282"/>
                  </a:lnTo>
                  <a:lnTo>
                    <a:pt x="3397126" y="2208456"/>
                  </a:lnTo>
                  <a:lnTo>
                    <a:pt x="3420927" y="2172902"/>
                  </a:lnTo>
                  <a:lnTo>
                    <a:pt x="3429355" y="2130831"/>
                  </a:lnTo>
                  <a:lnTo>
                    <a:pt x="3429331" y="109791"/>
                  </a:lnTo>
                  <a:lnTo>
                    <a:pt x="3421002" y="68088"/>
                  </a:lnTo>
                  <a:lnTo>
                    <a:pt x="3397132" y="32534"/>
                  </a:lnTo>
                  <a:lnTo>
                    <a:pt x="3361472" y="8708"/>
                  </a:lnTo>
                  <a:lnTo>
                    <a:pt x="3319551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4617364" y="1828444"/>
              <a:ext cx="3429635" cy="2240915"/>
            </a:xfrm>
            <a:custGeom>
              <a:avLst/>
              <a:gdLst/>
              <a:ahLst/>
              <a:cxnLst/>
              <a:rect l="l" t="t" r="r" b="b"/>
              <a:pathLst>
                <a:path w="3429634" h="2240915">
                  <a:moveTo>
                    <a:pt x="355" y="109791"/>
                  </a:moveTo>
                  <a:lnTo>
                    <a:pt x="1295" y="95374"/>
                  </a:lnTo>
                  <a:lnTo>
                    <a:pt x="4090" y="81359"/>
                  </a:lnTo>
                  <a:lnTo>
                    <a:pt x="23133" y="43003"/>
                  </a:lnTo>
                  <a:lnTo>
                    <a:pt x="55079" y="14757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3319551" y="355"/>
                  </a:lnTo>
                  <a:lnTo>
                    <a:pt x="3361472" y="8708"/>
                  </a:lnTo>
                  <a:lnTo>
                    <a:pt x="3397132" y="32534"/>
                  </a:lnTo>
                  <a:lnTo>
                    <a:pt x="3421002" y="68088"/>
                  </a:lnTo>
                  <a:lnTo>
                    <a:pt x="3429355" y="110159"/>
                  </a:lnTo>
                  <a:lnTo>
                    <a:pt x="3429355" y="2130831"/>
                  </a:lnTo>
                  <a:lnTo>
                    <a:pt x="3428415" y="2145256"/>
                  </a:lnTo>
                  <a:lnTo>
                    <a:pt x="3425620" y="2159274"/>
                  </a:lnTo>
                  <a:lnTo>
                    <a:pt x="3406578" y="2197624"/>
                  </a:lnTo>
                  <a:lnTo>
                    <a:pt x="3374631" y="2225878"/>
                  </a:lnTo>
                  <a:lnTo>
                    <a:pt x="3333981" y="2239695"/>
                  </a:lnTo>
                  <a:lnTo>
                    <a:pt x="3319551" y="2240635"/>
                  </a:lnTo>
                  <a:lnTo>
                    <a:pt x="109791" y="2240635"/>
                  </a:lnTo>
                  <a:lnTo>
                    <a:pt x="67882" y="2232282"/>
                  </a:lnTo>
                  <a:lnTo>
                    <a:pt x="32213" y="2208456"/>
                  </a:lnTo>
                  <a:lnTo>
                    <a:pt x="8352" y="2172902"/>
                  </a:lnTo>
                  <a:lnTo>
                    <a:pt x="0" y="2130831"/>
                  </a:lnTo>
                  <a:lnTo>
                    <a:pt x="355" y="109791"/>
                  </a:lnTo>
                  <a:close/>
                </a:path>
              </a:pathLst>
            </a:custGeom>
            <a:ln w="10079">
              <a:solidFill>
                <a:srgbClr val="DBE4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4800244" y="2029675"/>
              <a:ext cx="3063875" cy="439420"/>
            </a:xfrm>
            <a:custGeom>
              <a:avLst/>
              <a:gdLst/>
              <a:ahLst/>
              <a:cxnLst/>
              <a:rect l="l" t="t" r="r" b="b"/>
              <a:pathLst>
                <a:path w="3063875" h="439419">
                  <a:moveTo>
                    <a:pt x="110159" y="0"/>
                  </a:moveTo>
                  <a:lnTo>
                    <a:pt x="68088" y="8358"/>
                  </a:lnTo>
                  <a:lnTo>
                    <a:pt x="32534" y="32224"/>
                  </a:lnTo>
                  <a:lnTo>
                    <a:pt x="8708" y="67934"/>
                  </a:lnTo>
                  <a:lnTo>
                    <a:pt x="355" y="109804"/>
                  </a:lnTo>
                  <a:lnTo>
                    <a:pt x="0" y="329399"/>
                  </a:lnTo>
                  <a:lnTo>
                    <a:pt x="929" y="343674"/>
                  </a:lnTo>
                  <a:lnTo>
                    <a:pt x="939" y="343830"/>
                  </a:lnTo>
                  <a:lnTo>
                    <a:pt x="3700" y="357709"/>
                  </a:lnTo>
                  <a:lnTo>
                    <a:pt x="3735" y="357887"/>
                  </a:lnTo>
                  <a:lnTo>
                    <a:pt x="8284" y="371271"/>
                  </a:lnTo>
                  <a:lnTo>
                    <a:pt x="8352" y="371471"/>
                  </a:lnTo>
                  <a:lnTo>
                    <a:pt x="14757" y="384479"/>
                  </a:lnTo>
                  <a:lnTo>
                    <a:pt x="22674" y="396193"/>
                  </a:lnTo>
                  <a:lnTo>
                    <a:pt x="22775" y="396343"/>
                  </a:lnTo>
                  <a:lnTo>
                    <a:pt x="55079" y="424446"/>
                  </a:lnTo>
                  <a:lnTo>
                    <a:pt x="95524" y="438264"/>
                  </a:lnTo>
                  <a:lnTo>
                    <a:pt x="109791" y="439204"/>
                  </a:lnTo>
                  <a:lnTo>
                    <a:pt x="2953791" y="439204"/>
                  </a:lnTo>
                  <a:lnTo>
                    <a:pt x="2995862" y="430851"/>
                  </a:lnTo>
                  <a:lnTo>
                    <a:pt x="3031366" y="407025"/>
                  </a:lnTo>
                  <a:lnTo>
                    <a:pt x="3055143" y="371471"/>
                  </a:lnTo>
                  <a:lnTo>
                    <a:pt x="3055242" y="371271"/>
                  </a:lnTo>
                  <a:lnTo>
                    <a:pt x="3059799" y="357887"/>
                  </a:lnTo>
                  <a:lnTo>
                    <a:pt x="3059860" y="357709"/>
                  </a:lnTo>
                  <a:lnTo>
                    <a:pt x="3062625" y="343830"/>
                  </a:lnTo>
                  <a:lnTo>
                    <a:pt x="3062655" y="343674"/>
                  </a:lnTo>
                  <a:lnTo>
                    <a:pt x="3063595" y="329399"/>
                  </a:lnTo>
                  <a:lnTo>
                    <a:pt x="3063572" y="109804"/>
                  </a:lnTo>
                  <a:lnTo>
                    <a:pt x="3055242" y="68095"/>
                  </a:lnTo>
                  <a:lnTo>
                    <a:pt x="3031372" y="32535"/>
                  </a:lnTo>
                  <a:lnTo>
                    <a:pt x="2995662" y="8721"/>
                  </a:lnTo>
                  <a:lnTo>
                    <a:pt x="2953791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6F7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4800244" y="2029675"/>
              <a:ext cx="3063875" cy="439420"/>
            </a:xfrm>
            <a:custGeom>
              <a:avLst/>
              <a:gdLst/>
              <a:ahLst/>
              <a:cxnLst/>
              <a:rect l="l" t="t" r="r" b="b"/>
              <a:pathLst>
                <a:path w="3063875" h="439419">
                  <a:moveTo>
                    <a:pt x="355" y="109804"/>
                  </a:moveTo>
                  <a:lnTo>
                    <a:pt x="1295" y="95534"/>
                  </a:lnTo>
                  <a:lnTo>
                    <a:pt x="4090" y="81499"/>
                  </a:lnTo>
                  <a:lnTo>
                    <a:pt x="23133" y="43011"/>
                  </a:lnTo>
                  <a:lnTo>
                    <a:pt x="55079" y="14770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2953791" y="368"/>
                  </a:lnTo>
                  <a:lnTo>
                    <a:pt x="2995662" y="8721"/>
                  </a:lnTo>
                  <a:lnTo>
                    <a:pt x="3031372" y="32535"/>
                  </a:lnTo>
                  <a:lnTo>
                    <a:pt x="3055242" y="68095"/>
                  </a:lnTo>
                  <a:lnTo>
                    <a:pt x="3063595" y="110159"/>
                  </a:lnTo>
                  <a:lnTo>
                    <a:pt x="3063595" y="329399"/>
                  </a:lnTo>
                  <a:lnTo>
                    <a:pt x="3062655" y="343674"/>
                  </a:lnTo>
                  <a:lnTo>
                    <a:pt x="3059860" y="357709"/>
                  </a:lnTo>
                  <a:lnTo>
                    <a:pt x="3040818" y="396193"/>
                  </a:lnTo>
                  <a:lnTo>
                    <a:pt x="3008871" y="424446"/>
                  </a:lnTo>
                  <a:lnTo>
                    <a:pt x="2968221" y="438264"/>
                  </a:lnTo>
                  <a:lnTo>
                    <a:pt x="2953791" y="439204"/>
                  </a:lnTo>
                  <a:lnTo>
                    <a:pt x="109791" y="439204"/>
                  </a:lnTo>
                  <a:lnTo>
                    <a:pt x="67932" y="430851"/>
                  </a:lnTo>
                  <a:lnTo>
                    <a:pt x="32213" y="407025"/>
                  </a:lnTo>
                  <a:lnTo>
                    <a:pt x="8352" y="371471"/>
                  </a:lnTo>
                  <a:lnTo>
                    <a:pt x="0" y="329399"/>
                  </a:lnTo>
                  <a:lnTo>
                    <a:pt x="355" y="109804"/>
                  </a:lnTo>
                  <a:close/>
                </a:path>
              </a:pathLst>
            </a:custGeom>
            <a:ln w="10079">
              <a:solidFill>
                <a:srgbClr val="E6F7F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5756655" y="2129662"/>
            <a:ext cx="114998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40">
                <a:solidFill>
                  <a:srgbClr val="0C9387"/>
                </a:solidFill>
                <a:latin typeface="Arial Black"/>
                <a:cs typeface="Arial Black"/>
              </a:rPr>
              <a:t>rg-</a:t>
            </a:r>
            <a:r>
              <a:rPr dirty="0" sz="1400" spc="-65">
                <a:solidFill>
                  <a:srgbClr val="0C9387"/>
                </a:solidFill>
                <a:latin typeface="Arial Black"/>
                <a:cs typeface="Arial Black"/>
              </a:rPr>
              <a:t>data-</a:t>
            </a:r>
            <a:r>
              <a:rPr dirty="0" sz="1400" spc="-30">
                <a:solidFill>
                  <a:srgbClr val="0C9387"/>
                </a:solidFill>
                <a:latin typeface="Arial Black"/>
                <a:cs typeface="Arial Black"/>
              </a:rPr>
              <a:t>prod</a:t>
            </a:r>
            <a:endParaRPr sz="1400">
              <a:latin typeface="Arial Black"/>
              <a:cs typeface="Arial Black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4940960" y="2664675"/>
            <a:ext cx="2753995" cy="303530"/>
            <a:chOff x="4940960" y="2664675"/>
            <a:chExt cx="2753995" cy="303530"/>
          </a:xfrm>
        </p:grpSpPr>
        <p:sp>
          <p:nvSpPr>
            <p:cNvPr id="31" name="object 31"/>
            <p:cNvSpPr/>
            <p:nvPr/>
          </p:nvSpPr>
          <p:spPr>
            <a:xfrm>
              <a:off x="4946040" y="2669755"/>
              <a:ext cx="2743835" cy="293370"/>
            </a:xfrm>
            <a:custGeom>
              <a:avLst/>
              <a:gdLst/>
              <a:ahLst/>
              <a:cxnLst/>
              <a:rect l="l" t="t" r="r" b="b"/>
              <a:pathLst>
                <a:path w="2743834" h="293369">
                  <a:moveTo>
                    <a:pt x="110159" y="0"/>
                  </a:moveTo>
                  <a:lnTo>
                    <a:pt x="68088" y="8358"/>
                  </a:lnTo>
                  <a:lnTo>
                    <a:pt x="32535" y="32224"/>
                  </a:lnTo>
                  <a:lnTo>
                    <a:pt x="8713" y="67882"/>
                  </a:lnTo>
                  <a:lnTo>
                    <a:pt x="355" y="109804"/>
                  </a:lnTo>
                  <a:lnTo>
                    <a:pt x="0" y="183248"/>
                  </a:lnTo>
                  <a:lnTo>
                    <a:pt x="939" y="197671"/>
                  </a:lnTo>
                  <a:lnTo>
                    <a:pt x="14757" y="238328"/>
                  </a:lnTo>
                  <a:lnTo>
                    <a:pt x="22677" y="250036"/>
                  </a:lnTo>
                  <a:lnTo>
                    <a:pt x="22783" y="250191"/>
                  </a:lnTo>
                  <a:lnTo>
                    <a:pt x="55079" y="278282"/>
                  </a:lnTo>
                  <a:lnTo>
                    <a:pt x="95379" y="292100"/>
                  </a:lnTo>
                  <a:lnTo>
                    <a:pt x="109804" y="293039"/>
                  </a:lnTo>
                  <a:lnTo>
                    <a:pt x="2633764" y="293039"/>
                  </a:lnTo>
                  <a:lnTo>
                    <a:pt x="2675828" y="284686"/>
                  </a:lnTo>
                  <a:lnTo>
                    <a:pt x="2711335" y="260872"/>
                  </a:lnTo>
                  <a:lnTo>
                    <a:pt x="2735125" y="225312"/>
                  </a:lnTo>
                  <a:lnTo>
                    <a:pt x="2743555" y="183248"/>
                  </a:lnTo>
                  <a:lnTo>
                    <a:pt x="2743532" y="109804"/>
                  </a:lnTo>
                  <a:lnTo>
                    <a:pt x="2735202" y="68095"/>
                  </a:lnTo>
                  <a:lnTo>
                    <a:pt x="2711342" y="32535"/>
                  </a:lnTo>
                  <a:lnTo>
                    <a:pt x="2675672" y="8721"/>
                  </a:lnTo>
                  <a:lnTo>
                    <a:pt x="2633764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5F7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4946040" y="2669755"/>
              <a:ext cx="2743835" cy="293370"/>
            </a:xfrm>
            <a:custGeom>
              <a:avLst/>
              <a:gdLst/>
              <a:ahLst/>
              <a:cxnLst/>
              <a:rect l="l" t="t" r="r" b="b"/>
              <a:pathLst>
                <a:path w="2743834" h="293369">
                  <a:moveTo>
                    <a:pt x="355" y="109804"/>
                  </a:moveTo>
                  <a:lnTo>
                    <a:pt x="1295" y="95379"/>
                  </a:lnTo>
                  <a:lnTo>
                    <a:pt x="4092" y="81360"/>
                  </a:lnTo>
                  <a:lnTo>
                    <a:pt x="23138" y="43011"/>
                  </a:lnTo>
                  <a:lnTo>
                    <a:pt x="55079" y="14770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2633764" y="368"/>
                  </a:lnTo>
                  <a:lnTo>
                    <a:pt x="2675672" y="8721"/>
                  </a:lnTo>
                  <a:lnTo>
                    <a:pt x="2711342" y="32535"/>
                  </a:lnTo>
                  <a:lnTo>
                    <a:pt x="2735202" y="68095"/>
                  </a:lnTo>
                  <a:lnTo>
                    <a:pt x="2743555" y="110159"/>
                  </a:lnTo>
                  <a:lnTo>
                    <a:pt x="2743555" y="183248"/>
                  </a:lnTo>
                  <a:lnTo>
                    <a:pt x="2742615" y="197665"/>
                  </a:lnTo>
                  <a:lnTo>
                    <a:pt x="2739820" y="211680"/>
                  </a:lnTo>
                  <a:lnTo>
                    <a:pt x="2720785" y="250036"/>
                  </a:lnTo>
                  <a:lnTo>
                    <a:pt x="2688844" y="278282"/>
                  </a:lnTo>
                  <a:lnTo>
                    <a:pt x="2648187" y="292100"/>
                  </a:lnTo>
                  <a:lnTo>
                    <a:pt x="2633764" y="293039"/>
                  </a:lnTo>
                  <a:lnTo>
                    <a:pt x="109804" y="293039"/>
                  </a:lnTo>
                  <a:lnTo>
                    <a:pt x="67882" y="284686"/>
                  </a:lnTo>
                  <a:lnTo>
                    <a:pt x="32223" y="260872"/>
                  </a:lnTo>
                  <a:lnTo>
                    <a:pt x="8352" y="225312"/>
                  </a:lnTo>
                  <a:lnTo>
                    <a:pt x="0" y="183248"/>
                  </a:lnTo>
                  <a:lnTo>
                    <a:pt x="355" y="109804"/>
                  </a:lnTo>
                  <a:close/>
                </a:path>
              </a:pathLst>
            </a:custGeom>
            <a:ln w="10079">
              <a:solidFill>
                <a:srgbClr val="F5F7F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 txBox="1"/>
          <p:nvPr/>
        </p:nvSpPr>
        <p:spPr>
          <a:xfrm>
            <a:off x="5854585" y="2719705"/>
            <a:ext cx="92646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556478"/>
                </a:solidFill>
                <a:latin typeface="Noto Sans"/>
                <a:cs typeface="Noto Sans"/>
              </a:rPr>
              <a:t>Azure</a:t>
            </a:r>
            <a:r>
              <a:rPr dirty="0" sz="1100" spc="-2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00">
                <a:solidFill>
                  <a:srgbClr val="556478"/>
                </a:solidFill>
                <a:latin typeface="Noto Sans"/>
                <a:cs typeface="Noto Sans"/>
              </a:rPr>
              <a:t>SQL</a:t>
            </a:r>
            <a:r>
              <a:rPr dirty="0" sz="1100" spc="-2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00" spc="-25">
                <a:solidFill>
                  <a:srgbClr val="556478"/>
                </a:solidFill>
                <a:latin typeface="Noto Sans"/>
                <a:cs typeface="Noto Sans"/>
              </a:rPr>
              <a:t>DB</a:t>
            </a:r>
            <a:endParaRPr sz="1100">
              <a:latin typeface="Noto Sans"/>
              <a:cs typeface="Noto Sans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4940960" y="3057804"/>
            <a:ext cx="2753995" cy="303530"/>
            <a:chOff x="4940960" y="3057804"/>
            <a:chExt cx="2753995" cy="303530"/>
          </a:xfrm>
        </p:grpSpPr>
        <p:sp>
          <p:nvSpPr>
            <p:cNvPr id="35" name="object 35"/>
            <p:cNvSpPr/>
            <p:nvPr/>
          </p:nvSpPr>
          <p:spPr>
            <a:xfrm>
              <a:off x="4946040" y="3062884"/>
              <a:ext cx="2743835" cy="293370"/>
            </a:xfrm>
            <a:custGeom>
              <a:avLst/>
              <a:gdLst/>
              <a:ahLst/>
              <a:cxnLst/>
              <a:rect l="l" t="t" r="r" b="b"/>
              <a:pathLst>
                <a:path w="2743834" h="293370">
                  <a:moveTo>
                    <a:pt x="110159" y="0"/>
                  </a:moveTo>
                  <a:lnTo>
                    <a:pt x="68088" y="8352"/>
                  </a:lnTo>
                  <a:lnTo>
                    <a:pt x="32535" y="32213"/>
                  </a:lnTo>
                  <a:lnTo>
                    <a:pt x="8713" y="67882"/>
                  </a:lnTo>
                  <a:lnTo>
                    <a:pt x="355" y="109791"/>
                  </a:lnTo>
                  <a:lnTo>
                    <a:pt x="0" y="183235"/>
                  </a:lnTo>
                  <a:lnTo>
                    <a:pt x="939" y="197665"/>
                  </a:lnTo>
                  <a:lnTo>
                    <a:pt x="14757" y="238315"/>
                  </a:lnTo>
                  <a:lnTo>
                    <a:pt x="43010" y="270256"/>
                  </a:lnTo>
                  <a:lnTo>
                    <a:pt x="81360" y="289302"/>
                  </a:lnTo>
                  <a:lnTo>
                    <a:pt x="109804" y="293039"/>
                  </a:lnTo>
                  <a:lnTo>
                    <a:pt x="2633764" y="293039"/>
                  </a:lnTo>
                  <a:lnTo>
                    <a:pt x="2675828" y="284681"/>
                  </a:lnTo>
                  <a:lnTo>
                    <a:pt x="2711337" y="260859"/>
                  </a:lnTo>
                  <a:lnTo>
                    <a:pt x="2735127" y="225306"/>
                  </a:lnTo>
                  <a:lnTo>
                    <a:pt x="2743555" y="183235"/>
                  </a:lnTo>
                  <a:lnTo>
                    <a:pt x="2743531" y="109791"/>
                  </a:lnTo>
                  <a:lnTo>
                    <a:pt x="2735202" y="68088"/>
                  </a:lnTo>
                  <a:lnTo>
                    <a:pt x="2711342" y="32534"/>
                  </a:lnTo>
                  <a:lnTo>
                    <a:pt x="2675672" y="8708"/>
                  </a:lnTo>
                  <a:lnTo>
                    <a:pt x="263376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5F7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4946040" y="3062884"/>
              <a:ext cx="2743835" cy="293370"/>
            </a:xfrm>
            <a:custGeom>
              <a:avLst/>
              <a:gdLst/>
              <a:ahLst/>
              <a:cxnLst/>
              <a:rect l="l" t="t" r="r" b="b"/>
              <a:pathLst>
                <a:path w="2743834" h="293370">
                  <a:moveTo>
                    <a:pt x="355" y="109791"/>
                  </a:moveTo>
                  <a:lnTo>
                    <a:pt x="1295" y="95374"/>
                  </a:lnTo>
                  <a:lnTo>
                    <a:pt x="4092" y="81359"/>
                  </a:lnTo>
                  <a:lnTo>
                    <a:pt x="23138" y="43003"/>
                  </a:lnTo>
                  <a:lnTo>
                    <a:pt x="55079" y="14757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2633764" y="355"/>
                  </a:lnTo>
                  <a:lnTo>
                    <a:pt x="2675672" y="8708"/>
                  </a:lnTo>
                  <a:lnTo>
                    <a:pt x="2711342" y="32534"/>
                  </a:lnTo>
                  <a:lnTo>
                    <a:pt x="2735202" y="68088"/>
                  </a:lnTo>
                  <a:lnTo>
                    <a:pt x="2743555" y="110159"/>
                  </a:lnTo>
                  <a:lnTo>
                    <a:pt x="2743555" y="183235"/>
                  </a:lnTo>
                  <a:lnTo>
                    <a:pt x="2742615" y="197660"/>
                  </a:lnTo>
                  <a:lnTo>
                    <a:pt x="2739820" y="211678"/>
                  </a:lnTo>
                  <a:lnTo>
                    <a:pt x="2720785" y="250028"/>
                  </a:lnTo>
                  <a:lnTo>
                    <a:pt x="2688844" y="278269"/>
                  </a:lnTo>
                  <a:lnTo>
                    <a:pt x="2648187" y="292100"/>
                  </a:lnTo>
                  <a:lnTo>
                    <a:pt x="2633764" y="293039"/>
                  </a:lnTo>
                  <a:lnTo>
                    <a:pt x="109804" y="293039"/>
                  </a:lnTo>
                  <a:lnTo>
                    <a:pt x="67882" y="284681"/>
                  </a:lnTo>
                  <a:lnTo>
                    <a:pt x="32223" y="260859"/>
                  </a:lnTo>
                  <a:lnTo>
                    <a:pt x="8352" y="225306"/>
                  </a:lnTo>
                  <a:lnTo>
                    <a:pt x="0" y="183235"/>
                  </a:lnTo>
                  <a:lnTo>
                    <a:pt x="355" y="109791"/>
                  </a:lnTo>
                  <a:close/>
                </a:path>
              </a:pathLst>
            </a:custGeom>
            <a:ln w="10079">
              <a:solidFill>
                <a:srgbClr val="F5F7F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/>
          <p:cNvSpPr txBox="1"/>
          <p:nvPr/>
        </p:nvSpPr>
        <p:spPr>
          <a:xfrm>
            <a:off x="5770702" y="3113189"/>
            <a:ext cx="109347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556478"/>
                </a:solidFill>
                <a:latin typeface="Noto Sans"/>
                <a:cs typeface="Noto Sans"/>
              </a:rPr>
              <a:t>Storage</a:t>
            </a:r>
            <a:r>
              <a:rPr dirty="0" sz="11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00" spc="-10">
                <a:solidFill>
                  <a:srgbClr val="556478"/>
                </a:solidFill>
                <a:latin typeface="Noto Sans"/>
                <a:cs typeface="Noto Sans"/>
              </a:rPr>
              <a:t>account</a:t>
            </a:r>
            <a:endParaRPr sz="1100">
              <a:latin typeface="Noto Sans"/>
              <a:cs typeface="Noto Sans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4941000" y="3450960"/>
            <a:ext cx="2753995" cy="303530"/>
            <a:chOff x="4941000" y="3450960"/>
            <a:chExt cx="2753995" cy="303530"/>
          </a:xfrm>
        </p:grpSpPr>
        <p:sp>
          <p:nvSpPr>
            <p:cNvPr id="39" name="object 39"/>
            <p:cNvSpPr/>
            <p:nvPr/>
          </p:nvSpPr>
          <p:spPr>
            <a:xfrm>
              <a:off x="4946040" y="3456000"/>
              <a:ext cx="2743835" cy="293370"/>
            </a:xfrm>
            <a:custGeom>
              <a:avLst/>
              <a:gdLst/>
              <a:ahLst/>
              <a:cxnLst/>
              <a:rect l="l" t="t" r="r" b="b"/>
              <a:pathLst>
                <a:path w="2743834" h="293370">
                  <a:moveTo>
                    <a:pt x="110159" y="0"/>
                  </a:moveTo>
                  <a:lnTo>
                    <a:pt x="68088" y="8352"/>
                  </a:lnTo>
                  <a:lnTo>
                    <a:pt x="32535" y="32223"/>
                  </a:lnTo>
                  <a:lnTo>
                    <a:pt x="8713" y="67882"/>
                  </a:lnTo>
                  <a:lnTo>
                    <a:pt x="355" y="109804"/>
                  </a:lnTo>
                  <a:lnTo>
                    <a:pt x="0" y="183235"/>
                  </a:lnTo>
                  <a:lnTo>
                    <a:pt x="939" y="197665"/>
                  </a:lnTo>
                  <a:lnTo>
                    <a:pt x="3735" y="211723"/>
                  </a:lnTo>
                  <a:lnTo>
                    <a:pt x="8301" y="225156"/>
                  </a:lnTo>
                  <a:lnTo>
                    <a:pt x="8352" y="225306"/>
                  </a:lnTo>
                  <a:lnTo>
                    <a:pt x="32223" y="260861"/>
                  </a:lnTo>
                  <a:lnTo>
                    <a:pt x="67882" y="284686"/>
                  </a:lnTo>
                  <a:lnTo>
                    <a:pt x="109804" y="293039"/>
                  </a:lnTo>
                  <a:lnTo>
                    <a:pt x="2633764" y="293039"/>
                  </a:lnTo>
                  <a:lnTo>
                    <a:pt x="2675828" y="284686"/>
                  </a:lnTo>
                  <a:lnTo>
                    <a:pt x="2711337" y="260861"/>
                  </a:lnTo>
                  <a:lnTo>
                    <a:pt x="2735127" y="225306"/>
                  </a:lnTo>
                  <a:lnTo>
                    <a:pt x="2743555" y="183235"/>
                  </a:lnTo>
                  <a:lnTo>
                    <a:pt x="2743532" y="109804"/>
                  </a:lnTo>
                  <a:lnTo>
                    <a:pt x="2735202" y="68088"/>
                  </a:lnTo>
                  <a:lnTo>
                    <a:pt x="2711342" y="32535"/>
                  </a:lnTo>
                  <a:lnTo>
                    <a:pt x="2675672" y="8713"/>
                  </a:lnTo>
                  <a:lnTo>
                    <a:pt x="263376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5F7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4946040" y="3456000"/>
              <a:ext cx="2743835" cy="293370"/>
            </a:xfrm>
            <a:custGeom>
              <a:avLst/>
              <a:gdLst/>
              <a:ahLst/>
              <a:cxnLst/>
              <a:rect l="l" t="t" r="r" b="b"/>
              <a:pathLst>
                <a:path w="2743834" h="293370">
                  <a:moveTo>
                    <a:pt x="355" y="109804"/>
                  </a:moveTo>
                  <a:lnTo>
                    <a:pt x="1295" y="95379"/>
                  </a:lnTo>
                  <a:lnTo>
                    <a:pt x="4092" y="81360"/>
                  </a:lnTo>
                  <a:lnTo>
                    <a:pt x="23138" y="43010"/>
                  </a:lnTo>
                  <a:lnTo>
                    <a:pt x="55079" y="14757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2633764" y="355"/>
                  </a:lnTo>
                  <a:lnTo>
                    <a:pt x="2675672" y="8713"/>
                  </a:lnTo>
                  <a:lnTo>
                    <a:pt x="2711342" y="32535"/>
                  </a:lnTo>
                  <a:lnTo>
                    <a:pt x="2735202" y="68088"/>
                  </a:lnTo>
                  <a:lnTo>
                    <a:pt x="2743555" y="110159"/>
                  </a:lnTo>
                  <a:lnTo>
                    <a:pt x="2743555" y="183235"/>
                  </a:lnTo>
                  <a:lnTo>
                    <a:pt x="2742615" y="197660"/>
                  </a:lnTo>
                  <a:lnTo>
                    <a:pt x="2739820" y="211678"/>
                  </a:lnTo>
                  <a:lnTo>
                    <a:pt x="2720785" y="250028"/>
                  </a:lnTo>
                  <a:lnTo>
                    <a:pt x="2688844" y="278282"/>
                  </a:lnTo>
                  <a:lnTo>
                    <a:pt x="2648187" y="292100"/>
                  </a:lnTo>
                  <a:lnTo>
                    <a:pt x="2633764" y="293039"/>
                  </a:lnTo>
                  <a:lnTo>
                    <a:pt x="109804" y="293039"/>
                  </a:lnTo>
                  <a:lnTo>
                    <a:pt x="67882" y="284686"/>
                  </a:lnTo>
                  <a:lnTo>
                    <a:pt x="32223" y="260861"/>
                  </a:lnTo>
                  <a:lnTo>
                    <a:pt x="8352" y="225306"/>
                  </a:lnTo>
                  <a:lnTo>
                    <a:pt x="0" y="183235"/>
                  </a:lnTo>
                  <a:lnTo>
                    <a:pt x="355" y="109804"/>
                  </a:lnTo>
                  <a:close/>
                </a:path>
              </a:pathLst>
            </a:custGeom>
            <a:ln w="10079">
              <a:solidFill>
                <a:srgbClr val="F5F7F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/>
          <p:cNvSpPr txBox="1"/>
          <p:nvPr/>
        </p:nvSpPr>
        <p:spPr>
          <a:xfrm>
            <a:off x="6003620" y="3506304"/>
            <a:ext cx="62865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556478"/>
                </a:solidFill>
                <a:latin typeface="Noto Sans"/>
                <a:cs typeface="Noto Sans"/>
              </a:rPr>
              <a:t>Key</a:t>
            </a:r>
            <a:r>
              <a:rPr dirty="0" sz="11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00" spc="-10">
                <a:solidFill>
                  <a:srgbClr val="556478"/>
                </a:solidFill>
                <a:latin typeface="Noto Sans"/>
                <a:cs typeface="Noto Sans"/>
              </a:rPr>
              <a:t>Vault</a:t>
            </a:r>
            <a:endParaRPr sz="1100">
              <a:latin typeface="Noto Sans"/>
              <a:cs typeface="Noto Sans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8407044" y="1823364"/>
            <a:ext cx="3439795" cy="2251075"/>
            <a:chOff x="8407044" y="1823364"/>
            <a:chExt cx="3439795" cy="2251075"/>
          </a:xfrm>
        </p:grpSpPr>
        <p:sp>
          <p:nvSpPr>
            <p:cNvPr id="43" name="object 43"/>
            <p:cNvSpPr/>
            <p:nvPr/>
          </p:nvSpPr>
          <p:spPr>
            <a:xfrm>
              <a:off x="8412124" y="1828444"/>
              <a:ext cx="3429635" cy="2240915"/>
            </a:xfrm>
            <a:custGeom>
              <a:avLst/>
              <a:gdLst/>
              <a:ahLst/>
              <a:cxnLst/>
              <a:rect l="l" t="t" r="r" b="b"/>
              <a:pathLst>
                <a:path w="3429634" h="2240915">
                  <a:moveTo>
                    <a:pt x="110159" y="0"/>
                  </a:moveTo>
                  <a:lnTo>
                    <a:pt x="68088" y="8352"/>
                  </a:lnTo>
                  <a:lnTo>
                    <a:pt x="32534" y="32213"/>
                  </a:lnTo>
                  <a:lnTo>
                    <a:pt x="8708" y="67882"/>
                  </a:lnTo>
                  <a:lnTo>
                    <a:pt x="355" y="109791"/>
                  </a:lnTo>
                  <a:lnTo>
                    <a:pt x="0" y="2130831"/>
                  </a:lnTo>
                  <a:lnTo>
                    <a:pt x="939" y="2145261"/>
                  </a:lnTo>
                  <a:lnTo>
                    <a:pt x="14757" y="2185911"/>
                  </a:lnTo>
                  <a:lnTo>
                    <a:pt x="43003" y="2217858"/>
                  </a:lnTo>
                  <a:lnTo>
                    <a:pt x="81359" y="2236900"/>
                  </a:lnTo>
                  <a:lnTo>
                    <a:pt x="109791" y="2240635"/>
                  </a:lnTo>
                  <a:lnTo>
                    <a:pt x="3319551" y="2240635"/>
                  </a:lnTo>
                  <a:lnTo>
                    <a:pt x="3361622" y="2232282"/>
                  </a:lnTo>
                  <a:lnTo>
                    <a:pt x="3397126" y="2208456"/>
                  </a:lnTo>
                  <a:lnTo>
                    <a:pt x="3420927" y="2172902"/>
                  </a:lnTo>
                  <a:lnTo>
                    <a:pt x="3429355" y="2130831"/>
                  </a:lnTo>
                  <a:lnTo>
                    <a:pt x="3429331" y="109791"/>
                  </a:lnTo>
                  <a:lnTo>
                    <a:pt x="3421002" y="68088"/>
                  </a:lnTo>
                  <a:lnTo>
                    <a:pt x="3397132" y="32534"/>
                  </a:lnTo>
                  <a:lnTo>
                    <a:pt x="3361472" y="8708"/>
                  </a:lnTo>
                  <a:lnTo>
                    <a:pt x="3319551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8412124" y="1828444"/>
              <a:ext cx="3429635" cy="2240915"/>
            </a:xfrm>
            <a:custGeom>
              <a:avLst/>
              <a:gdLst/>
              <a:ahLst/>
              <a:cxnLst/>
              <a:rect l="l" t="t" r="r" b="b"/>
              <a:pathLst>
                <a:path w="3429634" h="2240915">
                  <a:moveTo>
                    <a:pt x="355" y="109791"/>
                  </a:moveTo>
                  <a:lnTo>
                    <a:pt x="1295" y="95374"/>
                  </a:lnTo>
                  <a:lnTo>
                    <a:pt x="4090" y="81359"/>
                  </a:lnTo>
                  <a:lnTo>
                    <a:pt x="23133" y="43003"/>
                  </a:lnTo>
                  <a:lnTo>
                    <a:pt x="55079" y="14757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3319551" y="355"/>
                  </a:lnTo>
                  <a:lnTo>
                    <a:pt x="3361472" y="8708"/>
                  </a:lnTo>
                  <a:lnTo>
                    <a:pt x="3397132" y="32534"/>
                  </a:lnTo>
                  <a:lnTo>
                    <a:pt x="3421002" y="68088"/>
                  </a:lnTo>
                  <a:lnTo>
                    <a:pt x="3429355" y="110159"/>
                  </a:lnTo>
                  <a:lnTo>
                    <a:pt x="3429355" y="2130831"/>
                  </a:lnTo>
                  <a:lnTo>
                    <a:pt x="3428415" y="2145256"/>
                  </a:lnTo>
                  <a:lnTo>
                    <a:pt x="3425620" y="2159274"/>
                  </a:lnTo>
                  <a:lnTo>
                    <a:pt x="3406578" y="2197624"/>
                  </a:lnTo>
                  <a:lnTo>
                    <a:pt x="3374631" y="2225878"/>
                  </a:lnTo>
                  <a:lnTo>
                    <a:pt x="3333981" y="2239695"/>
                  </a:lnTo>
                  <a:lnTo>
                    <a:pt x="3319551" y="2240635"/>
                  </a:lnTo>
                  <a:lnTo>
                    <a:pt x="109791" y="2240635"/>
                  </a:lnTo>
                  <a:lnTo>
                    <a:pt x="67882" y="2232282"/>
                  </a:lnTo>
                  <a:lnTo>
                    <a:pt x="32213" y="2208456"/>
                  </a:lnTo>
                  <a:lnTo>
                    <a:pt x="8352" y="2172902"/>
                  </a:lnTo>
                  <a:lnTo>
                    <a:pt x="0" y="2130831"/>
                  </a:lnTo>
                  <a:lnTo>
                    <a:pt x="355" y="109791"/>
                  </a:lnTo>
                  <a:close/>
                </a:path>
              </a:pathLst>
            </a:custGeom>
            <a:ln w="10079">
              <a:solidFill>
                <a:srgbClr val="DBE4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8595004" y="2029675"/>
              <a:ext cx="3063875" cy="439420"/>
            </a:xfrm>
            <a:custGeom>
              <a:avLst/>
              <a:gdLst/>
              <a:ahLst/>
              <a:cxnLst/>
              <a:rect l="l" t="t" r="r" b="b"/>
              <a:pathLst>
                <a:path w="3063875" h="439419">
                  <a:moveTo>
                    <a:pt x="110159" y="0"/>
                  </a:moveTo>
                  <a:lnTo>
                    <a:pt x="68088" y="8358"/>
                  </a:lnTo>
                  <a:lnTo>
                    <a:pt x="32534" y="32224"/>
                  </a:lnTo>
                  <a:lnTo>
                    <a:pt x="8708" y="67934"/>
                  </a:lnTo>
                  <a:lnTo>
                    <a:pt x="355" y="109804"/>
                  </a:lnTo>
                  <a:lnTo>
                    <a:pt x="0" y="329399"/>
                  </a:lnTo>
                  <a:lnTo>
                    <a:pt x="929" y="343674"/>
                  </a:lnTo>
                  <a:lnTo>
                    <a:pt x="939" y="343830"/>
                  </a:lnTo>
                  <a:lnTo>
                    <a:pt x="3700" y="357709"/>
                  </a:lnTo>
                  <a:lnTo>
                    <a:pt x="3735" y="357887"/>
                  </a:lnTo>
                  <a:lnTo>
                    <a:pt x="8284" y="371271"/>
                  </a:lnTo>
                  <a:lnTo>
                    <a:pt x="8352" y="371471"/>
                  </a:lnTo>
                  <a:lnTo>
                    <a:pt x="14757" y="384479"/>
                  </a:lnTo>
                  <a:lnTo>
                    <a:pt x="22674" y="396193"/>
                  </a:lnTo>
                  <a:lnTo>
                    <a:pt x="22775" y="396343"/>
                  </a:lnTo>
                  <a:lnTo>
                    <a:pt x="55079" y="424446"/>
                  </a:lnTo>
                  <a:lnTo>
                    <a:pt x="95524" y="438264"/>
                  </a:lnTo>
                  <a:lnTo>
                    <a:pt x="109791" y="439204"/>
                  </a:lnTo>
                  <a:lnTo>
                    <a:pt x="2953791" y="439204"/>
                  </a:lnTo>
                  <a:lnTo>
                    <a:pt x="2995862" y="430851"/>
                  </a:lnTo>
                  <a:lnTo>
                    <a:pt x="3031366" y="407025"/>
                  </a:lnTo>
                  <a:lnTo>
                    <a:pt x="3055143" y="371471"/>
                  </a:lnTo>
                  <a:lnTo>
                    <a:pt x="3055242" y="371271"/>
                  </a:lnTo>
                  <a:lnTo>
                    <a:pt x="3059799" y="357887"/>
                  </a:lnTo>
                  <a:lnTo>
                    <a:pt x="3059860" y="357709"/>
                  </a:lnTo>
                  <a:lnTo>
                    <a:pt x="3062625" y="343830"/>
                  </a:lnTo>
                  <a:lnTo>
                    <a:pt x="3062655" y="343674"/>
                  </a:lnTo>
                  <a:lnTo>
                    <a:pt x="3063595" y="329399"/>
                  </a:lnTo>
                  <a:lnTo>
                    <a:pt x="3063572" y="109804"/>
                  </a:lnTo>
                  <a:lnTo>
                    <a:pt x="3055242" y="68095"/>
                  </a:lnTo>
                  <a:lnTo>
                    <a:pt x="3031372" y="32535"/>
                  </a:lnTo>
                  <a:lnTo>
                    <a:pt x="2995662" y="8721"/>
                  </a:lnTo>
                  <a:lnTo>
                    <a:pt x="2953791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0EB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8595004" y="2029675"/>
              <a:ext cx="3063875" cy="439420"/>
            </a:xfrm>
            <a:custGeom>
              <a:avLst/>
              <a:gdLst/>
              <a:ahLst/>
              <a:cxnLst/>
              <a:rect l="l" t="t" r="r" b="b"/>
              <a:pathLst>
                <a:path w="3063875" h="439419">
                  <a:moveTo>
                    <a:pt x="355" y="109804"/>
                  </a:moveTo>
                  <a:lnTo>
                    <a:pt x="1295" y="95534"/>
                  </a:lnTo>
                  <a:lnTo>
                    <a:pt x="4090" y="81499"/>
                  </a:lnTo>
                  <a:lnTo>
                    <a:pt x="23133" y="43011"/>
                  </a:lnTo>
                  <a:lnTo>
                    <a:pt x="55079" y="14770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2953791" y="368"/>
                  </a:lnTo>
                  <a:lnTo>
                    <a:pt x="2995662" y="8721"/>
                  </a:lnTo>
                  <a:lnTo>
                    <a:pt x="3031372" y="32535"/>
                  </a:lnTo>
                  <a:lnTo>
                    <a:pt x="3055242" y="68095"/>
                  </a:lnTo>
                  <a:lnTo>
                    <a:pt x="3063595" y="110159"/>
                  </a:lnTo>
                  <a:lnTo>
                    <a:pt x="3063595" y="329399"/>
                  </a:lnTo>
                  <a:lnTo>
                    <a:pt x="3062655" y="343674"/>
                  </a:lnTo>
                  <a:lnTo>
                    <a:pt x="3059860" y="357709"/>
                  </a:lnTo>
                  <a:lnTo>
                    <a:pt x="3040818" y="396193"/>
                  </a:lnTo>
                  <a:lnTo>
                    <a:pt x="3008871" y="424446"/>
                  </a:lnTo>
                  <a:lnTo>
                    <a:pt x="2968221" y="438264"/>
                  </a:lnTo>
                  <a:lnTo>
                    <a:pt x="2953791" y="439204"/>
                  </a:lnTo>
                  <a:lnTo>
                    <a:pt x="109791" y="439204"/>
                  </a:lnTo>
                  <a:lnTo>
                    <a:pt x="67932" y="430851"/>
                  </a:lnTo>
                  <a:lnTo>
                    <a:pt x="32213" y="407025"/>
                  </a:lnTo>
                  <a:lnTo>
                    <a:pt x="8352" y="371471"/>
                  </a:lnTo>
                  <a:lnTo>
                    <a:pt x="0" y="329399"/>
                  </a:lnTo>
                  <a:lnTo>
                    <a:pt x="355" y="109804"/>
                  </a:lnTo>
                  <a:close/>
                </a:path>
              </a:pathLst>
            </a:custGeom>
            <a:ln w="10079">
              <a:solidFill>
                <a:srgbClr val="F0EBF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7" name="object 47"/>
          <p:cNvSpPr txBox="1"/>
          <p:nvPr/>
        </p:nvSpPr>
        <p:spPr>
          <a:xfrm>
            <a:off x="9588144" y="2129662"/>
            <a:ext cx="107696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45">
                <a:solidFill>
                  <a:srgbClr val="5A399D"/>
                </a:solidFill>
                <a:latin typeface="Arial Black"/>
                <a:cs typeface="Arial Black"/>
              </a:rPr>
              <a:t>rg-</a:t>
            </a:r>
            <a:r>
              <a:rPr dirty="0" sz="1400" spc="-55">
                <a:solidFill>
                  <a:srgbClr val="5A399D"/>
                </a:solidFill>
                <a:latin typeface="Arial Black"/>
                <a:cs typeface="Arial Black"/>
              </a:rPr>
              <a:t>lab-</a:t>
            </a:r>
            <a:r>
              <a:rPr dirty="0" sz="1400" spc="-35">
                <a:solidFill>
                  <a:srgbClr val="5A399D"/>
                </a:solidFill>
                <a:latin typeface="Arial Black"/>
                <a:cs typeface="Arial Black"/>
              </a:rPr>
              <a:t>temp</a:t>
            </a:r>
            <a:endParaRPr sz="1400">
              <a:latin typeface="Arial Black"/>
              <a:cs typeface="Arial Black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8735720" y="2664675"/>
            <a:ext cx="2753995" cy="303530"/>
            <a:chOff x="8735720" y="2664675"/>
            <a:chExt cx="2753995" cy="303530"/>
          </a:xfrm>
        </p:grpSpPr>
        <p:sp>
          <p:nvSpPr>
            <p:cNvPr id="49" name="object 49"/>
            <p:cNvSpPr/>
            <p:nvPr/>
          </p:nvSpPr>
          <p:spPr>
            <a:xfrm>
              <a:off x="8740800" y="2669755"/>
              <a:ext cx="2743835" cy="293370"/>
            </a:xfrm>
            <a:custGeom>
              <a:avLst/>
              <a:gdLst/>
              <a:ahLst/>
              <a:cxnLst/>
              <a:rect l="l" t="t" r="r" b="b"/>
              <a:pathLst>
                <a:path w="2743834" h="293369">
                  <a:moveTo>
                    <a:pt x="110159" y="0"/>
                  </a:moveTo>
                  <a:lnTo>
                    <a:pt x="68088" y="8358"/>
                  </a:lnTo>
                  <a:lnTo>
                    <a:pt x="32535" y="32224"/>
                  </a:lnTo>
                  <a:lnTo>
                    <a:pt x="8713" y="67882"/>
                  </a:lnTo>
                  <a:lnTo>
                    <a:pt x="355" y="109804"/>
                  </a:lnTo>
                  <a:lnTo>
                    <a:pt x="0" y="183248"/>
                  </a:lnTo>
                  <a:lnTo>
                    <a:pt x="939" y="197671"/>
                  </a:lnTo>
                  <a:lnTo>
                    <a:pt x="3735" y="211726"/>
                  </a:lnTo>
                  <a:lnTo>
                    <a:pt x="8300" y="225157"/>
                  </a:lnTo>
                  <a:lnTo>
                    <a:pt x="8352" y="225312"/>
                  </a:lnTo>
                  <a:lnTo>
                    <a:pt x="32223" y="260872"/>
                  </a:lnTo>
                  <a:lnTo>
                    <a:pt x="67882" y="284686"/>
                  </a:lnTo>
                  <a:lnTo>
                    <a:pt x="109804" y="293039"/>
                  </a:lnTo>
                  <a:lnTo>
                    <a:pt x="2633764" y="293039"/>
                  </a:lnTo>
                  <a:lnTo>
                    <a:pt x="2675828" y="284686"/>
                  </a:lnTo>
                  <a:lnTo>
                    <a:pt x="2711335" y="260872"/>
                  </a:lnTo>
                  <a:lnTo>
                    <a:pt x="2735125" y="225312"/>
                  </a:lnTo>
                  <a:lnTo>
                    <a:pt x="2743555" y="183248"/>
                  </a:lnTo>
                  <a:lnTo>
                    <a:pt x="2743532" y="109804"/>
                  </a:lnTo>
                  <a:lnTo>
                    <a:pt x="2735202" y="68095"/>
                  </a:lnTo>
                  <a:lnTo>
                    <a:pt x="2711342" y="32535"/>
                  </a:lnTo>
                  <a:lnTo>
                    <a:pt x="2675672" y="8721"/>
                  </a:lnTo>
                  <a:lnTo>
                    <a:pt x="2633764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5F7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8740800" y="2669755"/>
              <a:ext cx="2743835" cy="293370"/>
            </a:xfrm>
            <a:custGeom>
              <a:avLst/>
              <a:gdLst/>
              <a:ahLst/>
              <a:cxnLst/>
              <a:rect l="l" t="t" r="r" b="b"/>
              <a:pathLst>
                <a:path w="2743834" h="293369">
                  <a:moveTo>
                    <a:pt x="355" y="109804"/>
                  </a:moveTo>
                  <a:lnTo>
                    <a:pt x="1295" y="95379"/>
                  </a:lnTo>
                  <a:lnTo>
                    <a:pt x="4092" y="81360"/>
                  </a:lnTo>
                  <a:lnTo>
                    <a:pt x="23138" y="43011"/>
                  </a:lnTo>
                  <a:lnTo>
                    <a:pt x="55079" y="14770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2633764" y="368"/>
                  </a:lnTo>
                  <a:lnTo>
                    <a:pt x="2675672" y="8721"/>
                  </a:lnTo>
                  <a:lnTo>
                    <a:pt x="2711342" y="32535"/>
                  </a:lnTo>
                  <a:lnTo>
                    <a:pt x="2735202" y="68095"/>
                  </a:lnTo>
                  <a:lnTo>
                    <a:pt x="2743555" y="110159"/>
                  </a:lnTo>
                  <a:lnTo>
                    <a:pt x="2743555" y="183248"/>
                  </a:lnTo>
                  <a:lnTo>
                    <a:pt x="2742615" y="197665"/>
                  </a:lnTo>
                  <a:lnTo>
                    <a:pt x="2739820" y="211680"/>
                  </a:lnTo>
                  <a:lnTo>
                    <a:pt x="2720785" y="250036"/>
                  </a:lnTo>
                  <a:lnTo>
                    <a:pt x="2688844" y="278282"/>
                  </a:lnTo>
                  <a:lnTo>
                    <a:pt x="2648187" y="292100"/>
                  </a:lnTo>
                  <a:lnTo>
                    <a:pt x="2633764" y="293039"/>
                  </a:lnTo>
                  <a:lnTo>
                    <a:pt x="109804" y="293039"/>
                  </a:lnTo>
                  <a:lnTo>
                    <a:pt x="67882" y="284686"/>
                  </a:lnTo>
                  <a:lnTo>
                    <a:pt x="32223" y="260872"/>
                  </a:lnTo>
                  <a:lnTo>
                    <a:pt x="8352" y="225312"/>
                  </a:lnTo>
                  <a:lnTo>
                    <a:pt x="0" y="183248"/>
                  </a:lnTo>
                  <a:lnTo>
                    <a:pt x="355" y="109804"/>
                  </a:lnTo>
                  <a:close/>
                </a:path>
              </a:pathLst>
            </a:custGeom>
            <a:ln w="10079">
              <a:solidFill>
                <a:srgbClr val="F5F7F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1" name="object 51"/>
          <p:cNvSpPr txBox="1"/>
          <p:nvPr/>
        </p:nvSpPr>
        <p:spPr>
          <a:xfrm>
            <a:off x="9844099" y="2719705"/>
            <a:ext cx="53721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solidFill>
                  <a:srgbClr val="556478"/>
                </a:solidFill>
                <a:latin typeface="Noto Sans"/>
                <a:cs typeface="Noto Sans"/>
              </a:rPr>
              <a:t>Test</a:t>
            </a:r>
            <a:r>
              <a:rPr dirty="0" sz="1100" spc="-6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00" spc="-25">
                <a:solidFill>
                  <a:srgbClr val="556478"/>
                </a:solidFill>
                <a:latin typeface="Noto Sans"/>
                <a:cs typeface="Noto Sans"/>
              </a:rPr>
              <a:t>VM</a:t>
            </a:r>
            <a:endParaRPr sz="1100">
              <a:latin typeface="Noto Sans"/>
              <a:cs typeface="Noto Sans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8735720" y="3057804"/>
            <a:ext cx="2753995" cy="303530"/>
            <a:chOff x="8735720" y="3057804"/>
            <a:chExt cx="2753995" cy="303530"/>
          </a:xfrm>
        </p:grpSpPr>
        <p:sp>
          <p:nvSpPr>
            <p:cNvPr id="53" name="object 53"/>
            <p:cNvSpPr/>
            <p:nvPr/>
          </p:nvSpPr>
          <p:spPr>
            <a:xfrm>
              <a:off x="8740800" y="3062884"/>
              <a:ext cx="2743835" cy="293370"/>
            </a:xfrm>
            <a:custGeom>
              <a:avLst/>
              <a:gdLst/>
              <a:ahLst/>
              <a:cxnLst/>
              <a:rect l="l" t="t" r="r" b="b"/>
              <a:pathLst>
                <a:path w="2743834" h="293370">
                  <a:moveTo>
                    <a:pt x="110159" y="0"/>
                  </a:moveTo>
                  <a:lnTo>
                    <a:pt x="68088" y="8352"/>
                  </a:lnTo>
                  <a:lnTo>
                    <a:pt x="32535" y="32213"/>
                  </a:lnTo>
                  <a:lnTo>
                    <a:pt x="8713" y="67882"/>
                  </a:lnTo>
                  <a:lnTo>
                    <a:pt x="355" y="109791"/>
                  </a:lnTo>
                  <a:lnTo>
                    <a:pt x="0" y="183235"/>
                  </a:lnTo>
                  <a:lnTo>
                    <a:pt x="939" y="197665"/>
                  </a:lnTo>
                  <a:lnTo>
                    <a:pt x="14757" y="238315"/>
                  </a:lnTo>
                  <a:lnTo>
                    <a:pt x="22681" y="250028"/>
                  </a:lnTo>
                  <a:lnTo>
                    <a:pt x="22783" y="250178"/>
                  </a:lnTo>
                  <a:lnTo>
                    <a:pt x="55079" y="278269"/>
                  </a:lnTo>
                  <a:lnTo>
                    <a:pt x="95379" y="292100"/>
                  </a:lnTo>
                  <a:lnTo>
                    <a:pt x="109804" y="293039"/>
                  </a:lnTo>
                  <a:lnTo>
                    <a:pt x="2633764" y="293039"/>
                  </a:lnTo>
                  <a:lnTo>
                    <a:pt x="2675828" y="284681"/>
                  </a:lnTo>
                  <a:lnTo>
                    <a:pt x="2711337" y="260859"/>
                  </a:lnTo>
                  <a:lnTo>
                    <a:pt x="2735127" y="225306"/>
                  </a:lnTo>
                  <a:lnTo>
                    <a:pt x="2743555" y="183235"/>
                  </a:lnTo>
                  <a:lnTo>
                    <a:pt x="2743531" y="109791"/>
                  </a:lnTo>
                  <a:lnTo>
                    <a:pt x="2735202" y="68088"/>
                  </a:lnTo>
                  <a:lnTo>
                    <a:pt x="2711342" y="32534"/>
                  </a:lnTo>
                  <a:lnTo>
                    <a:pt x="2675672" y="8708"/>
                  </a:lnTo>
                  <a:lnTo>
                    <a:pt x="263376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5F7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8740800" y="3062884"/>
              <a:ext cx="2743835" cy="293370"/>
            </a:xfrm>
            <a:custGeom>
              <a:avLst/>
              <a:gdLst/>
              <a:ahLst/>
              <a:cxnLst/>
              <a:rect l="l" t="t" r="r" b="b"/>
              <a:pathLst>
                <a:path w="2743834" h="293370">
                  <a:moveTo>
                    <a:pt x="355" y="109791"/>
                  </a:moveTo>
                  <a:lnTo>
                    <a:pt x="1295" y="95374"/>
                  </a:lnTo>
                  <a:lnTo>
                    <a:pt x="4092" y="81359"/>
                  </a:lnTo>
                  <a:lnTo>
                    <a:pt x="23138" y="43003"/>
                  </a:lnTo>
                  <a:lnTo>
                    <a:pt x="55079" y="14757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2633764" y="355"/>
                  </a:lnTo>
                  <a:lnTo>
                    <a:pt x="2675672" y="8708"/>
                  </a:lnTo>
                  <a:lnTo>
                    <a:pt x="2711342" y="32534"/>
                  </a:lnTo>
                  <a:lnTo>
                    <a:pt x="2735202" y="68088"/>
                  </a:lnTo>
                  <a:lnTo>
                    <a:pt x="2743555" y="110159"/>
                  </a:lnTo>
                  <a:lnTo>
                    <a:pt x="2743555" y="183235"/>
                  </a:lnTo>
                  <a:lnTo>
                    <a:pt x="2742615" y="197660"/>
                  </a:lnTo>
                  <a:lnTo>
                    <a:pt x="2739820" y="211678"/>
                  </a:lnTo>
                  <a:lnTo>
                    <a:pt x="2720785" y="250028"/>
                  </a:lnTo>
                  <a:lnTo>
                    <a:pt x="2688844" y="278269"/>
                  </a:lnTo>
                  <a:lnTo>
                    <a:pt x="2648187" y="292100"/>
                  </a:lnTo>
                  <a:lnTo>
                    <a:pt x="2633764" y="293039"/>
                  </a:lnTo>
                  <a:lnTo>
                    <a:pt x="109804" y="293039"/>
                  </a:lnTo>
                  <a:lnTo>
                    <a:pt x="67882" y="284681"/>
                  </a:lnTo>
                  <a:lnTo>
                    <a:pt x="32223" y="260859"/>
                  </a:lnTo>
                  <a:lnTo>
                    <a:pt x="8352" y="225306"/>
                  </a:lnTo>
                  <a:lnTo>
                    <a:pt x="0" y="183235"/>
                  </a:lnTo>
                  <a:lnTo>
                    <a:pt x="355" y="109791"/>
                  </a:lnTo>
                  <a:close/>
                </a:path>
              </a:pathLst>
            </a:custGeom>
            <a:ln w="10079">
              <a:solidFill>
                <a:srgbClr val="F5F7F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5" name="object 55"/>
          <p:cNvSpPr txBox="1"/>
          <p:nvPr/>
        </p:nvSpPr>
        <p:spPr>
          <a:xfrm>
            <a:off x="9817455" y="3113189"/>
            <a:ext cx="58991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solidFill>
                  <a:srgbClr val="556478"/>
                </a:solidFill>
                <a:latin typeface="Noto Sans"/>
                <a:cs typeface="Noto Sans"/>
              </a:rPr>
              <a:t>Test</a:t>
            </a:r>
            <a:r>
              <a:rPr dirty="0" sz="1100" spc="-6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00" spc="-20">
                <a:solidFill>
                  <a:srgbClr val="556478"/>
                </a:solidFill>
                <a:latin typeface="Noto Sans"/>
                <a:cs typeface="Noto Sans"/>
              </a:rPr>
              <a:t>disk</a:t>
            </a:r>
            <a:endParaRPr sz="1100">
              <a:latin typeface="Noto Sans"/>
              <a:cs typeface="Noto Sans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8735760" y="3450960"/>
            <a:ext cx="2753995" cy="303530"/>
            <a:chOff x="8735760" y="3450960"/>
            <a:chExt cx="2753995" cy="303530"/>
          </a:xfrm>
        </p:grpSpPr>
        <p:sp>
          <p:nvSpPr>
            <p:cNvPr id="57" name="object 57"/>
            <p:cNvSpPr/>
            <p:nvPr/>
          </p:nvSpPr>
          <p:spPr>
            <a:xfrm>
              <a:off x="8740800" y="3456000"/>
              <a:ext cx="2743835" cy="293370"/>
            </a:xfrm>
            <a:custGeom>
              <a:avLst/>
              <a:gdLst/>
              <a:ahLst/>
              <a:cxnLst/>
              <a:rect l="l" t="t" r="r" b="b"/>
              <a:pathLst>
                <a:path w="2743834" h="293370">
                  <a:moveTo>
                    <a:pt x="110159" y="0"/>
                  </a:moveTo>
                  <a:lnTo>
                    <a:pt x="68088" y="8352"/>
                  </a:lnTo>
                  <a:lnTo>
                    <a:pt x="32535" y="32223"/>
                  </a:lnTo>
                  <a:lnTo>
                    <a:pt x="8713" y="67882"/>
                  </a:lnTo>
                  <a:lnTo>
                    <a:pt x="355" y="109804"/>
                  </a:lnTo>
                  <a:lnTo>
                    <a:pt x="0" y="183235"/>
                  </a:lnTo>
                  <a:lnTo>
                    <a:pt x="939" y="197665"/>
                  </a:lnTo>
                  <a:lnTo>
                    <a:pt x="14757" y="238315"/>
                  </a:lnTo>
                  <a:lnTo>
                    <a:pt x="22681" y="250028"/>
                  </a:lnTo>
                  <a:lnTo>
                    <a:pt x="22783" y="250178"/>
                  </a:lnTo>
                  <a:lnTo>
                    <a:pt x="55079" y="278282"/>
                  </a:lnTo>
                  <a:lnTo>
                    <a:pt x="95379" y="292100"/>
                  </a:lnTo>
                  <a:lnTo>
                    <a:pt x="109804" y="293039"/>
                  </a:lnTo>
                  <a:lnTo>
                    <a:pt x="2633764" y="293039"/>
                  </a:lnTo>
                  <a:lnTo>
                    <a:pt x="2675828" y="284686"/>
                  </a:lnTo>
                  <a:lnTo>
                    <a:pt x="2711337" y="260861"/>
                  </a:lnTo>
                  <a:lnTo>
                    <a:pt x="2735127" y="225306"/>
                  </a:lnTo>
                  <a:lnTo>
                    <a:pt x="2743555" y="183235"/>
                  </a:lnTo>
                  <a:lnTo>
                    <a:pt x="2743532" y="109804"/>
                  </a:lnTo>
                  <a:lnTo>
                    <a:pt x="2735202" y="68088"/>
                  </a:lnTo>
                  <a:lnTo>
                    <a:pt x="2711342" y="32535"/>
                  </a:lnTo>
                  <a:lnTo>
                    <a:pt x="2675672" y="8713"/>
                  </a:lnTo>
                  <a:lnTo>
                    <a:pt x="263376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5F7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8740800" y="3456000"/>
              <a:ext cx="2743835" cy="293370"/>
            </a:xfrm>
            <a:custGeom>
              <a:avLst/>
              <a:gdLst/>
              <a:ahLst/>
              <a:cxnLst/>
              <a:rect l="l" t="t" r="r" b="b"/>
              <a:pathLst>
                <a:path w="2743834" h="293370">
                  <a:moveTo>
                    <a:pt x="355" y="109804"/>
                  </a:moveTo>
                  <a:lnTo>
                    <a:pt x="1295" y="95379"/>
                  </a:lnTo>
                  <a:lnTo>
                    <a:pt x="4092" y="81360"/>
                  </a:lnTo>
                  <a:lnTo>
                    <a:pt x="23138" y="43010"/>
                  </a:lnTo>
                  <a:lnTo>
                    <a:pt x="55079" y="14757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2633764" y="355"/>
                  </a:lnTo>
                  <a:lnTo>
                    <a:pt x="2675672" y="8713"/>
                  </a:lnTo>
                  <a:lnTo>
                    <a:pt x="2711342" y="32535"/>
                  </a:lnTo>
                  <a:lnTo>
                    <a:pt x="2735202" y="68088"/>
                  </a:lnTo>
                  <a:lnTo>
                    <a:pt x="2743555" y="110159"/>
                  </a:lnTo>
                  <a:lnTo>
                    <a:pt x="2743555" y="183235"/>
                  </a:lnTo>
                  <a:lnTo>
                    <a:pt x="2742615" y="197660"/>
                  </a:lnTo>
                  <a:lnTo>
                    <a:pt x="2739820" y="211678"/>
                  </a:lnTo>
                  <a:lnTo>
                    <a:pt x="2720785" y="250028"/>
                  </a:lnTo>
                  <a:lnTo>
                    <a:pt x="2688844" y="278282"/>
                  </a:lnTo>
                  <a:lnTo>
                    <a:pt x="2648187" y="292100"/>
                  </a:lnTo>
                  <a:lnTo>
                    <a:pt x="2633764" y="293039"/>
                  </a:lnTo>
                  <a:lnTo>
                    <a:pt x="109804" y="293039"/>
                  </a:lnTo>
                  <a:lnTo>
                    <a:pt x="67882" y="284686"/>
                  </a:lnTo>
                  <a:lnTo>
                    <a:pt x="32223" y="260861"/>
                  </a:lnTo>
                  <a:lnTo>
                    <a:pt x="8352" y="225306"/>
                  </a:lnTo>
                  <a:lnTo>
                    <a:pt x="0" y="183235"/>
                  </a:lnTo>
                  <a:lnTo>
                    <a:pt x="355" y="109804"/>
                  </a:lnTo>
                  <a:close/>
                </a:path>
              </a:pathLst>
            </a:custGeom>
            <a:ln w="10079">
              <a:solidFill>
                <a:srgbClr val="F5F7F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9" name="object 59"/>
          <p:cNvSpPr txBox="1"/>
          <p:nvPr/>
        </p:nvSpPr>
        <p:spPr>
          <a:xfrm>
            <a:off x="9795865" y="3506304"/>
            <a:ext cx="63373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556478"/>
                </a:solidFill>
                <a:latin typeface="Noto Sans"/>
                <a:cs typeface="Noto Sans"/>
              </a:rPr>
              <a:t>Alert</a:t>
            </a:r>
            <a:r>
              <a:rPr dirty="0" sz="110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00" spc="-20">
                <a:solidFill>
                  <a:srgbClr val="556478"/>
                </a:solidFill>
                <a:latin typeface="Noto Sans"/>
                <a:cs typeface="Noto Sans"/>
              </a:rPr>
              <a:t>rule</a:t>
            </a:r>
            <a:endParaRPr sz="1100">
              <a:latin typeface="Noto Sans"/>
              <a:cs typeface="Noto Sans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863284" y="4520516"/>
            <a:ext cx="5085715" cy="1016635"/>
            <a:chOff x="863284" y="4520516"/>
            <a:chExt cx="5085715" cy="1016635"/>
          </a:xfrm>
        </p:grpSpPr>
        <p:sp>
          <p:nvSpPr>
            <p:cNvPr id="61" name="object 61"/>
            <p:cNvSpPr/>
            <p:nvPr/>
          </p:nvSpPr>
          <p:spPr>
            <a:xfrm>
              <a:off x="868324" y="4525556"/>
              <a:ext cx="5075555" cy="1006475"/>
            </a:xfrm>
            <a:custGeom>
              <a:avLst/>
              <a:gdLst/>
              <a:ahLst/>
              <a:cxnLst/>
              <a:rect l="l" t="t" r="r" b="b"/>
              <a:pathLst>
                <a:path w="5075555" h="1006475">
                  <a:moveTo>
                    <a:pt x="110159" y="0"/>
                  </a:moveTo>
                  <a:lnTo>
                    <a:pt x="68088" y="8358"/>
                  </a:lnTo>
                  <a:lnTo>
                    <a:pt x="32534" y="32224"/>
                  </a:lnTo>
                  <a:lnTo>
                    <a:pt x="8708" y="67882"/>
                  </a:lnTo>
                  <a:lnTo>
                    <a:pt x="355" y="109804"/>
                  </a:lnTo>
                  <a:lnTo>
                    <a:pt x="0" y="896404"/>
                  </a:lnTo>
                  <a:lnTo>
                    <a:pt x="939" y="910834"/>
                  </a:lnTo>
                  <a:lnTo>
                    <a:pt x="14757" y="951484"/>
                  </a:lnTo>
                  <a:lnTo>
                    <a:pt x="43003" y="983425"/>
                  </a:lnTo>
                  <a:lnTo>
                    <a:pt x="81359" y="1002471"/>
                  </a:lnTo>
                  <a:lnTo>
                    <a:pt x="109791" y="1006208"/>
                  </a:lnTo>
                  <a:lnTo>
                    <a:pt x="4965471" y="1006208"/>
                  </a:lnTo>
                  <a:lnTo>
                    <a:pt x="5007542" y="997850"/>
                  </a:lnTo>
                  <a:lnTo>
                    <a:pt x="5043046" y="974028"/>
                  </a:lnTo>
                  <a:lnTo>
                    <a:pt x="5066847" y="938475"/>
                  </a:lnTo>
                  <a:lnTo>
                    <a:pt x="5066922" y="938325"/>
                  </a:lnTo>
                  <a:lnTo>
                    <a:pt x="5071524" y="924891"/>
                  </a:lnTo>
                  <a:lnTo>
                    <a:pt x="5074334" y="910834"/>
                  </a:lnTo>
                  <a:lnTo>
                    <a:pt x="5075275" y="896404"/>
                  </a:lnTo>
                  <a:lnTo>
                    <a:pt x="5075252" y="109804"/>
                  </a:lnTo>
                  <a:lnTo>
                    <a:pt x="5066922" y="68095"/>
                  </a:lnTo>
                  <a:lnTo>
                    <a:pt x="5043052" y="32535"/>
                  </a:lnTo>
                  <a:lnTo>
                    <a:pt x="5007392" y="8721"/>
                  </a:lnTo>
                  <a:lnTo>
                    <a:pt x="4965471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868324" y="4525556"/>
              <a:ext cx="5075555" cy="1006475"/>
            </a:xfrm>
            <a:custGeom>
              <a:avLst/>
              <a:gdLst/>
              <a:ahLst/>
              <a:cxnLst/>
              <a:rect l="l" t="t" r="r" b="b"/>
              <a:pathLst>
                <a:path w="5075555" h="1006475">
                  <a:moveTo>
                    <a:pt x="355" y="109804"/>
                  </a:moveTo>
                  <a:lnTo>
                    <a:pt x="1295" y="95379"/>
                  </a:lnTo>
                  <a:lnTo>
                    <a:pt x="4090" y="81360"/>
                  </a:lnTo>
                  <a:lnTo>
                    <a:pt x="23133" y="43011"/>
                  </a:lnTo>
                  <a:lnTo>
                    <a:pt x="55079" y="14770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4965471" y="368"/>
                  </a:lnTo>
                  <a:lnTo>
                    <a:pt x="5007392" y="8721"/>
                  </a:lnTo>
                  <a:lnTo>
                    <a:pt x="5043052" y="32535"/>
                  </a:lnTo>
                  <a:lnTo>
                    <a:pt x="5066922" y="68095"/>
                  </a:lnTo>
                  <a:lnTo>
                    <a:pt x="5075275" y="110159"/>
                  </a:lnTo>
                  <a:lnTo>
                    <a:pt x="5075275" y="896404"/>
                  </a:lnTo>
                  <a:lnTo>
                    <a:pt x="5074335" y="910828"/>
                  </a:lnTo>
                  <a:lnTo>
                    <a:pt x="5071540" y="924847"/>
                  </a:lnTo>
                  <a:lnTo>
                    <a:pt x="5052498" y="963197"/>
                  </a:lnTo>
                  <a:lnTo>
                    <a:pt x="5020551" y="991438"/>
                  </a:lnTo>
                  <a:lnTo>
                    <a:pt x="4979901" y="1005268"/>
                  </a:lnTo>
                  <a:lnTo>
                    <a:pt x="4965471" y="1006208"/>
                  </a:lnTo>
                  <a:lnTo>
                    <a:pt x="109791" y="1006208"/>
                  </a:lnTo>
                  <a:lnTo>
                    <a:pt x="67882" y="997850"/>
                  </a:lnTo>
                  <a:lnTo>
                    <a:pt x="32213" y="974028"/>
                  </a:lnTo>
                  <a:lnTo>
                    <a:pt x="8352" y="938475"/>
                  </a:lnTo>
                  <a:lnTo>
                    <a:pt x="0" y="896404"/>
                  </a:lnTo>
                  <a:lnTo>
                    <a:pt x="355" y="109804"/>
                  </a:lnTo>
                  <a:close/>
                </a:path>
              </a:pathLst>
            </a:custGeom>
            <a:ln w="10079">
              <a:solidFill>
                <a:srgbClr val="DBE4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868679" y="4525924"/>
              <a:ext cx="73025" cy="1005840"/>
            </a:xfrm>
            <a:custGeom>
              <a:avLst/>
              <a:gdLst/>
              <a:ahLst/>
              <a:cxnLst/>
              <a:rect l="l" t="t" r="r" b="b"/>
              <a:pathLst>
                <a:path w="73025" h="1005839">
                  <a:moveTo>
                    <a:pt x="72720" y="0"/>
                  </a:moveTo>
                  <a:lnTo>
                    <a:pt x="0" y="0"/>
                  </a:lnTo>
                  <a:lnTo>
                    <a:pt x="0" y="1005471"/>
                  </a:lnTo>
                  <a:lnTo>
                    <a:pt x="36360" y="1005471"/>
                  </a:lnTo>
                  <a:lnTo>
                    <a:pt x="72720" y="1005471"/>
                  </a:lnTo>
                  <a:lnTo>
                    <a:pt x="72720" y="0"/>
                  </a:lnTo>
                  <a:close/>
                </a:path>
              </a:pathLst>
            </a:custGeom>
            <a:solidFill>
              <a:srgbClr val="0077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868679" y="4525924"/>
              <a:ext cx="73025" cy="1005840"/>
            </a:xfrm>
            <a:custGeom>
              <a:avLst/>
              <a:gdLst/>
              <a:ahLst/>
              <a:cxnLst/>
              <a:rect l="l" t="t" r="r" b="b"/>
              <a:pathLst>
                <a:path w="73025" h="1005839">
                  <a:moveTo>
                    <a:pt x="36360" y="1005471"/>
                  </a:moveTo>
                  <a:lnTo>
                    <a:pt x="0" y="1005471"/>
                  </a:lnTo>
                  <a:lnTo>
                    <a:pt x="0" y="0"/>
                  </a:lnTo>
                  <a:lnTo>
                    <a:pt x="72720" y="0"/>
                  </a:lnTo>
                  <a:lnTo>
                    <a:pt x="72720" y="1005471"/>
                  </a:lnTo>
                  <a:lnTo>
                    <a:pt x="36360" y="1005471"/>
                  </a:lnTo>
                  <a:close/>
                </a:path>
              </a:pathLst>
            </a:custGeom>
            <a:ln w="10079">
              <a:solidFill>
                <a:srgbClr val="0077D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5" name="object 65"/>
          <p:cNvSpPr txBox="1"/>
          <p:nvPr/>
        </p:nvSpPr>
        <p:spPr>
          <a:xfrm>
            <a:off x="1056855" y="4702581"/>
            <a:ext cx="4224020" cy="7226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5">
                <a:solidFill>
                  <a:srgbClr val="0F2339"/>
                </a:solidFill>
                <a:latin typeface="Arial Black"/>
                <a:cs typeface="Arial Black"/>
              </a:rPr>
              <a:t>Good</a:t>
            </a:r>
            <a:r>
              <a:rPr dirty="0" sz="1600" spc="-9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600" spc="-55">
                <a:solidFill>
                  <a:srgbClr val="0F2339"/>
                </a:solidFill>
                <a:latin typeface="Arial Black"/>
                <a:cs typeface="Arial Black"/>
              </a:rPr>
              <a:t>grouping</a:t>
            </a:r>
            <a:r>
              <a:rPr dirty="0" sz="1600" spc="-9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600" spc="-20">
                <a:solidFill>
                  <a:srgbClr val="0F2339"/>
                </a:solidFill>
                <a:latin typeface="Arial Black"/>
                <a:cs typeface="Arial Black"/>
              </a:rPr>
              <a:t>rule</a:t>
            </a:r>
            <a:endParaRPr sz="1600">
              <a:latin typeface="Arial Black"/>
              <a:cs typeface="Arial Black"/>
            </a:endParaRPr>
          </a:p>
          <a:p>
            <a:pPr marL="12700" marR="5080">
              <a:lnSpc>
                <a:spcPts val="1250"/>
              </a:lnSpc>
              <a:spcBef>
                <a:spcPts val="1085"/>
              </a:spcBef>
            </a:pPr>
            <a:r>
              <a:rPr dirty="0" sz="1200" spc="-65">
                <a:solidFill>
                  <a:srgbClr val="556478"/>
                </a:solidFill>
                <a:latin typeface="Noto Sans"/>
                <a:cs typeface="Noto Sans"/>
              </a:rPr>
              <a:t>Group</a:t>
            </a:r>
            <a:r>
              <a:rPr dirty="0" sz="1200" spc="-4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00" spc="-60">
                <a:solidFill>
                  <a:srgbClr val="556478"/>
                </a:solidFill>
                <a:latin typeface="Noto Sans"/>
                <a:cs typeface="Noto Sans"/>
              </a:rPr>
              <a:t>resources</a:t>
            </a:r>
            <a:r>
              <a:rPr dirty="0" sz="120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00" spc="-45">
                <a:solidFill>
                  <a:srgbClr val="556478"/>
                </a:solidFill>
                <a:latin typeface="Noto Sans"/>
                <a:cs typeface="Noto Sans"/>
              </a:rPr>
              <a:t>with</a:t>
            </a:r>
            <a:r>
              <a:rPr dirty="0" sz="12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00" spc="-60">
                <a:solidFill>
                  <a:srgbClr val="556478"/>
                </a:solidFill>
                <a:latin typeface="Noto Sans"/>
                <a:cs typeface="Noto Sans"/>
              </a:rPr>
              <a:t>shared</a:t>
            </a:r>
            <a:r>
              <a:rPr dirty="0" sz="1200" spc="-45">
                <a:solidFill>
                  <a:srgbClr val="556478"/>
                </a:solidFill>
                <a:latin typeface="Noto Sans"/>
                <a:cs typeface="Noto Sans"/>
              </a:rPr>
              <a:t> lifecycle,</a:t>
            </a:r>
            <a:r>
              <a:rPr dirty="0" sz="1200" spc="-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00" spc="-60">
                <a:solidFill>
                  <a:srgbClr val="556478"/>
                </a:solidFill>
                <a:latin typeface="Noto Sans"/>
                <a:cs typeface="Noto Sans"/>
              </a:rPr>
              <a:t>ownership</a:t>
            </a:r>
            <a:r>
              <a:rPr dirty="0" sz="1200" spc="-4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00" spc="-35">
                <a:solidFill>
                  <a:srgbClr val="556478"/>
                </a:solidFill>
                <a:latin typeface="Noto Sans"/>
                <a:cs typeface="Noto Sans"/>
              </a:rPr>
              <a:t>or</a:t>
            </a:r>
            <a:r>
              <a:rPr dirty="0" sz="1200" spc="-2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00" spc="-40">
                <a:solidFill>
                  <a:srgbClr val="556478"/>
                </a:solidFill>
                <a:latin typeface="Noto Sans"/>
                <a:cs typeface="Noto Sans"/>
              </a:rPr>
              <a:t>operational </a:t>
            </a:r>
            <a:r>
              <a:rPr dirty="0" sz="1200" spc="-10">
                <a:solidFill>
                  <a:srgbClr val="556478"/>
                </a:solidFill>
                <a:latin typeface="Noto Sans"/>
                <a:cs typeface="Noto Sans"/>
              </a:rPr>
              <a:t>purpose.</a:t>
            </a:r>
            <a:endParaRPr sz="1200">
              <a:latin typeface="Noto Sans"/>
              <a:cs typeface="Noto Sans"/>
            </a:endParaRPr>
          </a:p>
        </p:txBody>
      </p:sp>
      <p:grpSp>
        <p:nvGrpSpPr>
          <p:cNvPr id="66" name="object 66"/>
          <p:cNvGrpSpPr/>
          <p:nvPr/>
        </p:nvGrpSpPr>
        <p:grpSpPr>
          <a:xfrm>
            <a:off x="6166804" y="4520516"/>
            <a:ext cx="5085715" cy="1016635"/>
            <a:chOff x="6166804" y="4520516"/>
            <a:chExt cx="5085715" cy="1016635"/>
          </a:xfrm>
        </p:grpSpPr>
        <p:sp>
          <p:nvSpPr>
            <p:cNvPr id="67" name="object 67"/>
            <p:cNvSpPr/>
            <p:nvPr/>
          </p:nvSpPr>
          <p:spPr>
            <a:xfrm>
              <a:off x="6171844" y="4525556"/>
              <a:ext cx="5075555" cy="1006475"/>
            </a:xfrm>
            <a:custGeom>
              <a:avLst/>
              <a:gdLst/>
              <a:ahLst/>
              <a:cxnLst/>
              <a:rect l="l" t="t" r="r" b="b"/>
              <a:pathLst>
                <a:path w="5075555" h="1006475">
                  <a:moveTo>
                    <a:pt x="110159" y="0"/>
                  </a:moveTo>
                  <a:lnTo>
                    <a:pt x="68088" y="8358"/>
                  </a:lnTo>
                  <a:lnTo>
                    <a:pt x="32534" y="32224"/>
                  </a:lnTo>
                  <a:lnTo>
                    <a:pt x="8708" y="67882"/>
                  </a:lnTo>
                  <a:lnTo>
                    <a:pt x="355" y="109804"/>
                  </a:lnTo>
                  <a:lnTo>
                    <a:pt x="0" y="896404"/>
                  </a:lnTo>
                  <a:lnTo>
                    <a:pt x="939" y="910834"/>
                  </a:lnTo>
                  <a:lnTo>
                    <a:pt x="14757" y="951484"/>
                  </a:lnTo>
                  <a:lnTo>
                    <a:pt x="43003" y="983425"/>
                  </a:lnTo>
                  <a:lnTo>
                    <a:pt x="81359" y="1002471"/>
                  </a:lnTo>
                  <a:lnTo>
                    <a:pt x="109791" y="1006208"/>
                  </a:lnTo>
                  <a:lnTo>
                    <a:pt x="4965471" y="1006208"/>
                  </a:lnTo>
                  <a:lnTo>
                    <a:pt x="5007542" y="997850"/>
                  </a:lnTo>
                  <a:lnTo>
                    <a:pt x="5043046" y="974028"/>
                  </a:lnTo>
                  <a:lnTo>
                    <a:pt x="5066847" y="938475"/>
                  </a:lnTo>
                  <a:lnTo>
                    <a:pt x="5075275" y="896404"/>
                  </a:lnTo>
                  <a:lnTo>
                    <a:pt x="5075252" y="109804"/>
                  </a:lnTo>
                  <a:lnTo>
                    <a:pt x="5066922" y="68095"/>
                  </a:lnTo>
                  <a:lnTo>
                    <a:pt x="5043052" y="32535"/>
                  </a:lnTo>
                  <a:lnTo>
                    <a:pt x="5007392" y="8721"/>
                  </a:lnTo>
                  <a:lnTo>
                    <a:pt x="4965471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6171844" y="4525556"/>
              <a:ext cx="5075555" cy="1006475"/>
            </a:xfrm>
            <a:custGeom>
              <a:avLst/>
              <a:gdLst/>
              <a:ahLst/>
              <a:cxnLst/>
              <a:rect l="l" t="t" r="r" b="b"/>
              <a:pathLst>
                <a:path w="5075555" h="1006475">
                  <a:moveTo>
                    <a:pt x="355" y="109804"/>
                  </a:moveTo>
                  <a:lnTo>
                    <a:pt x="1295" y="95379"/>
                  </a:lnTo>
                  <a:lnTo>
                    <a:pt x="4090" y="81360"/>
                  </a:lnTo>
                  <a:lnTo>
                    <a:pt x="23133" y="43011"/>
                  </a:lnTo>
                  <a:lnTo>
                    <a:pt x="55079" y="14770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4965471" y="368"/>
                  </a:lnTo>
                  <a:lnTo>
                    <a:pt x="5007392" y="8721"/>
                  </a:lnTo>
                  <a:lnTo>
                    <a:pt x="5043052" y="32535"/>
                  </a:lnTo>
                  <a:lnTo>
                    <a:pt x="5066922" y="68095"/>
                  </a:lnTo>
                  <a:lnTo>
                    <a:pt x="5075275" y="110159"/>
                  </a:lnTo>
                  <a:lnTo>
                    <a:pt x="5075275" y="896404"/>
                  </a:lnTo>
                  <a:lnTo>
                    <a:pt x="5074335" y="910828"/>
                  </a:lnTo>
                  <a:lnTo>
                    <a:pt x="5071540" y="924847"/>
                  </a:lnTo>
                  <a:lnTo>
                    <a:pt x="5052498" y="963197"/>
                  </a:lnTo>
                  <a:lnTo>
                    <a:pt x="5020551" y="991438"/>
                  </a:lnTo>
                  <a:lnTo>
                    <a:pt x="4979901" y="1005268"/>
                  </a:lnTo>
                  <a:lnTo>
                    <a:pt x="4965471" y="1006208"/>
                  </a:lnTo>
                  <a:lnTo>
                    <a:pt x="109791" y="1006208"/>
                  </a:lnTo>
                  <a:lnTo>
                    <a:pt x="67882" y="997850"/>
                  </a:lnTo>
                  <a:lnTo>
                    <a:pt x="32213" y="974028"/>
                  </a:lnTo>
                  <a:lnTo>
                    <a:pt x="8352" y="938475"/>
                  </a:lnTo>
                  <a:lnTo>
                    <a:pt x="0" y="896404"/>
                  </a:lnTo>
                  <a:lnTo>
                    <a:pt x="355" y="109804"/>
                  </a:lnTo>
                  <a:close/>
                </a:path>
              </a:pathLst>
            </a:custGeom>
            <a:ln w="10079">
              <a:solidFill>
                <a:srgbClr val="DBE4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6172200" y="4525924"/>
              <a:ext cx="73025" cy="1005840"/>
            </a:xfrm>
            <a:custGeom>
              <a:avLst/>
              <a:gdLst/>
              <a:ahLst/>
              <a:cxnLst/>
              <a:rect l="l" t="t" r="r" b="b"/>
              <a:pathLst>
                <a:path w="73025" h="1005839">
                  <a:moveTo>
                    <a:pt x="72720" y="0"/>
                  </a:moveTo>
                  <a:lnTo>
                    <a:pt x="0" y="0"/>
                  </a:lnTo>
                  <a:lnTo>
                    <a:pt x="0" y="1005471"/>
                  </a:lnTo>
                  <a:lnTo>
                    <a:pt x="36360" y="1005471"/>
                  </a:lnTo>
                  <a:lnTo>
                    <a:pt x="72720" y="1005471"/>
                  </a:lnTo>
                  <a:lnTo>
                    <a:pt x="72720" y="0"/>
                  </a:lnTo>
                  <a:close/>
                </a:path>
              </a:pathLst>
            </a:custGeom>
            <a:solidFill>
              <a:srgbClr val="0C938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6172200" y="4525924"/>
              <a:ext cx="73025" cy="1005840"/>
            </a:xfrm>
            <a:custGeom>
              <a:avLst/>
              <a:gdLst/>
              <a:ahLst/>
              <a:cxnLst/>
              <a:rect l="l" t="t" r="r" b="b"/>
              <a:pathLst>
                <a:path w="73025" h="1005839">
                  <a:moveTo>
                    <a:pt x="36360" y="1005471"/>
                  </a:moveTo>
                  <a:lnTo>
                    <a:pt x="0" y="1005471"/>
                  </a:lnTo>
                  <a:lnTo>
                    <a:pt x="0" y="0"/>
                  </a:lnTo>
                  <a:lnTo>
                    <a:pt x="72720" y="0"/>
                  </a:lnTo>
                  <a:lnTo>
                    <a:pt x="72720" y="1005471"/>
                  </a:lnTo>
                  <a:lnTo>
                    <a:pt x="36360" y="1005471"/>
                  </a:lnTo>
                  <a:close/>
                </a:path>
              </a:pathLst>
            </a:custGeom>
            <a:ln w="10079">
              <a:solidFill>
                <a:srgbClr val="0C938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1" name="object 71"/>
          <p:cNvSpPr txBox="1"/>
          <p:nvPr/>
        </p:nvSpPr>
        <p:spPr>
          <a:xfrm>
            <a:off x="6360375" y="4702581"/>
            <a:ext cx="4511675" cy="7226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45">
                <a:solidFill>
                  <a:srgbClr val="0F2339"/>
                </a:solidFill>
                <a:latin typeface="Arial Black"/>
                <a:cs typeface="Arial Black"/>
              </a:rPr>
              <a:t>Important</a:t>
            </a:r>
            <a:r>
              <a:rPr dirty="0" sz="1600" spc="-8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600" spc="-10">
                <a:solidFill>
                  <a:srgbClr val="0F2339"/>
                </a:solidFill>
                <a:latin typeface="Arial Black"/>
                <a:cs typeface="Arial Black"/>
              </a:rPr>
              <a:t>distinction</a:t>
            </a:r>
            <a:endParaRPr sz="1600">
              <a:latin typeface="Arial Black"/>
              <a:cs typeface="Arial Black"/>
            </a:endParaRPr>
          </a:p>
          <a:p>
            <a:pPr marL="12700" marR="5080">
              <a:lnSpc>
                <a:spcPts val="1250"/>
              </a:lnSpc>
              <a:spcBef>
                <a:spcPts val="1085"/>
              </a:spcBef>
            </a:pPr>
            <a:r>
              <a:rPr dirty="0" sz="1200" spc="-45">
                <a:solidFill>
                  <a:srgbClr val="556478"/>
                </a:solidFill>
                <a:latin typeface="Noto Sans"/>
                <a:cs typeface="Noto Sans"/>
              </a:rPr>
              <a:t>RG</a:t>
            </a:r>
            <a:r>
              <a:rPr dirty="0" sz="1200" spc="-7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00" spc="-50">
                <a:solidFill>
                  <a:srgbClr val="556478"/>
                </a:solidFill>
                <a:latin typeface="Noto Sans"/>
                <a:cs typeface="Noto Sans"/>
              </a:rPr>
              <a:t>location</a:t>
            </a:r>
            <a:r>
              <a:rPr dirty="0" sz="1200" spc="-6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00" spc="-55">
                <a:solidFill>
                  <a:srgbClr val="556478"/>
                </a:solidFill>
                <a:latin typeface="Noto Sans"/>
                <a:cs typeface="Noto Sans"/>
              </a:rPr>
              <a:t>stores</a:t>
            </a:r>
            <a:r>
              <a:rPr dirty="0" sz="1200" spc="-4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00" spc="-60">
                <a:solidFill>
                  <a:srgbClr val="556478"/>
                </a:solidFill>
                <a:latin typeface="Noto Sans"/>
                <a:cs typeface="Noto Sans"/>
              </a:rPr>
              <a:t>metadata;</a:t>
            </a:r>
            <a:r>
              <a:rPr dirty="0" sz="1200" spc="-2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00" spc="-60">
                <a:solidFill>
                  <a:srgbClr val="556478"/>
                </a:solidFill>
                <a:latin typeface="Noto Sans"/>
                <a:cs typeface="Noto Sans"/>
              </a:rPr>
              <a:t>resources</a:t>
            </a:r>
            <a:r>
              <a:rPr dirty="0" sz="1200" spc="-4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00" spc="-25">
                <a:solidFill>
                  <a:srgbClr val="556478"/>
                </a:solidFill>
                <a:latin typeface="Noto Sans"/>
                <a:cs typeface="Noto Sans"/>
              </a:rPr>
              <a:t>in</a:t>
            </a:r>
            <a:r>
              <a:rPr dirty="0" sz="1200" spc="-6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00" spc="-40">
                <a:solidFill>
                  <a:srgbClr val="556478"/>
                </a:solidFill>
                <a:latin typeface="Noto Sans"/>
                <a:cs typeface="Noto Sans"/>
              </a:rPr>
              <a:t>one</a:t>
            </a:r>
            <a:r>
              <a:rPr dirty="0" sz="1200" spc="-6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00" spc="-45">
                <a:solidFill>
                  <a:srgbClr val="556478"/>
                </a:solidFill>
                <a:latin typeface="Noto Sans"/>
                <a:cs typeface="Noto Sans"/>
              </a:rPr>
              <a:t>RG</a:t>
            </a:r>
            <a:r>
              <a:rPr dirty="0" sz="1200" spc="-8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00" spc="-45">
                <a:solidFill>
                  <a:srgbClr val="556478"/>
                </a:solidFill>
                <a:latin typeface="Noto Sans"/>
                <a:cs typeface="Noto Sans"/>
              </a:rPr>
              <a:t>can</a:t>
            </a:r>
            <a:r>
              <a:rPr dirty="0" sz="1200" spc="-6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00" spc="-30">
                <a:solidFill>
                  <a:srgbClr val="556478"/>
                </a:solidFill>
                <a:latin typeface="Noto Sans"/>
                <a:cs typeface="Noto Sans"/>
              </a:rPr>
              <a:t>be</a:t>
            </a:r>
            <a:r>
              <a:rPr dirty="0" sz="1200" spc="-5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00" spc="-20">
                <a:solidFill>
                  <a:srgbClr val="556478"/>
                </a:solidFill>
                <a:latin typeface="Noto Sans"/>
                <a:cs typeface="Noto Sans"/>
              </a:rPr>
              <a:t>in</a:t>
            </a:r>
            <a:r>
              <a:rPr dirty="0" sz="1200" spc="-6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00" spc="-30">
                <a:solidFill>
                  <a:srgbClr val="556478"/>
                </a:solidFill>
                <a:latin typeface="Noto Sans"/>
                <a:cs typeface="Noto Sans"/>
              </a:rPr>
              <a:t>different </a:t>
            </a:r>
            <a:r>
              <a:rPr dirty="0" sz="1200" spc="-10">
                <a:solidFill>
                  <a:srgbClr val="556478"/>
                </a:solidFill>
                <a:latin typeface="Noto Sans"/>
                <a:cs typeface="Noto Sans"/>
              </a:rPr>
              <a:t>regions.</a:t>
            </a:r>
            <a:endParaRPr sz="1200">
              <a:latin typeface="Noto Sans"/>
              <a:cs typeface="Noto San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66635" y="6382435"/>
            <a:ext cx="11064240" cy="635"/>
          </a:xfrm>
          <a:custGeom>
            <a:avLst/>
            <a:gdLst/>
            <a:ahLst/>
            <a:cxnLst/>
            <a:rect l="l" t="t" r="r" b="b"/>
            <a:pathLst>
              <a:path w="11064240" h="635">
                <a:moveTo>
                  <a:pt x="0" y="0"/>
                </a:moveTo>
                <a:lnTo>
                  <a:pt x="11064240" y="368"/>
                </a:lnTo>
              </a:path>
            </a:pathLst>
          </a:custGeom>
          <a:ln w="8999">
            <a:solidFill>
              <a:srgbClr val="DBE4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90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 spc="-100"/>
              <a:t>DAY</a:t>
            </a:r>
            <a:r>
              <a:rPr dirty="0" spc="-55"/>
              <a:t> </a:t>
            </a:r>
            <a:r>
              <a:rPr dirty="0"/>
              <a:t>1</a:t>
            </a:r>
            <a:r>
              <a:rPr dirty="0" spc="105"/>
              <a:t> </a:t>
            </a:r>
            <a:r>
              <a:rPr dirty="0"/>
              <a:t>•</a:t>
            </a:r>
            <a:r>
              <a:rPr dirty="0" spc="130"/>
              <a:t> </a:t>
            </a:r>
            <a:r>
              <a:rPr dirty="0" spc="-70"/>
              <a:t>CLOUD</a:t>
            </a:r>
            <a:r>
              <a:rPr dirty="0" spc="-55"/>
              <a:t> </a:t>
            </a:r>
            <a:r>
              <a:rPr dirty="0" spc="-65"/>
              <a:t>FOUNDATIONS</a:t>
            </a:r>
            <a:r>
              <a:rPr dirty="0" spc="-55"/>
              <a:t> </a:t>
            </a:r>
            <a:r>
              <a:rPr dirty="0" spc="-105"/>
              <a:t>&amp;</a:t>
            </a:r>
            <a:r>
              <a:rPr dirty="0" spc="-50"/>
              <a:t> </a:t>
            </a:r>
            <a:r>
              <a:rPr dirty="0" spc="-95"/>
              <a:t>AZURE</a:t>
            </a:r>
            <a:r>
              <a:rPr dirty="0" spc="-55"/>
              <a:t> </a:t>
            </a:r>
            <a:r>
              <a:rPr dirty="0" spc="-50"/>
              <a:t>BASICS</a:t>
            </a:r>
          </a:p>
        </p:txBody>
      </p:sp>
      <p:sp>
        <p:nvSpPr>
          <p:cNvPr id="72" name="object 7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032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160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3935" y="299427"/>
            <a:ext cx="242633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65">
                <a:solidFill>
                  <a:srgbClr val="0077D3"/>
                </a:solidFill>
                <a:latin typeface="Arial Black"/>
                <a:cs typeface="Arial Black"/>
              </a:rPr>
              <a:t>PA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25">
                <a:solidFill>
                  <a:srgbClr val="0077D3"/>
                </a:solidFill>
                <a:latin typeface="Arial Black"/>
                <a:cs typeface="Arial Black"/>
              </a:rPr>
              <a:t>R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>
                <a:solidFill>
                  <a:srgbClr val="0077D3"/>
                </a:solidFill>
                <a:latin typeface="Arial Black"/>
                <a:cs typeface="Arial Black"/>
              </a:rPr>
              <a:t>T</a:t>
            </a:r>
            <a:r>
              <a:rPr dirty="0" sz="1000" spc="-5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>
                <a:solidFill>
                  <a:srgbClr val="0077D3"/>
                </a:solidFill>
                <a:latin typeface="Arial Black"/>
                <a:cs typeface="Arial Black"/>
              </a:rPr>
              <a:t>3</a:t>
            </a:r>
            <a:r>
              <a:rPr dirty="0" sz="1000" spc="13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>
                <a:solidFill>
                  <a:srgbClr val="0077D3"/>
                </a:solidFill>
                <a:latin typeface="Arial Black"/>
                <a:cs typeface="Arial Black"/>
              </a:rPr>
              <a:t>•</a:t>
            </a:r>
            <a:r>
              <a:rPr dirty="0" sz="1000" spc="145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95">
                <a:solidFill>
                  <a:srgbClr val="0077D3"/>
                </a:solidFill>
                <a:latin typeface="Arial Black"/>
                <a:cs typeface="Arial Black"/>
              </a:rPr>
              <a:t>A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60">
                <a:solidFill>
                  <a:srgbClr val="0077D3"/>
                </a:solidFill>
                <a:latin typeface="Arial Black"/>
                <a:cs typeface="Arial Black"/>
              </a:rPr>
              <a:t>Z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90">
                <a:solidFill>
                  <a:srgbClr val="0077D3"/>
                </a:solidFill>
                <a:latin typeface="Arial Black"/>
                <a:cs typeface="Arial Black"/>
              </a:rPr>
              <a:t>U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25">
                <a:solidFill>
                  <a:srgbClr val="0077D3"/>
                </a:solidFill>
                <a:latin typeface="Arial Black"/>
                <a:cs typeface="Arial Black"/>
              </a:rPr>
              <a:t>R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>
                <a:solidFill>
                  <a:srgbClr val="0077D3"/>
                </a:solidFill>
                <a:latin typeface="Arial Black"/>
                <a:cs typeface="Arial Black"/>
              </a:rPr>
              <a:t>E</a:t>
            </a:r>
            <a:r>
              <a:rPr dirty="0" sz="1000" spc="14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50">
                <a:solidFill>
                  <a:srgbClr val="0077D3"/>
                </a:solidFill>
                <a:latin typeface="Arial Black"/>
                <a:cs typeface="Arial Black"/>
              </a:rPr>
              <a:t>O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25">
                <a:solidFill>
                  <a:srgbClr val="0077D3"/>
                </a:solidFill>
                <a:latin typeface="Arial Black"/>
                <a:cs typeface="Arial Black"/>
              </a:rPr>
              <a:t>R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25">
                <a:solidFill>
                  <a:srgbClr val="0077D3"/>
                </a:solidFill>
                <a:latin typeface="Arial Black"/>
                <a:cs typeface="Arial Black"/>
              </a:rPr>
              <a:t>G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95">
                <a:solidFill>
                  <a:srgbClr val="0077D3"/>
                </a:solidFill>
                <a:latin typeface="Arial Black"/>
                <a:cs typeface="Arial Black"/>
              </a:rPr>
              <a:t>A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>
                <a:solidFill>
                  <a:srgbClr val="0077D3"/>
                </a:solidFill>
                <a:latin typeface="Arial Black"/>
                <a:cs typeface="Arial Black"/>
              </a:rPr>
              <a:t>NI</a:t>
            </a:r>
            <a:r>
              <a:rPr dirty="0" sz="1000" spc="-204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60">
                <a:solidFill>
                  <a:srgbClr val="0077D3"/>
                </a:solidFill>
                <a:latin typeface="Arial Black"/>
                <a:cs typeface="Arial Black"/>
              </a:rPr>
              <a:t>Z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00">
                <a:solidFill>
                  <a:srgbClr val="0077D3"/>
                </a:solidFill>
                <a:latin typeface="Arial Black"/>
                <a:cs typeface="Arial Black"/>
              </a:rPr>
              <a:t>AT</a:t>
            </a:r>
            <a:r>
              <a:rPr dirty="0" sz="1000" spc="-204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>
                <a:solidFill>
                  <a:srgbClr val="0077D3"/>
                </a:solidFill>
                <a:latin typeface="Arial Black"/>
                <a:cs typeface="Arial Black"/>
              </a:rPr>
              <a:t>I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50">
                <a:solidFill>
                  <a:srgbClr val="0077D3"/>
                </a:solidFill>
                <a:latin typeface="Arial Black"/>
                <a:cs typeface="Arial Black"/>
              </a:rPr>
              <a:t>O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50">
                <a:solidFill>
                  <a:srgbClr val="0077D3"/>
                </a:solidFill>
                <a:latin typeface="Arial Black"/>
                <a:cs typeface="Arial Black"/>
              </a:rPr>
              <a:t>N</a:t>
            </a:r>
            <a:endParaRPr sz="1000">
              <a:latin typeface="Arial Black"/>
              <a:cs typeface="Arial Black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54304" y="480002"/>
            <a:ext cx="10321290" cy="763270"/>
          </a:xfrm>
          <a:prstGeom prst="rect"/>
        </p:spPr>
        <p:txBody>
          <a:bodyPr wrap="square" lIns="0" tIns="11683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19"/>
              </a:spcBef>
            </a:pPr>
            <a:r>
              <a:rPr dirty="0" sz="2500" spc="-110">
                <a:solidFill>
                  <a:srgbClr val="0F2339"/>
                </a:solidFill>
              </a:rPr>
              <a:t>Portal</a:t>
            </a:r>
            <a:r>
              <a:rPr dirty="0" sz="2500" spc="-165">
                <a:solidFill>
                  <a:srgbClr val="0F2339"/>
                </a:solidFill>
              </a:rPr>
              <a:t> </a:t>
            </a:r>
            <a:r>
              <a:rPr dirty="0" sz="2500" spc="-105">
                <a:solidFill>
                  <a:srgbClr val="0F2339"/>
                </a:solidFill>
              </a:rPr>
              <a:t>navigation:</a:t>
            </a:r>
            <a:r>
              <a:rPr dirty="0" sz="2500" spc="-160">
                <a:solidFill>
                  <a:srgbClr val="0F2339"/>
                </a:solidFill>
              </a:rPr>
              <a:t> </a:t>
            </a:r>
            <a:r>
              <a:rPr dirty="0" sz="2500" spc="-60">
                <a:solidFill>
                  <a:srgbClr val="0F2339"/>
                </a:solidFill>
              </a:rPr>
              <a:t>find</a:t>
            </a:r>
            <a:r>
              <a:rPr dirty="0" sz="2500" spc="-170">
                <a:solidFill>
                  <a:srgbClr val="0F2339"/>
                </a:solidFill>
              </a:rPr>
              <a:t> </a:t>
            </a:r>
            <a:r>
              <a:rPr dirty="0" sz="2500" spc="-100">
                <a:solidFill>
                  <a:srgbClr val="0F2339"/>
                </a:solidFill>
              </a:rPr>
              <a:t>the</a:t>
            </a:r>
            <a:r>
              <a:rPr dirty="0" sz="2500" spc="-165">
                <a:solidFill>
                  <a:srgbClr val="0F2339"/>
                </a:solidFill>
              </a:rPr>
              <a:t> correct</a:t>
            </a:r>
            <a:r>
              <a:rPr dirty="0" sz="2500" spc="-170">
                <a:solidFill>
                  <a:srgbClr val="0F2339"/>
                </a:solidFill>
              </a:rPr>
              <a:t> </a:t>
            </a:r>
            <a:r>
              <a:rPr dirty="0" sz="2500" spc="-215">
                <a:solidFill>
                  <a:srgbClr val="0F2339"/>
                </a:solidFill>
              </a:rPr>
              <a:t>scope</a:t>
            </a:r>
            <a:r>
              <a:rPr dirty="0" sz="2500" spc="-165">
                <a:solidFill>
                  <a:srgbClr val="0F2339"/>
                </a:solidFill>
              </a:rPr>
              <a:t> </a:t>
            </a:r>
            <a:r>
              <a:rPr dirty="0" sz="2500" spc="-114">
                <a:solidFill>
                  <a:srgbClr val="0F2339"/>
                </a:solidFill>
              </a:rPr>
              <a:t>before</a:t>
            </a:r>
            <a:r>
              <a:rPr dirty="0" sz="2500" spc="-170">
                <a:solidFill>
                  <a:srgbClr val="0F2339"/>
                </a:solidFill>
              </a:rPr>
              <a:t> </a:t>
            </a:r>
            <a:r>
              <a:rPr dirty="0" sz="2500" spc="-90">
                <a:solidFill>
                  <a:srgbClr val="0F2339"/>
                </a:solidFill>
              </a:rPr>
              <a:t>you</a:t>
            </a:r>
            <a:r>
              <a:rPr dirty="0" sz="2500" spc="-160">
                <a:solidFill>
                  <a:srgbClr val="0F2339"/>
                </a:solidFill>
              </a:rPr>
              <a:t> </a:t>
            </a:r>
            <a:r>
              <a:rPr dirty="0" sz="2500" spc="-65">
                <a:solidFill>
                  <a:srgbClr val="0F2339"/>
                </a:solidFill>
              </a:rPr>
              <a:t>troubleshoot</a:t>
            </a:r>
            <a:endParaRPr sz="2500"/>
          </a:p>
          <a:p>
            <a:pPr marL="30480">
              <a:lnSpc>
                <a:spcPct val="100000"/>
              </a:lnSpc>
              <a:spcBef>
                <a:spcPts val="425"/>
              </a:spcBef>
            </a:pP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Use</a:t>
            </a:r>
            <a:r>
              <a:rPr dirty="0" sz="13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the</a:t>
            </a:r>
            <a:r>
              <a:rPr dirty="0" sz="130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hierarchy</a:t>
            </a:r>
            <a:r>
              <a:rPr dirty="0" sz="13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as</a:t>
            </a:r>
            <a:r>
              <a:rPr dirty="0" sz="130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a</a:t>
            </a:r>
            <a:r>
              <a:rPr dirty="0" sz="130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troubleshooting</a:t>
            </a:r>
            <a:r>
              <a:rPr dirty="0" sz="13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checklist.</a:t>
            </a:r>
            <a:r>
              <a:rPr dirty="0" sz="130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The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wrong</a:t>
            </a:r>
            <a:r>
              <a:rPr dirty="0" sz="130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scope</a:t>
            </a:r>
            <a:r>
              <a:rPr dirty="0" sz="130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can</a:t>
            </a:r>
            <a:r>
              <a:rPr dirty="0" sz="13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make</a:t>
            </a:r>
            <a:r>
              <a:rPr dirty="0" sz="130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a</a:t>
            </a:r>
            <a:r>
              <a:rPr dirty="0" sz="13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healthy</a:t>
            </a:r>
            <a:r>
              <a:rPr dirty="0" sz="130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resource</a:t>
            </a:r>
            <a:r>
              <a:rPr dirty="0" sz="130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appear</a:t>
            </a:r>
            <a:r>
              <a:rPr dirty="0" sz="13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missing.</a:t>
            </a:r>
            <a:endParaRPr sz="1300">
              <a:latin typeface="Noto Sans"/>
              <a:cs typeface="Noto San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66635" y="1417319"/>
            <a:ext cx="11064240" cy="635"/>
          </a:xfrm>
          <a:custGeom>
            <a:avLst/>
            <a:gdLst/>
            <a:ahLst/>
            <a:cxnLst/>
            <a:rect l="l" t="t" r="r" b="b"/>
            <a:pathLst>
              <a:path w="11064240" h="634">
                <a:moveTo>
                  <a:pt x="0" y="0"/>
                </a:moveTo>
                <a:lnTo>
                  <a:pt x="11064240" y="355"/>
                </a:lnTo>
              </a:path>
            </a:pathLst>
          </a:custGeom>
          <a:ln w="10079">
            <a:solidFill>
              <a:srgbClr val="DBE4ED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6" name="object 6"/>
          <p:cNvGrpSpPr/>
          <p:nvPr/>
        </p:nvGrpSpPr>
        <p:grpSpPr>
          <a:xfrm>
            <a:off x="864544" y="1742216"/>
            <a:ext cx="337185" cy="337185"/>
            <a:chOff x="864544" y="1742216"/>
            <a:chExt cx="337185" cy="337185"/>
          </a:xfrm>
        </p:grpSpPr>
        <p:sp>
          <p:nvSpPr>
            <p:cNvPr id="7" name="object 7"/>
            <p:cNvSpPr/>
            <p:nvPr/>
          </p:nvSpPr>
          <p:spPr>
            <a:xfrm>
              <a:off x="868324" y="1745996"/>
              <a:ext cx="329565" cy="329565"/>
            </a:xfrm>
            <a:custGeom>
              <a:avLst/>
              <a:gdLst/>
              <a:ahLst/>
              <a:cxnLst/>
              <a:rect l="l" t="t" r="r" b="b"/>
              <a:pathLst>
                <a:path w="329565" h="329564">
                  <a:moveTo>
                    <a:pt x="164515" y="0"/>
                  </a:moveTo>
                  <a:lnTo>
                    <a:pt x="121945" y="5583"/>
                  </a:lnTo>
                  <a:lnTo>
                    <a:pt x="82080" y="21958"/>
                  </a:lnTo>
                  <a:lnTo>
                    <a:pt x="48104" y="48150"/>
                  </a:lnTo>
                  <a:lnTo>
                    <a:pt x="21958" y="82448"/>
                  </a:lnTo>
                  <a:lnTo>
                    <a:pt x="5578" y="122002"/>
                  </a:lnTo>
                  <a:lnTo>
                    <a:pt x="0" y="164528"/>
                  </a:lnTo>
                  <a:lnTo>
                    <a:pt x="1405" y="186011"/>
                  </a:lnTo>
                  <a:lnTo>
                    <a:pt x="12451" y="227502"/>
                  </a:lnTo>
                  <a:lnTo>
                    <a:pt x="33934" y="264812"/>
                  </a:lnTo>
                  <a:lnTo>
                    <a:pt x="64231" y="295109"/>
                  </a:lnTo>
                  <a:lnTo>
                    <a:pt x="101540" y="316592"/>
                  </a:lnTo>
                  <a:lnTo>
                    <a:pt x="143027" y="327638"/>
                  </a:lnTo>
                  <a:lnTo>
                    <a:pt x="164515" y="329044"/>
                  </a:lnTo>
                  <a:lnTo>
                    <a:pt x="185999" y="327638"/>
                  </a:lnTo>
                  <a:lnTo>
                    <a:pt x="227341" y="316592"/>
                  </a:lnTo>
                  <a:lnTo>
                    <a:pt x="264650" y="295109"/>
                  </a:lnTo>
                  <a:lnTo>
                    <a:pt x="295091" y="264812"/>
                  </a:lnTo>
                  <a:lnTo>
                    <a:pt x="316580" y="227502"/>
                  </a:lnTo>
                  <a:lnTo>
                    <a:pt x="327625" y="186011"/>
                  </a:lnTo>
                  <a:lnTo>
                    <a:pt x="329031" y="164528"/>
                  </a:lnTo>
                  <a:lnTo>
                    <a:pt x="327625" y="143045"/>
                  </a:lnTo>
                  <a:lnTo>
                    <a:pt x="316580" y="101702"/>
                  </a:lnTo>
                  <a:lnTo>
                    <a:pt x="295091" y="64386"/>
                  </a:lnTo>
                  <a:lnTo>
                    <a:pt x="264650" y="33940"/>
                  </a:lnTo>
                  <a:lnTo>
                    <a:pt x="227341" y="12456"/>
                  </a:lnTo>
                  <a:lnTo>
                    <a:pt x="185999" y="1407"/>
                  </a:lnTo>
                  <a:lnTo>
                    <a:pt x="164515" y="0"/>
                  </a:lnTo>
                  <a:close/>
                </a:path>
              </a:pathLst>
            </a:custGeom>
            <a:solidFill>
              <a:srgbClr val="5A39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868324" y="1745996"/>
              <a:ext cx="329565" cy="329565"/>
            </a:xfrm>
            <a:custGeom>
              <a:avLst/>
              <a:gdLst/>
              <a:ahLst/>
              <a:cxnLst/>
              <a:rect l="l" t="t" r="r" b="b"/>
              <a:pathLst>
                <a:path w="329565" h="329564">
                  <a:moveTo>
                    <a:pt x="0" y="164528"/>
                  </a:moveTo>
                  <a:lnTo>
                    <a:pt x="1405" y="143045"/>
                  </a:lnTo>
                  <a:lnTo>
                    <a:pt x="5578" y="122002"/>
                  </a:lnTo>
                  <a:lnTo>
                    <a:pt x="21958" y="82448"/>
                  </a:lnTo>
                  <a:lnTo>
                    <a:pt x="48104" y="48150"/>
                  </a:lnTo>
                  <a:lnTo>
                    <a:pt x="82080" y="21958"/>
                  </a:lnTo>
                  <a:lnTo>
                    <a:pt x="121945" y="5583"/>
                  </a:lnTo>
                  <a:lnTo>
                    <a:pt x="164515" y="0"/>
                  </a:lnTo>
                  <a:lnTo>
                    <a:pt x="207041" y="5583"/>
                  </a:lnTo>
                  <a:lnTo>
                    <a:pt x="246595" y="21958"/>
                  </a:lnTo>
                  <a:lnTo>
                    <a:pt x="280882" y="48150"/>
                  </a:lnTo>
                  <a:lnTo>
                    <a:pt x="307073" y="82448"/>
                  </a:lnTo>
                  <a:lnTo>
                    <a:pt x="323453" y="122002"/>
                  </a:lnTo>
                  <a:lnTo>
                    <a:pt x="329031" y="164528"/>
                  </a:lnTo>
                  <a:lnTo>
                    <a:pt x="327625" y="186011"/>
                  </a:lnTo>
                  <a:lnTo>
                    <a:pt x="323453" y="207094"/>
                  </a:lnTo>
                  <a:lnTo>
                    <a:pt x="307073" y="246964"/>
                  </a:lnTo>
                  <a:lnTo>
                    <a:pt x="280882" y="280939"/>
                  </a:lnTo>
                  <a:lnTo>
                    <a:pt x="246595" y="307086"/>
                  </a:lnTo>
                  <a:lnTo>
                    <a:pt x="207041" y="323465"/>
                  </a:lnTo>
                  <a:lnTo>
                    <a:pt x="164515" y="329044"/>
                  </a:lnTo>
                  <a:lnTo>
                    <a:pt x="121945" y="323465"/>
                  </a:lnTo>
                  <a:lnTo>
                    <a:pt x="82080" y="307086"/>
                  </a:lnTo>
                  <a:lnTo>
                    <a:pt x="48104" y="280939"/>
                  </a:lnTo>
                  <a:lnTo>
                    <a:pt x="21958" y="246964"/>
                  </a:lnTo>
                  <a:lnTo>
                    <a:pt x="5578" y="207094"/>
                  </a:lnTo>
                  <a:lnTo>
                    <a:pt x="1405" y="186011"/>
                  </a:lnTo>
                  <a:lnTo>
                    <a:pt x="0" y="164528"/>
                  </a:lnTo>
                  <a:close/>
                </a:path>
              </a:pathLst>
            </a:custGeom>
            <a:ln w="7559">
              <a:solidFill>
                <a:srgbClr val="5A399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969378" y="1786940"/>
            <a:ext cx="12763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90">
                <a:solidFill>
                  <a:srgbClr val="FFFFFF"/>
                </a:solidFill>
                <a:latin typeface="Arial Black"/>
                <a:cs typeface="Arial Black"/>
              </a:rPr>
              <a:t>1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76895" y="1701622"/>
            <a:ext cx="1726564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10">
                <a:solidFill>
                  <a:srgbClr val="0F2339"/>
                </a:solidFill>
                <a:latin typeface="Arial Black"/>
                <a:cs typeface="Arial Black"/>
              </a:rPr>
              <a:t>Tenant</a:t>
            </a:r>
            <a:r>
              <a:rPr dirty="0" sz="1500" spc="-9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500" spc="204">
                <a:solidFill>
                  <a:srgbClr val="0F2339"/>
                </a:solidFill>
                <a:latin typeface="Arial Black"/>
                <a:cs typeface="Arial Black"/>
              </a:rPr>
              <a:t>/</a:t>
            </a:r>
            <a:r>
              <a:rPr dirty="0" sz="1500" spc="-9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500" spc="-60">
                <a:solidFill>
                  <a:srgbClr val="0F2339"/>
                </a:solidFill>
                <a:latin typeface="Arial Black"/>
                <a:cs typeface="Arial Black"/>
              </a:rPr>
              <a:t>directory</a:t>
            </a:r>
            <a:endParaRPr sz="1500">
              <a:latin typeface="Arial Black"/>
              <a:cs typeface="Arial Black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553104" y="1660219"/>
            <a:ext cx="3978910" cy="2165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>
                <a:solidFill>
                  <a:srgbClr val="556478"/>
                </a:solidFill>
                <a:latin typeface="Noto Sans"/>
                <a:cs typeface="Noto Sans"/>
              </a:rPr>
              <a:t>Profile</a:t>
            </a:r>
            <a:r>
              <a:rPr dirty="0" sz="1250" spc="-8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50">
                <a:solidFill>
                  <a:srgbClr val="556478"/>
                </a:solidFill>
                <a:latin typeface="Noto Sans"/>
                <a:cs typeface="Noto Sans"/>
              </a:rPr>
              <a:t>menu</a:t>
            </a:r>
            <a:r>
              <a:rPr dirty="0" sz="1250" spc="-6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50" spc="-220">
                <a:solidFill>
                  <a:srgbClr val="556478"/>
                </a:solidFill>
                <a:latin typeface="Arial Narrow"/>
                <a:cs typeface="Arial Narrow"/>
              </a:rPr>
              <a:t>→</a:t>
            </a:r>
            <a:r>
              <a:rPr dirty="0" sz="1250" spc="30">
                <a:solidFill>
                  <a:srgbClr val="556478"/>
                </a:solidFill>
                <a:latin typeface="Arial Narrow"/>
                <a:cs typeface="Arial Narrow"/>
              </a:rPr>
              <a:t> </a:t>
            </a:r>
            <a:r>
              <a:rPr dirty="0" sz="1250">
                <a:solidFill>
                  <a:srgbClr val="556478"/>
                </a:solidFill>
                <a:latin typeface="Noto Sans"/>
                <a:cs typeface="Noto Sans"/>
              </a:rPr>
              <a:t>Switch</a:t>
            </a:r>
            <a:r>
              <a:rPr dirty="0" sz="125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50">
                <a:solidFill>
                  <a:srgbClr val="556478"/>
                </a:solidFill>
                <a:latin typeface="Noto Sans"/>
                <a:cs typeface="Noto Sans"/>
              </a:rPr>
              <a:t>directory;</a:t>
            </a:r>
            <a:r>
              <a:rPr dirty="0" sz="125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50">
                <a:solidFill>
                  <a:srgbClr val="556478"/>
                </a:solidFill>
                <a:latin typeface="Noto Sans"/>
                <a:cs typeface="Noto Sans"/>
              </a:rPr>
              <a:t>Entra</a:t>
            </a:r>
            <a:r>
              <a:rPr dirty="0" sz="125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50">
                <a:solidFill>
                  <a:srgbClr val="556478"/>
                </a:solidFill>
                <a:latin typeface="Noto Sans"/>
                <a:cs typeface="Noto Sans"/>
              </a:rPr>
              <a:t>ID</a:t>
            </a:r>
            <a:r>
              <a:rPr dirty="0" sz="125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50" spc="-220">
                <a:solidFill>
                  <a:srgbClr val="556478"/>
                </a:solidFill>
                <a:latin typeface="Arial Narrow"/>
                <a:cs typeface="Arial Narrow"/>
              </a:rPr>
              <a:t>→</a:t>
            </a:r>
            <a:r>
              <a:rPr dirty="0" sz="1250" spc="30">
                <a:solidFill>
                  <a:srgbClr val="556478"/>
                </a:solidFill>
                <a:latin typeface="Arial Narrow"/>
                <a:cs typeface="Arial Narrow"/>
              </a:rPr>
              <a:t> </a:t>
            </a:r>
            <a:r>
              <a:rPr dirty="0" sz="1250" spc="-10">
                <a:solidFill>
                  <a:srgbClr val="556478"/>
                </a:solidFill>
                <a:latin typeface="Noto Sans"/>
                <a:cs typeface="Noto Sans"/>
              </a:rPr>
              <a:t>Overview</a:t>
            </a:r>
            <a:endParaRPr sz="1250">
              <a:latin typeface="Noto Sans"/>
              <a:cs typeface="Noto San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89595" y="2368080"/>
            <a:ext cx="9674860" cy="635"/>
          </a:xfrm>
          <a:custGeom>
            <a:avLst/>
            <a:gdLst/>
            <a:ahLst/>
            <a:cxnLst/>
            <a:rect l="l" t="t" r="r" b="b"/>
            <a:pathLst>
              <a:path w="9674860" h="635">
                <a:moveTo>
                  <a:pt x="0" y="0"/>
                </a:moveTo>
                <a:lnTo>
                  <a:pt x="9674644" y="355"/>
                </a:lnTo>
              </a:path>
            </a:pathLst>
          </a:custGeom>
          <a:ln w="8999">
            <a:solidFill>
              <a:srgbClr val="DBE4ED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3" name="object 13"/>
          <p:cNvGrpSpPr/>
          <p:nvPr/>
        </p:nvGrpSpPr>
        <p:grpSpPr>
          <a:xfrm>
            <a:off x="864544" y="2730060"/>
            <a:ext cx="337185" cy="337185"/>
            <a:chOff x="864544" y="2730060"/>
            <a:chExt cx="337185" cy="337185"/>
          </a:xfrm>
        </p:grpSpPr>
        <p:sp>
          <p:nvSpPr>
            <p:cNvPr id="14" name="object 14"/>
            <p:cNvSpPr/>
            <p:nvPr/>
          </p:nvSpPr>
          <p:spPr>
            <a:xfrm>
              <a:off x="868324" y="2733840"/>
              <a:ext cx="329565" cy="329565"/>
            </a:xfrm>
            <a:custGeom>
              <a:avLst/>
              <a:gdLst/>
              <a:ahLst/>
              <a:cxnLst/>
              <a:rect l="l" t="t" r="r" b="b"/>
              <a:pathLst>
                <a:path w="329565" h="329564">
                  <a:moveTo>
                    <a:pt x="164515" y="0"/>
                  </a:moveTo>
                  <a:lnTo>
                    <a:pt x="121945" y="5578"/>
                  </a:lnTo>
                  <a:lnTo>
                    <a:pt x="82080" y="21958"/>
                  </a:lnTo>
                  <a:lnTo>
                    <a:pt x="48104" y="48148"/>
                  </a:lnTo>
                  <a:lnTo>
                    <a:pt x="21958" y="82435"/>
                  </a:lnTo>
                  <a:lnTo>
                    <a:pt x="5578" y="121994"/>
                  </a:lnTo>
                  <a:lnTo>
                    <a:pt x="0" y="164515"/>
                  </a:lnTo>
                  <a:lnTo>
                    <a:pt x="1405" y="186004"/>
                  </a:lnTo>
                  <a:lnTo>
                    <a:pt x="12451" y="227496"/>
                  </a:lnTo>
                  <a:lnTo>
                    <a:pt x="33934" y="264812"/>
                  </a:lnTo>
                  <a:lnTo>
                    <a:pt x="64231" y="295109"/>
                  </a:lnTo>
                  <a:lnTo>
                    <a:pt x="101540" y="316587"/>
                  </a:lnTo>
                  <a:lnTo>
                    <a:pt x="143027" y="327636"/>
                  </a:lnTo>
                  <a:lnTo>
                    <a:pt x="164515" y="329044"/>
                  </a:lnTo>
                  <a:lnTo>
                    <a:pt x="185999" y="327636"/>
                  </a:lnTo>
                  <a:lnTo>
                    <a:pt x="227341" y="316587"/>
                  </a:lnTo>
                  <a:lnTo>
                    <a:pt x="264650" y="295109"/>
                  </a:lnTo>
                  <a:lnTo>
                    <a:pt x="295091" y="264812"/>
                  </a:lnTo>
                  <a:lnTo>
                    <a:pt x="316580" y="227496"/>
                  </a:lnTo>
                  <a:lnTo>
                    <a:pt x="327625" y="186004"/>
                  </a:lnTo>
                  <a:lnTo>
                    <a:pt x="329031" y="164515"/>
                  </a:lnTo>
                  <a:lnTo>
                    <a:pt x="327625" y="143037"/>
                  </a:lnTo>
                  <a:lnTo>
                    <a:pt x="316580" y="101691"/>
                  </a:lnTo>
                  <a:lnTo>
                    <a:pt x="295091" y="64381"/>
                  </a:lnTo>
                  <a:lnTo>
                    <a:pt x="264650" y="33940"/>
                  </a:lnTo>
                  <a:lnTo>
                    <a:pt x="227341" y="12451"/>
                  </a:lnTo>
                  <a:lnTo>
                    <a:pt x="185999" y="1405"/>
                  </a:lnTo>
                  <a:lnTo>
                    <a:pt x="164515" y="0"/>
                  </a:lnTo>
                  <a:close/>
                </a:path>
              </a:pathLst>
            </a:custGeom>
            <a:solidFill>
              <a:srgbClr val="0077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868324" y="2733840"/>
              <a:ext cx="329565" cy="329565"/>
            </a:xfrm>
            <a:custGeom>
              <a:avLst/>
              <a:gdLst/>
              <a:ahLst/>
              <a:cxnLst/>
              <a:rect l="l" t="t" r="r" b="b"/>
              <a:pathLst>
                <a:path w="329565" h="329564">
                  <a:moveTo>
                    <a:pt x="0" y="164515"/>
                  </a:moveTo>
                  <a:lnTo>
                    <a:pt x="1405" y="143037"/>
                  </a:lnTo>
                  <a:lnTo>
                    <a:pt x="5578" y="121994"/>
                  </a:lnTo>
                  <a:lnTo>
                    <a:pt x="21958" y="82435"/>
                  </a:lnTo>
                  <a:lnTo>
                    <a:pt x="48104" y="48148"/>
                  </a:lnTo>
                  <a:lnTo>
                    <a:pt x="82080" y="21958"/>
                  </a:lnTo>
                  <a:lnTo>
                    <a:pt x="121945" y="5578"/>
                  </a:lnTo>
                  <a:lnTo>
                    <a:pt x="164515" y="0"/>
                  </a:lnTo>
                  <a:lnTo>
                    <a:pt x="207041" y="5578"/>
                  </a:lnTo>
                  <a:lnTo>
                    <a:pt x="246595" y="21958"/>
                  </a:lnTo>
                  <a:lnTo>
                    <a:pt x="280882" y="48148"/>
                  </a:lnTo>
                  <a:lnTo>
                    <a:pt x="307073" y="82435"/>
                  </a:lnTo>
                  <a:lnTo>
                    <a:pt x="323453" y="121994"/>
                  </a:lnTo>
                  <a:lnTo>
                    <a:pt x="329031" y="164515"/>
                  </a:lnTo>
                  <a:lnTo>
                    <a:pt x="327625" y="186004"/>
                  </a:lnTo>
                  <a:lnTo>
                    <a:pt x="323453" y="207087"/>
                  </a:lnTo>
                  <a:lnTo>
                    <a:pt x="307073" y="246964"/>
                  </a:lnTo>
                  <a:lnTo>
                    <a:pt x="280882" y="280939"/>
                  </a:lnTo>
                  <a:lnTo>
                    <a:pt x="246595" y="307086"/>
                  </a:lnTo>
                  <a:lnTo>
                    <a:pt x="207041" y="323461"/>
                  </a:lnTo>
                  <a:lnTo>
                    <a:pt x="164515" y="329044"/>
                  </a:lnTo>
                  <a:lnTo>
                    <a:pt x="121945" y="323461"/>
                  </a:lnTo>
                  <a:lnTo>
                    <a:pt x="82080" y="307086"/>
                  </a:lnTo>
                  <a:lnTo>
                    <a:pt x="48104" y="280939"/>
                  </a:lnTo>
                  <a:lnTo>
                    <a:pt x="21958" y="246964"/>
                  </a:lnTo>
                  <a:lnTo>
                    <a:pt x="5578" y="207087"/>
                  </a:lnTo>
                  <a:lnTo>
                    <a:pt x="1405" y="186004"/>
                  </a:lnTo>
                  <a:lnTo>
                    <a:pt x="0" y="164515"/>
                  </a:lnTo>
                  <a:close/>
                </a:path>
              </a:pathLst>
            </a:custGeom>
            <a:ln w="7559">
              <a:solidFill>
                <a:srgbClr val="0077D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969378" y="2774416"/>
            <a:ext cx="12763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90">
                <a:solidFill>
                  <a:srgbClr val="FFFFFF"/>
                </a:solidFill>
                <a:latin typeface="Arial Black"/>
                <a:cs typeface="Arial Black"/>
              </a:rPr>
              <a:t>2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76895" y="2689097"/>
            <a:ext cx="121729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80">
                <a:solidFill>
                  <a:srgbClr val="0F2339"/>
                </a:solidFill>
                <a:latin typeface="Arial Black"/>
                <a:cs typeface="Arial Black"/>
              </a:rPr>
              <a:t>Subscription</a:t>
            </a:r>
            <a:endParaRPr sz="1500">
              <a:latin typeface="Arial Black"/>
              <a:cs typeface="Arial Black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553104" y="2647695"/>
            <a:ext cx="3684270" cy="2165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 spc="-10">
                <a:solidFill>
                  <a:srgbClr val="556478"/>
                </a:solidFill>
                <a:latin typeface="Noto Sans"/>
                <a:cs typeface="Noto Sans"/>
              </a:rPr>
              <a:t>Subscriptions</a:t>
            </a:r>
            <a:r>
              <a:rPr dirty="0" sz="1250" spc="-4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50" spc="-220">
                <a:solidFill>
                  <a:srgbClr val="556478"/>
                </a:solidFill>
                <a:latin typeface="Arial Narrow"/>
                <a:cs typeface="Arial Narrow"/>
              </a:rPr>
              <a:t>→</a:t>
            </a:r>
            <a:r>
              <a:rPr dirty="0" sz="1250" spc="30">
                <a:solidFill>
                  <a:srgbClr val="556478"/>
                </a:solidFill>
                <a:latin typeface="Arial Narrow"/>
                <a:cs typeface="Arial Narrow"/>
              </a:rPr>
              <a:t> </a:t>
            </a:r>
            <a:r>
              <a:rPr dirty="0" sz="1250">
                <a:solidFill>
                  <a:srgbClr val="556478"/>
                </a:solidFill>
                <a:latin typeface="Noto Sans"/>
                <a:cs typeface="Noto Sans"/>
              </a:rPr>
              <a:t>check</a:t>
            </a:r>
            <a:r>
              <a:rPr dirty="0" sz="1250" spc="-2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50">
                <a:solidFill>
                  <a:srgbClr val="556478"/>
                </a:solidFill>
                <a:latin typeface="Noto Sans"/>
                <a:cs typeface="Noto Sans"/>
              </a:rPr>
              <a:t>name,</a:t>
            </a:r>
            <a:r>
              <a:rPr dirty="0" sz="1250" spc="-2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50">
                <a:solidFill>
                  <a:srgbClr val="556478"/>
                </a:solidFill>
                <a:latin typeface="Noto Sans"/>
                <a:cs typeface="Noto Sans"/>
              </a:rPr>
              <a:t>ID,</a:t>
            </a:r>
            <a:r>
              <a:rPr dirty="0" sz="1250" spc="-2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50">
                <a:solidFill>
                  <a:srgbClr val="556478"/>
                </a:solidFill>
                <a:latin typeface="Noto Sans"/>
                <a:cs typeface="Noto Sans"/>
              </a:rPr>
              <a:t>state</a:t>
            </a:r>
            <a:r>
              <a:rPr dirty="0" sz="125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50">
                <a:solidFill>
                  <a:srgbClr val="556478"/>
                </a:solidFill>
                <a:latin typeface="Noto Sans"/>
                <a:cs typeface="Noto Sans"/>
              </a:rPr>
              <a:t>and</a:t>
            </a:r>
            <a:r>
              <a:rPr dirty="0" sz="1250" spc="-2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50" spc="-10">
                <a:solidFill>
                  <a:srgbClr val="556478"/>
                </a:solidFill>
                <a:latin typeface="Noto Sans"/>
                <a:cs typeface="Noto Sans"/>
              </a:rPr>
              <a:t>access</a:t>
            </a:r>
            <a:endParaRPr sz="1250">
              <a:latin typeface="Noto Sans"/>
              <a:cs typeface="Noto Sans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389595" y="3355556"/>
            <a:ext cx="9674860" cy="635"/>
          </a:xfrm>
          <a:custGeom>
            <a:avLst/>
            <a:gdLst/>
            <a:ahLst/>
            <a:cxnLst/>
            <a:rect l="l" t="t" r="r" b="b"/>
            <a:pathLst>
              <a:path w="9674860" h="635">
                <a:moveTo>
                  <a:pt x="0" y="0"/>
                </a:moveTo>
                <a:lnTo>
                  <a:pt x="9674644" y="368"/>
                </a:lnTo>
              </a:path>
            </a:pathLst>
          </a:custGeom>
          <a:ln w="8999">
            <a:solidFill>
              <a:srgbClr val="DBE4ED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0" name="object 20"/>
          <p:cNvGrpSpPr/>
          <p:nvPr/>
        </p:nvGrpSpPr>
        <p:grpSpPr>
          <a:xfrm>
            <a:off x="864544" y="3717535"/>
            <a:ext cx="337185" cy="337185"/>
            <a:chOff x="864544" y="3717535"/>
            <a:chExt cx="337185" cy="337185"/>
          </a:xfrm>
        </p:grpSpPr>
        <p:sp>
          <p:nvSpPr>
            <p:cNvPr id="21" name="object 21"/>
            <p:cNvSpPr/>
            <p:nvPr/>
          </p:nvSpPr>
          <p:spPr>
            <a:xfrm>
              <a:off x="868324" y="3721315"/>
              <a:ext cx="329565" cy="329565"/>
            </a:xfrm>
            <a:custGeom>
              <a:avLst/>
              <a:gdLst/>
              <a:ahLst/>
              <a:cxnLst/>
              <a:rect l="l" t="t" r="r" b="b"/>
              <a:pathLst>
                <a:path w="329565" h="329564">
                  <a:moveTo>
                    <a:pt x="164515" y="0"/>
                  </a:moveTo>
                  <a:lnTo>
                    <a:pt x="121945" y="5583"/>
                  </a:lnTo>
                  <a:lnTo>
                    <a:pt x="82080" y="21958"/>
                  </a:lnTo>
                  <a:lnTo>
                    <a:pt x="48104" y="48150"/>
                  </a:lnTo>
                  <a:lnTo>
                    <a:pt x="21958" y="82448"/>
                  </a:lnTo>
                  <a:lnTo>
                    <a:pt x="5578" y="122002"/>
                  </a:lnTo>
                  <a:lnTo>
                    <a:pt x="0" y="164528"/>
                  </a:lnTo>
                  <a:lnTo>
                    <a:pt x="1405" y="186011"/>
                  </a:lnTo>
                  <a:lnTo>
                    <a:pt x="12451" y="227502"/>
                  </a:lnTo>
                  <a:lnTo>
                    <a:pt x="33934" y="264812"/>
                  </a:lnTo>
                  <a:lnTo>
                    <a:pt x="64231" y="295109"/>
                  </a:lnTo>
                  <a:lnTo>
                    <a:pt x="101540" y="316592"/>
                  </a:lnTo>
                  <a:lnTo>
                    <a:pt x="143027" y="327638"/>
                  </a:lnTo>
                  <a:lnTo>
                    <a:pt x="164515" y="329044"/>
                  </a:lnTo>
                  <a:lnTo>
                    <a:pt x="185999" y="327638"/>
                  </a:lnTo>
                  <a:lnTo>
                    <a:pt x="227341" y="316592"/>
                  </a:lnTo>
                  <a:lnTo>
                    <a:pt x="264650" y="295109"/>
                  </a:lnTo>
                  <a:lnTo>
                    <a:pt x="295091" y="264812"/>
                  </a:lnTo>
                  <a:lnTo>
                    <a:pt x="316580" y="227502"/>
                  </a:lnTo>
                  <a:lnTo>
                    <a:pt x="327625" y="186011"/>
                  </a:lnTo>
                  <a:lnTo>
                    <a:pt x="329031" y="164528"/>
                  </a:lnTo>
                  <a:lnTo>
                    <a:pt x="327625" y="143045"/>
                  </a:lnTo>
                  <a:lnTo>
                    <a:pt x="316580" y="101702"/>
                  </a:lnTo>
                  <a:lnTo>
                    <a:pt x="295091" y="64386"/>
                  </a:lnTo>
                  <a:lnTo>
                    <a:pt x="264650" y="33940"/>
                  </a:lnTo>
                  <a:lnTo>
                    <a:pt x="227341" y="12456"/>
                  </a:lnTo>
                  <a:lnTo>
                    <a:pt x="185999" y="1407"/>
                  </a:lnTo>
                  <a:lnTo>
                    <a:pt x="164515" y="0"/>
                  </a:lnTo>
                  <a:close/>
                </a:path>
              </a:pathLst>
            </a:custGeom>
            <a:solidFill>
              <a:srgbClr val="0C938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868324" y="3721315"/>
              <a:ext cx="329565" cy="329565"/>
            </a:xfrm>
            <a:custGeom>
              <a:avLst/>
              <a:gdLst/>
              <a:ahLst/>
              <a:cxnLst/>
              <a:rect l="l" t="t" r="r" b="b"/>
              <a:pathLst>
                <a:path w="329565" h="329564">
                  <a:moveTo>
                    <a:pt x="0" y="164528"/>
                  </a:moveTo>
                  <a:lnTo>
                    <a:pt x="1405" y="143045"/>
                  </a:lnTo>
                  <a:lnTo>
                    <a:pt x="5578" y="122002"/>
                  </a:lnTo>
                  <a:lnTo>
                    <a:pt x="21958" y="82448"/>
                  </a:lnTo>
                  <a:lnTo>
                    <a:pt x="48104" y="48150"/>
                  </a:lnTo>
                  <a:lnTo>
                    <a:pt x="82080" y="21958"/>
                  </a:lnTo>
                  <a:lnTo>
                    <a:pt x="121945" y="5583"/>
                  </a:lnTo>
                  <a:lnTo>
                    <a:pt x="164515" y="0"/>
                  </a:lnTo>
                  <a:lnTo>
                    <a:pt x="207041" y="5583"/>
                  </a:lnTo>
                  <a:lnTo>
                    <a:pt x="246595" y="21958"/>
                  </a:lnTo>
                  <a:lnTo>
                    <a:pt x="280882" y="48150"/>
                  </a:lnTo>
                  <a:lnTo>
                    <a:pt x="307073" y="82448"/>
                  </a:lnTo>
                  <a:lnTo>
                    <a:pt x="323453" y="122002"/>
                  </a:lnTo>
                  <a:lnTo>
                    <a:pt x="329031" y="164528"/>
                  </a:lnTo>
                  <a:lnTo>
                    <a:pt x="327625" y="186011"/>
                  </a:lnTo>
                  <a:lnTo>
                    <a:pt x="323453" y="207094"/>
                  </a:lnTo>
                  <a:lnTo>
                    <a:pt x="307073" y="246964"/>
                  </a:lnTo>
                  <a:lnTo>
                    <a:pt x="280882" y="280939"/>
                  </a:lnTo>
                  <a:lnTo>
                    <a:pt x="246595" y="307086"/>
                  </a:lnTo>
                  <a:lnTo>
                    <a:pt x="207041" y="323465"/>
                  </a:lnTo>
                  <a:lnTo>
                    <a:pt x="164515" y="329044"/>
                  </a:lnTo>
                  <a:lnTo>
                    <a:pt x="121945" y="323465"/>
                  </a:lnTo>
                  <a:lnTo>
                    <a:pt x="82080" y="307086"/>
                  </a:lnTo>
                  <a:lnTo>
                    <a:pt x="48104" y="280939"/>
                  </a:lnTo>
                  <a:lnTo>
                    <a:pt x="21958" y="246964"/>
                  </a:lnTo>
                  <a:lnTo>
                    <a:pt x="5578" y="207094"/>
                  </a:lnTo>
                  <a:lnTo>
                    <a:pt x="1405" y="186011"/>
                  </a:lnTo>
                  <a:lnTo>
                    <a:pt x="0" y="164528"/>
                  </a:lnTo>
                  <a:close/>
                </a:path>
              </a:pathLst>
            </a:custGeom>
            <a:ln w="7559">
              <a:solidFill>
                <a:srgbClr val="0C938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969378" y="3762260"/>
            <a:ext cx="12763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90">
                <a:solidFill>
                  <a:srgbClr val="FFFFFF"/>
                </a:solidFill>
                <a:latin typeface="Arial Black"/>
                <a:cs typeface="Arial Black"/>
              </a:rPr>
              <a:t>3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376895" y="3676586"/>
            <a:ext cx="151066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25">
                <a:solidFill>
                  <a:srgbClr val="0F2339"/>
                </a:solidFill>
                <a:latin typeface="Arial Black"/>
                <a:cs typeface="Arial Black"/>
              </a:rPr>
              <a:t>Resource</a:t>
            </a:r>
            <a:r>
              <a:rPr dirty="0" sz="1500" spc="-7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500" spc="-25">
                <a:solidFill>
                  <a:srgbClr val="0F2339"/>
                </a:solidFill>
                <a:latin typeface="Arial Black"/>
                <a:cs typeface="Arial Black"/>
              </a:rPr>
              <a:t>group</a:t>
            </a:r>
            <a:endParaRPr sz="1500">
              <a:latin typeface="Arial Black"/>
              <a:cs typeface="Arial Black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553104" y="3635540"/>
            <a:ext cx="4436110" cy="2165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>
                <a:solidFill>
                  <a:srgbClr val="556478"/>
                </a:solidFill>
                <a:latin typeface="Noto Sans"/>
                <a:cs typeface="Noto Sans"/>
              </a:rPr>
              <a:t>Resource</a:t>
            </a:r>
            <a:r>
              <a:rPr dirty="0" sz="1250" spc="-6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50" spc="-10">
                <a:solidFill>
                  <a:srgbClr val="556478"/>
                </a:solidFill>
                <a:latin typeface="Noto Sans"/>
                <a:cs typeface="Noto Sans"/>
              </a:rPr>
              <a:t>groups</a:t>
            </a:r>
            <a:r>
              <a:rPr dirty="0" sz="125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50" spc="-220">
                <a:solidFill>
                  <a:srgbClr val="556478"/>
                </a:solidFill>
                <a:latin typeface="Arial Narrow"/>
                <a:cs typeface="Arial Narrow"/>
              </a:rPr>
              <a:t>→</a:t>
            </a:r>
            <a:r>
              <a:rPr dirty="0" sz="1250" spc="30">
                <a:solidFill>
                  <a:srgbClr val="556478"/>
                </a:solidFill>
                <a:latin typeface="Arial Narrow"/>
                <a:cs typeface="Arial Narrow"/>
              </a:rPr>
              <a:t> </a:t>
            </a:r>
            <a:r>
              <a:rPr dirty="0" sz="1250">
                <a:solidFill>
                  <a:srgbClr val="556478"/>
                </a:solidFill>
                <a:latin typeface="Noto Sans"/>
                <a:cs typeface="Noto Sans"/>
              </a:rPr>
              <a:t>inspect</a:t>
            </a:r>
            <a:r>
              <a:rPr dirty="0" sz="125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50">
                <a:solidFill>
                  <a:srgbClr val="556478"/>
                </a:solidFill>
                <a:latin typeface="Noto Sans"/>
                <a:cs typeface="Noto Sans"/>
              </a:rPr>
              <a:t>filters</a:t>
            </a:r>
            <a:r>
              <a:rPr dirty="0" sz="125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50">
                <a:solidFill>
                  <a:srgbClr val="556478"/>
                </a:solidFill>
                <a:latin typeface="Noto Sans"/>
                <a:cs typeface="Noto Sans"/>
              </a:rPr>
              <a:t>and</a:t>
            </a:r>
            <a:r>
              <a:rPr dirty="0" sz="125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50">
                <a:solidFill>
                  <a:srgbClr val="556478"/>
                </a:solidFill>
                <a:latin typeface="Noto Sans"/>
                <a:cs typeface="Noto Sans"/>
              </a:rPr>
              <a:t>selected</a:t>
            </a:r>
            <a:r>
              <a:rPr dirty="0" sz="125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50" spc="-10">
                <a:solidFill>
                  <a:srgbClr val="556478"/>
                </a:solidFill>
                <a:latin typeface="Noto Sans"/>
                <a:cs typeface="Noto Sans"/>
              </a:rPr>
              <a:t>subscription</a:t>
            </a:r>
            <a:endParaRPr sz="1250">
              <a:latin typeface="Noto Sans"/>
              <a:cs typeface="Noto Sans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389595" y="4343400"/>
            <a:ext cx="9674860" cy="635"/>
          </a:xfrm>
          <a:custGeom>
            <a:avLst/>
            <a:gdLst/>
            <a:ahLst/>
            <a:cxnLst/>
            <a:rect l="l" t="t" r="r" b="b"/>
            <a:pathLst>
              <a:path w="9674860" h="635">
                <a:moveTo>
                  <a:pt x="0" y="0"/>
                </a:moveTo>
                <a:lnTo>
                  <a:pt x="9674644" y="355"/>
                </a:lnTo>
              </a:path>
            </a:pathLst>
          </a:custGeom>
          <a:ln w="8999">
            <a:solidFill>
              <a:srgbClr val="DBE4ED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7" name="object 27"/>
          <p:cNvGrpSpPr/>
          <p:nvPr/>
        </p:nvGrpSpPr>
        <p:grpSpPr>
          <a:xfrm>
            <a:off x="864544" y="4705024"/>
            <a:ext cx="337185" cy="337185"/>
            <a:chOff x="864544" y="4705024"/>
            <a:chExt cx="337185" cy="337185"/>
          </a:xfrm>
        </p:grpSpPr>
        <p:sp>
          <p:nvSpPr>
            <p:cNvPr id="28" name="object 28"/>
            <p:cNvSpPr/>
            <p:nvPr/>
          </p:nvSpPr>
          <p:spPr>
            <a:xfrm>
              <a:off x="868324" y="4708804"/>
              <a:ext cx="329565" cy="329565"/>
            </a:xfrm>
            <a:custGeom>
              <a:avLst/>
              <a:gdLst/>
              <a:ahLst/>
              <a:cxnLst/>
              <a:rect l="l" t="t" r="r" b="b"/>
              <a:pathLst>
                <a:path w="329565" h="329564">
                  <a:moveTo>
                    <a:pt x="164515" y="0"/>
                  </a:moveTo>
                  <a:lnTo>
                    <a:pt x="121945" y="5578"/>
                  </a:lnTo>
                  <a:lnTo>
                    <a:pt x="82080" y="21958"/>
                  </a:lnTo>
                  <a:lnTo>
                    <a:pt x="48104" y="48104"/>
                  </a:lnTo>
                  <a:lnTo>
                    <a:pt x="21958" y="82080"/>
                  </a:lnTo>
                  <a:lnTo>
                    <a:pt x="5578" y="121945"/>
                  </a:lnTo>
                  <a:lnTo>
                    <a:pt x="0" y="164515"/>
                  </a:lnTo>
                  <a:lnTo>
                    <a:pt x="1405" y="185999"/>
                  </a:lnTo>
                  <a:lnTo>
                    <a:pt x="12451" y="227341"/>
                  </a:lnTo>
                  <a:lnTo>
                    <a:pt x="33934" y="264650"/>
                  </a:lnTo>
                  <a:lnTo>
                    <a:pt x="64231" y="295091"/>
                  </a:lnTo>
                  <a:lnTo>
                    <a:pt x="101540" y="316580"/>
                  </a:lnTo>
                  <a:lnTo>
                    <a:pt x="143027" y="327625"/>
                  </a:lnTo>
                  <a:lnTo>
                    <a:pt x="164515" y="329031"/>
                  </a:lnTo>
                  <a:lnTo>
                    <a:pt x="185999" y="327625"/>
                  </a:lnTo>
                  <a:lnTo>
                    <a:pt x="227341" y="316580"/>
                  </a:lnTo>
                  <a:lnTo>
                    <a:pt x="264650" y="295091"/>
                  </a:lnTo>
                  <a:lnTo>
                    <a:pt x="295091" y="264650"/>
                  </a:lnTo>
                  <a:lnTo>
                    <a:pt x="316580" y="227341"/>
                  </a:lnTo>
                  <a:lnTo>
                    <a:pt x="327625" y="185999"/>
                  </a:lnTo>
                  <a:lnTo>
                    <a:pt x="329031" y="164515"/>
                  </a:lnTo>
                  <a:lnTo>
                    <a:pt x="327625" y="143027"/>
                  </a:lnTo>
                  <a:lnTo>
                    <a:pt x="316580" y="101540"/>
                  </a:lnTo>
                  <a:lnTo>
                    <a:pt x="295091" y="64231"/>
                  </a:lnTo>
                  <a:lnTo>
                    <a:pt x="264650" y="33934"/>
                  </a:lnTo>
                  <a:lnTo>
                    <a:pt x="227341" y="12451"/>
                  </a:lnTo>
                  <a:lnTo>
                    <a:pt x="185999" y="1405"/>
                  </a:lnTo>
                  <a:lnTo>
                    <a:pt x="164515" y="0"/>
                  </a:lnTo>
                  <a:close/>
                </a:path>
              </a:pathLst>
            </a:custGeom>
            <a:solidFill>
              <a:srgbClr val="157F5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868324" y="4708804"/>
              <a:ext cx="329565" cy="329565"/>
            </a:xfrm>
            <a:custGeom>
              <a:avLst/>
              <a:gdLst/>
              <a:ahLst/>
              <a:cxnLst/>
              <a:rect l="l" t="t" r="r" b="b"/>
              <a:pathLst>
                <a:path w="329565" h="329564">
                  <a:moveTo>
                    <a:pt x="0" y="164515"/>
                  </a:moveTo>
                  <a:lnTo>
                    <a:pt x="1405" y="143027"/>
                  </a:lnTo>
                  <a:lnTo>
                    <a:pt x="5578" y="121945"/>
                  </a:lnTo>
                  <a:lnTo>
                    <a:pt x="21958" y="82080"/>
                  </a:lnTo>
                  <a:lnTo>
                    <a:pt x="48104" y="48104"/>
                  </a:lnTo>
                  <a:lnTo>
                    <a:pt x="82080" y="21958"/>
                  </a:lnTo>
                  <a:lnTo>
                    <a:pt x="121945" y="5578"/>
                  </a:lnTo>
                  <a:lnTo>
                    <a:pt x="164515" y="0"/>
                  </a:lnTo>
                  <a:lnTo>
                    <a:pt x="207041" y="5578"/>
                  </a:lnTo>
                  <a:lnTo>
                    <a:pt x="246595" y="21958"/>
                  </a:lnTo>
                  <a:lnTo>
                    <a:pt x="280882" y="48104"/>
                  </a:lnTo>
                  <a:lnTo>
                    <a:pt x="307073" y="82080"/>
                  </a:lnTo>
                  <a:lnTo>
                    <a:pt x="323453" y="121945"/>
                  </a:lnTo>
                  <a:lnTo>
                    <a:pt x="329031" y="164515"/>
                  </a:lnTo>
                  <a:lnTo>
                    <a:pt x="327625" y="185999"/>
                  </a:lnTo>
                  <a:lnTo>
                    <a:pt x="323453" y="207041"/>
                  </a:lnTo>
                  <a:lnTo>
                    <a:pt x="307073" y="246595"/>
                  </a:lnTo>
                  <a:lnTo>
                    <a:pt x="280882" y="280882"/>
                  </a:lnTo>
                  <a:lnTo>
                    <a:pt x="246595" y="307073"/>
                  </a:lnTo>
                  <a:lnTo>
                    <a:pt x="207041" y="323453"/>
                  </a:lnTo>
                  <a:lnTo>
                    <a:pt x="164515" y="329031"/>
                  </a:lnTo>
                  <a:lnTo>
                    <a:pt x="121945" y="323453"/>
                  </a:lnTo>
                  <a:lnTo>
                    <a:pt x="82080" y="307073"/>
                  </a:lnTo>
                  <a:lnTo>
                    <a:pt x="48104" y="280882"/>
                  </a:lnTo>
                  <a:lnTo>
                    <a:pt x="21958" y="246595"/>
                  </a:lnTo>
                  <a:lnTo>
                    <a:pt x="5578" y="207041"/>
                  </a:lnTo>
                  <a:lnTo>
                    <a:pt x="1405" y="185999"/>
                  </a:lnTo>
                  <a:lnTo>
                    <a:pt x="0" y="164515"/>
                  </a:lnTo>
                  <a:close/>
                </a:path>
              </a:pathLst>
            </a:custGeom>
            <a:ln w="7559">
              <a:solidFill>
                <a:srgbClr val="157F5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/>
          <p:nvPr/>
        </p:nvSpPr>
        <p:spPr>
          <a:xfrm>
            <a:off x="969378" y="4749736"/>
            <a:ext cx="12763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90">
                <a:solidFill>
                  <a:srgbClr val="FFFFFF"/>
                </a:solidFill>
                <a:latin typeface="Arial Black"/>
                <a:cs typeface="Arial Black"/>
              </a:rPr>
              <a:t>4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376895" y="4664418"/>
            <a:ext cx="89408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14">
                <a:solidFill>
                  <a:srgbClr val="0F2339"/>
                </a:solidFill>
                <a:latin typeface="Arial Black"/>
                <a:cs typeface="Arial Black"/>
              </a:rPr>
              <a:t>Resource</a:t>
            </a:r>
            <a:endParaRPr sz="1500">
              <a:latin typeface="Arial Black"/>
              <a:cs typeface="Arial Black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553104" y="4623015"/>
            <a:ext cx="5280660" cy="2165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>
                <a:solidFill>
                  <a:srgbClr val="556478"/>
                </a:solidFill>
                <a:latin typeface="Noto Sans"/>
                <a:cs typeface="Noto Sans"/>
              </a:rPr>
              <a:t>Open</a:t>
            </a:r>
            <a:r>
              <a:rPr dirty="0" sz="1250" spc="-7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50">
                <a:solidFill>
                  <a:srgbClr val="556478"/>
                </a:solidFill>
                <a:latin typeface="Noto Sans"/>
                <a:cs typeface="Noto Sans"/>
              </a:rPr>
              <a:t>the</a:t>
            </a:r>
            <a:r>
              <a:rPr dirty="0" sz="125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50" spc="-10">
                <a:solidFill>
                  <a:srgbClr val="556478"/>
                </a:solidFill>
                <a:latin typeface="Noto Sans"/>
                <a:cs typeface="Noto Sans"/>
              </a:rPr>
              <a:t>resource</a:t>
            </a:r>
            <a:r>
              <a:rPr dirty="0" sz="125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50" spc="-220">
                <a:solidFill>
                  <a:srgbClr val="556478"/>
                </a:solidFill>
                <a:latin typeface="Arial Narrow"/>
                <a:cs typeface="Arial Narrow"/>
              </a:rPr>
              <a:t>→</a:t>
            </a:r>
            <a:r>
              <a:rPr dirty="0" sz="1250" spc="25">
                <a:solidFill>
                  <a:srgbClr val="556478"/>
                </a:solidFill>
                <a:latin typeface="Arial Narrow"/>
                <a:cs typeface="Arial Narrow"/>
              </a:rPr>
              <a:t> </a:t>
            </a:r>
            <a:r>
              <a:rPr dirty="0" sz="1250">
                <a:solidFill>
                  <a:srgbClr val="556478"/>
                </a:solidFill>
                <a:latin typeface="Noto Sans"/>
                <a:cs typeface="Noto Sans"/>
              </a:rPr>
              <a:t>confirm</a:t>
            </a:r>
            <a:r>
              <a:rPr dirty="0" sz="125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50">
                <a:solidFill>
                  <a:srgbClr val="556478"/>
                </a:solidFill>
                <a:latin typeface="Noto Sans"/>
                <a:cs typeface="Noto Sans"/>
              </a:rPr>
              <a:t>name,</a:t>
            </a:r>
            <a:r>
              <a:rPr dirty="0" sz="125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50">
                <a:solidFill>
                  <a:srgbClr val="556478"/>
                </a:solidFill>
                <a:latin typeface="Noto Sans"/>
                <a:cs typeface="Noto Sans"/>
              </a:rPr>
              <a:t>region,</a:t>
            </a:r>
            <a:r>
              <a:rPr dirty="0" sz="125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50" spc="-10">
                <a:solidFill>
                  <a:srgbClr val="556478"/>
                </a:solidFill>
                <a:latin typeface="Noto Sans"/>
                <a:cs typeface="Noto Sans"/>
              </a:rPr>
              <a:t>resource</a:t>
            </a:r>
            <a:r>
              <a:rPr dirty="0" sz="125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50">
                <a:solidFill>
                  <a:srgbClr val="556478"/>
                </a:solidFill>
                <a:latin typeface="Noto Sans"/>
                <a:cs typeface="Noto Sans"/>
              </a:rPr>
              <a:t>group</a:t>
            </a:r>
            <a:r>
              <a:rPr dirty="0" sz="125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50">
                <a:solidFill>
                  <a:srgbClr val="556478"/>
                </a:solidFill>
                <a:latin typeface="Noto Sans"/>
                <a:cs typeface="Noto Sans"/>
              </a:rPr>
              <a:t>and</a:t>
            </a:r>
            <a:r>
              <a:rPr dirty="0" sz="125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50" spc="-10">
                <a:solidFill>
                  <a:srgbClr val="556478"/>
                </a:solidFill>
                <a:latin typeface="Noto Sans"/>
                <a:cs typeface="Noto Sans"/>
              </a:rPr>
              <a:t>status</a:t>
            </a:r>
            <a:endParaRPr sz="1250">
              <a:latin typeface="Noto Sans"/>
              <a:cs typeface="Noto Sans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1389595" y="5330875"/>
            <a:ext cx="9674860" cy="635"/>
          </a:xfrm>
          <a:custGeom>
            <a:avLst/>
            <a:gdLst/>
            <a:ahLst/>
            <a:cxnLst/>
            <a:rect l="l" t="t" r="r" b="b"/>
            <a:pathLst>
              <a:path w="9674860" h="635">
                <a:moveTo>
                  <a:pt x="0" y="0"/>
                </a:moveTo>
                <a:lnTo>
                  <a:pt x="9674644" y="368"/>
                </a:lnTo>
              </a:path>
            </a:pathLst>
          </a:custGeom>
          <a:ln w="8999">
            <a:solidFill>
              <a:srgbClr val="DBE4ED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4" name="object 34"/>
          <p:cNvGrpSpPr/>
          <p:nvPr/>
        </p:nvGrpSpPr>
        <p:grpSpPr>
          <a:xfrm>
            <a:off x="1823036" y="5526724"/>
            <a:ext cx="8697595" cy="669290"/>
            <a:chOff x="1823036" y="5526724"/>
            <a:chExt cx="8697595" cy="669290"/>
          </a:xfrm>
        </p:grpSpPr>
        <p:sp>
          <p:nvSpPr>
            <p:cNvPr id="35" name="object 35"/>
            <p:cNvSpPr/>
            <p:nvPr/>
          </p:nvSpPr>
          <p:spPr>
            <a:xfrm>
              <a:off x="1828076" y="5531764"/>
              <a:ext cx="8687435" cy="659130"/>
            </a:xfrm>
            <a:custGeom>
              <a:avLst/>
              <a:gdLst/>
              <a:ahLst/>
              <a:cxnLst/>
              <a:rect l="l" t="t" r="r" b="b"/>
              <a:pathLst>
                <a:path w="8687435" h="659129">
                  <a:moveTo>
                    <a:pt x="110159" y="0"/>
                  </a:moveTo>
                  <a:lnTo>
                    <a:pt x="68095" y="8352"/>
                  </a:lnTo>
                  <a:lnTo>
                    <a:pt x="32535" y="32213"/>
                  </a:lnTo>
                  <a:lnTo>
                    <a:pt x="8721" y="67882"/>
                  </a:lnTo>
                  <a:lnTo>
                    <a:pt x="368" y="109791"/>
                  </a:lnTo>
                  <a:lnTo>
                    <a:pt x="0" y="548995"/>
                  </a:lnTo>
                  <a:lnTo>
                    <a:pt x="939" y="563425"/>
                  </a:lnTo>
                  <a:lnTo>
                    <a:pt x="14770" y="604075"/>
                  </a:lnTo>
                  <a:lnTo>
                    <a:pt x="43011" y="636016"/>
                  </a:lnTo>
                  <a:lnTo>
                    <a:pt x="81360" y="655062"/>
                  </a:lnTo>
                  <a:lnTo>
                    <a:pt x="109804" y="658799"/>
                  </a:lnTo>
                  <a:lnTo>
                    <a:pt x="8577364" y="658799"/>
                  </a:lnTo>
                  <a:lnTo>
                    <a:pt x="8619435" y="650441"/>
                  </a:lnTo>
                  <a:lnTo>
                    <a:pt x="8654937" y="626619"/>
                  </a:lnTo>
                  <a:lnTo>
                    <a:pt x="8678734" y="591066"/>
                  </a:lnTo>
                  <a:lnTo>
                    <a:pt x="8687168" y="548995"/>
                  </a:lnTo>
                  <a:lnTo>
                    <a:pt x="8687144" y="109791"/>
                  </a:lnTo>
                  <a:lnTo>
                    <a:pt x="8678810" y="68088"/>
                  </a:lnTo>
                  <a:lnTo>
                    <a:pt x="8654943" y="32534"/>
                  </a:lnTo>
                  <a:lnTo>
                    <a:pt x="8619285" y="8708"/>
                  </a:lnTo>
                  <a:lnTo>
                    <a:pt x="857736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0F233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1828076" y="5531764"/>
              <a:ext cx="8687435" cy="659130"/>
            </a:xfrm>
            <a:custGeom>
              <a:avLst/>
              <a:gdLst/>
              <a:ahLst/>
              <a:cxnLst/>
              <a:rect l="l" t="t" r="r" b="b"/>
              <a:pathLst>
                <a:path w="8687435" h="659129">
                  <a:moveTo>
                    <a:pt x="368" y="109791"/>
                  </a:moveTo>
                  <a:lnTo>
                    <a:pt x="1307" y="95374"/>
                  </a:lnTo>
                  <a:lnTo>
                    <a:pt x="4103" y="81359"/>
                  </a:lnTo>
                  <a:lnTo>
                    <a:pt x="23138" y="43003"/>
                  </a:lnTo>
                  <a:lnTo>
                    <a:pt x="55079" y="14757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8577364" y="355"/>
                  </a:lnTo>
                  <a:lnTo>
                    <a:pt x="8619285" y="8708"/>
                  </a:lnTo>
                  <a:lnTo>
                    <a:pt x="8654943" y="32534"/>
                  </a:lnTo>
                  <a:lnTo>
                    <a:pt x="8678810" y="68088"/>
                  </a:lnTo>
                  <a:lnTo>
                    <a:pt x="8687168" y="110159"/>
                  </a:lnTo>
                  <a:lnTo>
                    <a:pt x="8687168" y="548995"/>
                  </a:lnTo>
                  <a:lnTo>
                    <a:pt x="8686228" y="563420"/>
                  </a:lnTo>
                  <a:lnTo>
                    <a:pt x="8683431" y="577438"/>
                  </a:lnTo>
                  <a:lnTo>
                    <a:pt x="8664385" y="615788"/>
                  </a:lnTo>
                  <a:lnTo>
                    <a:pt x="8632444" y="644029"/>
                  </a:lnTo>
                  <a:lnTo>
                    <a:pt x="8591794" y="657860"/>
                  </a:lnTo>
                  <a:lnTo>
                    <a:pt x="8577364" y="658799"/>
                  </a:lnTo>
                  <a:lnTo>
                    <a:pt x="109804" y="658799"/>
                  </a:lnTo>
                  <a:lnTo>
                    <a:pt x="67882" y="650441"/>
                  </a:lnTo>
                  <a:lnTo>
                    <a:pt x="32224" y="626619"/>
                  </a:lnTo>
                  <a:lnTo>
                    <a:pt x="8358" y="591066"/>
                  </a:lnTo>
                  <a:lnTo>
                    <a:pt x="0" y="548995"/>
                  </a:lnTo>
                  <a:lnTo>
                    <a:pt x="368" y="109791"/>
                  </a:lnTo>
                  <a:close/>
                </a:path>
              </a:pathLst>
            </a:custGeom>
            <a:ln w="10079">
              <a:solidFill>
                <a:srgbClr val="0F233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/>
          <p:cNvSpPr txBox="1"/>
          <p:nvPr/>
        </p:nvSpPr>
        <p:spPr>
          <a:xfrm>
            <a:off x="1962264" y="5628500"/>
            <a:ext cx="1595755" cy="4832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>
                <a:solidFill>
                  <a:srgbClr val="7CD2FB"/>
                </a:solidFill>
                <a:latin typeface="Arial Black"/>
                <a:cs typeface="Arial Black"/>
              </a:rPr>
              <a:t>QUICK</a:t>
            </a:r>
            <a:r>
              <a:rPr dirty="0" sz="850" spc="25">
                <a:solidFill>
                  <a:srgbClr val="7CD2FB"/>
                </a:solidFill>
                <a:latin typeface="Arial Black"/>
                <a:cs typeface="Arial Black"/>
              </a:rPr>
              <a:t> </a:t>
            </a:r>
            <a:r>
              <a:rPr dirty="0" sz="850">
                <a:solidFill>
                  <a:srgbClr val="7CD2FB"/>
                </a:solidFill>
                <a:latin typeface="Arial Black"/>
                <a:cs typeface="Arial Black"/>
              </a:rPr>
              <a:t>CLI</a:t>
            </a:r>
            <a:r>
              <a:rPr dirty="0" sz="850" spc="25">
                <a:solidFill>
                  <a:srgbClr val="7CD2FB"/>
                </a:solidFill>
                <a:latin typeface="Arial Black"/>
                <a:cs typeface="Arial Black"/>
              </a:rPr>
              <a:t> </a:t>
            </a:r>
            <a:r>
              <a:rPr dirty="0" sz="850" spc="-10">
                <a:solidFill>
                  <a:srgbClr val="7CD2FB"/>
                </a:solidFill>
                <a:latin typeface="Arial Black"/>
                <a:cs typeface="Arial Black"/>
              </a:rPr>
              <a:t>CHECKS</a:t>
            </a:r>
            <a:endParaRPr sz="850">
              <a:latin typeface="Arial Black"/>
              <a:cs typeface="Arial Black"/>
            </a:endParaRPr>
          </a:p>
          <a:p>
            <a:pPr marL="12700">
              <a:lnSpc>
                <a:spcPts val="540"/>
              </a:lnSpc>
              <a:spcBef>
                <a:spcPts val="545"/>
              </a:spcBef>
            </a:pPr>
            <a:r>
              <a:rPr dirty="0" sz="500">
                <a:solidFill>
                  <a:srgbClr val="E4F4FF"/>
                </a:solidFill>
                <a:latin typeface="Noto Sans"/>
                <a:cs typeface="Noto Sans"/>
              </a:rPr>
              <a:t>az</a:t>
            </a:r>
            <a:r>
              <a:rPr dirty="0" sz="500" spc="-5">
                <a:solidFill>
                  <a:srgbClr val="E4F4FF"/>
                </a:solidFill>
                <a:latin typeface="Noto Sans"/>
                <a:cs typeface="Noto Sans"/>
              </a:rPr>
              <a:t> </a:t>
            </a:r>
            <a:r>
              <a:rPr dirty="0" sz="500">
                <a:solidFill>
                  <a:srgbClr val="E4F4FF"/>
                </a:solidFill>
                <a:latin typeface="Noto Sans"/>
                <a:cs typeface="Noto Sans"/>
              </a:rPr>
              <a:t>account</a:t>
            </a:r>
            <a:r>
              <a:rPr dirty="0" sz="500" spc="-5">
                <a:solidFill>
                  <a:srgbClr val="E4F4FF"/>
                </a:solidFill>
                <a:latin typeface="Noto Sans"/>
                <a:cs typeface="Noto Sans"/>
              </a:rPr>
              <a:t> </a:t>
            </a:r>
            <a:r>
              <a:rPr dirty="0" sz="500">
                <a:solidFill>
                  <a:srgbClr val="E4F4FF"/>
                </a:solidFill>
                <a:latin typeface="Noto Sans"/>
                <a:cs typeface="Noto Sans"/>
              </a:rPr>
              <a:t>show</a:t>
            </a:r>
            <a:r>
              <a:rPr dirty="0" sz="500" spc="-5">
                <a:solidFill>
                  <a:srgbClr val="E4F4FF"/>
                </a:solidFill>
                <a:latin typeface="Noto Sans"/>
                <a:cs typeface="Noto Sans"/>
              </a:rPr>
              <a:t> </a:t>
            </a:r>
            <a:r>
              <a:rPr dirty="0" sz="500" spc="-10">
                <a:solidFill>
                  <a:srgbClr val="E4F4FF"/>
                </a:solidFill>
                <a:latin typeface="Noto Sans"/>
                <a:cs typeface="Noto Sans"/>
              </a:rPr>
              <a:t>--</a:t>
            </a:r>
            <a:r>
              <a:rPr dirty="0" sz="500">
                <a:solidFill>
                  <a:srgbClr val="E4F4FF"/>
                </a:solidFill>
                <a:latin typeface="Noto Sans"/>
                <a:cs typeface="Noto Sans"/>
              </a:rPr>
              <a:t>output</a:t>
            </a:r>
            <a:r>
              <a:rPr dirty="0" sz="500" spc="-5">
                <a:solidFill>
                  <a:srgbClr val="E4F4FF"/>
                </a:solidFill>
                <a:latin typeface="Noto Sans"/>
                <a:cs typeface="Noto Sans"/>
              </a:rPr>
              <a:t> </a:t>
            </a:r>
            <a:r>
              <a:rPr dirty="0" sz="500" spc="-20">
                <a:solidFill>
                  <a:srgbClr val="E4F4FF"/>
                </a:solidFill>
                <a:latin typeface="Noto Sans"/>
                <a:cs typeface="Noto Sans"/>
              </a:rPr>
              <a:t>table</a:t>
            </a:r>
            <a:endParaRPr sz="500">
              <a:latin typeface="Noto Sans"/>
              <a:cs typeface="Noto Sans"/>
            </a:endParaRPr>
          </a:p>
          <a:p>
            <a:pPr marL="12700">
              <a:lnSpc>
                <a:spcPts val="480"/>
              </a:lnSpc>
            </a:pPr>
            <a:r>
              <a:rPr dirty="0" sz="500">
                <a:solidFill>
                  <a:srgbClr val="E4F4FF"/>
                </a:solidFill>
                <a:latin typeface="Noto Sans"/>
                <a:cs typeface="Noto Sans"/>
              </a:rPr>
              <a:t>az account list</a:t>
            </a:r>
            <a:r>
              <a:rPr dirty="0" sz="500" spc="5">
                <a:solidFill>
                  <a:srgbClr val="E4F4FF"/>
                </a:solidFill>
                <a:latin typeface="Noto Sans"/>
                <a:cs typeface="Noto Sans"/>
              </a:rPr>
              <a:t> </a:t>
            </a:r>
            <a:r>
              <a:rPr dirty="0" sz="500" spc="-10">
                <a:solidFill>
                  <a:srgbClr val="E4F4FF"/>
                </a:solidFill>
                <a:latin typeface="Noto Sans"/>
                <a:cs typeface="Noto Sans"/>
              </a:rPr>
              <a:t>--</a:t>
            </a:r>
            <a:r>
              <a:rPr dirty="0" sz="500">
                <a:solidFill>
                  <a:srgbClr val="E4F4FF"/>
                </a:solidFill>
                <a:latin typeface="Noto Sans"/>
                <a:cs typeface="Noto Sans"/>
              </a:rPr>
              <a:t>output </a:t>
            </a:r>
            <a:r>
              <a:rPr dirty="0" sz="500" spc="-10">
                <a:solidFill>
                  <a:srgbClr val="E4F4FF"/>
                </a:solidFill>
                <a:latin typeface="Noto Sans"/>
                <a:cs typeface="Noto Sans"/>
              </a:rPr>
              <a:t>table</a:t>
            </a:r>
            <a:endParaRPr sz="500">
              <a:latin typeface="Noto Sans"/>
              <a:cs typeface="Noto Sans"/>
            </a:endParaRPr>
          </a:p>
          <a:p>
            <a:pPr marL="12700">
              <a:lnSpc>
                <a:spcPts val="480"/>
              </a:lnSpc>
            </a:pPr>
            <a:r>
              <a:rPr dirty="0" sz="500">
                <a:solidFill>
                  <a:srgbClr val="E4F4FF"/>
                </a:solidFill>
                <a:latin typeface="Noto Sans"/>
                <a:cs typeface="Noto Sans"/>
              </a:rPr>
              <a:t>az</a:t>
            </a:r>
            <a:r>
              <a:rPr dirty="0" sz="500" spc="5">
                <a:solidFill>
                  <a:srgbClr val="E4F4FF"/>
                </a:solidFill>
                <a:latin typeface="Noto Sans"/>
                <a:cs typeface="Noto Sans"/>
              </a:rPr>
              <a:t> </a:t>
            </a:r>
            <a:r>
              <a:rPr dirty="0" sz="500" spc="-10">
                <a:solidFill>
                  <a:srgbClr val="E4F4FF"/>
                </a:solidFill>
                <a:latin typeface="Noto Sans"/>
                <a:cs typeface="Noto Sans"/>
              </a:rPr>
              <a:t>group</a:t>
            </a:r>
            <a:r>
              <a:rPr dirty="0" sz="500" spc="5">
                <a:solidFill>
                  <a:srgbClr val="E4F4FF"/>
                </a:solidFill>
                <a:latin typeface="Noto Sans"/>
                <a:cs typeface="Noto Sans"/>
              </a:rPr>
              <a:t> </a:t>
            </a:r>
            <a:r>
              <a:rPr dirty="0" sz="500">
                <a:solidFill>
                  <a:srgbClr val="E4F4FF"/>
                </a:solidFill>
                <a:latin typeface="Noto Sans"/>
                <a:cs typeface="Noto Sans"/>
              </a:rPr>
              <a:t>list</a:t>
            </a:r>
            <a:r>
              <a:rPr dirty="0" sz="500" spc="5">
                <a:solidFill>
                  <a:srgbClr val="E4F4FF"/>
                </a:solidFill>
                <a:latin typeface="Noto Sans"/>
                <a:cs typeface="Noto Sans"/>
              </a:rPr>
              <a:t> </a:t>
            </a:r>
            <a:r>
              <a:rPr dirty="0" sz="500" spc="-10">
                <a:solidFill>
                  <a:srgbClr val="E4F4FF"/>
                </a:solidFill>
                <a:latin typeface="Noto Sans"/>
                <a:cs typeface="Noto Sans"/>
              </a:rPr>
              <a:t>--</a:t>
            </a:r>
            <a:r>
              <a:rPr dirty="0" sz="500">
                <a:solidFill>
                  <a:srgbClr val="E4F4FF"/>
                </a:solidFill>
                <a:latin typeface="Noto Sans"/>
                <a:cs typeface="Noto Sans"/>
              </a:rPr>
              <a:t>output</a:t>
            </a:r>
            <a:r>
              <a:rPr dirty="0" sz="500" spc="5">
                <a:solidFill>
                  <a:srgbClr val="E4F4FF"/>
                </a:solidFill>
                <a:latin typeface="Noto Sans"/>
                <a:cs typeface="Noto Sans"/>
              </a:rPr>
              <a:t> </a:t>
            </a:r>
            <a:r>
              <a:rPr dirty="0" sz="500" spc="-10">
                <a:solidFill>
                  <a:srgbClr val="E4F4FF"/>
                </a:solidFill>
                <a:latin typeface="Noto Sans"/>
                <a:cs typeface="Noto Sans"/>
              </a:rPr>
              <a:t>table</a:t>
            </a:r>
            <a:endParaRPr sz="500">
              <a:latin typeface="Noto Sans"/>
              <a:cs typeface="Noto Sans"/>
            </a:endParaRPr>
          </a:p>
          <a:p>
            <a:pPr marL="12700">
              <a:lnSpc>
                <a:spcPts val="540"/>
              </a:lnSpc>
            </a:pPr>
            <a:r>
              <a:rPr dirty="0" sz="500">
                <a:solidFill>
                  <a:srgbClr val="E4F4FF"/>
                </a:solidFill>
                <a:latin typeface="Noto Sans"/>
                <a:cs typeface="Noto Sans"/>
              </a:rPr>
              <a:t>az</a:t>
            </a:r>
            <a:r>
              <a:rPr dirty="0" sz="500" spc="10">
                <a:solidFill>
                  <a:srgbClr val="E4F4FF"/>
                </a:solidFill>
                <a:latin typeface="Noto Sans"/>
                <a:cs typeface="Noto Sans"/>
              </a:rPr>
              <a:t> </a:t>
            </a:r>
            <a:r>
              <a:rPr dirty="0" sz="500" spc="-10">
                <a:solidFill>
                  <a:srgbClr val="E4F4FF"/>
                </a:solidFill>
                <a:latin typeface="Noto Sans"/>
                <a:cs typeface="Noto Sans"/>
              </a:rPr>
              <a:t>resource</a:t>
            </a:r>
            <a:r>
              <a:rPr dirty="0" sz="500" spc="10">
                <a:solidFill>
                  <a:srgbClr val="E4F4FF"/>
                </a:solidFill>
                <a:latin typeface="Noto Sans"/>
                <a:cs typeface="Noto Sans"/>
              </a:rPr>
              <a:t> </a:t>
            </a:r>
            <a:r>
              <a:rPr dirty="0" sz="500">
                <a:solidFill>
                  <a:srgbClr val="E4F4FF"/>
                </a:solidFill>
                <a:latin typeface="Noto Sans"/>
                <a:cs typeface="Noto Sans"/>
              </a:rPr>
              <a:t>list</a:t>
            </a:r>
            <a:r>
              <a:rPr dirty="0" sz="500" spc="15">
                <a:solidFill>
                  <a:srgbClr val="E4F4FF"/>
                </a:solidFill>
                <a:latin typeface="Noto Sans"/>
                <a:cs typeface="Noto Sans"/>
              </a:rPr>
              <a:t> </a:t>
            </a:r>
            <a:r>
              <a:rPr dirty="0" sz="500" spc="-10">
                <a:solidFill>
                  <a:srgbClr val="E4F4FF"/>
                </a:solidFill>
                <a:latin typeface="Noto Sans"/>
                <a:cs typeface="Noto Sans"/>
              </a:rPr>
              <a:t>--resource-group</a:t>
            </a:r>
            <a:r>
              <a:rPr dirty="0" sz="500" spc="10">
                <a:solidFill>
                  <a:srgbClr val="E4F4FF"/>
                </a:solidFill>
                <a:latin typeface="Noto Sans"/>
                <a:cs typeface="Noto Sans"/>
              </a:rPr>
              <a:t> </a:t>
            </a:r>
            <a:r>
              <a:rPr dirty="0" sz="500">
                <a:solidFill>
                  <a:srgbClr val="E4F4FF"/>
                </a:solidFill>
                <a:latin typeface="Noto Sans"/>
                <a:cs typeface="Noto Sans"/>
              </a:rPr>
              <a:t>&lt;RG&gt;</a:t>
            </a:r>
            <a:r>
              <a:rPr dirty="0" sz="500" spc="15">
                <a:solidFill>
                  <a:srgbClr val="E4F4FF"/>
                </a:solidFill>
                <a:latin typeface="Noto Sans"/>
                <a:cs typeface="Noto Sans"/>
              </a:rPr>
              <a:t> </a:t>
            </a:r>
            <a:r>
              <a:rPr dirty="0" sz="500" spc="-10">
                <a:solidFill>
                  <a:srgbClr val="E4F4FF"/>
                </a:solidFill>
                <a:latin typeface="Noto Sans"/>
                <a:cs typeface="Noto Sans"/>
              </a:rPr>
              <a:t>--</a:t>
            </a:r>
            <a:r>
              <a:rPr dirty="0" sz="500">
                <a:solidFill>
                  <a:srgbClr val="E4F4FF"/>
                </a:solidFill>
                <a:latin typeface="Noto Sans"/>
                <a:cs typeface="Noto Sans"/>
              </a:rPr>
              <a:t>output</a:t>
            </a:r>
            <a:r>
              <a:rPr dirty="0" sz="500" spc="10">
                <a:solidFill>
                  <a:srgbClr val="E4F4FF"/>
                </a:solidFill>
                <a:latin typeface="Noto Sans"/>
                <a:cs typeface="Noto Sans"/>
              </a:rPr>
              <a:t> </a:t>
            </a:r>
            <a:r>
              <a:rPr dirty="0" sz="500" spc="-20">
                <a:solidFill>
                  <a:srgbClr val="E4F4FF"/>
                </a:solidFill>
                <a:latin typeface="Noto Sans"/>
                <a:cs typeface="Noto Sans"/>
              </a:rPr>
              <a:t>table</a:t>
            </a:r>
            <a:endParaRPr sz="500">
              <a:latin typeface="Noto Sans"/>
              <a:cs typeface="Noto San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66635" y="6382435"/>
            <a:ext cx="11064240" cy="635"/>
          </a:xfrm>
          <a:custGeom>
            <a:avLst/>
            <a:gdLst/>
            <a:ahLst/>
            <a:cxnLst/>
            <a:rect l="l" t="t" r="r" b="b"/>
            <a:pathLst>
              <a:path w="11064240" h="635">
                <a:moveTo>
                  <a:pt x="0" y="0"/>
                </a:moveTo>
                <a:lnTo>
                  <a:pt x="11064240" y="368"/>
                </a:lnTo>
              </a:path>
            </a:pathLst>
          </a:custGeom>
          <a:ln w="8999">
            <a:solidFill>
              <a:srgbClr val="DBE4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90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 spc="-100"/>
              <a:t>DAY</a:t>
            </a:r>
            <a:r>
              <a:rPr dirty="0" spc="-55"/>
              <a:t> </a:t>
            </a:r>
            <a:r>
              <a:rPr dirty="0"/>
              <a:t>1</a:t>
            </a:r>
            <a:r>
              <a:rPr dirty="0" spc="105"/>
              <a:t> </a:t>
            </a:r>
            <a:r>
              <a:rPr dirty="0"/>
              <a:t>•</a:t>
            </a:r>
            <a:r>
              <a:rPr dirty="0" spc="130"/>
              <a:t> </a:t>
            </a:r>
            <a:r>
              <a:rPr dirty="0" spc="-70"/>
              <a:t>CLOUD</a:t>
            </a:r>
            <a:r>
              <a:rPr dirty="0" spc="-55"/>
              <a:t> </a:t>
            </a:r>
            <a:r>
              <a:rPr dirty="0" spc="-65"/>
              <a:t>FOUNDATIONS</a:t>
            </a:r>
            <a:r>
              <a:rPr dirty="0" spc="-55"/>
              <a:t> </a:t>
            </a:r>
            <a:r>
              <a:rPr dirty="0" spc="-105"/>
              <a:t>&amp;</a:t>
            </a:r>
            <a:r>
              <a:rPr dirty="0" spc="-50"/>
              <a:t> </a:t>
            </a:r>
            <a:r>
              <a:rPr dirty="0" spc="-95"/>
              <a:t>AZURE</a:t>
            </a:r>
            <a:r>
              <a:rPr dirty="0" spc="-55"/>
              <a:t> </a:t>
            </a:r>
            <a:r>
              <a:rPr dirty="0" spc="-50"/>
              <a:t>BASICS</a:t>
            </a:r>
          </a:p>
        </p:txBody>
      </p:sp>
      <p:sp>
        <p:nvSpPr>
          <p:cNvPr id="38" name="object 3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032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160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3935" y="299427"/>
            <a:ext cx="242633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65">
                <a:solidFill>
                  <a:srgbClr val="0077D3"/>
                </a:solidFill>
                <a:latin typeface="Arial Black"/>
                <a:cs typeface="Arial Black"/>
              </a:rPr>
              <a:t>PA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25">
                <a:solidFill>
                  <a:srgbClr val="0077D3"/>
                </a:solidFill>
                <a:latin typeface="Arial Black"/>
                <a:cs typeface="Arial Black"/>
              </a:rPr>
              <a:t>R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>
                <a:solidFill>
                  <a:srgbClr val="0077D3"/>
                </a:solidFill>
                <a:latin typeface="Arial Black"/>
                <a:cs typeface="Arial Black"/>
              </a:rPr>
              <a:t>T</a:t>
            </a:r>
            <a:r>
              <a:rPr dirty="0" sz="1000" spc="-5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>
                <a:solidFill>
                  <a:srgbClr val="0077D3"/>
                </a:solidFill>
                <a:latin typeface="Arial Black"/>
                <a:cs typeface="Arial Black"/>
              </a:rPr>
              <a:t>3</a:t>
            </a:r>
            <a:r>
              <a:rPr dirty="0" sz="1000" spc="13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>
                <a:solidFill>
                  <a:srgbClr val="0077D3"/>
                </a:solidFill>
                <a:latin typeface="Arial Black"/>
                <a:cs typeface="Arial Black"/>
              </a:rPr>
              <a:t>•</a:t>
            </a:r>
            <a:r>
              <a:rPr dirty="0" sz="1000" spc="145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95">
                <a:solidFill>
                  <a:srgbClr val="0077D3"/>
                </a:solidFill>
                <a:latin typeface="Arial Black"/>
                <a:cs typeface="Arial Black"/>
              </a:rPr>
              <a:t>A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60">
                <a:solidFill>
                  <a:srgbClr val="0077D3"/>
                </a:solidFill>
                <a:latin typeface="Arial Black"/>
                <a:cs typeface="Arial Black"/>
              </a:rPr>
              <a:t>Z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90">
                <a:solidFill>
                  <a:srgbClr val="0077D3"/>
                </a:solidFill>
                <a:latin typeface="Arial Black"/>
                <a:cs typeface="Arial Black"/>
              </a:rPr>
              <a:t>U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25">
                <a:solidFill>
                  <a:srgbClr val="0077D3"/>
                </a:solidFill>
                <a:latin typeface="Arial Black"/>
                <a:cs typeface="Arial Black"/>
              </a:rPr>
              <a:t>R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>
                <a:solidFill>
                  <a:srgbClr val="0077D3"/>
                </a:solidFill>
                <a:latin typeface="Arial Black"/>
                <a:cs typeface="Arial Black"/>
              </a:rPr>
              <a:t>E</a:t>
            </a:r>
            <a:r>
              <a:rPr dirty="0" sz="1000" spc="14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50">
                <a:solidFill>
                  <a:srgbClr val="0077D3"/>
                </a:solidFill>
                <a:latin typeface="Arial Black"/>
                <a:cs typeface="Arial Black"/>
              </a:rPr>
              <a:t>O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25">
                <a:solidFill>
                  <a:srgbClr val="0077D3"/>
                </a:solidFill>
                <a:latin typeface="Arial Black"/>
                <a:cs typeface="Arial Black"/>
              </a:rPr>
              <a:t>R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25">
                <a:solidFill>
                  <a:srgbClr val="0077D3"/>
                </a:solidFill>
                <a:latin typeface="Arial Black"/>
                <a:cs typeface="Arial Black"/>
              </a:rPr>
              <a:t>G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95">
                <a:solidFill>
                  <a:srgbClr val="0077D3"/>
                </a:solidFill>
                <a:latin typeface="Arial Black"/>
                <a:cs typeface="Arial Black"/>
              </a:rPr>
              <a:t>A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>
                <a:solidFill>
                  <a:srgbClr val="0077D3"/>
                </a:solidFill>
                <a:latin typeface="Arial Black"/>
                <a:cs typeface="Arial Black"/>
              </a:rPr>
              <a:t>NI</a:t>
            </a:r>
            <a:r>
              <a:rPr dirty="0" sz="1000" spc="-204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60">
                <a:solidFill>
                  <a:srgbClr val="0077D3"/>
                </a:solidFill>
                <a:latin typeface="Arial Black"/>
                <a:cs typeface="Arial Black"/>
              </a:rPr>
              <a:t>Z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00">
                <a:solidFill>
                  <a:srgbClr val="0077D3"/>
                </a:solidFill>
                <a:latin typeface="Arial Black"/>
                <a:cs typeface="Arial Black"/>
              </a:rPr>
              <a:t>AT</a:t>
            </a:r>
            <a:r>
              <a:rPr dirty="0" sz="1000" spc="-204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>
                <a:solidFill>
                  <a:srgbClr val="0077D3"/>
                </a:solidFill>
                <a:latin typeface="Arial Black"/>
                <a:cs typeface="Arial Black"/>
              </a:rPr>
              <a:t>I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50">
                <a:solidFill>
                  <a:srgbClr val="0077D3"/>
                </a:solidFill>
                <a:latin typeface="Arial Black"/>
                <a:cs typeface="Arial Black"/>
              </a:rPr>
              <a:t>O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50">
                <a:solidFill>
                  <a:srgbClr val="0077D3"/>
                </a:solidFill>
                <a:latin typeface="Arial Black"/>
                <a:cs typeface="Arial Black"/>
              </a:rPr>
              <a:t>N</a:t>
            </a:r>
            <a:endParaRPr sz="1000">
              <a:latin typeface="Arial Black"/>
              <a:cs typeface="Arial Black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54304" y="428977"/>
            <a:ext cx="8477885" cy="814705"/>
          </a:xfrm>
          <a:prstGeom prst="rect"/>
        </p:spPr>
        <p:txBody>
          <a:bodyPr wrap="square" lIns="0" tIns="133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0"/>
              </a:spcBef>
            </a:pPr>
            <a:r>
              <a:rPr dirty="0" sz="2700" spc="-200">
                <a:solidFill>
                  <a:srgbClr val="0F2339"/>
                </a:solidFill>
              </a:rPr>
              <a:t>Resource-</a:t>
            </a:r>
            <a:r>
              <a:rPr dirty="0" sz="2700" spc="-35">
                <a:solidFill>
                  <a:srgbClr val="0F2339"/>
                </a:solidFill>
              </a:rPr>
              <a:t>hunt</a:t>
            </a:r>
            <a:r>
              <a:rPr dirty="0" sz="2700" spc="-175">
                <a:solidFill>
                  <a:srgbClr val="0F2339"/>
                </a:solidFill>
              </a:rPr>
              <a:t> </a:t>
            </a:r>
            <a:r>
              <a:rPr dirty="0" sz="2700" spc="-195">
                <a:solidFill>
                  <a:srgbClr val="0F2339"/>
                </a:solidFill>
              </a:rPr>
              <a:t>checklist:</a:t>
            </a:r>
            <a:r>
              <a:rPr dirty="0" sz="2700" spc="-175">
                <a:solidFill>
                  <a:srgbClr val="0F2339"/>
                </a:solidFill>
              </a:rPr>
              <a:t> </a:t>
            </a:r>
            <a:r>
              <a:rPr dirty="0" sz="2700" spc="-150">
                <a:solidFill>
                  <a:srgbClr val="0F2339"/>
                </a:solidFill>
              </a:rPr>
              <a:t>why</a:t>
            </a:r>
            <a:r>
              <a:rPr dirty="0" sz="2700" spc="-170">
                <a:solidFill>
                  <a:srgbClr val="0F2339"/>
                </a:solidFill>
              </a:rPr>
              <a:t> </a:t>
            </a:r>
            <a:r>
              <a:rPr dirty="0" sz="2700" spc="-175">
                <a:solidFill>
                  <a:srgbClr val="0F2339"/>
                </a:solidFill>
              </a:rPr>
              <a:t>can’t</a:t>
            </a:r>
            <a:r>
              <a:rPr dirty="0" sz="2700" spc="-170">
                <a:solidFill>
                  <a:srgbClr val="0F2339"/>
                </a:solidFill>
              </a:rPr>
              <a:t> </a:t>
            </a:r>
            <a:r>
              <a:rPr dirty="0" sz="2700">
                <a:solidFill>
                  <a:srgbClr val="0F2339"/>
                </a:solidFill>
              </a:rPr>
              <a:t>I</a:t>
            </a:r>
            <a:r>
              <a:rPr dirty="0" sz="2700" spc="-175">
                <a:solidFill>
                  <a:srgbClr val="0F2339"/>
                </a:solidFill>
              </a:rPr>
              <a:t> </a:t>
            </a:r>
            <a:r>
              <a:rPr dirty="0" sz="2700" spc="-245">
                <a:solidFill>
                  <a:srgbClr val="0F2339"/>
                </a:solidFill>
              </a:rPr>
              <a:t>see</a:t>
            </a:r>
            <a:r>
              <a:rPr dirty="0" sz="2700" spc="-170">
                <a:solidFill>
                  <a:srgbClr val="0F2339"/>
                </a:solidFill>
              </a:rPr>
              <a:t> </a:t>
            </a:r>
            <a:r>
              <a:rPr dirty="0" sz="2700" spc="-105">
                <a:solidFill>
                  <a:srgbClr val="0F2339"/>
                </a:solidFill>
              </a:rPr>
              <a:t>the</a:t>
            </a:r>
            <a:r>
              <a:rPr dirty="0" sz="2700" spc="-170">
                <a:solidFill>
                  <a:srgbClr val="0F2339"/>
                </a:solidFill>
              </a:rPr>
              <a:t> </a:t>
            </a:r>
            <a:r>
              <a:rPr dirty="0" sz="2700" spc="-280">
                <a:solidFill>
                  <a:srgbClr val="0F2339"/>
                </a:solidFill>
              </a:rPr>
              <a:t>VM?</a:t>
            </a:r>
            <a:endParaRPr sz="2700"/>
          </a:p>
          <a:p>
            <a:pPr marL="30480">
              <a:lnSpc>
                <a:spcPct val="100000"/>
              </a:lnSpc>
              <a:spcBef>
                <a:spcPts val="459"/>
              </a:spcBef>
            </a:pP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Work</a:t>
            </a:r>
            <a:r>
              <a:rPr dirty="0" sz="1300" spc="-4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from</a:t>
            </a:r>
            <a:r>
              <a:rPr dirty="0" sz="1300" spc="-5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broad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scope</a:t>
            </a:r>
            <a:r>
              <a:rPr dirty="0" sz="1300" spc="-4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to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narrow</a:t>
            </a:r>
            <a:r>
              <a:rPr dirty="0" sz="1300" spc="-4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scope;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do</a:t>
            </a:r>
            <a:r>
              <a:rPr dirty="0" sz="1300" spc="-4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not</a:t>
            </a:r>
            <a:r>
              <a:rPr dirty="0" sz="1300" spc="-4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provision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a</a:t>
            </a:r>
            <a:r>
              <a:rPr dirty="0" sz="1300" spc="-4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replacement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until</a:t>
            </a:r>
            <a:r>
              <a:rPr dirty="0" sz="1300" spc="-4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you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verify</a:t>
            </a:r>
            <a:r>
              <a:rPr dirty="0" sz="1300" spc="-4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the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original</a:t>
            </a:r>
            <a:r>
              <a:rPr dirty="0" sz="1300" spc="-4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location.</a:t>
            </a:r>
            <a:endParaRPr sz="1300">
              <a:latin typeface="Noto Sans"/>
              <a:cs typeface="Noto San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66635" y="1417319"/>
            <a:ext cx="11064240" cy="635"/>
          </a:xfrm>
          <a:custGeom>
            <a:avLst/>
            <a:gdLst/>
            <a:ahLst/>
            <a:cxnLst/>
            <a:rect l="l" t="t" r="r" b="b"/>
            <a:pathLst>
              <a:path w="11064240" h="634">
                <a:moveTo>
                  <a:pt x="0" y="0"/>
                </a:moveTo>
                <a:lnTo>
                  <a:pt x="11064240" y="355"/>
                </a:lnTo>
              </a:path>
            </a:pathLst>
          </a:custGeom>
          <a:ln w="10079">
            <a:solidFill>
              <a:srgbClr val="DBE4ED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6" name="object 6"/>
          <p:cNvGrpSpPr/>
          <p:nvPr/>
        </p:nvGrpSpPr>
        <p:grpSpPr>
          <a:xfrm>
            <a:off x="817564" y="1731964"/>
            <a:ext cx="10572115" cy="760730"/>
            <a:chOff x="817564" y="1731964"/>
            <a:chExt cx="10572115" cy="760730"/>
          </a:xfrm>
        </p:grpSpPr>
        <p:sp>
          <p:nvSpPr>
            <p:cNvPr id="7" name="object 7"/>
            <p:cNvSpPr/>
            <p:nvPr/>
          </p:nvSpPr>
          <p:spPr>
            <a:xfrm>
              <a:off x="822604" y="1737004"/>
              <a:ext cx="10561955" cy="750570"/>
            </a:xfrm>
            <a:custGeom>
              <a:avLst/>
              <a:gdLst/>
              <a:ahLst/>
              <a:cxnLst/>
              <a:rect l="l" t="t" r="r" b="b"/>
              <a:pathLst>
                <a:path w="10561955" h="750569">
                  <a:moveTo>
                    <a:pt x="110159" y="0"/>
                  </a:moveTo>
                  <a:lnTo>
                    <a:pt x="68088" y="8352"/>
                  </a:lnTo>
                  <a:lnTo>
                    <a:pt x="32534" y="32213"/>
                  </a:lnTo>
                  <a:lnTo>
                    <a:pt x="8708" y="67882"/>
                  </a:lnTo>
                  <a:lnTo>
                    <a:pt x="355" y="109791"/>
                  </a:lnTo>
                  <a:lnTo>
                    <a:pt x="0" y="640435"/>
                  </a:lnTo>
                  <a:lnTo>
                    <a:pt x="939" y="654865"/>
                  </a:lnTo>
                  <a:lnTo>
                    <a:pt x="14757" y="695515"/>
                  </a:lnTo>
                  <a:lnTo>
                    <a:pt x="22674" y="707228"/>
                  </a:lnTo>
                  <a:lnTo>
                    <a:pt x="22775" y="707378"/>
                  </a:lnTo>
                  <a:lnTo>
                    <a:pt x="55079" y="735469"/>
                  </a:lnTo>
                  <a:lnTo>
                    <a:pt x="95374" y="749300"/>
                  </a:lnTo>
                  <a:lnTo>
                    <a:pt x="109791" y="750239"/>
                  </a:lnTo>
                  <a:lnTo>
                    <a:pt x="10451871" y="750239"/>
                  </a:lnTo>
                  <a:lnTo>
                    <a:pt x="10493942" y="741881"/>
                  </a:lnTo>
                  <a:lnTo>
                    <a:pt x="10529446" y="718059"/>
                  </a:lnTo>
                  <a:lnTo>
                    <a:pt x="10553247" y="682506"/>
                  </a:lnTo>
                  <a:lnTo>
                    <a:pt x="10561675" y="640435"/>
                  </a:lnTo>
                  <a:lnTo>
                    <a:pt x="10561651" y="109791"/>
                  </a:lnTo>
                  <a:lnTo>
                    <a:pt x="10553322" y="68088"/>
                  </a:lnTo>
                  <a:lnTo>
                    <a:pt x="10529452" y="32534"/>
                  </a:lnTo>
                  <a:lnTo>
                    <a:pt x="10493792" y="8708"/>
                  </a:lnTo>
                  <a:lnTo>
                    <a:pt x="10451871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822604" y="1737004"/>
              <a:ext cx="10561955" cy="750570"/>
            </a:xfrm>
            <a:custGeom>
              <a:avLst/>
              <a:gdLst/>
              <a:ahLst/>
              <a:cxnLst/>
              <a:rect l="l" t="t" r="r" b="b"/>
              <a:pathLst>
                <a:path w="10561955" h="750569">
                  <a:moveTo>
                    <a:pt x="355" y="109791"/>
                  </a:moveTo>
                  <a:lnTo>
                    <a:pt x="1295" y="95374"/>
                  </a:lnTo>
                  <a:lnTo>
                    <a:pt x="4090" y="81359"/>
                  </a:lnTo>
                  <a:lnTo>
                    <a:pt x="23133" y="43003"/>
                  </a:lnTo>
                  <a:lnTo>
                    <a:pt x="55079" y="14757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10451871" y="355"/>
                  </a:lnTo>
                  <a:lnTo>
                    <a:pt x="10493792" y="8708"/>
                  </a:lnTo>
                  <a:lnTo>
                    <a:pt x="10529452" y="32534"/>
                  </a:lnTo>
                  <a:lnTo>
                    <a:pt x="10553322" y="68088"/>
                  </a:lnTo>
                  <a:lnTo>
                    <a:pt x="10561675" y="110159"/>
                  </a:lnTo>
                  <a:lnTo>
                    <a:pt x="10561675" y="640435"/>
                  </a:lnTo>
                  <a:lnTo>
                    <a:pt x="10560735" y="654860"/>
                  </a:lnTo>
                  <a:lnTo>
                    <a:pt x="10557940" y="668878"/>
                  </a:lnTo>
                  <a:lnTo>
                    <a:pt x="10538898" y="707228"/>
                  </a:lnTo>
                  <a:lnTo>
                    <a:pt x="10506951" y="735469"/>
                  </a:lnTo>
                  <a:lnTo>
                    <a:pt x="10466301" y="749300"/>
                  </a:lnTo>
                  <a:lnTo>
                    <a:pt x="10451871" y="750239"/>
                  </a:lnTo>
                  <a:lnTo>
                    <a:pt x="109791" y="750239"/>
                  </a:lnTo>
                  <a:lnTo>
                    <a:pt x="67882" y="741881"/>
                  </a:lnTo>
                  <a:lnTo>
                    <a:pt x="32213" y="718059"/>
                  </a:lnTo>
                  <a:lnTo>
                    <a:pt x="8352" y="682506"/>
                  </a:lnTo>
                  <a:lnTo>
                    <a:pt x="0" y="640435"/>
                  </a:lnTo>
                  <a:lnTo>
                    <a:pt x="355" y="109791"/>
                  </a:lnTo>
                  <a:close/>
                </a:path>
              </a:pathLst>
            </a:custGeom>
            <a:ln w="10079">
              <a:solidFill>
                <a:srgbClr val="DBE4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023835" y="1910880"/>
              <a:ext cx="2058035" cy="293370"/>
            </a:xfrm>
            <a:custGeom>
              <a:avLst/>
              <a:gdLst/>
              <a:ahLst/>
              <a:cxnLst/>
              <a:rect l="l" t="t" r="r" b="b"/>
              <a:pathLst>
                <a:path w="2058035" h="293369">
                  <a:moveTo>
                    <a:pt x="110159" y="0"/>
                  </a:moveTo>
                  <a:lnTo>
                    <a:pt x="68095" y="8352"/>
                  </a:lnTo>
                  <a:lnTo>
                    <a:pt x="32535" y="32223"/>
                  </a:lnTo>
                  <a:lnTo>
                    <a:pt x="8721" y="67882"/>
                  </a:lnTo>
                  <a:lnTo>
                    <a:pt x="368" y="109804"/>
                  </a:lnTo>
                  <a:lnTo>
                    <a:pt x="0" y="183235"/>
                  </a:lnTo>
                  <a:lnTo>
                    <a:pt x="939" y="197665"/>
                  </a:lnTo>
                  <a:lnTo>
                    <a:pt x="14770" y="238315"/>
                  </a:lnTo>
                  <a:lnTo>
                    <a:pt x="22686" y="250028"/>
                  </a:lnTo>
                  <a:lnTo>
                    <a:pt x="22788" y="250178"/>
                  </a:lnTo>
                  <a:lnTo>
                    <a:pt x="55079" y="278282"/>
                  </a:lnTo>
                  <a:lnTo>
                    <a:pt x="95379" y="292100"/>
                  </a:lnTo>
                  <a:lnTo>
                    <a:pt x="109804" y="293039"/>
                  </a:lnTo>
                  <a:lnTo>
                    <a:pt x="1947964" y="293039"/>
                  </a:lnTo>
                  <a:lnTo>
                    <a:pt x="1990035" y="284686"/>
                  </a:lnTo>
                  <a:lnTo>
                    <a:pt x="2025537" y="260861"/>
                  </a:lnTo>
                  <a:lnTo>
                    <a:pt x="2049334" y="225306"/>
                  </a:lnTo>
                  <a:lnTo>
                    <a:pt x="2057768" y="183235"/>
                  </a:lnTo>
                  <a:lnTo>
                    <a:pt x="2057745" y="109804"/>
                  </a:lnTo>
                  <a:lnTo>
                    <a:pt x="2049410" y="68088"/>
                  </a:lnTo>
                  <a:lnTo>
                    <a:pt x="2025543" y="32535"/>
                  </a:lnTo>
                  <a:lnTo>
                    <a:pt x="1989885" y="8713"/>
                  </a:lnTo>
                  <a:lnTo>
                    <a:pt x="194796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0EB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023835" y="1910880"/>
              <a:ext cx="2058035" cy="293370"/>
            </a:xfrm>
            <a:custGeom>
              <a:avLst/>
              <a:gdLst/>
              <a:ahLst/>
              <a:cxnLst/>
              <a:rect l="l" t="t" r="r" b="b"/>
              <a:pathLst>
                <a:path w="2058035" h="293369">
                  <a:moveTo>
                    <a:pt x="368" y="109804"/>
                  </a:moveTo>
                  <a:lnTo>
                    <a:pt x="1307" y="95379"/>
                  </a:lnTo>
                  <a:lnTo>
                    <a:pt x="4103" y="81360"/>
                  </a:lnTo>
                  <a:lnTo>
                    <a:pt x="23138" y="43010"/>
                  </a:lnTo>
                  <a:lnTo>
                    <a:pt x="55079" y="14757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1947964" y="355"/>
                  </a:lnTo>
                  <a:lnTo>
                    <a:pt x="1989885" y="8713"/>
                  </a:lnTo>
                  <a:lnTo>
                    <a:pt x="2025543" y="32535"/>
                  </a:lnTo>
                  <a:lnTo>
                    <a:pt x="2049410" y="68088"/>
                  </a:lnTo>
                  <a:lnTo>
                    <a:pt x="2057768" y="110159"/>
                  </a:lnTo>
                  <a:lnTo>
                    <a:pt x="2057768" y="183235"/>
                  </a:lnTo>
                  <a:lnTo>
                    <a:pt x="2056828" y="197660"/>
                  </a:lnTo>
                  <a:lnTo>
                    <a:pt x="2054031" y="211678"/>
                  </a:lnTo>
                  <a:lnTo>
                    <a:pt x="2034985" y="250028"/>
                  </a:lnTo>
                  <a:lnTo>
                    <a:pt x="2003043" y="278282"/>
                  </a:lnTo>
                  <a:lnTo>
                    <a:pt x="1962394" y="292100"/>
                  </a:lnTo>
                  <a:lnTo>
                    <a:pt x="1947964" y="293039"/>
                  </a:lnTo>
                  <a:lnTo>
                    <a:pt x="109804" y="293039"/>
                  </a:lnTo>
                  <a:lnTo>
                    <a:pt x="67882" y="284686"/>
                  </a:lnTo>
                  <a:lnTo>
                    <a:pt x="32224" y="260861"/>
                  </a:lnTo>
                  <a:lnTo>
                    <a:pt x="8358" y="225306"/>
                  </a:lnTo>
                  <a:lnTo>
                    <a:pt x="0" y="183235"/>
                  </a:lnTo>
                  <a:lnTo>
                    <a:pt x="368" y="109804"/>
                  </a:lnTo>
                  <a:close/>
                </a:path>
              </a:pathLst>
            </a:custGeom>
            <a:ln w="10079">
              <a:solidFill>
                <a:srgbClr val="F0EBF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1518373" y="1963699"/>
            <a:ext cx="107061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80">
                <a:solidFill>
                  <a:srgbClr val="5A399D"/>
                </a:solidFill>
                <a:latin typeface="Arial Black"/>
                <a:cs typeface="Arial Black"/>
              </a:rPr>
              <a:t>WRONG</a:t>
            </a:r>
            <a:r>
              <a:rPr dirty="0" sz="1000" spc="-50">
                <a:solidFill>
                  <a:srgbClr val="5A399D"/>
                </a:solidFill>
                <a:latin typeface="Arial Black"/>
                <a:cs typeface="Arial Black"/>
              </a:rPr>
              <a:t> </a:t>
            </a:r>
            <a:r>
              <a:rPr dirty="0" sz="1000" spc="-95">
                <a:solidFill>
                  <a:srgbClr val="5A399D"/>
                </a:solidFill>
                <a:latin typeface="Arial Black"/>
                <a:cs typeface="Arial Black"/>
              </a:rPr>
              <a:t>TENANT</a:t>
            </a:r>
            <a:endParaRPr sz="1000">
              <a:latin typeface="Arial Black"/>
              <a:cs typeface="Arial Black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324859" y="1981339"/>
            <a:ext cx="3832860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Switch</a:t>
            </a:r>
            <a:r>
              <a:rPr dirty="0" sz="1300" spc="-4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directory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and</a:t>
            </a:r>
            <a:r>
              <a:rPr dirty="0" sz="1300" spc="-4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confirm</a:t>
            </a:r>
            <a:r>
              <a:rPr dirty="0" sz="1300" spc="-4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the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identity</a:t>
            </a:r>
            <a:r>
              <a:rPr dirty="0" sz="1300" spc="-4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context.</a:t>
            </a:r>
            <a:endParaRPr sz="1300">
              <a:latin typeface="Noto Sans"/>
              <a:cs typeface="Noto Sans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817564" y="2664716"/>
            <a:ext cx="10572115" cy="760730"/>
            <a:chOff x="817564" y="2664716"/>
            <a:chExt cx="10572115" cy="760730"/>
          </a:xfrm>
        </p:grpSpPr>
        <p:sp>
          <p:nvSpPr>
            <p:cNvPr id="14" name="object 14"/>
            <p:cNvSpPr/>
            <p:nvPr/>
          </p:nvSpPr>
          <p:spPr>
            <a:xfrm>
              <a:off x="822604" y="2669755"/>
              <a:ext cx="10561955" cy="750570"/>
            </a:xfrm>
            <a:custGeom>
              <a:avLst/>
              <a:gdLst/>
              <a:ahLst/>
              <a:cxnLst/>
              <a:rect l="l" t="t" r="r" b="b"/>
              <a:pathLst>
                <a:path w="10561955" h="750570">
                  <a:moveTo>
                    <a:pt x="110159" y="0"/>
                  </a:moveTo>
                  <a:lnTo>
                    <a:pt x="68088" y="8358"/>
                  </a:lnTo>
                  <a:lnTo>
                    <a:pt x="32534" y="32224"/>
                  </a:lnTo>
                  <a:lnTo>
                    <a:pt x="8708" y="67882"/>
                  </a:lnTo>
                  <a:lnTo>
                    <a:pt x="355" y="109804"/>
                  </a:lnTo>
                  <a:lnTo>
                    <a:pt x="0" y="640448"/>
                  </a:lnTo>
                  <a:lnTo>
                    <a:pt x="939" y="654871"/>
                  </a:lnTo>
                  <a:lnTo>
                    <a:pt x="3735" y="668926"/>
                  </a:lnTo>
                  <a:lnTo>
                    <a:pt x="8300" y="682357"/>
                  </a:lnTo>
                  <a:lnTo>
                    <a:pt x="8352" y="682512"/>
                  </a:lnTo>
                  <a:lnTo>
                    <a:pt x="14757" y="695528"/>
                  </a:lnTo>
                  <a:lnTo>
                    <a:pt x="22670" y="707236"/>
                  </a:lnTo>
                  <a:lnTo>
                    <a:pt x="22775" y="707391"/>
                  </a:lnTo>
                  <a:lnTo>
                    <a:pt x="55079" y="735482"/>
                  </a:lnTo>
                  <a:lnTo>
                    <a:pt x="95374" y="749300"/>
                  </a:lnTo>
                  <a:lnTo>
                    <a:pt x="109791" y="750239"/>
                  </a:lnTo>
                  <a:lnTo>
                    <a:pt x="10451871" y="750239"/>
                  </a:lnTo>
                  <a:lnTo>
                    <a:pt x="10493942" y="741886"/>
                  </a:lnTo>
                  <a:lnTo>
                    <a:pt x="10529444" y="718072"/>
                  </a:lnTo>
                  <a:lnTo>
                    <a:pt x="10553245" y="682512"/>
                  </a:lnTo>
                  <a:lnTo>
                    <a:pt x="10561675" y="640448"/>
                  </a:lnTo>
                  <a:lnTo>
                    <a:pt x="10561652" y="109804"/>
                  </a:lnTo>
                  <a:lnTo>
                    <a:pt x="10553322" y="68095"/>
                  </a:lnTo>
                  <a:lnTo>
                    <a:pt x="10529452" y="32535"/>
                  </a:lnTo>
                  <a:lnTo>
                    <a:pt x="10493792" y="8721"/>
                  </a:lnTo>
                  <a:lnTo>
                    <a:pt x="10451871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822604" y="2669755"/>
              <a:ext cx="10561955" cy="750570"/>
            </a:xfrm>
            <a:custGeom>
              <a:avLst/>
              <a:gdLst/>
              <a:ahLst/>
              <a:cxnLst/>
              <a:rect l="l" t="t" r="r" b="b"/>
              <a:pathLst>
                <a:path w="10561955" h="750570">
                  <a:moveTo>
                    <a:pt x="355" y="109804"/>
                  </a:moveTo>
                  <a:lnTo>
                    <a:pt x="1295" y="95379"/>
                  </a:lnTo>
                  <a:lnTo>
                    <a:pt x="4090" y="81360"/>
                  </a:lnTo>
                  <a:lnTo>
                    <a:pt x="23133" y="43011"/>
                  </a:lnTo>
                  <a:lnTo>
                    <a:pt x="55079" y="14770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10451871" y="368"/>
                  </a:lnTo>
                  <a:lnTo>
                    <a:pt x="10493792" y="8721"/>
                  </a:lnTo>
                  <a:lnTo>
                    <a:pt x="10529452" y="32535"/>
                  </a:lnTo>
                  <a:lnTo>
                    <a:pt x="10553322" y="68095"/>
                  </a:lnTo>
                  <a:lnTo>
                    <a:pt x="10561675" y="110159"/>
                  </a:lnTo>
                  <a:lnTo>
                    <a:pt x="10561675" y="640448"/>
                  </a:lnTo>
                  <a:lnTo>
                    <a:pt x="10560735" y="654865"/>
                  </a:lnTo>
                  <a:lnTo>
                    <a:pt x="10557940" y="668880"/>
                  </a:lnTo>
                  <a:lnTo>
                    <a:pt x="10538898" y="707236"/>
                  </a:lnTo>
                  <a:lnTo>
                    <a:pt x="10506951" y="735482"/>
                  </a:lnTo>
                  <a:lnTo>
                    <a:pt x="10466301" y="749300"/>
                  </a:lnTo>
                  <a:lnTo>
                    <a:pt x="10451871" y="750239"/>
                  </a:lnTo>
                  <a:lnTo>
                    <a:pt x="109791" y="750239"/>
                  </a:lnTo>
                  <a:lnTo>
                    <a:pt x="67882" y="741886"/>
                  </a:lnTo>
                  <a:lnTo>
                    <a:pt x="32213" y="718072"/>
                  </a:lnTo>
                  <a:lnTo>
                    <a:pt x="8352" y="682512"/>
                  </a:lnTo>
                  <a:lnTo>
                    <a:pt x="0" y="640448"/>
                  </a:lnTo>
                  <a:lnTo>
                    <a:pt x="355" y="109804"/>
                  </a:lnTo>
                  <a:close/>
                </a:path>
              </a:pathLst>
            </a:custGeom>
            <a:ln w="10079">
              <a:solidFill>
                <a:srgbClr val="DBE4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023835" y="2843276"/>
              <a:ext cx="2058035" cy="293370"/>
            </a:xfrm>
            <a:custGeom>
              <a:avLst/>
              <a:gdLst/>
              <a:ahLst/>
              <a:cxnLst/>
              <a:rect l="l" t="t" r="r" b="b"/>
              <a:pathLst>
                <a:path w="2058035" h="293369">
                  <a:moveTo>
                    <a:pt x="110159" y="0"/>
                  </a:moveTo>
                  <a:lnTo>
                    <a:pt x="68095" y="8358"/>
                  </a:lnTo>
                  <a:lnTo>
                    <a:pt x="32535" y="32224"/>
                  </a:lnTo>
                  <a:lnTo>
                    <a:pt x="8721" y="67882"/>
                  </a:lnTo>
                  <a:lnTo>
                    <a:pt x="368" y="109804"/>
                  </a:lnTo>
                  <a:lnTo>
                    <a:pt x="0" y="183248"/>
                  </a:lnTo>
                  <a:lnTo>
                    <a:pt x="939" y="197671"/>
                  </a:lnTo>
                  <a:lnTo>
                    <a:pt x="14770" y="238328"/>
                  </a:lnTo>
                  <a:lnTo>
                    <a:pt x="22683" y="250036"/>
                  </a:lnTo>
                  <a:lnTo>
                    <a:pt x="22788" y="250191"/>
                  </a:lnTo>
                  <a:lnTo>
                    <a:pt x="55079" y="278282"/>
                  </a:lnTo>
                  <a:lnTo>
                    <a:pt x="95379" y="292100"/>
                  </a:lnTo>
                  <a:lnTo>
                    <a:pt x="109804" y="293039"/>
                  </a:lnTo>
                  <a:lnTo>
                    <a:pt x="1947964" y="293039"/>
                  </a:lnTo>
                  <a:lnTo>
                    <a:pt x="1990035" y="284686"/>
                  </a:lnTo>
                  <a:lnTo>
                    <a:pt x="2025535" y="260872"/>
                  </a:lnTo>
                  <a:lnTo>
                    <a:pt x="2049332" y="225312"/>
                  </a:lnTo>
                  <a:lnTo>
                    <a:pt x="2057768" y="183248"/>
                  </a:lnTo>
                  <a:lnTo>
                    <a:pt x="2057745" y="109804"/>
                  </a:lnTo>
                  <a:lnTo>
                    <a:pt x="2049410" y="68095"/>
                  </a:lnTo>
                  <a:lnTo>
                    <a:pt x="2025543" y="32535"/>
                  </a:lnTo>
                  <a:lnTo>
                    <a:pt x="1989885" y="8721"/>
                  </a:lnTo>
                  <a:lnTo>
                    <a:pt x="1947964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9F3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1023835" y="2843276"/>
              <a:ext cx="2058035" cy="293370"/>
            </a:xfrm>
            <a:custGeom>
              <a:avLst/>
              <a:gdLst/>
              <a:ahLst/>
              <a:cxnLst/>
              <a:rect l="l" t="t" r="r" b="b"/>
              <a:pathLst>
                <a:path w="2058035" h="293369">
                  <a:moveTo>
                    <a:pt x="368" y="109804"/>
                  </a:moveTo>
                  <a:lnTo>
                    <a:pt x="1307" y="95379"/>
                  </a:lnTo>
                  <a:lnTo>
                    <a:pt x="4103" y="81360"/>
                  </a:lnTo>
                  <a:lnTo>
                    <a:pt x="23138" y="43011"/>
                  </a:lnTo>
                  <a:lnTo>
                    <a:pt x="55079" y="14770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1947964" y="368"/>
                  </a:lnTo>
                  <a:lnTo>
                    <a:pt x="1989885" y="8721"/>
                  </a:lnTo>
                  <a:lnTo>
                    <a:pt x="2025543" y="32535"/>
                  </a:lnTo>
                  <a:lnTo>
                    <a:pt x="2049410" y="68095"/>
                  </a:lnTo>
                  <a:lnTo>
                    <a:pt x="2057768" y="110159"/>
                  </a:lnTo>
                  <a:lnTo>
                    <a:pt x="2057768" y="183248"/>
                  </a:lnTo>
                  <a:lnTo>
                    <a:pt x="2056828" y="197665"/>
                  </a:lnTo>
                  <a:lnTo>
                    <a:pt x="2054031" y="211680"/>
                  </a:lnTo>
                  <a:lnTo>
                    <a:pt x="2034985" y="250036"/>
                  </a:lnTo>
                  <a:lnTo>
                    <a:pt x="2003043" y="278282"/>
                  </a:lnTo>
                  <a:lnTo>
                    <a:pt x="1962394" y="292100"/>
                  </a:lnTo>
                  <a:lnTo>
                    <a:pt x="1947964" y="293039"/>
                  </a:lnTo>
                  <a:lnTo>
                    <a:pt x="109804" y="293039"/>
                  </a:lnTo>
                  <a:lnTo>
                    <a:pt x="67882" y="284686"/>
                  </a:lnTo>
                  <a:lnTo>
                    <a:pt x="32224" y="260872"/>
                  </a:lnTo>
                  <a:lnTo>
                    <a:pt x="8358" y="225312"/>
                  </a:lnTo>
                  <a:lnTo>
                    <a:pt x="0" y="183248"/>
                  </a:lnTo>
                  <a:lnTo>
                    <a:pt x="368" y="109804"/>
                  </a:lnTo>
                  <a:close/>
                </a:path>
              </a:pathLst>
            </a:custGeom>
            <a:ln w="10079">
              <a:solidFill>
                <a:srgbClr val="E9F3F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1304175" y="2896463"/>
            <a:ext cx="149923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80">
                <a:solidFill>
                  <a:srgbClr val="0077D3"/>
                </a:solidFill>
                <a:latin typeface="Arial Black"/>
                <a:cs typeface="Arial Black"/>
              </a:rPr>
              <a:t>WRONG</a:t>
            </a:r>
            <a:r>
              <a:rPr dirty="0" sz="1000" spc="-5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95">
                <a:solidFill>
                  <a:srgbClr val="0077D3"/>
                </a:solidFill>
                <a:latin typeface="Arial Black"/>
                <a:cs typeface="Arial Black"/>
              </a:rPr>
              <a:t>SUBSCRIPTION</a:t>
            </a:r>
            <a:endParaRPr sz="1000">
              <a:latin typeface="Arial Black"/>
              <a:cs typeface="Arial Black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324859" y="2914103"/>
            <a:ext cx="5042535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List</a:t>
            </a:r>
            <a:r>
              <a:rPr dirty="0" sz="1300" spc="-1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accessible subscriptions;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verify</a:t>
            </a:r>
            <a:r>
              <a:rPr dirty="0" sz="1300" spc="-1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selected/default subscription.</a:t>
            </a:r>
            <a:endParaRPr sz="1300">
              <a:latin typeface="Noto Sans"/>
              <a:cs typeface="Noto Sans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817564" y="3597480"/>
            <a:ext cx="10572115" cy="760730"/>
            <a:chOff x="817564" y="3597480"/>
            <a:chExt cx="10572115" cy="760730"/>
          </a:xfrm>
        </p:grpSpPr>
        <p:sp>
          <p:nvSpPr>
            <p:cNvPr id="21" name="object 21"/>
            <p:cNvSpPr/>
            <p:nvPr/>
          </p:nvSpPr>
          <p:spPr>
            <a:xfrm>
              <a:off x="822604" y="3602520"/>
              <a:ext cx="10561955" cy="750570"/>
            </a:xfrm>
            <a:custGeom>
              <a:avLst/>
              <a:gdLst/>
              <a:ahLst/>
              <a:cxnLst/>
              <a:rect l="l" t="t" r="r" b="b"/>
              <a:pathLst>
                <a:path w="10561955" h="750570">
                  <a:moveTo>
                    <a:pt x="110159" y="0"/>
                  </a:moveTo>
                  <a:lnTo>
                    <a:pt x="68088" y="8352"/>
                  </a:lnTo>
                  <a:lnTo>
                    <a:pt x="32534" y="32223"/>
                  </a:lnTo>
                  <a:lnTo>
                    <a:pt x="8708" y="67882"/>
                  </a:lnTo>
                  <a:lnTo>
                    <a:pt x="355" y="109804"/>
                  </a:lnTo>
                  <a:lnTo>
                    <a:pt x="0" y="640435"/>
                  </a:lnTo>
                  <a:lnTo>
                    <a:pt x="939" y="654865"/>
                  </a:lnTo>
                  <a:lnTo>
                    <a:pt x="14757" y="695515"/>
                  </a:lnTo>
                  <a:lnTo>
                    <a:pt x="22674" y="707228"/>
                  </a:lnTo>
                  <a:lnTo>
                    <a:pt x="22775" y="707378"/>
                  </a:lnTo>
                  <a:lnTo>
                    <a:pt x="55079" y="735482"/>
                  </a:lnTo>
                  <a:lnTo>
                    <a:pt x="95374" y="749300"/>
                  </a:lnTo>
                  <a:lnTo>
                    <a:pt x="109791" y="750239"/>
                  </a:lnTo>
                  <a:lnTo>
                    <a:pt x="10451871" y="750239"/>
                  </a:lnTo>
                  <a:lnTo>
                    <a:pt x="10493942" y="741886"/>
                  </a:lnTo>
                  <a:lnTo>
                    <a:pt x="10529446" y="718061"/>
                  </a:lnTo>
                  <a:lnTo>
                    <a:pt x="10553247" y="682506"/>
                  </a:lnTo>
                  <a:lnTo>
                    <a:pt x="10561675" y="640435"/>
                  </a:lnTo>
                  <a:lnTo>
                    <a:pt x="10561652" y="109804"/>
                  </a:lnTo>
                  <a:lnTo>
                    <a:pt x="10553322" y="68088"/>
                  </a:lnTo>
                  <a:lnTo>
                    <a:pt x="10529452" y="32535"/>
                  </a:lnTo>
                  <a:lnTo>
                    <a:pt x="10493792" y="8713"/>
                  </a:lnTo>
                  <a:lnTo>
                    <a:pt x="10451871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822604" y="3602520"/>
              <a:ext cx="10561955" cy="750570"/>
            </a:xfrm>
            <a:custGeom>
              <a:avLst/>
              <a:gdLst/>
              <a:ahLst/>
              <a:cxnLst/>
              <a:rect l="l" t="t" r="r" b="b"/>
              <a:pathLst>
                <a:path w="10561955" h="750570">
                  <a:moveTo>
                    <a:pt x="355" y="109804"/>
                  </a:moveTo>
                  <a:lnTo>
                    <a:pt x="1295" y="95379"/>
                  </a:lnTo>
                  <a:lnTo>
                    <a:pt x="4090" y="81360"/>
                  </a:lnTo>
                  <a:lnTo>
                    <a:pt x="23133" y="43010"/>
                  </a:lnTo>
                  <a:lnTo>
                    <a:pt x="55079" y="14757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10451871" y="355"/>
                  </a:lnTo>
                  <a:lnTo>
                    <a:pt x="10493792" y="8713"/>
                  </a:lnTo>
                  <a:lnTo>
                    <a:pt x="10529452" y="32535"/>
                  </a:lnTo>
                  <a:lnTo>
                    <a:pt x="10553322" y="68088"/>
                  </a:lnTo>
                  <a:lnTo>
                    <a:pt x="10561675" y="110159"/>
                  </a:lnTo>
                  <a:lnTo>
                    <a:pt x="10561675" y="640435"/>
                  </a:lnTo>
                  <a:lnTo>
                    <a:pt x="10560735" y="654860"/>
                  </a:lnTo>
                  <a:lnTo>
                    <a:pt x="10557940" y="668878"/>
                  </a:lnTo>
                  <a:lnTo>
                    <a:pt x="10538898" y="707228"/>
                  </a:lnTo>
                  <a:lnTo>
                    <a:pt x="10506951" y="735482"/>
                  </a:lnTo>
                  <a:lnTo>
                    <a:pt x="10466301" y="749300"/>
                  </a:lnTo>
                  <a:lnTo>
                    <a:pt x="10451871" y="750239"/>
                  </a:lnTo>
                  <a:lnTo>
                    <a:pt x="109791" y="750239"/>
                  </a:lnTo>
                  <a:lnTo>
                    <a:pt x="67882" y="741886"/>
                  </a:lnTo>
                  <a:lnTo>
                    <a:pt x="32213" y="718061"/>
                  </a:lnTo>
                  <a:lnTo>
                    <a:pt x="8352" y="682506"/>
                  </a:lnTo>
                  <a:lnTo>
                    <a:pt x="0" y="640435"/>
                  </a:lnTo>
                  <a:lnTo>
                    <a:pt x="355" y="109804"/>
                  </a:lnTo>
                  <a:close/>
                </a:path>
              </a:pathLst>
            </a:custGeom>
            <a:ln w="10079">
              <a:solidFill>
                <a:srgbClr val="DBE4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1023835" y="3776040"/>
              <a:ext cx="2058035" cy="293370"/>
            </a:xfrm>
            <a:custGeom>
              <a:avLst/>
              <a:gdLst/>
              <a:ahLst/>
              <a:cxnLst/>
              <a:rect l="l" t="t" r="r" b="b"/>
              <a:pathLst>
                <a:path w="2058035" h="293370">
                  <a:moveTo>
                    <a:pt x="110159" y="0"/>
                  </a:moveTo>
                  <a:lnTo>
                    <a:pt x="68095" y="8352"/>
                  </a:lnTo>
                  <a:lnTo>
                    <a:pt x="32535" y="32223"/>
                  </a:lnTo>
                  <a:lnTo>
                    <a:pt x="8721" y="67882"/>
                  </a:lnTo>
                  <a:lnTo>
                    <a:pt x="368" y="109804"/>
                  </a:lnTo>
                  <a:lnTo>
                    <a:pt x="0" y="183235"/>
                  </a:lnTo>
                  <a:lnTo>
                    <a:pt x="939" y="197665"/>
                  </a:lnTo>
                  <a:lnTo>
                    <a:pt x="3736" y="211723"/>
                  </a:lnTo>
                  <a:lnTo>
                    <a:pt x="8307" y="225156"/>
                  </a:lnTo>
                  <a:lnTo>
                    <a:pt x="8358" y="225306"/>
                  </a:lnTo>
                  <a:lnTo>
                    <a:pt x="32224" y="260861"/>
                  </a:lnTo>
                  <a:lnTo>
                    <a:pt x="67882" y="284686"/>
                  </a:lnTo>
                  <a:lnTo>
                    <a:pt x="109804" y="293039"/>
                  </a:lnTo>
                  <a:lnTo>
                    <a:pt x="1947964" y="293039"/>
                  </a:lnTo>
                  <a:lnTo>
                    <a:pt x="1990035" y="284686"/>
                  </a:lnTo>
                  <a:lnTo>
                    <a:pt x="2025537" y="260861"/>
                  </a:lnTo>
                  <a:lnTo>
                    <a:pt x="2049334" y="225306"/>
                  </a:lnTo>
                  <a:lnTo>
                    <a:pt x="2049410" y="225156"/>
                  </a:lnTo>
                  <a:lnTo>
                    <a:pt x="2054016" y="211723"/>
                  </a:lnTo>
                  <a:lnTo>
                    <a:pt x="2056827" y="197665"/>
                  </a:lnTo>
                  <a:lnTo>
                    <a:pt x="2057768" y="183235"/>
                  </a:lnTo>
                  <a:lnTo>
                    <a:pt x="2057745" y="109804"/>
                  </a:lnTo>
                  <a:lnTo>
                    <a:pt x="2049410" y="68088"/>
                  </a:lnTo>
                  <a:lnTo>
                    <a:pt x="2025543" y="32535"/>
                  </a:lnTo>
                  <a:lnTo>
                    <a:pt x="1989885" y="8713"/>
                  </a:lnTo>
                  <a:lnTo>
                    <a:pt x="194796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6F7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1023835" y="3776040"/>
              <a:ext cx="2058035" cy="293370"/>
            </a:xfrm>
            <a:custGeom>
              <a:avLst/>
              <a:gdLst/>
              <a:ahLst/>
              <a:cxnLst/>
              <a:rect l="l" t="t" r="r" b="b"/>
              <a:pathLst>
                <a:path w="2058035" h="293370">
                  <a:moveTo>
                    <a:pt x="368" y="109804"/>
                  </a:moveTo>
                  <a:lnTo>
                    <a:pt x="1307" y="95379"/>
                  </a:lnTo>
                  <a:lnTo>
                    <a:pt x="4103" y="81360"/>
                  </a:lnTo>
                  <a:lnTo>
                    <a:pt x="23138" y="43010"/>
                  </a:lnTo>
                  <a:lnTo>
                    <a:pt x="55079" y="14757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1947964" y="355"/>
                  </a:lnTo>
                  <a:lnTo>
                    <a:pt x="1989885" y="8713"/>
                  </a:lnTo>
                  <a:lnTo>
                    <a:pt x="2025543" y="32535"/>
                  </a:lnTo>
                  <a:lnTo>
                    <a:pt x="2049410" y="68088"/>
                  </a:lnTo>
                  <a:lnTo>
                    <a:pt x="2057768" y="110159"/>
                  </a:lnTo>
                  <a:lnTo>
                    <a:pt x="2057768" y="183235"/>
                  </a:lnTo>
                  <a:lnTo>
                    <a:pt x="2056828" y="197660"/>
                  </a:lnTo>
                  <a:lnTo>
                    <a:pt x="2054031" y="211678"/>
                  </a:lnTo>
                  <a:lnTo>
                    <a:pt x="2034985" y="250028"/>
                  </a:lnTo>
                  <a:lnTo>
                    <a:pt x="2003043" y="278282"/>
                  </a:lnTo>
                  <a:lnTo>
                    <a:pt x="1962394" y="292100"/>
                  </a:lnTo>
                  <a:lnTo>
                    <a:pt x="1947964" y="293039"/>
                  </a:lnTo>
                  <a:lnTo>
                    <a:pt x="109804" y="293039"/>
                  </a:lnTo>
                  <a:lnTo>
                    <a:pt x="67882" y="284686"/>
                  </a:lnTo>
                  <a:lnTo>
                    <a:pt x="32224" y="260861"/>
                  </a:lnTo>
                  <a:lnTo>
                    <a:pt x="8358" y="225306"/>
                  </a:lnTo>
                  <a:lnTo>
                    <a:pt x="0" y="183235"/>
                  </a:lnTo>
                  <a:lnTo>
                    <a:pt x="368" y="109804"/>
                  </a:lnTo>
                  <a:close/>
                </a:path>
              </a:pathLst>
            </a:custGeom>
            <a:ln w="10079">
              <a:solidFill>
                <a:srgbClr val="E6F7F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1246225" y="3781704"/>
            <a:ext cx="1615440" cy="287020"/>
          </a:xfrm>
          <a:prstGeom prst="rect">
            <a:avLst/>
          </a:prstGeom>
        </p:spPr>
        <p:txBody>
          <a:bodyPr wrap="square" lIns="0" tIns="27305" rIns="0" bIns="0" rtlCol="0" vert="horz">
            <a:spAutoFit/>
          </a:bodyPr>
          <a:lstStyle/>
          <a:p>
            <a:pPr marL="587375" marR="5080" indent="-575310">
              <a:lnSpc>
                <a:spcPts val="980"/>
              </a:lnSpc>
              <a:spcBef>
                <a:spcPts val="215"/>
              </a:spcBef>
            </a:pPr>
            <a:r>
              <a:rPr dirty="0" sz="900" spc="-70">
                <a:solidFill>
                  <a:srgbClr val="0C9387"/>
                </a:solidFill>
                <a:latin typeface="Arial Black"/>
                <a:cs typeface="Arial Black"/>
              </a:rPr>
              <a:t>WRONG</a:t>
            </a:r>
            <a:r>
              <a:rPr dirty="0" sz="900" spc="-25">
                <a:solidFill>
                  <a:srgbClr val="0C9387"/>
                </a:solidFill>
                <a:latin typeface="Arial Black"/>
                <a:cs typeface="Arial Black"/>
              </a:rPr>
              <a:t> </a:t>
            </a:r>
            <a:r>
              <a:rPr dirty="0" sz="900" spc="-120">
                <a:solidFill>
                  <a:srgbClr val="0C9387"/>
                </a:solidFill>
                <a:latin typeface="Arial Black"/>
                <a:cs typeface="Arial Black"/>
              </a:rPr>
              <a:t>RESOURCE</a:t>
            </a:r>
            <a:r>
              <a:rPr dirty="0" sz="900" spc="-25">
                <a:solidFill>
                  <a:srgbClr val="0C9387"/>
                </a:solidFill>
                <a:latin typeface="Arial Black"/>
                <a:cs typeface="Arial Black"/>
              </a:rPr>
              <a:t> </a:t>
            </a:r>
            <a:r>
              <a:rPr dirty="0" sz="900" spc="-90">
                <a:solidFill>
                  <a:srgbClr val="0C9387"/>
                </a:solidFill>
                <a:latin typeface="Arial Black"/>
                <a:cs typeface="Arial Black"/>
              </a:rPr>
              <a:t>GROUP</a:t>
            </a:r>
            <a:r>
              <a:rPr dirty="0" sz="900" spc="-25">
                <a:solidFill>
                  <a:srgbClr val="0C9387"/>
                </a:solidFill>
                <a:latin typeface="Arial Black"/>
                <a:cs typeface="Arial Black"/>
              </a:rPr>
              <a:t> </a:t>
            </a:r>
            <a:r>
              <a:rPr dirty="0" sz="900" spc="70">
                <a:solidFill>
                  <a:srgbClr val="0C9387"/>
                </a:solidFill>
                <a:latin typeface="Arial Black"/>
                <a:cs typeface="Arial Black"/>
              </a:rPr>
              <a:t>/ </a:t>
            </a:r>
            <a:r>
              <a:rPr dirty="0" sz="900" spc="-10">
                <a:solidFill>
                  <a:srgbClr val="0C9387"/>
                </a:solidFill>
                <a:latin typeface="Arial Black"/>
                <a:cs typeface="Arial Black"/>
              </a:rPr>
              <a:t>FILTERS</a:t>
            </a:r>
            <a:endParaRPr sz="900">
              <a:latin typeface="Arial Black"/>
              <a:cs typeface="Arial Black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324859" y="3846855"/>
            <a:ext cx="4780280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Clear</a:t>
            </a:r>
            <a:r>
              <a:rPr dirty="0" sz="1300" spc="-6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filters,</a:t>
            </a:r>
            <a:r>
              <a:rPr dirty="0" sz="1300" spc="-5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check</a:t>
            </a:r>
            <a:r>
              <a:rPr dirty="0" sz="1300" spc="-6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resource</a:t>
            </a:r>
            <a:r>
              <a:rPr dirty="0" sz="1300" spc="-5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groups</a:t>
            </a:r>
            <a:r>
              <a:rPr dirty="0" sz="1300" spc="-5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and</a:t>
            </a:r>
            <a:r>
              <a:rPr dirty="0" sz="1300" spc="-6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exact</a:t>
            </a:r>
            <a:r>
              <a:rPr dirty="0" sz="1300" spc="-5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resource</a:t>
            </a:r>
            <a:r>
              <a:rPr dirty="0" sz="1300" spc="-5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name.</a:t>
            </a:r>
            <a:endParaRPr sz="1300">
              <a:latin typeface="Noto Sans"/>
              <a:cs typeface="Noto Sans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817564" y="4529876"/>
            <a:ext cx="10572115" cy="760730"/>
            <a:chOff x="817564" y="4529876"/>
            <a:chExt cx="10572115" cy="760730"/>
          </a:xfrm>
        </p:grpSpPr>
        <p:sp>
          <p:nvSpPr>
            <p:cNvPr id="28" name="object 28"/>
            <p:cNvSpPr/>
            <p:nvPr/>
          </p:nvSpPr>
          <p:spPr>
            <a:xfrm>
              <a:off x="822604" y="4534916"/>
              <a:ext cx="10561955" cy="750570"/>
            </a:xfrm>
            <a:custGeom>
              <a:avLst/>
              <a:gdLst/>
              <a:ahLst/>
              <a:cxnLst/>
              <a:rect l="l" t="t" r="r" b="b"/>
              <a:pathLst>
                <a:path w="10561955" h="750570">
                  <a:moveTo>
                    <a:pt x="110159" y="0"/>
                  </a:moveTo>
                  <a:lnTo>
                    <a:pt x="68088" y="8358"/>
                  </a:lnTo>
                  <a:lnTo>
                    <a:pt x="32534" y="32224"/>
                  </a:lnTo>
                  <a:lnTo>
                    <a:pt x="8708" y="67882"/>
                  </a:lnTo>
                  <a:lnTo>
                    <a:pt x="355" y="109804"/>
                  </a:lnTo>
                  <a:lnTo>
                    <a:pt x="0" y="640448"/>
                  </a:lnTo>
                  <a:lnTo>
                    <a:pt x="939" y="654871"/>
                  </a:lnTo>
                  <a:lnTo>
                    <a:pt x="3735" y="668926"/>
                  </a:lnTo>
                  <a:lnTo>
                    <a:pt x="8300" y="682357"/>
                  </a:lnTo>
                  <a:lnTo>
                    <a:pt x="8352" y="682512"/>
                  </a:lnTo>
                  <a:lnTo>
                    <a:pt x="14757" y="695528"/>
                  </a:lnTo>
                  <a:lnTo>
                    <a:pt x="22670" y="707236"/>
                  </a:lnTo>
                  <a:lnTo>
                    <a:pt x="22775" y="707391"/>
                  </a:lnTo>
                  <a:lnTo>
                    <a:pt x="55079" y="735482"/>
                  </a:lnTo>
                  <a:lnTo>
                    <a:pt x="95374" y="749300"/>
                  </a:lnTo>
                  <a:lnTo>
                    <a:pt x="109791" y="750239"/>
                  </a:lnTo>
                  <a:lnTo>
                    <a:pt x="10451871" y="750239"/>
                  </a:lnTo>
                  <a:lnTo>
                    <a:pt x="10493942" y="741886"/>
                  </a:lnTo>
                  <a:lnTo>
                    <a:pt x="10529444" y="718072"/>
                  </a:lnTo>
                  <a:lnTo>
                    <a:pt x="10553245" y="682512"/>
                  </a:lnTo>
                  <a:lnTo>
                    <a:pt x="10561675" y="640448"/>
                  </a:lnTo>
                  <a:lnTo>
                    <a:pt x="10561652" y="109804"/>
                  </a:lnTo>
                  <a:lnTo>
                    <a:pt x="10553322" y="68095"/>
                  </a:lnTo>
                  <a:lnTo>
                    <a:pt x="10529452" y="32535"/>
                  </a:lnTo>
                  <a:lnTo>
                    <a:pt x="10493792" y="8721"/>
                  </a:lnTo>
                  <a:lnTo>
                    <a:pt x="10451871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822604" y="4534916"/>
              <a:ext cx="10561955" cy="750570"/>
            </a:xfrm>
            <a:custGeom>
              <a:avLst/>
              <a:gdLst/>
              <a:ahLst/>
              <a:cxnLst/>
              <a:rect l="l" t="t" r="r" b="b"/>
              <a:pathLst>
                <a:path w="10561955" h="750570">
                  <a:moveTo>
                    <a:pt x="355" y="109804"/>
                  </a:moveTo>
                  <a:lnTo>
                    <a:pt x="1295" y="95379"/>
                  </a:lnTo>
                  <a:lnTo>
                    <a:pt x="4090" y="81360"/>
                  </a:lnTo>
                  <a:lnTo>
                    <a:pt x="23133" y="43011"/>
                  </a:lnTo>
                  <a:lnTo>
                    <a:pt x="55079" y="14770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10451871" y="368"/>
                  </a:lnTo>
                  <a:lnTo>
                    <a:pt x="10493792" y="8721"/>
                  </a:lnTo>
                  <a:lnTo>
                    <a:pt x="10529452" y="32535"/>
                  </a:lnTo>
                  <a:lnTo>
                    <a:pt x="10553322" y="68095"/>
                  </a:lnTo>
                  <a:lnTo>
                    <a:pt x="10561675" y="110159"/>
                  </a:lnTo>
                  <a:lnTo>
                    <a:pt x="10561675" y="640448"/>
                  </a:lnTo>
                  <a:lnTo>
                    <a:pt x="10560735" y="654865"/>
                  </a:lnTo>
                  <a:lnTo>
                    <a:pt x="10557940" y="668880"/>
                  </a:lnTo>
                  <a:lnTo>
                    <a:pt x="10538898" y="707236"/>
                  </a:lnTo>
                  <a:lnTo>
                    <a:pt x="10506951" y="735482"/>
                  </a:lnTo>
                  <a:lnTo>
                    <a:pt x="10466301" y="749300"/>
                  </a:lnTo>
                  <a:lnTo>
                    <a:pt x="10451871" y="750239"/>
                  </a:lnTo>
                  <a:lnTo>
                    <a:pt x="109791" y="750239"/>
                  </a:lnTo>
                  <a:lnTo>
                    <a:pt x="67882" y="741886"/>
                  </a:lnTo>
                  <a:lnTo>
                    <a:pt x="32213" y="718072"/>
                  </a:lnTo>
                  <a:lnTo>
                    <a:pt x="8352" y="682512"/>
                  </a:lnTo>
                  <a:lnTo>
                    <a:pt x="0" y="640448"/>
                  </a:lnTo>
                  <a:lnTo>
                    <a:pt x="355" y="109804"/>
                  </a:lnTo>
                  <a:close/>
                </a:path>
              </a:pathLst>
            </a:custGeom>
            <a:ln w="10079">
              <a:solidFill>
                <a:srgbClr val="DBE4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1023835" y="4708804"/>
              <a:ext cx="2058035" cy="293370"/>
            </a:xfrm>
            <a:custGeom>
              <a:avLst/>
              <a:gdLst/>
              <a:ahLst/>
              <a:cxnLst/>
              <a:rect l="l" t="t" r="r" b="b"/>
              <a:pathLst>
                <a:path w="2058035" h="293370">
                  <a:moveTo>
                    <a:pt x="110159" y="0"/>
                  </a:moveTo>
                  <a:lnTo>
                    <a:pt x="68095" y="8352"/>
                  </a:lnTo>
                  <a:lnTo>
                    <a:pt x="32535" y="32213"/>
                  </a:lnTo>
                  <a:lnTo>
                    <a:pt x="8721" y="67882"/>
                  </a:lnTo>
                  <a:lnTo>
                    <a:pt x="368" y="109791"/>
                  </a:lnTo>
                  <a:lnTo>
                    <a:pt x="0" y="183235"/>
                  </a:lnTo>
                  <a:lnTo>
                    <a:pt x="939" y="197665"/>
                  </a:lnTo>
                  <a:lnTo>
                    <a:pt x="3736" y="211723"/>
                  </a:lnTo>
                  <a:lnTo>
                    <a:pt x="8307" y="225156"/>
                  </a:lnTo>
                  <a:lnTo>
                    <a:pt x="8358" y="225306"/>
                  </a:lnTo>
                  <a:lnTo>
                    <a:pt x="32224" y="260859"/>
                  </a:lnTo>
                  <a:lnTo>
                    <a:pt x="67882" y="284681"/>
                  </a:lnTo>
                  <a:lnTo>
                    <a:pt x="109804" y="293039"/>
                  </a:lnTo>
                  <a:lnTo>
                    <a:pt x="1947964" y="293039"/>
                  </a:lnTo>
                  <a:lnTo>
                    <a:pt x="1990035" y="284681"/>
                  </a:lnTo>
                  <a:lnTo>
                    <a:pt x="2025537" y="260859"/>
                  </a:lnTo>
                  <a:lnTo>
                    <a:pt x="2049334" y="225306"/>
                  </a:lnTo>
                  <a:lnTo>
                    <a:pt x="2049410" y="225156"/>
                  </a:lnTo>
                  <a:lnTo>
                    <a:pt x="2054016" y="211723"/>
                  </a:lnTo>
                  <a:lnTo>
                    <a:pt x="2056827" y="197665"/>
                  </a:lnTo>
                  <a:lnTo>
                    <a:pt x="2057768" y="183235"/>
                  </a:lnTo>
                  <a:lnTo>
                    <a:pt x="2057744" y="109791"/>
                  </a:lnTo>
                  <a:lnTo>
                    <a:pt x="2049410" y="68088"/>
                  </a:lnTo>
                  <a:lnTo>
                    <a:pt x="2025543" y="32534"/>
                  </a:lnTo>
                  <a:lnTo>
                    <a:pt x="1989885" y="8708"/>
                  </a:lnTo>
                  <a:lnTo>
                    <a:pt x="194796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FF4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1023835" y="4708804"/>
              <a:ext cx="2058035" cy="293370"/>
            </a:xfrm>
            <a:custGeom>
              <a:avLst/>
              <a:gdLst/>
              <a:ahLst/>
              <a:cxnLst/>
              <a:rect l="l" t="t" r="r" b="b"/>
              <a:pathLst>
                <a:path w="2058035" h="293370">
                  <a:moveTo>
                    <a:pt x="368" y="109791"/>
                  </a:moveTo>
                  <a:lnTo>
                    <a:pt x="1307" y="95374"/>
                  </a:lnTo>
                  <a:lnTo>
                    <a:pt x="4103" y="81359"/>
                  </a:lnTo>
                  <a:lnTo>
                    <a:pt x="23138" y="43003"/>
                  </a:lnTo>
                  <a:lnTo>
                    <a:pt x="55079" y="14757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1947964" y="355"/>
                  </a:lnTo>
                  <a:lnTo>
                    <a:pt x="1989885" y="8708"/>
                  </a:lnTo>
                  <a:lnTo>
                    <a:pt x="2025543" y="32534"/>
                  </a:lnTo>
                  <a:lnTo>
                    <a:pt x="2049410" y="68088"/>
                  </a:lnTo>
                  <a:lnTo>
                    <a:pt x="2057768" y="110159"/>
                  </a:lnTo>
                  <a:lnTo>
                    <a:pt x="2057768" y="183235"/>
                  </a:lnTo>
                  <a:lnTo>
                    <a:pt x="2056828" y="197660"/>
                  </a:lnTo>
                  <a:lnTo>
                    <a:pt x="2054031" y="211678"/>
                  </a:lnTo>
                  <a:lnTo>
                    <a:pt x="2034985" y="250028"/>
                  </a:lnTo>
                  <a:lnTo>
                    <a:pt x="2003043" y="278269"/>
                  </a:lnTo>
                  <a:lnTo>
                    <a:pt x="1962394" y="292100"/>
                  </a:lnTo>
                  <a:lnTo>
                    <a:pt x="1947964" y="293039"/>
                  </a:lnTo>
                  <a:lnTo>
                    <a:pt x="109804" y="293039"/>
                  </a:lnTo>
                  <a:lnTo>
                    <a:pt x="67882" y="284681"/>
                  </a:lnTo>
                  <a:lnTo>
                    <a:pt x="32224" y="260859"/>
                  </a:lnTo>
                  <a:lnTo>
                    <a:pt x="8358" y="225306"/>
                  </a:lnTo>
                  <a:lnTo>
                    <a:pt x="0" y="183235"/>
                  </a:lnTo>
                  <a:lnTo>
                    <a:pt x="368" y="109791"/>
                  </a:lnTo>
                  <a:close/>
                </a:path>
              </a:pathLst>
            </a:custGeom>
            <a:ln w="10079">
              <a:solidFill>
                <a:srgbClr val="FFF4D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1142898" y="4776380"/>
            <a:ext cx="1821814" cy="163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70">
                <a:solidFill>
                  <a:srgbClr val="F49D0A"/>
                </a:solidFill>
                <a:latin typeface="Arial Black"/>
                <a:cs typeface="Arial Black"/>
              </a:rPr>
              <a:t>WRONG</a:t>
            </a:r>
            <a:r>
              <a:rPr dirty="0" sz="900" spc="-40">
                <a:solidFill>
                  <a:srgbClr val="F49D0A"/>
                </a:solidFill>
                <a:latin typeface="Arial Black"/>
                <a:cs typeface="Arial Black"/>
              </a:rPr>
              <a:t> </a:t>
            </a:r>
            <a:r>
              <a:rPr dirty="0" sz="900" spc="-80">
                <a:solidFill>
                  <a:srgbClr val="F49D0A"/>
                </a:solidFill>
                <a:latin typeface="Arial Black"/>
                <a:cs typeface="Arial Black"/>
              </a:rPr>
              <a:t>REGION</a:t>
            </a:r>
            <a:r>
              <a:rPr dirty="0" sz="900" spc="-35">
                <a:solidFill>
                  <a:srgbClr val="F49D0A"/>
                </a:solidFill>
                <a:latin typeface="Arial Black"/>
                <a:cs typeface="Arial Black"/>
              </a:rPr>
              <a:t> </a:t>
            </a:r>
            <a:r>
              <a:rPr dirty="0" sz="900" spc="-80">
                <a:solidFill>
                  <a:srgbClr val="F49D0A"/>
                </a:solidFill>
                <a:latin typeface="Arial Black"/>
                <a:cs typeface="Arial Black"/>
              </a:rPr>
              <a:t>OR</a:t>
            </a:r>
            <a:r>
              <a:rPr dirty="0" sz="900" spc="-40">
                <a:solidFill>
                  <a:srgbClr val="F49D0A"/>
                </a:solidFill>
                <a:latin typeface="Arial Black"/>
                <a:cs typeface="Arial Black"/>
              </a:rPr>
              <a:t> </a:t>
            </a:r>
            <a:r>
              <a:rPr dirty="0" sz="900" spc="-95">
                <a:solidFill>
                  <a:srgbClr val="F49D0A"/>
                </a:solidFill>
                <a:latin typeface="Arial Black"/>
                <a:cs typeface="Arial Black"/>
              </a:rPr>
              <a:t>ZONE</a:t>
            </a:r>
            <a:r>
              <a:rPr dirty="0" sz="900" spc="-35">
                <a:solidFill>
                  <a:srgbClr val="F49D0A"/>
                </a:solidFill>
                <a:latin typeface="Arial Black"/>
                <a:cs typeface="Arial Black"/>
              </a:rPr>
              <a:t> </a:t>
            </a:r>
            <a:r>
              <a:rPr dirty="0" sz="900" spc="-40">
                <a:solidFill>
                  <a:srgbClr val="F49D0A"/>
                </a:solidFill>
                <a:latin typeface="Arial Black"/>
                <a:cs typeface="Arial Black"/>
              </a:rPr>
              <a:t>VIEW</a:t>
            </a:r>
            <a:endParaRPr sz="900">
              <a:latin typeface="Arial Black"/>
              <a:cs typeface="Arial Black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324859" y="4779619"/>
            <a:ext cx="4674870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Check</a:t>
            </a:r>
            <a:r>
              <a:rPr dirty="0" sz="130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the</a:t>
            </a:r>
            <a:r>
              <a:rPr dirty="0" sz="130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service’s</a:t>
            </a:r>
            <a:r>
              <a:rPr dirty="0" sz="1300" spc="-2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region,</a:t>
            </a:r>
            <a:r>
              <a:rPr dirty="0" sz="130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zone</a:t>
            </a:r>
            <a:r>
              <a:rPr dirty="0" sz="130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and</a:t>
            </a:r>
            <a:r>
              <a:rPr dirty="0" sz="1300" spc="-25">
                <a:solidFill>
                  <a:srgbClr val="556478"/>
                </a:solidFill>
                <a:latin typeface="Noto Sans"/>
                <a:cs typeface="Noto Sans"/>
              </a:rPr>
              <a:t> resource-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specific</a:t>
            </a:r>
            <a:r>
              <a:rPr dirty="0" sz="130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blade.</a:t>
            </a:r>
            <a:endParaRPr sz="1300">
              <a:latin typeface="Noto Sans"/>
              <a:cs typeface="Noto Sans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1274396" y="5709604"/>
            <a:ext cx="9429115" cy="449580"/>
            <a:chOff x="1274396" y="5709604"/>
            <a:chExt cx="9429115" cy="449580"/>
          </a:xfrm>
        </p:grpSpPr>
        <p:sp>
          <p:nvSpPr>
            <p:cNvPr id="35" name="object 35"/>
            <p:cNvSpPr/>
            <p:nvPr/>
          </p:nvSpPr>
          <p:spPr>
            <a:xfrm>
              <a:off x="1279436" y="5714644"/>
              <a:ext cx="9418955" cy="439420"/>
            </a:xfrm>
            <a:custGeom>
              <a:avLst/>
              <a:gdLst/>
              <a:ahLst/>
              <a:cxnLst/>
              <a:rect l="l" t="t" r="r" b="b"/>
              <a:pathLst>
                <a:path w="9418955" h="439420">
                  <a:moveTo>
                    <a:pt x="110159" y="0"/>
                  </a:moveTo>
                  <a:lnTo>
                    <a:pt x="68095" y="8352"/>
                  </a:lnTo>
                  <a:lnTo>
                    <a:pt x="32535" y="32213"/>
                  </a:lnTo>
                  <a:lnTo>
                    <a:pt x="8721" y="67932"/>
                  </a:lnTo>
                  <a:lnTo>
                    <a:pt x="368" y="109791"/>
                  </a:lnTo>
                  <a:lnTo>
                    <a:pt x="0" y="329399"/>
                  </a:lnTo>
                  <a:lnTo>
                    <a:pt x="929" y="343667"/>
                  </a:lnTo>
                  <a:lnTo>
                    <a:pt x="939" y="343822"/>
                  </a:lnTo>
                  <a:lnTo>
                    <a:pt x="3701" y="357698"/>
                  </a:lnTo>
                  <a:lnTo>
                    <a:pt x="3736" y="357878"/>
                  </a:lnTo>
                  <a:lnTo>
                    <a:pt x="8288" y="371258"/>
                  </a:lnTo>
                  <a:lnTo>
                    <a:pt x="8358" y="371464"/>
                  </a:lnTo>
                  <a:lnTo>
                    <a:pt x="14770" y="384479"/>
                  </a:lnTo>
                  <a:lnTo>
                    <a:pt x="22683" y="396187"/>
                  </a:lnTo>
                  <a:lnTo>
                    <a:pt x="22788" y="396342"/>
                  </a:lnTo>
                  <a:lnTo>
                    <a:pt x="55079" y="424434"/>
                  </a:lnTo>
                  <a:lnTo>
                    <a:pt x="95534" y="438251"/>
                  </a:lnTo>
                  <a:lnTo>
                    <a:pt x="109804" y="439191"/>
                  </a:lnTo>
                  <a:lnTo>
                    <a:pt x="9308884" y="439191"/>
                  </a:lnTo>
                  <a:lnTo>
                    <a:pt x="9350955" y="430838"/>
                  </a:lnTo>
                  <a:lnTo>
                    <a:pt x="9386455" y="407023"/>
                  </a:lnTo>
                  <a:lnTo>
                    <a:pt x="9410227" y="371464"/>
                  </a:lnTo>
                  <a:lnTo>
                    <a:pt x="9410330" y="371258"/>
                  </a:lnTo>
                  <a:lnTo>
                    <a:pt x="9414890" y="357878"/>
                  </a:lnTo>
                  <a:lnTo>
                    <a:pt x="9414951" y="357698"/>
                  </a:lnTo>
                  <a:lnTo>
                    <a:pt x="9417717" y="343822"/>
                  </a:lnTo>
                  <a:lnTo>
                    <a:pt x="9417748" y="343667"/>
                  </a:lnTo>
                  <a:lnTo>
                    <a:pt x="9418688" y="329399"/>
                  </a:lnTo>
                  <a:lnTo>
                    <a:pt x="9418664" y="109791"/>
                  </a:lnTo>
                  <a:lnTo>
                    <a:pt x="9417748" y="95729"/>
                  </a:lnTo>
                  <a:lnTo>
                    <a:pt x="9403918" y="55079"/>
                  </a:lnTo>
                  <a:lnTo>
                    <a:pt x="9375677" y="23133"/>
                  </a:lnTo>
                  <a:lnTo>
                    <a:pt x="9337189" y="4090"/>
                  </a:lnTo>
                  <a:lnTo>
                    <a:pt x="930888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FF4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1279436" y="5714644"/>
              <a:ext cx="9418955" cy="439420"/>
            </a:xfrm>
            <a:custGeom>
              <a:avLst/>
              <a:gdLst/>
              <a:ahLst/>
              <a:cxnLst/>
              <a:rect l="l" t="t" r="r" b="b"/>
              <a:pathLst>
                <a:path w="9418955" h="439420">
                  <a:moveTo>
                    <a:pt x="368" y="109791"/>
                  </a:moveTo>
                  <a:lnTo>
                    <a:pt x="1307" y="95524"/>
                  </a:lnTo>
                  <a:lnTo>
                    <a:pt x="4103" y="81492"/>
                  </a:lnTo>
                  <a:lnTo>
                    <a:pt x="23138" y="43003"/>
                  </a:lnTo>
                  <a:lnTo>
                    <a:pt x="55079" y="14757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9308884" y="355"/>
                  </a:lnTo>
                  <a:lnTo>
                    <a:pt x="9350753" y="8708"/>
                  </a:lnTo>
                  <a:lnTo>
                    <a:pt x="9386463" y="32534"/>
                  </a:lnTo>
                  <a:lnTo>
                    <a:pt x="9410330" y="68088"/>
                  </a:lnTo>
                  <a:lnTo>
                    <a:pt x="9418688" y="110159"/>
                  </a:lnTo>
                  <a:lnTo>
                    <a:pt x="9418688" y="329399"/>
                  </a:lnTo>
                  <a:lnTo>
                    <a:pt x="9417748" y="343667"/>
                  </a:lnTo>
                  <a:lnTo>
                    <a:pt x="9414951" y="357698"/>
                  </a:lnTo>
                  <a:lnTo>
                    <a:pt x="9395905" y="396187"/>
                  </a:lnTo>
                  <a:lnTo>
                    <a:pt x="9363964" y="424434"/>
                  </a:lnTo>
                  <a:lnTo>
                    <a:pt x="9323314" y="438251"/>
                  </a:lnTo>
                  <a:lnTo>
                    <a:pt x="9308884" y="439191"/>
                  </a:lnTo>
                  <a:lnTo>
                    <a:pt x="109804" y="439191"/>
                  </a:lnTo>
                  <a:lnTo>
                    <a:pt x="67934" y="430838"/>
                  </a:lnTo>
                  <a:lnTo>
                    <a:pt x="32224" y="407023"/>
                  </a:lnTo>
                  <a:lnTo>
                    <a:pt x="8358" y="371464"/>
                  </a:lnTo>
                  <a:lnTo>
                    <a:pt x="0" y="329399"/>
                  </a:lnTo>
                  <a:lnTo>
                    <a:pt x="368" y="109791"/>
                  </a:lnTo>
                  <a:close/>
                </a:path>
              </a:pathLst>
            </a:custGeom>
            <a:ln w="10079">
              <a:solidFill>
                <a:srgbClr val="FFF4D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/>
          <p:cNvSpPr txBox="1"/>
          <p:nvPr/>
        </p:nvSpPr>
        <p:spPr>
          <a:xfrm>
            <a:off x="1780095" y="5821108"/>
            <a:ext cx="8420100" cy="227329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 spc="-45">
                <a:solidFill>
                  <a:srgbClr val="925F00"/>
                </a:solidFill>
                <a:latin typeface="Arial Black"/>
                <a:cs typeface="Arial Black"/>
              </a:rPr>
              <a:t>Operational</a:t>
            </a:r>
            <a:r>
              <a:rPr dirty="0" sz="1300" spc="-65">
                <a:solidFill>
                  <a:srgbClr val="925F00"/>
                </a:solidFill>
                <a:latin typeface="Arial Black"/>
                <a:cs typeface="Arial Black"/>
              </a:rPr>
              <a:t> </a:t>
            </a:r>
            <a:r>
              <a:rPr dirty="0" sz="1300" spc="-35">
                <a:solidFill>
                  <a:srgbClr val="925F00"/>
                </a:solidFill>
                <a:latin typeface="Arial Black"/>
                <a:cs typeface="Arial Black"/>
              </a:rPr>
              <a:t>rule:</a:t>
            </a:r>
            <a:r>
              <a:rPr dirty="0" sz="1300" spc="-65">
                <a:solidFill>
                  <a:srgbClr val="925F00"/>
                </a:solidFill>
                <a:latin typeface="Arial Black"/>
                <a:cs typeface="Arial Black"/>
              </a:rPr>
              <a:t> </a:t>
            </a:r>
            <a:r>
              <a:rPr dirty="0" sz="1300" spc="-45">
                <a:solidFill>
                  <a:srgbClr val="925F00"/>
                </a:solidFill>
                <a:latin typeface="Arial Black"/>
                <a:cs typeface="Arial Black"/>
              </a:rPr>
              <a:t>“not</a:t>
            </a:r>
            <a:r>
              <a:rPr dirty="0" sz="1300" spc="-65">
                <a:solidFill>
                  <a:srgbClr val="925F00"/>
                </a:solidFill>
                <a:latin typeface="Arial Black"/>
                <a:cs typeface="Arial Black"/>
              </a:rPr>
              <a:t> </a:t>
            </a:r>
            <a:r>
              <a:rPr dirty="0" sz="1300" spc="-70">
                <a:solidFill>
                  <a:srgbClr val="925F00"/>
                </a:solidFill>
                <a:latin typeface="Arial Black"/>
                <a:cs typeface="Arial Black"/>
              </a:rPr>
              <a:t>visible”</a:t>
            </a:r>
            <a:r>
              <a:rPr dirty="0" sz="1300" spc="-65">
                <a:solidFill>
                  <a:srgbClr val="925F00"/>
                </a:solidFill>
                <a:latin typeface="Arial Black"/>
                <a:cs typeface="Arial Black"/>
              </a:rPr>
              <a:t> </a:t>
            </a:r>
            <a:r>
              <a:rPr dirty="0" sz="1300" spc="-245">
                <a:solidFill>
                  <a:srgbClr val="925F00"/>
                </a:solidFill>
                <a:latin typeface="Arial Black"/>
                <a:cs typeface="Arial Black"/>
              </a:rPr>
              <a:t>=/</a:t>
            </a:r>
            <a:r>
              <a:rPr dirty="0" sz="1300" spc="-60">
                <a:solidFill>
                  <a:srgbClr val="925F00"/>
                </a:solidFill>
                <a:latin typeface="Arial Black"/>
                <a:cs typeface="Arial Black"/>
              </a:rPr>
              <a:t> </a:t>
            </a:r>
            <a:r>
              <a:rPr dirty="0" sz="1300" spc="-70">
                <a:solidFill>
                  <a:srgbClr val="925F00"/>
                </a:solidFill>
                <a:latin typeface="Arial Black"/>
                <a:cs typeface="Arial Black"/>
              </a:rPr>
              <a:t>“deleted.”</a:t>
            </a:r>
            <a:r>
              <a:rPr dirty="0" sz="1300" spc="-65">
                <a:solidFill>
                  <a:srgbClr val="925F00"/>
                </a:solidFill>
                <a:latin typeface="Arial Black"/>
                <a:cs typeface="Arial Black"/>
              </a:rPr>
              <a:t> </a:t>
            </a:r>
            <a:r>
              <a:rPr dirty="0" sz="1300" spc="-45">
                <a:solidFill>
                  <a:srgbClr val="925F00"/>
                </a:solidFill>
                <a:latin typeface="Arial Black"/>
                <a:cs typeface="Arial Black"/>
              </a:rPr>
              <a:t>Confirm</a:t>
            </a:r>
            <a:r>
              <a:rPr dirty="0" sz="1300" spc="-55">
                <a:solidFill>
                  <a:srgbClr val="925F00"/>
                </a:solidFill>
                <a:latin typeface="Arial Black"/>
                <a:cs typeface="Arial Black"/>
              </a:rPr>
              <a:t> </a:t>
            </a:r>
            <a:r>
              <a:rPr dirty="0" sz="1300" spc="-110">
                <a:solidFill>
                  <a:srgbClr val="925F00"/>
                </a:solidFill>
                <a:latin typeface="Arial Black"/>
                <a:cs typeface="Arial Black"/>
              </a:rPr>
              <a:t>scope</a:t>
            </a:r>
            <a:r>
              <a:rPr dirty="0" sz="1300" spc="-60">
                <a:solidFill>
                  <a:srgbClr val="925F00"/>
                </a:solidFill>
                <a:latin typeface="Arial Black"/>
                <a:cs typeface="Arial Black"/>
              </a:rPr>
              <a:t> </a:t>
            </a:r>
            <a:r>
              <a:rPr dirty="0" sz="1300" spc="-40">
                <a:solidFill>
                  <a:srgbClr val="925F00"/>
                </a:solidFill>
                <a:latin typeface="Arial Black"/>
                <a:cs typeface="Arial Black"/>
              </a:rPr>
              <a:t>and</a:t>
            </a:r>
            <a:r>
              <a:rPr dirty="0" sz="1300" spc="-65">
                <a:solidFill>
                  <a:srgbClr val="925F00"/>
                </a:solidFill>
                <a:latin typeface="Arial Black"/>
                <a:cs typeface="Arial Black"/>
              </a:rPr>
              <a:t> state</a:t>
            </a:r>
            <a:r>
              <a:rPr dirty="0" sz="1300" spc="-60">
                <a:solidFill>
                  <a:srgbClr val="925F00"/>
                </a:solidFill>
                <a:latin typeface="Arial Black"/>
                <a:cs typeface="Arial Black"/>
              </a:rPr>
              <a:t> </a:t>
            </a:r>
            <a:r>
              <a:rPr dirty="0" sz="1300" spc="-45">
                <a:solidFill>
                  <a:srgbClr val="925F00"/>
                </a:solidFill>
                <a:latin typeface="Arial Black"/>
                <a:cs typeface="Arial Black"/>
              </a:rPr>
              <a:t>before</a:t>
            </a:r>
            <a:r>
              <a:rPr dirty="0" sz="1300" spc="-60">
                <a:solidFill>
                  <a:srgbClr val="925F00"/>
                </a:solidFill>
                <a:latin typeface="Arial Black"/>
                <a:cs typeface="Arial Black"/>
              </a:rPr>
              <a:t> replacement</a:t>
            </a:r>
            <a:r>
              <a:rPr dirty="0" sz="1300" spc="-65">
                <a:solidFill>
                  <a:srgbClr val="925F00"/>
                </a:solidFill>
                <a:latin typeface="Arial Black"/>
                <a:cs typeface="Arial Black"/>
              </a:rPr>
              <a:t> </a:t>
            </a:r>
            <a:r>
              <a:rPr dirty="0" sz="1300" spc="-10">
                <a:solidFill>
                  <a:srgbClr val="925F00"/>
                </a:solidFill>
                <a:latin typeface="Arial Black"/>
                <a:cs typeface="Arial Black"/>
              </a:rPr>
              <a:t>provisioning.</a:t>
            </a:r>
            <a:endParaRPr sz="1300">
              <a:latin typeface="Arial Black"/>
              <a:cs typeface="Arial Black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66635" y="6382435"/>
            <a:ext cx="11064240" cy="635"/>
          </a:xfrm>
          <a:custGeom>
            <a:avLst/>
            <a:gdLst/>
            <a:ahLst/>
            <a:cxnLst/>
            <a:rect l="l" t="t" r="r" b="b"/>
            <a:pathLst>
              <a:path w="11064240" h="635">
                <a:moveTo>
                  <a:pt x="0" y="0"/>
                </a:moveTo>
                <a:lnTo>
                  <a:pt x="11064240" y="368"/>
                </a:lnTo>
              </a:path>
            </a:pathLst>
          </a:custGeom>
          <a:ln w="8999">
            <a:solidFill>
              <a:srgbClr val="DBE4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90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 spc="-100"/>
              <a:t>DAY</a:t>
            </a:r>
            <a:r>
              <a:rPr dirty="0" spc="-55"/>
              <a:t> </a:t>
            </a:r>
            <a:r>
              <a:rPr dirty="0"/>
              <a:t>1</a:t>
            </a:r>
            <a:r>
              <a:rPr dirty="0" spc="105"/>
              <a:t> </a:t>
            </a:r>
            <a:r>
              <a:rPr dirty="0"/>
              <a:t>•</a:t>
            </a:r>
            <a:r>
              <a:rPr dirty="0" spc="130"/>
              <a:t> </a:t>
            </a:r>
            <a:r>
              <a:rPr dirty="0" spc="-70"/>
              <a:t>CLOUD</a:t>
            </a:r>
            <a:r>
              <a:rPr dirty="0" spc="-55"/>
              <a:t> </a:t>
            </a:r>
            <a:r>
              <a:rPr dirty="0" spc="-65"/>
              <a:t>FOUNDATIONS</a:t>
            </a:r>
            <a:r>
              <a:rPr dirty="0" spc="-55"/>
              <a:t> </a:t>
            </a:r>
            <a:r>
              <a:rPr dirty="0" spc="-105"/>
              <a:t>&amp;</a:t>
            </a:r>
            <a:r>
              <a:rPr dirty="0" spc="-50"/>
              <a:t> </a:t>
            </a:r>
            <a:r>
              <a:rPr dirty="0" spc="-95"/>
              <a:t>AZURE</a:t>
            </a:r>
            <a:r>
              <a:rPr dirty="0" spc="-55"/>
              <a:t> </a:t>
            </a:r>
            <a:r>
              <a:rPr dirty="0" spc="-50"/>
              <a:t>BASICS</a:t>
            </a:r>
          </a:p>
        </p:txBody>
      </p:sp>
      <p:sp>
        <p:nvSpPr>
          <p:cNvPr id="38" name="object 3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032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160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3935" y="299427"/>
            <a:ext cx="256349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65">
                <a:solidFill>
                  <a:srgbClr val="0077D3"/>
                </a:solidFill>
                <a:latin typeface="Arial Black"/>
                <a:cs typeface="Arial Black"/>
              </a:rPr>
              <a:t>PA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25">
                <a:solidFill>
                  <a:srgbClr val="0077D3"/>
                </a:solidFill>
                <a:latin typeface="Arial Black"/>
                <a:cs typeface="Arial Black"/>
              </a:rPr>
              <a:t>R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>
                <a:solidFill>
                  <a:srgbClr val="0077D3"/>
                </a:solidFill>
                <a:latin typeface="Arial Black"/>
                <a:cs typeface="Arial Black"/>
              </a:rPr>
              <a:t>T</a:t>
            </a:r>
            <a:r>
              <a:rPr dirty="0" sz="1000" spc="-5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>
                <a:solidFill>
                  <a:srgbClr val="0077D3"/>
                </a:solidFill>
                <a:latin typeface="Arial Black"/>
                <a:cs typeface="Arial Black"/>
              </a:rPr>
              <a:t>4 •</a:t>
            </a:r>
            <a:r>
              <a:rPr dirty="0" sz="1000" spc="12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95">
                <a:solidFill>
                  <a:srgbClr val="0077D3"/>
                </a:solidFill>
                <a:latin typeface="Arial Black"/>
                <a:cs typeface="Arial Black"/>
              </a:rPr>
              <a:t>A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60">
                <a:solidFill>
                  <a:srgbClr val="0077D3"/>
                </a:solidFill>
                <a:latin typeface="Arial Black"/>
                <a:cs typeface="Arial Black"/>
              </a:rPr>
              <a:t>Z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90">
                <a:solidFill>
                  <a:srgbClr val="0077D3"/>
                </a:solidFill>
                <a:latin typeface="Arial Black"/>
                <a:cs typeface="Arial Black"/>
              </a:rPr>
              <a:t>U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25">
                <a:solidFill>
                  <a:srgbClr val="0077D3"/>
                </a:solidFill>
                <a:latin typeface="Arial Black"/>
                <a:cs typeface="Arial Black"/>
              </a:rPr>
              <a:t>R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>
                <a:solidFill>
                  <a:srgbClr val="0077D3"/>
                </a:solidFill>
                <a:latin typeface="Arial Black"/>
                <a:cs typeface="Arial Black"/>
              </a:rPr>
              <a:t>E</a:t>
            </a:r>
            <a:r>
              <a:rPr dirty="0" sz="1000" spc="1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60">
                <a:solidFill>
                  <a:srgbClr val="0077D3"/>
                </a:solidFill>
                <a:latin typeface="Arial Black"/>
                <a:cs typeface="Arial Black"/>
              </a:rPr>
              <a:t>ACC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75">
                <a:solidFill>
                  <a:srgbClr val="0077D3"/>
                </a:solidFill>
                <a:latin typeface="Arial Black"/>
                <a:cs typeface="Arial Black"/>
              </a:rPr>
              <a:t>E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80">
                <a:solidFill>
                  <a:srgbClr val="0077D3"/>
                </a:solidFill>
                <a:latin typeface="Arial Black"/>
                <a:cs typeface="Arial Black"/>
              </a:rPr>
              <a:t>S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>
                <a:solidFill>
                  <a:srgbClr val="0077D3"/>
                </a:solidFill>
                <a:latin typeface="Arial Black"/>
                <a:cs typeface="Arial Black"/>
              </a:rPr>
              <a:t>S</a:t>
            </a:r>
            <a:r>
              <a:rPr dirty="0" sz="1000" spc="114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45">
                <a:solidFill>
                  <a:srgbClr val="0077D3"/>
                </a:solidFill>
                <a:latin typeface="Arial Black"/>
                <a:cs typeface="Arial Black"/>
              </a:rPr>
              <a:t>CO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35">
                <a:solidFill>
                  <a:srgbClr val="0077D3"/>
                </a:solidFill>
                <a:latin typeface="Arial Black"/>
                <a:cs typeface="Arial Black"/>
              </a:rPr>
              <a:t>N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60">
                <a:solidFill>
                  <a:srgbClr val="0077D3"/>
                </a:solidFill>
                <a:latin typeface="Arial Black"/>
                <a:cs typeface="Arial Black"/>
              </a:rPr>
              <a:t>T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25">
                <a:solidFill>
                  <a:srgbClr val="0077D3"/>
                </a:solidFill>
                <a:latin typeface="Arial Black"/>
                <a:cs typeface="Arial Black"/>
              </a:rPr>
              <a:t>R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50">
                <a:solidFill>
                  <a:srgbClr val="0077D3"/>
                </a:solidFill>
                <a:latin typeface="Arial Black"/>
                <a:cs typeface="Arial Black"/>
              </a:rPr>
              <a:t>O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50">
                <a:solidFill>
                  <a:srgbClr val="0077D3"/>
                </a:solidFill>
                <a:latin typeface="Arial Black"/>
                <a:cs typeface="Arial Black"/>
              </a:rPr>
              <a:t>L</a:t>
            </a:r>
            <a:endParaRPr sz="1000">
              <a:latin typeface="Arial Black"/>
              <a:cs typeface="Arial Black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54304" y="428977"/>
            <a:ext cx="8256270" cy="814705"/>
          </a:xfrm>
          <a:prstGeom prst="rect"/>
        </p:spPr>
        <p:txBody>
          <a:bodyPr wrap="square" lIns="0" tIns="133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0"/>
              </a:spcBef>
            </a:pPr>
            <a:r>
              <a:rPr dirty="0" sz="2700" spc="-150">
                <a:solidFill>
                  <a:srgbClr val="0F2339"/>
                </a:solidFill>
              </a:rPr>
              <a:t>Azure</a:t>
            </a:r>
            <a:r>
              <a:rPr dirty="0" sz="2700" spc="-195">
                <a:solidFill>
                  <a:srgbClr val="0F2339"/>
                </a:solidFill>
              </a:rPr>
              <a:t> </a:t>
            </a:r>
            <a:r>
              <a:rPr dirty="0" sz="2700" spc="-290">
                <a:solidFill>
                  <a:srgbClr val="0F2339"/>
                </a:solidFill>
              </a:rPr>
              <a:t>RBAC:</a:t>
            </a:r>
            <a:r>
              <a:rPr dirty="0" sz="2700" spc="-185">
                <a:solidFill>
                  <a:srgbClr val="0F2339"/>
                </a:solidFill>
              </a:rPr>
              <a:t> </a:t>
            </a:r>
            <a:r>
              <a:rPr dirty="0" sz="2700" spc="-120">
                <a:solidFill>
                  <a:srgbClr val="0F2339"/>
                </a:solidFill>
              </a:rPr>
              <a:t>principal</a:t>
            </a:r>
            <a:r>
              <a:rPr dirty="0" sz="2700" spc="-195">
                <a:solidFill>
                  <a:srgbClr val="0F2339"/>
                </a:solidFill>
              </a:rPr>
              <a:t> </a:t>
            </a:r>
            <a:r>
              <a:rPr dirty="0" sz="2700" spc="-254">
                <a:solidFill>
                  <a:srgbClr val="0F2339"/>
                </a:solidFill>
              </a:rPr>
              <a:t>+</a:t>
            </a:r>
            <a:r>
              <a:rPr dirty="0" sz="2700" spc="-185">
                <a:solidFill>
                  <a:srgbClr val="0F2339"/>
                </a:solidFill>
              </a:rPr>
              <a:t> </a:t>
            </a:r>
            <a:r>
              <a:rPr dirty="0" sz="2700" spc="-120">
                <a:solidFill>
                  <a:srgbClr val="0F2339"/>
                </a:solidFill>
              </a:rPr>
              <a:t>role</a:t>
            </a:r>
            <a:r>
              <a:rPr dirty="0" sz="2700" spc="-185">
                <a:solidFill>
                  <a:srgbClr val="0F2339"/>
                </a:solidFill>
              </a:rPr>
              <a:t> </a:t>
            </a:r>
            <a:r>
              <a:rPr dirty="0" sz="2700" spc="-254">
                <a:solidFill>
                  <a:srgbClr val="0F2339"/>
                </a:solidFill>
              </a:rPr>
              <a:t>+</a:t>
            </a:r>
            <a:r>
              <a:rPr dirty="0" sz="2700" spc="-195">
                <a:solidFill>
                  <a:srgbClr val="0F2339"/>
                </a:solidFill>
              </a:rPr>
              <a:t> </a:t>
            </a:r>
            <a:r>
              <a:rPr dirty="0" sz="2700" spc="-10">
                <a:solidFill>
                  <a:srgbClr val="0F2339"/>
                </a:solidFill>
              </a:rPr>
              <a:t>scope</a:t>
            </a:r>
            <a:endParaRPr sz="2700"/>
          </a:p>
          <a:p>
            <a:pPr marL="30480">
              <a:lnSpc>
                <a:spcPct val="100000"/>
              </a:lnSpc>
              <a:spcBef>
                <a:spcPts val="459"/>
              </a:spcBef>
            </a:pP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An</a:t>
            </a:r>
            <a:r>
              <a:rPr dirty="0" sz="1300" spc="-4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access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grant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is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not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just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a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role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name;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it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is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a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specific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role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assigned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to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a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specific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identity</a:t>
            </a:r>
            <a:r>
              <a:rPr dirty="0" sz="1300" spc="-4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at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a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specific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scope.</a:t>
            </a:r>
            <a:endParaRPr sz="1300">
              <a:latin typeface="Noto Sans"/>
              <a:cs typeface="Noto San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66635" y="1417319"/>
            <a:ext cx="11064240" cy="635"/>
          </a:xfrm>
          <a:custGeom>
            <a:avLst/>
            <a:gdLst/>
            <a:ahLst/>
            <a:cxnLst/>
            <a:rect l="l" t="t" r="r" b="b"/>
            <a:pathLst>
              <a:path w="11064240" h="634">
                <a:moveTo>
                  <a:pt x="0" y="0"/>
                </a:moveTo>
                <a:lnTo>
                  <a:pt x="11064240" y="355"/>
                </a:lnTo>
              </a:path>
            </a:pathLst>
          </a:custGeom>
          <a:ln w="10079">
            <a:solidFill>
              <a:srgbClr val="DBE4ED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6" name="object 6"/>
          <p:cNvGrpSpPr/>
          <p:nvPr/>
        </p:nvGrpSpPr>
        <p:grpSpPr>
          <a:xfrm>
            <a:off x="835916" y="1869124"/>
            <a:ext cx="3412490" cy="1885314"/>
            <a:chOff x="835916" y="1869124"/>
            <a:chExt cx="3412490" cy="1885314"/>
          </a:xfrm>
        </p:grpSpPr>
        <p:sp>
          <p:nvSpPr>
            <p:cNvPr id="7" name="object 7"/>
            <p:cNvSpPr/>
            <p:nvPr/>
          </p:nvSpPr>
          <p:spPr>
            <a:xfrm>
              <a:off x="840955" y="1874164"/>
              <a:ext cx="3402329" cy="1875155"/>
            </a:xfrm>
            <a:custGeom>
              <a:avLst/>
              <a:gdLst/>
              <a:ahLst/>
              <a:cxnLst/>
              <a:rect l="l" t="t" r="r" b="b"/>
              <a:pathLst>
                <a:path w="3402329" h="1875154">
                  <a:moveTo>
                    <a:pt x="110159" y="0"/>
                  </a:moveTo>
                  <a:lnTo>
                    <a:pt x="68095" y="8352"/>
                  </a:lnTo>
                  <a:lnTo>
                    <a:pt x="32535" y="32213"/>
                  </a:lnTo>
                  <a:lnTo>
                    <a:pt x="8721" y="67882"/>
                  </a:lnTo>
                  <a:lnTo>
                    <a:pt x="368" y="109791"/>
                  </a:lnTo>
                  <a:lnTo>
                    <a:pt x="0" y="1765071"/>
                  </a:lnTo>
                  <a:lnTo>
                    <a:pt x="939" y="1779501"/>
                  </a:lnTo>
                  <a:lnTo>
                    <a:pt x="3736" y="1793559"/>
                  </a:lnTo>
                  <a:lnTo>
                    <a:pt x="8307" y="1806992"/>
                  </a:lnTo>
                  <a:lnTo>
                    <a:pt x="8358" y="1807142"/>
                  </a:lnTo>
                  <a:lnTo>
                    <a:pt x="32224" y="1842696"/>
                  </a:lnTo>
                  <a:lnTo>
                    <a:pt x="67882" y="1866522"/>
                  </a:lnTo>
                  <a:lnTo>
                    <a:pt x="109804" y="1874875"/>
                  </a:lnTo>
                  <a:lnTo>
                    <a:pt x="3292208" y="1874875"/>
                  </a:lnTo>
                  <a:lnTo>
                    <a:pt x="3334272" y="1866522"/>
                  </a:lnTo>
                  <a:lnTo>
                    <a:pt x="3369781" y="1842696"/>
                  </a:lnTo>
                  <a:lnTo>
                    <a:pt x="3393571" y="1807142"/>
                  </a:lnTo>
                  <a:lnTo>
                    <a:pt x="3401999" y="1765071"/>
                  </a:lnTo>
                  <a:lnTo>
                    <a:pt x="3401975" y="109791"/>
                  </a:lnTo>
                  <a:lnTo>
                    <a:pt x="3393646" y="68088"/>
                  </a:lnTo>
                  <a:lnTo>
                    <a:pt x="3369786" y="32534"/>
                  </a:lnTo>
                  <a:lnTo>
                    <a:pt x="3334117" y="8708"/>
                  </a:lnTo>
                  <a:lnTo>
                    <a:pt x="3292208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840955" y="1874164"/>
              <a:ext cx="3402329" cy="1875155"/>
            </a:xfrm>
            <a:custGeom>
              <a:avLst/>
              <a:gdLst/>
              <a:ahLst/>
              <a:cxnLst/>
              <a:rect l="l" t="t" r="r" b="b"/>
              <a:pathLst>
                <a:path w="3402329" h="1875154">
                  <a:moveTo>
                    <a:pt x="368" y="109791"/>
                  </a:moveTo>
                  <a:lnTo>
                    <a:pt x="1307" y="95374"/>
                  </a:lnTo>
                  <a:lnTo>
                    <a:pt x="4103" y="81359"/>
                  </a:lnTo>
                  <a:lnTo>
                    <a:pt x="23138" y="43003"/>
                  </a:lnTo>
                  <a:lnTo>
                    <a:pt x="55079" y="14757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3292208" y="355"/>
                  </a:lnTo>
                  <a:lnTo>
                    <a:pt x="3334117" y="8708"/>
                  </a:lnTo>
                  <a:lnTo>
                    <a:pt x="3369786" y="32534"/>
                  </a:lnTo>
                  <a:lnTo>
                    <a:pt x="3393646" y="68088"/>
                  </a:lnTo>
                  <a:lnTo>
                    <a:pt x="3401999" y="110159"/>
                  </a:lnTo>
                  <a:lnTo>
                    <a:pt x="3401999" y="1765071"/>
                  </a:lnTo>
                  <a:lnTo>
                    <a:pt x="3401060" y="1779496"/>
                  </a:lnTo>
                  <a:lnTo>
                    <a:pt x="3398264" y="1793514"/>
                  </a:lnTo>
                  <a:lnTo>
                    <a:pt x="3379229" y="1831864"/>
                  </a:lnTo>
                  <a:lnTo>
                    <a:pt x="3347288" y="1860118"/>
                  </a:lnTo>
                  <a:lnTo>
                    <a:pt x="3306631" y="1873935"/>
                  </a:lnTo>
                  <a:lnTo>
                    <a:pt x="3292208" y="1874875"/>
                  </a:lnTo>
                  <a:lnTo>
                    <a:pt x="109804" y="1874875"/>
                  </a:lnTo>
                  <a:lnTo>
                    <a:pt x="67882" y="1866522"/>
                  </a:lnTo>
                  <a:lnTo>
                    <a:pt x="32224" y="1842696"/>
                  </a:lnTo>
                  <a:lnTo>
                    <a:pt x="8358" y="1807142"/>
                  </a:lnTo>
                  <a:lnTo>
                    <a:pt x="0" y="1765071"/>
                  </a:lnTo>
                  <a:lnTo>
                    <a:pt x="368" y="109791"/>
                  </a:lnTo>
                  <a:close/>
                </a:path>
              </a:pathLst>
            </a:custGeom>
            <a:ln w="10079">
              <a:solidFill>
                <a:srgbClr val="DBE4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042200" y="2057044"/>
              <a:ext cx="1235075" cy="293370"/>
            </a:xfrm>
            <a:custGeom>
              <a:avLst/>
              <a:gdLst/>
              <a:ahLst/>
              <a:cxnLst/>
              <a:rect l="l" t="t" r="r" b="b"/>
              <a:pathLst>
                <a:path w="1235075" h="293369">
                  <a:moveTo>
                    <a:pt x="110159" y="0"/>
                  </a:moveTo>
                  <a:lnTo>
                    <a:pt x="68088" y="8352"/>
                  </a:lnTo>
                  <a:lnTo>
                    <a:pt x="32535" y="32213"/>
                  </a:lnTo>
                  <a:lnTo>
                    <a:pt x="8713" y="67882"/>
                  </a:lnTo>
                  <a:lnTo>
                    <a:pt x="355" y="109791"/>
                  </a:lnTo>
                  <a:lnTo>
                    <a:pt x="0" y="183235"/>
                  </a:lnTo>
                  <a:lnTo>
                    <a:pt x="939" y="197665"/>
                  </a:lnTo>
                  <a:lnTo>
                    <a:pt x="3735" y="211723"/>
                  </a:lnTo>
                  <a:lnTo>
                    <a:pt x="8301" y="225156"/>
                  </a:lnTo>
                  <a:lnTo>
                    <a:pt x="8352" y="225306"/>
                  </a:lnTo>
                  <a:lnTo>
                    <a:pt x="32223" y="260859"/>
                  </a:lnTo>
                  <a:lnTo>
                    <a:pt x="67882" y="284681"/>
                  </a:lnTo>
                  <a:lnTo>
                    <a:pt x="109804" y="293039"/>
                  </a:lnTo>
                  <a:lnTo>
                    <a:pt x="1125004" y="293039"/>
                  </a:lnTo>
                  <a:lnTo>
                    <a:pt x="1167068" y="284681"/>
                  </a:lnTo>
                  <a:lnTo>
                    <a:pt x="1202577" y="260859"/>
                  </a:lnTo>
                  <a:lnTo>
                    <a:pt x="1226367" y="225306"/>
                  </a:lnTo>
                  <a:lnTo>
                    <a:pt x="1226442" y="225156"/>
                  </a:lnTo>
                  <a:lnTo>
                    <a:pt x="1231044" y="211723"/>
                  </a:lnTo>
                  <a:lnTo>
                    <a:pt x="1233854" y="197665"/>
                  </a:lnTo>
                  <a:lnTo>
                    <a:pt x="1234795" y="183235"/>
                  </a:lnTo>
                  <a:lnTo>
                    <a:pt x="1234771" y="109791"/>
                  </a:lnTo>
                  <a:lnTo>
                    <a:pt x="1226442" y="68088"/>
                  </a:lnTo>
                  <a:lnTo>
                    <a:pt x="1202582" y="32534"/>
                  </a:lnTo>
                  <a:lnTo>
                    <a:pt x="1166912" y="8708"/>
                  </a:lnTo>
                  <a:lnTo>
                    <a:pt x="112500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0EB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042200" y="2057044"/>
              <a:ext cx="1235075" cy="293370"/>
            </a:xfrm>
            <a:custGeom>
              <a:avLst/>
              <a:gdLst/>
              <a:ahLst/>
              <a:cxnLst/>
              <a:rect l="l" t="t" r="r" b="b"/>
              <a:pathLst>
                <a:path w="1235075" h="293369">
                  <a:moveTo>
                    <a:pt x="355" y="109791"/>
                  </a:moveTo>
                  <a:lnTo>
                    <a:pt x="1295" y="95374"/>
                  </a:lnTo>
                  <a:lnTo>
                    <a:pt x="4092" y="81359"/>
                  </a:lnTo>
                  <a:lnTo>
                    <a:pt x="23138" y="43003"/>
                  </a:lnTo>
                  <a:lnTo>
                    <a:pt x="55079" y="14757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1125004" y="355"/>
                  </a:lnTo>
                  <a:lnTo>
                    <a:pt x="1166912" y="8708"/>
                  </a:lnTo>
                  <a:lnTo>
                    <a:pt x="1202582" y="32534"/>
                  </a:lnTo>
                  <a:lnTo>
                    <a:pt x="1226442" y="68088"/>
                  </a:lnTo>
                  <a:lnTo>
                    <a:pt x="1234795" y="110159"/>
                  </a:lnTo>
                  <a:lnTo>
                    <a:pt x="1234795" y="183235"/>
                  </a:lnTo>
                  <a:lnTo>
                    <a:pt x="1233855" y="197660"/>
                  </a:lnTo>
                  <a:lnTo>
                    <a:pt x="1231060" y="211678"/>
                  </a:lnTo>
                  <a:lnTo>
                    <a:pt x="1212025" y="250028"/>
                  </a:lnTo>
                  <a:lnTo>
                    <a:pt x="1180084" y="278269"/>
                  </a:lnTo>
                  <a:lnTo>
                    <a:pt x="1139427" y="292100"/>
                  </a:lnTo>
                  <a:lnTo>
                    <a:pt x="1125004" y="293039"/>
                  </a:lnTo>
                  <a:lnTo>
                    <a:pt x="109804" y="293039"/>
                  </a:lnTo>
                  <a:lnTo>
                    <a:pt x="67882" y="284681"/>
                  </a:lnTo>
                  <a:lnTo>
                    <a:pt x="32223" y="260859"/>
                  </a:lnTo>
                  <a:lnTo>
                    <a:pt x="8352" y="225306"/>
                  </a:lnTo>
                  <a:lnTo>
                    <a:pt x="0" y="183235"/>
                  </a:lnTo>
                  <a:lnTo>
                    <a:pt x="355" y="109791"/>
                  </a:lnTo>
                  <a:close/>
                </a:path>
              </a:pathLst>
            </a:custGeom>
            <a:ln w="10079">
              <a:solidFill>
                <a:srgbClr val="F0EBF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1308861" y="2109863"/>
            <a:ext cx="70294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80">
                <a:solidFill>
                  <a:srgbClr val="5A399D"/>
                </a:solidFill>
                <a:latin typeface="Arial Black"/>
                <a:cs typeface="Arial Black"/>
              </a:rPr>
              <a:t>PRINCIPAL</a:t>
            </a:r>
            <a:endParaRPr sz="1000">
              <a:latin typeface="Arial Black"/>
              <a:cs typeface="Arial Black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29500" y="2552306"/>
            <a:ext cx="2412365" cy="7943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>
                <a:solidFill>
                  <a:srgbClr val="0F2339"/>
                </a:solidFill>
                <a:latin typeface="Arial Black"/>
                <a:cs typeface="Arial Black"/>
              </a:rPr>
              <a:t>Who?</a:t>
            </a:r>
            <a:endParaRPr sz="180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  <a:spcBef>
                <a:spcPts val="894"/>
              </a:spcBef>
            </a:pPr>
            <a:r>
              <a:rPr dirty="0" sz="1250">
                <a:solidFill>
                  <a:srgbClr val="556478"/>
                </a:solidFill>
                <a:latin typeface="Noto Sans"/>
                <a:cs typeface="Noto Sans"/>
              </a:rPr>
              <a:t>User</a:t>
            </a:r>
            <a:r>
              <a:rPr dirty="0" sz="1250" spc="-4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50">
                <a:solidFill>
                  <a:srgbClr val="556478"/>
                </a:solidFill>
                <a:latin typeface="Noto Sans"/>
                <a:cs typeface="Noto Sans"/>
              </a:rPr>
              <a:t>•</a:t>
            </a:r>
            <a:r>
              <a:rPr dirty="0" sz="125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50">
                <a:solidFill>
                  <a:srgbClr val="556478"/>
                </a:solidFill>
                <a:latin typeface="Noto Sans"/>
                <a:cs typeface="Noto Sans"/>
              </a:rPr>
              <a:t>group</a:t>
            </a:r>
            <a:r>
              <a:rPr dirty="0" sz="125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50">
                <a:solidFill>
                  <a:srgbClr val="556478"/>
                </a:solidFill>
                <a:latin typeface="Noto Sans"/>
                <a:cs typeface="Noto Sans"/>
              </a:rPr>
              <a:t>•</a:t>
            </a:r>
            <a:r>
              <a:rPr dirty="0" sz="125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50">
                <a:solidFill>
                  <a:srgbClr val="556478"/>
                </a:solidFill>
                <a:latin typeface="Noto Sans"/>
                <a:cs typeface="Noto Sans"/>
              </a:rPr>
              <a:t>service</a:t>
            </a:r>
            <a:r>
              <a:rPr dirty="0" sz="125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50">
                <a:solidFill>
                  <a:srgbClr val="556478"/>
                </a:solidFill>
                <a:latin typeface="Noto Sans"/>
                <a:cs typeface="Noto Sans"/>
              </a:rPr>
              <a:t>principal</a:t>
            </a:r>
            <a:r>
              <a:rPr dirty="0" sz="125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50" spc="-50">
                <a:solidFill>
                  <a:srgbClr val="556478"/>
                </a:solidFill>
                <a:latin typeface="Noto Sans"/>
                <a:cs typeface="Noto Sans"/>
              </a:rPr>
              <a:t>• </a:t>
            </a:r>
            <a:r>
              <a:rPr dirty="0" sz="1250">
                <a:solidFill>
                  <a:srgbClr val="556478"/>
                </a:solidFill>
                <a:latin typeface="Noto Sans"/>
                <a:cs typeface="Noto Sans"/>
              </a:rPr>
              <a:t>managed</a:t>
            </a:r>
            <a:r>
              <a:rPr dirty="0" sz="1250" spc="-7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50" spc="-10">
                <a:solidFill>
                  <a:srgbClr val="556478"/>
                </a:solidFill>
                <a:latin typeface="Noto Sans"/>
                <a:cs typeface="Noto Sans"/>
              </a:rPr>
              <a:t>identity</a:t>
            </a:r>
            <a:endParaRPr sz="1250">
              <a:latin typeface="Noto Sans"/>
              <a:cs typeface="Noto Sans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649040" y="1869124"/>
            <a:ext cx="3412490" cy="1885314"/>
            <a:chOff x="4649040" y="1869124"/>
            <a:chExt cx="3412490" cy="1885314"/>
          </a:xfrm>
        </p:grpSpPr>
        <p:sp>
          <p:nvSpPr>
            <p:cNvPr id="14" name="object 14"/>
            <p:cNvSpPr/>
            <p:nvPr/>
          </p:nvSpPr>
          <p:spPr>
            <a:xfrm>
              <a:off x="4654080" y="1874164"/>
              <a:ext cx="3402329" cy="1875155"/>
            </a:xfrm>
            <a:custGeom>
              <a:avLst/>
              <a:gdLst/>
              <a:ahLst/>
              <a:cxnLst/>
              <a:rect l="l" t="t" r="r" b="b"/>
              <a:pathLst>
                <a:path w="3402329" h="1875154">
                  <a:moveTo>
                    <a:pt x="110159" y="0"/>
                  </a:moveTo>
                  <a:lnTo>
                    <a:pt x="68088" y="8352"/>
                  </a:lnTo>
                  <a:lnTo>
                    <a:pt x="32535" y="32213"/>
                  </a:lnTo>
                  <a:lnTo>
                    <a:pt x="8713" y="67882"/>
                  </a:lnTo>
                  <a:lnTo>
                    <a:pt x="355" y="109791"/>
                  </a:lnTo>
                  <a:lnTo>
                    <a:pt x="0" y="1765071"/>
                  </a:lnTo>
                  <a:lnTo>
                    <a:pt x="939" y="1779501"/>
                  </a:lnTo>
                  <a:lnTo>
                    <a:pt x="3735" y="1793559"/>
                  </a:lnTo>
                  <a:lnTo>
                    <a:pt x="8301" y="1806992"/>
                  </a:lnTo>
                  <a:lnTo>
                    <a:pt x="8352" y="1807142"/>
                  </a:lnTo>
                  <a:lnTo>
                    <a:pt x="32223" y="1842696"/>
                  </a:lnTo>
                  <a:lnTo>
                    <a:pt x="67882" y="1866522"/>
                  </a:lnTo>
                  <a:lnTo>
                    <a:pt x="109804" y="1874875"/>
                  </a:lnTo>
                  <a:lnTo>
                    <a:pt x="3292195" y="1874875"/>
                  </a:lnTo>
                  <a:lnTo>
                    <a:pt x="3334266" y="1866522"/>
                  </a:lnTo>
                  <a:lnTo>
                    <a:pt x="3369770" y="1842696"/>
                  </a:lnTo>
                  <a:lnTo>
                    <a:pt x="3393571" y="1807142"/>
                  </a:lnTo>
                  <a:lnTo>
                    <a:pt x="3401999" y="1765071"/>
                  </a:lnTo>
                  <a:lnTo>
                    <a:pt x="3401975" y="109791"/>
                  </a:lnTo>
                  <a:lnTo>
                    <a:pt x="3393646" y="68088"/>
                  </a:lnTo>
                  <a:lnTo>
                    <a:pt x="3369776" y="32534"/>
                  </a:lnTo>
                  <a:lnTo>
                    <a:pt x="3334116" y="8708"/>
                  </a:lnTo>
                  <a:lnTo>
                    <a:pt x="3292195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4654080" y="1874164"/>
              <a:ext cx="3402329" cy="1875155"/>
            </a:xfrm>
            <a:custGeom>
              <a:avLst/>
              <a:gdLst/>
              <a:ahLst/>
              <a:cxnLst/>
              <a:rect l="l" t="t" r="r" b="b"/>
              <a:pathLst>
                <a:path w="3402329" h="1875154">
                  <a:moveTo>
                    <a:pt x="355" y="109791"/>
                  </a:moveTo>
                  <a:lnTo>
                    <a:pt x="1295" y="95374"/>
                  </a:lnTo>
                  <a:lnTo>
                    <a:pt x="4092" y="81359"/>
                  </a:lnTo>
                  <a:lnTo>
                    <a:pt x="23138" y="43003"/>
                  </a:lnTo>
                  <a:lnTo>
                    <a:pt x="55079" y="14757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3292195" y="355"/>
                  </a:lnTo>
                  <a:lnTo>
                    <a:pt x="3334116" y="8708"/>
                  </a:lnTo>
                  <a:lnTo>
                    <a:pt x="3369776" y="32534"/>
                  </a:lnTo>
                  <a:lnTo>
                    <a:pt x="3393646" y="68088"/>
                  </a:lnTo>
                  <a:lnTo>
                    <a:pt x="3401999" y="110159"/>
                  </a:lnTo>
                  <a:lnTo>
                    <a:pt x="3401999" y="1765071"/>
                  </a:lnTo>
                  <a:lnTo>
                    <a:pt x="3401060" y="1779496"/>
                  </a:lnTo>
                  <a:lnTo>
                    <a:pt x="3398264" y="1793514"/>
                  </a:lnTo>
                  <a:lnTo>
                    <a:pt x="3379222" y="1831864"/>
                  </a:lnTo>
                  <a:lnTo>
                    <a:pt x="3347275" y="1860118"/>
                  </a:lnTo>
                  <a:lnTo>
                    <a:pt x="3306625" y="1873935"/>
                  </a:lnTo>
                  <a:lnTo>
                    <a:pt x="3292195" y="1874875"/>
                  </a:lnTo>
                  <a:lnTo>
                    <a:pt x="109804" y="1874875"/>
                  </a:lnTo>
                  <a:lnTo>
                    <a:pt x="67882" y="1866522"/>
                  </a:lnTo>
                  <a:lnTo>
                    <a:pt x="32223" y="1842696"/>
                  </a:lnTo>
                  <a:lnTo>
                    <a:pt x="8352" y="1807142"/>
                  </a:lnTo>
                  <a:lnTo>
                    <a:pt x="0" y="1765071"/>
                  </a:lnTo>
                  <a:lnTo>
                    <a:pt x="355" y="109791"/>
                  </a:lnTo>
                  <a:close/>
                </a:path>
              </a:pathLst>
            </a:custGeom>
            <a:ln w="10079">
              <a:solidFill>
                <a:srgbClr val="DBE4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4854956" y="2057044"/>
              <a:ext cx="1235075" cy="293370"/>
            </a:xfrm>
            <a:custGeom>
              <a:avLst/>
              <a:gdLst/>
              <a:ahLst/>
              <a:cxnLst/>
              <a:rect l="l" t="t" r="r" b="b"/>
              <a:pathLst>
                <a:path w="1235075" h="293369">
                  <a:moveTo>
                    <a:pt x="110159" y="0"/>
                  </a:moveTo>
                  <a:lnTo>
                    <a:pt x="68095" y="8352"/>
                  </a:lnTo>
                  <a:lnTo>
                    <a:pt x="32535" y="32213"/>
                  </a:lnTo>
                  <a:lnTo>
                    <a:pt x="8721" y="67882"/>
                  </a:lnTo>
                  <a:lnTo>
                    <a:pt x="368" y="109791"/>
                  </a:lnTo>
                  <a:lnTo>
                    <a:pt x="0" y="183235"/>
                  </a:lnTo>
                  <a:lnTo>
                    <a:pt x="939" y="197665"/>
                  </a:lnTo>
                  <a:lnTo>
                    <a:pt x="14770" y="238315"/>
                  </a:lnTo>
                  <a:lnTo>
                    <a:pt x="43011" y="270256"/>
                  </a:lnTo>
                  <a:lnTo>
                    <a:pt x="81360" y="289302"/>
                  </a:lnTo>
                  <a:lnTo>
                    <a:pt x="109804" y="293039"/>
                  </a:lnTo>
                  <a:lnTo>
                    <a:pt x="1125004" y="293039"/>
                  </a:lnTo>
                  <a:lnTo>
                    <a:pt x="1167075" y="284681"/>
                  </a:lnTo>
                  <a:lnTo>
                    <a:pt x="1202577" y="260859"/>
                  </a:lnTo>
                  <a:lnTo>
                    <a:pt x="1226374" y="225306"/>
                  </a:lnTo>
                  <a:lnTo>
                    <a:pt x="1234808" y="183235"/>
                  </a:lnTo>
                  <a:lnTo>
                    <a:pt x="1234784" y="109791"/>
                  </a:lnTo>
                  <a:lnTo>
                    <a:pt x="1226450" y="68088"/>
                  </a:lnTo>
                  <a:lnTo>
                    <a:pt x="1202583" y="32534"/>
                  </a:lnTo>
                  <a:lnTo>
                    <a:pt x="1166925" y="8708"/>
                  </a:lnTo>
                  <a:lnTo>
                    <a:pt x="112500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9F3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4854956" y="2057044"/>
              <a:ext cx="1235075" cy="293370"/>
            </a:xfrm>
            <a:custGeom>
              <a:avLst/>
              <a:gdLst/>
              <a:ahLst/>
              <a:cxnLst/>
              <a:rect l="l" t="t" r="r" b="b"/>
              <a:pathLst>
                <a:path w="1235075" h="293369">
                  <a:moveTo>
                    <a:pt x="368" y="109791"/>
                  </a:moveTo>
                  <a:lnTo>
                    <a:pt x="1307" y="95374"/>
                  </a:lnTo>
                  <a:lnTo>
                    <a:pt x="4103" y="81359"/>
                  </a:lnTo>
                  <a:lnTo>
                    <a:pt x="23138" y="43003"/>
                  </a:lnTo>
                  <a:lnTo>
                    <a:pt x="55079" y="14757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1125004" y="355"/>
                  </a:lnTo>
                  <a:lnTo>
                    <a:pt x="1166925" y="8708"/>
                  </a:lnTo>
                  <a:lnTo>
                    <a:pt x="1202583" y="32534"/>
                  </a:lnTo>
                  <a:lnTo>
                    <a:pt x="1226450" y="68088"/>
                  </a:lnTo>
                  <a:lnTo>
                    <a:pt x="1234808" y="110159"/>
                  </a:lnTo>
                  <a:lnTo>
                    <a:pt x="1234808" y="183235"/>
                  </a:lnTo>
                  <a:lnTo>
                    <a:pt x="1233868" y="197660"/>
                  </a:lnTo>
                  <a:lnTo>
                    <a:pt x="1231071" y="211678"/>
                  </a:lnTo>
                  <a:lnTo>
                    <a:pt x="1212025" y="250028"/>
                  </a:lnTo>
                  <a:lnTo>
                    <a:pt x="1180084" y="278269"/>
                  </a:lnTo>
                  <a:lnTo>
                    <a:pt x="1139434" y="292100"/>
                  </a:lnTo>
                  <a:lnTo>
                    <a:pt x="1125004" y="293039"/>
                  </a:lnTo>
                  <a:lnTo>
                    <a:pt x="109804" y="293039"/>
                  </a:lnTo>
                  <a:lnTo>
                    <a:pt x="67882" y="284681"/>
                  </a:lnTo>
                  <a:lnTo>
                    <a:pt x="32224" y="260859"/>
                  </a:lnTo>
                  <a:lnTo>
                    <a:pt x="8358" y="225306"/>
                  </a:lnTo>
                  <a:lnTo>
                    <a:pt x="0" y="183235"/>
                  </a:lnTo>
                  <a:lnTo>
                    <a:pt x="368" y="109791"/>
                  </a:lnTo>
                  <a:close/>
                </a:path>
              </a:pathLst>
            </a:custGeom>
            <a:ln w="10079">
              <a:solidFill>
                <a:srgbClr val="E9F3F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5296941" y="2109863"/>
            <a:ext cx="35242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0">
                <a:solidFill>
                  <a:srgbClr val="0077D3"/>
                </a:solidFill>
                <a:latin typeface="Arial Black"/>
                <a:cs typeface="Arial Black"/>
              </a:rPr>
              <a:t>ROLE</a:t>
            </a:r>
            <a:endParaRPr sz="1000">
              <a:latin typeface="Arial Black"/>
              <a:cs typeface="Arial Black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842255" y="2552306"/>
            <a:ext cx="2624455" cy="7943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40">
                <a:solidFill>
                  <a:srgbClr val="0F2339"/>
                </a:solidFill>
                <a:latin typeface="Arial Black"/>
                <a:cs typeface="Arial Black"/>
              </a:rPr>
              <a:t>Can</a:t>
            </a:r>
            <a:r>
              <a:rPr dirty="0" sz="1800" spc="-13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800" spc="-85">
                <a:solidFill>
                  <a:srgbClr val="0F2339"/>
                </a:solidFill>
                <a:latin typeface="Arial Black"/>
                <a:cs typeface="Arial Black"/>
              </a:rPr>
              <a:t>do</a:t>
            </a:r>
            <a:r>
              <a:rPr dirty="0" sz="1800" spc="-13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800" spc="-10">
                <a:solidFill>
                  <a:srgbClr val="0F2339"/>
                </a:solidFill>
                <a:latin typeface="Arial Black"/>
                <a:cs typeface="Arial Black"/>
              </a:rPr>
              <a:t>what?</a:t>
            </a:r>
            <a:endParaRPr sz="180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  <a:spcBef>
                <a:spcPts val="894"/>
              </a:spcBef>
            </a:pPr>
            <a:r>
              <a:rPr dirty="0" sz="1250" spc="-10">
                <a:solidFill>
                  <a:srgbClr val="556478"/>
                </a:solidFill>
                <a:latin typeface="Noto Sans"/>
                <a:cs typeface="Noto Sans"/>
              </a:rPr>
              <a:t>Built-</a:t>
            </a:r>
            <a:r>
              <a:rPr dirty="0" sz="1250">
                <a:solidFill>
                  <a:srgbClr val="556478"/>
                </a:solidFill>
                <a:latin typeface="Noto Sans"/>
                <a:cs typeface="Noto Sans"/>
              </a:rPr>
              <a:t>in</a:t>
            </a:r>
            <a:r>
              <a:rPr dirty="0" sz="125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50">
                <a:solidFill>
                  <a:srgbClr val="556478"/>
                </a:solidFill>
                <a:latin typeface="Noto Sans"/>
                <a:cs typeface="Noto Sans"/>
              </a:rPr>
              <a:t>role</a:t>
            </a:r>
            <a:r>
              <a:rPr dirty="0" sz="125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50">
                <a:solidFill>
                  <a:srgbClr val="556478"/>
                </a:solidFill>
                <a:latin typeface="Noto Sans"/>
                <a:cs typeface="Noto Sans"/>
              </a:rPr>
              <a:t>or</a:t>
            </a:r>
            <a:r>
              <a:rPr dirty="0" sz="125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50">
                <a:solidFill>
                  <a:srgbClr val="556478"/>
                </a:solidFill>
                <a:latin typeface="Noto Sans"/>
                <a:cs typeface="Noto Sans"/>
              </a:rPr>
              <a:t>custom</a:t>
            </a:r>
            <a:r>
              <a:rPr dirty="0" sz="125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50" spc="-10">
                <a:solidFill>
                  <a:srgbClr val="556478"/>
                </a:solidFill>
                <a:latin typeface="Noto Sans"/>
                <a:cs typeface="Noto Sans"/>
              </a:rPr>
              <a:t>permissions </a:t>
            </a:r>
            <a:r>
              <a:rPr dirty="0" sz="1250">
                <a:solidFill>
                  <a:srgbClr val="556478"/>
                </a:solidFill>
                <a:latin typeface="Noto Sans"/>
                <a:cs typeface="Noto Sans"/>
              </a:rPr>
              <a:t>(actions</a:t>
            </a:r>
            <a:r>
              <a:rPr dirty="0" sz="125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50">
                <a:solidFill>
                  <a:srgbClr val="556478"/>
                </a:solidFill>
                <a:latin typeface="Noto Sans"/>
                <a:cs typeface="Noto Sans"/>
              </a:rPr>
              <a:t>/</a:t>
            </a:r>
            <a:r>
              <a:rPr dirty="0" sz="125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50">
                <a:solidFill>
                  <a:srgbClr val="556478"/>
                </a:solidFill>
                <a:latin typeface="Noto Sans"/>
                <a:cs typeface="Noto Sans"/>
              </a:rPr>
              <a:t>data</a:t>
            </a:r>
            <a:r>
              <a:rPr dirty="0" sz="125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50" spc="-10">
                <a:solidFill>
                  <a:srgbClr val="556478"/>
                </a:solidFill>
                <a:latin typeface="Noto Sans"/>
                <a:cs typeface="Noto Sans"/>
              </a:rPr>
              <a:t>actions)</a:t>
            </a:r>
            <a:endParaRPr sz="1250">
              <a:latin typeface="Noto Sans"/>
              <a:cs typeface="Noto Sans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8461795" y="1869124"/>
            <a:ext cx="3412490" cy="1885314"/>
            <a:chOff x="8461795" y="1869124"/>
            <a:chExt cx="3412490" cy="1885314"/>
          </a:xfrm>
        </p:grpSpPr>
        <p:sp>
          <p:nvSpPr>
            <p:cNvPr id="21" name="object 21"/>
            <p:cNvSpPr/>
            <p:nvPr/>
          </p:nvSpPr>
          <p:spPr>
            <a:xfrm>
              <a:off x="8466835" y="1874164"/>
              <a:ext cx="3402329" cy="1875155"/>
            </a:xfrm>
            <a:custGeom>
              <a:avLst/>
              <a:gdLst/>
              <a:ahLst/>
              <a:cxnLst/>
              <a:rect l="l" t="t" r="r" b="b"/>
              <a:pathLst>
                <a:path w="3402329" h="1875154">
                  <a:moveTo>
                    <a:pt x="110159" y="0"/>
                  </a:moveTo>
                  <a:lnTo>
                    <a:pt x="68095" y="8352"/>
                  </a:lnTo>
                  <a:lnTo>
                    <a:pt x="32535" y="32213"/>
                  </a:lnTo>
                  <a:lnTo>
                    <a:pt x="8721" y="67882"/>
                  </a:lnTo>
                  <a:lnTo>
                    <a:pt x="368" y="109791"/>
                  </a:lnTo>
                  <a:lnTo>
                    <a:pt x="0" y="1765071"/>
                  </a:lnTo>
                  <a:lnTo>
                    <a:pt x="939" y="1779501"/>
                  </a:lnTo>
                  <a:lnTo>
                    <a:pt x="3736" y="1793559"/>
                  </a:lnTo>
                  <a:lnTo>
                    <a:pt x="8307" y="1806992"/>
                  </a:lnTo>
                  <a:lnTo>
                    <a:pt x="8358" y="1807142"/>
                  </a:lnTo>
                  <a:lnTo>
                    <a:pt x="14770" y="1820151"/>
                  </a:lnTo>
                  <a:lnTo>
                    <a:pt x="22686" y="1831864"/>
                  </a:lnTo>
                  <a:lnTo>
                    <a:pt x="22788" y="1832014"/>
                  </a:lnTo>
                  <a:lnTo>
                    <a:pt x="55079" y="1860118"/>
                  </a:lnTo>
                  <a:lnTo>
                    <a:pt x="95379" y="1873935"/>
                  </a:lnTo>
                  <a:lnTo>
                    <a:pt x="109804" y="1874875"/>
                  </a:lnTo>
                  <a:lnTo>
                    <a:pt x="3292208" y="1874875"/>
                  </a:lnTo>
                  <a:lnTo>
                    <a:pt x="3334272" y="1866522"/>
                  </a:lnTo>
                  <a:lnTo>
                    <a:pt x="3369781" y="1842696"/>
                  </a:lnTo>
                  <a:lnTo>
                    <a:pt x="3393571" y="1807142"/>
                  </a:lnTo>
                  <a:lnTo>
                    <a:pt x="3401999" y="1765071"/>
                  </a:lnTo>
                  <a:lnTo>
                    <a:pt x="3401975" y="109791"/>
                  </a:lnTo>
                  <a:lnTo>
                    <a:pt x="3393646" y="68088"/>
                  </a:lnTo>
                  <a:lnTo>
                    <a:pt x="3369786" y="32534"/>
                  </a:lnTo>
                  <a:lnTo>
                    <a:pt x="3334117" y="8708"/>
                  </a:lnTo>
                  <a:lnTo>
                    <a:pt x="3292208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8466835" y="1874164"/>
              <a:ext cx="3402329" cy="1875155"/>
            </a:xfrm>
            <a:custGeom>
              <a:avLst/>
              <a:gdLst/>
              <a:ahLst/>
              <a:cxnLst/>
              <a:rect l="l" t="t" r="r" b="b"/>
              <a:pathLst>
                <a:path w="3402329" h="1875154">
                  <a:moveTo>
                    <a:pt x="368" y="109791"/>
                  </a:moveTo>
                  <a:lnTo>
                    <a:pt x="1307" y="95374"/>
                  </a:lnTo>
                  <a:lnTo>
                    <a:pt x="4103" y="81359"/>
                  </a:lnTo>
                  <a:lnTo>
                    <a:pt x="23138" y="43003"/>
                  </a:lnTo>
                  <a:lnTo>
                    <a:pt x="55079" y="14757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3292208" y="355"/>
                  </a:lnTo>
                  <a:lnTo>
                    <a:pt x="3334117" y="8708"/>
                  </a:lnTo>
                  <a:lnTo>
                    <a:pt x="3369786" y="32534"/>
                  </a:lnTo>
                  <a:lnTo>
                    <a:pt x="3393646" y="68088"/>
                  </a:lnTo>
                  <a:lnTo>
                    <a:pt x="3401999" y="110159"/>
                  </a:lnTo>
                  <a:lnTo>
                    <a:pt x="3401999" y="1765071"/>
                  </a:lnTo>
                  <a:lnTo>
                    <a:pt x="3401060" y="1779496"/>
                  </a:lnTo>
                  <a:lnTo>
                    <a:pt x="3398264" y="1793514"/>
                  </a:lnTo>
                  <a:lnTo>
                    <a:pt x="3379229" y="1831864"/>
                  </a:lnTo>
                  <a:lnTo>
                    <a:pt x="3347288" y="1860118"/>
                  </a:lnTo>
                  <a:lnTo>
                    <a:pt x="3306631" y="1873935"/>
                  </a:lnTo>
                  <a:lnTo>
                    <a:pt x="3292208" y="1874875"/>
                  </a:lnTo>
                  <a:lnTo>
                    <a:pt x="109804" y="1874875"/>
                  </a:lnTo>
                  <a:lnTo>
                    <a:pt x="67882" y="1866522"/>
                  </a:lnTo>
                  <a:lnTo>
                    <a:pt x="32224" y="1842696"/>
                  </a:lnTo>
                  <a:lnTo>
                    <a:pt x="8358" y="1807142"/>
                  </a:lnTo>
                  <a:lnTo>
                    <a:pt x="0" y="1765071"/>
                  </a:lnTo>
                  <a:lnTo>
                    <a:pt x="368" y="109791"/>
                  </a:lnTo>
                  <a:close/>
                </a:path>
              </a:pathLst>
            </a:custGeom>
            <a:ln w="10079">
              <a:solidFill>
                <a:srgbClr val="DBE4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8668079" y="2057044"/>
              <a:ext cx="1235075" cy="293370"/>
            </a:xfrm>
            <a:custGeom>
              <a:avLst/>
              <a:gdLst/>
              <a:ahLst/>
              <a:cxnLst/>
              <a:rect l="l" t="t" r="r" b="b"/>
              <a:pathLst>
                <a:path w="1235075" h="293369">
                  <a:moveTo>
                    <a:pt x="110159" y="0"/>
                  </a:moveTo>
                  <a:lnTo>
                    <a:pt x="68088" y="8352"/>
                  </a:lnTo>
                  <a:lnTo>
                    <a:pt x="32535" y="32213"/>
                  </a:lnTo>
                  <a:lnTo>
                    <a:pt x="8713" y="67882"/>
                  </a:lnTo>
                  <a:lnTo>
                    <a:pt x="355" y="109791"/>
                  </a:lnTo>
                  <a:lnTo>
                    <a:pt x="0" y="183235"/>
                  </a:lnTo>
                  <a:lnTo>
                    <a:pt x="939" y="197665"/>
                  </a:lnTo>
                  <a:lnTo>
                    <a:pt x="14757" y="238315"/>
                  </a:lnTo>
                  <a:lnTo>
                    <a:pt x="22681" y="250028"/>
                  </a:lnTo>
                  <a:lnTo>
                    <a:pt x="22783" y="250178"/>
                  </a:lnTo>
                  <a:lnTo>
                    <a:pt x="55079" y="278269"/>
                  </a:lnTo>
                  <a:lnTo>
                    <a:pt x="95379" y="292100"/>
                  </a:lnTo>
                  <a:lnTo>
                    <a:pt x="109804" y="293039"/>
                  </a:lnTo>
                  <a:lnTo>
                    <a:pt x="1125004" y="293039"/>
                  </a:lnTo>
                  <a:lnTo>
                    <a:pt x="1167068" y="284681"/>
                  </a:lnTo>
                  <a:lnTo>
                    <a:pt x="1202577" y="260859"/>
                  </a:lnTo>
                  <a:lnTo>
                    <a:pt x="1226367" y="225306"/>
                  </a:lnTo>
                  <a:lnTo>
                    <a:pt x="1234795" y="183235"/>
                  </a:lnTo>
                  <a:lnTo>
                    <a:pt x="1234771" y="109791"/>
                  </a:lnTo>
                  <a:lnTo>
                    <a:pt x="1226442" y="68088"/>
                  </a:lnTo>
                  <a:lnTo>
                    <a:pt x="1202582" y="32534"/>
                  </a:lnTo>
                  <a:lnTo>
                    <a:pt x="1166912" y="8708"/>
                  </a:lnTo>
                  <a:lnTo>
                    <a:pt x="112500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6F7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8668079" y="2057044"/>
              <a:ext cx="1235075" cy="293370"/>
            </a:xfrm>
            <a:custGeom>
              <a:avLst/>
              <a:gdLst/>
              <a:ahLst/>
              <a:cxnLst/>
              <a:rect l="l" t="t" r="r" b="b"/>
              <a:pathLst>
                <a:path w="1235075" h="293369">
                  <a:moveTo>
                    <a:pt x="355" y="109791"/>
                  </a:moveTo>
                  <a:lnTo>
                    <a:pt x="1295" y="95374"/>
                  </a:lnTo>
                  <a:lnTo>
                    <a:pt x="4092" y="81359"/>
                  </a:lnTo>
                  <a:lnTo>
                    <a:pt x="23138" y="43003"/>
                  </a:lnTo>
                  <a:lnTo>
                    <a:pt x="55079" y="14757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1125004" y="355"/>
                  </a:lnTo>
                  <a:lnTo>
                    <a:pt x="1166912" y="8708"/>
                  </a:lnTo>
                  <a:lnTo>
                    <a:pt x="1202582" y="32534"/>
                  </a:lnTo>
                  <a:lnTo>
                    <a:pt x="1226442" y="68088"/>
                  </a:lnTo>
                  <a:lnTo>
                    <a:pt x="1234795" y="110159"/>
                  </a:lnTo>
                  <a:lnTo>
                    <a:pt x="1234795" y="183235"/>
                  </a:lnTo>
                  <a:lnTo>
                    <a:pt x="1233855" y="197660"/>
                  </a:lnTo>
                  <a:lnTo>
                    <a:pt x="1231060" y="211678"/>
                  </a:lnTo>
                  <a:lnTo>
                    <a:pt x="1212025" y="250028"/>
                  </a:lnTo>
                  <a:lnTo>
                    <a:pt x="1180084" y="278269"/>
                  </a:lnTo>
                  <a:lnTo>
                    <a:pt x="1139427" y="292100"/>
                  </a:lnTo>
                  <a:lnTo>
                    <a:pt x="1125004" y="293039"/>
                  </a:lnTo>
                  <a:lnTo>
                    <a:pt x="109804" y="293039"/>
                  </a:lnTo>
                  <a:lnTo>
                    <a:pt x="67882" y="284681"/>
                  </a:lnTo>
                  <a:lnTo>
                    <a:pt x="32223" y="260859"/>
                  </a:lnTo>
                  <a:lnTo>
                    <a:pt x="8352" y="225306"/>
                  </a:lnTo>
                  <a:lnTo>
                    <a:pt x="0" y="183235"/>
                  </a:lnTo>
                  <a:lnTo>
                    <a:pt x="355" y="109791"/>
                  </a:lnTo>
                  <a:close/>
                </a:path>
              </a:pathLst>
            </a:custGeom>
            <a:ln w="10079">
              <a:solidFill>
                <a:srgbClr val="E6F7F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9073705" y="2109863"/>
            <a:ext cx="42481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25">
                <a:solidFill>
                  <a:srgbClr val="0C9387"/>
                </a:solidFill>
                <a:latin typeface="Arial Black"/>
                <a:cs typeface="Arial Black"/>
              </a:rPr>
              <a:t>SCOPE</a:t>
            </a:r>
            <a:endParaRPr sz="1000">
              <a:latin typeface="Arial Black"/>
              <a:cs typeface="Arial Black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4315675" y="2788920"/>
            <a:ext cx="256540" cy="635"/>
          </a:xfrm>
          <a:custGeom>
            <a:avLst/>
            <a:gdLst/>
            <a:ahLst/>
            <a:cxnLst/>
            <a:rect l="l" t="t" r="r" b="b"/>
            <a:pathLst>
              <a:path w="256539" h="635">
                <a:moveTo>
                  <a:pt x="0" y="0"/>
                </a:moveTo>
                <a:lnTo>
                  <a:pt x="256324" y="355"/>
                </a:lnTo>
              </a:path>
            </a:pathLst>
          </a:custGeom>
          <a:ln w="20159">
            <a:solidFill>
              <a:srgbClr val="0077D3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8138159" y="2788920"/>
            <a:ext cx="256540" cy="635"/>
          </a:xfrm>
          <a:custGeom>
            <a:avLst/>
            <a:gdLst/>
            <a:ahLst/>
            <a:cxnLst/>
            <a:rect l="l" t="t" r="r" b="b"/>
            <a:pathLst>
              <a:path w="256540" h="635">
                <a:moveTo>
                  <a:pt x="0" y="0"/>
                </a:moveTo>
                <a:lnTo>
                  <a:pt x="255955" y="355"/>
                </a:lnTo>
              </a:path>
            </a:pathLst>
          </a:custGeom>
          <a:ln w="20159">
            <a:solidFill>
              <a:srgbClr val="0077D3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8655380" y="2552306"/>
            <a:ext cx="2825115" cy="7943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0F2339"/>
                </a:solidFill>
                <a:latin typeface="Arial Black"/>
                <a:cs typeface="Arial Black"/>
              </a:rPr>
              <a:t>Where?</a:t>
            </a:r>
            <a:endParaRPr sz="1800">
              <a:latin typeface="Arial Black"/>
              <a:cs typeface="Arial Black"/>
            </a:endParaRPr>
          </a:p>
          <a:p>
            <a:pPr marL="12700">
              <a:lnSpc>
                <a:spcPts val="1500"/>
              </a:lnSpc>
              <a:spcBef>
                <a:spcPts val="894"/>
              </a:spcBef>
            </a:pPr>
            <a:r>
              <a:rPr dirty="0" sz="1250" spc="-10">
                <a:solidFill>
                  <a:srgbClr val="556478"/>
                </a:solidFill>
                <a:latin typeface="Noto Sans"/>
                <a:cs typeface="Noto Sans"/>
              </a:rPr>
              <a:t>Management</a:t>
            </a:r>
            <a:r>
              <a:rPr dirty="0" sz="1250" spc="-2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50">
                <a:solidFill>
                  <a:srgbClr val="556478"/>
                </a:solidFill>
                <a:latin typeface="Noto Sans"/>
                <a:cs typeface="Noto Sans"/>
              </a:rPr>
              <a:t>group</a:t>
            </a:r>
            <a:r>
              <a:rPr dirty="0" sz="1250" spc="-1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50" spc="-220">
                <a:solidFill>
                  <a:srgbClr val="556478"/>
                </a:solidFill>
                <a:latin typeface="Arial Narrow"/>
                <a:cs typeface="Arial Narrow"/>
              </a:rPr>
              <a:t>→</a:t>
            </a:r>
            <a:r>
              <a:rPr dirty="0" sz="1250" spc="35">
                <a:solidFill>
                  <a:srgbClr val="556478"/>
                </a:solidFill>
                <a:latin typeface="Arial Narrow"/>
                <a:cs typeface="Arial Narrow"/>
              </a:rPr>
              <a:t> </a:t>
            </a:r>
            <a:r>
              <a:rPr dirty="0" sz="1250" spc="-10">
                <a:solidFill>
                  <a:srgbClr val="556478"/>
                </a:solidFill>
                <a:latin typeface="Noto Sans"/>
                <a:cs typeface="Noto Sans"/>
              </a:rPr>
              <a:t>subscription </a:t>
            </a:r>
            <a:r>
              <a:rPr dirty="0" sz="1250" spc="-50">
                <a:solidFill>
                  <a:srgbClr val="556478"/>
                </a:solidFill>
                <a:latin typeface="Arial Narrow"/>
                <a:cs typeface="Arial Narrow"/>
              </a:rPr>
              <a:t>→</a:t>
            </a:r>
            <a:endParaRPr sz="1250">
              <a:latin typeface="Arial Narrow"/>
              <a:cs typeface="Arial Narrow"/>
            </a:endParaRPr>
          </a:p>
          <a:p>
            <a:pPr marL="12700">
              <a:lnSpc>
                <a:spcPts val="1500"/>
              </a:lnSpc>
            </a:pPr>
            <a:r>
              <a:rPr dirty="0" sz="1250" spc="-10">
                <a:solidFill>
                  <a:srgbClr val="556478"/>
                </a:solidFill>
                <a:latin typeface="Noto Sans"/>
                <a:cs typeface="Noto Sans"/>
              </a:rPr>
              <a:t>resource</a:t>
            </a:r>
            <a:r>
              <a:rPr dirty="0" sz="1250" spc="-6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50">
                <a:solidFill>
                  <a:srgbClr val="556478"/>
                </a:solidFill>
                <a:latin typeface="Noto Sans"/>
                <a:cs typeface="Noto Sans"/>
              </a:rPr>
              <a:t>group</a:t>
            </a:r>
            <a:r>
              <a:rPr dirty="0" sz="1250" spc="-2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50" spc="-220">
                <a:solidFill>
                  <a:srgbClr val="556478"/>
                </a:solidFill>
                <a:latin typeface="Arial Narrow"/>
                <a:cs typeface="Arial Narrow"/>
              </a:rPr>
              <a:t>→</a:t>
            </a:r>
            <a:r>
              <a:rPr dirty="0" sz="1250" spc="30">
                <a:solidFill>
                  <a:srgbClr val="556478"/>
                </a:solidFill>
                <a:latin typeface="Arial Narrow"/>
                <a:cs typeface="Arial Narrow"/>
              </a:rPr>
              <a:t> </a:t>
            </a:r>
            <a:r>
              <a:rPr dirty="0" sz="1250" spc="-10">
                <a:solidFill>
                  <a:srgbClr val="556478"/>
                </a:solidFill>
                <a:latin typeface="Noto Sans"/>
                <a:cs typeface="Noto Sans"/>
              </a:rPr>
              <a:t>resource</a:t>
            </a:r>
            <a:endParaRPr sz="1250">
              <a:latin typeface="Noto Sans"/>
              <a:cs typeface="Noto Sans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1137604" y="4337636"/>
            <a:ext cx="9932035" cy="1108075"/>
            <a:chOff x="1137604" y="4337636"/>
            <a:chExt cx="9932035" cy="1108075"/>
          </a:xfrm>
        </p:grpSpPr>
        <p:sp>
          <p:nvSpPr>
            <p:cNvPr id="30" name="object 30"/>
            <p:cNvSpPr/>
            <p:nvPr/>
          </p:nvSpPr>
          <p:spPr>
            <a:xfrm>
              <a:off x="1142644" y="4342676"/>
              <a:ext cx="9921875" cy="1097915"/>
            </a:xfrm>
            <a:custGeom>
              <a:avLst/>
              <a:gdLst/>
              <a:ahLst/>
              <a:cxnLst/>
              <a:rect l="l" t="t" r="r" b="b"/>
              <a:pathLst>
                <a:path w="9921875" h="1097914">
                  <a:moveTo>
                    <a:pt x="110159" y="0"/>
                  </a:moveTo>
                  <a:lnTo>
                    <a:pt x="68088" y="8358"/>
                  </a:lnTo>
                  <a:lnTo>
                    <a:pt x="32534" y="32224"/>
                  </a:lnTo>
                  <a:lnTo>
                    <a:pt x="8708" y="67882"/>
                  </a:lnTo>
                  <a:lnTo>
                    <a:pt x="355" y="109804"/>
                  </a:lnTo>
                  <a:lnTo>
                    <a:pt x="0" y="987844"/>
                  </a:lnTo>
                  <a:lnTo>
                    <a:pt x="939" y="1002274"/>
                  </a:lnTo>
                  <a:lnTo>
                    <a:pt x="14757" y="1042924"/>
                  </a:lnTo>
                  <a:lnTo>
                    <a:pt x="22674" y="1054637"/>
                  </a:lnTo>
                  <a:lnTo>
                    <a:pt x="22775" y="1054787"/>
                  </a:lnTo>
                  <a:lnTo>
                    <a:pt x="55079" y="1082878"/>
                  </a:lnTo>
                  <a:lnTo>
                    <a:pt x="95374" y="1096708"/>
                  </a:lnTo>
                  <a:lnTo>
                    <a:pt x="109791" y="1097648"/>
                  </a:lnTo>
                  <a:lnTo>
                    <a:pt x="9811791" y="1097648"/>
                  </a:lnTo>
                  <a:lnTo>
                    <a:pt x="9853862" y="1089290"/>
                  </a:lnTo>
                  <a:lnTo>
                    <a:pt x="9889366" y="1065468"/>
                  </a:lnTo>
                  <a:lnTo>
                    <a:pt x="9913167" y="1029915"/>
                  </a:lnTo>
                  <a:lnTo>
                    <a:pt x="9921595" y="987844"/>
                  </a:lnTo>
                  <a:lnTo>
                    <a:pt x="9921572" y="109804"/>
                  </a:lnTo>
                  <a:lnTo>
                    <a:pt x="9913242" y="68095"/>
                  </a:lnTo>
                  <a:lnTo>
                    <a:pt x="9889372" y="32535"/>
                  </a:lnTo>
                  <a:lnTo>
                    <a:pt x="9853712" y="8721"/>
                  </a:lnTo>
                  <a:lnTo>
                    <a:pt x="9811791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9F3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1142644" y="4342676"/>
              <a:ext cx="9921875" cy="1097915"/>
            </a:xfrm>
            <a:custGeom>
              <a:avLst/>
              <a:gdLst/>
              <a:ahLst/>
              <a:cxnLst/>
              <a:rect l="l" t="t" r="r" b="b"/>
              <a:pathLst>
                <a:path w="9921875" h="1097914">
                  <a:moveTo>
                    <a:pt x="355" y="109804"/>
                  </a:moveTo>
                  <a:lnTo>
                    <a:pt x="1295" y="95379"/>
                  </a:lnTo>
                  <a:lnTo>
                    <a:pt x="4090" y="81360"/>
                  </a:lnTo>
                  <a:lnTo>
                    <a:pt x="23133" y="43011"/>
                  </a:lnTo>
                  <a:lnTo>
                    <a:pt x="55079" y="14770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9811791" y="368"/>
                  </a:lnTo>
                  <a:lnTo>
                    <a:pt x="9853712" y="8721"/>
                  </a:lnTo>
                  <a:lnTo>
                    <a:pt x="9889372" y="32535"/>
                  </a:lnTo>
                  <a:lnTo>
                    <a:pt x="9913242" y="68095"/>
                  </a:lnTo>
                  <a:lnTo>
                    <a:pt x="9921595" y="110159"/>
                  </a:lnTo>
                  <a:lnTo>
                    <a:pt x="9921595" y="987844"/>
                  </a:lnTo>
                  <a:lnTo>
                    <a:pt x="9920655" y="1002268"/>
                  </a:lnTo>
                  <a:lnTo>
                    <a:pt x="9917860" y="1016287"/>
                  </a:lnTo>
                  <a:lnTo>
                    <a:pt x="9898818" y="1054637"/>
                  </a:lnTo>
                  <a:lnTo>
                    <a:pt x="9866871" y="1082878"/>
                  </a:lnTo>
                  <a:lnTo>
                    <a:pt x="9826221" y="1096708"/>
                  </a:lnTo>
                  <a:lnTo>
                    <a:pt x="9811791" y="1097648"/>
                  </a:lnTo>
                  <a:lnTo>
                    <a:pt x="109791" y="1097648"/>
                  </a:lnTo>
                  <a:lnTo>
                    <a:pt x="67882" y="1089290"/>
                  </a:lnTo>
                  <a:lnTo>
                    <a:pt x="32213" y="1065468"/>
                  </a:lnTo>
                  <a:lnTo>
                    <a:pt x="8352" y="1029915"/>
                  </a:lnTo>
                  <a:lnTo>
                    <a:pt x="0" y="987844"/>
                  </a:lnTo>
                  <a:lnTo>
                    <a:pt x="355" y="109804"/>
                  </a:lnTo>
                  <a:close/>
                </a:path>
              </a:pathLst>
            </a:custGeom>
            <a:ln w="10079">
              <a:solidFill>
                <a:srgbClr val="E9F3F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1404264" y="4557140"/>
            <a:ext cx="1751964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5">
                <a:solidFill>
                  <a:srgbClr val="0077D3"/>
                </a:solidFill>
                <a:latin typeface="Arial Black"/>
                <a:cs typeface="Arial Black"/>
              </a:rPr>
              <a:t>Good</a:t>
            </a:r>
            <a:r>
              <a:rPr dirty="0" sz="1500" spc="-95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500" spc="-185">
                <a:solidFill>
                  <a:srgbClr val="0077D3"/>
                </a:solidFill>
                <a:latin typeface="Arial Black"/>
                <a:cs typeface="Arial Black"/>
              </a:rPr>
              <a:t>RBAC</a:t>
            </a:r>
            <a:r>
              <a:rPr dirty="0" sz="1500" spc="-9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500" spc="-60">
                <a:solidFill>
                  <a:srgbClr val="0077D3"/>
                </a:solidFill>
                <a:latin typeface="Arial Black"/>
                <a:cs typeface="Arial Black"/>
              </a:rPr>
              <a:t>design</a:t>
            </a:r>
            <a:endParaRPr sz="1500">
              <a:latin typeface="Arial Black"/>
              <a:cs typeface="Arial Black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278784" y="4495584"/>
            <a:ext cx="7070725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0F2339"/>
                </a:solidFill>
                <a:latin typeface="Noto Sans"/>
                <a:cs typeface="Noto Sans"/>
              </a:rPr>
              <a:t>Grant</a:t>
            </a:r>
            <a:r>
              <a:rPr dirty="0" sz="1400" spc="-30">
                <a:solidFill>
                  <a:srgbClr val="0F2339"/>
                </a:solidFill>
                <a:latin typeface="Noto Sans"/>
                <a:cs typeface="Noto Sans"/>
              </a:rPr>
              <a:t> </a:t>
            </a:r>
            <a:r>
              <a:rPr dirty="0" sz="1400">
                <a:solidFill>
                  <a:srgbClr val="0F2339"/>
                </a:solidFill>
                <a:latin typeface="Noto Sans"/>
                <a:cs typeface="Noto Sans"/>
              </a:rPr>
              <a:t>only</a:t>
            </a:r>
            <a:r>
              <a:rPr dirty="0" sz="1400" spc="-30">
                <a:solidFill>
                  <a:srgbClr val="0F2339"/>
                </a:solidFill>
                <a:latin typeface="Noto Sans"/>
                <a:cs typeface="Noto Sans"/>
              </a:rPr>
              <a:t> </a:t>
            </a:r>
            <a:r>
              <a:rPr dirty="0" sz="1400">
                <a:solidFill>
                  <a:srgbClr val="0F2339"/>
                </a:solidFill>
                <a:latin typeface="Noto Sans"/>
                <a:cs typeface="Noto Sans"/>
              </a:rPr>
              <a:t>what</a:t>
            </a:r>
            <a:r>
              <a:rPr dirty="0" sz="1400" spc="-25">
                <a:solidFill>
                  <a:srgbClr val="0F2339"/>
                </a:solidFill>
                <a:latin typeface="Noto Sans"/>
                <a:cs typeface="Noto Sans"/>
              </a:rPr>
              <a:t> </a:t>
            </a:r>
            <a:r>
              <a:rPr dirty="0" sz="1400">
                <a:solidFill>
                  <a:srgbClr val="0F2339"/>
                </a:solidFill>
                <a:latin typeface="Noto Sans"/>
                <a:cs typeface="Noto Sans"/>
              </a:rPr>
              <a:t>is</a:t>
            </a:r>
            <a:r>
              <a:rPr dirty="0" sz="1400" spc="-25">
                <a:solidFill>
                  <a:srgbClr val="0F2339"/>
                </a:solidFill>
                <a:latin typeface="Noto Sans"/>
                <a:cs typeface="Noto Sans"/>
              </a:rPr>
              <a:t> </a:t>
            </a:r>
            <a:r>
              <a:rPr dirty="0" sz="1400">
                <a:solidFill>
                  <a:srgbClr val="0F2339"/>
                </a:solidFill>
                <a:latin typeface="Noto Sans"/>
                <a:cs typeface="Noto Sans"/>
              </a:rPr>
              <a:t>needed,</a:t>
            </a:r>
            <a:r>
              <a:rPr dirty="0" sz="1400" spc="-25">
                <a:solidFill>
                  <a:srgbClr val="0F2339"/>
                </a:solidFill>
                <a:latin typeface="Noto Sans"/>
                <a:cs typeface="Noto Sans"/>
              </a:rPr>
              <a:t> </a:t>
            </a:r>
            <a:r>
              <a:rPr dirty="0" sz="1400">
                <a:solidFill>
                  <a:srgbClr val="0F2339"/>
                </a:solidFill>
                <a:latin typeface="Noto Sans"/>
                <a:cs typeface="Noto Sans"/>
              </a:rPr>
              <a:t>to</a:t>
            </a:r>
            <a:r>
              <a:rPr dirty="0" sz="1400" spc="-25">
                <a:solidFill>
                  <a:srgbClr val="0F2339"/>
                </a:solidFill>
                <a:latin typeface="Noto Sans"/>
                <a:cs typeface="Noto Sans"/>
              </a:rPr>
              <a:t> </a:t>
            </a:r>
            <a:r>
              <a:rPr dirty="0" sz="1400">
                <a:solidFill>
                  <a:srgbClr val="0F2339"/>
                </a:solidFill>
                <a:latin typeface="Noto Sans"/>
                <a:cs typeface="Noto Sans"/>
              </a:rPr>
              <a:t>the</a:t>
            </a:r>
            <a:r>
              <a:rPr dirty="0" sz="1400" spc="-25">
                <a:solidFill>
                  <a:srgbClr val="0F2339"/>
                </a:solidFill>
                <a:latin typeface="Noto Sans"/>
                <a:cs typeface="Noto Sans"/>
              </a:rPr>
              <a:t> </a:t>
            </a:r>
            <a:r>
              <a:rPr dirty="0" sz="1400">
                <a:solidFill>
                  <a:srgbClr val="0F2339"/>
                </a:solidFill>
                <a:latin typeface="Noto Sans"/>
                <a:cs typeface="Noto Sans"/>
              </a:rPr>
              <a:t>right</a:t>
            </a:r>
            <a:r>
              <a:rPr dirty="0" sz="1400" spc="-25">
                <a:solidFill>
                  <a:srgbClr val="0F2339"/>
                </a:solidFill>
                <a:latin typeface="Noto Sans"/>
                <a:cs typeface="Noto Sans"/>
              </a:rPr>
              <a:t> </a:t>
            </a:r>
            <a:r>
              <a:rPr dirty="0" sz="1400">
                <a:solidFill>
                  <a:srgbClr val="0F2339"/>
                </a:solidFill>
                <a:latin typeface="Noto Sans"/>
                <a:cs typeface="Noto Sans"/>
              </a:rPr>
              <a:t>identity,</a:t>
            </a:r>
            <a:r>
              <a:rPr dirty="0" sz="1400" spc="-30">
                <a:solidFill>
                  <a:srgbClr val="0F2339"/>
                </a:solidFill>
                <a:latin typeface="Noto Sans"/>
                <a:cs typeface="Noto Sans"/>
              </a:rPr>
              <a:t> </a:t>
            </a:r>
            <a:r>
              <a:rPr dirty="0" sz="1400">
                <a:solidFill>
                  <a:srgbClr val="0F2339"/>
                </a:solidFill>
                <a:latin typeface="Noto Sans"/>
                <a:cs typeface="Noto Sans"/>
              </a:rPr>
              <a:t>at</a:t>
            </a:r>
            <a:r>
              <a:rPr dirty="0" sz="1400" spc="-25">
                <a:solidFill>
                  <a:srgbClr val="0F2339"/>
                </a:solidFill>
                <a:latin typeface="Noto Sans"/>
                <a:cs typeface="Noto Sans"/>
              </a:rPr>
              <a:t> </a:t>
            </a:r>
            <a:r>
              <a:rPr dirty="0" sz="1400">
                <a:solidFill>
                  <a:srgbClr val="0F2339"/>
                </a:solidFill>
                <a:latin typeface="Noto Sans"/>
                <a:cs typeface="Noto Sans"/>
              </a:rPr>
              <a:t>the</a:t>
            </a:r>
            <a:r>
              <a:rPr dirty="0" sz="1400" spc="-25">
                <a:solidFill>
                  <a:srgbClr val="0F2339"/>
                </a:solidFill>
                <a:latin typeface="Noto Sans"/>
                <a:cs typeface="Noto Sans"/>
              </a:rPr>
              <a:t> </a:t>
            </a:r>
            <a:r>
              <a:rPr dirty="0" sz="1400">
                <a:solidFill>
                  <a:srgbClr val="0F2339"/>
                </a:solidFill>
                <a:latin typeface="Noto Sans"/>
                <a:cs typeface="Noto Sans"/>
              </a:rPr>
              <a:t>narrowest</a:t>
            </a:r>
            <a:r>
              <a:rPr dirty="0" sz="1400" spc="-25">
                <a:solidFill>
                  <a:srgbClr val="0F2339"/>
                </a:solidFill>
                <a:latin typeface="Noto Sans"/>
                <a:cs typeface="Noto Sans"/>
              </a:rPr>
              <a:t> </a:t>
            </a:r>
            <a:r>
              <a:rPr dirty="0" sz="1400">
                <a:solidFill>
                  <a:srgbClr val="0F2339"/>
                </a:solidFill>
                <a:latin typeface="Noto Sans"/>
                <a:cs typeface="Noto Sans"/>
              </a:rPr>
              <a:t>practical</a:t>
            </a:r>
            <a:r>
              <a:rPr dirty="0" sz="1400" spc="-25">
                <a:solidFill>
                  <a:srgbClr val="0F2339"/>
                </a:solidFill>
                <a:latin typeface="Noto Sans"/>
                <a:cs typeface="Noto Sans"/>
              </a:rPr>
              <a:t> </a:t>
            </a:r>
            <a:r>
              <a:rPr dirty="0" sz="1400">
                <a:solidFill>
                  <a:srgbClr val="0F2339"/>
                </a:solidFill>
                <a:latin typeface="Noto Sans"/>
                <a:cs typeface="Noto Sans"/>
              </a:rPr>
              <a:t>scope;</a:t>
            </a:r>
            <a:r>
              <a:rPr dirty="0" sz="1400" spc="-25">
                <a:solidFill>
                  <a:srgbClr val="0F2339"/>
                </a:solidFill>
                <a:latin typeface="Noto Sans"/>
                <a:cs typeface="Noto Sans"/>
              </a:rPr>
              <a:t> use </a:t>
            </a:r>
            <a:r>
              <a:rPr dirty="0" sz="1400">
                <a:solidFill>
                  <a:srgbClr val="0F2339"/>
                </a:solidFill>
                <a:latin typeface="Noto Sans"/>
                <a:cs typeface="Noto Sans"/>
              </a:rPr>
              <a:t>groups</a:t>
            </a:r>
            <a:r>
              <a:rPr dirty="0" sz="1400" spc="-45">
                <a:solidFill>
                  <a:srgbClr val="0F2339"/>
                </a:solidFill>
                <a:latin typeface="Noto Sans"/>
                <a:cs typeface="Noto Sans"/>
              </a:rPr>
              <a:t> </a:t>
            </a:r>
            <a:r>
              <a:rPr dirty="0" sz="1400">
                <a:solidFill>
                  <a:srgbClr val="0F2339"/>
                </a:solidFill>
                <a:latin typeface="Noto Sans"/>
                <a:cs typeface="Noto Sans"/>
              </a:rPr>
              <a:t>and</a:t>
            </a:r>
            <a:r>
              <a:rPr dirty="0" sz="1400" spc="-40">
                <a:solidFill>
                  <a:srgbClr val="0F2339"/>
                </a:solidFill>
                <a:latin typeface="Noto Sans"/>
                <a:cs typeface="Noto Sans"/>
              </a:rPr>
              <a:t> </a:t>
            </a:r>
            <a:r>
              <a:rPr dirty="0" sz="1400" spc="-10">
                <a:solidFill>
                  <a:srgbClr val="0F2339"/>
                </a:solidFill>
                <a:latin typeface="Noto Sans"/>
                <a:cs typeface="Noto Sans"/>
              </a:rPr>
              <a:t>review</a:t>
            </a:r>
            <a:r>
              <a:rPr dirty="0" sz="1400" spc="-40">
                <a:solidFill>
                  <a:srgbClr val="0F2339"/>
                </a:solidFill>
                <a:latin typeface="Noto Sans"/>
                <a:cs typeface="Noto Sans"/>
              </a:rPr>
              <a:t> </a:t>
            </a:r>
            <a:r>
              <a:rPr dirty="0" sz="1400">
                <a:solidFill>
                  <a:srgbClr val="0F2339"/>
                </a:solidFill>
                <a:latin typeface="Noto Sans"/>
                <a:cs typeface="Noto Sans"/>
              </a:rPr>
              <a:t>access</a:t>
            </a:r>
            <a:r>
              <a:rPr dirty="0" sz="1400" spc="-45">
                <a:solidFill>
                  <a:srgbClr val="0F2339"/>
                </a:solidFill>
                <a:latin typeface="Noto Sans"/>
                <a:cs typeface="Noto Sans"/>
              </a:rPr>
              <a:t> </a:t>
            </a:r>
            <a:r>
              <a:rPr dirty="0" sz="1400" spc="-10">
                <a:solidFill>
                  <a:srgbClr val="0F2339"/>
                </a:solidFill>
                <a:latin typeface="Noto Sans"/>
                <a:cs typeface="Noto Sans"/>
              </a:rPr>
              <a:t>regularly.</a:t>
            </a:r>
            <a:endParaRPr sz="1400">
              <a:latin typeface="Noto Sans"/>
              <a:cs typeface="Noto Sans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213902" y="5739739"/>
            <a:ext cx="7738745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135">
                <a:solidFill>
                  <a:srgbClr val="C1403A"/>
                </a:solidFill>
                <a:latin typeface="Arial Black"/>
                <a:cs typeface="Arial Black"/>
              </a:rPr>
              <a:t>Scope</a:t>
            </a:r>
            <a:r>
              <a:rPr dirty="0" sz="1300" spc="-55">
                <a:solidFill>
                  <a:srgbClr val="C1403A"/>
                </a:solidFill>
                <a:latin typeface="Arial Black"/>
                <a:cs typeface="Arial Black"/>
              </a:rPr>
              <a:t> </a:t>
            </a:r>
            <a:r>
              <a:rPr dirty="0" sz="1300" spc="-65">
                <a:solidFill>
                  <a:srgbClr val="C1403A"/>
                </a:solidFill>
                <a:latin typeface="Arial Black"/>
                <a:cs typeface="Arial Black"/>
              </a:rPr>
              <a:t>inheritance</a:t>
            </a:r>
            <a:r>
              <a:rPr dirty="0" sz="1300" spc="-50">
                <a:solidFill>
                  <a:srgbClr val="C1403A"/>
                </a:solidFill>
                <a:latin typeface="Arial Black"/>
                <a:cs typeface="Arial Black"/>
              </a:rPr>
              <a:t> </a:t>
            </a:r>
            <a:r>
              <a:rPr dirty="0" sz="1300" spc="-100">
                <a:solidFill>
                  <a:srgbClr val="C1403A"/>
                </a:solidFill>
                <a:latin typeface="Arial Black"/>
                <a:cs typeface="Arial Black"/>
              </a:rPr>
              <a:t>reduces</a:t>
            </a:r>
            <a:r>
              <a:rPr dirty="0" sz="1300" spc="-55">
                <a:solidFill>
                  <a:srgbClr val="C1403A"/>
                </a:solidFill>
                <a:latin typeface="Arial Black"/>
                <a:cs typeface="Arial Black"/>
              </a:rPr>
              <a:t> </a:t>
            </a:r>
            <a:r>
              <a:rPr dirty="0" sz="1300" spc="-50">
                <a:solidFill>
                  <a:srgbClr val="C1403A"/>
                </a:solidFill>
                <a:latin typeface="Arial Black"/>
                <a:cs typeface="Arial Black"/>
              </a:rPr>
              <a:t>repetition—</a:t>
            </a:r>
            <a:r>
              <a:rPr dirty="0" sz="1300" spc="-30">
                <a:solidFill>
                  <a:srgbClr val="C1403A"/>
                </a:solidFill>
                <a:latin typeface="Arial Black"/>
                <a:cs typeface="Arial Black"/>
              </a:rPr>
              <a:t>but</a:t>
            </a:r>
            <a:r>
              <a:rPr dirty="0" sz="1300" spc="-50">
                <a:solidFill>
                  <a:srgbClr val="C1403A"/>
                </a:solidFill>
                <a:latin typeface="Arial Black"/>
                <a:cs typeface="Arial Black"/>
              </a:rPr>
              <a:t> </a:t>
            </a:r>
            <a:r>
              <a:rPr dirty="0" sz="1300" spc="-85">
                <a:solidFill>
                  <a:srgbClr val="C1403A"/>
                </a:solidFill>
                <a:latin typeface="Arial Black"/>
                <a:cs typeface="Arial Black"/>
              </a:rPr>
              <a:t>a</a:t>
            </a:r>
            <a:r>
              <a:rPr dirty="0" sz="1300" spc="-55">
                <a:solidFill>
                  <a:srgbClr val="C1403A"/>
                </a:solidFill>
                <a:latin typeface="Arial Black"/>
                <a:cs typeface="Arial Black"/>
              </a:rPr>
              <a:t> </a:t>
            </a:r>
            <a:r>
              <a:rPr dirty="0" sz="1300" spc="-60">
                <a:solidFill>
                  <a:srgbClr val="C1403A"/>
                </a:solidFill>
                <a:latin typeface="Arial Black"/>
                <a:cs typeface="Arial Black"/>
              </a:rPr>
              <a:t>broad</a:t>
            </a:r>
            <a:r>
              <a:rPr dirty="0" sz="1300" spc="-55">
                <a:solidFill>
                  <a:srgbClr val="C1403A"/>
                </a:solidFill>
                <a:latin typeface="Arial Black"/>
                <a:cs typeface="Arial Black"/>
              </a:rPr>
              <a:t> </a:t>
            </a:r>
            <a:r>
              <a:rPr dirty="0" sz="1300" spc="-75">
                <a:solidFill>
                  <a:srgbClr val="C1403A"/>
                </a:solidFill>
                <a:latin typeface="Arial Black"/>
                <a:cs typeface="Arial Black"/>
              </a:rPr>
              <a:t>assignment</a:t>
            </a:r>
            <a:r>
              <a:rPr dirty="0" sz="1300" spc="-55">
                <a:solidFill>
                  <a:srgbClr val="C1403A"/>
                </a:solidFill>
                <a:latin typeface="Arial Black"/>
                <a:cs typeface="Arial Black"/>
              </a:rPr>
              <a:t> </a:t>
            </a:r>
            <a:r>
              <a:rPr dirty="0" sz="1300" spc="-95">
                <a:solidFill>
                  <a:srgbClr val="C1403A"/>
                </a:solidFill>
                <a:latin typeface="Arial Black"/>
                <a:cs typeface="Arial Black"/>
              </a:rPr>
              <a:t>also</a:t>
            </a:r>
            <a:r>
              <a:rPr dirty="0" sz="1300" spc="-55">
                <a:solidFill>
                  <a:srgbClr val="C1403A"/>
                </a:solidFill>
                <a:latin typeface="Arial Black"/>
                <a:cs typeface="Arial Black"/>
              </a:rPr>
              <a:t> </a:t>
            </a:r>
            <a:r>
              <a:rPr dirty="0" sz="1300" spc="-75">
                <a:solidFill>
                  <a:srgbClr val="C1403A"/>
                </a:solidFill>
                <a:latin typeface="Arial Black"/>
                <a:cs typeface="Arial Black"/>
              </a:rPr>
              <a:t>broadens</a:t>
            </a:r>
            <a:r>
              <a:rPr dirty="0" sz="1300" spc="-55">
                <a:solidFill>
                  <a:srgbClr val="C1403A"/>
                </a:solidFill>
                <a:latin typeface="Arial Black"/>
                <a:cs typeface="Arial Black"/>
              </a:rPr>
              <a:t> </a:t>
            </a:r>
            <a:r>
              <a:rPr dirty="0" sz="1300" spc="-45">
                <a:solidFill>
                  <a:srgbClr val="C1403A"/>
                </a:solidFill>
                <a:latin typeface="Arial Black"/>
                <a:cs typeface="Arial Black"/>
              </a:rPr>
              <a:t>the</a:t>
            </a:r>
            <a:r>
              <a:rPr dirty="0" sz="1300" spc="-50">
                <a:solidFill>
                  <a:srgbClr val="C1403A"/>
                </a:solidFill>
                <a:latin typeface="Arial Black"/>
                <a:cs typeface="Arial Black"/>
              </a:rPr>
              <a:t> </a:t>
            </a:r>
            <a:r>
              <a:rPr dirty="0" sz="1300" spc="-75">
                <a:solidFill>
                  <a:srgbClr val="C1403A"/>
                </a:solidFill>
                <a:latin typeface="Arial Black"/>
                <a:cs typeface="Arial Black"/>
              </a:rPr>
              <a:t>blast</a:t>
            </a:r>
            <a:r>
              <a:rPr dirty="0" sz="1300" spc="-55">
                <a:solidFill>
                  <a:srgbClr val="C1403A"/>
                </a:solidFill>
                <a:latin typeface="Arial Black"/>
                <a:cs typeface="Arial Black"/>
              </a:rPr>
              <a:t> </a:t>
            </a:r>
            <a:r>
              <a:rPr dirty="0" sz="1300" spc="-10">
                <a:solidFill>
                  <a:srgbClr val="C1403A"/>
                </a:solidFill>
                <a:latin typeface="Arial Black"/>
                <a:cs typeface="Arial Black"/>
              </a:rPr>
              <a:t>radius.</a:t>
            </a:r>
            <a:endParaRPr sz="1300">
              <a:latin typeface="Arial Black"/>
              <a:cs typeface="Arial Black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66635" y="6382435"/>
            <a:ext cx="11064240" cy="635"/>
          </a:xfrm>
          <a:custGeom>
            <a:avLst/>
            <a:gdLst/>
            <a:ahLst/>
            <a:cxnLst/>
            <a:rect l="l" t="t" r="r" b="b"/>
            <a:pathLst>
              <a:path w="11064240" h="635">
                <a:moveTo>
                  <a:pt x="0" y="0"/>
                </a:moveTo>
                <a:lnTo>
                  <a:pt x="11064240" y="368"/>
                </a:lnTo>
              </a:path>
            </a:pathLst>
          </a:custGeom>
          <a:ln w="8999">
            <a:solidFill>
              <a:srgbClr val="DBE4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90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 spc="-100"/>
              <a:t>DAY</a:t>
            </a:r>
            <a:r>
              <a:rPr dirty="0" spc="-55"/>
              <a:t> </a:t>
            </a:r>
            <a:r>
              <a:rPr dirty="0"/>
              <a:t>1</a:t>
            </a:r>
            <a:r>
              <a:rPr dirty="0" spc="105"/>
              <a:t> </a:t>
            </a:r>
            <a:r>
              <a:rPr dirty="0"/>
              <a:t>•</a:t>
            </a:r>
            <a:r>
              <a:rPr dirty="0" spc="130"/>
              <a:t> </a:t>
            </a:r>
            <a:r>
              <a:rPr dirty="0" spc="-70"/>
              <a:t>CLOUD</a:t>
            </a:r>
            <a:r>
              <a:rPr dirty="0" spc="-55"/>
              <a:t> </a:t>
            </a:r>
            <a:r>
              <a:rPr dirty="0" spc="-65"/>
              <a:t>FOUNDATIONS</a:t>
            </a:r>
            <a:r>
              <a:rPr dirty="0" spc="-55"/>
              <a:t> </a:t>
            </a:r>
            <a:r>
              <a:rPr dirty="0" spc="-105"/>
              <a:t>&amp;</a:t>
            </a:r>
            <a:r>
              <a:rPr dirty="0" spc="-50"/>
              <a:t> </a:t>
            </a:r>
            <a:r>
              <a:rPr dirty="0" spc="-95"/>
              <a:t>AZURE</a:t>
            </a:r>
            <a:r>
              <a:rPr dirty="0" spc="-55"/>
              <a:t> </a:t>
            </a:r>
            <a:r>
              <a:rPr dirty="0" spc="-50"/>
              <a:t>BASICS</a:t>
            </a:r>
          </a:p>
        </p:txBody>
      </p:sp>
      <p:sp>
        <p:nvSpPr>
          <p:cNvPr id="35" name="object 3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032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160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3935" y="299427"/>
            <a:ext cx="256349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65">
                <a:solidFill>
                  <a:srgbClr val="0077D3"/>
                </a:solidFill>
                <a:latin typeface="Arial Black"/>
                <a:cs typeface="Arial Black"/>
              </a:rPr>
              <a:t>PA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25">
                <a:solidFill>
                  <a:srgbClr val="0077D3"/>
                </a:solidFill>
                <a:latin typeface="Arial Black"/>
                <a:cs typeface="Arial Black"/>
              </a:rPr>
              <a:t>R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>
                <a:solidFill>
                  <a:srgbClr val="0077D3"/>
                </a:solidFill>
                <a:latin typeface="Arial Black"/>
                <a:cs typeface="Arial Black"/>
              </a:rPr>
              <a:t>T</a:t>
            </a:r>
            <a:r>
              <a:rPr dirty="0" sz="1000" spc="-5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>
                <a:solidFill>
                  <a:srgbClr val="0077D3"/>
                </a:solidFill>
                <a:latin typeface="Arial Black"/>
                <a:cs typeface="Arial Black"/>
              </a:rPr>
              <a:t>4 •</a:t>
            </a:r>
            <a:r>
              <a:rPr dirty="0" sz="1000" spc="12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95">
                <a:solidFill>
                  <a:srgbClr val="0077D3"/>
                </a:solidFill>
                <a:latin typeface="Arial Black"/>
                <a:cs typeface="Arial Black"/>
              </a:rPr>
              <a:t>A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60">
                <a:solidFill>
                  <a:srgbClr val="0077D3"/>
                </a:solidFill>
                <a:latin typeface="Arial Black"/>
                <a:cs typeface="Arial Black"/>
              </a:rPr>
              <a:t>Z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90">
                <a:solidFill>
                  <a:srgbClr val="0077D3"/>
                </a:solidFill>
                <a:latin typeface="Arial Black"/>
                <a:cs typeface="Arial Black"/>
              </a:rPr>
              <a:t>U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25">
                <a:solidFill>
                  <a:srgbClr val="0077D3"/>
                </a:solidFill>
                <a:latin typeface="Arial Black"/>
                <a:cs typeface="Arial Black"/>
              </a:rPr>
              <a:t>R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>
                <a:solidFill>
                  <a:srgbClr val="0077D3"/>
                </a:solidFill>
                <a:latin typeface="Arial Black"/>
                <a:cs typeface="Arial Black"/>
              </a:rPr>
              <a:t>E</a:t>
            </a:r>
            <a:r>
              <a:rPr dirty="0" sz="1000" spc="1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60">
                <a:solidFill>
                  <a:srgbClr val="0077D3"/>
                </a:solidFill>
                <a:latin typeface="Arial Black"/>
                <a:cs typeface="Arial Black"/>
              </a:rPr>
              <a:t>ACC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75">
                <a:solidFill>
                  <a:srgbClr val="0077D3"/>
                </a:solidFill>
                <a:latin typeface="Arial Black"/>
                <a:cs typeface="Arial Black"/>
              </a:rPr>
              <a:t>E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80">
                <a:solidFill>
                  <a:srgbClr val="0077D3"/>
                </a:solidFill>
                <a:latin typeface="Arial Black"/>
                <a:cs typeface="Arial Black"/>
              </a:rPr>
              <a:t>S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>
                <a:solidFill>
                  <a:srgbClr val="0077D3"/>
                </a:solidFill>
                <a:latin typeface="Arial Black"/>
                <a:cs typeface="Arial Black"/>
              </a:rPr>
              <a:t>S</a:t>
            </a:r>
            <a:r>
              <a:rPr dirty="0" sz="1000" spc="114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45">
                <a:solidFill>
                  <a:srgbClr val="0077D3"/>
                </a:solidFill>
                <a:latin typeface="Arial Black"/>
                <a:cs typeface="Arial Black"/>
              </a:rPr>
              <a:t>CO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35">
                <a:solidFill>
                  <a:srgbClr val="0077D3"/>
                </a:solidFill>
                <a:latin typeface="Arial Black"/>
                <a:cs typeface="Arial Black"/>
              </a:rPr>
              <a:t>N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60">
                <a:solidFill>
                  <a:srgbClr val="0077D3"/>
                </a:solidFill>
                <a:latin typeface="Arial Black"/>
                <a:cs typeface="Arial Black"/>
              </a:rPr>
              <a:t>T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25">
                <a:solidFill>
                  <a:srgbClr val="0077D3"/>
                </a:solidFill>
                <a:latin typeface="Arial Black"/>
                <a:cs typeface="Arial Black"/>
              </a:rPr>
              <a:t>R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50">
                <a:solidFill>
                  <a:srgbClr val="0077D3"/>
                </a:solidFill>
                <a:latin typeface="Arial Black"/>
                <a:cs typeface="Arial Black"/>
              </a:rPr>
              <a:t>O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50">
                <a:solidFill>
                  <a:srgbClr val="0077D3"/>
                </a:solidFill>
                <a:latin typeface="Arial Black"/>
                <a:cs typeface="Arial Black"/>
              </a:rPr>
              <a:t>L</a:t>
            </a:r>
            <a:endParaRPr sz="1000">
              <a:latin typeface="Arial Black"/>
              <a:cs typeface="Arial Black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54304" y="428977"/>
            <a:ext cx="9456420" cy="814705"/>
          </a:xfrm>
          <a:prstGeom prst="rect"/>
        </p:spPr>
        <p:txBody>
          <a:bodyPr wrap="square" lIns="0" tIns="133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0"/>
              </a:spcBef>
            </a:pPr>
            <a:r>
              <a:rPr dirty="0" sz="2700" spc="-200">
                <a:solidFill>
                  <a:srgbClr val="0F2339"/>
                </a:solidFill>
              </a:rPr>
              <a:t>Least</a:t>
            </a:r>
            <a:r>
              <a:rPr dirty="0" sz="2700" spc="-185">
                <a:solidFill>
                  <a:srgbClr val="0F2339"/>
                </a:solidFill>
              </a:rPr>
              <a:t> </a:t>
            </a:r>
            <a:r>
              <a:rPr dirty="0" sz="2700" spc="-110">
                <a:solidFill>
                  <a:srgbClr val="0F2339"/>
                </a:solidFill>
              </a:rPr>
              <a:t>privilege:</a:t>
            </a:r>
            <a:r>
              <a:rPr dirty="0" sz="2700" spc="-175">
                <a:solidFill>
                  <a:srgbClr val="0F2339"/>
                </a:solidFill>
              </a:rPr>
              <a:t> reduce</a:t>
            </a:r>
            <a:r>
              <a:rPr dirty="0" sz="2700" spc="-180">
                <a:solidFill>
                  <a:srgbClr val="0F2339"/>
                </a:solidFill>
              </a:rPr>
              <a:t> </a:t>
            </a:r>
            <a:r>
              <a:rPr dirty="0" sz="2700" spc="-310">
                <a:solidFill>
                  <a:srgbClr val="0F2339"/>
                </a:solidFill>
              </a:rPr>
              <a:t>access</a:t>
            </a:r>
            <a:r>
              <a:rPr dirty="0" sz="2700" spc="-180">
                <a:solidFill>
                  <a:srgbClr val="0F2339"/>
                </a:solidFill>
              </a:rPr>
              <a:t> </a:t>
            </a:r>
            <a:r>
              <a:rPr dirty="0" sz="2700" spc="-85">
                <a:solidFill>
                  <a:srgbClr val="0F2339"/>
                </a:solidFill>
              </a:rPr>
              <a:t>without</a:t>
            </a:r>
            <a:r>
              <a:rPr dirty="0" sz="2700" spc="-175">
                <a:solidFill>
                  <a:srgbClr val="0F2339"/>
                </a:solidFill>
              </a:rPr>
              <a:t> </a:t>
            </a:r>
            <a:r>
              <a:rPr dirty="0" sz="2700" spc="-120">
                <a:solidFill>
                  <a:srgbClr val="0F2339"/>
                </a:solidFill>
              </a:rPr>
              <a:t>breaking</a:t>
            </a:r>
            <a:r>
              <a:rPr dirty="0" sz="2700" spc="-175">
                <a:solidFill>
                  <a:srgbClr val="0F2339"/>
                </a:solidFill>
              </a:rPr>
              <a:t> </a:t>
            </a:r>
            <a:r>
              <a:rPr dirty="0" sz="2700" spc="-105">
                <a:solidFill>
                  <a:srgbClr val="0F2339"/>
                </a:solidFill>
              </a:rPr>
              <a:t>the</a:t>
            </a:r>
            <a:r>
              <a:rPr dirty="0" sz="2700" spc="-185">
                <a:solidFill>
                  <a:srgbClr val="0F2339"/>
                </a:solidFill>
              </a:rPr>
              <a:t> </a:t>
            </a:r>
            <a:r>
              <a:rPr dirty="0" sz="2700" spc="-25">
                <a:solidFill>
                  <a:srgbClr val="0F2339"/>
                </a:solidFill>
              </a:rPr>
              <a:t>job</a:t>
            </a:r>
            <a:endParaRPr sz="2700"/>
          </a:p>
          <a:p>
            <a:pPr marL="30480">
              <a:lnSpc>
                <a:spcPct val="100000"/>
              </a:lnSpc>
              <a:spcBef>
                <a:spcPts val="459"/>
              </a:spcBef>
            </a:pP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Scenario</a:t>
            </a:r>
            <a:r>
              <a:rPr dirty="0" sz="13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D1-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3:</a:t>
            </a:r>
            <a:r>
              <a:rPr dirty="0" sz="13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an</a:t>
            </a:r>
            <a:r>
              <a:rPr dirty="0" sz="13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identity</a:t>
            </a:r>
            <a:r>
              <a:rPr dirty="0" sz="130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only</a:t>
            </a:r>
            <a:r>
              <a:rPr dirty="0" sz="13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needs</a:t>
            </a:r>
            <a:r>
              <a:rPr dirty="0" sz="13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to</a:t>
            </a:r>
            <a:r>
              <a:rPr dirty="0" sz="130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read</a:t>
            </a:r>
            <a:r>
              <a:rPr dirty="0" sz="13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logs</a:t>
            </a:r>
            <a:r>
              <a:rPr dirty="0" sz="13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and</a:t>
            </a:r>
            <a:r>
              <a:rPr dirty="0" sz="130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restart</a:t>
            </a:r>
            <a:r>
              <a:rPr dirty="0" sz="13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one</a:t>
            </a:r>
            <a:r>
              <a:rPr dirty="0" sz="13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VM,</a:t>
            </a:r>
            <a:r>
              <a:rPr dirty="0" sz="130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but</a:t>
            </a:r>
            <a:r>
              <a:rPr dirty="0" sz="13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currently</a:t>
            </a:r>
            <a:r>
              <a:rPr dirty="0" sz="13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has</a:t>
            </a:r>
            <a:r>
              <a:rPr dirty="0" sz="130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subscription-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level</a:t>
            </a:r>
            <a:r>
              <a:rPr dirty="0" sz="13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Owner.</a:t>
            </a:r>
            <a:endParaRPr sz="1300">
              <a:latin typeface="Noto Sans"/>
              <a:cs typeface="Noto San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66635" y="1417319"/>
            <a:ext cx="11064240" cy="635"/>
          </a:xfrm>
          <a:custGeom>
            <a:avLst/>
            <a:gdLst/>
            <a:ahLst/>
            <a:cxnLst/>
            <a:rect l="l" t="t" r="r" b="b"/>
            <a:pathLst>
              <a:path w="11064240" h="634">
                <a:moveTo>
                  <a:pt x="0" y="0"/>
                </a:moveTo>
                <a:lnTo>
                  <a:pt x="11064240" y="355"/>
                </a:lnTo>
              </a:path>
            </a:pathLst>
          </a:custGeom>
          <a:ln w="10079">
            <a:solidFill>
              <a:srgbClr val="DBE4ED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6" name="object 6"/>
          <p:cNvGrpSpPr/>
          <p:nvPr/>
        </p:nvGrpSpPr>
        <p:grpSpPr>
          <a:xfrm>
            <a:off x="817196" y="1823404"/>
            <a:ext cx="4034154" cy="2342515"/>
            <a:chOff x="817196" y="1823404"/>
            <a:chExt cx="4034154" cy="2342515"/>
          </a:xfrm>
        </p:grpSpPr>
        <p:sp>
          <p:nvSpPr>
            <p:cNvPr id="7" name="object 7"/>
            <p:cNvSpPr/>
            <p:nvPr/>
          </p:nvSpPr>
          <p:spPr>
            <a:xfrm>
              <a:off x="822236" y="1828444"/>
              <a:ext cx="4023995" cy="2332355"/>
            </a:xfrm>
            <a:custGeom>
              <a:avLst/>
              <a:gdLst/>
              <a:ahLst/>
              <a:cxnLst/>
              <a:rect l="l" t="t" r="r" b="b"/>
              <a:pathLst>
                <a:path w="4023995" h="2332354">
                  <a:moveTo>
                    <a:pt x="110159" y="0"/>
                  </a:moveTo>
                  <a:lnTo>
                    <a:pt x="68095" y="8352"/>
                  </a:lnTo>
                  <a:lnTo>
                    <a:pt x="32535" y="32213"/>
                  </a:lnTo>
                  <a:lnTo>
                    <a:pt x="8721" y="67882"/>
                  </a:lnTo>
                  <a:lnTo>
                    <a:pt x="368" y="109791"/>
                  </a:lnTo>
                  <a:lnTo>
                    <a:pt x="0" y="2222271"/>
                  </a:lnTo>
                  <a:lnTo>
                    <a:pt x="939" y="2236701"/>
                  </a:lnTo>
                  <a:lnTo>
                    <a:pt x="3736" y="2250759"/>
                  </a:lnTo>
                  <a:lnTo>
                    <a:pt x="8307" y="2264192"/>
                  </a:lnTo>
                  <a:lnTo>
                    <a:pt x="8358" y="2264342"/>
                  </a:lnTo>
                  <a:lnTo>
                    <a:pt x="32224" y="2299896"/>
                  </a:lnTo>
                  <a:lnTo>
                    <a:pt x="67882" y="2323722"/>
                  </a:lnTo>
                  <a:lnTo>
                    <a:pt x="109804" y="2332075"/>
                  </a:lnTo>
                  <a:lnTo>
                    <a:pt x="3913924" y="2332075"/>
                  </a:lnTo>
                  <a:lnTo>
                    <a:pt x="3955995" y="2323722"/>
                  </a:lnTo>
                  <a:lnTo>
                    <a:pt x="3991497" y="2299896"/>
                  </a:lnTo>
                  <a:lnTo>
                    <a:pt x="4015294" y="2264342"/>
                  </a:lnTo>
                  <a:lnTo>
                    <a:pt x="4015370" y="2264192"/>
                  </a:lnTo>
                  <a:lnTo>
                    <a:pt x="4019976" y="2250759"/>
                  </a:lnTo>
                  <a:lnTo>
                    <a:pt x="4022787" y="2236701"/>
                  </a:lnTo>
                  <a:lnTo>
                    <a:pt x="4023728" y="2222271"/>
                  </a:lnTo>
                  <a:lnTo>
                    <a:pt x="4023704" y="109791"/>
                  </a:lnTo>
                  <a:lnTo>
                    <a:pt x="4015370" y="68088"/>
                  </a:lnTo>
                  <a:lnTo>
                    <a:pt x="3991503" y="32534"/>
                  </a:lnTo>
                  <a:lnTo>
                    <a:pt x="3955845" y="8708"/>
                  </a:lnTo>
                  <a:lnTo>
                    <a:pt x="391392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CED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822236" y="1828444"/>
              <a:ext cx="4023995" cy="2332355"/>
            </a:xfrm>
            <a:custGeom>
              <a:avLst/>
              <a:gdLst/>
              <a:ahLst/>
              <a:cxnLst/>
              <a:rect l="l" t="t" r="r" b="b"/>
              <a:pathLst>
                <a:path w="4023995" h="2332354">
                  <a:moveTo>
                    <a:pt x="368" y="109791"/>
                  </a:moveTo>
                  <a:lnTo>
                    <a:pt x="1307" y="95374"/>
                  </a:lnTo>
                  <a:lnTo>
                    <a:pt x="4103" y="81359"/>
                  </a:lnTo>
                  <a:lnTo>
                    <a:pt x="23138" y="43003"/>
                  </a:lnTo>
                  <a:lnTo>
                    <a:pt x="55079" y="14757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3913924" y="355"/>
                  </a:lnTo>
                  <a:lnTo>
                    <a:pt x="3955845" y="8708"/>
                  </a:lnTo>
                  <a:lnTo>
                    <a:pt x="3991503" y="32534"/>
                  </a:lnTo>
                  <a:lnTo>
                    <a:pt x="4015370" y="68088"/>
                  </a:lnTo>
                  <a:lnTo>
                    <a:pt x="4023728" y="110159"/>
                  </a:lnTo>
                  <a:lnTo>
                    <a:pt x="4023728" y="2222271"/>
                  </a:lnTo>
                  <a:lnTo>
                    <a:pt x="4022788" y="2236696"/>
                  </a:lnTo>
                  <a:lnTo>
                    <a:pt x="4019991" y="2250714"/>
                  </a:lnTo>
                  <a:lnTo>
                    <a:pt x="4000945" y="2289064"/>
                  </a:lnTo>
                  <a:lnTo>
                    <a:pt x="3969004" y="2317318"/>
                  </a:lnTo>
                  <a:lnTo>
                    <a:pt x="3928354" y="2331135"/>
                  </a:lnTo>
                  <a:lnTo>
                    <a:pt x="3913924" y="2332075"/>
                  </a:lnTo>
                  <a:lnTo>
                    <a:pt x="109804" y="2332075"/>
                  </a:lnTo>
                  <a:lnTo>
                    <a:pt x="67882" y="2323722"/>
                  </a:lnTo>
                  <a:lnTo>
                    <a:pt x="32224" y="2299896"/>
                  </a:lnTo>
                  <a:lnTo>
                    <a:pt x="8358" y="2264342"/>
                  </a:lnTo>
                  <a:lnTo>
                    <a:pt x="0" y="2222271"/>
                  </a:lnTo>
                  <a:lnTo>
                    <a:pt x="368" y="109791"/>
                  </a:lnTo>
                  <a:close/>
                </a:path>
              </a:pathLst>
            </a:custGeom>
            <a:ln w="10079">
              <a:solidFill>
                <a:srgbClr val="EFC5C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050836" y="2011324"/>
              <a:ext cx="915035" cy="293370"/>
            </a:xfrm>
            <a:custGeom>
              <a:avLst/>
              <a:gdLst/>
              <a:ahLst/>
              <a:cxnLst/>
              <a:rect l="l" t="t" r="r" b="b"/>
              <a:pathLst>
                <a:path w="915035" h="293369">
                  <a:moveTo>
                    <a:pt x="110159" y="0"/>
                  </a:moveTo>
                  <a:lnTo>
                    <a:pt x="68095" y="8352"/>
                  </a:lnTo>
                  <a:lnTo>
                    <a:pt x="32535" y="32213"/>
                  </a:lnTo>
                  <a:lnTo>
                    <a:pt x="8721" y="67882"/>
                  </a:lnTo>
                  <a:lnTo>
                    <a:pt x="368" y="109791"/>
                  </a:lnTo>
                  <a:lnTo>
                    <a:pt x="0" y="183235"/>
                  </a:lnTo>
                  <a:lnTo>
                    <a:pt x="939" y="197665"/>
                  </a:lnTo>
                  <a:lnTo>
                    <a:pt x="14770" y="238315"/>
                  </a:lnTo>
                  <a:lnTo>
                    <a:pt x="43011" y="270256"/>
                  </a:lnTo>
                  <a:lnTo>
                    <a:pt x="81360" y="289302"/>
                  </a:lnTo>
                  <a:lnTo>
                    <a:pt x="109804" y="293039"/>
                  </a:lnTo>
                  <a:lnTo>
                    <a:pt x="804964" y="293039"/>
                  </a:lnTo>
                  <a:lnTo>
                    <a:pt x="847035" y="284681"/>
                  </a:lnTo>
                  <a:lnTo>
                    <a:pt x="882537" y="260859"/>
                  </a:lnTo>
                  <a:lnTo>
                    <a:pt x="906334" y="225306"/>
                  </a:lnTo>
                  <a:lnTo>
                    <a:pt x="914768" y="183235"/>
                  </a:lnTo>
                  <a:lnTo>
                    <a:pt x="914744" y="109791"/>
                  </a:lnTo>
                  <a:lnTo>
                    <a:pt x="906410" y="68088"/>
                  </a:lnTo>
                  <a:lnTo>
                    <a:pt x="882543" y="32534"/>
                  </a:lnTo>
                  <a:lnTo>
                    <a:pt x="846885" y="8708"/>
                  </a:lnTo>
                  <a:lnTo>
                    <a:pt x="80496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8D8D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050836" y="2011324"/>
              <a:ext cx="915035" cy="293370"/>
            </a:xfrm>
            <a:custGeom>
              <a:avLst/>
              <a:gdLst/>
              <a:ahLst/>
              <a:cxnLst/>
              <a:rect l="l" t="t" r="r" b="b"/>
              <a:pathLst>
                <a:path w="915035" h="293369">
                  <a:moveTo>
                    <a:pt x="368" y="109791"/>
                  </a:moveTo>
                  <a:lnTo>
                    <a:pt x="1307" y="95374"/>
                  </a:lnTo>
                  <a:lnTo>
                    <a:pt x="4103" y="81359"/>
                  </a:lnTo>
                  <a:lnTo>
                    <a:pt x="23138" y="43003"/>
                  </a:lnTo>
                  <a:lnTo>
                    <a:pt x="55079" y="14757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804964" y="355"/>
                  </a:lnTo>
                  <a:lnTo>
                    <a:pt x="846885" y="8708"/>
                  </a:lnTo>
                  <a:lnTo>
                    <a:pt x="882543" y="32534"/>
                  </a:lnTo>
                  <a:lnTo>
                    <a:pt x="906410" y="68088"/>
                  </a:lnTo>
                  <a:lnTo>
                    <a:pt x="914768" y="110159"/>
                  </a:lnTo>
                  <a:lnTo>
                    <a:pt x="914768" y="183235"/>
                  </a:lnTo>
                  <a:lnTo>
                    <a:pt x="913828" y="197660"/>
                  </a:lnTo>
                  <a:lnTo>
                    <a:pt x="911031" y="211678"/>
                  </a:lnTo>
                  <a:lnTo>
                    <a:pt x="891985" y="250028"/>
                  </a:lnTo>
                  <a:lnTo>
                    <a:pt x="860044" y="278269"/>
                  </a:lnTo>
                  <a:lnTo>
                    <a:pt x="819394" y="292100"/>
                  </a:lnTo>
                  <a:lnTo>
                    <a:pt x="804964" y="293039"/>
                  </a:lnTo>
                  <a:lnTo>
                    <a:pt x="109804" y="293039"/>
                  </a:lnTo>
                  <a:lnTo>
                    <a:pt x="67882" y="284681"/>
                  </a:lnTo>
                  <a:lnTo>
                    <a:pt x="32224" y="260859"/>
                  </a:lnTo>
                  <a:lnTo>
                    <a:pt x="8358" y="225306"/>
                  </a:lnTo>
                  <a:lnTo>
                    <a:pt x="0" y="183235"/>
                  </a:lnTo>
                  <a:lnTo>
                    <a:pt x="368" y="109791"/>
                  </a:lnTo>
                  <a:close/>
                </a:path>
              </a:pathLst>
            </a:custGeom>
            <a:ln w="10079">
              <a:solidFill>
                <a:srgbClr val="F8D8D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1255585" y="2064143"/>
            <a:ext cx="50673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10">
                <a:solidFill>
                  <a:srgbClr val="C1403A"/>
                </a:solidFill>
                <a:latin typeface="Arial Black"/>
                <a:cs typeface="Arial Black"/>
              </a:rPr>
              <a:t>BEFORE</a:t>
            </a:r>
            <a:endParaRPr sz="1000">
              <a:latin typeface="Arial Black"/>
              <a:cs typeface="Arial Black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38504" y="2574620"/>
            <a:ext cx="3207385" cy="10661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90">
                <a:solidFill>
                  <a:srgbClr val="C1403A"/>
                </a:solidFill>
                <a:latin typeface="Arial Black"/>
                <a:cs typeface="Arial Black"/>
              </a:rPr>
              <a:t>Owner</a:t>
            </a:r>
            <a:r>
              <a:rPr dirty="0" sz="1800" spc="-100">
                <a:solidFill>
                  <a:srgbClr val="C1403A"/>
                </a:solidFill>
                <a:latin typeface="Arial Black"/>
                <a:cs typeface="Arial Black"/>
              </a:rPr>
              <a:t> </a:t>
            </a:r>
            <a:r>
              <a:rPr dirty="0" sz="1800" spc="-225">
                <a:solidFill>
                  <a:srgbClr val="C1403A"/>
                </a:solidFill>
                <a:latin typeface="Arial Black"/>
                <a:cs typeface="Arial Black"/>
              </a:rPr>
              <a:t>•</a:t>
            </a:r>
            <a:r>
              <a:rPr dirty="0" sz="1800" spc="-95">
                <a:solidFill>
                  <a:srgbClr val="C1403A"/>
                </a:solidFill>
                <a:latin typeface="Arial Black"/>
                <a:cs typeface="Arial Black"/>
              </a:rPr>
              <a:t> </a:t>
            </a:r>
            <a:r>
              <a:rPr dirty="0" sz="1800" spc="-110">
                <a:solidFill>
                  <a:srgbClr val="C1403A"/>
                </a:solidFill>
                <a:latin typeface="Arial Black"/>
                <a:cs typeface="Arial Black"/>
              </a:rPr>
              <a:t>Subscription</a:t>
            </a:r>
            <a:r>
              <a:rPr dirty="0" sz="1800" spc="-100">
                <a:solidFill>
                  <a:srgbClr val="C1403A"/>
                </a:solidFill>
                <a:latin typeface="Arial Black"/>
                <a:cs typeface="Arial Black"/>
              </a:rPr>
              <a:t> </a:t>
            </a:r>
            <a:r>
              <a:rPr dirty="0" sz="1800" spc="-10">
                <a:solidFill>
                  <a:srgbClr val="C1403A"/>
                </a:solidFill>
                <a:latin typeface="Arial Black"/>
                <a:cs typeface="Arial Black"/>
              </a:rPr>
              <a:t>scope</a:t>
            </a:r>
            <a:endParaRPr sz="180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  <a:spcBef>
                <a:spcPts val="1365"/>
              </a:spcBef>
            </a:pPr>
            <a:r>
              <a:rPr dirty="0" sz="1300">
                <a:solidFill>
                  <a:srgbClr val="1F2A3B"/>
                </a:solidFill>
                <a:latin typeface="Noto Sans"/>
                <a:cs typeface="Noto Sans"/>
              </a:rPr>
              <a:t>Can</a:t>
            </a:r>
            <a:r>
              <a:rPr dirty="0" sz="1300" spc="-40">
                <a:solidFill>
                  <a:srgbClr val="1F2A3B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1F2A3B"/>
                </a:solidFill>
                <a:latin typeface="Noto Sans"/>
                <a:cs typeface="Noto Sans"/>
              </a:rPr>
              <a:t>manage</a:t>
            </a:r>
            <a:r>
              <a:rPr dirty="0" sz="1300" spc="-40">
                <a:solidFill>
                  <a:srgbClr val="1F2A3B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1F2A3B"/>
                </a:solidFill>
                <a:latin typeface="Noto Sans"/>
                <a:cs typeface="Noto Sans"/>
              </a:rPr>
              <a:t>many</a:t>
            </a:r>
            <a:r>
              <a:rPr dirty="0" sz="1300" spc="-35">
                <a:solidFill>
                  <a:srgbClr val="1F2A3B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1F2A3B"/>
                </a:solidFill>
                <a:latin typeface="Noto Sans"/>
                <a:cs typeface="Noto Sans"/>
              </a:rPr>
              <a:t>resources</a:t>
            </a:r>
            <a:r>
              <a:rPr dirty="0" sz="1300" spc="-40">
                <a:solidFill>
                  <a:srgbClr val="1F2A3B"/>
                </a:solidFill>
                <a:latin typeface="Noto Sans"/>
                <a:cs typeface="Noto Sans"/>
              </a:rPr>
              <a:t> </a:t>
            </a:r>
            <a:r>
              <a:rPr dirty="0" sz="1300" spc="-25">
                <a:solidFill>
                  <a:srgbClr val="1F2A3B"/>
                </a:solidFill>
                <a:latin typeface="Noto Sans"/>
                <a:cs typeface="Noto Sans"/>
              </a:rPr>
              <a:t>and </a:t>
            </a:r>
            <a:r>
              <a:rPr dirty="0" sz="1300" spc="-10">
                <a:solidFill>
                  <a:srgbClr val="1F2A3B"/>
                </a:solidFill>
                <a:latin typeface="Noto Sans"/>
                <a:cs typeface="Noto Sans"/>
              </a:rPr>
              <a:t>potentially</a:t>
            </a:r>
            <a:r>
              <a:rPr dirty="0" sz="1300" spc="-40">
                <a:solidFill>
                  <a:srgbClr val="1F2A3B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1F2A3B"/>
                </a:solidFill>
                <a:latin typeface="Noto Sans"/>
                <a:cs typeface="Noto Sans"/>
              </a:rPr>
              <a:t>grant</a:t>
            </a:r>
            <a:r>
              <a:rPr dirty="0" sz="1300" spc="-40">
                <a:solidFill>
                  <a:srgbClr val="1F2A3B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1F2A3B"/>
                </a:solidFill>
                <a:latin typeface="Noto Sans"/>
                <a:cs typeface="Noto Sans"/>
              </a:rPr>
              <a:t>access.</a:t>
            </a:r>
            <a:r>
              <a:rPr dirty="0" sz="1300" spc="-40">
                <a:solidFill>
                  <a:srgbClr val="1F2A3B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1F2A3B"/>
                </a:solidFill>
                <a:latin typeface="Noto Sans"/>
                <a:cs typeface="Noto Sans"/>
              </a:rPr>
              <a:t>The</a:t>
            </a:r>
            <a:r>
              <a:rPr dirty="0" sz="1300" spc="-35">
                <a:solidFill>
                  <a:srgbClr val="1F2A3B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1F2A3B"/>
                </a:solidFill>
                <a:latin typeface="Noto Sans"/>
                <a:cs typeface="Noto Sans"/>
              </a:rPr>
              <a:t>permissions </a:t>
            </a:r>
            <a:r>
              <a:rPr dirty="0" sz="1300">
                <a:solidFill>
                  <a:srgbClr val="1F2A3B"/>
                </a:solidFill>
                <a:latin typeface="Noto Sans"/>
                <a:cs typeface="Noto Sans"/>
              </a:rPr>
              <a:t>are</a:t>
            </a:r>
            <a:r>
              <a:rPr dirty="0" sz="1300" spc="-35">
                <a:solidFill>
                  <a:srgbClr val="1F2A3B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1F2A3B"/>
                </a:solidFill>
                <a:latin typeface="Noto Sans"/>
                <a:cs typeface="Noto Sans"/>
              </a:rPr>
              <a:t>far</a:t>
            </a:r>
            <a:r>
              <a:rPr dirty="0" sz="1300" spc="-30">
                <a:solidFill>
                  <a:srgbClr val="1F2A3B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1F2A3B"/>
                </a:solidFill>
                <a:latin typeface="Noto Sans"/>
                <a:cs typeface="Noto Sans"/>
              </a:rPr>
              <a:t>broader</a:t>
            </a:r>
            <a:r>
              <a:rPr dirty="0" sz="1300" spc="-30">
                <a:solidFill>
                  <a:srgbClr val="1F2A3B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1F2A3B"/>
                </a:solidFill>
                <a:latin typeface="Noto Sans"/>
                <a:cs typeface="Noto Sans"/>
              </a:rPr>
              <a:t>than</a:t>
            </a:r>
            <a:r>
              <a:rPr dirty="0" sz="1300" spc="-35">
                <a:solidFill>
                  <a:srgbClr val="1F2A3B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1F2A3B"/>
                </a:solidFill>
                <a:latin typeface="Noto Sans"/>
                <a:cs typeface="Noto Sans"/>
              </a:rPr>
              <a:t>the</a:t>
            </a:r>
            <a:r>
              <a:rPr dirty="0" sz="1300" spc="-30">
                <a:solidFill>
                  <a:srgbClr val="1F2A3B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1F2A3B"/>
                </a:solidFill>
                <a:latin typeface="Noto Sans"/>
                <a:cs typeface="Noto Sans"/>
              </a:rPr>
              <a:t>task</a:t>
            </a:r>
            <a:r>
              <a:rPr dirty="0" sz="1300" spc="-30">
                <a:solidFill>
                  <a:srgbClr val="1F2A3B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1F2A3B"/>
                </a:solidFill>
                <a:latin typeface="Noto Sans"/>
                <a:cs typeface="Noto Sans"/>
              </a:rPr>
              <a:t>requires.</a:t>
            </a:r>
            <a:endParaRPr sz="1300">
              <a:latin typeface="Noto Sans"/>
              <a:cs typeface="Noto San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074920" y="2971800"/>
            <a:ext cx="668020" cy="635"/>
          </a:xfrm>
          <a:custGeom>
            <a:avLst/>
            <a:gdLst/>
            <a:ahLst/>
            <a:cxnLst/>
            <a:rect l="l" t="t" r="r" b="b"/>
            <a:pathLst>
              <a:path w="668020" h="635">
                <a:moveTo>
                  <a:pt x="0" y="0"/>
                </a:moveTo>
                <a:lnTo>
                  <a:pt x="667435" y="355"/>
                </a:lnTo>
              </a:path>
            </a:pathLst>
          </a:custGeom>
          <a:ln w="25559">
            <a:solidFill>
              <a:srgbClr val="0077D3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grpSp>
        <p:nvGrpSpPr>
          <p:cNvPr id="14" name="object 14"/>
          <p:cNvGrpSpPr/>
          <p:nvPr/>
        </p:nvGrpSpPr>
        <p:grpSpPr>
          <a:xfrm>
            <a:off x="5983556" y="1823404"/>
            <a:ext cx="5314315" cy="2342515"/>
            <a:chOff x="5983556" y="1823404"/>
            <a:chExt cx="5314315" cy="2342515"/>
          </a:xfrm>
        </p:grpSpPr>
        <p:sp>
          <p:nvSpPr>
            <p:cNvPr id="15" name="object 15"/>
            <p:cNvSpPr/>
            <p:nvPr/>
          </p:nvSpPr>
          <p:spPr>
            <a:xfrm>
              <a:off x="5988595" y="1828444"/>
              <a:ext cx="5304155" cy="2332355"/>
            </a:xfrm>
            <a:custGeom>
              <a:avLst/>
              <a:gdLst/>
              <a:ahLst/>
              <a:cxnLst/>
              <a:rect l="l" t="t" r="r" b="b"/>
              <a:pathLst>
                <a:path w="5304155" h="2332354">
                  <a:moveTo>
                    <a:pt x="110159" y="0"/>
                  </a:moveTo>
                  <a:lnTo>
                    <a:pt x="68095" y="8352"/>
                  </a:lnTo>
                  <a:lnTo>
                    <a:pt x="32535" y="32213"/>
                  </a:lnTo>
                  <a:lnTo>
                    <a:pt x="8721" y="67882"/>
                  </a:lnTo>
                  <a:lnTo>
                    <a:pt x="368" y="109791"/>
                  </a:lnTo>
                  <a:lnTo>
                    <a:pt x="0" y="2222271"/>
                  </a:lnTo>
                  <a:lnTo>
                    <a:pt x="939" y="2236701"/>
                  </a:lnTo>
                  <a:lnTo>
                    <a:pt x="14770" y="2277351"/>
                  </a:lnTo>
                  <a:lnTo>
                    <a:pt x="43011" y="2309298"/>
                  </a:lnTo>
                  <a:lnTo>
                    <a:pt x="81360" y="2328340"/>
                  </a:lnTo>
                  <a:lnTo>
                    <a:pt x="109804" y="2332075"/>
                  </a:lnTo>
                  <a:lnTo>
                    <a:pt x="5194084" y="2332075"/>
                  </a:lnTo>
                  <a:lnTo>
                    <a:pt x="5236155" y="2323722"/>
                  </a:lnTo>
                  <a:lnTo>
                    <a:pt x="5271657" y="2299896"/>
                  </a:lnTo>
                  <a:lnTo>
                    <a:pt x="5295454" y="2264342"/>
                  </a:lnTo>
                  <a:lnTo>
                    <a:pt x="5295530" y="2264192"/>
                  </a:lnTo>
                  <a:lnTo>
                    <a:pt x="5300136" y="2250759"/>
                  </a:lnTo>
                  <a:lnTo>
                    <a:pt x="5302947" y="2236701"/>
                  </a:lnTo>
                  <a:lnTo>
                    <a:pt x="5303888" y="2222271"/>
                  </a:lnTo>
                  <a:lnTo>
                    <a:pt x="5303864" y="109791"/>
                  </a:lnTo>
                  <a:lnTo>
                    <a:pt x="5295530" y="68088"/>
                  </a:lnTo>
                  <a:lnTo>
                    <a:pt x="5271663" y="32534"/>
                  </a:lnTo>
                  <a:lnTo>
                    <a:pt x="5236005" y="8708"/>
                  </a:lnTo>
                  <a:lnTo>
                    <a:pt x="519408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8F6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5988595" y="1828444"/>
              <a:ext cx="5304155" cy="2332355"/>
            </a:xfrm>
            <a:custGeom>
              <a:avLst/>
              <a:gdLst/>
              <a:ahLst/>
              <a:cxnLst/>
              <a:rect l="l" t="t" r="r" b="b"/>
              <a:pathLst>
                <a:path w="5304155" h="2332354">
                  <a:moveTo>
                    <a:pt x="368" y="109791"/>
                  </a:moveTo>
                  <a:lnTo>
                    <a:pt x="1307" y="95374"/>
                  </a:lnTo>
                  <a:lnTo>
                    <a:pt x="4103" y="81359"/>
                  </a:lnTo>
                  <a:lnTo>
                    <a:pt x="23138" y="43003"/>
                  </a:lnTo>
                  <a:lnTo>
                    <a:pt x="55079" y="14757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5194084" y="355"/>
                  </a:lnTo>
                  <a:lnTo>
                    <a:pt x="5236005" y="8708"/>
                  </a:lnTo>
                  <a:lnTo>
                    <a:pt x="5271663" y="32534"/>
                  </a:lnTo>
                  <a:lnTo>
                    <a:pt x="5295530" y="68088"/>
                  </a:lnTo>
                  <a:lnTo>
                    <a:pt x="5303888" y="110159"/>
                  </a:lnTo>
                  <a:lnTo>
                    <a:pt x="5303888" y="2222271"/>
                  </a:lnTo>
                  <a:lnTo>
                    <a:pt x="5302948" y="2236696"/>
                  </a:lnTo>
                  <a:lnTo>
                    <a:pt x="5300151" y="2250714"/>
                  </a:lnTo>
                  <a:lnTo>
                    <a:pt x="5281105" y="2289064"/>
                  </a:lnTo>
                  <a:lnTo>
                    <a:pt x="5249164" y="2317318"/>
                  </a:lnTo>
                  <a:lnTo>
                    <a:pt x="5208514" y="2331135"/>
                  </a:lnTo>
                  <a:lnTo>
                    <a:pt x="5194084" y="2332075"/>
                  </a:lnTo>
                  <a:lnTo>
                    <a:pt x="109804" y="2332075"/>
                  </a:lnTo>
                  <a:lnTo>
                    <a:pt x="67882" y="2323722"/>
                  </a:lnTo>
                  <a:lnTo>
                    <a:pt x="32224" y="2299896"/>
                  </a:lnTo>
                  <a:lnTo>
                    <a:pt x="8358" y="2264342"/>
                  </a:lnTo>
                  <a:lnTo>
                    <a:pt x="0" y="2222271"/>
                  </a:lnTo>
                  <a:lnTo>
                    <a:pt x="368" y="109791"/>
                  </a:lnTo>
                  <a:close/>
                </a:path>
              </a:pathLst>
            </a:custGeom>
            <a:ln w="10079">
              <a:solidFill>
                <a:srgbClr val="B3E3C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6217195" y="2011324"/>
              <a:ext cx="823594" cy="293370"/>
            </a:xfrm>
            <a:custGeom>
              <a:avLst/>
              <a:gdLst/>
              <a:ahLst/>
              <a:cxnLst/>
              <a:rect l="l" t="t" r="r" b="b"/>
              <a:pathLst>
                <a:path w="823595" h="293369">
                  <a:moveTo>
                    <a:pt x="110159" y="0"/>
                  </a:moveTo>
                  <a:lnTo>
                    <a:pt x="68095" y="8352"/>
                  </a:lnTo>
                  <a:lnTo>
                    <a:pt x="32535" y="32213"/>
                  </a:lnTo>
                  <a:lnTo>
                    <a:pt x="8721" y="67882"/>
                  </a:lnTo>
                  <a:lnTo>
                    <a:pt x="368" y="109791"/>
                  </a:lnTo>
                  <a:lnTo>
                    <a:pt x="0" y="183235"/>
                  </a:lnTo>
                  <a:lnTo>
                    <a:pt x="939" y="197665"/>
                  </a:lnTo>
                  <a:lnTo>
                    <a:pt x="14770" y="238315"/>
                  </a:lnTo>
                  <a:lnTo>
                    <a:pt x="22686" y="250028"/>
                  </a:lnTo>
                  <a:lnTo>
                    <a:pt x="22788" y="250178"/>
                  </a:lnTo>
                  <a:lnTo>
                    <a:pt x="55079" y="278269"/>
                  </a:lnTo>
                  <a:lnTo>
                    <a:pt x="95379" y="292100"/>
                  </a:lnTo>
                  <a:lnTo>
                    <a:pt x="109804" y="293039"/>
                  </a:lnTo>
                  <a:lnTo>
                    <a:pt x="713524" y="293039"/>
                  </a:lnTo>
                  <a:lnTo>
                    <a:pt x="755595" y="284681"/>
                  </a:lnTo>
                  <a:lnTo>
                    <a:pt x="791097" y="260859"/>
                  </a:lnTo>
                  <a:lnTo>
                    <a:pt x="814894" y="225306"/>
                  </a:lnTo>
                  <a:lnTo>
                    <a:pt x="823328" y="183235"/>
                  </a:lnTo>
                  <a:lnTo>
                    <a:pt x="823304" y="109791"/>
                  </a:lnTo>
                  <a:lnTo>
                    <a:pt x="814970" y="68088"/>
                  </a:lnTo>
                  <a:lnTo>
                    <a:pt x="791103" y="32534"/>
                  </a:lnTo>
                  <a:lnTo>
                    <a:pt x="755445" y="8708"/>
                  </a:lnTo>
                  <a:lnTo>
                    <a:pt x="71352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D3F0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6217195" y="2011324"/>
              <a:ext cx="823594" cy="293370"/>
            </a:xfrm>
            <a:custGeom>
              <a:avLst/>
              <a:gdLst/>
              <a:ahLst/>
              <a:cxnLst/>
              <a:rect l="l" t="t" r="r" b="b"/>
              <a:pathLst>
                <a:path w="823595" h="293369">
                  <a:moveTo>
                    <a:pt x="368" y="109791"/>
                  </a:moveTo>
                  <a:lnTo>
                    <a:pt x="1307" y="95374"/>
                  </a:lnTo>
                  <a:lnTo>
                    <a:pt x="4103" y="81359"/>
                  </a:lnTo>
                  <a:lnTo>
                    <a:pt x="23138" y="43003"/>
                  </a:lnTo>
                  <a:lnTo>
                    <a:pt x="55079" y="14757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713524" y="355"/>
                  </a:lnTo>
                  <a:lnTo>
                    <a:pt x="755445" y="8708"/>
                  </a:lnTo>
                  <a:lnTo>
                    <a:pt x="791103" y="32534"/>
                  </a:lnTo>
                  <a:lnTo>
                    <a:pt x="814970" y="68088"/>
                  </a:lnTo>
                  <a:lnTo>
                    <a:pt x="823328" y="110159"/>
                  </a:lnTo>
                  <a:lnTo>
                    <a:pt x="823328" y="183235"/>
                  </a:lnTo>
                  <a:lnTo>
                    <a:pt x="822388" y="197660"/>
                  </a:lnTo>
                  <a:lnTo>
                    <a:pt x="819591" y="211678"/>
                  </a:lnTo>
                  <a:lnTo>
                    <a:pt x="800545" y="250028"/>
                  </a:lnTo>
                  <a:lnTo>
                    <a:pt x="768603" y="278269"/>
                  </a:lnTo>
                  <a:lnTo>
                    <a:pt x="727954" y="292100"/>
                  </a:lnTo>
                  <a:lnTo>
                    <a:pt x="713524" y="293039"/>
                  </a:lnTo>
                  <a:lnTo>
                    <a:pt x="109804" y="293039"/>
                  </a:lnTo>
                  <a:lnTo>
                    <a:pt x="67882" y="284681"/>
                  </a:lnTo>
                  <a:lnTo>
                    <a:pt x="32224" y="260859"/>
                  </a:lnTo>
                  <a:lnTo>
                    <a:pt x="8358" y="225306"/>
                  </a:lnTo>
                  <a:lnTo>
                    <a:pt x="0" y="183235"/>
                  </a:lnTo>
                  <a:lnTo>
                    <a:pt x="368" y="109791"/>
                  </a:lnTo>
                  <a:close/>
                </a:path>
              </a:pathLst>
            </a:custGeom>
            <a:ln w="10079">
              <a:solidFill>
                <a:srgbClr val="D3F0E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6424460" y="2064143"/>
            <a:ext cx="410209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25">
                <a:solidFill>
                  <a:srgbClr val="157F5C"/>
                </a:solidFill>
                <a:latin typeface="Arial Black"/>
                <a:cs typeface="Arial Black"/>
              </a:rPr>
              <a:t>AFTER</a:t>
            </a:r>
            <a:endParaRPr sz="1000">
              <a:latin typeface="Arial Black"/>
              <a:cs typeface="Arial Black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204864" y="2574620"/>
            <a:ext cx="4560570" cy="10661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10">
                <a:solidFill>
                  <a:srgbClr val="157F5C"/>
                </a:solidFill>
                <a:latin typeface="Arial Black"/>
                <a:cs typeface="Arial Black"/>
              </a:rPr>
              <a:t>Custom</a:t>
            </a:r>
            <a:r>
              <a:rPr dirty="0" sz="1800" spc="-130">
                <a:solidFill>
                  <a:srgbClr val="157F5C"/>
                </a:solidFill>
                <a:latin typeface="Arial Black"/>
                <a:cs typeface="Arial Black"/>
              </a:rPr>
              <a:t> </a:t>
            </a:r>
            <a:r>
              <a:rPr dirty="0" sz="1800" spc="-80">
                <a:solidFill>
                  <a:srgbClr val="157F5C"/>
                </a:solidFill>
                <a:latin typeface="Arial Black"/>
                <a:cs typeface="Arial Black"/>
              </a:rPr>
              <a:t>role</a:t>
            </a:r>
            <a:r>
              <a:rPr dirty="0" sz="1800" spc="-130">
                <a:solidFill>
                  <a:srgbClr val="157F5C"/>
                </a:solidFill>
                <a:latin typeface="Arial Black"/>
                <a:cs typeface="Arial Black"/>
              </a:rPr>
              <a:t> </a:t>
            </a:r>
            <a:r>
              <a:rPr dirty="0" sz="1800" spc="-225">
                <a:solidFill>
                  <a:srgbClr val="157F5C"/>
                </a:solidFill>
                <a:latin typeface="Arial Black"/>
                <a:cs typeface="Arial Black"/>
              </a:rPr>
              <a:t>•</a:t>
            </a:r>
            <a:r>
              <a:rPr dirty="0" sz="1800" spc="-130">
                <a:solidFill>
                  <a:srgbClr val="157F5C"/>
                </a:solidFill>
                <a:latin typeface="Arial Black"/>
                <a:cs typeface="Arial Black"/>
              </a:rPr>
              <a:t> VM </a:t>
            </a:r>
            <a:r>
              <a:rPr dirty="0" sz="1800" spc="-20">
                <a:solidFill>
                  <a:srgbClr val="157F5C"/>
                </a:solidFill>
                <a:latin typeface="Arial Black"/>
                <a:cs typeface="Arial Black"/>
              </a:rPr>
              <a:t>scope</a:t>
            </a:r>
            <a:endParaRPr sz="180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  <a:spcBef>
                <a:spcPts val="1365"/>
              </a:spcBef>
            </a:pPr>
            <a:r>
              <a:rPr dirty="0" sz="1300">
                <a:solidFill>
                  <a:srgbClr val="1F2A3B"/>
                </a:solidFill>
                <a:latin typeface="Noto Sans"/>
                <a:cs typeface="Noto Sans"/>
              </a:rPr>
              <a:t>Allow</a:t>
            </a:r>
            <a:r>
              <a:rPr dirty="0" sz="1300" spc="-45">
                <a:solidFill>
                  <a:srgbClr val="1F2A3B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1F2A3B"/>
                </a:solidFill>
                <a:latin typeface="Noto Sans"/>
                <a:cs typeface="Noto Sans"/>
              </a:rPr>
              <a:t>only</a:t>
            </a:r>
            <a:r>
              <a:rPr dirty="0" sz="1300" spc="-40">
                <a:solidFill>
                  <a:srgbClr val="1F2A3B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1F2A3B"/>
                </a:solidFill>
                <a:latin typeface="Noto Sans"/>
                <a:cs typeface="Noto Sans"/>
              </a:rPr>
              <a:t>the</a:t>
            </a:r>
            <a:r>
              <a:rPr dirty="0" sz="1300" spc="-40">
                <a:solidFill>
                  <a:srgbClr val="1F2A3B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1F2A3B"/>
                </a:solidFill>
                <a:latin typeface="Noto Sans"/>
                <a:cs typeface="Noto Sans"/>
              </a:rPr>
              <a:t>required</a:t>
            </a:r>
            <a:r>
              <a:rPr dirty="0" sz="1300" spc="-40">
                <a:solidFill>
                  <a:srgbClr val="1F2A3B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1F2A3B"/>
                </a:solidFill>
                <a:latin typeface="Noto Sans"/>
                <a:cs typeface="Noto Sans"/>
              </a:rPr>
              <a:t>log-</a:t>
            </a:r>
            <a:r>
              <a:rPr dirty="0" sz="1300">
                <a:solidFill>
                  <a:srgbClr val="1F2A3B"/>
                </a:solidFill>
                <a:latin typeface="Noto Sans"/>
                <a:cs typeface="Noto Sans"/>
              </a:rPr>
              <a:t>read</a:t>
            </a:r>
            <a:r>
              <a:rPr dirty="0" sz="1300" spc="-40">
                <a:solidFill>
                  <a:srgbClr val="1F2A3B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1F2A3B"/>
                </a:solidFill>
                <a:latin typeface="Noto Sans"/>
                <a:cs typeface="Noto Sans"/>
              </a:rPr>
              <a:t>actions</a:t>
            </a:r>
            <a:r>
              <a:rPr dirty="0" sz="1300" spc="-40">
                <a:solidFill>
                  <a:srgbClr val="1F2A3B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1F2A3B"/>
                </a:solidFill>
                <a:latin typeface="Noto Sans"/>
                <a:cs typeface="Noto Sans"/>
              </a:rPr>
              <a:t>and</a:t>
            </a:r>
            <a:r>
              <a:rPr dirty="0" sz="1300" spc="-40">
                <a:solidFill>
                  <a:srgbClr val="1F2A3B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1F2A3B"/>
                </a:solidFill>
                <a:latin typeface="Noto Sans"/>
                <a:cs typeface="Noto Sans"/>
              </a:rPr>
              <a:t>restart</a:t>
            </a:r>
            <a:r>
              <a:rPr dirty="0" sz="1300" spc="-40">
                <a:solidFill>
                  <a:srgbClr val="1F2A3B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1F2A3B"/>
                </a:solidFill>
                <a:latin typeface="Noto Sans"/>
                <a:cs typeface="Noto Sans"/>
              </a:rPr>
              <a:t>action, </a:t>
            </a:r>
            <a:r>
              <a:rPr dirty="0" sz="1300">
                <a:solidFill>
                  <a:srgbClr val="1F2A3B"/>
                </a:solidFill>
                <a:latin typeface="Noto Sans"/>
                <a:cs typeface="Noto Sans"/>
              </a:rPr>
              <a:t>scoped</a:t>
            </a:r>
            <a:r>
              <a:rPr dirty="0" sz="1300" spc="-50">
                <a:solidFill>
                  <a:srgbClr val="1F2A3B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1F2A3B"/>
                </a:solidFill>
                <a:latin typeface="Noto Sans"/>
                <a:cs typeface="Noto Sans"/>
              </a:rPr>
              <a:t>to</a:t>
            </a:r>
            <a:r>
              <a:rPr dirty="0" sz="1300" spc="-45">
                <a:solidFill>
                  <a:srgbClr val="1F2A3B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1F2A3B"/>
                </a:solidFill>
                <a:latin typeface="Noto Sans"/>
                <a:cs typeface="Noto Sans"/>
              </a:rPr>
              <a:t>the</a:t>
            </a:r>
            <a:r>
              <a:rPr dirty="0" sz="1300" spc="-45">
                <a:solidFill>
                  <a:srgbClr val="1F2A3B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1F2A3B"/>
                </a:solidFill>
                <a:latin typeface="Noto Sans"/>
                <a:cs typeface="Noto Sans"/>
              </a:rPr>
              <a:t>target</a:t>
            </a:r>
            <a:r>
              <a:rPr dirty="0" sz="1300" spc="-45">
                <a:solidFill>
                  <a:srgbClr val="1F2A3B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1F2A3B"/>
                </a:solidFill>
                <a:latin typeface="Noto Sans"/>
                <a:cs typeface="Noto Sans"/>
              </a:rPr>
              <a:t>VM/log</a:t>
            </a:r>
            <a:r>
              <a:rPr dirty="0" sz="1300" spc="-50">
                <a:solidFill>
                  <a:srgbClr val="1F2A3B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1F2A3B"/>
                </a:solidFill>
                <a:latin typeface="Noto Sans"/>
                <a:cs typeface="Noto Sans"/>
              </a:rPr>
              <a:t>resource;</a:t>
            </a:r>
            <a:r>
              <a:rPr dirty="0" sz="1300" spc="-45">
                <a:solidFill>
                  <a:srgbClr val="1F2A3B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1F2A3B"/>
                </a:solidFill>
                <a:latin typeface="Noto Sans"/>
                <a:cs typeface="Noto Sans"/>
              </a:rPr>
              <a:t>test</a:t>
            </a:r>
            <a:r>
              <a:rPr dirty="0" sz="1300" spc="-45">
                <a:solidFill>
                  <a:srgbClr val="1F2A3B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1F2A3B"/>
                </a:solidFill>
                <a:latin typeface="Noto Sans"/>
                <a:cs typeface="Noto Sans"/>
              </a:rPr>
              <a:t>allowed</a:t>
            </a:r>
            <a:r>
              <a:rPr dirty="0" sz="1300" spc="-45">
                <a:solidFill>
                  <a:srgbClr val="1F2A3B"/>
                </a:solidFill>
                <a:latin typeface="Noto Sans"/>
                <a:cs typeface="Noto Sans"/>
              </a:rPr>
              <a:t> </a:t>
            </a:r>
            <a:r>
              <a:rPr dirty="0" sz="1300" spc="-25">
                <a:solidFill>
                  <a:srgbClr val="1F2A3B"/>
                </a:solidFill>
                <a:latin typeface="Noto Sans"/>
                <a:cs typeface="Noto Sans"/>
              </a:rPr>
              <a:t>and </a:t>
            </a:r>
            <a:r>
              <a:rPr dirty="0" sz="1300">
                <a:solidFill>
                  <a:srgbClr val="1F2A3B"/>
                </a:solidFill>
                <a:latin typeface="Noto Sans"/>
                <a:cs typeface="Noto Sans"/>
              </a:rPr>
              <a:t>denied</a:t>
            </a:r>
            <a:r>
              <a:rPr dirty="0" sz="1300" spc="-50">
                <a:solidFill>
                  <a:srgbClr val="1F2A3B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1F2A3B"/>
                </a:solidFill>
                <a:latin typeface="Noto Sans"/>
                <a:cs typeface="Noto Sans"/>
              </a:rPr>
              <a:t>actions.</a:t>
            </a:r>
            <a:endParaRPr sz="1300">
              <a:latin typeface="Noto Sans"/>
              <a:cs typeface="Noto Sans"/>
            </a:endParaRPr>
          </a:p>
        </p:txBody>
      </p:sp>
      <p:pic>
        <p:nvPicPr>
          <p:cNvPr id="21" name="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8615" y="4558860"/>
            <a:ext cx="190439" cy="190439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957859" y="4537709"/>
            <a:ext cx="13208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30" b="1">
                <a:solidFill>
                  <a:srgbClr val="FFFFFF"/>
                </a:solidFill>
                <a:latin typeface="Aptos"/>
                <a:cs typeface="Aptos"/>
              </a:rPr>
              <a:t>✓</a:t>
            </a:r>
            <a:endParaRPr sz="1000">
              <a:latin typeface="Aptos"/>
              <a:cs typeface="Apto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194384" y="4585932"/>
            <a:ext cx="2290445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solidFill>
                  <a:srgbClr val="0F2339"/>
                </a:solidFill>
                <a:latin typeface="Noto Sans"/>
                <a:cs typeface="Noto Sans"/>
              </a:rPr>
              <a:t>Capture</a:t>
            </a:r>
            <a:r>
              <a:rPr dirty="0" sz="1150" spc="-65">
                <a:solidFill>
                  <a:srgbClr val="0F2339"/>
                </a:solidFill>
                <a:latin typeface="Noto Sans"/>
                <a:cs typeface="Noto Sans"/>
              </a:rPr>
              <a:t> </a:t>
            </a:r>
            <a:r>
              <a:rPr dirty="0" sz="1150">
                <a:solidFill>
                  <a:srgbClr val="0F2339"/>
                </a:solidFill>
                <a:latin typeface="Noto Sans"/>
                <a:cs typeface="Noto Sans"/>
              </a:rPr>
              <a:t>existing</a:t>
            </a:r>
            <a:r>
              <a:rPr dirty="0" sz="1150" spc="-60">
                <a:solidFill>
                  <a:srgbClr val="0F2339"/>
                </a:solidFill>
                <a:latin typeface="Noto Sans"/>
                <a:cs typeface="Noto Sans"/>
              </a:rPr>
              <a:t> </a:t>
            </a:r>
            <a:r>
              <a:rPr dirty="0" sz="1150">
                <a:solidFill>
                  <a:srgbClr val="0F2339"/>
                </a:solidFill>
                <a:latin typeface="Noto Sans"/>
                <a:cs typeface="Noto Sans"/>
              </a:rPr>
              <a:t>role</a:t>
            </a:r>
            <a:r>
              <a:rPr dirty="0" sz="1150" spc="-60">
                <a:solidFill>
                  <a:srgbClr val="0F2339"/>
                </a:solidFill>
                <a:latin typeface="Noto Sans"/>
                <a:cs typeface="Noto Sans"/>
              </a:rPr>
              <a:t> </a:t>
            </a:r>
            <a:r>
              <a:rPr dirty="0" sz="1150" spc="-10">
                <a:solidFill>
                  <a:srgbClr val="0F2339"/>
                </a:solidFill>
                <a:latin typeface="Noto Sans"/>
                <a:cs typeface="Noto Sans"/>
              </a:rPr>
              <a:t>assignment</a:t>
            </a:r>
            <a:endParaRPr sz="1150">
              <a:latin typeface="Noto Sans"/>
              <a:cs typeface="Noto Sans"/>
            </a:endParaRPr>
          </a:p>
        </p:txBody>
      </p:sp>
      <p:pic>
        <p:nvPicPr>
          <p:cNvPr id="24" name="object 2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77655" y="4558860"/>
            <a:ext cx="190439" cy="190439"/>
          </a:xfrm>
          <a:prstGeom prst="rect">
            <a:avLst/>
          </a:prstGeom>
        </p:spPr>
      </p:pic>
      <p:sp>
        <p:nvSpPr>
          <p:cNvPr id="25" name="object 25"/>
          <p:cNvSpPr txBox="1"/>
          <p:nvPr/>
        </p:nvSpPr>
        <p:spPr>
          <a:xfrm>
            <a:off x="4706899" y="4537709"/>
            <a:ext cx="13208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30" b="1">
                <a:solidFill>
                  <a:srgbClr val="FFFFFF"/>
                </a:solidFill>
                <a:latin typeface="Aptos"/>
                <a:cs typeface="Aptos"/>
              </a:rPr>
              <a:t>✓</a:t>
            </a:r>
            <a:endParaRPr sz="1000">
              <a:latin typeface="Aptos"/>
              <a:cs typeface="Apto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943424" y="4585932"/>
            <a:ext cx="2223770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solidFill>
                  <a:srgbClr val="0F2339"/>
                </a:solidFill>
                <a:latin typeface="Noto Sans"/>
                <a:cs typeface="Noto Sans"/>
              </a:rPr>
              <a:t>Remove</a:t>
            </a:r>
            <a:r>
              <a:rPr dirty="0" sz="1150" spc="-50">
                <a:solidFill>
                  <a:srgbClr val="0F2339"/>
                </a:solidFill>
                <a:latin typeface="Noto Sans"/>
                <a:cs typeface="Noto Sans"/>
              </a:rPr>
              <a:t> </a:t>
            </a:r>
            <a:r>
              <a:rPr dirty="0" sz="1150">
                <a:solidFill>
                  <a:srgbClr val="0F2339"/>
                </a:solidFill>
                <a:latin typeface="Noto Sans"/>
                <a:cs typeface="Noto Sans"/>
              </a:rPr>
              <a:t>broad</a:t>
            </a:r>
            <a:r>
              <a:rPr dirty="0" sz="1150" spc="-50">
                <a:solidFill>
                  <a:srgbClr val="0F2339"/>
                </a:solidFill>
                <a:latin typeface="Noto Sans"/>
                <a:cs typeface="Noto Sans"/>
              </a:rPr>
              <a:t> </a:t>
            </a:r>
            <a:r>
              <a:rPr dirty="0" sz="1150">
                <a:solidFill>
                  <a:srgbClr val="0F2339"/>
                </a:solidFill>
                <a:latin typeface="Noto Sans"/>
                <a:cs typeface="Noto Sans"/>
              </a:rPr>
              <a:t>grant</a:t>
            </a:r>
            <a:r>
              <a:rPr dirty="0" sz="1150" spc="-50">
                <a:solidFill>
                  <a:srgbClr val="0F2339"/>
                </a:solidFill>
                <a:latin typeface="Noto Sans"/>
                <a:cs typeface="Noto Sans"/>
              </a:rPr>
              <a:t> </a:t>
            </a:r>
            <a:r>
              <a:rPr dirty="0" sz="1150">
                <a:solidFill>
                  <a:srgbClr val="0F2339"/>
                </a:solidFill>
                <a:latin typeface="Noto Sans"/>
                <a:cs typeface="Noto Sans"/>
              </a:rPr>
              <a:t>in</a:t>
            </a:r>
            <a:r>
              <a:rPr dirty="0" sz="1150" spc="-50">
                <a:solidFill>
                  <a:srgbClr val="0F2339"/>
                </a:solidFill>
                <a:latin typeface="Noto Sans"/>
                <a:cs typeface="Noto Sans"/>
              </a:rPr>
              <a:t> </a:t>
            </a:r>
            <a:r>
              <a:rPr dirty="0" sz="1150" spc="-10">
                <a:solidFill>
                  <a:srgbClr val="0F2339"/>
                </a:solidFill>
                <a:latin typeface="Noto Sans"/>
                <a:cs typeface="Noto Sans"/>
              </a:rPr>
              <a:t>sandbox</a:t>
            </a:r>
            <a:endParaRPr sz="1150">
              <a:latin typeface="Noto Sans"/>
              <a:cs typeface="Noto Sans"/>
            </a:endParaRPr>
          </a:p>
        </p:txBody>
      </p:sp>
      <p:pic>
        <p:nvPicPr>
          <p:cNvPr id="27" name="object 2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26695" y="4558860"/>
            <a:ext cx="190439" cy="190439"/>
          </a:xfrm>
          <a:prstGeom prst="rect">
            <a:avLst/>
          </a:prstGeom>
        </p:spPr>
      </p:pic>
      <p:sp>
        <p:nvSpPr>
          <p:cNvPr id="28" name="object 28"/>
          <p:cNvSpPr txBox="1"/>
          <p:nvPr/>
        </p:nvSpPr>
        <p:spPr>
          <a:xfrm>
            <a:off x="8455939" y="4537709"/>
            <a:ext cx="13208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30" b="1">
                <a:solidFill>
                  <a:srgbClr val="FFFFFF"/>
                </a:solidFill>
                <a:latin typeface="Aptos"/>
                <a:cs typeface="Aptos"/>
              </a:rPr>
              <a:t>✓</a:t>
            </a:r>
            <a:endParaRPr sz="1000">
              <a:latin typeface="Aptos"/>
              <a:cs typeface="Aptos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692463" y="4585932"/>
            <a:ext cx="2143125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solidFill>
                  <a:srgbClr val="0F2339"/>
                </a:solidFill>
                <a:latin typeface="Noto Sans"/>
                <a:cs typeface="Noto Sans"/>
              </a:rPr>
              <a:t>Define</a:t>
            </a:r>
            <a:r>
              <a:rPr dirty="0" sz="1150" spc="-40">
                <a:solidFill>
                  <a:srgbClr val="0F2339"/>
                </a:solidFill>
                <a:latin typeface="Noto Sans"/>
                <a:cs typeface="Noto Sans"/>
              </a:rPr>
              <a:t> </a:t>
            </a:r>
            <a:r>
              <a:rPr dirty="0" sz="1150">
                <a:solidFill>
                  <a:srgbClr val="0F2339"/>
                </a:solidFill>
                <a:latin typeface="Noto Sans"/>
                <a:cs typeface="Noto Sans"/>
              </a:rPr>
              <a:t>exact</a:t>
            </a:r>
            <a:r>
              <a:rPr dirty="0" sz="1150" spc="-45">
                <a:solidFill>
                  <a:srgbClr val="0F2339"/>
                </a:solidFill>
                <a:latin typeface="Noto Sans"/>
                <a:cs typeface="Noto Sans"/>
              </a:rPr>
              <a:t> </a:t>
            </a:r>
            <a:r>
              <a:rPr dirty="0" sz="1150">
                <a:solidFill>
                  <a:srgbClr val="0F2339"/>
                </a:solidFill>
                <a:latin typeface="Noto Sans"/>
                <a:cs typeface="Noto Sans"/>
              </a:rPr>
              <a:t>actions</a:t>
            </a:r>
            <a:r>
              <a:rPr dirty="0" sz="1150" spc="-40">
                <a:solidFill>
                  <a:srgbClr val="0F2339"/>
                </a:solidFill>
                <a:latin typeface="Noto Sans"/>
                <a:cs typeface="Noto Sans"/>
              </a:rPr>
              <a:t> </a:t>
            </a:r>
            <a:r>
              <a:rPr dirty="0" sz="1150">
                <a:solidFill>
                  <a:srgbClr val="0F2339"/>
                </a:solidFill>
                <a:latin typeface="Noto Sans"/>
                <a:cs typeface="Noto Sans"/>
              </a:rPr>
              <a:t>and</a:t>
            </a:r>
            <a:r>
              <a:rPr dirty="0" sz="1150" spc="-40">
                <a:solidFill>
                  <a:srgbClr val="0F2339"/>
                </a:solidFill>
                <a:latin typeface="Noto Sans"/>
                <a:cs typeface="Noto Sans"/>
              </a:rPr>
              <a:t> </a:t>
            </a:r>
            <a:r>
              <a:rPr dirty="0" sz="1150" spc="-20">
                <a:solidFill>
                  <a:srgbClr val="0F2339"/>
                </a:solidFill>
                <a:latin typeface="Noto Sans"/>
                <a:cs typeface="Noto Sans"/>
              </a:rPr>
              <a:t>scope</a:t>
            </a:r>
            <a:endParaRPr sz="1150">
              <a:latin typeface="Noto Sans"/>
              <a:cs typeface="Noto Sans"/>
            </a:endParaRPr>
          </a:p>
        </p:txBody>
      </p:sp>
      <p:pic>
        <p:nvPicPr>
          <p:cNvPr id="30" name="object 3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8615" y="5089135"/>
            <a:ext cx="190439" cy="190439"/>
          </a:xfrm>
          <a:prstGeom prst="rect">
            <a:avLst/>
          </a:prstGeom>
        </p:spPr>
      </p:pic>
      <p:sp>
        <p:nvSpPr>
          <p:cNvPr id="31" name="object 31"/>
          <p:cNvSpPr txBox="1"/>
          <p:nvPr/>
        </p:nvSpPr>
        <p:spPr>
          <a:xfrm>
            <a:off x="957859" y="5067985"/>
            <a:ext cx="13208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30" b="1">
                <a:solidFill>
                  <a:srgbClr val="FFFFFF"/>
                </a:solidFill>
                <a:latin typeface="Aptos"/>
                <a:cs typeface="Aptos"/>
              </a:rPr>
              <a:t>✓</a:t>
            </a:r>
            <a:endParaRPr sz="1000">
              <a:latin typeface="Aptos"/>
              <a:cs typeface="Aptos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194384" y="5116220"/>
            <a:ext cx="2078355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10">
                <a:solidFill>
                  <a:srgbClr val="0F2339"/>
                </a:solidFill>
                <a:latin typeface="Noto Sans"/>
                <a:cs typeface="Noto Sans"/>
              </a:rPr>
              <a:t>Test</a:t>
            </a:r>
            <a:r>
              <a:rPr dirty="0" sz="1150" spc="-55">
                <a:solidFill>
                  <a:srgbClr val="0F2339"/>
                </a:solidFill>
                <a:latin typeface="Noto Sans"/>
                <a:cs typeface="Noto Sans"/>
              </a:rPr>
              <a:t> </a:t>
            </a:r>
            <a:r>
              <a:rPr dirty="0" sz="1150">
                <a:solidFill>
                  <a:srgbClr val="0F2339"/>
                </a:solidFill>
                <a:latin typeface="Noto Sans"/>
                <a:cs typeface="Noto Sans"/>
              </a:rPr>
              <a:t>intended</a:t>
            </a:r>
            <a:r>
              <a:rPr dirty="0" sz="1150" spc="-50">
                <a:solidFill>
                  <a:srgbClr val="0F2339"/>
                </a:solidFill>
                <a:latin typeface="Noto Sans"/>
                <a:cs typeface="Noto Sans"/>
              </a:rPr>
              <a:t> </a:t>
            </a:r>
            <a:r>
              <a:rPr dirty="0" sz="1150">
                <a:solidFill>
                  <a:srgbClr val="0F2339"/>
                </a:solidFill>
                <a:latin typeface="Noto Sans"/>
                <a:cs typeface="Noto Sans"/>
              </a:rPr>
              <a:t>actions</a:t>
            </a:r>
            <a:r>
              <a:rPr dirty="0" sz="1150" spc="-50">
                <a:solidFill>
                  <a:srgbClr val="0F2339"/>
                </a:solidFill>
                <a:latin typeface="Noto Sans"/>
                <a:cs typeface="Noto Sans"/>
              </a:rPr>
              <a:t> </a:t>
            </a:r>
            <a:r>
              <a:rPr dirty="0" sz="1150" spc="-10">
                <a:solidFill>
                  <a:srgbClr val="0F2339"/>
                </a:solidFill>
                <a:latin typeface="Noto Sans"/>
                <a:cs typeface="Noto Sans"/>
              </a:rPr>
              <a:t>succeed</a:t>
            </a:r>
            <a:endParaRPr sz="1150">
              <a:latin typeface="Noto Sans"/>
              <a:cs typeface="Noto Sans"/>
            </a:endParaRPr>
          </a:p>
        </p:txBody>
      </p:sp>
      <p:pic>
        <p:nvPicPr>
          <p:cNvPr id="33" name="object 3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77655" y="5089135"/>
            <a:ext cx="190439" cy="190439"/>
          </a:xfrm>
          <a:prstGeom prst="rect">
            <a:avLst/>
          </a:prstGeom>
        </p:spPr>
      </p:pic>
      <p:sp>
        <p:nvSpPr>
          <p:cNvPr id="34" name="object 34"/>
          <p:cNvSpPr txBox="1"/>
          <p:nvPr/>
        </p:nvSpPr>
        <p:spPr>
          <a:xfrm>
            <a:off x="4706899" y="5067985"/>
            <a:ext cx="13208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30" b="1">
                <a:solidFill>
                  <a:srgbClr val="FFFFFF"/>
                </a:solidFill>
                <a:latin typeface="Aptos"/>
                <a:cs typeface="Aptos"/>
              </a:rPr>
              <a:t>✓</a:t>
            </a:r>
            <a:endParaRPr sz="1000">
              <a:latin typeface="Aptos"/>
              <a:cs typeface="Aptos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943424" y="5116220"/>
            <a:ext cx="2338705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10">
                <a:solidFill>
                  <a:srgbClr val="0F2339"/>
                </a:solidFill>
                <a:latin typeface="Noto Sans"/>
                <a:cs typeface="Noto Sans"/>
              </a:rPr>
              <a:t>Test</a:t>
            </a:r>
            <a:r>
              <a:rPr dirty="0" sz="1150" spc="-55">
                <a:solidFill>
                  <a:srgbClr val="0F2339"/>
                </a:solidFill>
                <a:latin typeface="Noto Sans"/>
                <a:cs typeface="Noto Sans"/>
              </a:rPr>
              <a:t> </a:t>
            </a:r>
            <a:r>
              <a:rPr dirty="0" sz="1150">
                <a:solidFill>
                  <a:srgbClr val="0F2339"/>
                </a:solidFill>
                <a:latin typeface="Noto Sans"/>
                <a:cs typeface="Noto Sans"/>
              </a:rPr>
              <a:t>unneeded</a:t>
            </a:r>
            <a:r>
              <a:rPr dirty="0" sz="1150" spc="-50">
                <a:solidFill>
                  <a:srgbClr val="0F2339"/>
                </a:solidFill>
                <a:latin typeface="Noto Sans"/>
                <a:cs typeface="Noto Sans"/>
              </a:rPr>
              <a:t> </a:t>
            </a:r>
            <a:r>
              <a:rPr dirty="0" sz="1150">
                <a:solidFill>
                  <a:srgbClr val="0F2339"/>
                </a:solidFill>
                <a:latin typeface="Noto Sans"/>
                <a:cs typeface="Noto Sans"/>
              </a:rPr>
              <a:t>actions</a:t>
            </a:r>
            <a:r>
              <a:rPr dirty="0" sz="1150" spc="-50">
                <a:solidFill>
                  <a:srgbClr val="0F2339"/>
                </a:solidFill>
                <a:latin typeface="Noto Sans"/>
                <a:cs typeface="Noto Sans"/>
              </a:rPr>
              <a:t> </a:t>
            </a:r>
            <a:r>
              <a:rPr dirty="0" sz="1150">
                <a:solidFill>
                  <a:srgbClr val="0F2339"/>
                </a:solidFill>
                <a:latin typeface="Noto Sans"/>
                <a:cs typeface="Noto Sans"/>
              </a:rPr>
              <a:t>are</a:t>
            </a:r>
            <a:r>
              <a:rPr dirty="0" sz="1150" spc="-55">
                <a:solidFill>
                  <a:srgbClr val="0F2339"/>
                </a:solidFill>
                <a:latin typeface="Noto Sans"/>
                <a:cs typeface="Noto Sans"/>
              </a:rPr>
              <a:t> </a:t>
            </a:r>
            <a:r>
              <a:rPr dirty="0" sz="1150" spc="-10">
                <a:solidFill>
                  <a:srgbClr val="0F2339"/>
                </a:solidFill>
                <a:latin typeface="Noto Sans"/>
                <a:cs typeface="Noto Sans"/>
              </a:rPr>
              <a:t>denied</a:t>
            </a:r>
            <a:endParaRPr sz="1150">
              <a:latin typeface="Noto Sans"/>
              <a:cs typeface="Noto Sans"/>
            </a:endParaRPr>
          </a:p>
        </p:txBody>
      </p:sp>
      <p:pic>
        <p:nvPicPr>
          <p:cNvPr id="36" name="object 3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26695" y="5089135"/>
            <a:ext cx="190439" cy="190439"/>
          </a:xfrm>
          <a:prstGeom prst="rect">
            <a:avLst/>
          </a:prstGeom>
        </p:spPr>
      </p:pic>
      <p:sp>
        <p:nvSpPr>
          <p:cNvPr id="37" name="object 37"/>
          <p:cNvSpPr txBox="1"/>
          <p:nvPr/>
        </p:nvSpPr>
        <p:spPr>
          <a:xfrm>
            <a:off x="8455939" y="5067985"/>
            <a:ext cx="13208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30" b="1">
                <a:solidFill>
                  <a:srgbClr val="FFFFFF"/>
                </a:solidFill>
                <a:latin typeface="Aptos"/>
                <a:cs typeface="Aptos"/>
              </a:rPr>
              <a:t>✓</a:t>
            </a:r>
            <a:endParaRPr sz="1000">
              <a:latin typeface="Aptos"/>
              <a:cs typeface="Aptos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692463" y="5116220"/>
            <a:ext cx="1970405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solidFill>
                  <a:srgbClr val="0F2339"/>
                </a:solidFill>
                <a:latin typeface="Noto Sans"/>
                <a:cs typeface="Noto Sans"/>
              </a:rPr>
              <a:t>Capture</a:t>
            </a:r>
            <a:r>
              <a:rPr dirty="0" sz="1150" spc="-30">
                <a:solidFill>
                  <a:srgbClr val="0F2339"/>
                </a:solidFill>
                <a:latin typeface="Noto Sans"/>
                <a:cs typeface="Noto Sans"/>
              </a:rPr>
              <a:t> </a:t>
            </a:r>
            <a:r>
              <a:rPr dirty="0" sz="1150" spc="-10">
                <a:solidFill>
                  <a:srgbClr val="0F2339"/>
                </a:solidFill>
                <a:latin typeface="Noto Sans"/>
                <a:cs typeface="Noto Sans"/>
              </a:rPr>
              <a:t>after-</a:t>
            </a:r>
            <a:r>
              <a:rPr dirty="0" sz="1150">
                <a:solidFill>
                  <a:srgbClr val="0F2339"/>
                </a:solidFill>
                <a:latin typeface="Noto Sans"/>
                <a:cs typeface="Noto Sans"/>
              </a:rPr>
              <a:t>state</a:t>
            </a:r>
            <a:r>
              <a:rPr dirty="0" sz="1150" spc="-30">
                <a:solidFill>
                  <a:srgbClr val="0F2339"/>
                </a:solidFill>
                <a:latin typeface="Noto Sans"/>
                <a:cs typeface="Noto Sans"/>
              </a:rPr>
              <a:t> </a:t>
            </a:r>
            <a:r>
              <a:rPr dirty="0" sz="1150" spc="-10">
                <a:solidFill>
                  <a:srgbClr val="0F2339"/>
                </a:solidFill>
                <a:latin typeface="Noto Sans"/>
                <a:cs typeface="Noto Sans"/>
              </a:rPr>
              <a:t>evidence</a:t>
            </a:r>
            <a:endParaRPr sz="1150">
              <a:latin typeface="Noto Sans"/>
              <a:cs typeface="Noto Sans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268895" y="5846660"/>
            <a:ext cx="9699625" cy="2133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200" spc="-50">
                <a:solidFill>
                  <a:srgbClr val="C1403A"/>
                </a:solidFill>
                <a:latin typeface="Arial Black"/>
                <a:cs typeface="Arial Black"/>
              </a:rPr>
              <a:t>Design</a:t>
            </a:r>
            <a:r>
              <a:rPr dirty="0" sz="1200" spc="-60">
                <a:solidFill>
                  <a:srgbClr val="C1403A"/>
                </a:solidFill>
                <a:latin typeface="Arial Black"/>
                <a:cs typeface="Arial Black"/>
              </a:rPr>
              <a:t> </a:t>
            </a:r>
            <a:r>
              <a:rPr dirty="0" sz="1200" spc="-40">
                <a:solidFill>
                  <a:srgbClr val="C1403A"/>
                </a:solidFill>
                <a:latin typeface="Arial Black"/>
                <a:cs typeface="Arial Black"/>
              </a:rPr>
              <a:t>note:</a:t>
            </a:r>
            <a:r>
              <a:rPr dirty="0" sz="1200" spc="-65">
                <a:solidFill>
                  <a:srgbClr val="C1403A"/>
                </a:solidFill>
                <a:latin typeface="Arial Black"/>
                <a:cs typeface="Arial Black"/>
              </a:rPr>
              <a:t> </a:t>
            </a:r>
            <a:r>
              <a:rPr dirty="0" sz="1200">
                <a:solidFill>
                  <a:srgbClr val="C1403A"/>
                </a:solidFill>
                <a:latin typeface="Arial Black"/>
                <a:cs typeface="Arial Black"/>
              </a:rPr>
              <a:t>if</a:t>
            </a:r>
            <a:r>
              <a:rPr dirty="0" sz="1200" spc="-60">
                <a:solidFill>
                  <a:srgbClr val="C1403A"/>
                </a:solidFill>
                <a:latin typeface="Arial Black"/>
                <a:cs typeface="Arial Black"/>
              </a:rPr>
              <a:t> </a:t>
            </a:r>
            <a:r>
              <a:rPr dirty="0" sz="1200" spc="-50">
                <a:solidFill>
                  <a:srgbClr val="C1403A"/>
                </a:solidFill>
                <a:latin typeface="Arial Black"/>
                <a:cs typeface="Arial Black"/>
              </a:rPr>
              <a:t>“restart</a:t>
            </a:r>
            <a:r>
              <a:rPr dirty="0" sz="1200" spc="-60">
                <a:solidFill>
                  <a:srgbClr val="C1403A"/>
                </a:solidFill>
                <a:latin typeface="Arial Black"/>
                <a:cs typeface="Arial Black"/>
              </a:rPr>
              <a:t> </a:t>
            </a:r>
            <a:r>
              <a:rPr dirty="0" sz="1200" spc="-40">
                <a:solidFill>
                  <a:srgbClr val="C1403A"/>
                </a:solidFill>
                <a:latin typeface="Arial Black"/>
                <a:cs typeface="Arial Black"/>
              </a:rPr>
              <a:t>one</a:t>
            </a:r>
            <a:r>
              <a:rPr dirty="0" sz="1200" spc="-55">
                <a:solidFill>
                  <a:srgbClr val="C1403A"/>
                </a:solidFill>
                <a:latin typeface="Arial Black"/>
                <a:cs typeface="Arial Black"/>
              </a:rPr>
              <a:t> </a:t>
            </a:r>
            <a:r>
              <a:rPr dirty="0" sz="1200" spc="-70">
                <a:solidFill>
                  <a:srgbClr val="C1403A"/>
                </a:solidFill>
                <a:latin typeface="Arial Black"/>
                <a:cs typeface="Arial Black"/>
              </a:rPr>
              <a:t>VM”</a:t>
            </a:r>
            <a:r>
              <a:rPr dirty="0" sz="1200" spc="-60">
                <a:solidFill>
                  <a:srgbClr val="C1403A"/>
                </a:solidFill>
                <a:latin typeface="Arial Black"/>
                <a:cs typeface="Arial Black"/>
              </a:rPr>
              <a:t> </a:t>
            </a:r>
            <a:r>
              <a:rPr dirty="0" sz="1200" spc="-90">
                <a:solidFill>
                  <a:srgbClr val="C1403A"/>
                </a:solidFill>
                <a:latin typeface="Arial Black"/>
                <a:cs typeface="Arial Black"/>
              </a:rPr>
              <a:t>is</a:t>
            </a:r>
            <a:r>
              <a:rPr dirty="0" sz="1200" spc="-60">
                <a:solidFill>
                  <a:srgbClr val="C1403A"/>
                </a:solidFill>
                <a:latin typeface="Arial Black"/>
                <a:cs typeface="Arial Black"/>
              </a:rPr>
              <a:t> </a:t>
            </a:r>
            <a:r>
              <a:rPr dirty="0" sz="1200" spc="-10">
                <a:solidFill>
                  <a:srgbClr val="C1403A"/>
                </a:solidFill>
                <a:latin typeface="Arial Black"/>
                <a:cs typeface="Arial Black"/>
              </a:rPr>
              <a:t>truly</a:t>
            </a:r>
            <a:r>
              <a:rPr dirty="0" sz="1200" spc="-55">
                <a:solidFill>
                  <a:srgbClr val="C1403A"/>
                </a:solidFill>
                <a:latin typeface="Arial Black"/>
                <a:cs typeface="Arial Black"/>
              </a:rPr>
              <a:t> </a:t>
            </a:r>
            <a:r>
              <a:rPr dirty="0" sz="1200" spc="-35">
                <a:solidFill>
                  <a:srgbClr val="C1403A"/>
                </a:solidFill>
                <a:latin typeface="Arial Black"/>
                <a:cs typeface="Arial Black"/>
              </a:rPr>
              <a:t>required,</a:t>
            </a:r>
            <a:r>
              <a:rPr dirty="0" sz="1200" spc="-60">
                <a:solidFill>
                  <a:srgbClr val="C1403A"/>
                </a:solidFill>
                <a:latin typeface="Arial Black"/>
                <a:cs typeface="Arial Black"/>
              </a:rPr>
              <a:t> </a:t>
            </a:r>
            <a:r>
              <a:rPr dirty="0" sz="1200" spc="-65">
                <a:solidFill>
                  <a:srgbClr val="C1403A"/>
                </a:solidFill>
                <a:latin typeface="Arial Black"/>
                <a:cs typeface="Arial Black"/>
              </a:rPr>
              <a:t>assign</a:t>
            </a:r>
            <a:r>
              <a:rPr dirty="0" sz="1200" spc="-60">
                <a:solidFill>
                  <a:srgbClr val="C1403A"/>
                </a:solidFill>
                <a:latin typeface="Arial Black"/>
                <a:cs typeface="Arial Black"/>
              </a:rPr>
              <a:t> </a:t>
            </a:r>
            <a:r>
              <a:rPr dirty="0" sz="1200" spc="-35">
                <a:solidFill>
                  <a:srgbClr val="C1403A"/>
                </a:solidFill>
                <a:latin typeface="Arial Black"/>
                <a:cs typeface="Arial Black"/>
              </a:rPr>
              <a:t>the</a:t>
            </a:r>
            <a:r>
              <a:rPr dirty="0" sz="1200" spc="-60">
                <a:solidFill>
                  <a:srgbClr val="C1403A"/>
                </a:solidFill>
                <a:latin typeface="Arial Black"/>
                <a:cs typeface="Arial Black"/>
              </a:rPr>
              <a:t> custom</a:t>
            </a:r>
            <a:r>
              <a:rPr dirty="0" sz="1200" spc="-55">
                <a:solidFill>
                  <a:srgbClr val="C1403A"/>
                </a:solidFill>
                <a:latin typeface="Arial Black"/>
                <a:cs typeface="Arial Black"/>
              </a:rPr>
              <a:t> </a:t>
            </a:r>
            <a:r>
              <a:rPr dirty="0" sz="1200" spc="-40">
                <a:solidFill>
                  <a:srgbClr val="C1403A"/>
                </a:solidFill>
                <a:latin typeface="Arial Black"/>
                <a:cs typeface="Arial Black"/>
              </a:rPr>
              <a:t>role</a:t>
            </a:r>
            <a:r>
              <a:rPr dirty="0" sz="1200" spc="-60">
                <a:solidFill>
                  <a:srgbClr val="C1403A"/>
                </a:solidFill>
                <a:latin typeface="Arial Black"/>
                <a:cs typeface="Arial Black"/>
              </a:rPr>
              <a:t> </a:t>
            </a:r>
            <a:r>
              <a:rPr dirty="0" sz="1200" spc="-40">
                <a:solidFill>
                  <a:srgbClr val="C1403A"/>
                </a:solidFill>
                <a:latin typeface="Arial Black"/>
                <a:cs typeface="Arial Black"/>
              </a:rPr>
              <a:t>at</a:t>
            </a:r>
            <a:r>
              <a:rPr dirty="0" sz="1200" spc="-60">
                <a:solidFill>
                  <a:srgbClr val="C1403A"/>
                </a:solidFill>
                <a:latin typeface="Arial Black"/>
                <a:cs typeface="Arial Black"/>
              </a:rPr>
              <a:t> </a:t>
            </a:r>
            <a:r>
              <a:rPr dirty="0" sz="1200" spc="-20">
                <a:solidFill>
                  <a:srgbClr val="C1403A"/>
                </a:solidFill>
                <a:latin typeface="Arial Black"/>
                <a:cs typeface="Arial Black"/>
              </a:rPr>
              <a:t>that</a:t>
            </a:r>
            <a:r>
              <a:rPr dirty="0" sz="1200" spc="-60">
                <a:solidFill>
                  <a:srgbClr val="C1403A"/>
                </a:solidFill>
                <a:latin typeface="Arial Black"/>
                <a:cs typeface="Arial Black"/>
              </a:rPr>
              <a:t> </a:t>
            </a:r>
            <a:r>
              <a:rPr dirty="0" sz="1200" spc="-70">
                <a:solidFill>
                  <a:srgbClr val="C1403A"/>
                </a:solidFill>
                <a:latin typeface="Arial Black"/>
                <a:cs typeface="Arial Black"/>
              </a:rPr>
              <a:t>VM</a:t>
            </a:r>
            <a:r>
              <a:rPr dirty="0" sz="1200" spc="-55">
                <a:solidFill>
                  <a:srgbClr val="C1403A"/>
                </a:solidFill>
                <a:latin typeface="Arial Black"/>
                <a:cs typeface="Arial Black"/>
              </a:rPr>
              <a:t> </a:t>
            </a:r>
            <a:r>
              <a:rPr dirty="0" sz="1200" spc="-70">
                <a:solidFill>
                  <a:srgbClr val="C1403A"/>
                </a:solidFill>
                <a:latin typeface="Arial Black"/>
                <a:cs typeface="Arial Black"/>
              </a:rPr>
              <a:t>resource</a:t>
            </a:r>
            <a:r>
              <a:rPr dirty="0" sz="1200" spc="-55">
                <a:solidFill>
                  <a:srgbClr val="C1403A"/>
                </a:solidFill>
                <a:latin typeface="Arial Black"/>
                <a:cs typeface="Arial Black"/>
              </a:rPr>
              <a:t> </a:t>
            </a:r>
            <a:r>
              <a:rPr dirty="0" sz="1200" spc="-80">
                <a:solidFill>
                  <a:srgbClr val="C1403A"/>
                </a:solidFill>
                <a:latin typeface="Arial Black"/>
                <a:cs typeface="Arial Black"/>
              </a:rPr>
              <a:t>scope—</a:t>
            </a:r>
            <a:r>
              <a:rPr dirty="0" sz="1200" spc="-10">
                <a:solidFill>
                  <a:srgbClr val="C1403A"/>
                </a:solidFill>
                <a:latin typeface="Arial Black"/>
                <a:cs typeface="Arial Black"/>
              </a:rPr>
              <a:t>not</a:t>
            </a:r>
            <a:r>
              <a:rPr dirty="0" sz="1200" spc="-60">
                <a:solidFill>
                  <a:srgbClr val="C1403A"/>
                </a:solidFill>
                <a:latin typeface="Arial Black"/>
                <a:cs typeface="Arial Black"/>
              </a:rPr>
              <a:t> </a:t>
            </a:r>
            <a:r>
              <a:rPr dirty="0" sz="1200" spc="-50">
                <a:solidFill>
                  <a:srgbClr val="C1403A"/>
                </a:solidFill>
                <a:latin typeface="Arial Black"/>
                <a:cs typeface="Arial Black"/>
              </a:rPr>
              <a:t>subscription</a:t>
            </a:r>
            <a:r>
              <a:rPr dirty="0" sz="1200" spc="-55">
                <a:solidFill>
                  <a:srgbClr val="C1403A"/>
                </a:solidFill>
                <a:latin typeface="Arial Black"/>
                <a:cs typeface="Arial Black"/>
              </a:rPr>
              <a:t> </a:t>
            </a:r>
            <a:r>
              <a:rPr dirty="0" sz="1200" spc="-10">
                <a:solidFill>
                  <a:srgbClr val="C1403A"/>
                </a:solidFill>
                <a:latin typeface="Arial Black"/>
                <a:cs typeface="Arial Black"/>
              </a:rPr>
              <a:t>scope.</a:t>
            </a:r>
            <a:endParaRPr sz="1200">
              <a:latin typeface="Arial Black"/>
              <a:cs typeface="Arial Black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66635" y="6382435"/>
            <a:ext cx="11064240" cy="635"/>
          </a:xfrm>
          <a:custGeom>
            <a:avLst/>
            <a:gdLst/>
            <a:ahLst/>
            <a:cxnLst/>
            <a:rect l="l" t="t" r="r" b="b"/>
            <a:pathLst>
              <a:path w="11064240" h="635">
                <a:moveTo>
                  <a:pt x="0" y="0"/>
                </a:moveTo>
                <a:lnTo>
                  <a:pt x="11064240" y="368"/>
                </a:lnTo>
              </a:path>
            </a:pathLst>
          </a:custGeom>
          <a:ln w="8999">
            <a:solidFill>
              <a:srgbClr val="DBE4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90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 spc="-100"/>
              <a:t>DAY</a:t>
            </a:r>
            <a:r>
              <a:rPr dirty="0" spc="-55"/>
              <a:t> </a:t>
            </a:r>
            <a:r>
              <a:rPr dirty="0"/>
              <a:t>1</a:t>
            </a:r>
            <a:r>
              <a:rPr dirty="0" spc="105"/>
              <a:t> </a:t>
            </a:r>
            <a:r>
              <a:rPr dirty="0"/>
              <a:t>•</a:t>
            </a:r>
            <a:r>
              <a:rPr dirty="0" spc="130"/>
              <a:t> </a:t>
            </a:r>
            <a:r>
              <a:rPr dirty="0" spc="-70"/>
              <a:t>CLOUD</a:t>
            </a:r>
            <a:r>
              <a:rPr dirty="0" spc="-55"/>
              <a:t> </a:t>
            </a:r>
            <a:r>
              <a:rPr dirty="0" spc="-65"/>
              <a:t>FOUNDATIONS</a:t>
            </a:r>
            <a:r>
              <a:rPr dirty="0" spc="-55"/>
              <a:t> </a:t>
            </a:r>
            <a:r>
              <a:rPr dirty="0" spc="-105"/>
              <a:t>&amp;</a:t>
            </a:r>
            <a:r>
              <a:rPr dirty="0" spc="-50"/>
              <a:t> </a:t>
            </a:r>
            <a:r>
              <a:rPr dirty="0" spc="-95"/>
              <a:t>AZURE</a:t>
            </a:r>
            <a:r>
              <a:rPr dirty="0" spc="-55"/>
              <a:t> </a:t>
            </a:r>
            <a:r>
              <a:rPr dirty="0" spc="-50"/>
              <a:t>BASICS</a:t>
            </a:r>
          </a:p>
        </p:txBody>
      </p:sp>
      <p:sp>
        <p:nvSpPr>
          <p:cNvPr id="40" name="object 4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032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160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3935" y="299427"/>
            <a:ext cx="256349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65">
                <a:solidFill>
                  <a:srgbClr val="0077D3"/>
                </a:solidFill>
                <a:latin typeface="Arial Black"/>
                <a:cs typeface="Arial Black"/>
              </a:rPr>
              <a:t>PA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25">
                <a:solidFill>
                  <a:srgbClr val="0077D3"/>
                </a:solidFill>
                <a:latin typeface="Arial Black"/>
                <a:cs typeface="Arial Black"/>
              </a:rPr>
              <a:t>R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>
                <a:solidFill>
                  <a:srgbClr val="0077D3"/>
                </a:solidFill>
                <a:latin typeface="Arial Black"/>
                <a:cs typeface="Arial Black"/>
              </a:rPr>
              <a:t>T</a:t>
            </a:r>
            <a:r>
              <a:rPr dirty="0" sz="1000" spc="-5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>
                <a:solidFill>
                  <a:srgbClr val="0077D3"/>
                </a:solidFill>
                <a:latin typeface="Arial Black"/>
                <a:cs typeface="Arial Black"/>
              </a:rPr>
              <a:t>4 •</a:t>
            </a:r>
            <a:r>
              <a:rPr dirty="0" sz="1000" spc="12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95">
                <a:solidFill>
                  <a:srgbClr val="0077D3"/>
                </a:solidFill>
                <a:latin typeface="Arial Black"/>
                <a:cs typeface="Arial Black"/>
              </a:rPr>
              <a:t>A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60">
                <a:solidFill>
                  <a:srgbClr val="0077D3"/>
                </a:solidFill>
                <a:latin typeface="Arial Black"/>
                <a:cs typeface="Arial Black"/>
              </a:rPr>
              <a:t>Z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90">
                <a:solidFill>
                  <a:srgbClr val="0077D3"/>
                </a:solidFill>
                <a:latin typeface="Arial Black"/>
                <a:cs typeface="Arial Black"/>
              </a:rPr>
              <a:t>U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25">
                <a:solidFill>
                  <a:srgbClr val="0077D3"/>
                </a:solidFill>
                <a:latin typeface="Arial Black"/>
                <a:cs typeface="Arial Black"/>
              </a:rPr>
              <a:t>R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>
                <a:solidFill>
                  <a:srgbClr val="0077D3"/>
                </a:solidFill>
                <a:latin typeface="Arial Black"/>
                <a:cs typeface="Arial Black"/>
              </a:rPr>
              <a:t>E</a:t>
            </a:r>
            <a:r>
              <a:rPr dirty="0" sz="1000" spc="1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60">
                <a:solidFill>
                  <a:srgbClr val="0077D3"/>
                </a:solidFill>
                <a:latin typeface="Arial Black"/>
                <a:cs typeface="Arial Black"/>
              </a:rPr>
              <a:t>ACC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75">
                <a:solidFill>
                  <a:srgbClr val="0077D3"/>
                </a:solidFill>
                <a:latin typeface="Arial Black"/>
                <a:cs typeface="Arial Black"/>
              </a:rPr>
              <a:t>E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80">
                <a:solidFill>
                  <a:srgbClr val="0077D3"/>
                </a:solidFill>
                <a:latin typeface="Arial Black"/>
                <a:cs typeface="Arial Black"/>
              </a:rPr>
              <a:t>S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>
                <a:solidFill>
                  <a:srgbClr val="0077D3"/>
                </a:solidFill>
                <a:latin typeface="Arial Black"/>
                <a:cs typeface="Arial Black"/>
              </a:rPr>
              <a:t>S</a:t>
            </a:r>
            <a:r>
              <a:rPr dirty="0" sz="1000" spc="114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45">
                <a:solidFill>
                  <a:srgbClr val="0077D3"/>
                </a:solidFill>
                <a:latin typeface="Arial Black"/>
                <a:cs typeface="Arial Black"/>
              </a:rPr>
              <a:t>CO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35">
                <a:solidFill>
                  <a:srgbClr val="0077D3"/>
                </a:solidFill>
                <a:latin typeface="Arial Black"/>
                <a:cs typeface="Arial Black"/>
              </a:rPr>
              <a:t>N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60">
                <a:solidFill>
                  <a:srgbClr val="0077D3"/>
                </a:solidFill>
                <a:latin typeface="Arial Black"/>
                <a:cs typeface="Arial Black"/>
              </a:rPr>
              <a:t>T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25">
                <a:solidFill>
                  <a:srgbClr val="0077D3"/>
                </a:solidFill>
                <a:latin typeface="Arial Black"/>
                <a:cs typeface="Arial Black"/>
              </a:rPr>
              <a:t>R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50">
                <a:solidFill>
                  <a:srgbClr val="0077D3"/>
                </a:solidFill>
                <a:latin typeface="Arial Black"/>
                <a:cs typeface="Arial Black"/>
              </a:rPr>
              <a:t>O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50">
                <a:solidFill>
                  <a:srgbClr val="0077D3"/>
                </a:solidFill>
                <a:latin typeface="Arial Black"/>
                <a:cs typeface="Arial Black"/>
              </a:rPr>
              <a:t>L</a:t>
            </a:r>
            <a:endParaRPr sz="1000">
              <a:latin typeface="Arial Black"/>
              <a:cs typeface="Arial Black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54304" y="428977"/>
            <a:ext cx="9583420" cy="814705"/>
          </a:xfrm>
          <a:prstGeom prst="rect"/>
        </p:spPr>
        <p:txBody>
          <a:bodyPr wrap="square" lIns="0" tIns="133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0"/>
              </a:spcBef>
            </a:pPr>
            <a:r>
              <a:rPr dirty="0" sz="2700" spc="-120">
                <a:solidFill>
                  <a:srgbClr val="0F2339"/>
                </a:solidFill>
              </a:rPr>
              <a:t>Deny</a:t>
            </a:r>
            <a:r>
              <a:rPr dirty="0" sz="2700" spc="-185">
                <a:solidFill>
                  <a:srgbClr val="0F2339"/>
                </a:solidFill>
              </a:rPr>
              <a:t> </a:t>
            </a:r>
            <a:r>
              <a:rPr dirty="0" sz="2700" spc="-160">
                <a:solidFill>
                  <a:srgbClr val="0F2339"/>
                </a:solidFill>
              </a:rPr>
              <a:t>assignments:</a:t>
            </a:r>
            <a:r>
              <a:rPr dirty="0" sz="2700" spc="-185">
                <a:solidFill>
                  <a:srgbClr val="0F2339"/>
                </a:solidFill>
              </a:rPr>
              <a:t> </a:t>
            </a:r>
            <a:r>
              <a:rPr dirty="0" sz="2700" spc="-140">
                <a:solidFill>
                  <a:srgbClr val="0F2339"/>
                </a:solidFill>
              </a:rPr>
              <a:t>why</a:t>
            </a:r>
            <a:r>
              <a:rPr dirty="0" sz="2700" spc="-185">
                <a:solidFill>
                  <a:srgbClr val="0F2339"/>
                </a:solidFill>
              </a:rPr>
              <a:t> </a:t>
            </a:r>
            <a:r>
              <a:rPr dirty="0" sz="2700" spc="-114">
                <a:solidFill>
                  <a:srgbClr val="0F2339"/>
                </a:solidFill>
              </a:rPr>
              <a:t>an</a:t>
            </a:r>
            <a:r>
              <a:rPr dirty="0" sz="2700" spc="-190">
                <a:solidFill>
                  <a:srgbClr val="0F2339"/>
                </a:solidFill>
              </a:rPr>
              <a:t> </a:t>
            </a:r>
            <a:r>
              <a:rPr dirty="0" sz="2700" spc="-175">
                <a:solidFill>
                  <a:srgbClr val="0F2339"/>
                </a:solidFill>
              </a:rPr>
              <a:t>Allow</a:t>
            </a:r>
            <a:r>
              <a:rPr dirty="0" sz="2700" spc="-190">
                <a:solidFill>
                  <a:srgbClr val="0F2339"/>
                </a:solidFill>
              </a:rPr>
              <a:t> </a:t>
            </a:r>
            <a:r>
              <a:rPr dirty="0" sz="2700" spc="-130">
                <a:solidFill>
                  <a:srgbClr val="0F2339"/>
                </a:solidFill>
              </a:rPr>
              <a:t>may</a:t>
            </a:r>
            <a:r>
              <a:rPr dirty="0" sz="2700" spc="-185">
                <a:solidFill>
                  <a:srgbClr val="0F2339"/>
                </a:solidFill>
              </a:rPr>
              <a:t> </a:t>
            </a:r>
            <a:r>
              <a:rPr dirty="0" sz="2700" spc="-120">
                <a:solidFill>
                  <a:srgbClr val="0F2339"/>
                </a:solidFill>
              </a:rPr>
              <a:t>still</a:t>
            </a:r>
            <a:r>
              <a:rPr dirty="0" sz="2700" spc="-185">
                <a:solidFill>
                  <a:srgbClr val="0F2339"/>
                </a:solidFill>
              </a:rPr>
              <a:t> </a:t>
            </a:r>
            <a:r>
              <a:rPr dirty="0" sz="2700" spc="-20">
                <a:solidFill>
                  <a:srgbClr val="0F2339"/>
                </a:solidFill>
              </a:rPr>
              <a:t>fail</a:t>
            </a:r>
            <a:endParaRPr sz="2700"/>
          </a:p>
          <a:p>
            <a:pPr marL="30480">
              <a:lnSpc>
                <a:spcPct val="100000"/>
              </a:lnSpc>
              <a:spcBef>
                <a:spcPts val="459"/>
              </a:spcBef>
            </a:pP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A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role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assignment</a:t>
            </a:r>
            <a:r>
              <a:rPr dirty="0" sz="13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grants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permissions;</a:t>
            </a:r>
            <a:r>
              <a:rPr dirty="0" sz="13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a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deny</a:t>
            </a:r>
            <a:r>
              <a:rPr dirty="0" sz="13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assignment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can</a:t>
            </a:r>
            <a:r>
              <a:rPr dirty="0" sz="13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block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actions</a:t>
            </a:r>
            <a:r>
              <a:rPr dirty="0" sz="13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even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when</a:t>
            </a:r>
            <a:r>
              <a:rPr dirty="0" sz="13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an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Allow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role</a:t>
            </a:r>
            <a:r>
              <a:rPr dirty="0" sz="13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appears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to</a:t>
            </a:r>
            <a:r>
              <a:rPr dirty="0" sz="13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be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present.</a:t>
            </a:r>
            <a:endParaRPr sz="1300">
              <a:latin typeface="Noto Sans"/>
              <a:cs typeface="Noto San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66635" y="1417319"/>
            <a:ext cx="11064240" cy="635"/>
          </a:xfrm>
          <a:custGeom>
            <a:avLst/>
            <a:gdLst/>
            <a:ahLst/>
            <a:cxnLst/>
            <a:rect l="l" t="t" r="r" b="b"/>
            <a:pathLst>
              <a:path w="11064240" h="634">
                <a:moveTo>
                  <a:pt x="0" y="0"/>
                </a:moveTo>
                <a:lnTo>
                  <a:pt x="11064240" y="355"/>
                </a:lnTo>
              </a:path>
            </a:pathLst>
          </a:custGeom>
          <a:ln w="10079">
            <a:solidFill>
              <a:srgbClr val="DBE4ED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6" name="object 6"/>
          <p:cNvGrpSpPr/>
          <p:nvPr/>
        </p:nvGrpSpPr>
        <p:grpSpPr>
          <a:xfrm>
            <a:off x="817196" y="1914844"/>
            <a:ext cx="1931035" cy="541020"/>
            <a:chOff x="817196" y="1914844"/>
            <a:chExt cx="1931035" cy="541020"/>
          </a:xfrm>
        </p:grpSpPr>
        <p:sp>
          <p:nvSpPr>
            <p:cNvPr id="7" name="object 7"/>
            <p:cNvSpPr/>
            <p:nvPr/>
          </p:nvSpPr>
          <p:spPr>
            <a:xfrm>
              <a:off x="822236" y="1919884"/>
              <a:ext cx="1920875" cy="530860"/>
            </a:xfrm>
            <a:custGeom>
              <a:avLst/>
              <a:gdLst/>
              <a:ahLst/>
              <a:cxnLst/>
              <a:rect l="l" t="t" r="r" b="b"/>
              <a:pathLst>
                <a:path w="1920875" h="530860">
                  <a:moveTo>
                    <a:pt x="110159" y="0"/>
                  </a:moveTo>
                  <a:lnTo>
                    <a:pt x="68095" y="8352"/>
                  </a:lnTo>
                  <a:lnTo>
                    <a:pt x="32535" y="32213"/>
                  </a:lnTo>
                  <a:lnTo>
                    <a:pt x="8721" y="67932"/>
                  </a:lnTo>
                  <a:lnTo>
                    <a:pt x="368" y="109791"/>
                  </a:lnTo>
                  <a:lnTo>
                    <a:pt x="0" y="420839"/>
                  </a:lnTo>
                  <a:lnTo>
                    <a:pt x="929" y="435107"/>
                  </a:lnTo>
                  <a:lnTo>
                    <a:pt x="939" y="435262"/>
                  </a:lnTo>
                  <a:lnTo>
                    <a:pt x="3701" y="449138"/>
                  </a:lnTo>
                  <a:lnTo>
                    <a:pt x="3736" y="449318"/>
                  </a:lnTo>
                  <a:lnTo>
                    <a:pt x="8288" y="462698"/>
                  </a:lnTo>
                  <a:lnTo>
                    <a:pt x="8358" y="462904"/>
                  </a:lnTo>
                  <a:lnTo>
                    <a:pt x="14770" y="475919"/>
                  </a:lnTo>
                  <a:lnTo>
                    <a:pt x="22683" y="487627"/>
                  </a:lnTo>
                  <a:lnTo>
                    <a:pt x="22788" y="487782"/>
                  </a:lnTo>
                  <a:lnTo>
                    <a:pt x="32224" y="498463"/>
                  </a:lnTo>
                  <a:lnTo>
                    <a:pt x="67934" y="522278"/>
                  </a:lnTo>
                  <a:lnTo>
                    <a:pt x="109804" y="530631"/>
                  </a:lnTo>
                  <a:lnTo>
                    <a:pt x="1810804" y="530631"/>
                  </a:lnTo>
                  <a:lnTo>
                    <a:pt x="1852875" y="522278"/>
                  </a:lnTo>
                  <a:lnTo>
                    <a:pt x="1888375" y="498463"/>
                  </a:lnTo>
                  <a:lnTo>
                    <a:pt x="1912147" y="462904"/>
                  </a:lnTo>
                  <a:lnTo>
                    <a:pt x="1919637" y="435262"/>
                  </a:lnTo>
                  <a:lnTo>
                    <a:pt x="1919668" y="435107"/>
                  </a:lnTo>
                  <a:lnTo>
                    <a:pt x="1920608" y="420839"/>
                  </a:lnTo>
                  <a:lnTo>
                    <a:pt x="1920584" y="109791"/>
                  </a:lnTo>
                  <a:lnTo>
                    <a:pt x="1919668" y="95729"/>
                  </a:lnTo>
                  <a:lnTo>
                    <a:pt x="1905838" y="55079"/>
                  </a:lnTo>
                  <a:lnTo>
                    <a:pt x="1877597" y="23133"/>
                  </a:lnTo>
                  <a:lnTo>
                    <a:pt x="1839109" y="4090"/>
                  </a:lnTo>
                  <a:lnTo>
                    <a:pt x="181080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0EB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822236" y="1919884"/>
              <a:ext cx="1920875" cy="530860"/>
            </a:xfrm>
            <a:custGeom>
              <a:avLst/>
              <a:gdLst/>
              <a:ahLst/>
              <a:cxnLst/>
              <a:rect l="l" t="t" r="r" b="b"/>
              <a:pathLst>
                <a:path w="1920875" h="530860">
                  <a:moveTo>
                    <a:pt x="368" y="109791"/>
                  </a:moveTo>
                  <a:lnTo>
                    <a:pt x="1307" y="95524"/>
                  </a:lnTo>
                  <a:lnTo>
                    <a:pt x="4103" y="81492"/>
                  </a:lnTo>
                  <a:lnTo>
                    <a:pt x="23138" y="43003"/>
                  </a:lnTo>
                  <a:lnTo>
                    <a:pt x="55079" y="14757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1810804" y="355"/>
                  </a:lnTo>
                  <a:lnTo>
                    <a:pt x="1852673" y="8708"/>
                  </a:lnTo>
                  <a:lnTo>
                    <a:pt x="1888383" y="32534"/>
                  </a:lnTo>
                  <a:lnTo>
                    <a:pt x="1912250" y="68088"/>
                  </a:lnTo>
                  <a:lnTo>
                    <a:pt x="1920608" y="110159"/>
                  </a:lnTo>
                  <a:lnTo>
                    <a:pt x="1920608" y="420839"/>
                  </a:lnTo>
                  <a:lnTo>
                    <a:pt x="1919668" y="435107"/>
                  </a:lnTo>
                  <a:lnTo>
                    <a:pt x="1916871" y="449138"/>
                  </a:lnTo>
                  <a:lnTo>
                    <a:pt x="1897825" y="487627"/>
                  </a:lnTo>
                  <a:lnTo>
                    <a:pt x="1865884" y="515873"/>
                  </a:lnTo>
                  <a:lnTo>
                    <a:pt x="1825234" y="529691"/>
                  </a:lnTo>
                  <a:lnTo>
                    <a:pt x="1810804" y="530631"/>
                  </a:lnTo>
                  <a:lnTo>
                    <a:pt x="109804" y="530631"/>
                  </a:lnTo>
                  <a:lnTo>
                    <a:pt x="67934" y="522278"/>
                  </a:lnTo>
                  <a:lnTo>
                    <a:pt x="32224" y="498463"/>
                  </a:lnTo>
                  <a:lnTo>
                    <a:pt x="8358" y="462904"/>
                  </a:lnTo>
                  <a:lnTo>
                    <a:pt x="0" y="420839"/>
                  </a:lnTo>
                  <a:lnTo>
                    <a:pt x="368" y="109791"/>
                  </a:lnTo>
                  <a:close/>
                </a:path>
              </a:pathLst>
            </a:custGeom>
            <a:ln w="10079">
              <a:solidFill>
                <a:srgbClr val="F0EBF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1353502" y="2065946"/>
            <a:ext cx="85788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14">
                <a:solidFill>
                  <a:srgbClr val="5A399D"/>
                </a:solidFill>
                <a:latin typeface="Arial Black"/>
                <a:cs typeface="Arial Black"/>
              </a:rPr>
              <a:t>IDENTITY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834639" y="2194560"/>
            <a:ext cx="594360" cy="635"/>
          </a:xfrm>
          <a:custGeom>
            <a:avLst/>
            <a:gdLst/>
            <a:ahLst/>
            <a:cxnLst/>
            <a:rect l="l" t="t" r="r" b="b"/>
            <a:pathLst>
              <a:path w="594360" h="635">
                <a:moveTo>
                  <a:pt x="0" y="0"/>
                </a:moveTo>
                <a:lnTo>
                  <a:pt x="594360" y="355"/>
                </a:lnTo>
              </a:path>
            </a:pathLst>
          </a:custGeom>
          <a:ln w="23039">
            <a:solidFill>
              <a:srgbClr val="0077D3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grpSp>
        <p:nvGrpSpPr>
          <p:cNvPr id="11" name="object 11"/>
          <p:cNvGrpSpPr/>
          <p:nvPr/>
        </p:nvGrpSpPr>
        <p:grpSpPr>
          <a:xfrm>
            <a:off x="3560396" y="1759320"/>
            <a:ext cx="2571115" cy="879475"/>
            <a:chOff x="3560396" y="1759320"/>
            <a:chExt cx="2571115" cy="879475"/>
          </a:xfrm>
        </p:grpSpPr>
        <p:sp>
          <p:nvSpPr>
            <p:cNvPr id="12" name="object 12"/>
            <p:cNvSpPr/>
            <p:nvPr/>
          </p:nvSpPr>
          <p:spPr>
            <a:xfrm>
              <a:off x="3565436" y="1764360"/>
              <a:ext cx="2560955" cy="869315"/>
            </a:xfrm>
            <a:custGeom>
              <a:avLst/>
              <a:gdLst/>
              <a:ahLst/>
              <a:cxnLst/>
              <a:rect l="l" t="t" r="r" b="b"/>
              <a:pathLst>
                <a:path w="2560954" h="869314">
                  <a:moveTo>
                    <a:pt x="110159" y="0"/>
                  </a:moveTo>
                  <a:lnTo>
                    <a:pt x="68095" y="8352"/>
                  </a:lnTo>
                  <a:lnTo>
                    <a:pt x="32535" y="32223"/>
                  </a:lnTo>
                  <a:lnTo>
                    <a:pt x="8721" y="67882"/>
                  </a:lnTo>
                  <a:lnTo>
                    <a:pt x="368" y="109804"/>
                  </a:lnTo>
                  <a:lnTo>
                    <a:pt x="0" y="759244"/>
                  </a:lnTo>
                  <a:lnTo>
                    <a:pt x="939" y="773667"/>
                  </a:lnTo>
                  <a:lnTo>
                    <a:pt x="3736" y="787722"/>
                  </a:lnTo>
                  <a:lnTo>
                    <a:pt x="8305" y="801152"/>
                  </a:lnTo>
                  <a:lnTo>
                    <a:pt x="8358" y="801308"/>
                  </a:lnTo>
                  <a:lnTo>
                    <a:pt x="14770" y="814324"/>
                  </a:lnTo>
                  <a:lnTo>
                    <a:pt x="22683" y="826031"/>
                  </a:lnTo>
                  <a:lnTo>
                    <a:pt x="22788" y="826187"/>
                  </a:lnTo>
                  <a:lnTo>
                    <a:pt x="55079" y="854278"/>
                  </a:lnTo>
                  <a:lnTo>
                    <a:pt x="95379" y="868095"/>
                  </a:lnTo>
                  <a:lnTo>
                    <a:pt x="109804" y="869035"/>
                  </a:lnTo>
                  <a:lnTo>
                    <a:pt x="2450884" y="869035"/>
                  </a:lnTo>
                  <a:lnTo>
                    <a:pt x="2492955" y="860682"/>
                  </a:lnTo>
                  <a:lnTo>
                    <a:pt x="2528455" y="836868"/>
                  </a:lnTo>
                  <a:lnTo>
                    <a:pt x="2552252" y="801308"/>
                  </a:lnTo>
                  <a:lnTo>
                    <a:pt x="2560688" y="759244"/>
                  </a:lnTo>
                  <a:lnTo>
                    <a:pt x="2560665" y="109804"/>
                  </a:lnTo>
                  <a:lnTo>
                    <a:pt x="2552330" y="68088"/>
                  </a:lnTo>
                  <a:lnTo>
                    <a:pt x="2528463" y="32535"/>
                  </a:lnTo>
                  <a:lnTo>
                    <a:pt x="2492805" y="8713"/>
                  </a:lnTo>
                  <a:lnTo>
                    <a:pt x="245088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8F6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3565436" y="1764360"/>
              <a:ext cx="2560955" cy="869315"/>
            </a:xfrm>
            <a:custGeom>
              <a:avLst/>
              <a:gdLst/>
              <a:ahLst/>
              <a:cxnLst/>
              <a:rect l="l" t="t" r="r" b="b"/>
              <a:pathLst>
                <a:path w="2560954" h="869314">
                  <a:moveTo>
                    <a:pt x="368" y="109804"/>
                  </a:moveTo>
                  <a:lnTo>
                    <a:pt x="1307" y="95379"/>
                  </a:lnTo>
                  <a:lnTo>
                    <a:pt x="4103" y="81360"/>
                  </a:lnTo>
                  <a:lnTo>
                    <a:pt x="23138" y="43010"/>
                  </a:lnTo>
                  <a:lnTo>
                    <a:pt x="55079" y="14757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2450884" y="355"/>
                  </a:lnTo>
                  <a:lnTo>
                    <a:pt x="2492805" y="8713"/>
                  </a:lnTo>
                  <a:lnTo>
                    <a:pt x="2528463" y="32535"/>
                  </a:lnTo>
                  <a:lnTo>
                    <a:pt x="2552330" y="68088"/>
                  </a:lnTo>
                  <a:lnTo>
                    <a:pt x="2560688" y="110159"/>
                  </a:lnTo>
                  <a:lnTo>
                    <a:pt x="2560688" y="759244"/>
                  </a:lnTo>
                  <a:lnTo>
                    <a:pt x="2559748" y="773661"/>
                  </a:lnTo>
                  <a:lnTo>
                    <a:pt x="2556951" y="787676"/>
                  </a:lnTo>
                  <a:lnTo>
                    <a:pt x="2537905" y="826031"/>
                  </a:lnTo>
                  <a:lnTo>
                    <a:pt x="2505964" y="854278"/>
                  </a:lnTo>
                  <a:lnTo>
                    <a:pt x="2465314" y="868095"/>
                  </a:lnTo>
                  <a:lnTo>
                    <a:pt x="2450884" y="869035"/>
                  </a:lnTo>
                  <a:lnTo>
                    <a:pt x="109804" y="869035"/>
                  </a:lnTo>
                  <a:lnTo>
                    <a:pt x="67882" y="860682"/>
                  </a:lnTo>
                  <a:lnTo>
                    <a:pt x="32224" y="836868"/>
                  </a:lnTo>
                  <a:lnTo>
                    <a:pt x="8358" y="801308"/>
                  </a:lnTo>
                  <a:lnTo>
                    <a:pt x="0" y="759244"/>
                  </a:lnTo>
                  <a:lnTo>
                    <a:pt x="368" y="109804"/>
                  </a:lnTo>
                  <a:close/>
                </a:path>
              </a:pathLst>
            </a:custGeom>
            <a:ln w="10079">
              <a:solidFill>
                <a:srgbClr val="E8F6E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4197502" y="1988185"/>
            <a:ext cx="1298575" cy="4210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62560" marR="5080" indent="-150495">
              <a:lnSpc>
                <a:spcPct val="100000"/>
              </a:lnSpc>
              <a:spcBef>
                <a:spcPts val="100"/>
              </a:spcBef>
            </a:pPr>
            <a:r>
              <a:rPr dirty="0" sz="1300" spc="-45">
                <a:solidFill>
                  <a:srgbClr val="157F5C"/>
                </a:solidFill>
                <a:latin typeface="Arial Black"/>
                <a:cs typeface="Arial Black"/>
              </a:rPr>
              <a:t>Inherited</a:t>
            </a:r>
            <a:r>
              <a:rPr dirty="0" sz="1300" spc="-30">
                <a:solidFill>
                  <a:srgbClr val="157F5C"/>
                </a:solidFill>
                <a:latin typeface="Arial Black"/>
                <a:cs typeface="Arial Black"/>
              </a:rPr>
              <a:t> </a:t>
            </a:r>
            <a:r>
              <a:rPr dirty="0" sz="1300" spc="-85">
                <a:solidFill>
                  <a:srgbClr val="157F5C"/>
                </a:solidFill>
                <a:latin typeface="Arial Black"/>
                <a:cs typeface="Arial Black"/>
              </a:rPr>
              <a:t>Allow </a:t>
            </a:r>
            <a:r>
              <a:rPr dirty="0" sz="1300" spc="-10">
                <a:solidFill>
                  <a:srgbClr val="157F5C"/>
                </a:solidFill>
                <a:latin typeface="Arial Black"/>
                <a:cs typeface="Arial Black"/>
              </a:rPr>
              <a:t>Contributor</a:t>
            </a:r>
            <a:endParaRPr sz="1300">
              <a:latin typeface="Arial Black"/>
              <a:cs typeface="Arial Black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239420" y="1988185"/>
            <a:ext cx="727075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13740" algn="l"/>
              </a:tabLst>
            </a:pPr>
            <a:r>
              <a:rPr dirty="0" u="heavy" sz="1300">
                <a:solidFill>
                  <a:srgbClr val="157F5C"/>
                </a:solidFill>
                <a:uFill>
                  <a:solidFill>
                    <a:srgbClr val="0077D3"/>
                  </a:solidFill>
                </a:uFill>
                <a:latin typeface="Times New Roman"/>
                <a:cs typeface="Times New Roman"/>
              </a:rPr>
              <a:t>	</a:t>
            </a:r>
            <a:endParaRPr sz="1300">
              <a:latin typeface="Times New Roman"/>
              <a:cs typeface="Times New Roman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7080836" y="1759320"/>
            <a:ext cx="2296795" cy="879475"/>
            <a:chOff x="7080836" y="1759320"/>
            <a:chExt cx="2296795" cy="879475"/>
          </a:xfrm>
        </p:grpSpPr>
        <p:sp>
          <p:nvSpPr>
            <p:cNvPr id="17" name="object 17"/>
            <p:cNvSpPr/>
            <p:nvPr/>
          </p:nvSpPr>
          <p:spPr>
            <a:xfrm>
              <a:off x="7085875" y="1764360"/>
              <a:ext cx="2286635" cy="869315"/>
            </a:xfrm>
            <a:custGeom>
              <a:avLst/>
              <a:gdLst/>
              <a:ahLst/>
              <a:cxnLst/>
              <a:rect l="l" t="t" r="r" b="b"/>
              <a:pathLst>
                <a:path w="2286634" h="869314">
                  <a:moveTo>
                    <a:pt x="110159" y="0"/>
                  </a:moveTo>
                  <a:lnTo>
                    <a:pt x="68095" y="8352"/>
                  </a:lnTo>
                  <a:lnTo>
                    <a:pt x="32535" y="32223"/>
                  </a:lnTo>
                  <a:lnTo>
                    <a:pt x="8721" y="67882"/>
                  </a:lnTo>
                  <a:lnTo>
                    <a:pt x="368" y="109804"/>
                  </a:lnTo>
                  <a:lnTo>
                    <a:pt x="0" y="759244"/>
                  </a:lnTo>
                  <a:lnTo>
                    <a:pt x="939" y="773667"/>
                  </a:lnTo>
                  <a:lnTo>
                    <a:pt x="14770" y="814324"/>
                  </a:lnTo>
                  <a:lnTo>
                    <a:pt x="22683" y="826031"/>
                  </a:lnTo>
                  <a:lnTo>
                    <a:pt x="22788" y="826187"/>
                  </a:lnTo>
                  <a:lnTo>
                    <a:pt x="55079" y="854278"/>
                  </a:lnTo>
                  <a:lnTo>
                    <a:pt x="95379" y="868095"/>
                  </a:lnTo>
                  <a:lnTo>
                    <a:pt x="109804" y="869035"/>
                  </a:lnTo>
                  <a:lnTo>
                    <a:pt x="2176564" y="869035"/>
                  </a:lnTo>
                  <a:lnTo>
                    <a:pt x="2218635" y="860682"/>
                  </a:lnTo>
                  <a:lnTo>
                    <a:pt x="2254135" y="836868"/>
                  </a:lnTo>
                  <a:lnTo>
                    <a:pt x="2277932" y="801308"/>
                  </a:lnTo>
                  <a:lnTo>
                    <a:pt x="2286368" y="759244"/>
                  </a:lnTo>
                  <a:lnTo>
                    <a:pt x="2286345" y="109804"/>
                  </a:lnTo>
                  <a:lnTo>
                    <a:pt x="2278010" y="68088"/>
                  </a:lnTo>
                  <a:lnTo>
                    <a:pt x="2254143" y="32535"/>
                  </a:lnTo>
                  <a:lnTo>
                    <a:pt x="2218485" y="8713"/>
                  </a:lnTo>
                  <a:lnTo>
                    <a:pt x="217656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CED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7085875" y="1764360"/>
              <a:ext cx="2286635" cy="869315"/>
            </a:xfrm>
            <a:custGeom>
              <a:avLst/>
              <a:gdLst/>
              <a:ahLst/>
              <a:cxnLst/>
              <a:rect l="l" t="t" r="r" b="b"/>
              <a:pathLst>
                <a:path w="2286634" h="869314">
                  <a:moveTo>
                    <a:pt x="368" y="109804"/>
                  </a:moveTo>
                  <a:lnTo>
                    <a:pt x="1307" y="95379"/>
                  </a:lnTo>
                  <a:lnTo>
                    <a:pt x="4103" y="81360"/>
                  </a:lnTo>
                  <a:lnTo>
                    <a:pt x="23138" y="43010"/>
                  </a:lnTo>
                  <a:lnTo>
                    <a:pt x="55079" y="14757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2176564" y="355"/>
                  </a:lnTo>
                  <a:lnTo>
                    <a:pt x="2218485" y="8713"/>
                  </a:lnTo>
                  <a:lnTo>
                    <a:pt x="2254143" y="32535"/>
                  </a:lnTo>
                  <a:lnTo>
                    <a:pt x="2278010" y="68088"/>
                  </a:lnTo>
                  <a:lnTo>
                    <a:pt x="2286368" y="110159"/>
                  </a:lnTo>
                  <a:lnTo>
                    <a:pt x="2286368" y="759244"/>
                  </a:lnTo>
                  <a:lnTo>
                    <a:pt x="2285428" y="773661"/>
                  </a:lnTo>
                  <a:lnTo>
                    <a:pt x="2282631" y="787676"/>
                  </a:lnTo>
                  <a:lnTo>
                    <a:pt x="2263585" y="826031"/>
                  </a:lnTo>
                  <a:lnTo>
                    <a:pt x="2231644" y="854278"/>
                  </a:lnTo>
                  <a:lnTo>
                    <a:pt x="2190994" y="868095"/>
                  </a:lnTo>
                  <a:lnTo>
                    <a:pt x="2176564" y="869035"/>
                  </a:lnTo>
                  <a:lnTo>
                    <a:pt x="109804" y="869035"/>
                  </a:lnTo>
                  <a:lnTo>
                    <a:pt x="67882" y="860682"/>
                  </a:lnTo>
                  <a:lnTo>
                    <a:pt x="32224" y="836868"/>
                  </a:lnTo>
                  <a:lnTo>
                    <a:pt x="8358" y="801308"/>
                  </a:lnTo>
                  <a:lnTo>
                    <a:pt x="0" y="759244"/>
                  </a:lnTo>
                  <a:lnTo>
                    <a:pt x="368" y="109804"/>
                  </a:lnTo>
                  <a:close/>
                </a:path>
              </a:pathLst>
            </a:custGeom>
            <a:ln w="10079">
              <a:solidFill>
                <a:srgbClr val="FCEDE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7519936" y="1972703"/>
            <a:ext cx="1416050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0205" marR="5080" indent="-358140">
              <a:lnSpc>
                <a:spcPct val="100000"/>
              </a:lnSpc>
              <a:spcBef>
                <a:spcPts val="100"/>
              </a:spcBef>
            </a:pPr>
            <a:r>
              <a:rPr dirty="0" sz="1400" spc="-100">
                <a:solidFill>
                  <a:srgbClr val="C1403A"/>
                </a:solidFill>
                <a:latin typeface="Arial Black"/>
                <a:cs typeface="Arial Black"/>
              </a:rPr>
              <a:t>Effective</a:t>
            </a:r>
            <a:r>
              <a:rPr dirty="0" sz="1400" spc="-35">
                <a:solidFill>
                  <a:srgbClr val="C1403A"/>
                </a:solidFill>
                <a:latin typeface="Arial Black"/>
                <a:cs typeface="Arial Black"/>
              </a:rPr>
              <a:t> </a:t>
            </a:r>
            <a:r>
              <a:rPr dirty="0" sz="1400" spc="-160">
                <a:solidFill>
                  <a:srgbClr val="C1403A"/>
                </a:solidFill>
                <a:latin typeface="Arial Black"/>
                <a:cs typeface="Arial Black"/>
              </a:rPr>
              <a:t>access </a:t>
            </a:r>
            <a:r>
              <a:rPr dirty="0" sz="1400" spc="-10">
                <a:solidFill>
                  <a:srgbClr val="C1403A"/>
                </a:solidFill>
                <a:latin typeface="Arial Black"/>
                <a:cs typeface="Arial Black"/>
              </a:rPr>
              <a:t>DENIED</a:t>
            </a:r>
            <a:endParaRPr sz="1400">
              <a:latin typeface="Arial Black"/>
              <a:cs typeface="Arial Black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514636" y="3057436"/>
            <a:ext cx="5131435" cy="1016635"/>
            <a:chOff x="3514636" y="3057436"/>
            <a:chExt cx="5131435" cy="1016635"/>
          </a:xfrm>
        </p:grpSpPr>
        <p:sp>
          <p:nvSpPr>
            <p:cNvPr id="21" name="object 21"/>
            <p:cNvSpPr/>
            <p:nvPr/>
          </p:nvSpPr>
          <p:spPr>
            <a:xfrm>
              <a:off x="3519716" y="3062516"/>
              <a:ext cx="5121275" cy="1006475"/>
            </a:xfrm>
            <a:custGeom>
              <a:avLst/>
              <a:gdLst/>
              <a:ahLst/>
              <a:cxnLst/>
              <a:rect l="l" t="t" r="r" b="b"/>
              <a:pathLst>
                <a:path w="5121275" h="1006475">
                  <a:moveTo>
                    <a:pt x="110159" y="0"/>
                  </a:moveTo>
                  <a:lnTo>
                    <a:pt x="68095" y="8358"/>
                  </a:lnTo>
                  <a:lnTo>
                    <a:pt x="32535" y="32224"/>
                  </a:lnTo>
                  <a:lnTo>
                    <a:pt x="8721" y="67882"/>
                  </a:lnTo>
                  <a:lnTo>
                    <a:pt x="368" y="109804"/>
                  </a:lnTo>
                  <a:lnTo>
                    <a:pt x="0" y="896404"/>
                  </a:lnTo>
                  <a:lnTo>
                    <a:pt x="939" y="910834"/>
                  </a:lnTo>
                  <a:lnTo>
                    <a:pt x="14770" y="951484"/>
                  </a:lnTo>
                  <a:lnTo>
                    <a:pt x="22686" y="963197"/>
                  </a:lnTo>
                  <a:lnTo>
                    <a:pt x="22788" y="963347"/>
                  </a:lnTo>
                  <a:lnTo>
                    <a:pt x="55079" y="991438"/>
                  </a:lnTo>
                  <a:lnTo>
                    <a:pt x="95379" y="1005268"/>
                  </a:lnTo>
                  <a:lnTo>
                    <a:pt x="109804" y="1006208"/>
                  </a:lnTo>
                  <a:lnTo>
                    <a:pt x="5011204" y="1006208"/>
                  </a:lnTo>
                  <a:lnTo>
                    <a:pt x="5053275" y="997850"/>
                  </a:lnTo>
                  <a:lnTo>
                    <a:pt x="5088777" y="974028"/>
                  </a:lnTo>
                  <a:lnTo>
                    <a:pt x="5112574" y="938475"/>
                  </a:lnTo>
                  <a:lnTo>
                    <a:pt x="5112650" y="938325"/>
                  </a:lnTo>
                  <a:lnTo>
                    <a:pt x="5117256" y="924891"/>
                  </a:lnTo>
                  <a:lnTo>
                    <a:pt x="5120067" y="910834"/>
                  </a:lnTo>
                  <a:lnTo>
                    <a:pt x="5121008" y="896404"/>
                  </a:lnTo>
                  <a:lnTo>
                    <a:pt x="5120985" y="109804"/>
                  </a:lnTo>
                  <a:lnTo>
                    <a:pt x="5112650" y="68095"/>
                  </a:lnTo>
                  <a:lnTo>
                    <a:pt x="5088783" y="32535"/>
                  </a:lnTo>
                  <a:lnTo>
                    <a:pt x="5053125" y="8721"/>
                  </a:lnTo>
                  <a:lnTo>
                    <a:pt x="5011204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0F233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3519716" y="3062516"/>
              <a:ext cx="5121275" cy="1006475"/>
            </a:xfrm>
            <a:custGeom>
              <a:avLst/>
              <a:gdLst/>
              <a:ahLst/>
              <a:cxnLst/>
              <a:rect l="l" t="t" r="r" b="b"/>
              <a:pathLst>
                <a:path w="5121275" h="1006475">
                  <a:moveTo>
                    <a:pt x="368" y="109804"/>
                  </a:moveTo>
                  <a:lnTo>
                    <a:pt x="1307" y="95379"/>
                  </a:lnTo>
                  <a:lnTo>
                    <a:pt x="4103" y="81360"/>
                  </a:lnTo>
                  <a:lnTo>
                    <a:pt x="23138" y="43011"/>
                  </a:lnTo>
                  <a:lnTo>
                    <a:pt x="55079" y="14770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5011204" y="368"/>
                  </a:lnTo>
                  <a:lnTo>
                    <a:pt x="5053125" y="8721"/>
                  </a:lnTo>
                  <a:lnTo>
                    <a:pt x="5088783" y="32535"/>
                  </a:lnTo>
                  <a:lnTo>
                    <a:pt x="5112650" y="68095"/>
                  </a:lnTo>
                  <a:lnTo>
                    <a:pt x="5121008" y="110159"/>
                  </a:lnTo>
                  <a:lnTo>
                    <a:pt x="5121008" y="896404"/>
                  </a:lnTo>
                  <a:lnTo>
                    <a:pt x="5120068" y="910828"/>
                  </a:lnTo>
                  <a:lnTo>
                    <a:pt x="5117271" y="924847"/>
                  </a:lnTo>
                  <a:lnTo>
                    <a:pt x="5098225" y="963197"/>
                  </a:lnTo>
                  <a:lnTo>
                    <a:pt x="5066284" y="991438"/>
                  </a:lnTo>
                  <a:lnTo>
                    <a:pt x="5025634" y="1005268"/>
                  </a:lnTo>
                  <a:lnTo>
                    <a:pt x="5011204" y="1006208"/>
                  </a:lnTo>
                  <a:lnTo>
                    <a:pt x="109804" y="1006208"/>
                  </a:lnTo>
                  <a:lnTo>
                    <a:pt x="67882" y="997850"/>
                  </a:lnTo>
                  <a:lnTo>
                    <a:pt x="32224" y="974028"/>
                  </a:lnTo>
                  <a:lnTo>
                    <a:pt x="8358" y="938475"/>
                  </a:lnTo>
                  <a:lnTo>
                    <a:pt x="0" y="896404"/>
                  </a:lnTo>
                  <a:lnTo>
                    <a:pt x="368" y="109804"/>
                  </a:lnTo>
                  <a:close/>
                </a:path>
              </a:pathLst>
            </a:custGeom>
            <a:ln w="10079">
              <a:solidFill>
                <a:srgbClr val="0F233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/>
          <p:nvPr/>
        </p:nvSpPr>
        <p:spPr>
          <a:xfrm>
            <a:off x="4800600" y="2697479"/>
            <a:ext cx="3246120" cy="365760"/>
          </a:xfrm>
          <a:custGeom>
            <a:avLst/>
            <a:gdLst/>
            <a:ahLst/>
            <a:cxnLst/>
            <a:rect l="l" t="t" r="r" b="b"/>
            <a:pathLst>
              <a:path w="3246120" h="365760">
                <a:moveTo>
                  <a:pt x="0" y="365760"/>
                </a:moveTo>
                <a:lnTo>
                  <a:pt x="355" y="0"/>
                </a:lnTo>
              </a:path>
              <a:path w="3246120" h="365760">
                <a:moveTo>
                  <a:pt x="2514600" y="365760"/>
                </a:moveTo>
                <a:lnTo>
                  <a:pt x="3246120" y="0"/>
                </a:lnTo>
              </a:path>
            </a:pathLst>
          </a:custGeom>
          <a:ln w="20159">
            <a:solidFill>
              <a:srgbClr val="C1403A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4033697" y="3283826"/>
            <a:ext cx="4081779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42060" marR="5080" indent="-1229995">
              <a:lnSpc>
                <a:spcPct val="100000"/>
              </a:lnSpc>
              <a:spcBef>
                <a:spcPts val="100"/>
              </a:spcBef>
            </a:pPr>
            <a:r>
              <a:rPr dirty="0" sz="1500" spc="-75">
                <a:solidFill>
                  <a:srgbClr val="FFFFFF"/>
                </a:solidFill>
                <a:latin typeface="Arial Black"/>
                <a:cs typeface="Arial Black"/>
              </a:rPr>
              <a:t>Deny </a:t>
            </a:r>
            <a:r>
              <a:rPr dirty="0" sz="1500" spc="-85">
                <a:solidFill>
                  <a:srgbClr val="FFFFFF"/>
                </a:solidFill>
                <a:latin typeface="Arial Black"/>
                <a:cs typeface="Arial Black"/>
              </a:rPr>
              <a:t>assignment</a:t>
            </a:r>
            <a:r>
              <a:rPr dirty="0" sz="1500" spc="-7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500" spc="-90">
                <a:solidFill>
                  <a:srgbClr val="FFFFFF"/>
                </a:solidFill>
                <a:latin typeface="Arial Black"/>
                <a:cs typeface="Arial Black"/>
              </a:rPr>
              <a:t>applies</a:t>
            </a:r>
            <a:r>
              <a:rPr dirty="0" sz="1500" spc="-7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500" spc="-50">
                <a:solidFill>
                  <a:srgbClr val="FFFFFF"/>
                </a:solidFill>
                <a:latin typeface="Arial Black"/>
                <a:cs typeface="Arial Black"/>
              </a:rPr>
              <a:t>to</a:t>
            </a:r>
            <a:r>
              <a:rPr dirty="0" sz="1500" spc="-7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500" spc="-70">
                <a:solidFill>
                  <a:srgbClr val="FFFFFF"/>
                </a:solidFill>
                <a:latin typeface="Arial Black"/>
                <a:cs typeface="Arial Black"/>
              </a:rPr>
              <a:t>this</a:t>
            </a:r>
            <a:r>
              <a:rPr dirty="0" sz="1500" spc="-75">
                <a:solidFill>
                  <a:srgbClr val="FFFFFF"/>
                </a:solidFill>
                <a:latin typeface="Arial Black"/>
                <a:cs typeface="Arial Black"/>
              </a:rPr>
              <a:t> principal</a:t>
            </a:r>
            <a:r>
              <a:rPr dirty="0" sz="1500" spc="-7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500" spc="155">
                <a:solidFill>
                  <a:srgbClr val="FFFFFF"/>
                </a:solidFill>
                <a:latin typeface="Arial Black"/>
                <a:cs typeface="Arial Black"/>
              </a:rPr>
              <a:t>/ </a:t>
            </a:r>
            <a:r>
              <a:rPr dirty="0" sz="1500" spc="-90">
                <a:solidFill>
                  <a:srgbClr val="FFFFFF"/>
                </a:solidFill>
                <a:latin typeface="Arial Black"/>
                <a:cs typeface="Arial Black"/>
              </a:rPr>
              <a:t>action</a:t>
            </a:r>
            <a:r>
              <a:rPr dirty="0" sz="1500" spc="-10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500" spc="204">
                <a:solidFill>
                  <a:srgbClr val="FFFFFF"/>
                </a:solidFill>
                <a:latin typeface="Arial Black"/>
                <a:cs typeface="Arial Black"/>
              </a:rPr>
              <a:t>/</a:t>
            </a:r>
            <a:r>
              <a:rPr dirty="0" sz="1500" spc="-10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Arial Black"/>
                <a:cs typeface="Arial Black"/>
              </a:rPr>
              <a:t>resource</a:t>
            </a:r>
            <a:endParaRPr sz="1500">
              <a:latin typeface="Arial Black"/>
              <a:cs typeface="Arial Black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862916" y="4474796"/>
            <a:ext cx="5039995" cy="1108075"/>
            <a:chOff x="862916" y="4474796"/>
            <a:chExt cx="5039995" cy="1108075"/>
          </a:xfrm>
        </p:grpSpPr>
        <p:sp>
          <p:nvSpPr>
            <p:cNvPr id="26" name="object 26"/>
            <p:cNvSpPr/>
            <p:nvPr/>
          </p:nvSpPr>
          <p:spPr>
            <a:xfrm>
              <a:off x="867956" y="4479836"/>
              <a:ext cx="5029835" cy="1097915"/>
            </a:xfrm>
            <a:custGeom>
              <a:avLst/>
              <a:gdLst/>
              <a:ahLst/>
              <a:cxnLst/>
              <a:rect l="l" t="t" r="r" b="b"/>
              <a:pathLst>
                <a:path w="5029835" h="1097914">
                  <a:moveTo>
                    <a:pt x="110159" y="0"/>
                  </a:moveTo>
                  <a:lnTo>
                    <a:pt x="68095" y="8358"/>
                  </a:lnTo>
                  <a:lnTo>
                    <a:pt x="32535" y="32224"/>
                  </a:lnTo>
                  <a:lnTo>
                    <a:pt x="8721" y="67882"/>
                  </a:lnTo>
                  <a:lnTo>
                    <a:pt x="368" y="109804"/>
                  </a:lnTo>
                  <a:lnTo>
                    <a:pt x="0" y="987844"/>
                  </a:lnTo>
                  <a:lnTo>
                    <a:pt x="939" y="1002274"/>
                  </a:lnTo>
                  <a:lnTo>
                    <a:pt x="3736" y="1016331"/>
                  </a:lnTo>
                  <a:lnTo>
                    <a:pt x="8307" y="1029765"/>
                  </a:lnTo>
                  <a:lnTo>
                    <a:pt x="8358" y="1029915"/>
                  </a:lnTo>
                  <a:lnTo>
                    <a:pt x="14770" y="1042924"/>
                  </a:lnTo>
                  <a:lnTo>
                    <a:pt x="22686" y="1054637"/>
                  </a:lnTo>
                  <a:lnTo>
                    <a:pt x="22788" y="1054787"/>
                  </a:lnTo>
                  <a:lnTo>
                    <a:pt x="55079" y="1082878"/>
                  </a:lnTo>
                  <a:lnTo>
                    <a:pt x="95379" y="1096708"/>
                  </a:lnTo>
                  <a:lnTo>
                    <a:pt x="109804" y="1097648"/>
                  </a:lnTo>
                  <a:lnTo>
                    <a:pt x="4919764" y="1097648"/>
                  </a:lnTo>
                  <a:lnTo>
                    <a:pt x="4961835" y="1089290"/>
                  </a:lnTo>
                  <a:lnTo>
                    <a:pt x="4997337" y="1065468"/>
                  </a:lnTo>
                  <a:lnTo>
                    <a:pt x="5021134" y="1029915"/>
                  </a:lnTo>
                  <a:lnTo>
                    <a:pt x="5029568" y="987844"/>
                  </a:lnTo>
                  <a:lnTo>
                    <a:pt x="5029545" y="109804"/>
                  </a:lnTo>
                  <a:lnTo>
                    <a:pt x="5021210" y="68095"/>
                  </a:lnTo>
                  <a:lnTo>
                    <a:pt x="4997343" y="32535"/>
                  </a:lnTo>
                  <a:lnTo>
                    <a:pt x="4961685" y="8721"/>
                  </a:lnTo>
                  <a:lnTo>
                    <a:pt x="4919764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867956" y="4479836"/>
              <a:ext cx="5029835" cy="1097915"/>
            </a:xfrm>
            <a:custGeom>
              <a:avLst/>
              <a:gdLst/>
              <a:ahLst/>
              <a:cxnLst/>
              <a:rect l="l" t="t" r="r" b="b"/>
              <a:pathLst>
                <a:path w="5029835" h="1097914">
                  <a:moveTo>
                    <a:pt x="368" y="109804"/>
                  </a:moveTo>
                  <a:lnTo>
                    <a:pt x="1307" y="95379"/>
                  </a:lnTo>
                  <a:lnTo>
                    <a:pt x="4103" y="81360"/>
                  </a:lnTo>
                  <a:lnTo>
                    <a:pt x="23138" y="43011"/>
                  </a:lnTo>
                  <a:lnTo>
                    <a:pt x="55079" y="14770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4919764" y="368"/>
                  </a:lnTo>
                  <a:lnTo>
                    <a:pt x="4961685" y="8721"/>
                  </a:lnTo>
                  <a:lnTo>
                    <a:pt x="4997343" y="32535"/>
                  </a:lnTo>
                  <a:lnTo>
                    <a:pt x="5021210" y="68095"/>
                  </a:lnTo>
                  <a:lnTo>
                    <a:pt x="5029568" y="110159"/>
                  </a:lnTo>
                  <a:lnTo>
                    <a:pt x="5029568" y="987844"/>
                  </a:lnTo>
                  <a:lnTo>
                    <a:pt x="5028628" y="1002268"/>
                  </a:lnTo>
                  <a:lnTo>
                    <a:pt x="5025831" y="1016287"/>
                  </a:lnTo>
                  <a:lnTo>
                    <a:pt x="5006785" y="1054637"/>
                  </a:lnTo>
                  <a:lnTo>
                    <a:pt x="4974844" y="1082878"/>
                  </a:lnTo>
                  <a:lnTo>
                    <a:pt x="4934194" y="1096708"/>
                  </a:lnTo>
                  <a:lnTo>
                    <a:pt x="4919764" y="1097648"/>
                  </a:lnTo>
                  <a:lnTo>
                    <a:pt x="109804" y="1097648"/>
                  </a:lnTo>
                  <a:lnTo>
                    <a:pt x="67882" y="1089290"/>
                  </a:lnTo>
                  <a:lnTo>
                    <a:pt x="32224" y="1065468"/>
                  </a:lnTo>
                  <a:lnTo>
                    <a:pt x="8358" y="1029915"/>
                  </a:lnTo>
                  <a:lnTo>
                    <a:pt x="0" y="987844"/>
                  </a:lnTo>
                  <a:lnTo>
                    <a:pt x="368" y="109804"/>
                  </a:lnTo>
                  <a:close/>
                </a:path>
              </a:pathLst>
            </a:custGeom>
            <a:ln w="10079">
              <a:solidFill>
                <a:srgbClr val="DBE4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868679" y="4480204"/>
              <a:ext cx="73025" cy="1097280"/>
            </a:xfrm>
            <a:custGeom>
              <a:avLst/>
              <a:gdLst/>
              <a:ahLst/>
              <a:cxnLst/>
              <a:rect l="l" t="t" r="r" b="b"/>
              <a:pathLst>
                <a:path w="73025" h="1097279">
                  <a:moveTo>
                    <a:pt x="72720" y="0"/>
                  </a:moveTo>
                  <a:lnTo>
                    <a:pt x="0" y="0"/>
                  </a:lnTo>
                  <a:lnTo>
                    <a:pt x="0" y="1096911"/>
                  </a:lnTo>
                  <a:lnTo>
                    <a:pt x="36360" y="1096911"/>
                  </a:lnTo>
                  <a:lnTo>
                    <a:pt x="72720" y="1096911"/>
                  </a:lnTo>
                  <a:lnTo>
                    <a:pt x="72720" y="0"/>
                  </a:lnTo>
                  <a:close/>
                </a:path>
              </a:pathLst>
            </a:custGeom>
            <a:solidFill>
              <a:srgbClr val="5A39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868679" y="4480204"/>
              <a:ext cx="73025" cy="1097280"/>
            </a:xfrm>
            <a:custGeom>
              <a:avLst/>
              <a:gdLst/>
              <a:ahLst/>
              <a:cxnLst/>
              <a:rect l="l" t="t" r="r" b="b"/>
              <a:pathLst>
                <a:path w="73025" h="1097279">
                  <a:moveTo>
                    <a:pt x="36360" y="1096911"/>
                  </a:moveTo>
                  <a:lnTo>
                    <a:pt x="0" y="1096911"/>
                  </a:lnTo>
                  <a:lnTo>
                    <a:pt x="0" y="0"/>
                  </a:lnTo>
                  <a:lnTo>
                    <a:pt x="72720" y="0"/>
                  </a:lnTo>
                  <a:lnTo>
                    <a:pt x="72720" y="1096911"/>
                  </a:lnTo>
                  <a:lnTo>
                    <a:pt x="36360" y="1096911"/>
                  </a:lnTo>
                  <a:close/>
                </a:path>
              </a:pathLst>
            </a:custGeom>
            <a:ln w="10079">
              <a:solidFill>
                <a:srgbClr val="5A399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/>
          <p:nvPr/>
        </p:nvSpPr>
        <p:spPr>
          <a:xfrm>
            <a:off x="1057224" y="4656861"/>
            <a:ext cx="4655185" cy="7880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45">
                <a:solidFill>
                  <a:srgbClr val="0F2339"/>
                </a:solidFill>
                <a:latin typeface="Arial Black"/>
                <a:cs typeface="Arial Black"/>
              </a:rPr>
              <a:t>Important</a:t>
            </a:r>
            <a:r>
              <a:rPr dirty="0" sz="1600" spc="-6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600" spc="-95">
                <a:solidFill>
                  <a:srgbClr val="0F2339"/>
                </a:solidFill>
                <a:latin typeface="Arial Black"/>
                <a:cs typeface="Arial Black"/>
              </a:rPr>
              <a:t>Azure-</a:t>
            </a:r>
            <a:r>
              <a:rPr dirty="0" sz="1600" spc="-125">
                <a:solidFill>
                  <a:srgbClr val="0F2339"/>
                </a:solidFill>
                <a:latin typeface="Arial Black"/>
                <a:cs typeface="Arial Black"/>
              </a:rPr>
              <a:t>specific</a:t>
            </a:r>
            <a:r>
              <a:rPr dirty="0" sz="1600" spc="-6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600" spc="-20">
                <a:solidFill>
                  <a:srgbClr val="0F2339"/>
                </a:solidFill>
                <a:latin typeface="Arial Black"/>
                <a:cs typeface="Arial Black"/>
              </a:rPr>
              <a:t>fact</a:t>
            </a:r>
            <a:endParaRPr sz="1600">
              <a:latin typeface="Arial Black"/>
              <a:cs typeface="Arial Black"/>
            </a:endParaRPr>
          </a:p>
          <a:p>
            <a:pPr marL="12700" marR="5080">
              <a:lnSpc>
                <a:spcPts val="1010"/>
              </a:lnSpc>
              <a:spcBef>
                <a:spcPts val="1060"/>
              </a:spcBef>
            </a:pPr>
            <a:r>
              <a:rPr dirty="0" sz="1000">
                <a:solidFill>
                  <a:srgbClr val="556478"/>
                </a:solidFill>
                <a:latin typeface="Noto Sans"/>
                <a:cs typeface="Noto Sans"/>
              </a:rPr>
              <a:t>Learners</a:t>
            </a:r>
            <a:r>
              <a:rPr dirty="0" sz="10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000">
                <a:solidFill>
                  <a:srgbClr val="556478"/>
                </a:solidFill>
                <a:latin typeface="Noto Sans"/>
                <a:cs typeface="Noto Sans"/>
              </a:rPr>
              <a:t>cannot</a:t>
            </a:r>
            <a:r>
              <a:rPr dirty="0" sz="100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000">
                <a:solidFill>
                  <a:srgbClr val="556478"/>
                </a:solidFill>
                <a:latin typeface="Noto Sans"/>
                <a:cs typeface="Noto Sans"/>
              </a:rPr>
              <a:t>directly</a:t>
            </a:r>
            <a:r>
              <a:rPr dirty="0" sz="100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000">
                <a:solidFill>
                  <a:srgbClr val="556478"/>
                </a:solidFill>
                <a:latin typeface="Noto Sans"/>
                <a:cs typeface="Noto Sans"/>
              </a:rPr>
              <a:t>create</a:t>
            </a:r>
            <a:r>
              <a:rPr dirty="0" sz="100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000" spc="-10">
                <a:solidFill>
                  <a:srgbClr val="556478"/>
                </a:solidFill>
                <a:latin typeface="Noto Sans"/>
                <a:cs typeface="Noto Sans"/>
              </a:rPr>
              <a:t>arbitrary</a:t>
            </a:r>
            <a:r>
              <a:rPr dirty="0" sz="100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000">
                <a:solidFill>
                  <a:srgbClr val="556478"/>
                </a:solidFill>
                <a:latin typeface="Noto Sans"/>
                <a:cs typeface="Noto Sans"/>
              </a:rPr>
              <a:t>deny</a:t>
            </a:r>
            <a:r>
              <a:rPr dirty="0" sz="100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000" spc="-10">
                <a:solidFill>
                  <a:srgbClr val="556478"/>
                </a:solidFill>
                <a:latin typeface="Noto Sans"/>
                <a:cs typeface="Noto Sans"/>
              </a:rPr>
              <a:t>assignments;</a:t>
            </a:r>
            <a:r>
              <a:rPr dirty="0" sz="10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000">
                <a:solidFill>
                  <a:srgbClr val="556478"/>
                </a:solidFill>
                <a:latin typeface="Noto Sans"/>
                <a:cs typeface="Noto Sans"/>
              </a:rPr>
              <a:t>Azure</a:t>
            </a:r>
            <a:r>
              <a:rPr dirty="0" sz="100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000">
                <a:solidFill>
                  <a:srgbClr val="556478"/>
                </a:solidFill>
                <a:latin typeface="Noto Sans"/>
                <a:cs typeface="Noto Sans"/>
              </a:rPr>
              <a:t>creates</a:t>
            </a:r>
            <a:r>
              <a:rPr dirty="0" sz="100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000" spc="-25">
                <a:solidFill>
                  <a:srgbClr val="556478"/>
                </a:solidFill>
                <a:latin typeface="Noto Sans"/>
                <a:cs typeface="Noto Sans"/>
              </a:rPr>
              <a:t>and </a:t>
            </a:r>
            <a:r>
              <a:rPr dirty="0" sz="1000">
                <a:solidFill>
                  <a:srgbClr val="556478"/>
                </a:solidFill>
                <a:latin typeface="Noto Sans"/>
                <a:cs typeface="Noto Sans"/>
              </a:rPr>
              <a:t>manages</a:t>
            </a:r>
            <a:r>
              <a:rPr dirty="0" sz="10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000">
                <a:solidFill>
                  <a:srgbClr val="556478"/>
                </a:solidFill>
                <a:latin typeface="Noto Sans"/>
                <a:cs typeface="Noto Sans"/>
              </a:rPr>
              <a:t>them.</a:t>
            </a:r>
            <a:r>
              <a:rPr dirty="0" sz="10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000">
                <a:solidFill>
                  <a:srgbClr val="556478"/>
                </a:solidFill>
                <a:latin typeface="Noto Sans"/>
                <a:cs typeface="Noto Sans"/>
              </a:rPr>
              <a:t>Some</a:t>
            </a:r>
            <a:r>
              <a:rPr dirty="0" sz="10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000" spc="-10">
                <a:solidFill>
                  <a:srgbClr val="556478"/>
                </a:solidFill>
                <a:latin typeface="Noto Sans"/>
                <a:cs typeface="Noto Sans"/>
              </a:rPr>
              <a:t>deployment-</a:t>
            </a:r>
            <a:r>
              <a:rPr dirty="0" sz="1000">
                <a:solidFill>
                  <a:srgbClr val="556478"/>
                </a:solidFill>
                <a:latin typeface="Noto Sans"/>
                <a:cs typeface="Noto Sans"/>
              </a:rPr>
              <a:t>stack</a:t>
            </a:r>
            <a:r>
              <a:rPr dirty="0" sz="10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000">
                <a:solidFill>
                  <a:srgbClr val="556478"/>
                </a:solidFill>
                <a:latin typeface="Noto Sans"/>
                <a:cs typeface="Noto Sans"/>
              </a:rPr>
              <a:t>settings</a:t>
            </a:r>
            <a:r>
              <a:rPr dirty="0" sz="10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000">
                <a:solidFill>
                  <a:srgbClr val="556478"/>
                </a:solidFill>
                <a:latin typeface="Noto Sans"/>
                <a:cs typeface="Noto Sans"/>
              </a:rPr>
              <a:t>can</a:t>
            </a:r>
            <a:r>
              <a:rPr dirty="0" sz="10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000">
                <a:solidFill>
                  <a:srgbClr val="556478"/>
                </a:solidFill>
                <a:latin typeface="Noto Sans"/>
                <a:cs typeface="Noto Sans"/>
              </a:rPr>
              <a:t>create</a:t>
            </a:r>
            <a:r>
              <a:rPr dirty="0" sz="10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000">
                <a:solidFill>
                  <a:srgbClr val="556478"/>
                </a:solidFill>
                <a:latin typeface="Noto Sans"/>
                <a:cs typeface="Noto Sans"/>
              </a:rPr>
              <a:t>managed</a:t>
            </a:r>
            <a:r>
              <a:rPr dirty="0" sz="10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000" spc="-20">
                <a:solidFill>
                  <a:srgbClr val="556478"/>
                </a:solidFill>
                <a:latin typeface="Noto Sans"/>
                <a:cs typeface="Noto Sans"/>
              </a:rPr>
              <a:t>deny </a:t>
            </a:r>
            <a:r>
              <a:rPr dirty="0" sz="1000" spc="-10">
                <a:solidFill>
                  <a:srgbClr val="556478"/>
                </a:solidFill>
                <a:latin typeface="Noto Sans"/>
                <a:cs typeface="Noto Sans"/>
              </a:rPr>
              <a:t>assignments.</a:t>
            </a:r>
            <a:endParaRPr sz="1000">
              <a:latin typeface="Noto Sans"/>
              <a:cs typeface="Noto Sans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6212156" y="4474796"/>
            <a:ext cx="5039995" cy="1108075"/>
            <a:chOff x="6212156" y="4474796"/>
            <a:chExt cx="5039995" cy="1108075"/>
          </a:xfrm>
        </p:grpSpPr>
        <p:sp>
          <p:nvSpPr>
            <p:cNvPr id="32" name="object 32"/>
            <p:cNvSpPr/>
            <p:nvPr/>
          </p:nvSpPr>
          <p:spPr>
            <a:xfrm>
              <a:off x="6217195" y="4479836"/>
              <a:ext cx="5029835" cy="1097915"/>
            </a:xfrm>
            <a:custGeom>
              <a:avLst/>
              <a:gdLst/>
              <a:ahLst/>
              <a:cxnLst/>
              <a:rect l="l" t="t" r="r" b="b"/>
              <a:pathLst>
                <a:path w="5029834" h="1097914">
                  <a:moveTo>
                    <a:pt x="110159" y="0"/>
                  </a:moveTo>
                  <a:lnTo>
                    <a:pt x="68095" y="8358"/>
                  </a:lnTo>
                  <a:lnTo>
                    <a:pt x="32535" y="32224"/>
                  </a:lnTo>
                  <a:lnTo>
                    <a:pt x="8721" y="67882"/>
                  </a:lnTo>
                  <a:lnTo>
                    <a:pt x="368" y="109804"/>
                  </a:lnTo>
                  <a:lnTo>
                    <a:pt x="0" y="987844"/>
                  </a:lnTo>
                  <a:lnTo>
                    <a:pt x="939" y="1002274"/>
                  </a:lnTo>
                  <a:lnTo>
                    <a:pt x="14770" y="1042924"/>
                  </a:lnTo>
                  <a:lnTo>
                    <a:pt x="22686" y="1054637"/>
                  </a:lnTo>
                  <a:lnTo>
                    <a:pt x="22788" y="1054787"/>
                  </a:lnTo>
                  <a:lnTo>
                    <a:pt x="55079" y="1082878"/>
                  </a:lnTo>
                  <a:lnTo>
                    <a:pt x="95379" y="1096708"/>
                  </a:lnTo>
                  <a:lnTo>
                    <a:pt x="109804" y="1097648"/>
                  </a:lnTo>
                  <a:lnTo>
                    <a:pt x="4919764" y="1097648"/>
                  </a:lnTo>
                  <a:lnTo>
                    <a:pt x="4961835" y="1089290"/>
                  </a:lnTo>
                  <a:lnTo>
                    <a:pt x="4997337" y="1065468"/>
                  </a:lnTo>
                  <a:lnTo>
                    <a:pt x="5021134" y="1029915"/>
                  </a:lnTo>
                  <a:lnTo>
                    <a:pt x="5029568" y="987844"/>
                  </a:lnTo>
                  <a:lnTo>
                    <a:pt x="5029545" y="109804"/>
                  </a:lnTo>
                  <a:lnTo>
                    <a:pt x="5021210" y="68095"/>
                  </a:lnTo>
                  <a:lnTo>
                    <a:pt x="4997343" y="32535"/>
                  </a:lnTo>
                  <a:lnTo>
                    <a:pt x="4961685" y="8721"/>
                  </a:lnTo>
                  <a:lnTo>
                    <a:pt x="4919764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6217195" y="4479836"/>
              <a:ext cx="5029835" cy="1097915"/>
            </a:xfrm>
            <a:custGeom>
              <a:avLst/>
              <a:gdLst/>
              <a:ahLst/>
              <a:cxnLst/>
              <a:rect l="l" t="t" r="r" b="b"/>
              <a:pathLst>
                <a:path w="5029834" h="1097914">
                  <a:moveTo>
                    <a:pt x="368" y="109804"/>
                  </a:moveTo>
                  <a:lnTo>
                    <a:pt x="1307" y="95379"/>
                  </a:lnTo>
                  <a:lnTo>
                    <a:pt x="4103" y="81360"/>
                  </a:lnTo>
                  <a:lnTo>
                    <a:pt x="23138" y="43011"/>
                  </a:lnTo>
                  <a:lnTo>
                    <a:pt x="55079" y="14770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4919764" y="368"/>
                  </a:lnTo>
                  <a:lnTo>
                    <a:pt x="4961685" y="8721"/>
                  </a:lnTo>
                  <a:lnTo>
                    <a:pt x="4997343" y="32535"/>
                  </a:lnTo>
                  <a:lnTo>
                    <a:pt x="5021210" y="68095"/>
                  </a:lnTo>
                  <a:lnTo>
                    <a:pt x="5029568" y="110159"/>
                  </a:lnTo>
                  <a:lnTo>
                    <a:pt x="5029568" y="987844"/>
                  </a:lnTo>
                  <a:lnTo>
                    <a:pt x="5028628" y="1002268"/>
                  </a:lnTo>
                  <a:lnTo>
                    <a:pt x="5025831" y="1016287"/>
                  </a:lnTo>
                  <a:lnTo>
                    <a:pt x="5006785" y="1054637"/>
                  </a:lnTo>
                  <a:lnTo>
                    <a:pt x="4974844" y="1082878"/>
                  </a:lnTo>
                  <a:lnTo>
                    <a:pt x="4934194" y="1096708"/>
                  </a:lnTo>
                  <a:lnTo>
                    <a:pt x="4919764" y="1097648"/>
                  </a:lnTo>
                  <a:lnTo>
                    <a:pt x="109804" y="1097648"/>
                  </a:lnTo>
                  <a:lnTo>
                    <a:pt x="67882" y="1089290"/>
                  </a:lnTo>
                  <a:lnTo>
                    <a:pt x="32224" y="1065468"/>
                  </a:lnTo>
                  <a:lnTo>
                    <a:pt x="8358" y="1029915"/>
                  </a:lnTo>
                  <a:lnTo>
                    <a:pt x="0" y="987844"/>
                  </a:lnTo>
                  <a:lnTo>
                    <a:pt x="368" y="109804"/>
                  </a:lnTo>
                  <a:close/>
                </a:path>
              </a:pathLst>
            </a:custGeom>
            <a:ln w="10079">
              <a:solidFill>
                <a:srgbClr val="DBE4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6217919" y="4480204"/>
              <a:ext cx="73025" cy="1097280"/>
            </a:xfrm>
            <a:custGeom>
              <a:avLst/>
              <a:gdLst/>
              <a:ahLst/>
              <a:cxnLst/>
              <a:rect l="l" t="t" r="r" b="b"/>
              <a:pathLst>
                <a:path w="73025" h="1097279">
                  <a:moveTo>
                    <a:pt x="72720" y="0"/>
                  </a:moveTo>
                  <a:lnTo>
                    <a:pt x="0" y="0"/>
                  </a:lnTo>
                  <a:lnTo>
                    <a:pt x="0" y="1096911"/>
                  </a:lnTo>
                  <a:lnTo>
                    <a:pt x="36360" y="1096911"/>
                  </a:lnTo>
                  <a:lnTo>
                    <a:pt x="72720" y="1096911"/>
                  </a:lnTo>
                  <a:lnTo>
                    <a:pt x="72720" y="0"/>
                  </a:lnTo>
                  <a:close/>
                </a:path>
              </a:pathLst>
            </a:custGeom>
            <a:solidFill>
              <a:srgbClr val="0077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6217919" y="4480204"/>
              <a:ext cx="73025" cy="1097280"/>
            </a:xfrm>
            <a:custGeom>
              <a:avLst/>
              <a:gdLst/>
              <a:ahLst/>
              <a:cxnLst/>
              <a:rect l="l" t="t" r="r" b="b"/>
              <a:pathLst>
                <a:path w="73025" h="1097279">
                  <a:moveTo>
                    <a:pt x="36360" y="1096911"/>
                  </a:moveTo>
                  <a:lnTo>
                    <a:pt x="0" y="1096911"/>
                  </a:lnTo>
                  <a:lnTo>
                    <a:pt x="0" y="0"/>
                  </a:lnTo>
                  <a:lnTo>
                    <a:pt x="72720" y="0"/>
                  </a:lnTo>
                  <a:lnTo>
                    <a:pt x="72720" y="1096911"/>
                  </a:lnTo>
                  <a:lnTo>
                    <a:pt x="36360" y="1096911"/>
                  </a:lnTo>
                  <a:close/>
                </a:path>
              </a:pathLst>
            </a:custGeom>
            <a:ln w="10079">
              <a:solidFill>
                <a:srgbClr val="0077D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/>
          <p:cNvSpPr txBox="1"/>
          <p:nvPr/>
        </p:nvSpPr>
        <p:spPr>
          <a:xfrm>
            <a:off x="6406464" y="4656861"/>
            <a:ext cx="4481830" cy="7797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35">
                <a:solidFill>
                  <a:srgbClr val="0F2339"/>
                </a:solidFill>
                <a:latin typeface="Arial Black"/>
                <a:cs typeface="Arial Black"/>
              </a:rPr>
              <a:t>How</a:t>
            </a:r>
            <a:r>
              <a:rPr dirty="0" sz="1600" spc="-114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600" spc="-55">
                <a:solidFill>
                  <a:srgbClr val="0F2339"/>
                </a:solidFill>
                <a:latin typeface="Arial Black"/>
                <a:cs typeface="Arial Black"/>
              </a:rPr>
              <a:t>to</a:t>
            </a:r>
            <a:r>
              <a:rPr dirty="0" sz="1600" spc="-114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600" spc="-10">
                <a:solidFill>
                  <a:srgbClr val="0F2339"/>
                </a:solidFill>
                <a:latin typeface="Arial Black"/>
                <a:cs typeface="Arial Black"/>
              </a:rPr>
              <a:t>investigate</a:t>
            </a:r>
            <a:endParaRPr sz="1600">
              <a:latin typeface="Arial Black"/>
              <a:cs typeface="Arial Black"/>
            </a:endParaRPr>
          </a:p>
          <a:p>
            <a:pPr marL="12700" marR="5080">
              <a:lnSpc>
                <a:spcPct val="107200"/>
              </a:lnSpc>
              <a:spcBef>
                <a:spcPts val="1055"/>
              </a:spcBef>
            </a:pPr>
            <a:r>
              <a:rPr dirty="0" sz="1150">
                <a:solidFill>
                  <a:srgbClr val="556478"/>
                </a:solidFill>
                <a:latin typeface="Noto Sans"/>
                <a:cs typeface="Noto Sans"/>
              </a:rPr>
              <a:t>Open</a:t>
            </a:r>
            <a:r>
              <a:rPr dirty="0" sz="1150" spc="2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50">
                <a:solidFill>
                  <a:srgbClr val="556478"/>
                </a:solidFill>
                <a:latin typeface="Noto Sans"/>
                <a:cs typeface="Noto Sans"/>
              </a:rPr>
              <a:t>the</a:t>
            </a:r>
            <a:r>
              <a:rPr dirty="0" sz="1150" spc="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50">
                <a:solidFill>
                  <a:srgbClr val="556478"/>
                </a:solidFill>
                <a:latin typeface="Noto Sans"/>
                <a:cs typeface="Noto Sans"/>
              </a:rPr>
              <a:t>correct</a:t>
            </a:r>
            <a:r>
              <a:rPr dirty="0" sz="1150" spc="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50">
                <a:solidFill>
                  <a:srgbClr val="556478"/>
                </a:solidFill>
                <a:latin typeface="Noto Sans"/>
                <a:cs typeface="Noto Sans"/>
              </a:rPr>
              <a:t>scope</a:t>
            </a:r>
            <a:r>
              <a:rPr dirty="0" sz="1150" spc="4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50" spc="-180">
                <a:solidFill>
                  <a:srgbClr val="556478"/>
                </a:solidFill>
                <a:latin typeface="Arial Narrow"/>
                <a:cs typeface="Arial Narrow"/>
              </a:rPr>
              <a:t>→</a:t>
            </a:r>
            <a:r>
              <a:rPr dirty="0" sz="1150" spc="55">
                <a:solidFill>
                  <a:srgbClr val="556478"/>
                </a:solidFill>
                <a:latin typeface="Arial Narrow"/>
                <a:cs typeface="Arial Narrow"/>
              </a:rPr>
              <a:t> </a:t>
            </a:r>
            <a:r>
              <a:rPr dirty="0" sz="1150">
                <a:solidFill>
                  <a:srgbClr val="556478"/>
                </a:solidFill>
                <a:latin typeface="Noto Sans"/>
                <a:cs typeface="Noto Sans"/>
              </a:rPr>
              <a:t>Access</a:t>
            </a:r>
            <a:r>
              <a:rPr dirty="0" sz="1150" spc="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50">
                <a:solidFill>
                  <a:srgbClr val="556478"/>
                </a:solidFill>
                <a:latin typeface="Noto Sans"/>
                <a:cs typeface="Noto Sans"/>
              </a:rPr>
              <a:t>control</a:t>
            </a:r>
            <a:r>
              <a:rPr dirty="0" sz="1150" spc="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50">
                <a:solidFill>
                  <a:srgbClr val="556478"/>
                </a:solidFill>
                <a:latin typeface="Noto Sans"/>
                <a:cs typeface="Noto Sans"/>
              </a:rPr>
              <a:t>(IAM)</a:t>
            </a:r>
            <a:r>
              <a:rPr dirty="0" sz="1150" spc="4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50" spc="-180">
                <a:solidFill>
                  <a:srgbClr val="556478"/>
                </a:solidFill>
                <a:latin typeface="Arial Narrow"/>
                <a:cs typeface="Arial Narrow"/>
              </a:rPr>
              <a:t>→</a:t>
            </a:r>
            <a:r>
              <a:rPr dirty="0" sz="1150" spc="55">
                <a:solidFill>
                  <a:srgbClr val="556478"/>
                </a:solidFill>
                <a:latin typeface="Arial Narrow"/>
                <a:cs typeface="Arial Narrow"/>
              </a:rPr>
              <a:t> </a:t>
            </a:r>
            <a:r>
              <a:rPr dirty="0" sz="1150">
                <a:solidFill>
                  <a:srgbClr val="556478"/>
                </a:solidFill>
                <a:latin typeface="Noto Sans"/>
                <a:cs typeface="Noto Sans"/>
              </a:rPr>
              <a:t>Check</a:t>
            </a:r>
            <a:r>
              <a:rPr dirty="0" sz="1150" spc="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50">
                <a:solidFill>
                  <a:srgbClr val="556478"/>
                </a:solidFill>
                <a:latin typeface="Noto Sans"/>
                <a:cs typeface="Noto Sans"/>
              </a:rPr>
              <a:t>access</a:t>
            </a:r>
            <a:r>
              <a:rPr dirty="0" sz="1150" spc="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50" spc="-50">
                <a:solidFill>
                  <a:srgbClr val="556478"/>
                </a:solidFill>
                <a:latin typeface="Noto Sans"/>
                <a:cs typeface="Noto Sans"/>
              </a:rPr>
              <a:t>/ </a:t>
            </a:r>
            <a:r>
              <a:rPr dirty="0" sz="1150">
                <a:solidFill>
                  <a:srgbClr val="556478"/>
                </a:solidFill>
                <a:latin typeface="Noto Sans"/>
                <a:cs typeface="Noto Sans"/>
              </a:rPr>
              <a:t>Deny</a:t>
            </a:r>
            <a:r>
              <a:rPr dirty="0" sz="1150" spc="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50">
                <a:solidFill>
                  <a:srgbClr val="556478"/>
                </a:solidFill>
                <a:latin typeface="Noto Sans"/>
                <a:cs typeface="Noto Sans"/>
              </a:rPr>
              <a:t>assignments;</a:t>
            </a:r>
            <a:r>
              <a:rPr dirty="0" sz="1150" spc="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50">
                <a:solidFill>
                  <a:srgbClr val="556478"/>
                </a:solidFill>
                <a:latin typeface="Noto Sans"/>
                <a:cs typeface="Noto Sans"/>
              </a:rPr>
              <a:t>capture</a:t>
            </a:r>
            <a:r>
              <a:rPr dirty="0" sz="1150" spc="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50">
                <a:solidFill>
                  <a:srgbClr val="556478"/>
                </a:solidFill>
                <a:latin typeface="Noto Sans"/>
                <a:cs typeface="Noto Sans"/>
              </a:rPr>
              <a:t>scope</a:t>
            </a:r>
            <a:r>
              <a:rPr dirty="0" sz="1150" spc="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50">
                <a:solidFill>
                  <a:srgbClr val="556478"/>
                </a:solidFill>
                <a:latin typeface="Noto Sans"/>
                <a:cs typeface="Noto Sans"/>
              </a:rPr>
              <a:t>and</a:t>
            </a:r>
            <a:r>
              <a:rPr dirty="0" sz="1150" spc="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50">
                <a:solidFill>
                  <a:srgbClr val="556478"/>
                </a:solidFill>
                <a:latin typeface="Noto Sans"/>
                <a:cs typeface="Noto Sans"/>
              </a:rPr>
              <a:t>the</a:t>
            </a:r>
            <a:r>
              <a:rPr dirty="0" sz="1150" spc="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50">
                <a:solidFill>
                  <a:srgbClr val="556478"/>
                </a:solidFill>
                <a:latin typeface="Noto Sans"/>
                <a:cs typeface="Noto Sans"/>
              </a:rPr>
              <a:t>denied</a:t>
            </a:r>
            <a:r>
              <a:rPr dirty="0" sz="1150" spc="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50" spc="-10">
                <a:solidFill>
                  <a:srgbClr val="556478"/>
                </a:solidFill>
                <a:latin typeface="Noto Sans"/>
                <a:cs typeface="Noto Sans"/>
              </a:rPr>
              <a:t>action.</a:t>
            </a:r>
            <a:endParaRPr sz="1150">
              <a:latin typeface="Noto Sans"/>
              <a:cs typeface="Noto San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66635" y="6382435"/>
            <a:ext cx="11064240" cy="635"/>
          </a:xfrm>
          <a:custGeom>
            <a:avLst/>
            <a:gdLst/>
            <a:ahLst/>
            <a:cxnLst/>
            <a:rect l="l" t="t" r="r" b="b"/>
            <a:pathLst>
              <a:path w="11064240" h="635">
                <a:moveTo>
                  <a:pt x="0" y="0"/>
                </a:moveTo>
                <a:lnTo>
                  <a:pt x="11064240" y="368"/>
                </a:lnTo>
              </a:path>
            </a:pathLst>
          </a:custGeom>
          <a:ln w="8999">
            <a:solidFill>
              <a:srgbClr val="DBE4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90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 spc="-100"/>
              <a:t>DAY</a:t>
            </a:r>
            <a:r>
              <a:rPr dirty="0" spc="-55"/>
              <a:t> </a:t>
            </a:r>
            <a:r>
              <a:rPr dirty="0"/>
              <a:t>1</a:t>
            </a:r>
            <a:r>
              <a:rPr dirty="0" spc="105"/>
              <a:t> </a:t>
            </a:r>
            <a:r>
              <a:rPr dirty="0"/>
              <a:t>•</a:t>
            </a:r>
            <a:r>
              <a:rPr dirty="0" spc="130"/>
              <a:t> </a:t>
            </a:r>
            <a:r>
              <a:rPr dirty="0" spc="-70"/>
              <a:t>CLOUD</a:t>
            </a:r>
            <a:r>
              <a:rPr dirty="0" spc="-55"/>
              <a:t> </a:t>
            </a:r>
            <a:r>
              <a:rPr dirty="0" spc="-65"/>
              <a:t>FOUNDATIONS</a:t>
            </a:r>
            <a:r>
              <a:rPr dirty="0" spc="-55"/>
              <a:t> </a:t>
            </a:r>
            <a:r>
              <a:rPr dirty="0" spc="-105"/>
              <a:t>&amp;</a:t>
            </a:r>
            <a:r>
              <a:rPr dirty="0" spc="-50"/>
              <a:t> </a:t>
            </a:r>
            <a:r>
              <a:rPr dirty="0" spc="-95"/>
              <a:t>AZURE</a:t>
            </a:r>
            <a:r>
              <a:rPr dirty="0" spc="-55"/>
              <a:t> </a:t>
            </a:r>
            <a:r>
              <a:rPr dirty="0" spc="-50"/>
              <a:t>BASICS</a:t>
            </a:r>
          </a:p>
        </p:txBody>
      </p:sp>
      <p:sp>
        <p:nvSpPr>
          <p:cNvPr id="37" name="object 3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032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160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3935" y="299427"/>
            <a:ext cx="256349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65">
                <a:solidFill>
                  <a:srgbClr val="0077D3"/>
                </a:solidFill>
                <a:latin typeface="Arial Black"/>
                <a:cs typeface="Arial Black"/>
              </a:rPr>
              <a:t>PA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25">
                <a:solidFill>
                  <a:srgbClr val="0077D3"/>
                </a:solidFill>
                <a:latin typeface="Arial Black"/>
                <a:cs typeface="Arial Black"/>
              </a:rPr>
              <a:t>R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>
                <a:solidFill>
                  <a:srgbClr val="0077D3"/>
                </a:solidFill>
                <a:latin typeface="Arial Black"/>
                <a:cs typeface="Arial Black"/>
              </a:rPr>
              <a:t>T</a:t>
            </a:r>
            <a:r>
              <a:rPr dirty="0" sz="1000" spc="-5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>
                <a:solidFill>
                  <a:srgbClr val="0077D3"/>
                </a:solidFill>
                <a:latin typeface="Arial Black"/>
                <a:cs typeface="Arial Black"/>
              </a:rPr>
              <a:t>4 •</a:t>
            </a:r>
            <a:r>
              <a:rPr dirty="0" sz="1000" spc="12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95">
                <a:solidFill>
                  <a:srgbClr val="0077D3"/>
                </a:solidFill>
                <a:latin typeface="Arial Black"/>
                <a:cs typeface="Arial Black"/>
              </a:rPr>
              <a:t>A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60">
                <a:solidFill>
                  <a:srgbClr val="0077D3"/>
                </a:solidFill>
                <a:latin typeface="Arial Black"/>
                <a:cs typeface="Arial Black"/>
              </a:rPr>
              <a:t>Z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90">
                <a:solidFill>
                  <a:srgbClr val="0077D3"/>
                </a:solidFill>
                <a:latin typeface="Arial Black"/>
                <a:cs typeface="Arial Black"/>
              </a:rPr>
              <a:t>U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25">
                <a:solidFill>
                  <a:srgbClr val="0077D3"/>
                </a:solidFill>
                <a:latin typeface="Arial Black"/>
                <a:cs typeface="Arial Black"/>
              </a:rPr>
              <a:t>R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>
                <a:solidFill>
                  <a:srgbClr val="0077D3"/>
                </a:solidFill>
                <a:latin typeface="Arial Black"/>
                <a:cs typeface="Arial Black"/>
              </a:rPr>
              <a:t>E</a:t>
            </a:r>
            <a:r>
              <a:rPr dirty="0" sz="1000" spc="1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60">
                <a:solidFill>
                  <a:srgbClr val="0077D3"/>
                </a:solidFill>
                <a:latin typeface="Arial Black"/>
                <a:cs typeface="Arial Black"/>
              </a:rPr>
              <a:t>ACC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75">
                <a:solidFill>
                  <a:srgbClr val="0077D3"/>
                </a:solidFill>
                <a:latin typeface="Arial Black"/>
                <a:cs typeface="Arial Black"/>
              </a:rPr>
              <a:t>E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80">
                <a:solidFill>
                  <a:srgbClr val="0077D3"/>
                </a:solidFill>
                <a:latin typeface="Arial Black"/>
                <a:cs typeface="Arial Black"/>
              </a:rPr>
              <a:t>S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>
                <a:solidFill>
                  <a:srgbClr val="0077D3"/>
                </a:solidFill>
                <a:latin typeface="Arial Black"/>
                <a:cs typeface="Arial Black"/>
              </a:rPr>
              <a:t>S</a:t>
            </a:r>
            <a:r>
              <a:rPr dirty="0" sz="1000" spc="114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45">
                <a:solidFill>
                  <a:srgbClr val="0077D3"/>
                </a:solidFill>
                <a:latin typeface="Arial Black"/>
                <a:cs typeface="Arial Black"/>
              </a:rPr>
              <a:t>CO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35">
                <a:solidFill>
                  <a:srgbClr val="0077D3"/>
                </a:solidFill>
                <a:latin typeface="Arial Black"/>
                <a:cs typeface="Arial Black"/>
              </a:rPr>
              <a:t>N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60">
                <a:solidFill>
                  <a:srgbClr val="0077D3"/>
                </a:solidFill>
                <a:latin typeface="Arial Black"/>
                <a:cs typeface="Arial Black"/>
              </a:rPr>
              <a:t>T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25">
                <a:solidFill>
                  <a:srgbClr val="0077D3"/>
                </a:solidFill>
                <a:latin typeface="Arial Black"/>
                <a:cs typeface="Arial Black"/>
              </a:rPr>
              <a:t>R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50">
                <a:solidFill>
                  <a:srgbClr val="0077D3"/>
                </a:solidFill>
                <a:latin typeface="Arial Black"/>
                <a:cs typeface="Arial Black"/>
              </a:rPr>
              <a:t>O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50">
                <a:solidFill>
                  <a:srgbClr val="0077D3"/>
                </a:solidFill>
                <a:latin typeface="Arial Black"/>
                <a:cs typeface="Arial Black"/>
              </a:rPr>
              <a:t>L</a:t>
            </a:r>
            <a:endParaRPr sz="1000">
              <a:latin typeface="Arial Black"/>
              <a:cs typeface="Arial Black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54304" y="428977"/>
            <a:ext cx="7300595" cy="814705"/>
          </a:xfrm>
          <a:prstGeom prst="rect"/>
        </p:spPr>
        <p:txBody>
          <a:bodyPr wrap="square" lIns="0" tIns="133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0"/>
              </a:spcBef>
            </a:pPr>
            <a:r>
              <a:rPr dirty="0" sz="2700" spc="-155">
                <a:solidFill>
                  <a:srgbClr val="0F2339"/>
                </a:solidFill>
              </a:rPr>
              <a:t>Troubleshoot</a:t>
            </a:r>
            <a:r>
              <a:rPr dirty="0" sz="2700" spc="-175">
                <a:solidFill>
                  <a:srgbClr val="0F2339"/>
                </a:solidFill>
              </a:rPr>
              <a:t> </a:t>
            </a:r>
            <a:r>
              <a:rPr dirty="0" sz="2700" spc="-320">
                <a:solidFill>
                  <a:srgbClr val="0F2339"/>
                </a:solidFill>
              </a:rPr>
              <a:t>access</a:t>
            </a:r>
            <a:r>
              <a:rPr dirty="0" sz="2700" spc="-175">
                <a:solidFill>
                  <a:srgbClr val="0F2339"/>
                </a:solidFill>
              </a:rPr>
              <a:t> </a:t>
            </a:r>
            <a:r>
              <a:rPr dirty="0" sz="2700" spc="-125">
                <a:solidFill>
                  <a:srgbClr val="0F2339"/>
                </a:solidFill>
              </a:rPr>
              <a:t>denied</a:t>
            </a:r>
            <a:r>
              <a:rPr dirty="0" sz="2700" spc="-180">
                <a:solidFill>
                  <a:srgbClr val="0F2339"/>
                </a:solidFill>
              </a:rPr>
              <a:t> </a:t>
            </a:r>
            <a:r>
              <a:rPr dirty="0" sz="2700" spc="-135">
                <a:solidFill>
                  <a:srgbClr val="0F2339"/>
                </a:solidFill>
              </a:rPr>
              <a:t>systematically</a:t>
            </a:r>
            <a:endParaRPr sz="2700"/>
          </a:p>
          <a:p>
            <a:pPr marL="30480">
              <a:lnSpc>
                <a:spcPct val="100000"/>
              </a:lnSpc>
              <a:spcBef>
                <a:spcPts val="459"/>
              </a:spcBef>
            </a:pP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Do</a:t>
            </a:r>
            <a:r>
              <a:rPr dirty="0" sz="13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not</a:t>
            </a:r>
            <a:r>
              <a:rPr dirty="0" sz="130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assume</a:t>
            </a:r>
            <a:r>
              <a:rPr dirty="0" sz="130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“RBAC</a:t>
            </a:r>
            <a:r>
              <a:rPr dirty="0" sz="13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is</a:t>
            </a:r>
            <a:r>
              <a:rPr dirty="0" sz="130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broken”</a:t>
            </a:r>
            <a:r>
              <a:rPr dirty="0" sz="130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until</a:t>
            </a:r>
            <a:r>
              <a:rPr dirty="0" sz="13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you</a:t>
            </a:r>
            <a:r>
              <a:rPr dirty="0" sz="130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check</a:t>
            </a:r>
            <a:r>
              <a:rPr dirty="0" sz="130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the</a:t>
            </a:r>
            <a:r>
              <a:rPr dirty="0" sz="13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complete</a:t>
            </a:r>
            <a:r>
              <a:rPr dirty="0" sz="130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authorization</a:t>
            </a:r>
            <a:r>
              <a:rPr dirty="0" sz="130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context.</a:t>
            </a:r>
            <a:endParaRPr sz="1300">
              <a:latin typeface="Noto Sans"/>
              <a:cs typeface="Noto San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66635" y="1417319"/>
            <a:ext cx="11064240" cy="635"/>
          </a:xfrm>
          <a:custGeom>
            <a:avLst/>
            <a:gdLst/>
            <a:ahLst/>
            <a:cxnLst/>
            <a:rect l="l" t="t" r="r" b="b"/>
            <a:pathLst>
              <a:path w="11064240" h="634">
                <a:moveTo>
                  <a:pt x="0" y="0"/>
                </a:moveTo>
                <a:lnTo>
                  <a:pt x="11064240" y="355"/>
                </a:lnTo>
              </a:path>
            </a:pathLst>
          </a:custGeom>
          <a:ln w="10079">
            <a:solidFill>
              <a:srgbClr val="DBE4ED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6" name="object 6"/>
          <p:cNvGrpSpPr/>
          <p:nvPr/>
        </p:nvGrpSpPr>
        <p:grpSpPr>
          <a:xfrm>
            <a:off x="864544" y="1705855"/>
            <a:ext cx="337185" cy="337185"/>
            <a:chOff x="864544" y="1705855"/>
            <a:chExt cx="337185" cy="337185"/>
          </a:xfrm>
        </p:grpSpPr>
        <p:sp>
          <p:nvSpPr>
            <p:cNvPr id="7" name="object 7"/>
            <p:cNvSpPr/>
            <p:nvPr/>
          </p:nvSpPr>
          <p:spPr>
            <a:xfrm>
              <a:off x="868324" y="1709635"/>
              <a:ext cx="329565" cy="329565"/>
            </a:xfrm>
            <a:custGeom>
              <a:avLst/>
              <a:gdLst/>
              <a:ahLst/>
              <a:cxnLst/>
              <a:rect l="l" t="t" r="r" b="b"/>
              <a:pathLst>
                <a:path w="329565" h="329564">
                  <a:moveTo>
                    <a:pt x="164515" y="0"/>
                  </a:moveTo>
                  <a:lnTo>
                    <a:pt x="121945" y="5583"/>
                  </a:lnTo>
                  <a:lnTo>
                    <a:pt x="82080" y="21958"/>
                  </a:lnTo>
                  <a:lnTo>
                    <a:pt x="48104" y="48150"/>
                  </a:lnTo>
                  <a:lnTo>
                    <a:pt x="21958" y="82448"/>
                  </a:lnTo>
                  <a:lnTo>
                    <a:pt x="5578" y="122002"/>
                  </a:lnTo>
                  <a:lnTo>
                    <a:pt x="0" y="164528"/>
                  </a:lnTo>
                  <a:lnTo>
                    <a:pt x="1405" y="186011"/>
                  </a:lnTo>
                  <a:lnTo>
                    <a:pt x="12451" y="227502"/>
                  </a:lnTo>
                  <a:lnTo>
                    <a:pt x="33934" y="264812"/>
                  </a:lnTo>
                  <a:lnTo>
                    <a:pt x="64231" y="295109"/>
                  </a:lnTo>
                  <a:lnTo>
                    <a:pt x="101540" y="316592"/>
                  </a:lnTo>
                  <a:lnTo>
                    <a:pt x="143027" y="327638"/>
                  </a:lnTo>
                  <a:lnTo>
                    <a:pt x="164515" y="329044"/>
                  </a:lnTo>
                  <a:lnTo>
                    <a:pt x="185999" y="327638"/>
                  </a:lnTo>
                  <a:lnTo>
                    <a:pt x="227341" y="316592"/>
                  </a:lnTo>
                  <a:lnTo>
                    <a:pt x="264650" y="295109"/>
                  </a:lnTo>
                  <a:lnTo>
                    <a:pt x="295091" y="264812"/>
                  </a:lnTo>
                  <a:lnTo>
                    <a:pt x="316580" y="227502"/>
                  </a:lnTo>
                  <a:lnTo>
                    <a:pt x="327625" y="186011"/>
                  </a:lnTo>
                  <a:lnTo>
                    <a:pt x="329031" y="164528"/>
                  </a:lnTo>
                  <a:lnTo>
                    <a:pt x="327625" y="143045"/>
                  </a:lnTo>
                  <a:lnTo>
                    <a:pt x="316580" y="101702"/>
                  </a:lnTo>
                  <a:lnTo>
                    <a:pt x="295091" y="64386"/>
                  </a:lnTo>
                  <a:lnTo>
                    <a:pt x="264650" y="33940"/>
                  </a:lnTo>
                  <a:lnTo>
                    <a:pt x="227341" y="12456"/>
                  </a:lnTo>
                  <a:lnTo>
                    <a:pt x="185999" y="1407"/>
                  </a:lnTo>
                  <a:lnTo>
                    <a:pt x="164515" y="0"/>
                  </a:lnTo>
                  <a:close/>
                </a:path>
              </a:pathLst>
            </a:custGeom>
            <a:solidFill>
              <a:srgbClr val="5A39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868324" y="1709635"/>
              <a:ext cx="329565" cy="329565"/>
            </a:xfrm>
            <a:custGeom>
              <a:avLst/>
              <a:gdLst/>
              <a:ahLst/>
              <a:cxnLst/>
              <a:rect l="l" t="t" r="r" b="b"/>
              <a:pathLst>
                <a:path w="329565" h="329564">
                  <a:moveTo>
                    <a:pt x="0" y="164528"/>
                  </a:moveTo>
                  <a:lnTo>
                    <a:pt x="1405" y="143045"/>
                  </a:lnTo>
                  <a:lnTo>
                    <a:pt x="5578" y="122002"/>
                  </a:lnTo>
                  <a:lnTo>
                    <a:pt x="21958" y="82448"/>
                  </a:lnTo>
                  <a:lnTo>
                    <a:pt x="48104" y="48150"/>
                  </a:lnTo>
                  <a:lnTo>
                    <a:pt x="82080" y="21958"/>
                  </a:lnTo>
                  <a:lnTo>
                    <a:pt x="121945" y="5583"/>
                  </a:lnTo>
                  <a:lnTo>
                    <a:pt x="164515" y="0"/>
                  </a:lnTo>
                  <a:lnTo>
                    <a:pt x="207041" y="5583"/>
                  </a:lnTo>
                  <a:lnTo>
                    <a:pt x="246595" y="21958"/>
                  </a:lnTo>
                  <a:lnTo>
                    <a:pt x="280882" y="48150"/>
                  </a:lnTo>
                  <a:lnTo>
                    <a:pt x="307073" y="82448"/>
                  </a:lnTo>
                  <a:lnTo>
                    <a:pt x="323453" y="122002"/>
                  </a:lnTo>
                  <a:lnTo>
                    <a:pt x="329031" y="164528"/>
                  </a:lnTo>
                  <a:lnTo>
                    <a:pt x="327625" y="186011"/>
                  </a:lnTo>
                  <a:lnTo>
                    <a:pt x="323453" y="207094"/>
                  </a:lnTo>
                  <a:lnTo>
                    <a:pt x="307073" y="246964"/>
                  </a:lnTo>
                  <a:lnTo>
                    <a:pt x="280882" y="280939"/>
                  </a:lnTo>
                  <a:lnTo>
                    <a:pt x="246595" y="307086"/>
                  </a:lnTo>
                  <a:lnTo>
                    <a:pt x="207041" y="323465"/>
                  </a:lnTo>
                  <a:lnTo>
                    <a:pt x="164515" y="329044"/>
                  </a:lnTo>
                  <a:lnTo>
                    <a:pt x="121945" y="323465"/>
                  </a:lnTo>
                  <a:lnTo>
                    <a:pt x="82080" y="307086"/>
                  </a:lnTo>
                  <a:lnTo>
                    <a:pt x="48104" y="280939"/>
                  </a:lnTo>
                  <a:lnTo>
                    <a:pt x="21958" y="246964"/>
                  </a:lnTo>
                  <a:lnTo>
                    <a:pt x="5578" y="207094"/>
                  </a:lnTo>
                  <a:lnTo>
                    <a:pt x="1405" y="186011"/>
                  </a:lnTo>
                  <a:lnTo>
                    <a:pt x="0" y="164528"/>
                  </a:lnTo>
                  <a:close/>
                </a:path>
              </a:pathLst>
            </a:custGeom>
            <a:ln w="7559">
              <a:solidFill>
                <a:srgbClr val="5A399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969378" y="1750580"/>
            <a:ext cx="12763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90">
                <a:solidFill>
                  <a:srgbClr val="FFFFFF"/>
                </a:solidFill>
                <a:latin typeface="Arial Black"/>
                <a:cs typeface="Arial Black"/>
              </a:rPr>
              <a:t>1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58900" y="1682178"/>
            <a:ext cx="156718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45">
                <a:solidFill>
                  <a:srgbClr val="0F2339"/>
                </a:solidFill>
                <a:latin typeface="Arial Black"/>
                <a:cs typeface="Arial Black"/>
              </a:rPr>
              <a:t>Identity</a:t>
            </a:r>
            <a:r>
              <a:rPr dirty="0" sz="1400" spc="-8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400" spc="-200">
                <a:solidFill>
                  <a:srgbClr val="0F2339"/>
                </a:solidFill>
                <a:latin typeface="Arial Black"/>
                <a:cs typeface="Arial Black"/>
              </a:rPr>
              <a:t>&amp;</a:t>
            </a:r>
            <a:r>
              <a:rPr dirty="0" sz="1400" spc="-8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400" spc="-40">
                <a:solidFill>
                  <a:srgbClr val="0F2339"/>
                </a:solidFill>
                <a:latin typeface="Arial Black"/>
                <a:cs typeface="Arial Black"/>
              </a:rPr>
              <a:t>tenant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44544" y="1651215"/>
            <a:ext cx="3308985" cy="2165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>
                <a:solidFill>
                  <a:srgbClr val="556478"/>
                </a:solidFill>
                <a:latin typeface="Noto Sans"/>
                <a:cs typeface="Noto Sans"/>
              </a:rPr>
              <a:t>Correct</a:t>
            </a:r>
            <a:r>
              <a:rPr dirty="0" sz="1250" spc="-6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50">
                <a:solidFill>
                  <a:srgbClr val="556478"/>
                </a:solidFill>
                <a:latin typeface="Noto Sans"/>
                <a:cs typeface="Noto Sans"/>
              </a:rPr>
              <a:t>user/service</a:t>
            </a:r>
            <a:r>
              <a:rPr dirty="0" sz="1250" spc="-5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50">
                <a:solidFill>
                  <a:srgbClr val="556478"/>
                </a:solidFill>
                <a:latin typeface="Noto Sans"/>
                <a:cs typeface="Noto Sans"/>
              </a:rPr>
              <a:t>principal</a:t>
            </a:r>
            <a:r>
              <a:rPr dirty="0" sz="1250" spc="-6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50">
                <a:solidFill>
                  <a:srgbClr val="556478"/>
                </a:solidFill>
                <a:latin typeface="Noto Sans"/>
                <a:cs typeface="Noto Sans"/>
              </a:rPr>
              <a:t>and</a:t>
            </a:r>
            <a:r>
              <a:rPr dirty="0" sz="1250" spc="-5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50" spc="-10">
                <a:solidFill>
                  <a:srgbClr val="556478"/>
                </a:solidFill>
                <a:latin typeface="Noto Sans"/>
                <a:cs typeface="Noto Sans"/>
              </a:rPr>
              <a:t>directory?</a:t>
            </a:r>
            <a:endParaRPr sz="1250">
              <a:latin typeface="Noto Sans"/>
              <a:cs typeface="Noto San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71600" y="2240279"/>
            <a:ext cx="9555480" cy="635"/>
          </a:xfrm>
          <a:custGeom>
            <a:avLst/>
            <a:gdLst/>
            <a:ahLst/>
            <a:cxnLst/>
            <a:rect l="l" t="t" r="r" b="b"/>
            <a:pathLst>
              <a:path w="9555480" h="635">
                <a:moveTo>
                  <a:pt x="0" y="0"/>
                </a:moveTo>
                <a:lnTo>
                  <a:pt x="9555480" y="355"/>
                </a:lnTo>
              </a:path>
            </a:pathLst>
          </a:custGeom>
          <a:ln w="8999">
            <a:solidFill>
              <a:srgbClr val="DBE4ED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3" name="object 13"/>
          <p:cNvGrpSpPr/>
          <p:nvPr/>
        </p:nvGrpSpPr>
        <p:grpSpPr>
          <a:xfrm>
            <a:off x="864544" y="2537820"/>
            <a:ext cx="337185" cy="337185"/>
            <a:chOff x="864544" y="2537820"/>
            <a:chExt cx="337185" cy="337185"/>
          </a:xfrm>
        </p:grpSpPr>
        <p:sp>
          <p:nvSpPr>
            <p:cNvPr id="14" name="object 14"/>
            <p:cNvSpPr/>
            <p:nvPr/>
          </p:nvSpPr>
          <p:spPr>
            <a:xfrm>
              <a:off x="868324" y="2541600"/>
              <a:ext cx="329565" cy="329565"/>
            </a:xfrm>
            <a:custGeom>
              <a:avLst/>
              <a:gdLst/>
              <a:ahLst/>
              <a:cxnLst/>
              <a:rect l="l" t="t" r="r" b="b"/>
              <a:pathLst>
                <a:path w="329565" h="329564">
                  <a:moveTo>
                    <a:pt x="164515" y="0"/>
                  </a:moveTo>
                  <a:lnTo>
                    <a:pt x="121945" y="5578"/>
                  </a:lnTo>
                  <a:lnTo>
                    <a:pt x="82080" y="21958"/>
                  </a:lnTo>
                  <a:lnTo>
                    <a:pt x="48104" y="48148"/>
                  </a:lnTo>
                  <a:lnTo>
                    <a:pt x="21958" y="82435"/>
                  </a:lnTo>
                  <a:lnTo>
                    <a:pt x="5578" y="121994"/>
                  </a:lnTo>
                  <a:lnTo>
                    <a:pt x="0" y="164515"/>
                  </a:lnTo>
                  <a:lnTo>
                    <a:pt x="1405" y="185999"/>
                  </a:lnTo>
                  <a:lnTo>
                    <a:pt x="12451" y="227341"/>
                  </a:lnTo>
                  <a:lnTo>
                    <a:pt x="33934" y="264657"/>
                  </a:lnTo>
                  <a:lnTo>
                    <a:pt x="64231" y="295103"/>
                  </a:lnTo>
                  <a:lnTo>
                    <a:pt x="101540" y="316587"/>
                  </a:lnTo>
                  <a:lnTo>
                    <a:pt x="143027" y="327636"/>
                  </a:lnTo>
                  <a:lnTo>
                    <a:pt x="164515" y="329044"/>
                  </a:lnTo>
                  <a:lnTo>
                    <a:pt x="185999" y="327636"/>
                  </a:lnTo>
                  <a:lnTo>
                    <a:pt x="227341" y="316587"/>
                  </a:lnTo>
                  <a:lnTo>
                    <a:pt x="264650" y="295103"/>
                  </a:lnTo>
                  <a:lnTo>
                    <a:pt x="295091" y="264657"/>
                  </a:lnTo>
                  <a:lnTo>
                    <a:pt x="316580" y="227341"/>
                  </a:lnTo>
                  <a:lnTo>
                    <a:pt x="327625" y="185999"/>
                  </a:lnTo>
                  <a:lnTo>
                    <a:pt x="329031" y="164515"/>
                  </a:lnTo>
                  <a:lnTo>
                    <a:pt x="327625" y="143037"/>
                  </a:lnTo>
                  <a:lnTo>
                    <a:pt x="316580" y="101691"/>
                  </a:lnTo>
                  <a:lnTo>
                    <a:pt x="295091" y="64381"/>
                  </a:lnTo>
                  <a:lnTo>
                    <a:pt x="264650" y="33940"/>
                  </a:lnTo>
                  <a:lnTo>
                    <a:pt x="227341" y="12451"/>
                  </a:lnTo>
                  <a:lnTo>
                    <a:pt x="185999" y="1405"/>
                  </a:lnTo>
                  <a:lnTo>
                    <a:pt x="164515" y="0"/>
                  </a:lnTo>
                  <a:close/>
                </a:path>
              </a:pathLst>
            </a:custGeom>
            <a:solidFill>
              <a:srgbClr val="0077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868324" y="2541600"/>
              <a:ext cx="329565" cy="329565"/>
            </a:xfrm>
            <a:custGeom>
              <a:avLst/>
              <a:gdLst/>
              <a:ahLst/>
              <a:cxnLst/>
              <a:rect l="l" t="t" r="r" b="b"/>
              <a:pathLst>
                <a:path w="329565" h="329564">
                  <a:moveTo>
                    <a:pt x="0" y="164515"/>
                  </a:moveTo>
                  <a:lnTo>
                    <a:pt x="1405" y="143037"/>
                  </a:lnTo>
                  <a:lnTo>
                    <a:pt x="5578" y="121994"/>
                  </a:lnTo>
                  <a:lnTo>
                    <a:pt x="21958" y="82435"/>
                  </a:lnTo>
                  <a:lnTo>
                    <a:pt x="48104" y="48148"/>
                  </a:lnTo>
                  <a:lnTo>
                    <a:pt x="82080" y="21958"/>
                  </a:lnTo>
                  <a:lnTo>
                    <a:pt x="121945" y="5578"/>
                  </a:lnTo>
                  <a:lnTo>
                    <a:pt x="164515" y="0"/>
                  </a:lnTo>
                  <a:lnTo>
                    <a:pt x="207041" y="5578"/>
                  </a:lnTo>
                  <a:lnTo>
                    <a:pt x="246595" y="21958"/>
                  </a:lnTo>
                  <a:lnTo>
                    <a:pt x="280882" y="48148"/>
                  </a:lnTo>
                  <a:lnTo>
                    <a:pt x="307073" y="82435"/>
                  </a:lnTo>
                  <a:lnTo>
                    <a:pt x="323453" y="121994"/>
                  </a:lnTo>
                  <a:lnTo>
                    <a:pt x="329031" y="164515"/>
                  </a:lnTo>
                  <a:lnTo>
                    <a:pt x="327625" y="185999"/>
                  </a:lnTo>
                  <a:lnTo>
                    <a:pt x="323453" y="207041"/>
                  </a:lnTo>
                  <a:lnTo>
                    <a:pt x="307073" y="246595"/>
                  </a:lnTo>
                  <a:lnTo>
                    <a:pt x="280882" y="280893"/>
                  </a:lnTo>
                  <a:lnTo>
                    <a:pt x="246595" y="307086"/>
                  </a:lnTo>
                  <a:lnTo>
                    <a:pt x="207041" y="323461"/>
                  </a:lnTo>
                  <a:lnTo>
                    <a:pt x="164515" y="329044"/>
                  </a:lnTo>
                  <a:lnTo>
                    <a:pt x="121945" y="323461"/>
                  </a:lnTo>
                  <a:lnTo>
                    <a:pt x="82080" y="307086"/>
                  </a:lnTo>
                  <a:lnTo>
                    <a:pt x="48104" y="280893"/>
                  </a:lnTo>
                  <a:lnTo>
                    <a:pt x="21958" y="246595"/>
                  </a:lnTo>
                  <a:lnTo>
                    <a:pt x="5578" y="207041"/>
                  </a:lnTo>
                  <a:lnTo>
                    <a:pt x="1405" y="185999"/>
                  </a:lnTo>
                  <a:lnTo>
                    <a:pt x="0" y="164515"/>
                  </a:lnTo>
                  <a:close/>
                </a:path>
              </a:pathLst>
            </a:custGeom>
            <a:ln w="7559">
              <a:solidFill>
                <a:srgbClr val="0077D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969378" y="2582544"/>
            <a:ext cx="12763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90">
                <a:solidFill>
                  <a:srgbClr val="FFFFFF"/>
                </a:solidFill>
                <a:latin typeface="Arial Black"/>
                <a:cs typeface="Arial Black"/>
              </a:rPr>
              <a:t>2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58900" y="2514498"/>
            <a:ext cx="54356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35">
                <a:solidFill>
                  <a:srgbClr val="0F2339"/>
                </a:solidFill>
                <a:latin typeface="Arial Black"/>
                <a:cs typeface="Arial Black"/>
              </a:rPr>
              <a:t>Scope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644544" y="2483180"/>
            <a:ext cx="4923790" cy="2165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>
                <a:solidFill>
                  <a:srgbClr val="556478"/>
                </a:solidFill>
                <a:latin typeface="Noto Sans"/>
                <a:cs typeface="Noto Sans"/>
              </a:rPr>
              <a:t>Right</a:t>
            </a:r>
            <a:r>
              <a:rPr dirty="0" sz="1250" spc="-2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50" spc="-10">
                <a:solidFill>
                  <a:srgbClr val="556478"/>
                </a:solidFill>
                <a:latin typeface="Noto Sans"/>
                <a:cs typeface="Noto Sans"/>
              </a:rPr>
              <a:t>resource,</a:t>
            </a:r>
            <a:r>
              <a:rPr dirty="0" sz="1250" spc="-2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50" spc="-10">
                <a:solidFill>
                  <a:srgbClr val="556478"/>
                </a:solidFill>
                <a:latin typeface="Noto Sans"/>
                <a:cs typeface="Noto Sans"/>
              </a:rPr>
              <a:t>resource</a:t>
            </a:r>
            <a:r>
              <a:rPr dirty="0" sz="1250" spc="-2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50" spc="-10">
                <a:solidFill>
                  <a:srgbClr val="556478"/>
                </a:solidFill>
                <a:latin typeface="Noto Sans"/>
                <a:cs typeface="Noto Sans"/>
              </a:rPr>
              <a:t>group,</a:t>
            </a:r>
            <a:r>
              <a:rPr dirty="0" sz="1250" spc="-2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50" spc="-10">
                <a:solidFill>
                  <a:srgbClr val="556478"/>
                </a:solidFill>
                <a:latin typeface="Noto Sans"/>
                <a:cs typeface="Noto Sans"/>
              </a:rPr>
              <a:t>subscription</a:t>
            </a:r>
            <a:r>
              <a:rPr dirty="0" sz="1250" spc="-2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50">
                <a:solidFill>
                  <a:srgbClr val="556478"/>
                </a:solidFill>
                <a:latin typeface="Noto Sans"/>
                <a:cs typeface="Noto Sans"/>
              </a:rPr>
              <a:t>and</a:t>
            </a:r>
            <a:r>
              <a:rPr dirty="0" sz="1250" spc="-2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50">
                <a:solidFill>
                  <a:srgbClr val="556478"/>
                </a:solidFill>
                <a:latin typeface="Noto Sans"/>
                <a:cs typeface="Noto Sans"/>
              </a:rPr>
              <a:t>inherited</a:t>
            </a:r>
            <a:r>
              <a:rPr dirty="0" sz="1250" spc="-2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50" spc="-10">
                <a:solidFill>
                  <a:srgbClr val="556478"/>
                </a:solidFill>
                <a:latin typeface="Noto Sans"/>
                <a:cs typeface="Noto Sans"/>
              </a:rPr>
              <a:t>scope?</a:t>
            </a:r>
            <a:endParaRPr sz="1250">
              <a:latin typeface="Noto Sans"/>
              <a:cs typeface="Noto Sans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371600" y="3072244"/>
            <a:ext cx="9555480" cy="635"/>
          </a:xfrm>
          <a:custGeom>
            <a:avLst/>
            <a:gdLst/>
            <a:ahLst/>
            <a:cxnLst/>
            <a:rect l="l" t="t" r="r" b="b"/>
            <a:pathLst>
              <a:path w="9555480" h="635">
                <a:moveTo>
                  <a:pt x="0" y="0"/>
                </a:moveTo>
                <a:lnTo>
                  <a:pt x="9555480" y="355"/>
                </a:lnTo>
              </a:path>
            </a:pathLst>
          </a:custGeom>
          <a:ln w="8999">
            <a:solidFill>
              <a:srgbClr val="DBE4ED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0" name="object 20"/>
          <p:cNvGrpSpPr/>
          <p:nvPr/>
        </p:nvGrpSpPr>
        <p:grpSpPr>
          <a:xfrm>
            <a:off x="864544" y="3370140"/>
            <a:ext cx="337185" cy="337185"/>
            <a:chOff x="864544" y="3370140"/>
            <a:chExt cx="337185" cy="337185"/>
          </a:xfrm>
        </p:grpSpPr>
        <p:sp>
          <p:nvSpPr>
            <p:cNvPr id="21" name="object 21"/>
            <p:cNvSpPr/>
            <p:nvPr/>
          </p:nvSpPr>
          <p:spPr>
            <a:xfrm>
              <a:off x="868324" y="3373919"/>
              <a:ext cx="329565" cy="329565"/>
            </a:xfrm>
            <a:custGeom>
              <a:avLst/>
              <a:gdLst/>
              <a:ahLst/>
              <a:cxnLst/>
              <a:rect l="l" t="t" r="r" b="b"/>
              <a:pathLst>
                <a:path w="329565" h="329564">
                  <a:moveTo>
                    <a:pt x="164515" y="0"/>
                  </a:moveTo>
                  <a:lnTo>
                    <a:pt x="121945" y="5578"/>
                  </a:lnTo>
                  <a:lnTo>
                    <a:pt x="82080" y="21958"/>
                  </a:lnTo>
                  <a:lnTo>
                    <a:pt x="48104" y="48148"/>
                  </a:lnTo>
                  <a:lnTo>
                    <a:pt x="21958" y="82435"/>
                  </a:lnTo>
                  <a:lnTo>
                    <a:pt x="5578" y="121994"/>
                  </a:lnTo>
                  <a:lnTo>
                    <a:pt x="0" y="164515"/>
                  </a:lnTo>
                  <a:lnTo>
                    <a:pt x="1405" y="186004"/>
                  </a:lnTo>
                  <a:lnTo>
                    <a:pt x="12451" y="227496"/>
                  </a:lnTo>
                  <a:lnTo>
                    <a:pt x="33934" y="264812"/>
                  </a:lnTo>
                  <a:lnTo>
                    <a:pt x="64231" y="295109"/>
                  </a:lnTo>
                  <a:lnTo>
                    <a:pt x="101540" y="316587"/>
                  </a:lnTo>
                  <a:lnTo>
                    <a:pt x="143027" y="327636"/>
                  </a:lnTo>
                  <a:lnTo>
                    <a:pt x="164515" y="329044"/>
                  </a:lnTo>
                  <a:lnTo>
                    <a:pt x="185999" y="327636"/>
                  </a:lnTo>
                  <a:lnTo>
                    <a:pt x="227341" y="316587"/>
                  </a:lnTo>
                  <a:lnTo>
                    <a:pt x="264650" y="295109"/>
                  </a:lnTo>
                  <a:lnTo>
                    <a:pt x="295091" y="264812"/>
                  </a:lnTo>
                  <a:lnTo>
                    <a:pt x="316580" y="227496"/>
                  </a:lnTo>
                  <a:lnTo>
                    <a:pt x="327625" y="186004"/>
                  </a:lnTo>
                  <a:lnTo>
                    <a:pt x="329031" y="164515"/>
                  </a:lnTo>
                  <a:lnTo>
                    <a:pt x="327625" y="143037"/>
                  </a:lnTo>
                  <a:lnTo>
                    <a:pt x="316580" y="101691"/>
                  </a:lnTo>
                  <a:lnTo>
                    <a:pt x="295091" y="64381"/>
                  </a:lnTo>
                  <a:lnTo>
                    <a:pt x="264650" y="33940"/>
                  </a:lnTo>
                  <a:lnTo>
                    <a:pt x="227341" y="12451"/>
                  </a:lnTo>
                  <a:lnTo>
                    <a:pt x="185999" y="1405"/>
                  </a:lnTo>
                  <a:lnTo>
                    <a:pt x="164515" y="0"/>
                  </a:lnTo>
                  <a:close/>
                </a:path>
              </a:pathLst>
            </a:custGeom>
            <a:solidFill>
              <a:srgbClr val="0C938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868324" y="3373919"/>
              <a:ext cx="329565" cy="329565"/>
            </a:xfrm>
            <a:custGeom>
              <a:avLst/>
              <a:gdLst/>
              <a:ahLst/>
              <a:cxnLst/>
              <a:rect l="l" t="t" r="r" b="b"/>
              <a:pathLst>
                <a:path w="329565" h="329564">
                  <a:moveTo>
                    <a:pt x="0" y="164515"/>
                  </a:moveTo>
                  <a:lnTo>
                    <a:pt x="1405" y="143037"/>
                  </a:lnTo>
                  <a:lnTo>
                    <a:pt x="5578" y="121994"/>
                  </a:lnTo>
                  <a:lnTo>
                    <a:pt x="21958" y="82435"/>
                  </a:lnTo>
                  <a:lnTo>
                    <a:pt x="48104" y="48148"/>
                  </a:lnTo>
                  <a:lnTo>
                    <a:pt x="82080" y="21958"/>
                  </a:lnTo>
                  <a:lnTo>
                    <a:pt x="121945" y="5578"/>
                  </a:lnTo>
                  <a:lnTo>
                    <a:pt x="164515" y="0"/>
                  </a:lnTo>
                  <a:lnTo>
                    <a:pt x="207041" y="5578"/>
                  </a:lnTo>
                  <a:lnTo>
                    <a:pt x="246595" y="21958"/>
                  </a:lnTo>
                  <a:lnTo>
                    <a:pt x="280882" y="48148"/>
                  </a:lnTo>
                  <a:lnTo>
                    <a:pt x="307073" y="82435"/>
                  </a:lnTo>
                  <a:lnTo>
                    <a:pt x="323453" y="121994"/>
                  </a:lnTo>
                  <a:lnTo>
                    <a:pt x="329031" y="164515"/>
                  </a:lnTo>
                  <a:lnTo>
                    <a:pt x="327625" y="186004"/>
                  </a:lnTo>
                  <a:lnTo>
                    <a:pt x="323453" y="207087"/>
                  </a:lnTo>
                  <a:lnTo>
                    <a:pt x="307073" y="246964"/>
                  </a:lnTo>
                  <a:lnTo>
                    <a:pt x="280882" y="280939"/>
                  </a:lnTo>
                  <a:lnTo>
                    <a:pt x="246595" y="307085"/>
                  </a:lnTo>
                  <a:lnTo>
                    <a:pt x="207041" y="323461"/>
                  </a:lnTo>
                  <a:lnTo>
                    <a:pt x="164515" y="329044"/>
                  </a:lnTo>
                  <a:lnTo>
                    <a:pt x="121945" y="323461"/>
                  </a:lnTo>
                  <a:lnTo>
                    <a:pt x="82080" y="307085"/>
                  </a:lnTo>
                  <a:lnTo>
                    <a:pt x="48104" y="280939"/>
                  </a:lnTo>
                  <a:lnTo>
                    <a:pt x="21958" y="246964"/>
                  </a:lnTo>
                  <a:lnTo>
                    <a:pt x="5578" y="207087"/>
                  </a:lnTo>
                  <a:lnTo>
                    <a:pt x="1405" y="186004"/>
                  </a:lnTo>
                  <a:lnTo>
                    <a:pt x="0" y="164515"/>
                  </a:lnTo>
                  <a:close/>
                </a:path>
              </a:pathLst>
            </a:custGeom>
            <a:ln w="7559">
              <a:solidFill>
                <a:srgbClr val="0C938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969378" y="3414496"/>
            <a:ext cx="12763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90">
                <a:solidFill>
                  <a:srgbClr val="FFFFFF"/>
                </a:solidFill>
                <a:latin typeface="Arial Black"/>
                <a:cs typeface="Arial Black"/>
              </a:rPr>
              <a:t>3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358900" y="3346462"/>
            <a:ext cx="200787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5">
                <a:solidFill>
                  <a:srgbClr val="0F2339"/>
                </a:solidFill>
                <a:latin typeface="Arial Black"/>
                <a:cs typeface="Arial Black"/>
              </a:rPr>
              <a:t>Role</a:t>
            </a:r>
            <a:r>
              <a:rPr dirty="0" sz="1400" spc="-7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400" spc="185">
                <a:solidFill>
                  <a:srgbClr val="0F2339"/>
                </a:solidFill>
                <a:latin typeface="Arial Black"/>
                <a:cs typeface="Arial Black"/>
              </a:rPr>
              <a:t>/</a:t>
            </a:r>
            <a:r>
              <a:rPr dirty="0" sz="1400" spc="-7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400" spc="-75">
                <a:solidFill>
                  <a:srgbClr val="0F2339"/>
                </a:solidFill>
                <a:latin typeface="Arial Black"/>
                <a:cs typeface="Arial Black"/>
              </a:rPr>
              <a:t>permission</a:t>
            </a:r>
            <a:r>
              <a:rPr dirty="0" sz="1400" spc="-6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400" spc="-30">
                <a:solidFill>
                  <a:srgbClr val="0F2339"/>
                </a:solidFill>
                <a:latin typeface="Arial Black"/>
                <a:cs typeface="Arial Black"/>
              </a:rPr>
              <a:t>type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644544" y="3315499"/>
            <a:ext cx="3281679" cy="2165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>
                <a:solidFill>
                  <a:srgbClr val="556478"/>
                </a:solidFill>
                <a:latin typeface="Noto Sans"/>
                <a:cs typeface="Noto Sans"/>
              </a:rPr>
              <a:t>Correct</a:t>
            </a:r>
            <a:r>
              <a:rPr dirty="0" sz="1250" spc="-4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50">
                <a:solidFill>
                  <a:srgbClr val="556478"/>
                </a:solidFill>
                <a:latin typeface="Noto Sans"/>
                <a:cs typeface="Noto Sans"/>
              </a:rPr>
              <a:t>action?</a:t>
            </a:r>
            <a:r>
              <a:rPr dirty="0" sz="1250" spc="-4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50">
                <a:solidFill>
                  <a:srgbClr val="556478"/>
                </a:solidFill>
                <a:latin typeface="Noto Sans"/>
                <a:cs typeface="Noto Sans"/>
              </a:rPr>
              <a:t>Control</a:t>
            </a:r>
            <a:r>
              <a:rPr dirty="0" sz="1250" spc="-4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50">
                <a:solidFill>
                  <a:srgbClr val="556478"/>
                </a:solidFill>
                <a:latin typeface="Noto Sans"/>
                <a:cs typeface="Noto Sans"/>
              </a:rPr>
              <a:t>plane</a:t>
            </a:r>
            <a:r>
              <a:rPr dirty="0" sz="1250" spc="-4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50">
                <a:solidFill>
                  <a:srgbClr val="556478"/>
                </a:solidFill>
                <a:latin typeface="Noto Sans"/>
                <a:cs typeface="Noto Sans"/>
              </a:rPr>
              <a:t>vs</a:t>
            </a:r>
            <a:r>
              <a:rPr dirty="0" sz="1250" spc="-4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50">
                <a:solidFill>
                  <a:srgbClr val="556478"/>
                </a:solidFill>
                <a:latin typeface="Noto Sans"/>
                <a:cs typeface="Noto Sans"/>
              </a:rPr>
              <a:t>data</a:t>
            </a:r>
            <a:r>
              <a:rPr dirty="0" sz="1250" spc="-4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50" spc="-10">
                <a:solidFill>
                  <a:srgbClr val="556478"/>
                </a:solidFill>
                <a:latin typeface="Noto Sans"/>
                <a:cs typeface="Noto Sans"/>
              </a:rPr>
              <a:t>plane?</a:t>
            </a:r>
            <a:endParaRPr sz="1250">
              <a:latin typeface="Noto Sans"/>
              <a:cs typeface="Noto Sans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371600" y="3904195"/>
            <a:ext cx="9555480" cy="635"/>
          </a:xfrm>
          <a:custGeom>
            <a:avLst/>
            <a:gdLst/>
            <a:ahLst/>
            <a:cxnLst/>
            <a:rect l="l" t="t" r="r" b="b"/>
            <a:pathLst>
              <a:path w="9555480" h="635">
                <a:moveTo>
                  <a:pt x="0" y="0"/>
                </a:moveTo>
                <a:lnTo>
                  <a:pt x="9555480" y="368"/>
                </a:lnTo>
              </a:path>
            </a:pathLst>
          </a:custGeom>
          <a:ln w="8999">
            <a:solidFill>
              <a:srgbClr val="DBE4ED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7" name="object 27"/>
          <p:cNvGrpSpPr/>
          <p:nvPr/>
        </p:nvGrpSpPr>
        <p:grpSpPr>
          <a:xfrm>
            <a:off x="864544" y="4202104"/>
            <a:ext cx="337185" cy="337185"/>
            <a:chOff x="864544" y="4202104"/>
            <a:chExt cx="337185" cy="337185"/>
          </a:xfrm>
        </p:grpSpPr>
        <p:sp>
          <p:nvSpPr>
            <p:cNvPr id="28" name="object 28"/>
            <p:cNvSpPr/>
            <p:nvPr/>
          </p:nvSpPr>
          <p:spPr>
            <a:xfrm>
              <a:off x="868324" y="4205884"/>
              <a:ext cx="329565" cy="329565"/>
            </a:xfrm>
            <a:custGeom>
              <a:avLst/>
              <a:gdLst/>
              <a:ahLst/>
              <a:cxnLst/>
              <a:rect l="l" t="t" r="r" b="b"/>
              <a:pathLst>
                <a:path w="329565" h="329564">
                  <a:moveTo>
                    <a:pt x="164515" y="0"/>
                  </a:moveTo>
                  <a:lnTo>
                    <a:pt x="121945" y="5578"/>
                  </a:lnTo>
                  <a:lnTo>
                    <a:pt x="82080" y="21958"/>
                  </a:lnTo>
                  <a:lnTo>
                    <a:pt x="48104" y="48148"/>
                  </a:lnTo>
                  <a:lnTo>
                    <a:pt x="21958" y="82435"/>
                  </a:lnTo>
                  <a:lnTo>
                    <a:pt x="5578" y="121989"/>
                  </a:lnTo>
                  <a:lnTo>
                    <a:pt x="0" y="164515"/>
                  </a:lnTo>
                  <a:lnTo>
                    <a:pt x="1405" y="186004"/>
                  </a:lnTo>
                  <a:lnTo>
                    <a:pt x="12451" y="227491"/>
                  </a:lnTo>
                  <a:lnTo>
                    <a:pt x="33934" y="264800"/>
                  </a:lnTo>
                  <a:lnTo>
                    <a:pt x="64231" y="295096"/>
                  </a:lnTo>
                  <a:lnTo>
                    <a:pt x="101540" y="316580"/>
                  </a:lnTo>
                  <a:lnTo>
                    <a:pt x="143027" y="327625"/>
                  </a:lnTo>
                  <a:lnTo>
                    <a:pt x="164515" y="329031"/>
                  </a:lnTo>
                  <a:lnTo>
                    <a:pt x="185999" y="327625"/>
                  </a:lnTo>
                  <a:lnTo>
                    <a:pt x="227341" y="316580"/>
                  </a:lnTo>
                  <a:lnTo>
                    <a:pt x="264650" y="295096"/>
                  </a:lnTo>
                  <a:lnTo>
                    <a:pt x="295091" y="264800"/>
                  </a:lnTo>
                  <a:lnTo>
                    <a:pt x="316580" y="227491"/>
                  </a:lnTo>
                  <a:lnTo>
                    <a:pt x="327625" y="186004"/>
                  </a:lnTo>
                  <a:lnTo>
                    <a:pt x="329031" y="164515"/>
                  </a:lnTo>
                  <a:lnTo>
                    <a:pt x="327625" y="143032"/>
                  </a:lnTo>
                  <a:lnTo>
                    <a:pt x="316580" y="101690"/>
                  </a:lnTo>
                  <a:lnTo>
                    <a:pt x="295091" y="64381"/>
                  </a:lnTo>
                  <a:lnTo>
                    <a:pt x="264650" y="33940"/>
                  </a:lnTo>
                  <a:lnTo>
                    <a:pt x="227341" y="12451"/>
                  </a:lnTo>
                  <a:lnTo>
                    <a:pt x="185999" y="1405"/>
                  </a:lnTo>
                  <a:lnTo>
                    <a:pt x="164515" y="0"/>
                  </a:lnTo>
                  <a:close/>
                </a:path>
              </a:pathLst>
            </a:custGeom>
            <a:solidFill>
              <a:srgbClr val="F49D0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868324" y="4205884"/>
              <a:ext cx="329565" cy="329565"/>
            </a:xfrm>
            <a:custGeom>
              <a:avLst/>
              <a:gdLst/>
              <a:ahLst/>
              <a:cxnLst/>
              <a:rect l="l" t="t" r="r" b="b"/>
              <a:pathLst>
                <a:path w="329565" h="329564">
                  <a:moveTo>
                    <a:pt x="0" y="164515"/>
                  </a:moveTo>
                  <a:lnTo>
                    <a:pt x="1405" y="143032"/>
                  </a:lnTo>
                  <a:lnTo>
                    <a:pt x="5578" y="121989"/>
                  </a:lnTo>
                  <a:lnTo>
                    <a:pt x="21958" y="82435"/>
                  </a:lnTo>
                  <a:lnTo>
                    <a:pt x="48104" y="48148"/>
                  </a:lnTo>
                  <a:lnTo>
                    <a:pt x="82080" y="21958"/>
                  </a:lnTo>
                  <a:lnTo>
                    <a:pt x="121945" y="5578"/>
                  </a:lnTo>
                  <a:lnTo>
                    <a:pt x="164515" y="0"/>
                  </a:lnTo>
                  <a:lnTo>
                    <a:pt x="207041" y="5578"/>
                  </a:lnTo>
                  <a:lnTo>
                    <a:pt x="246595" y="21958"/>
                  </a:lnTo>
                  <a:lnTo>
                    <a:pt x="280882" y="48148"/>
                  </a:lnTo>
                  <a:lnTo>
                    <a:pt x="307073" y="82435"/>
                  </a:lnTo>
                  <a:lnTo>
                    <a:pt x="323453" y="121989"/>
                  </a:lnTo>
                  <a:lnTo>
                    <a:pt x="329031" y="164515"/>
                  </a:lnTo>
                  <a:lnTo>
                    <a:pt x="327625" y="186004"/>
                  </a:lnTo>
                  <a:lnTo>
                    <a:pt x="323453" y="207086"/>
                  </a:lnTo>
                  <a:lnTo>
                    <a:pt x="307073" y="246951"/>
                  </a:lnTo>
                  <a:lnTo>
                    <a:pt x="280882" y="280927"/>
                  </a:lnTo>
                  <a:lnTo>
                    <a:pt x="246595" y="307073"/>
                  </a:lnTo>
                  <a:lnTo>
                    <a:pt x="207041" y="323453"/>
                  </a:lnTo>
                  <a:lnTo>
                    <a:pt x="164515" y="329031"/>
                  </a:lnTo>
                  <a:lnTo>
                    <a:pt x="121945" y="323453"/>
                  </a:lnTo>
                  <a:lnTo>
                    <a:pt x="82080" y="307073"/>
                  </a:lnTo>
                  <a:lnTo>
                    <a:pt x="48104" y="280927"/>
                  </a:lnTo>
                  <a:lnTo>
                    <a:pt x="21958" y="246951"/>
                  </a:lnTo>
                  <a:lnTo>
                    <a:pt x="5578" y="207086"/>
                  </a:lnTo>
                  <a:lnTo>
                    <a:pt x="1405" y="186004"/>
                  </a:lnTo>
                  <a:lnTo>
                    <a:pt x="0" y="164515"/>
                  </a:lnTo>
                  <a:close/>
                </a:path>
              </a:pathLst>
            </a:custGeom>
            <a:ln w="7559">
              <a:solidFill>
                <a:srgbClr val="F49D0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/>
          <p:nvPr/>
        </p:nvSpPr>
        <p:spPr>
          <a:xfrm>
            <a:off x="969378" y="4246816"/>
            <a:ext cx="12763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90">
                <a:solidFill>
                  <a:srgbClr val="FFFFFF"/>
                </a:solidFill>
                <a:latin typeface="Arial Black"/>
                <a:cs typeface="Arial Black"/>
              </a:rPr>
              <a:t>4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358900" y="4178427"/>
            <a:ext cx="155575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65">
                <a:solidFill>
                  <a:srgbClr val="0F2339"/>
                </a:solidFill>
                <a:latin typeface="Arial Black"/>
                <a:cs typeface="Arial Black"/>
              </a:rPr>
              <a:t>Deny</a:t>
            </a:r>
            <a:r>
              <a:rPr dirty="0" sz="1400" spc="-9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400" spc="185">
                <a:solidFill>
                  <a:srgbClr val="0F2339"/>
                </a:solidFill>
                <a:latin typeface="Arial Black"/>
                <a:cs typeface="Arial Black"/>
              </a:rPr>
              <a:t>/</a:t>
            </a:r>
            <a:r>
              <a:rPr dirty="0" sz="1400" spc="-9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400" spc="-55">
                <a:solidFill>
                  <a:srgbClr val="0F2339"/>
                </a:solidFill>
                <a:latin typeface="Arial Black"/>
                <a:cs typeface="Arial Black"/>
              </a:rPr>
              <a:t>guardrails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644544" y="4147451"/>
            <a:ext cx="4420870" cy="2165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>
                <a:solidFill>
                  <a:srgbClr val="556478"/>
                </a:solidFill>
                <a:latin typeface="Noto Sans"/>
                <a:cs typeface="Noto Sans"/>
              </a:rPr>
              <a:t>Does</a:t>
            </a:r>
            <a:r>
              <a:rPr dirty="0" sz="125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50">
                <a:solidFill>
                  <a:srgbClr val="556478"/>
                </a:solidFill>
                <a:latin typeface="Noto Sans"/>
                <a:cs typeface="Noto Sans"/>
              </a:rPr>
              <a:t>a</a:t>
            </a:r>
            <a:r>
              <a:rPr dirty="0" sz="125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50">
                <a:solidFill>
                  <a:srgbClr val="556478"/>
                </a:solidFill>
                <a:latin typeface="Noto Sans"/>
                <a:cs typeface="Noto Sans"/>
              </a:rPr>
              <a:t>deny</a:t>
            </a:r>
            <a:r>
              <a:rPr dirty="0" sz="125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50">
                <a:solidFill>
                  <a:srgbClr val="556478"/>
                </a:solidFill>
                <a:latin typeface="Noto Sans"/>
                <a:cs typeface="Noto Sans"/>
              </a:rPr>
              <a:t>assignment</a:t>
            </a:r>
            <a:r>
              <a:rPr dirty="0" sz="125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50">
                <a:solidFill>
                  <a:srgbClr val="556478"/>
                </a:solidFill>
                <a:latin typeface="Noto Sans"/>
                <a:cs typeface="Noto Sans"/>
              </a:rPr>
              <a:t>or</a:t>
            </a:r>
            <a:r>
              <a:rPr dirty="0" sz="125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50" spc="-10">
                <a:solidFill>
                  <a:srgbClr val="556478"/>
                </a:solidFill>
                <a:latin typeface="Noto Sans"/>
                <a:cs typeface="Noto Sans"/>
              </a:rPr>
              <a:t>policy-</a:t>
            </a:r>
            <a:r>
              <a:rPr dirty="0" sz="1250">
                <a:solidFill>
                  <a:srgbClr val="556478"/>
                </a:solidFill>
                <a:latin typeface="Noto Sans"/>
                <a:cs typeface="Noto Sans"/>
              </a:rPr>
              <a:t>related</a:t>
            </a:r>
            <a:r>
              <a:rPr dirty="0" sz="125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50">
                <a:solidFill>
                  <a:srgbClr val="556478"/>
                </a:solidFill>
                <a:latin typeface="Noto Sans"/>
                <a:cs typeface="Noto Sans"/>
              </a:rPr>
              <a:t>restriction</a:t>
            </a:r>
            <a:r>
              <a:rPr dirty="0" sz="125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50" spc="-10">
                <a:solidFill>
                  <a:srgbClr val="556478"/>
                </a:solidFill>
                <a:latin typeface="Noto Sans"/>
                <a:cs typeface="Noto Sans"/>
              </a:rPr>
              <a:t>apply?</a:t>
            </a:r>
            <a:endParaRPr sz="1250">
              <a:latin typeface="Noto Sans"/>
              <a:cs typeface="Noto Sans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1371600" y="4736515"/>
            <a:ext cx="9555480" cy="635"/>
          </a:xfrm>
          <a:custGeom>
            <a:avLst/>
            <a:gdLst/>
            <a:ahLst/>
            <a:cxnLst/>
            <a:rect l="l" t="t" r="r" b="b"/>
            <a:pathLst>
              <a:path w="9555480" h="635">
                <a:moveTo>
                  <a:pt x="0" y="0"/>
                </a:moveTo>
                <a:lnTo>
                  <a:pt x="9555480" y="368"/>
                </a:lnTo>
              </a:path>
            </a:pathLst>
          </a:custGeom>
          <a:ln w="8999">
            <a:solidFill>
              <a:srgbClr val="DBE4ED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4" name="object 34"/>
          <p:cNvGrpSpPr/>
          <p:nvPr/>
        </p:nvGrpSpPr>
        <p:grpSpPr>
          <a:xfrm>
            <a:off x="864544" y="5034056"/>
            <a:ext cx="337185" cy="337185"/>
            <a:chOff x="864544" y="5034056"/>
            <a:chExt cx="337185" cy="337185"/>
          </a:xfrm>
        </p:grpSpPr>
        <p:sp>
          <p:nvSpPr>
            <p:cNvPr id="35" name="object 35"/>
            <p:cNvSpPr/>
            <p:nvPr/>
          </p:nvSpPr>
          <p:spPr>
            <a:xfrm>
              <a:off x="868324" y="5037836"/>
              <a:ext cx="329565" cy="329565"/>
            </a:xfrm>
            <a:custGeom>
              <a:avLst/>
              <a:gdLst/>
              <a:ahLst/>
              <a:cxnLst/>
              <a:rect l="l" t="t" r="r" b="b"/>
              <a:pathLst>
                <a:path w="329565" h="329564">
                  <a:moveTo>
                    <a:pt x="164515" y="0"/>
                  </a:moveTo>
                  <a:lnTo>
                    <a:pt x="121945" y="5583"/>
                  </a:lnTo>
                  <a:lnTo>
                    <a:pt x="82080" y="21958"/>
                  </a:lnTo>
                  <a:lnTo>
                    <a:pt x="48104" y="48104"/>
                  </a:lnTo>
                  <a:lnTo>
                    <a:pt x="21958" y="82080"/>
                  </a:lnTo>
                  <a:lnTo>
                    <a:pt x="5578" y="121956"/>
                  </a:lnTo>
                  <a:lnTo>
                    <a:pt x="0" y="164528"/>
                  </a:lnTo>
                  <a:lnTo>
                    <a:pt x="1405" y="186011"/>
                  </a:lnTo>
                  <a:lnTo>
                    <a:pt x="12451" y="227502"/>
                  </a:lnTo>
                  <a:lnTo>
                    <a:pt x="33934" y="264812"/>
                  </a:lnTo>
                  <a:lnTo>
                    <a:pt x="64231" y="295109"/>
                  </a:lnTo>
                  <a:lnTo>
                    <a:pt x="101540" y="316592"/>
                  </a:lnTo>
                  <a:lnTo>
                    <a:pt x="143027" y="327638"/>
                  </a:lnTo>
                  <a:lnTo>
                    <a:pt x="164515" y="329044"/>
                  </a:lnTo>
                  <a:lnTo>
                    <a:pt x="185999" y="327638"/>
                  </a:lnTo>
                  <a:lnTo>
                    <a:pt x="227341" y="316592"/>
                  </a:lnTo>
                  <a:lnTo>
                    <a:pt x="264650" y="295109"/>
                  </a:lnTo>
                  <a:lnTo>
                    <a:pt x="295091" y="264812"/>
                  </a:lnTo>
                  <a:lnTo>
                    <a:pt x="316580" y="227502"/>
                  </a:lnTo>
                  <a:lnTo>
                    <a:pt x="327625" y="186011"/>
                  </a:lnTo>
                  <a:lnTo>
                    <a:pt x="329031" y="164528"/>
                  </a:lnTo>
                  <a:lnTo>
                    <a:pt x="327625" y="143039"/>
                  </a:lnTo>
                  <a:lnTo>
                    <a:pt x="316580" y="101547"/>
                  </a:lnTo>
                  <a:lnTo>
                    <a:pt x="295091" y="64231"/>
                  </a:lnTo>
                  <a:lnTo>
                    <a:pt x="264650" y="33934"/>
                  </a:lnTo>
                  <a:lnTo>
                    <a:pt x="227341" y="12456"/>
                  </a:lnTo>
                  <a:lnTo>
                    <a:pt x="185999" y="1407"/>
                  </a:lnTo>
                  <a:lnTo>
                    <a:pt x="164515" y="0"/>
                  </a:lnTo>
                  <a:close/>
                </a:path>
              </a:pathLst>
            </a:custGeom>
            <a:solidFill>
              <a:srgbClr val="157F5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868324" y="5037836"/>
              <a:ext cx="329565" cy="329565"/>
            </a:xfrm>
            <a:custGeom>
              <a:avLst/>
              <a:gdLst/>
              <a:ahLst/>
              <a:cxnLst/>
              <a:rect l="l" t="t" r="r" b="b"/>
              <a:pathLst>
                <a:path w="329565" h="329564">
                  <a:moveTo>
                    <a:pt x="0" y="164528"/>
                  </a:moveTo>
                  <a:lnTo>
                    <a:pt x="1405" y="143039"/>
                  </a:lnTo>
                  <a:lnTo>
                    <a:pt x="5578" y="121956"/>
                  </a:lnTo>
                  <a:lnTo>
                    <a:pt x="21958" y="82080"/>
                  </a:lnTo>
                  <a:lnTo>
                    <a:pt x="48104" y="48104"/>
                  </a:lnTo>
                  <a:lnTo>
                    <a:pt x="82080" y="21958"/>
                  </a:lnTo>
                  <a:lnTo>
                    <a:pt x="121945" y="5583"/>
                  </a:lnTo>
                  <a:lnTo>
                    <a:pt x="164515" y="0"/>
                  </a:lnTo>
                  <a:lnTo>
                    <a:pt x="207041" y="5583"/>
                  </a:lnTo>
                  <a:lnTo>
                    <a:pt x="246595" y="21958"/>
                  </a:lnTo>
                  <a:lnTo>
                    <a:pt x="280882" y="48104"/>
                  </a:lnTo>
                  <a:lnTo>
                    <a:pt x="307073" y="82080"/>
                  </a:lnTo>
                  <a:lnTo>
                    <a:pt x="323453" y="121956"/>
                  </a:lnTo>
                  <a:lnTo>
                    <a:pt x="329031" y="164528"/>
                  </a:lnTo>
                  <a:lnTo>
                    <a:pt x="327625" y="186011"/>
                  </a:lnTo>
                  <a:lnTo>
                    <a:pt x="323453" y="207094"/>
                  </a:lnTo>
                  <a:lnTo>
                    <a:pt x="307073" y="246964"/>
                  </a:lnTo>
                  <a:lnTo>
                    <a:pt x="280882" y="280939"/>
                  </a:lnTo>
                  <a:lnTo>
                    <a:pt x="246595" y="307085"/>
                  </a:lnTo>
                  <a:lnTo>
                    <a:pt x="207041" y="323465"/>
                  </a:lnTo>
                  <a:lnTo>
                    <a:pt x="164515" y="329044"/>
                  </a:lnTo>
                  <a:lnTo>
                    <a:pt x="121945" y="323465"/>
                  </a:lnTo>
                  <a:lnTo>
                    <a:pt x="82080" y="307085"/>
                  </a:lnTo>
                  <a:lnTo>
                    <a:pt x="48104" y="280939"/>
                  </a:lnTo>
                  <a:lnTo>
                    <a:pt x="21958" y="246964"/>
                  </a:lnTo>
                  <a:lnTo>
                    <a:pt x="5578" y="207094"/>
                  </a:lnTo>
                  <a:lnTo>
                    <a:pt x="1405" y="186011"/>
                  </a:lnTo>
                  <a:lnTo>
                    <a:pt x="0" y="164528"/>
                  </a:lnTo>
                  <a:close/>
                </a:path>
              </a:pathLst>
            </a:custGeom>
            <a:ln w="7559">
              <a:solidFill>
                <a:srgbClr val="157F5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/>
          <p:cNvSpPr txBox="1"/>
          <p:nvPr/>
        </p:nvSpPr>
        <p:spPr>
          <a:xfrm>
            <a:off x="969378" y="5078780"/>
            <a:ext cx="12763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90">
                <a:solidFill>
                  <a:srgbClr val="FFFFFF"/>
                </a:solidFill>
                <a:latin typeface="Arial Black"/>
                <a:cs typeface="Arial Black"/>
              </a:rPr>
              <a:t>5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358900" y="5010746"/>
            <a:ext cx="199072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80">
                <a:solidFill>
                  <a:srgbClr val="0F2339"/>
                </a:solidFill>
                <a:latin typeface="Arial Black"/>
                <a:cs typeface="Arial Black"/>
              </a:rPr>
              <a:t>Verify</a:t>
            </a:r>
            <a:r>
              <a:rPr dirty="0" sz="1400" spc="-6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400" spc="-85">
                <a:solidFill>
                  <a:srgbClr val="0F2339"/>
                </a:solidFill>
                <a:latin typeface="Arial Black"/>
                <a:cs typeface="Arial Black"/>
              </a:rPr>
              <a:t>effective</a:t>
            </a:r>
            <a:r>
              <a:rPr dirty="0" sz="1400" spc="-6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400" spc="-140">
                <a:solidFill>
                  <a:srgbClr val="0F2339"/>
                </a:solidFill>
                <a:latin typeface="Arial Black"/>
                <a:cs typeface="Arial Black"/>
              </a:rPr>
              <a:t>access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644544" y="4979415"/>
            <a:ext cx="4191635" cy="2165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>
                <a:solidFill>
                  <a:srgbClr val="556478"/>
                </a:solidFill>
                <a:latin typeface="Noto Sans"/>
                <a:cs typeface="Noto Sans"/>
              </a:rPr>
              <a:t>Use</a:t>
            </a:r>
            <a:r>
              <a:rPr dirty="0" sz="1250" spc="-2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50">
                <a:solidFill>
                  <a:srgbClr val="556478"/>
                </a:solidFill>
                <a:latin typeface="Noto Sans"/>
                <a:cs typeface="Noto Sans"/>
              </a:rPr>
              <a:t>Check</a:t>
            </a:r>
            <a:r>
              <a:rPr dirty="0" sz="1250" spc="-2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50">
                <a:solidFill>
                  <a:srgbClr val="556478"/>
                </a:solidFill>
                <a:latin typeface="Noto Sans"/>
                <a:cs typeface="Noto Sans"/>
              </a:rPr>
              <a:t>Access,</a:t>
            </a:r>
            <a:r>
              <a:rPr dirty="0" sz="1250" spc="-2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50">
                <a:solidFill>
                  <a:srgbClr val="556478"/>
                </a:solidFill>
                <a:latin typeface="Noto Sans"/>
                <a:cs typeface="Noto Sans"/>
              </a:rPr>
              <a:t>inspect</a:t>
            </a:r>
            <a:r>
              <a:rPr dirty="0" sz="1250" spc="-2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50" spc="-10">
                <a:solidFill>
                  <a:srgbClr val="556478"/>
                </a:solidFill>
                <a:latin typeface="Noto Sans"/>
                <a:cs typeface="Noto Sans"/>
              </a:rPr>
              <a:t>assignments,</a:t>
            </a:r>
            <a:r>
              <a:rPr dirty="0" sz="1250" spc="-2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50">
                <a:solidFill>
                  <a:srgbClr val="556478"/>
                </a:solidFill>
                <a:latin typeface="Noto Sans"/>
                <a:cs typeface="Noto Sans"/>
              </a:rPr>
              <a:t>then</a:t>
            </a:r>
            <a:r>
              <a:rPr dirty="0" sz="1250" spc="-2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50">
                <a:solidFill>
                  <a:srgbClr val="556478"/>
                </a:solidFill>
                <a:latin typeface="Noto Sans"/>
                <a:cs typeface="Noto Sans"/>
              </a:rPr>
              <a:t>test</a:t>
            </a:r>
            <a:r>
              <a:rPr dirty="0" sz="1250" spc="-2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50" spc="-10">
                <a:solidFill>
                  <a:srgbClr val="556478"/>
                </a:solidFill>
                <a:latin typeface="Noto Sans"/>
                <a:cs typeface="Noto Sans"/>
              </a:rPr>
              <a:t>safely.</a:t>
            </a:r>
            <a:endParaRPr sz="1250">
              <a:latin typeface="Noto Sans"/>
              <a:cs typeface="Noto Sans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1091516" y="5709236"/>
            <a:ext cx="9977755" cy="467995"/>
            <a:chOff x="1091516" y="5709236"/>
            <a:chExt cx="9977755" cy="467995"/>
          </a:xfrm>
        </p:grpSpPr>
        <p:sp>
          <p:nvSpPr>
            <p:cNvPr id="41" name="object 41"/>
            <p:cNvSpPr/>
            <p:nvPr/>
          </p:nvSpPr>
          <p:spPr>
            <a:xfrm>
              <a:off x="1096556" y="5714276"/>
              <a:ext cx="9967595" cy="457834"/>
            </a:xfrm>
            <a:custGeom>
              <a:avLst/>
              <a:gdLst/>
              <a:ahLst/>
              <a:cxnLst/>
              <a:rect l="l" t="t" r="r" b="b"/>
              <a:pathLst>
                <a:path w="9967595" h="457835">
                  <a:moveTo>
                    <a:pt x="110159" y="0"/>
                  </a:moveTo>
                  <a:lnTo>
                    <a:pt x="68095" y="8358"/>
                  </a:lnTo>
                  <a:lnTo>
                    <a:pt x="32535" y="32224"/>
                  </a:lnTo>
                  <a:lnTo>
                    <a:pt x="8721" y="67882"/>
                  </a:lnTo>
                  <a:lnTo>
                    <a:pt x="368" y="109804"/>
                  </a:lnTo>
                  <a:lnTo>
                    <a:pt x="0" y="347764"/>
                  </a:lnTo>
                  <a:lnTo>
                    <a:pt x="939" y="362194"/>
                  </a:lnTo>
                  <a:lnTo>
                    <a:pt x="3736" y="376251"/>
                  </a:lnTo>
                  <a:lnTo>
                    <a:pt x="8307" y="389685"/>
                  </a:lnTo>
                  <a:lnTo>
                    <a:pt x="8358" y="389835"/>
                  </a:lnTo>
                  <a:lnTo>
                    <a:pt x="14770" y="402844"/>
                  </a:lnTo>
                  <a:lnTo>
                    <a:pt x="22686" y="414557"/>
                  </a:lnTo>
                  <a:lnTo>
                    <a:pt x="22788" y="414707"/>
                  </a:lnTo>
                  <a:lnTo>
                    <a:pt x="55079" y="442798"/>
                  </a:lnTo>
                  <a:lnTo>
                    <a:pt x="95379" y="456628"/>
                  </a:lnTo>
                  <a:lnTo>
                    <a:pt x="109804" y="457568"/>
                  </a:lnTo>
                  <a:lnTo>
                    <a:pt x="9857524" y="457568"/>
                  </a:lnTo>
                  <a:lnTo>
                    <a:pt x="9899595" y="449210"/>
                  </a:lnTo>
                  <a:lnTo>
                    <a:pt x="9935097" y="425388"/>
                  </a:lnTo>
                  <a:lnTo>
                    <a:pt x="9958894" y="389835"/>
                  </a:lnTo>
                  <a:lnTo>
                    <a:pt x="9967328" y="347764"/>
                  </a:lnTo>
                  <a:lnTo>
                    <a:pt x="9967305" y="109804"/>
                  </a:lnTo>
                  <a:lnTo>
                    <a:pt x="9958970" y="68095"/>
                  </a:lnTo>
                  <a:lnTo>
                    <a:pt x="9935103" y="32535"/>
                  </a:lnTo>
                  <a:lnTo>
                    <a:pt x="9899445" y="8721"/>
                  </a:lnTo>
                  <a:lnTo>
                    <a:pt x="9857524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CED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1096556" y="5714276"/>
              <a:ext cx="9967595" cy="457834"/>
            </a:xfrm>
            <a:custGeom>
              <a:avLst/>
              <a:gdLst/>
              <a:ahLst/>
              <a:cxnLst/>
              <a:rect l="l" t="t" r="r" b="b"/>
              <a:pathLst>
                <a:path w="9967595" h="457835">
                  <a:moveTo>
                    <a:pt x="368" y="109804"/>
                  </a:moveTo>
                  <a:lnTo>
                    <a:pt x="1307" y="95379"/>
                  </a:lnTo>
                  <a:lnTo>
                    <a:pt x="4103" y="81360"/>
                  </a:lnTo>
                  <a:lnTo>
                    <a:pt x="23138" y="43011"/>
                  </a:lnTo>
                  <a:lnTo>
                    <a:pt x="55079" y="14770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9857524" y="368"/>
                  </a:lnTo>
                  <a:lnTo>
                    <a:pt x="9899445" y="8721"/>
                  </a:lnTo>
                  <a:lnTo>
                    <a:pt x="9935103" y="32535"/>
                  </a:lnTo>
                  <a:lnTo>
                    <a:pt x="9958970" y="68095"/>
                  </a:lnTo>
                  <a:lnTo>
                    <a:pt x="9967328" y="110159"/>
                  </a:lnTo>
                  <a:lnTo>
                    <a:pt x="9967328" y="347764"/>
                  </a:lnTo>
                  <a:lnTo>
                    <a:pt x="9966388" y="362188"/>
                  </a:lnTo>
                  <a:lnTo>
                    <a:pt x="9963591" y="376207"/>
                  </a:lnTo>
                  <a:lnTo>
                    <a:pt x="9944545" y="414557"/>
                  </a:lnTo>
                  <a:lnTo>
                    <a:pt x="9912604" y="442798"/>
                  </a:lnTo>
                  <a:lnTo>
                    <a:pt x="9871954" y="456628"/>
                  </a:lnTo>
                  <a:lnTo>
                    <a:pt x="9857524" y="457568"/>
                  </a:lnTo>
                  <a:lnTo>
                    <a:pt x="109804" y="457568"/>
                  </a:lnTo>
                  <a:lnTo>
                    <a:pt x="67882" y="449210"/>
                  </a:lnTo>
                  <a:lnTo>
                    <a:pt x="32224" y="425388"/>
                  </a:lnTo>
                  <a:lnTo>
                    <a:pt x="8358" y="389835"/>
                  </a:lnTo>
                  <a:lnTo>
                    <a:pt x="0" y="347764"/>
                  </a:lnTo>
                  <a:lnTo>
                    <a:pt x="368" y="109804"/>
                  </a:lnTo>
                  <a:close/>
                </a:path>
              </a:pathLst>
            </a:custGeom>
            <a:ln w="10079">
              <a:solidFill>
                <a:srgbClr val="FCEDE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" name="object 43"/>
          <p:cNvSpPr txBox="1"/>
          <p:nvPr/>
        </p:nvSpPr>
        <p:spPr>
          <a:xfrm>
            <a:off x="1758137" y="5833694"/>
            <a:ext cx="8640445" cy="22097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250" spc="-45">
                <a:solidFill>
                  <a:srgbClr val="C1403A"/>
                </a:solidFill>
                <a:latin typeface="Arial Black"/>
                <a:cs typeface="Arial Black"/>
              </a:rPr>
              <a:t>Never</a:t>
            </a:r>
            <a:r>
              <a:rPr dirty="0" sz="1250" spc="-65">
                <a:solidFill>
                  <a:srgbClr val="C1403A"/>
                </a:solidFill>
                <a:latin typeface="Arial Black"/>
                <a:cs typeface="Arial Black"/>
              </a:rPr>
              <a:t> </a:t>
            </a:r>
            <a:r>
              <a:rPr dirty="0" sz="1250" spc="-50">
                <a:solidFill>
                  <a:srgbClr val="C1403A"/>
                </a:solidFill>
                <a:latin typeface="Arial Black"/>
                <a:cs typeface="Arial Black"/>
              </a:rPr>
              <a:t>“fix”</a:t>
            </a:r>
            <a:r>
              <a:rPr dirty="0" sz="1250" spc="-60">
                <a:solidFill>
                  <a:srgbClr val="C1403A"/>
                </a:solidFill>
                <a:latin typeface="Arial Black"/>
                <a:cs typeface="Arial Black"/>
              </a:rPr>
              <a:t> </a:t>
            </a:r>
            <a:r>
              <a:rPr dirty="0" sz="1250" spc="-40">
                <a:solidFill>
                  <a:srgbClr val="C1403A"/>
                </a:solidFill>
                <a:latin typeface="Arial Black"/>
                <a:cs typeface="Arial Black"/>
              </a:rPr>
              <a:t>an</a:t>
            </a:r>
            <a:r>
              <a:rPr dirty="0" sz="1250" spc="-60">
                <a:solidFill>
                  <a:srgbClr val="C1403A"/>
                </a:solidFill>
                <a:latin typeface="Arial Black"/>
                <a:cs typeface="Arial Black"/>
              </a:rPr>
              <a:t> </a:t>
            </a:r>
            <a:r>
              <a:rPr dirty="0" sz="1250" spc="-135">
                <a:solidFill>
                  <a:srgbClr val="C1403A"/>
                </a:solidFill>
                <a:latin typeface="Arial Black"/>
                <a:cs typeface="Arial Black"/>
              </a:rPr>
              <a:t>access</a:t>
            </a:r>
            <a:r>
              <a:rPr dirty="0" sz="1250" spc="-60">
                <a:solidFill>
                  <a:srgbClr val="C1403A"/>
                </a:solidFill>
                <a:latin typeface="Arial Black"/>
                <a:cs typeface="Arial Black"/>
              </a:rPr>
              <a:t> </a:t>
            </a:r>
            <a:r>
              <a:rPr dirty="0" sz="1250" spc="-40">
                <a:solidFill>
                  <a:srgbClr val="C1403A"/>
                </a:solidFill>
                <a:latin typeface="Arial Black"/>
                <a:cs typeface="Arial Black"/>
              </a:rPr>
              <a:t>denial</a:t>
            </a:r>
            <a:r>
              <a:rPr dirty="0" sz="1250" spc="-60">
                <a:solidFill>
                  <a:srgbClr val="C1403A"/>
                </a:solidFill>
                <a:latin typeface="Arial Black"/>
                <a:cs typeface="Arial Black"/>
              </a:rPr>
              <a:t> </a:t>
            </a:r>
            <a:r>
              <a:rPr dirty="0" sz="1250" spc="-55">
                <a:solidFill>
                  <a:srgbClr val="C1403A"/>
                </a:solidFill>
                <a:latin typeface="Arial Black"/>
                <a:cs typeface="Arial Black"/>
              </a:rPr>
              <a:t>by</a:t>
            </a:r>
            <a:r>
              <a:rPr dirty="0" sz="1250" spc="-60">
                <a:solidFill>
                  <a:srgbClr val="C1403A"/>
                </a:solidFill>
                <a:latin typeface="Arial Black"/>
                <a:cs typeface="Arial Black"/>
              </a:rPr>
              <a:t> </a:t>
            </a:r>
            <a:r>
              <a:rPr dirty="0" sz="1250" spc="-25">
                <a:solidFill>
                  <a:srgbClr val="C1403A"/>
                </a:solidFill>
                <a:latin typeface="Arial Black"/>
                <a:cs typeface="Arial Black"/>
              </a:rPr>
              <a:t>granting</a:t>
            </a:r>
            <a:r>
              <a:rPr dirty="0" sz="1250" spc="-60">
                <a:solidFill>
                  <a:srgbClr val="C1403A"/>
                </a:solidFill>
                <a:latin typeface="Arial Black"/>
                <a:cs typeface="Arial Black"/>
              </a:rPr>
              <a:t> </a:t>
            </a:r>
            <a:r>
              <a:rPr dirty="0" sz="1250" spc="-35">
                <a:solidFill>
                  <a:srgbClr val="C1403A"/>
                </a:solidFill>
                <a:latin typeface="Arial Black"/>
                <a:cs typeface="Arial Black"/>
              </a:rPr>
              <a:t>Owner</a:t>
            </a:r>
            <a:r>
              <a:rPr dirty="0" sz="1250" spc="-60">
                <a:solidFill>
                  <a:srgbClr val="C1403A"/>
                </a:solidFill>
                <a:latin typeface="Arial Black"/>
                <a:cs typeface="Arial Black"/>
              </a:rPr>
              <a:t> </a:t>
            </a:r>
            <a:r>
              <a:rPr dirty="0" sz="1250" spc="-10">
                <a:solidFill>
                  <a:srgbClr val="C1403A"/>
                </a:solidFill>
                <a:latin typeface="Arial Black"/>
                <a:cs typeface="Arial Black"/>
              </a:rPr>
              <a:t>or</a:t>
            </a:r>
            <a:r>
              <a:rPr dirty="0" sz="1250" spc="-60">
                <a:solidFill>
                  <a:srgbClr val="C1403A"/>
                </a:solidFill>
                <a:latin typeface="Arial Black"/>
                <a:cs typeface="Arial Black"/>
              </a:rPr>
              <a:t> </a:t>
            </a:r>
            <a:r>
              <a:rPr dirty="0" sz="1250" spc="-35">
                <a:solidFill>
                  <a:srgbClr val="C1403A"/>
                </a:solidFill>
                <a:latin typeface="Arial Black"/>
                <a:cs typeface="Arial Black"/>
              </a:rPr>
              <a:t>removing</a:t>
            </a:r>
            <a:r>
              <a:rPr dirty="0" sz="1250" spc="-65">
                <a:solidFill>
                  <a:srgbClr val="C1403A"/>
                </a:solidFill>
                <a:latin typeface="Arial Black"/>
                <a:cs typeface="Arial Black"/>
              </a:rPr>
              <a:t> </a:t>
            </a:r>
            <a:r>
              <a:rPr dirty="0" sz="1250" spc="-40">
                <a:solidFill>
                  <a:srgbClr val="C1403A"/>
                </a:solidFill>
                <a:latin typeface="Arial Black"/>
                <a:cs typeface="Arial Black"/>
              </a:rPr>
              <a:t>an</a:t>
            </a:r>
            <a:r>
              <a:rPr dirty="0" sz="1250" spc="-60">
                <a:solidFill>
                  <a:srgbClr val="C1403A"/>
                </a:solidFill>
                <a:latin typeface="Arial Black"/>
                <a:cs typeface="Arial Black"/>
              </a:rPr>
              <a:t> </a:t>
            </a:r>
            <a:r>
              <a:rPr dirty="0" sz="1250" spc="-30">
                <a:solidFill>
                  <a:srgbClr val="C1403A"/>
                </a:solidFill>
                <a:latin typeface="Arial Black"/>
                <a:cs typeface="Arial Black"/>
              </a:rPr>
              <a:t>intentional</a:t>
            </a:r>
            <a:r>
              <a:rPr dirty="0" sz="1250" spc="-60">
                <a:solidFill>
                  <a:srgbClr val="C1403A"/>
                </a:solidFill>
                <a:latin typeface="Arial Black"/>
                <a:cs typeface="Arial Black"/>
              </a:rPr>
              <a:t> </a:t>
            </a:r>
            <a:r>
              <a:rPr dirty="0" sz="1250" spc="-40">
                <a:solidFill>
                  <a:srgbClr val="C1403A"/>
                </a:solidFill>
                <a:latin typeface="Arial Black"/>
                <a:cs typeface="Arial Black"/>
              </a:rPr>
              <a:t>deny</a:t>
            </a:r>
            <a:r>
              <a:rPr dirty="0" sz="1250" spc="-60">
                <a:solidFill>
                  <a:srgbClr val="C1403A"/>
                </a:solidFill>
                <a:latin typeface="Arial Black"/>
                <a:cs typeface="Arial Black"/>
              </a:rPr>
              <a:t> </a:t>
            </a:r>
            <a:r>
              <a:rPr dirty="0" sz="1250" spc="-50">
                <a:solidFill>
                  <a:srgbClr val="C1403A"/>
                </a:solidFill>
                <a:latin typeface="Arial Black"/>
                <a:cs typeface="Arial Black"/>
              </a:rPr>
              <a:t>control</a:t>
            </a:r>
            <a:r>
              <a:rPr dirty="0" sz="1250" spc="-60">
                <a:solidFill>
                  <a:srgbClr val="C1403A"/>
                </a:solidFill>
                <a:latin typeface="Arial Black"/>
                <a:cs typeface="Arial Black"/>
              </a:rPr>
              <a:t> </a:t>
            </a:r>
            <a:r>
              <a:rPr dirty="0" sz="1250" spc="-25">
                <a:solidFill>
                  <a:srgbClr val="C1403A"/>
                </a:solidFill>
                <a:latin typeface="Arial Black"/>
                <a:cs typeface="Arial Black"/>
              </a:rPr>
              <a:t>without</a:t>
            </a:r>
            <a:r>
              <a:rPr dirty="0" sz="1250" spc="-60">
                <a:solidFill>
                  <a:srgbClr val="C1403A"/>
                </a:solidFill>
                <a:latin typeface="Arial Black"/>
                <a:cs typeface="Arial Black"/>
              </a:rPr>
              <a:t> </a:t>
            </a:r>
            <a:r>
              <a:rPr dirty="0" sz="1250" spc="-10">
                <a:solidFill>
                  <a:srgbClr val="C1403A"/>
                </a:solidFill>
                <a:latin typeface="Arial Black"/>
                <a:cs typeface="Arial Black"/>
              </a:rPr>
              <a:t>approval.</a:t>
            </a:r>
            <a:endParaRPr sz="1250">
              <a:latin typeface="Arial Black"/>
              <a:cs typeface="Arial Black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66635" y="6382435"/>
            <a:ext cx="11064240" cy="635"/>
          </a:xfrm>
          <a:custGeom>
            <a:avLst/>
            <a:gdLst/>
            <a:ahLst/>
            <a:cxnLst/>
            <a:rect l="l" t="t" r="r" b="b"/>
            <a:pathLst>
              <a:path w="11064240" h="635">
                <a:moveTo>
                  <a:pt x="0" y="0"/>
                </a:moveTo>
                <a:lnTo>
                  <a:pt x="11064240" y="368"/>
                </a:lnTo>
              </a:path>
            </a:pathLst>
          </a:custGeom>
          <a:ln w="8999">
            <a:solidFill>
              <a:srgbClr val="DBE4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90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 spc="-100"/>
              <a:t>DAY</a:t>
            </a:r>
            <a:r>
              <a:rPr dirty="0" spc="-55"/>
              <a:t> </a:t>
            </a:r>
            <a:r>
              <a:rPr dirty="0"/>
              <a:t>1</a:t>
            </a:r>
            <a:r>
              <a:rPr dirty="0" spc="105"/>
              <a:t> </a:t>
            </a:r>
            <a:r>
              <a:rPr dirty="0"/>
              <a:t>•</a:t>
            </a:r>
            <a:r>
              <a:rPr dirty="0" spc="130"/>
              <a:t> </a:t>
            </a:r>
            <a:r>
              <a:rPr dirty="0" spc="-70"/>
              <a:t>CLOUD</a:t>
            </a:r>
            <a:r>
              <a:rPr dirty="0" spc="-55"/>
              <a:t> </a:t>
            </a:r>
            <a:r>
              <a:rPr dirty="0" spc="-65"/>
              <a:t>FOUNDATIONS</a:t>
            </a:r>
            <a:r>
              <a:rPr dirty="0" spc="-55"/>
              <a:t> </a:t>
            </a:r>
            <a:r>
              <a:rPr dirty="0" spc="-105"/>
              <a:t>&amp;</a:t>
            </a:r>
            <a:r>
              <a:rPr dirty="0" spc="-50"/>
              <a:t> </a:t>
            </a:r>
            <a:r>
              <a:rPr dirty="0" spc="-95"/>
              <a:t>AZURE</a:t>
            </a:r>
            <a:r>
              <a:rPr dirty="0" spc="-55"/>
              <a:t> </a:t>
            </a:r>
            <a:r>
              <a:rPr dirty="0" spc="-50"/>
              <a:t>BASICS</a:t>
            </a:r>
          </a:p>
        </p:txBody>
      </p:sp>
      <p:sp>
        <p:nvSpPr>
          <p:cNvPr id="44" name="object 4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032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160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3935" y="299427"/>
            <a:ext cx="173672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10">
                <a:solidFill>
                  <a:srgbClr val="0077D3"/>
                </a:solidFill>
                <a:latin typeface="Arial Black"/>
                <a:cs typeface="Arial Black"/>
              </a:rPr>
              <a:t>P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90">
                <a:solidFill>
                  <a:srgbClr val="0077D3"/>
                </a:solidFill>
                <a:latin typeface="Arial Black"/>
                <a:cs typeface="Arial Black"/>
              </a:rPr>
              <a:t>U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60">
                <a:solidFill>
                  <a:srgbClr val="0077D3"/>
                </a:solidFill>
                <a:latin typeface="Arial Black"/>
                <a:cs typeface="Arial Black"/>
              </a:rPr>
              <a:t>T</a:t>
            </a:r>
            <a:r>
              <a:rPr dirty="0" sz="1000" spc="-19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60">
                <a:solidFill>
                  <a:srgbClr val="0077D3"/>
                </a:solidFill>
                <a:latin typeface="Arial Black"/>
                <a:cs typeface="Arial Black"/>
              </a:rPr>
              <a:t>T</a:t>
            </a:r>
            <a:r>
              <a:rPr dirty="0" sz="1000" spc="-204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>
                <a:solidFill>
                  <a:srgbClr val="0077D3"/>
                </a:solidFill>
                <a:latin typeface="Arial Black"/>
                <a:cs typeface="Arial Black"/>
              </a:rPr>
              <a:t>I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35">
                <a:solidFill>
                  <a:srgbClr val="0077D3"/>
                </a:solidFill>
                <a:latin typeface="Arial Black"/>
                <a:cs typeface="Arial Black"/>
              </a:rPr>
              <a:t>N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>
                <a:solidFill>
                  <a:srgbClr val="0077D3"/>
                </a:solidFill>
                <a:latin typeface="Arial Black"/>
                <a:cs typeface="Arial Black"/>
              </a:rPr>
              <a:t>G</a:t>
            </a:r>
            <a:r>
              <a:rPr dirty="0" sz="1000" spc="35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>
                <a:solidFill>
                  <a:srgbClr val="0077D3"/>
                </a:solidFill>
                <a:latin typeface="Arial Black"/>
                <a:cs typeface="Arial Black"/>
              </a:rPr>
              <a:t>I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>
                <a:solidFill>
                  <a:srgbClr val="0077D3"/>
                </a:solidFill>
                <a:latin typeface="Arial Black"/>
                <a:cs typeface="Arial Black"/>
              </a:rPr>
              <a:t>T</a:t>
            </a:r>
            <a:r>
              <a:rPr dirty="0" sz="1000" spc="145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35">
                <a:solidFill>
                  <a:srgbClr val="0077D3"/>
                </a:solidFill>
                <a:latin typeface="Arial Black"/>
                <a:cs typeface="Arial Black"/>
              </a:rPr>
              <a:t>TOG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75">
                <a:solidFill>
                  <a:srgbClr val="0077D3"/>
                </a:solidFill>
                <a:latin typeface="Arial Black"/>
                <a:cs typeface="Arial Black"/>
              </a:rPr>
              <a:t>E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60">
                <a:solidFill>
                  <a:srgbClr val="0077D3"/>
                </a:solidFill>
                <a:latin typeface="Arial Black"/>
                <a:cs typeface="Arial Black"/>
              </a:rPr>
              <a:t>T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85">
                <a:solidFill>
                  <a:srgbClr val="0077D3"/>
                </a:solidFill>
                <a:latin typeface="Arial Black"/>
                <a:cs typeface="Arial Black"/>
              </a:rPr>
              <a:t>H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75">
                <a:solidFill>
                  <a:srgbClr val="0077D3"/>
                </a:solidFill>
                <a:latin typeface="Arial Black"/>
                <a:cs typeface="Arial Black"/>
              </a:rPr>
              <a:t>E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50">
                <a:solidFill>
                  <a:srgbClr val="0077D3"/>
                </a:solidFill>
                <a:latin typeface="Arial Black"/>
                <a:cs typeface="Arial Black"/>
              </a:rPr>
              <a:t>R</a:t>
            </a:r>
            <a:endParaRPr sz="1000">
              <a:latin typeface="Arial Black"/>
              <a:cs typeface="Arial Black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54304" y="428977"/>
            <a:ext cx="8943975" cy="814705"/>
          </a:xfrm>
          <a:prstGeom prst="rect"/>
        </p:spPr>
        <p:txBody>
          <a:bodyPr wrap="square" lIns="0" tIns="133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0"/>
              </a:spcBef>
            </a:pPr>
            <a:r>
              <a:rPr dirty="0" sz="2700" spc="-150">
                <a:solidFill>
                  <a:srgbClr val="0F2339"/>
                </a:solidFill>
              </a:rPr>
              <a:t>Day</a:t>
            </a:r>
            <a:r>
              <a:rPr dirty="0" sz="2700" spc="-185">
                <a:solidFill>
                  <a:srgbClr val="0F2339"/>
                </a:solidFill>
              </a:rPr>
              <a:t> </a:t>
            </a:r>
            <a:r>
              <a:rPr dirty="0" sz="2700" spc="-270">
                <a:solidFill>
                  <a:srgbClr val="0F2339"/>
                </a:solidFill>
              </a:rPr>
              <a:t>1</a:t>
            </a:r>
            <a:r>
              <a:rPr dirty="0" sz="2700" spc="-180">
                <a:solidFill>
                  <a:srgbClr val="0F2339"/>
                </a:solidFill>
              </a:rPr>
              <a:t> scenario </a:t>
            </a:r>
            <a:r>
              <a:rPr dirty="0" sz="2700" spc="-135">
                <a:solidFill>
                  <a:srgbClr val="0F2339"/>
                </a:solidFill>
              </a:rPr>
              <a:t>map:</a:t>
            </a:r>
            <a:r>
              <a:rPr dirty="0" sz="2700" spc="-180">
                <a:solidFill>
                  <a:srgbClr val="0F2339"/>
                </a:solidFill>
              </a:rPr>
              <a:t> </a:t>
            </a:r>
            <a:r>
              <a:rPr dirty="0" sz="2700" spc="-130">
                <a:solidFill>
                  <a:srgbClr val="0F2339"/>
                </a:solidFill>
              </a:rPr>
              <a:t>what</a:t>
            </a:r>
            <a:r>
              <a:rPr dirty="0" sz="2700" spc="-180">
                <a:solidFill>
                  <a:srgbClr val="0F2339"/>
                </a:solidFill>
              </a:rPr>
              <a:t> </a:t>
            </a:r>
            <a:r>
              <a:rPr dirty="0" sz="2700" spc="-125">
                <a:solidFill>
                  <a:srgbClr val="0F2339"/>
                </a:solidFill>
              </a:rPr>
              <a:t>learners</a:t>
            </a:r>
            <a:r>
              <a:rPr dirty="0" sz="2700" spc="-180">
                <a:solidFill>
                  <a:srgbClr val="0F2339"/>
                </a:solidFill>
              </a:rPr>
              <a:t> </a:t>
            </a:r>
            <a:r>
              <a:rPr dirty="0" sz="2700" spc="-130">
                <a:solidFill>
                  <a:srgbClr val="0F2339"/>
                </a:solidFill>
              </a:rPr>
              <a:t>will</a:t>
            </a:r>
            <a:r>
              <a:rPr dirty="0" sz="2700" spc="-180">
                <a:solidFill>
                  <a:srgbClr val="0F2339"/>
                </a:solidFill>
              </a:rPr>
              <a:t> </a:t>
            </a:r>
            <a:r>
              <a:rPr dirty="0" sz="2700" spc="-80">
                <a:solidFill>
                  <a:srgbClr val="0F2339"/>
                </a:solidFill>
              </a:rPr>
              <a:t>demonstrate</a:t>
            </a:r>
            <a:endParaRPr sz="2700"/>
          </a:p>
          <a:p>
            <a:pPr marL="30480">
              <a:lnSpc>
                <a:spcPct val="100000"/>
              </a:lnSpc>
              <a:spcBef>
                <a:spcPts val="459"/>
              </a:spcBef>
            </a:pP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The</a:t>
            </a:r>
            <a:r>
              <a:rPr dirty="0" sz="13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theory</a:t>
            </a:r>
            <a:r>
              <a:rPr dirty="0" sz="13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is</a:t>
            </a:r>
            <a:r>
              <a:rPr dirty="0" sz="13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successful</a:t>
            </a:r>
            <a:r>
              <a:rPr dirty="0" sz="130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when</a:t>
            </a:r>
            <a:r>
              <a:rPr dirty="0" sz="13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learners</a:t>
            </a:r>
            <a:r>
              <a:rPr dirty="0" sz="13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can</a:t>
            </a:r>
            <a:r>
              <a:rPr dirty="0" sz="130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connect</a:t>
            </a:r>
            <a:r>
              <a:rPr dirty="0" sz="13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a</a:t>
            </a:r>
            <a:r>
              <a:rPr dirty="0" sz="13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concept</a:t>
            </a:r>
            <a:r>
              <a:rPr dirty="0" sz="130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to</a:t>
            </a:r>
            <a:r>
              <a:rPr dirty="0" sz="13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observable</a:t>
            </a:r>
            <a:r>
              <a:rPr dirty="0" sz="13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evidence.</a:t>
            </a:r>
            <a:endParaRPr sz="1300">
              <a:latin typeface="Noto Sans"/>
              <a:cs typeface="Noto San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66635" y="1417319"/>
            <a:ext cx="11064240" cy="635"/>
          </a:xfrm>
          <a:custGeom>
            <a:avLst/>
            <a:gdLst/>
            <a:ahLst/>
            <a:cxnLst/>
            <a:rect l="l" t="t" r="r" b="b"/>
            <a:pathLst>
              <a:path w="11064240" h="634">
                <a:moveTo>
                  <a:pt x="0" y="0"/>
                </a:moveTo>
                <a:lnTo>
                  <a:pt x="11064240" y="355"/>
                </a:lnTo>
              </a:path>
            </a:pathLst>
          </a:custGeom>
          <a:ln w="10079">
            <a:solidFill>
              <a:srgbClr val="DBE4ED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6" name="object 6"/>
          <p:cNvGrpSpPr/>
          <p:nvPr/>
        </p:nvGrpSpPr>
        <p:grpSpPr>
          <a:xfrm>
            <a:off x="780836" y="1658876"/>
            <a:ext cx="5204460" cy="1089660"/>
            <a:chOff x="780836" y="1658876"/>
            <a:chExt cx="5204460" cy="1089660"/>
          </a:xfrm>
        </p:grpSpPr>
        <p:sp>
          <p:nvSpPr>
            <p:cNvPr id="7" name="object 7"/>
            <p:cNvSpPr/>
            <p:nvPr/>
          </p:nvSpPr>
          <p:spPr>
            <a:xfrm>
              <a:off x="785875" y="1663915"/>
              <a:ext cx="5194300" cy="1079500"/>
            </a:xfrm>
            <a:custGeom>
              <a:avLst/>
              <a:gdLst/>
              <a:ahLst/>
              <a:cxnLst/>
              <a:rect l="l" t="t" r="r" b="b"/>
              <a:pathLst>
                <a:path w="5194300" h="1079500">
                  <a:moveTo>
                    <a:pt x="110159" y="0"/>
                  </a:moveTo>
                  <a:lnTo>
                    <a:pt x="68095" y="8358"/>
                  </a:lnTo>
                  <a:lnTo>
                    <a:pt x="32535" y="32224"/>
                  </a:lnTo>
                  <a:lnTo>
                    <a:pt x="8721" y="67934"/>
                  </a:lnTo>
                  <a:lnTo>
                    <a:pt x="368" y="109804"/>
                  </a:lnTo>
                  <a:lnTo>
                    <a:pt x="0" y="969479"/>
                  </a:lnTo>
                  <a:lnTo>
                    <a:pt x="929" y="983754"/>
                  </a:lnTo>
                  <a:lnTo>
                    <a:pt x="939" y="983910"/>
                  </a:lnTo>
                  <a:lnTo>
                    <a:pt x="3701" y="997789"/>
                  </a:lnTo>
                  <a:lnTo>
                    <a:pt x="3736" y="997967"/>
                  </a:lnTo>
                  <a:lnTo>
                    <a:pt x="8290" y="1011351"/>
                  </a:lnTo>
                  <a:lnTo>
                    <a:pt x="32224" y="1047105"/>
                  </a:lnTo>
                  <a:lnTo>
                    <a:pt x="67934" y="1070931"/>
                  </a:lnTo>
                  <a:lnTo>
                    <a:pt x="109804" y="1079284"/>
                  </a:lnTo>
                  <a:lnTo>
                    <a:pt x="5084279" y="1079284"/>
                  </a:lnTo>
                  <a:lnTo>
                    <a:pt x="5126351" y="1070931"/>
                  </a:lnTo>
                  <a:lnTo>
                    <a:pt x="5161855" y="1047105"/>
                  </a:lnTo>
                  <a:lnTo>
                    <a:pt x="5185631" y="1011551"/>
                  </a:lnTo>
                  <a:lnTo>
                    <a:pt x="5190288" y="997967"/>
                  </a:lnTo>
                  <a:lnTo>
                    <a:pt x="5190348" y="997789"/>
                  </a:lnTo>
                  <a:lnTo>
                    <a:pt x="5193113" y="983910"/>
                  </a:lnTo>
                  <a:lnTo>
                    <a:pt x="5193144" y="983754"/>
                  </a:lnTo>
                  <a:lnTo>
                    <a:pt x="5194084" y="969479"/>
                  </a:lnTo>
                  <a:lnTo>
                    <a:pt x="5194060" y="109804"/>
                  </a:lnTo>
                  <a:lnTo>
                    <a:pt x="5185731" y="68095"/>
                  </a:lnTo>
                  <a:lnTo>
                    <a:pt x="5161861" y="32535"/>
                  </a:lnTo>
                  <a:lnTo>
                    <a:pt x="5126151" y="8721"/>
                  </a:lnTo>
                  <a:lnTo>
                    <a:pt x="5084279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785875" y="1663915"/>
              <a:ext cx="5194300" cy="1079500"/>
            </a:xfrm>
            <a:custGeom>
              <a:avLst/>
              <a:gdLst/>
              <a:ahLst/>
              <a:cxnLst/>
              <a:rect l="l" t="t" r="r" b="b"/>
              <a:pathLst>
                <a:path w="5194300" h="1079500">
                  <a:moveTo>
                    <a:pt x="368" y="109804"/>
                  </a:moveTo>
                  <a:lnTo>
                    <a:pt x="1307" y="95534"/>
                  </a:lnTo>
                  <a:lnTo>
                    <a:pt x="4103" y="81499"/>
                  </a:lnTo>
                  <a:lnTo>
                    <a:pt x="23138" y="43011"/>
                  </a:lnTo>
                  <a:lnTo>
                    <a:pt x="55079" y="14770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5084279" y="368"/>
                  </a:lnTo>
                  <a:lnTo>
                    <a:pt x="5126151" y="8721"/>
                  </a:lnTo>
                  <a:lnTo>
                    <a:pt x="5161861" y="32535"/>
                  </a:lnTo>
                  <a:lnTo>
                    <a:pt x="5185731" y="68095"/>
                  </a:lnTo>
                  <a:lnTo>
                    <a:pt x="5194084" y="110159"/>
                  </a:lnTo>
                  <a:lnTo>
                    <a:pt x="5194084" y="969479"/>
                  </a:lnTo>
                  <a:lnTo>
                    <a:pt x="5193144" y="983754"/>
                  </a:lnTo>
                  <a:lnTo>
                    <a:pt x="5190348" y="997789"/>
                  </a:lnTo>
                  <a:lnTo>
                    <a:pt x="5171306" y="1036273"/>
                  </a:lnTo>
                  <a:lnTo>
                    <a:pt x="5139359" y="1064526"/>
                  </a:lnTo>
                  <a:lnTo>
                    <a:pt x="5098710" y="1078344"/>
                  </a:lnTo>
                  <a:lnTo>
                    <a:pt x="5084279" y="1079284"/>
                  </a:lnTo>
                  <a:lnTo>
                    <a:pt x="109804" y="1079284"/>
                  </a:lnTo>
                  <a:lnTo>
                    <a:pt x="67934" y="1070931"/>
                  </a:lnTo>
                  <a:lnTo>
                    <a:pt x="32224" y="1047105"/>
                  </a:lnTo>
                  <a:lnTo>
                    <a:pt x="8358" y="1011551"/>
                  </a:lnTo>
                  <a:lnTo>
                    <a:pt x="0" y="969479"/>
                  </a:lnTo>
                  <a:lnTo>
                    <a:pt x="368" y="109804"/>
                  </a:lnTo>
                  <a:close/>
                </a:path>
              </a:pathLst>
            </a:custGeom>
            <a:ln w="10079">
              <a:solidFill>
                <a:srgbClr val="DBE4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785875" y="1664284"/>
              <a:ext cx="64135" cy="1078865"/>
            </a:xfrm>
            <a:custGeom>
              <a:avLst/>
              <a:gdLst/>
              <a:ahLst/>
              <a:cxnLst/>
              <a:rect l="l" t="t" r="r" b="b"/>
              <a:pathLst>
                <a:path w="64134" h="1078864">
                  <a:moveTo>
                    <a:pt x="63728" y="0"/>
                  </a:moveTo>
                  <a:lnTo>
                    <a:pt x="0" y="0"/>
                  </a:lnTo>
                  <a:lnTo>
                    <a:pt x="0" y="1078560"/>
                  </a:lnTo>
                  <a:lnTo>
                    <a:pt x="32042" y="1078560"/>
                  </a:lnTo>
                  <a:lnTo>
                    <a:pt x="63728" y="1078560"/>
                  </a:lnTo>
                  <a:lnTo>
                    <a:pt x="63728" y="0"/>
                  </a:lnTo>
                  <a:close/>
                </a:path>
              </a:pathLst>
            </a:custGeom>
            <a:solidFill>
              <a:srgbClr val="0077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785875" y="1664284"/>
              <a:ext cx="64135" cy="1078865"/>
            </a:xfrm>
            <a:custGeom>
              <a:avLst/>
              <a:gdLst/>
              <a:ahLst/>
              <a:cxnLst/>
              <a:rect l="l" t="t" r="r" b="b"/>
              <a:pathLst>
                <a:path w="64134" h="1078864">
                  <a:moveTo>
                    <a:pt x="32042" y="1078560"/>
                  </a:moveTo>
                  <a:lnTo>
                    <a:pt x="0" y="1078560"/>
                  </a:lnTo>
                  <a:lnTo>
                    <a:pt x="0" y="0"/>
                  </a:lnTo>
                  <a:lnTo>
                    <a:pt x="63728" y="0"/>
                  </a:lnTo>
                  <a:lnTo>
                    <a:pt x="63728" y="1078560"/>
                  </a:lnTo>
                  <a:lnTo>
                    <a:pt x="32042" y="1078560"/>
                  </a:lnTo>
                  <a:close/>
                </a:path>
              </a:pathLst>
            </a:custGeom>
            <a:ln w="10079">
              <a:solidFill>
                <a:srgbClr val="0077D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992784" y="1686588"/>
            <a:ext cx="4561205" cy="798195"/>
          </a:xfrm>
          <a:prstGeom prst="rect">
            <a:avLst/>
          </a:prstGeom>
        </p:spPr>
        <p:txBody>
          <a:bodyPr wrap="square" lIns="0" tIns="1270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dirty="0" sz="1400" spc="-114">
                <a:solidFill>
                  <a:srgbClr val="0F2339"/>
                </a:solidFill>
                <a:latin typeface="Arial Black"/>
                <a:cs typeface="Arial Black"/>
              </a:rPr>
              <a:t>IaaS</a:t>
            </a:r>
            <a:r>
              <a:rPr dirty="0" sz="1400" spc="-9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400" spc="-114">
                <a:solidFill>
                  <a:srgbClr val="0F2339"/>
                </a:solidFill>
                <a:latin typeface="Arial Black"/>
                <a:cs typeface="Arial Black"/>
              </a:rPr>
              <a:t>vs</a:t>
            </a:r>
            <a:r>
              <a:rPr dirty="0" sz="1400" spc="-9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400" spc="-20">
                <a:solidFill>
                  <a:srgbClr val="0F2339"/>
                </a:solidFill>
                <a:latin typeface="Arial Black"/>
                <a:cs typeface="Arial Black"/>
              </a:rPr>
              <a:t>PaaS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  <a:spcBef>
                <a:spcPts val="740"/>
              </a:spcBef>
            </a:pPr>
            <a:r>
              <a:rPr dirty="0" sz="1150">
                <a:solidFill>
                  <a:srgbClr val="556478"/>
                </a:solidFill>
                <a:latin typeface="Noto Sans"/>
                <a:cs typeface="Noto Sans"/>
              </a:rPr>
              <a:t>Open</a:t>
            </a:r>
            <a:r>
              <a:rPr dirty="0" sz="115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50">
                <a:solidFill>
                  <a:srgbClr val="556478"/>
                </a:solidFill>
                <a:latin typeface="Noto Sans"/>
                <a:cs typeface="Noto Sans"/>
              </a:rPr>
              <a:t>Azure</a:t>
            </a:r>
            <a:r>
              <a:rPr dirty="0" sz="115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50">
                <a:solidFill>
                  <a:srgbClr val="556478"/>
                </a:solidFill>
                <a:latin typeface="Noto Sans"/>
                <a:cs typeface="Noto Sans"/>
              </a:rPr>
              <a:t>SQL</a:t>
            </a:r>
            <a:r>
              <a:rPr dirty="0" sz="1150" spc="-4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50">
                <a:solidFill>
                  <a:srgbClr val="556478"/>
                </a:solidFill>
                <a:latin typeface="Noto Sans"/>
                <a:cs typeface="Noto Sans"/>
              </a:rPr>
              <a:t>Database;</a:t>
            </a:r>
            <a:r>
              <a:rPr dirty="0" sz="115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50">
                <a:solidFill>
                  <a:srgbClr val="556478"/>
                </a:solidFill>
                <a:latin typeface="Noto Sans"/>
                <a:cs typeface="Noto Sans"/>
              </a:rPr>
              <a:t>inspect</a:t>
            </a:r>
            <a:r>
              <a:rPr dirty="0" sz="1150" spc="-4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50">
                <a:solidFill>
                  <a:srgbClr val="556478"/>
                </a:solidFill>
                <a:latin typeface="Noto Sans"/>
                <a:cs typeface="Noto Sans"/>
              </a:rPr>
              <a:t>Overview</a:t>
            </a:r>
            <a:r>
              <a:rPr dirty="0" sz="115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50">
                <a:solidFill>
                  <a:srgbClr val="556478"/>
                </a:solidFill>
                <a:latin typeface="Noto Sans"/>
                <a:cs typeface="Noto Sans"/>
              </a:rPr>
              <a:t>/</a:t>
            </a:r>
            <a:r>
              <a:rPr dirty="0" sz="115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50">
                <a:solidFill>
                  <a:srgbClr val="556478"/>
                </a:solidFill>
                <a:latin typeface="Noto Sans"/>
                <a:cs typeface="Noto Sans"/>
              </a:rPr>
              <a:t>connection</a:t>
            </a:r>
            <a:r>
              <a:rPr dirty="0" sz="115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50" spc="-10">
                <a:solidFill>
                  <a:srgbClr val="556478"/>
                </a:solidFill>
                <a:latin typeface="Noto Sans"/>
                <a:cs typeface="Noto Sans"/>
              </a:rPr>
              <a:t>options; </a:t>
            </a:r>
            <a:r>
              <a:rPr dirty="0" sz="1150">
                <a:solidFill>
                  <a:srgbClr val="556478"/>
                </a:solidFill>
                <a:latin typeface="Noto Sans"/>
                <a:cs typeface="Noto Sans"/>
              </a:rPr>
              <a:t>explain</a:t>
            </a:r>
            <a:r>
              <a:rPr dirty="0" sz="1150" spc="-1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50">
                <a:solidFill>
                  <a:srgbClr val="556478"/>
                </a:solidFill>
                <a:latin typeface="Noto Sans"/>
                <a:cs typeface="Noto Sans"/>
              </a:rPr>
              <a:t>why</a:t>
            </a:r>
            <a:r>
              <a:rPr dirty="0" sz="1150" spc="-1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50">
                <a:solidFill>
                  <a:srgbClr val="556478"/>
                </a:solidFill>
                <a:latin typeface="Noto Sans"/>
                <a:cs typeface="Noto Sans"/>
              </a:rPr>
              <a:t>OS</a:t>
            </a:r>
            <a:r>
              <a:rPr dirty="0" sz="1150" spc="-1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50">
                <a:solidFill>
                  <a:srgbClr val="556478"/>
                </a:solidFill>
                <a:latin typeface="Noto Sans"/>
                <a:cs typeface="Noto Sans"/>
              </a:rPr>
              <a:t>patching</a:t>
            </a:r>
            <a:r>
              <a:rPr dirty="0" sz="1150" spc="-1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50">
                <a:solidFill>
                  <a:srgbClr val="556478"/>
                </a:solidFill>
                <a:latin typeface="Noto Sans"/>
                <a:cs typeface="Noto Sans"/>
              </a:rPr>
              <a:t>is</a:t>
            </a:r>
            <a:r>
              <a:rPr dirty="0" sz="1150" spc="-1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50" spc="-20">
                <a:solidFill>
                  <a:srgbClr val="556478"/>
                </a:solidFill>
                <a:latin typeface="Noto Sans"/>
                <a:cs typeface="Noto Sans"/>
              </a:rPr>
              <a:t>provider-</a:t>
            </a:r>
            <a:r>
              <a:rPr dirty="0" sz="1150" spc="-10">
                <a:solidFill>
                  <a:srgbClr val="556478"/>
                </a:solidFill>
                <a:latin typeface="Noto Sans"/>
                <a:cs typeface="Noto Sans"/>
              </a:rPr>
              <a:t>managed.</a:t>
            </a:r>
            <a:endParaRPr sz="1150">
              <a:latin typeface="Noto Sans"/>
              <a:cs typeface="Noto San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358676" y="1658876"/>
            <a:ext cx="5204460" cy="1089660"/>
            <a:chOff x="6358676" y="1658876"/>
            <a:chExt cx="5204460" cy="1089660"/>
          </a:xfrm>
        </p:grpSpPr>
        <p:sp>
          <p:nvSpPr>
            <p:cNvPr id="13" name="object 13"/>
            <p:cNvSpPr/>
            <p:nvPr/>
          </p:nvSpPr>
          <p:spPr>
            <a:xfrm>
              <a:off x="6363716" y="1663915"/>
              <a:ext cx="5194300" cy="1079500"/>
            </a:xfrm>
            <a:custGeom>
              <a:avLst/>
              <a:gdLst/>
              <a:ahLst/>
              <a:cxnLst/>
              <a:rect l="l" t="t" r="r" b="b"/>
              <a:pathLst>
                <a:path w="5194300" h="1079500">
                  <a:moveTo>
                    <a:pt x="110159" y="0"/>
                  </a:moveTo>
                  <a:lnTo>
                    <a:pt x="68095" y="8358"/>
                  </a:lnTo>
                  <a:lnTo>
                    <a:pt x="32535" y="32224"/>
                  </a:lnTo>
                  <a:lnTo>
                    <a:pt x="8721" y="67934"/>
                  </a:lnTo>
                  <a:lnTo>
                    <a:pt x="368" y="109804"/>
                  </a:lnTo>
                  <a:lnTo>
                    <a:pt x="0" y="969479"/>
                  </a:lnTo>
                  <a:lnTo>
                    <a:pt x="929" y="983754"/>
                  </a:lnTo>
                  <a:lnTo>
                    <a:pt x="939" y="983910"/>
                  </a:lnTo>
                  <a:lnTo>
                    <a:pt x="3701" y="997789"/>
                  </a:lnTo>
                  <a:lnTo>
                    <a:pt x="3736" y="997967"/>
                  </a:lnTo>
                  <a:lnTo>
                    <a:pt x="8290" y="1011351"/>
                  </a:lnTo>
                  <a:lnTo>
                    <a:pt x="8358" y="1011551"/>
                  </a:lnTo>
                  <a:lnTo>
                    <a:pt x="14770" y="1024559"/>
                  </a:lnTo>
                  <a:lnTo>
                    <a:pt x="22686" y="1036273"/>
                  </a:lnTo>
                  <a:lnTo>
                    <a:pt x="22788" y="1036423"/>
                  </a:lnTo>
                  <a:lnTo>
                    <a:pt x="55079" y="1064526"/>
                  </a:lnTo>
                  <a:lnTo>
                    <a:pt x="95534" y="1078344"/>
                  </a:lnTo>
                  <a:lnTo>
                    <a:pt x="109804" y="1079284"/>
                  </a:lnTo>
                  <a:lnTo>
                    <a:pt x="5084279" y="1079284"/>
                  </a:lnTo>
                  <a:lnTo>
                    <a:pt x="5126351" y="1070931"/>
                  </a:lnTo>
                  <a:lnTo>
                    <a:pt x="5161855" y="1047105"/>
                  </a:lnTo>
                  <a:lnTo>
                    <a:pt x="5185631" y="1011551"/>
                  </a:lnTo>
                  <a:lnTo>
                    <a:pt x="5185731" y="1011351"/>
                  </a:lnTo>
                  <a:lnTo>
                    <a:pt x="5190288" y="997967"/>
                  </a:lnTo>
                  <a:lnTo>
                    <a:pt x="5190348" y="997789"/>
                  </a:lnTo>
                  <a:lnTo>
                    <a:pt x="5193113" y="983910"/>
                  </a:lnTo>
                  <a:lnTo>
                    <a:pt x="5193144" y="983754"/>
                  </a:lnTo>
                  <a:lnTo>
                    <a:pt x="5194084" y="969479"/>
                  </a:lnTo>
                  <a:lnTo>
                    <a:pt x="5194060" y="109804"/>
                  </a:lnTo>
                  <a:lnTo>
                    <a:pt x="5185731" y="68095"/>
                  </a:lnTo>
                  <a:lnTo>
                    <a:pt x="5161861" y="32535"/>
                  </a:lnTo>
                  <a:lnTo>
                    <a:pt x="5126151" y="8721"/>
                  </a:lnTo>
                  <a:lnTo>
                    <a:pt x="5084279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6363716" y="1663915"/>
              <a:ext cx="5194300" cy="1079500"/>
            </a:xfrm>
            <a:custGeom>
              <a:avLst/>
              <a:gdLst/>
              <a:ahLst/>
              <a:cxnLst/>
              <a:rect l="l" t="t" r="r" b="b"/>
              <a:pathLst>
                <a:path w="5194300" h="1079500">
                  <a:moveTo>
                    <a:pt x="368" y="109804"/>
                  </a:moveTo>
                  <a:lnTo>
                    <a:pt x="1307" y="95534"/>
                  </a:lnTo>
                  <a:lnTo>
                    <a:pt x="4103" y="81499"/>
                  </a:lnTo>
                  <a:lnTo>
                    <a:pt x="23138" y="43011"/>
                  </a:lnTo>
                  <a:lnTo>
                    <a:pt x="55079" y="14770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5084279" y="368"/>
                  </a:lnTo>
                  <a:lnTo>
                    <a:pt x="5126151" y="8721"/>
                  </a:lnTo>
                  <a:lnTo>
                    <a:pt x="5161861" y="32535"/>
                  </a:lnTo>
                  <a:lnTo>
                    <a:pt x="5185731" y="68095"/>
                  </a:lnTo>
                  <a:lnTo>
                    <a:pt x="5194084" y="110159"/>
                  </a:lnTo>
                  <a:lnTo>
                    <a:pt x="5194084" y="969479"/>
                  </a:lnTo>
                  <a:lnTo>
                    <a:pt x="5193144" y="983754"/>
                  </a:lnTo>
                  <a:lnTo>
                    <a:pt x="5190348" y="997789"/>
                  </a:lnTo>
                  <a:lnTo>
                    <a:pt x="5171306" y="1036273"/>
                  </a:lnTo>
                  <a:lnTo>
                    <a:pt x="5139359" y="1064526"/>
                  </a:lnTo>
                  <a:lnTo>
                    <a:pt x="5098710" y="1078344"/>
                  </a:lnTo>
                  <a:lnTo>
                    <a:pt x="5084279" y="1079284"/>
                  </a:lnTo>
                  <a:lnTo>
                    <a:pt x="109804" y="1079284"/>
                  </a:lnTo>
                  <a:lnTo>
                    <a:pt x="67934" y="1070931"/>
                  </a:lnTo>
                  <a:lnTo>
                    <a:pt x="32224" y="1047105"/>
                  </a:lnTo>
                  <a:lnTo>
                    <a:pt x="8358" y="1011551"/>
                  </a:lnTo>
                  <a:lnTo>
                    <a:pt x="0" y="969479"/>
                  </a:lnTo>
                  <a:lnTo>
                    <a:pt x="368" y="109804"/>
                  </a:lnTo>
                  <a:close/>
                </a:path>
              </a:pathLst>
            </a:custGeom>
            <a:ln w="10079">
              <a:solidFill>
                <a:srgbClr val="DBE4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6363716" y="1664284"/>
              <a:ext cx="64135" cy="1078865"/>
            </a:xfrm>
            <a:custGeom>
              <a:avLst/>
              <a:gdLst/>
              <a:ahLst/>
              <a:cxnLst/>
              <a:rect l="l" t="t" r="r" b="b"/>
              <a:pathLst>
                <a:path w="64135" h="1078864">
                  <a:moveTo>
                    <a:pt x="63728" y="0"/>
                  </a:moveTo>
                  <a:lnTo>
                    <a:pt x="0" y="0"/>
                  </a:lnTo>
                  <a:lnTo>
                    <a:pt x="0" y="1078560"/>
                  </a:lnTo>
                  <a:lnTo>
                    <a:pt x="32042" y="1078560"/>
                  </a:lnTo>
                  <a:lnTo>
                    <a:pt x="63728" y="1078560"/>
                  </a:lnTo>
                  <a:lnTo>
                    <a:pt x="63728" y="0"/>
                  </a:lnTo>
                  <a:close/>
                </a:path>
              </a:pathLst>
            </a:custGeom>
            <a:solidFill>
              <a:srgbClr val="0C938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6363716" y="1664284"/>
              <a:ext cx="64135" cy="1078865"/>
            </a:xfrm>
            <a:custGeom>
              <a:avLst/>
              <a:gdLst/>
              <a:ahLst/>
              <a:cxnLst/>
              <a:rect l="l" t="t" r="r" b="b"/>
              <a:pathLst>
                <a:path w="64135" h="1078864">
                  <a:moveTo>
                    <a:pt x="32042" y="1078560"/>
                  </a:moveTo>
                  <a:lnTo>
                    <a:pt x="0" y="1078560"/>
                  </a:lnTo>
                  <a:lnTo>
                    <a:pt x="0" y="0"/>
                  </a:lnTo>
                  <a:lnTo>
                    <a:pt x="63728" y="0"/>
                  </a:lnTo>
                  <a:lnTo>
                    <a:pt x="63728" y="1078560"/>
                  </a:lnTo>
                  <a:lnTo>
                    <a:pt x="32042" y="1078560"/>
                  </a:lnTo>
                  <a:close/>
                </a:path>
              </a:pathLst>
            </a:custGeom>
            <a:ln w="10079">
              <a:solidFill>
                <a:srgbClr val="0C938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6570624" y="1686588"/>
            <a:ext cx="4581525" cy="622935"/>
          </a:xfrm>
          <a:prstGeom prst="rect">
            <a:avLst/>
          </a:prstGeom>
        </p:spPr>
        <p:txBody>
          <a:bodyPr wrap="square" lIns="0" tIns="1270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dirty="0" sz="1400" spc="-100">
                <a:solidFill>
                  <a:srgbClr val="0F2339"/>
                </a:solidFill>
                <a:latin typeface="Arial Black"/>
                <a:cs typeface="Arial Black"/>
              </a:rPr>
              <a:t>Shared</a:t>
            </a:r>
            <a:r>
              <a:rPr dirty="0" sz="1400" spc="-7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400" spc="-10">
                <a:solidFill>
                  <a:srgbClr val="0F2339"/>
                </a:solidFill>
                <a:latin typeface="Arial Black"/>
                <a:cs typeface="Arial Black"/>
              </a:rPr>
              <a:t>responsibility</a:t>
            </a:r>
            <a:endParaRPr sz="14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dirty="0" sz="1150">
                <a:solidFill>
                  <a:srgbClr val="556478"/>
                </a:solidFill>
                <a:latin typeface="Noto Sans"/>
                <a:cs typeface="Noto Sans"/>
              </a:rPr>
              <a:t>Correct</a:t>
            </a:r>
            <a:r>
              <a:rPr dirty="0" sz="115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50">
                <a:solidFill>
                  <a:srgbClr val="556478"/>
                </a:solidFill>
                <a:latin typeface="Noto Sans"/>
                <a:cs typeface="Noto Sans"/>
              </a:rPr>
              <a:t>a</a:t>
            </a:r>
            <a:r>
              <a:rPr dirty="0" sz="115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50">
                <a:solidFill>
                  <a:srgbClr val="556478"/>
                </a:solidFill>
                <a:latin typeface="Noto Sans"/>
                <a:cs typeface="Noto Sans"/>
              </a:rPr>
              <a:t>design</a:t>
            </a:r>
            <a:r>
              <a:rPr dirty="0" sz="115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50">
                <a:solidFill>
                  <a:srgbClr val="556478"/>
                </a:solidFill>
                <a:latin typeface="Noto Sans"/>
                <a:cs typeface="Noto Sans"/>
              </a:rPr>
              <a:t>statement</a:t>
            </a:r>
            <a:r>
              <a:rPr dirty="0" sz="115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50">
                <a:solidFill>
                  <a:srgbClr val="556478"/>
                </a:solidFill>
                <a:latin typeface="Noto Sans"/>
                <a:cs typeface="Noto Sans"/>
              </a:rPr>
              <a:t>and</a:t>
            </a:r>
            <a:r>
              <a:rPr dirty="0" sz="115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50">
                <a:solidFill>
                  <a:srgbClr val="556478"/>
                </a:solidFill>
                <a:latin typeface="Noto Sans"/>
                <a:cs typeface="Noto Sans"/>
              </a:rPr>
              <a:t>produce</a:t>
            </a:r>
            <a:r>
              <a:rPr dirty="0" sz="115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50">
                <a:solidFill>
                  <a:srgbClr val="556478"/>
                </a:solidFill>
                <a:latin typeface="Noto Sans"/>
                <a:cs typeface="Noto Sans"/>
              </a:rPr>
              <a:t>an</a:t>
            </a:r>
            <a:r>
              <a:rPr dirty="0" sz="115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50" spc="-10">
                <a:solidFill>
                  <a:srgbClr val="556478"/>
                </a:solidFill>
                <a:latin typeface="Noto Sans"/>
                <a:cs typeface="Noto Sans"/>
              </a:rPr>
              <a:t>evidence-</a:t>
            </a:r>
            <a:r>
              <a:rPr dirty="0" sz="1150">
                <a:solidFill>
                  <a:srgbClr val="556478"/>
                </a:solidFill>
                <a:latin typeface="Noto Sans"/>
                <a:cs typeface="Noto Sans"/>
              </a:rPr>
              <a:t>backed</a:t>
            </a:r>
            <a:r>
              <a:rPr dirty="0" sz="115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50" spc="-10">
                <a:solidFill>
                  <a:srgbClr val="556478"/>
                </a:solidFill>
                <a:latin typeface="Noto Sans"/>
                <a:cs typeface="Noto Sans"/>
              </a:rPr>
              <a:t>note.</a:t>
            </a:r>
            <a:endParaRPr sz="1150">
              <a:latin typeface="Noto Sans"/>
              <a:cs typeface="Noto Sans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780836" y="3012124"/>
            <a:ext cx="5204460" cy="1089660"/>
            <a:chOff x="780836" y="3012124"/>
            <a:chExt cx="5204460" cy="1089660"/>
          </a:xfrm>
        </p:grpSpPr>
        <p:sp>
          <p:nvSpPr>
            <p:cNvPr id="19" name="object 19"/>
            <p:cNvSpPr/>
            <p:nvPr/>
          </p:nvSpPr>
          <p:spPr>
            <a:xfrm>
              <a:off x="785875" y="3017164"/>
              <a:ext cx="5194300" cy="1079500"/>
            </a:xfrm>
            <a:custGeom>
              <a:avLst/>
              <a:gdLst/>
              <a:ahLst/>
              <a:cxnLst/>
              <a:rect l="l" t="t" r="r" b="b"/>
              <a:pathLst>
                <a:path w="5194300" h="1079500">
                  <a:moveTo>
                    <a:pt x="110159" y="0"/>
                  </a:moveTo>
                  <a:lnTo>
                    <a:pt x="68095" y="8352"/>
                  </a:lnTo>
                  <a:lnTo>
                    <a:pt x="32535" y="32213"/>
                  </a:lnTo>
                  <a:lnTo>
                    <a:pt x="8721" y="67932"/>
                  </a:lnTo>
                  <a:lnTo>
                    <a:pt x="368" y="109791"/>
                  </a:lnTo>
                  <a:lnTo>
                    <a:pt x="0" y="969479"/>
                  </a:lnTo>
                  <a:lnTo>
                    <a:pt x="929" y="983747"/>
                  </a:lnTo>
                  <a:lnTo>
                    <a:pt x="939" y="983902"/>
                  </a:lnTo>
                  <a:lnTo>
                    <a:pt x="3701" y="997778"/>
                  </a:lnTo>
                  <a:lnTo>
                    <a:pt x="3736" y="997958"/>
                  </a:lnTo>
                  <a:lnTo>
                    <a:pt x="8288" y="1011338"/>
                  </a:lnTo>
                  <a:lnTo>
                    <a:pt x="8358" y="1011544"/>
                  </a:lnTo>
                  <a:lnTo>
                    <a:pt x="14770" y="1024559"/>
                  </a:lnTo>
                  <a:lnTo>
                    <a:pt x="22683" y="1036267"/>
                  </a:lnTo>
                  <a:lnTo>
                    <a:pt x="22788" y="1036422"/>
                  </a:lnTo>
                  <a:lnTo>
                    <a:pt x="55079" y="1064514"/>
                  </a:lnTo>
                  <a:lnTo>
                    <a:pt x="95534" y="1078331"/>
                  </a:lnTo>
                  <a:lnTo>
                    <a:pt x="109804" y="1079271"/>
                  </a:lnTo>
                  <a:lnTo>
                    <a:pt x="5084279" y="1079271"/>
                  </a:lnTo>
                  <a:lnTo>
                    <a:pt x="5126351" y="1070918"/>
                  </a:lnTo>
                  <a:lnTo>
                    <a:pt x="5161853" y="1047103"/>
                  </a:lnTo>
                  <a:lnTo>
                    <a:pt x="5185628" y="1011544"/>
                  </a:lnTo>
                  <a:lnTo>
                    <a:pt x="5190287" y="997958"/>
                  </a:lnTo>
                  <a:lnTo>
                    <a:pt x="5190348" y="997778"/>
                  </a:lnTo>
                  <a:lnTo>
                    <a:pt x="5193113" y="983902"/>
                  </a:lnTo>
                  <a:lnTo>
                    <a:pt x="5193144" y="983747"/>
                  </a:lnTo>
                  <a:lnTo>
                    <a:pt x="5194084" y="969479"/>
                  </a:lnTo>
                  <a:lnTo>
                    <a:pt x="5194060" y="109791"/>
                  </a:lnTo>
                  <a:lnTo>
                    <a:pt x="5185731" y="68088"/>
                  </a:lnTo>
                  <a:lnTo>
                    <a:pt x="5161861" y="32534"/>
                  </a:lnTo>
                  <a:lnTo>
                    <a:pt x="5126151" y="8708"/>
                  </a:lnTo>
                  <a:lnTo>
                    <a:pt x="5084279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785875" y="3017164"/>
              <a:ext cx="5194300" cy="1079500"/>
            </a:xfrm>
            <a:custGeom>
              <a:avLst/>
              <a:gdLst/>
              <a:ahLst/>
              <a:cxnLst/>
              <a:rect l="l" t="t" r="r" b="b"/>
              <a:pathLst>
                <a:path w="5194300" h="1079500">
                  <a:moveTo>
                    <a:pt x="368" y="109791"/>
                  </a:moveTo>
                  <a:lnTo>
                    <a:pt x="1307" y="95524"/>
                  </a:lnTo>
                  <a:lnTo>
                    <a:pt x="4103" y="81492"/>
                  </a:lnTo>
                  <a:lnTo>
                    <a:pt x="23138" y="43003"/>
                  </a:lnTo>
                  <a:lnTo>
                    <a:pt x="55079" y="14757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5084279" y="355"/>
                  </a:lnTo>
                  <a:lnTo>
                    <a:pt x="5126151" y="8708"/>
                  </a:lnTo>
                  <a:lnTo>
                    <a:pt x="5161861" y="32534"/>
                  </a:lnTo>
                  <a:lnTo>
                    <a:pt x="5185731" y="68088"/>
                  </a:lnTo>
                  <a:lnTo>
                    <a:pt x="5194084" y="110159"/>
                  </a:lnTo>
                  <a:lnTo>
                    <a:pt x="5194084" y="969479"/>
                  </a:lnTo>
                  <a:lnTo>
                    <a:pt x="5193144" y="983747"/>
                  </a:lnTo>
                  <a:lnTo>
                    <a:pt x="5190348" y="997778"/>
                  </a:lnTo>
                  <a:lnTo>
                    <a:pt x="5171306" y="1036267"/>
                  </a:lnTo>
                  <a:lnTo>
                    <a:pt x="5139359" y="1064514"/>
                  </a:lnTo>
                  <a:lnTo>
                    <a:pt x="5098710" y="1078331"/>
                  </a:lnTo>
                  <a:lnTo>
                    <a:pt x="5084279" y="1079271"/>
                  </a:lnTo>
                  <a:lnTo>
                    <a:pt x="109804" y="1079271"/>
                  </a:lnTo>
                  <a:lnTo>
                    <a:pt x="67934" y="1070918"/>
                  </a:lnTo>
                  <a:lnTo>
                    <a:pt x="32224" y="1047103"/>
                  </a:lnTo>
                  <a:lnTo>
                    <a:pt x="8358" y="1011544"/>
                  </a:lnTo>
                  <a:lnTo>
                    <a:pt x="0" y="969479"/>
                  </a:lnTo>
                  <a:lnTo>
                    <a:pt x="368" y="109791"/>
                  </a:lnTo>
                  <a:close/>
                </a:path>
              </a:pathLst>
            </a:custGeom>
            <a:ln w="10079">
              <a:solidFill>
                <a:srgbClr val="DBE4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785875" y="3017519"/>
              <a:ext cx="64135" cy="1078865"/>
            </a:xfrm>
            <a:custGeom>
              <a:avLst/>
              <a:gdLst/>
              <a:ahLst/>
              <a:cxnLst/>
              <a:rect l="l" t="t" r="r" b="b"/>
              <a:pathLst>
                <a:path w="64134" h="1078864">
                  <a:moveTo>
                    <a:pt x="63728" y="0"/>
                  </a:moveTo>
                  <a:lnTo>
                    <a:pt x="0" y="0"/>
                  </a:lnTo>
                  <a:lnTo>
                    <a:pt x="0" y="1078560"/>
                  </a:lnTo>
                  <a:lnTo>
                    <a:pt x="32042" y="1078560"/>
                  </a:lnTo>
                  <a:lnTo>
                    <a:pt x="63728" y="1078560"/>
                  </a:lnTo>
                  <a:lnTo>
                    <a:pt x="63728" y="0"/>
                  </a:lnTo>
                  <a:close/>
                </a:path>
              </a:pathLst>
            </a:custGeom>
            <a:solidFill>
              <a:srgbClr val="5A39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785875" y="3017519"/>
              <a:ext cx="64135" cy="1078865"/>
            </a:xfrm>
            <a:custGeom>
              <a:avLst/>
              <a:gdLst/>
              <a:ahLst/>
              <a:cxnLst/>
              <a:rect l="l" t="t" r="r" b="b"/>
              <a:pathLst>
                <a:path w="64134" h="1078864">
                  <a:moveTo>
                    <a:pt x="32042" y="1078560"/>
                  </a:moveTo>
                  <a:lnTo>
                    <a:pt x="0" y="1078560"/>
                  </a:lnTo>
                  <a:lnTo>
                    <a:pt x="0" y="0"/>
                  </a:lnTo>
                  <a:lnTo>
                    <a:pt x="63728" y="0"/>
                  </a:lnTo>
                  <a:lnTo>
                    <a:pt x="63728" y="1078560"/>
                  </a:lnTo>
                  <a:lnTo>
                    <a:pt x="32042" y="1078560"/>
                  </a:lnTo>
                  <a:close/>
                </a:path>
              </a:pathLst>
            </a:custGeom>
            <a:ln w="10079">
              <a:solidFill>
                <a:srgbClr val="5A399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992784" y="3040612"/>
            <a:ext cx="4340225" cy="797560"/>
          </a:xfrm>
          <a:prstGeom prst="rect">
            <a:avLst/>
          </a:prstGeom>
        </p:spPr>
        <p:txBody>
          <a:bodyPr wrap="square" lIns="0" tIns="12636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94"/>
              </a:spcBef>
            </a:pPr>
            <a:r>
              <a:rPr dirty="0" sz="1400" spc="-150">
                <a:solidFill>
                  <a:srgbClr val="0F2339"/>
                </a:solidFill>
                <a:latin typeface="Arial Black"/>
                <a:cs typeface="Arial Black"/>
              </a:rPr>
              <a:t>Scope</a:t>
            </a:r>
            <a:r>
              <a:rPr dirty="0" sz="1400" spc="-7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400" spc="-10">
                <a:solidFill>
                  <a:srgbClr val="0F2339"/>
                </a:solidFill>
                <a:latin typeface="Arial Black"/>
                <a:cs typeface="Arial Black"/>
              </a:rPr>
              <a:t>navigation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  <a:spcBef>
                <a:spcPts val="740"/>
              </a:spcBef>
            </a:pPr>
            <a:r>
              <a:rPr dirty="0" sz="1150">
                <a:solidFill>
                  <a:srgbClr val="556478"/>
                </a:solidFill>
                <a:latin typeface="Noto Sans"/>
                <a:cs typeface="Noto Sans"/>
              </a:rPr>
              <a:t>Check</a:t>
            </a:r>
            <a:r>
              <a:rPr dirty="0" sz="115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50">
                <a:solidFill>
                  <a:srgbClr val="556478"/>
                </a:solidFill>
                <a:latin typeface="Noto Sans"/>
                <a:cs typeface="Noto Sans"/>
              </a:rPr>
              <a:t>tenant,</a:t>
            </a:r>
            <a:r>
              <a:rPr dirty="0" sz="1150" spc="-2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50" spc="-10">
                <a:solidFill>
                  <a:srgbClr val="556478"/>
                </a:solidFill>
                <a:latin typeface="Noto Sans"/>
                <a:cs typeface="Noto Sans"/>
              </a:rPr>
              <a:t>subscriptions,</a:t>
            </a:r>
            <a:r>
              <a:rPr dirty="0" sz="1150" spc="-2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50" spc="-10">
                <a:solidFill>
                  <a:srgbClr val="556478"/>
                </a:solidFill>
                <a:latin typeface="Noto Sans"/>
                <a:cs typeface="Noto Sans"/>
              </a:rPr>
              <a:t>resource</a:t>
            </a:r>
            <a:r>
              <a:rPr dirty="0" sz="1150" spc="-2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50">
                <a:solidFill>
                  <a:srgbClr val="556478"/>
                </a:solidFill>
                <a:latin typeface="Noto Sans"/>
                <a:cs typeface="Noto Sans"/>
              </a:rPr>
              <a:t>groups</a:t>
            </a:r>
            <a:r>
              <a:rPr dirty="0" sz="1150" spc="-2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50">
                <a:solidFill>
                  <a:srgbClr val="556478"/>
                </a:solidFill>
                <a:latin typeface="Noto Sans"/>
                <a:cs typeface="Noto Sans"/>
              </a:rPr>
              <a:t>and</a:t>
            </a:r>
            <a:r>
              <a:rPr dirty="0" sz="1150" spc="-2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50">
                <a:solidFill>
                  <a:srgbClr val="556478"/>
                </a:solidFill>
                <a:latin typeface="Noto Sans"/>
                <a:cs typeface="Noto Sans"/>
              </a:rPr>
              <a:t>filters</a:t>
            </a:r>
            <a:r>
              <a:rPr dirty="0" sz="1150" spc="-2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50" spc="-10">
                <a:solidFill>
                  <a:srgbClr val="556478"/>
                </a:solidFill>
                <a:latin typeface="Noto Sans"/>
                <a:cs typeface="Noto Sans"/>
              </a:rPr>
              <a:t>before searching</a:t>
            </a:r>
            <a:r>
              <a:rPr dirty="0" sz="1150" spc="-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50">
                <a:solidFill>
                  <a:srgbClr val="556478"/>
                </a:solidFill>
                <a:latin typeface="Noto Sans"/>
                <a:cs typeface="Noto Sans"/>
              </a:rPr>
              <a:t>for</a:t>
            </a:r>
            <a:r>
              <a:rPr dirty="0" sz="1150" spc="-1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50">
                <a:solidFill>
                  <a:srgbClr val="556478"/>
                </a:solidFill>
                <a:latin typeface="Noto Sans"/>
                <a:cs typeface="Noto Sans"/>
              </a:rPr>
              <a:t>a </a:t>
            </a:r>
            <a:r>
              <a:rPr dirty="0" sz="1150" spc="-25">
                <a:solidFill>
                  <a:srgbClr val="556478"/>
                </a:solidFill>
                <a:latin typeface="Noto Sans"/>
                <a:cs typeface="Noto Sans"/>
              </a:rPr>
              <a:t>VM.</a:t>
            </a:r>
            <a:endParaRPr sz="1150">
              <a:latin typeface="Noto Sans"/>
              <a:cs typeface="Noto Sans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6358676" y="3012124"/>
            <a:ext cx="5204460" cy="1089660"/>
            <a:chOff x="6358676" y="3012124"/>
            <a:chExt cx="5204460" cy="1089660"/>
          </a:xfrm>
        </p:grpSpPr>
        <p:sp>
          <p:nvSpPr>
            <p:cNvPr id="25" name="object 25"/>
            <p:cNvSpPr/>
            <p:nvPr/>
          </p:nvSpPr>
          <p:spPr>
            <a:xfrm>
              <a:off x="6363716" y="3017164"/>
              <a:ext cx="5194300" cy="1079500"/>
            </a:xfrm>
            <a:custGeom>
              <a:avLst/>
              <a:gdLst/>
              <a:ahLst/>
              <a:cxnLst/>
              <a:rect l="l" t="t" r="r" b="b"/>
              <a:pathLst>
                <a:path w="5194300" h="1079500">
                  <a:moveTo>
                    <a:pt x="110159" y="0"/>
                  </a:moveTo>
                  <a:lnTo>
                    <a:pt x="68095" y="8352"/>
                  </a:lnTo>
                  <a:lnTo>
                    <a:pt x="32535" y="32213"/>
                  </a:lnTo>
                  <a:lnTo>
                    <a:pt x="8721" y="67932"/>
                  </a:lnTo>
                  <a:lnTo>
                    <a:pt x="368" y="109791"/>
                  </a:lnTo>
                  <a:lnTo>
                    <a:pt x="0" y="969479"/>
                  </a:lnTo>
                  <a:lnTo>
                    <a:pt x="929" y="983747"/>
                  </a:lnTo>
                  <a:lnTo>
                    <a:pt x="939" y="983902"/>
                  </a:lnTo>
                  <a:lnTo>
                    <a:pt x="14770" y="1024559"/>
                  </a:lnTo>
                  <a:lnTo>
                    <a:pt x="22683" y="1036267"/>
                  </a:lnTo>
                  <a:lnTo>
                    <a:pt x="22788" y="1036422"/>
                  </a:lnTo>
                  <a:lnTo>
                    <a:pt x="55079" y="1064514"/>
                  </a:lnTo>
                  <a:lnTo>
                    <a:pt x="95534" y="1078331"/>
                  </a:lnTo>
                  <a:lnTo>
                    <a:pt x="109804" y="1079271"/>
                  </a:lnTo>
                  <a:lnTo>
                    <a:pt x="5084279" y="1079271"/>
                  </a:lnTo>
                  <a:lnTo>
                    <a:pt x="5126351" y="1070918"/>
                  </a:lnTo>
                  <a:lnTo>
                    <a:pt x="5161853" y="1047103"/>
                  </a:lnTo>
                  <a:lnTo>
                    <a:pt x="5185628" y="1011544"/>
                  </a:lnTo>
                  <a:lnTo>
                    <a:pt x="5193113" y="983902"/>
                  </a:lnTo>
                  <a:lnTo>
                    <a:pt x="5193144" y="983747"/>
                  </a:lnTo>
                  <a:lnTo>
                    <a:pt x="5194084" y="969479"/>
                  </a:lnTo>
                  <a:lnTo>
                    <a:pt x="5194060" y="109791"/>
                  </a:lnTo>
                  <a:lnTo>
                    <a:pt x="5193144" y="95729"/>
                  </a:lnTo>
                  <a:lnTo>
                    <a:pt x="5179326" y="55079"/>
                  </a:lnTo>
                  <a:lnTo>
                    <a:pt x="5151073" y="23133"/>
                  </a:lnTo>
                  <a:lnTo>
                    <a:pt x="5112589" y="4090"/>
                  </a:lnTo>
                  <a:lnTo>
                    <a:pt x="5084279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6363716" y="3017164"/>
              <a:ext cx="5194300" cy="1079500"/>
            </a:xfrm>
            <a:custGeom>
              <a:avLst/>
              <a:gdLst/>
              <a:ahLst/>
              <a:cxnLst/>
              <a:rect l="l" t="t" r="r" b="b"/>
              <a:pathLst>
                <a:path w="5194300" h="1079500">
                  <a:moveTo>
                    <a:pt x="368" y="109791"/>
                  </a:moveTo>
                  <a:lnTo>
                    <a:pt x="1307" y="95524"/>
                  </a:lnTo>
                  <a:lnTo>
                    <a:pt x="4103" y="81492"/>
                  </a:lnTo>
                  <a:lnTo>
                    <a:pt x="23138" y="43003"/>
                  </a:lnTo>
                  <a:lnTo>
                    <a:pt x="55079" y="14757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5084279" y="355"/>
                  </a:lnTo>
                  <a:lnTo>
                    <a:pt x="5126151" y="8708"/>
                  </a:lnTo>
                  <a:lnTo>
                    <a:pt x="5161861" y="32534"/>
                  </a:lnTo>
                  <a:lnTo>
                    <a:pt x="5185731" y="68088"/>
                  </a:lnTo>
                  <a:lnTo>
                    <a:pt x="5194084" y="110159"/>
                  </a:lnTo>
                  <a:lnTo>
                    <a:pt x="5194084" y="969479"/>
                  </a:lnTo>
                  <a:lnTo>
                    <a:pt x="5193144" y="983747"/>
                  </a:lnTo>
                  <a:lnTo>
                    <a:pt x="5190348" y="997778"/>
                  </a:lnTo>
                  <a:lnTo>
                    <a:pt x="5171306" y="1036267"/>
                  </a:lnTo>
                  <a:lnTo>
                    <a:pt x="5139359" y="1064514"/>
                  </a:lnTo>
                  <a:lnTo>
                    <a:pt x="5098710" y="1078331"/>
                  </a:lnTo>
                  <a:lnTo>
                    <a:pt x="5084279" y="1079271"/>
                  </a:lnTo>
                  <a:lnTo>
                    <a:pt x="109804" y="1079271"/>
                  </a:lnTo>
                  <a:lnTo>
                    <a:pt x="67934" y="1070918"/>
                  </a:lnTo>
                  <a:lnTo>
                    <a:pt x="32224" y="1047103"/>
                  </a:lnTo>
                  <a:lnTo>
                    <a:pt x="8358" y="1011544"/>
                  </a:lnTo>
                  <a:lnTo>
                    <a:pt x="0" y="969479"/>
                  </a:lnTo>
                  <a:lnTo>
                    <a:pt x="368" y="109791"/>
                  </a:lnTo>
                  <a:close/>
                </a:path>
              </a:pathLst>
            </a:custGeom>
            <a:ln w="10079">
              <a:solidFill>
                <a:srgbClr val="DBE4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6363716" y="3017519"/>
              <a:ext cx="64135" cy="1078865"/>
            </a:xfrm>
            <a:custGeom>
              <a:avLst/>
              <a:gdLst/>
              <a:ahLst/>
              <a:cxnLst/>
              <a:rect l="l" t="t" r="r" b="b"/>
              <a:pathLst>
                <a:path w="64135" h="1078864">
                  <a:moveTo>
                    <a:pt x="63728" y="0"/>
                  </a:moveTo>
                  <a:lnTo>
                    <a:pt x="0" y="0"/>
                  </a:lnTo>
                  <a:lnTo>
                    <a:pt x="0" y="1078560"/>
                  </a:lnTo>
                  <a:lnTo>
                    <a:pt x="32042" y="1078560"/>
                  </a:lnTo>
                  <a:lnTo>
                    <a:pt x="63728" y="1078560"/>
                  </a:lnTo>
                  <a:lnTo>
                    <a:pt x="63728" y="0"/>
                  </a:lnTo>
                  <a:close/>
                </a:path>
              </a:pathLst>
            </a:custGeom>
            <a:solidFill>
              <a:srgbClr val="F49D0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6363716" y="3017519"/>
              <a:ext cx="64135" cy="1078865"/>
            </a:xfrm>
            <a:custGeom>
              <a:avLst/>
              <a:gdLst/>
              <a:ahLst/>
              <a:cxnLst/>
              <a:rect l="l" t="t" r="r" b="b"/>
              <a:pathLst>
                <a:path w="64135" h="1078864">
                  <a:moveTo>
                    <a:pt x="32042" y="1078560"/>
                  </a:moveTo>
                  <a:lnTo>
                    <a:pt x="0" y="1078560"/>
                  </a:lnTo>
                  <a:lnTo>
                    <a:pt x="0" y="0"/>
                  </a:lnTo>
                  <a:lnTo>
                    <a:pt x="63728" y="0"/>
                  </a:lnTo>
                  <a:lnTo>
                    <a:pt x="63728" y="1078560"/>
                  </a:lnTo>
                  <a:lnTo>
                    <a:pt x="32042" y="1078560"/>
                  </a:lnTo>
                  <a:close/>
                </a:path>
              </a:pathLst>
            </a:custGeom>
            <a:ln w="10079">
              <a:solidFill>
                <a:srgbClr val="F49D0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6570624" y="3040612"/>
            <a:ext cx="4305935" cy="797560"/>
          </a:xfrm>
          <a:prstGeom prst="rect">
            <a:avLst/>
          </a:prstGeom>
        </p:spPr>
        <p:txBody>
          <a:bodyPr wrap="square" lIns="0" tIns="12636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94"/>
              </a:spcBef>
            </a:pPr>
            <a:r>
              <a:rPr dirty="0" sz="1400" spc="-110">
                <a:solidFill>
                  <a:srgbClr val="0F2339"/>
                </a:solidFill>
                <a:latin typeface="Arial Black"/>
                <a:cs typeface="Arial Black"/>
              </a:rPr>
              <a:t>Resilience</a:t>
            </a:r>
            <a:r>
              <a:rPr dirty="0" sz="1400" spc="-3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400" spc="-10">
                <a:solidFill>
                  <a:srgbClr val="0F2339"/>
                </a:solidFill>
                <a:latin typeface="Arial Black"/>
                <a:cs typeface="Arial Black"/>
              </a:rPr>
              <a:t>choices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  <a:spcBef>
                <a:spcPts val="740"/>
              </a:spcBef>
            </a:pPr>
            <a:r>
              <a:rPr dirty="0" sz="1150">
                <a:solidFill>
                  <a:srgbClr val="556478"/>
                </a:solidFill>
                <a:latin typeface="Noto Sans"/>
                <a:cs typeface="Noto Sans"/>
              </a:rPr>
              <a:t>Explain</a:t>
            </a:r>
            <a:r>
              <a:rPr dirty="0" sz="115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50">
                <a:solidFill>
                  <a:srgbClr val="556478"/>
                </a:solidFill>
                <a:latin typeface="Noto Sans"/>
                <a:cs typeface="Noto Sans"/>
              </a:rPr>
              <a:t>the</a:t>
            </a:r>
            <a:r>
              <a:rPr dirty="0" sz="115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50" spc="-10">
                <a:solidFill>
                  <a:srgbClr val="556478"/>
                </a:solidFill>
                <a:latin typeface="Noto Sans"/>
                <a:cs typeface="Noto Sans"/>
              </a:rPr>
              <a:t>difference</a:t>
            </a:r>
            <a:r>
              <a:rPr dirty="0" sz="115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50">
                <a:solidFill>
                  <a:srgbClr val="556478"/>
                </a:solidFill>
                <a:latin typeface="Noto Sans"/>
                <a:cs typeface="Noto Sans"/>
              </a:rPr>
              <a:t>between</a:t>
            </a:r>
            <a:r>
              <a:rPr dirty="0" sz="115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50">
                <a:solidFill>
                  <a:srgbClr val="556478"/>
                </a:solidFill>
                <a:latin typeface="Noto Sans"/>
                <a:cs typeface="Noto Sans"/>
              </a:rPr>
              <a:t>Regions,</a:t>
            </a:r>
            <a:r>
              <a:rPr dirty="0" sz="1150" spc="-2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50">
                <a:solidFill>
                  <a:srgbClr val="556478"/>
                </a:solidFill>
                <a:latin typeface="Noto Sans"/>
                <a:cs typeface="Noto Sans"/>
              </a:rPr>
              <a:t>Zones</a:t>
            </a:r>
            <a:r>
              <a:rPr dirty="0" sz="115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50">
                <a:solidFill>
                  <a:srgbClr val="556478"/>
                </a:solidFill>
                <a:latin typeface="Noto Sans"/>
                <a:cs typeface="Noto Sans"/>
              </a:rPr>
              <a:t>and</a:t>
            </a:r>
            <a:r>
              <a:rPr dirty="0" sz="115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50" spc="-10">
                <a:solidFill>
                  <a:srgbClr val="556478"/>
                </a:solidFill>
                <a:latin typeface="Noto Sans"/>
                <a:cs typeface="Noto Sans"/>
              </a:rPr>
              <a:t>Availability Sets.</a:t>
            </a:r>
            <a:endParaRPr sz="1150">
              <a:latin typeface="Noto Sans"/>
              <a:cs typeface="Noto Sans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780836" y="4365360"/>
            <a:ext cx="5204460" cy="1089660"/>
            <a:chOff x="780836" y="4365360"/>
            <a:chExt cx="5204460" cy="1089660"/>
          </a:xfrm>
        </p:grpSpPr>
        <p:sp>
          <p:nvSpPr>
            <p:cNvPr id="31" name="object 31"/>
            <p:cNvSpPr/>
            <p:nvPr/>
          </p:nvSpPr>
          <p:spPr>
            <a:xfrm>
              <a:off x="785875" y="4370400"/>
              <a:ext cx="5194300" cy="1079500"/>
            </a:xfrm>
            <a:custGeom>
              <a:avLst/>
              <a:gdLst/>
              <a:ahLst/>
              <a:cxnLst/>
              <a:rect l="l" t="t" r="r" b="b"/>
              <a:pathLst>
                <a:path w="5194300" h="1079500">
                  <a:moveTo>
                    <a:pt x="110159" y="0"/>
                  </a:moveTo>
                  <a:lnTo>
                    <a:pt x="68095" y="8352"/>
                  </a:lnTo>
                  <a:lnTo>
                    <a:pt x="32535" y="32223"/>
                  </a:lnTo>
                  <a:lnTo>
                    <a:pt x="8721" y="67932"/>
                  </a:lnTo>
                  <a:lnTo>
                    <a:pt x="368" y="109804"/>
                  </a:lnTo>
                  <a:lnTo>
                    <a:pt x="0" y="969479"/>
                  </a:lnTo>
                  <a:lnTo>
                    <a:pt x="929" y="983749"/>
                  </a:lnTo>
                  <a:lnTo>
                    <a:pt x="14770" y="1024559"/>
                  </a:lnTo>
                  <a:lnTo>
                    <a:pt x="22686" y="1036272"/>
                  </a:lnTo>
                  <a:lnTo>
                    <a:pt x="22788" y="1036422"/>
                  </a:lnTo>
                  <a:lnTo>
                    <a:pt x="55079" y="1064514"/>
                  </a:lnTo>
                  <a:lnTo>
                    <a:pt x="95534" y="1078344"/>
                  </a:lnTo>
                  <a:lnTo>
                    <a:pt x="109804" y="1079284"/>
                  </a:lnTo>
                  <a:lnTo>
                    <a:pt x="5084279" y="1079284"/>
                  </a:lnTo>
                  <a:lnTo>
                    <a:pt x="5126351" y="1070925"/>
                  </a:lnTo>
                  <a:lnTo>
                    <a:pt x="5161855" y="1047103"/>
                  </a:lnTo>
                  <a:lnTo>
                    <a:pt x="5185630" y="1011551"/>
                  </a:lnTo>
                  <a:lnTo>
                    <a:pt x="5185731" y="1011349"/>
                  </a:lnTo>
                  <a:lnTo>
                    <a:pt x="5190286" y="997967"/>
                  </a:lnTo>
                  <a:lnTo>
                    <a:pt x="5190348" y="997785"/>
                  </a:lnTo>
                  <a:lnTo>
                    <a:pt x="5193112" y="983910"/>
                  </a:lnTo>
                  <a:lnTo>
                    <a:pt x="5193144" y="983749"/>
                  </a:lnTo>
                  <a:lnTo>
                    <a:pt x="5194084" y="969479"/>
                  </a:lnTo>
                  <a:lnTo>
                    <a:pt x="5194060" y="109804"/>
                  </a:lnTo>
                  <a:lnTo>
                    <a:pt x="5193144" y="95729"/>
                  </a:lnTo>
                  <a:lnTo>
                    <a:pt x="5179326" y="55079"/>
                  </a:lnTo>
                  <a:lnTo>
                    <a:pt x="5151073" y="23138"/>
                  </a:lnTo>
                  <a:lnTo>
                    <a:pt x="5112589" y="4092"/>
                  </a:lnTo>
                  <a:lnTo>
                    <a:pt x="5084279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785875" y="4370400"/>
              <a:ext cx="5194300" cy="1079500"/>
            </a:xfrm>
            <a:custGeom>
              <a:avLst/>
              <a:gdLst/>
              <a:ahLst/>
              <a:cxnLst/>
              <a:rect l="l" t="t" r="r" b="b"/>
              <a:pathLst>
                <a:path w="5194300" h="1079500">
                  <a:moveTo>
                    <a:pt x="368" y="109804"/>
                  </a:moveTo>
                  <a:lnTo>
                    <a:pt x="1307" y="95529"/>
                  </a:lnTo>
                  <a:lnTo>
                    <a:pt x="4103" y="81494"/>
                  </a:lnTo>
                  <a:lnTo>
                    <a:pt x="23138" y="43010"/>
                  </a:lnTo>
                  <a:lnTo>
                    <a:pt x="55079" y="14757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5084279" y="355"/>
                  </a:lnTo>
                  <a:lnTo>
                    <a:pt x="5126151" y="8713"/>
                  </a:lnTo>
                  <a:lnTo>
                    <a:pt x="5161861" y="32535"/>
                  </a:lnTo>
                  <a:lnTo>
                    <a:pt x="5185731" y="68088"/>
                  </a:lnTo>
                  <a:lnTo>
                    <a:pt x="5194084" y="110159"/>
                  </a:lnTo>
                  <a:lnTo>
                    <a:pt x="5194084" y="969479"/>
                  </a:lnTo>
                  <a:lnTo>
                    <a:pt x="5193144" y="983749"/>
                  </a:lnTo>
                  <a:lnTo>
                    <a:pt x="5190348" y="997785"/>
                  </a:lnTo>
                  <a:lnTo>
                    <a:pt x="5171306" y="1036272"/>
                  </a:lnTo>
                  <a:lnTo>
                    <a:pt x="5139359" y="1064514"/>
                  </a:lnTo>
                  <a:lnTo>
                    <a:pt x="5098710" y="1078344"/>
                  </a:lnTo>
                  <a:lnTo>
                    <a:pt x="5084279" y="1079284"/>
                  </a:lnTo>
                  <a:lnTo>
                    <a:pt x="109804" y="1079284"/>
                  </a:lnTo>
                  <a:lnTo>
                    <a:pt x="67934" y="1070925"/>
                  </a:lnTo>
                  <a:lnTo>
                    <a:pt x="32224" y="1047103"/>
                  </a:lnTo>
                  <a:lnTo>
                    <a:pt x="8358" y="1011551"/>
                  </a:lnTo>
                  <a:lnTo>
                    <a:pt x="0" y="969479"/>
                  </a:lnTo>
                  <a:lnTo>
                    <a:pt x="368" y="109804"/>
                  </a:lnTo>
                  <a:close/>
                </a:path>
              </a:pathLst>
            </a:custGeom>
            <a:ln w="10079">
              <a:solidFill>
                <a:srgbClr val="DBE4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785875" y="4370755"/>
              <a:ext cx="64135" cy="1078865"/>
            </a:xfrm>
            <a:custGeom>
              <a:avLst/>
              <a:gdLst/>
              <a:ahLst/>
              <a:cxnLst/>
              <a:rect l="l" t="t" r="r" b="b"/>
              <a:pathLst>
                <a:path w="64134" h="1078864">
                  <a:moveTo>
                    <a:pt x="63728" y="0"/>
                  </a:moveTo>
                  <a:lnTo>
                    <a:pt x="0" y="0"/>
                  </a:lnTo>
                  <a:lnTo>
                    <a:pt x="0" y="1078560"/>
                  </a:lnTo>
                  <a:lnTo>
                    <a:pt x="32042" y="1078560"/>
                  </a:lnTo>
                  <a:lnTo>
                    <a:pt x="63728" y="1078560"/>
                  </a:lnTo>
                  <a:lnTo>
                    <a:pt x="63728" y="0"/>
                  </a:lnTo>
                  <a:close/>
                </a:path>
              </a:pathLst>
            </a:custGeom>
            <a:solidFill>
              <a:srgbClr val="157F5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785875" y="4370755"/>
              <a:ext cx="64135" cy="1078865"/>
            </a:xfrm>
            <a:custGeom>
              <a:avLst/>
              <a:gdLst/>
              <a:ahLst/>
              <a:cxnLst/>
              <a:rect l="l" t="t" r="r" b="b"/>
              <a:pathLst>
                <a:path w="64134" h="1078864">
                  <a:moveTo>
                    <a:pt x="32042" y="1078560"/>
                  </a:moveTo>
                  <a:lnTo>
                    <a:pt x="0" y="1078560"/>
                  </a:lnTo>
                  <a:lnTo>
                    <a:pt x="0" y="0"/>
                  </a:lnTo>
                  <a:lnTo>
                    <a:pt x="63728" y="0"/>
                  </a:lnTo>
                  <a:lnTo>
                    <a:pt x="63728" y="1078560"/>
                  </a:lnTo>
                  <a:lnTo>
                    <a:pt x="32042" y="1078560"/>
                  </a:lnTo>
                  <a:close/>
                </a:path>
              </a:pathLst>
            </a:custGeom>
            <a:ln w="10079">
              <a:solidFill>
                <a:srgbClr val="157F5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/>
          <p:cNvSpPr txBox="1"/>
          <p:nvPr/>
        </p:nvSpPr>
        <p:spPr>
          <a:xfrm>
            <a:off x="992784" y="4393861"/>
            <a:ext cx="4572635" cy="622300"/>
          </a:xfrm>
          <a:prstGeom prst="rect">
            <a:avLst/>
          </a:prstGeom>
        </p:spPr>
        <p:txBody>
          <a:bodyPr wrap="square" lIns="0" tIns="12636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94"/>
              </a:spcBef>
            </a:pPr>
            <a:r>
              <a:rPr dirty="0" sz="1400" spc="-110">
                <a:solidFill>
                  <a:srgbClr val="0F2339"/>
                </a:solidFill>
                <a:latin typeface="Arial Black"/>
                <a:cs typeface="Arial Black"/>
              </a:rPr>
              <a:t>Least</a:t>
            </a:r>
            <a:r>
              <a:rPr dirty="0" sz="1400" spc="-8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400" spc="-10">
                <a:solidFill>
                  <a:srgbClr val="0F2339"/>
                </a:solidFill>
                <a:latin typeface="Arial Black"/>
                <a:cs typeface="Arial Black"/>
              </a:rPr>
              <a:t>privilege</a:t>
            </a:r>
            <a:endParaRPr sz="14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dirty="0" sz="1150">
                <a:solidFill>
                  <a:srgbClr val="556478"/>
                </a:solidFill>
                <a:latin typeface="Noto Sans"/>
                <a:cs typeface="Noto Sans"/>
              </a:rPr>
              <a:t>Capture</a:t>
            </a:r>
            <a:r>
              <a:rPr dirty="0" sz="1150" spc="-2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50">
                <a:solidFill>
                  <a:srgbClr val="556478"/>
                </a:solidFill>
                <a:latin typeface="Noto Sans"/>
                <a:cs typeface="Noto Sans"/>
              </a:rPr>
              <a:t>role</a:t>
            </a:r>
            <a:r>
              <a:rPr dirty="0" sz="1150" spc="-2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50" spc="-10">
                <a:solidFill>
                  <a:srgbClr val="556478"/>
                </a:solidFill>
                <a:latin typeface="Noto Sans"/>
                <a:cs typeface="Noto Sans"/>
              </a:rPr>
              <a:t>before/after</a:t>
            </a:r>
            <a:r>
              <a:rPr dirty="0" sz="1150" spc="-2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50">
                <a:solidFill>
                  <a:srgbClr val="556478"/>
                </a:solidFill>
                <a:latin typeface="Noto Sans"/>
                <a:cs typeface="Noto Sans"/>
              </a:rPr>
              <a:t>and</a:t>
            </a:r>
            <a:r>
              <a:rPr dirty="0" sz="1150" spc="-2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50">
                <a:solidFill>
                  <a:srgbClr val="556478"/>
                </a:solidFill>
                <a:latin typeface="Noto Sans"/>
                <a:cs typeface="Noto Sans"/>
              </a:rPr>
              <a:t>test</a:t>
            </a:r>
            <a:r>
              <a:rPr dirty="0" sz="1150" spc="-2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50">
                <a:solidFill>
                  <a:srgbClr val="556478"/>
                </a:solidFill>
                <a:latin typeface="Noto Sans"/>
                <a:cs typeface="Noto Sans"/>
              </a:rPr>
              <a:t>permitted</a:t>
            </a:r>
            <a:r>
              <a:rPr dirty="0" sz="1150" spc="-2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50">
                <a:solidFill>
                  <a:srgbClr val="556478"/>
                </a:solidFill>
                <a:latin typeface="Noto Sans"/>
                <a:cs typeface="Noto Sans"/>
              </a:rPr>
              <a:t>vs</a:t>
            </a:r>
            <a:r>
              <a:rPr dirty="0" sz="1150" spc="-2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50" spc="-10">
                <a:solidFill>
                  <a:srgbClr val="556478"/>
                </a:solidFill>
                <a:latin typeface="Noto Sans"/>
                <a:cs typeface="Noto Sans"/>
              </a:rPr>
              <a:t>prohibited</a:t>
            </a:r>
            <a:r>
              <a:rPr dirty="0" sz="1150" spc="-2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50" spc="-10">
                <a:solidFill>
                  <a:srgbClr val="556478"/>
                </a:solidFill>
                <a:latin typeface="Noto Sans"/>
                <a:cs typeface="Noto Sans"/>
              </a:rPr>
              <a:t>actions.</a:t>
            </a:r>
            <a:endParaRPr sz="1150">
              <a:latin typeface="Noto Sans"/>
              <a:cs typeface="Noto Sans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6358676" y="4365360"/>
            <a:ext cx="5204460" cy="1089660"/>
            <a:chOff x="6358676" y="4365360"/>
            <a:chExt cx="5204460" cy="1089660"/>
          </a:xfrm>
        </p:grpSpPr>
        <p:sp>
          <p:nvSpPr>
            <p:cNvPr id="37" name="object 37"/>
            <p:cNvSpPr/>
            <p:nvPr/>
          </p:nvSpPr>
          <p:spPr>
            <a:xfrm>
              <a:off x="6363716" y="4370400"/>
              <a:ext cx="5194300" cy="1079500"/>
            </a:xfrm>
            <a:custGeom>
              <a:avLst/>
              <a:gdLst/>
              <a:ahLst/>
              <a:cxnLst/>
              <a:rect l="l" t="t" r="r" b="b"/>
              <a:pathLst>
                <a:path w="5194300" h="1079500">
                  <a:moveTo>
                    <a:pt x="110159" y="0"/>
                  </a:moveTo>
                  <a:lnTo>
                    <a:pt x="68095" y="8352"/>
                  </a:lnTo>
                  <a:lnTo>
                    <a:pt x="32535" y="32223"/>
                  </a:lnTo>
                  <a:lnTo>
                    <a:pt x="8721" y="67932"/>
                  </a:lnTo>
                  <a:lnTo>
                    <a:pt x="368" y="109804"/>
                  </a:lnTo>
                  <a:lnTo>
                    <a:pt x="0" y="969479"/>
                  </a:lnTo>
                  <a:lnTo>
                    <a:pt x="929" y="983749"/>
                  </a:lnTo>
                  <a:lnTo>
                    <a:pt x="939" y="983910"/>
                  </a:lnTo>
                  <a:lnTo>
                    <a:pt x="3700" y="997785"/>
                  </a:lnTo>
                  <a:lnTo>
                    <a:pt x="3736" y="997967"/>
                  </a:lnTo>
                  <a:lnTo>
                    <a:pt x="8289" y="1011349"/>
                  </a:lnTo>
                  <a:lnTo>
                    <a:pt x="8358" y="1011551"/>
                  </a:lnTo>
                  <a:lnTo>
                    <a:pt x="14770" y="1024559"/>
                  </a:lnTo>
                  <a:lnTo>
                    <a:pt x="22686" y="1036272"/>
                  </a:lnTo>
                  <a:lnTo>
                    <a:pt x="22788" y="1036422"/>
                  </a:lnTo>
                  <a:lnTo>
                    <a:pt x="55079" y="1064514"/>
                  </a:lnTo>
                  <a:lnTo>
                    <a:pt x="95534" y="1078344"/>
                  </a:lnTo>
                  <a:lnTo>
                    <a:pt x="109804" y="1079284"/>
                  </a:lnTo>
                  <a:lnTo>
                    <a:pt x="5084279" y="1079284"/>
                  </a:lnTo>
                  <a:lnTo>
                    <a:pt x="5126351" y="1070925"/>
                  </a:lnTo>
                  <a:lnTo>
                    <a:pt x="5161855" y="1047103"/>
                  </a:lnTo>
                  <a:lnTo>
                    <a:pt x="5185630" y="1011551"/>
                  </a:lnTo>
                  <a:lnTo>
                    <a:pt x="5190286" y="997967"/>
                  </a:lnTo>
                  <a:lnTo>
                    <a:pt x="5190348" y="997785"/>
                  </a:lnTo>
                  <a:lnTo>
                    <a:pt x="5193112" y="983910"/>
                  </a:lnTo>
                  <a:lnTo>
                    <a:pt x="5193144" y="983749"/>
                  </a:lnTo>
                  <a:lnTo>
                    <a:pt x="5194084" y="969479"/>
                  </a:lnTo>
                  <a:lnTo>
                    <a:pt x="5194060" y="109804"/>
                  </a:lnTo>
                  <a:lnTo>
                    <a:pt x="5185731" y="68088"/>
                  </a:lnTo>
                  <a:lnTo>
                    <a:pt x="5161861" y="32535"/>
                  </a:lnTo>
                  <a:lnTo>
                    <a:pt x="5126151" y="8713"/>
                  </a:lnTo>
                  <a:lnTo>
                    <a:pt x="5084279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6363716" y="4370400"/>
              <a:ext cx="5194300" cy="1079500"/>
            </a:xfrm>
            <a:custGeom>
              <a:avLst/>
              <a:gdLst/>
              <a:ahLst/>
              <a:cxnLst/>
              <a:rect l="l" t="t" r="r" b="b"/>
              <a:pathLst>
                <a:path w="5194300" h="1079500">
                  <a:moveTo>
                    <a:pt x="368" y="109804"/>
                  </a:moveTo>
                  <a:lnTo>
                    <a:pt x="1307" y="95529"/>
                  </a:lnTo>
                  <a:lnTo>
                    <a:pt x="4103" y="81494"/>
                  </a:lnTo>
                  <a:lnTo>
                    <a:pt x="23138" y="43010"/>
                  </a:lnTo>
                  <a:lnTo>
                    <a:pt x="55079" y="14757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5084279" y="355"/>
                  </a:lnTo>
                  <a:lnTo>
                    <a:pt x="5126151" y="8713"/>
                  </a:lnTo>
                  <a:lnTo>
                    <a:pt x="5161861" y="32535"/>
                  </a:lnTo>
                  <a:lnTo>
                    <a:pt x="5185731" y="68088"/>
                  </a:lnTo>
                  <a:lnTo>
                    <a:pt x="5194084" y="110159"/>
                  </a:lnTo>
                  <a:lnTo>
                    <a:pt x="5194084" y="969479"/>
                  </a:lnTo>
                  <a:lnTo>
                    <a:pt x="5193144" y="983749"/>
                  </a:lnTo>
                  <a:lnTo>
                    <a:pt x="5190348" y="997785"/>
                  </a:lnTo>
                  <a:lnTo>
                    <a:pt x="5171306" y="1036272"/>
                  </a:lnTo>
                  <a:lnTo>
                    <a:pt x="5139359" y="1064514"/>
                  </a:lnTo>
                  <a:lnTo>
                    <a:pt x="5098710" y="1078344"/>
                  </a:lnTo>
                  <a:lnTo>
                    <a:pt x="5084279" y="1079284"/>
                  </a:lnTo>
                  <a:lnTo>
                    <a:pt x="109804" y="1079284"/>
                  </a:lnTo>
                  <a:lnTo>
                    <a:pt x="67934" y="1070925"/>
                  </a:lnTo>
                  <a:lnTo>
                    <a:pt x="32224" y="1047103"/>
                  </a:lnTo>
                  <a:lnTo>
                    <a:pt x="8358" y="1011551"/>
                  </a:lnTo>
                  <a:lnTo>
                    <a:pt x="0" y="969479"/>
                  </a:lnTo>
                  <a:lnTo>
                    <a:pt x="368" y="109804"/>
                  </a:lnTo>
                  <a:close/>
                </a:path>
              </a:pathLst>
            </a:custGeom>
            <a:ln w="10079">
              <a:solidFill>
                <a:srgbClr val="DBE4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6363716" y="4370755"/>
              <a:ext cx="64135" cy="1078865"/>
            </a:xfrm>
            <a:custGeom>
              <a:avLst/>
              <a:gdLst/>
              <a:ahLst/>
              <a:cxnLst/>
              <a:rect l="l" t="t" r="r" b="b"/>
              <a:pathLst>
                <a:path w="64135" h="1078864">
                  <a:moveTo>
                    <a:pt x="63728" y="0"/>
                  </a:moveTo>
                  <a:lnTo>
                    <a:pt x="0" y="0"/>
                  </a:lnTo>
                  <a:lnTo>
                    <a:pt x="0" y="1078560"/>
                  </a:lnTo>
                  <a:lnTo>
                    <a:pt x="32042" y="1078560"/>
                  </a:lnTo>
                  <a:lnTo>
                    <a:pt x="63728" y="1078560"/>
                  </a:lnTo>
                  <a:lnTo>
                    <a:pt x="63728" y="0"/>
                  </a:lnTo>
                  <a:close/>
                </a:path>
              </a:pathLst>
            </a:custGeom>
            <a:solidFill>
              <a:srgbClr val="C1403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6363716" y="4370755"/>
              <a:ext cx="64135" cy="1078865"/>
            </a:xfrm>
            <a:custGeom>
              <a:avLst/>
              <a:gdLst/>
              <a:ahLst/>
              <a:cxnLst/>
              <a:rect l="l" t="t" r="r" b="b"/>
              <a:pathLst>
                <a:path w="64135" h="1078864">
                  <a:moveTo>
                    <a:pt x="32042" y="1078560"/>
                  </a:moveTo>
                  <a:lnTo>
                    <a:pt x="0" y="1078560"/>
                  </a:lnTo>
                  <a:lnTo>
                    <a:pt x="0" y="0"/>
                  </a:lnTo>
                  <a:lnTo>
                    <a:pt x="63728" y="0"/>
                  </a:lnTo>
                  <a:lnTo>
                    <a:pt x="63728" y="1078560"/>
                  </a:lnTo>
                  <a:lnTo>
                    <a:pt x="32042" y="1078560"/>
                  </a:lnTo>
                  <a:close/>
                </a:path>
              </a:pathLst>
            </a:custGeom>
            <a:ln w="10079">
              <a:solidFill>
                <a:srgbClr val="C1403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/>
          <p:cNvSpPr txBox="1"/>
          <p:nvPr/>
        </p:nvSpPr>
        <p:spPr>
          <a:xfrm>
            <a:off x="6570624" y="4393861"/>
            <a:ext cx="4523105" cy="797560"/>
          </a:xfrm>
          <a:prstGeom prst="rect">
            <a:avLst/>
          </a:prstGeom>
        </p:spPr>
        <p:txBody>
          <a:bodyPr wrap="square" lIns="0" tIns="12636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94"/>
              </a:spcBef>
            </a:pPr>
            <a:r>
              <a:rPr dirty="0" sz="1400" spc="-65">
                <a:solidFill>
                  <a:srgbClr val="0F2339"/>
                </a:solidFill>
                <a:latin typeface="Arial Black"/>
                <a:cs typeface="Arial Black"/>
              </a:rPr>
              <a:t>Deny</a:t>
            </a:r>
            <a:r>
              <a:rPr dirty="0" sz="1400" spc="-8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400" spc="-10">
                <a:solidFill>
                  <a:srgbClr val="0F2339"/>
                </a:solidFill>
                <a:latin typeface="Arial Black"/>
                <a:cs typeface="Arial Black"/>
              </a:rPr>
              <a:t>precedence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  <a:spcBef>
                <a:spcPts val="740"/>
              </a:spcBef>
            </a:pPr>
            <a:r>
              <a:rPr dirty="0" sz="1150">
                <a:solidFill>
                  <a:srgbClr val="556478"/>
                </a:solidFill>
                <a:latin typeface="Noto Sans"/>
                <a:cs typeface="Noto Sans"/>
              </a:rPr>
              <a:t>Use</a:t>
            </a:r>
            <a:r>
              <a:rPr dirty="0" sz="1150" spc="-1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50">
                <a:solidFill>
                  <a:srgbClr val="556478"/>
                </a:solidFill>
                <a:latin typeface="Noto Sans"/>
                <a:cs typeface="Noto Sans"/>
              </a:rPr>
              <a:t>Check</a:t>
            </a:r>
            <a:r>
              <a:rPr dirty="0" sz="1150" spc="-1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50">
                <a:solidFill>
                  <a:srgbClr val="556478"/>
                </a:solidFill>
                <a:latin typeface="Noto Sans"/>
                <a:cs typeface="Noto Sans"/>
              </a:rPr>
              <a:t>Access</a:t>
            </a:r>
            <a:r>
              <a:rPr dirty="0" sz="1150" spc="-2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50">
                <a:solidFill>
                  <a:srgbClr val="556478"/>
                </a:solidFill>
                <a:latin typeface="Noto Sans"/>
                <a:cs typeface="Noto Sans"/>
              </a:rPr>
              <a:t>/</a:t>
            </a:r>
            <a:r>
              <a:rPr dirty="0" sz="1150" spc="-1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50">
                <a:solidFill>
                  <a:srgbClr val="556478"/>
                </a:solidFill>
                <a:latin typeface="Noto Sans"/>
                <a:cs typeface="Noto Sans"/>
              </a:rPr>
              <a:t>deny</a:t>
            </a:r>
            <a:r>
              <a:rPr dirty="0" sz="1150" spc="-10">
                <a:solidFill>
                  <a:srgbClr val="556478"/>
                </a:solidFill>
                <a:latin typeface="Noto Sans"/>
                <a:cs typeface="Noto Sans"/>
              </a:rPr>
              <a:t> evidence;</a:t>
            </a:r>
            <a:r>
              <a:rPr dirty="0" sz="1150" spc="-1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50">
                <a:solidFill>
                  <a:srgbClr val="556478"/>
                </a:solidFill>
                <a:latin typeface="Noto Sans"/>
                <a:cs typeface="Noto Sans"/>
              </a:rPr>
              <a:t>route</a:t>
            </a:r>
            <a:r>
              <a:rPr dirty="0" sz="1150" spc="-1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50">
                <a:solidFill>
                  <a:srgbClr val="556478"/>
                </a:solidFill>
                <a:latin typeface="Noto Sans"/>
                <a:cs typeface="Noto Sans"/>
              </a:rPr>
              <a:t>valid</a:t>
            </a:r>
            <a:r>
              <a:rPr dirty="0" sz="1150" spc="-1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50" spc="-10">
                <a:solidFill>
                  <a:srgbClr val="556478"/>
                </a:solidFill>
                <a:latin typeface="Noto Sans"/>
                <a:cs typeface="Noto Sans"/>
              </a:rPr>
              <a:t>exceptions</a:t>
            </a:r>
            <a:r>
              <a:rPr dirty="0" sz="1150" spc="-1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150" spc="-10">
                <a:solidFill>
                  <a:srgbClr val="556478"/>
                </a:solidFill>
                <a:latin typeface="Noto Sans"/>
                <a:cs typeface="Noto Sans"/>
              </a:rPr>
              <a:t>through governance.</a:t>
            </a:r>
            <a:endParaRPr sz="1150">
              <a:latin typeface="Noto Sans"/>
              <a:cs typeface="Noto Sans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478775" y="5922619"/>
            <a:ext cx="9300845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90">
                <a:solidFill>
                  <a:srgbClr val="0077D3"/>
                </a:solidFill>
                <a:latin typeface="Arial Black"/>
                <a:cs typeface="Arial Black"/>
              </a:rPr>
              <a:t>Submission</a:t>
            </a:r>
            <a:r>
              <a:rPr dirty="0" sz="1300" spc="-7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300" spc="-65">
                <a:solidFill>
                  <a:srgbClr val="0077D3"/>
                </a:solidFill>
                <a:latin typeface="Arial Black"/>
                <a:cs typeface="Arial Black"/>
              </a:rPr>
              <a:t>standard: </a:t>
            </a:r>
            <a:r>
              <a:rPr dirty="0" sz="1300" spc="-90">
                <a:solidFill>
                  <a:srgbClr val="0077D3"/>
                </a:solidFill>
                <a:latin typeface="Arial Black"/>
                <a:cs typeface="Arial Black"/>
              </a:rPr>
              <a:t>screenshot</a:t>
            </a:r>
            <a:r>
              <a:rPr dirty="0" sz="1300" spc="-65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300" spc="-30">
                <a:solidFill>
                  <a:srgbClr val="0077D3"/>
                </a:solidFill>
                <a:latin typeface="Arial Black"/>
                <a:cs typeface="Arial Black"/>
              </a:rPr>
              <a:t>or</a:t>
            </a:r>
            <a:r>
              <a:rPr dirty="0" sz="1300" spc="-7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300" spc="-110">
                <a:solidFill>
                  <a:srgbClr val="0077D3"/>
                </a:solidFill>
                <a:latin typeface="Arial Black"/>
                <a:cs typeface="Arial Black"/>
              </a:rPr>
              <a:t>CLI</a:t>
            </a:r>
            <a:r>
              <a:rPr dirty="0" sz="1300" spc="-65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300" spc="-95">
                <a:solidFill>
                  <a:srgbClr val="0077D3"/>
                </a:solidFill>
                <a:latin typeface="Arial Black"/>
                <a:cs typeface="Arial Black"/>
              </a:rPr>
              <a:t>evidence</a:t>
            </a:r>
            <a:r>
              <a:rPr dirty="0" sz="1300" spc="-65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300" spc="-130">
                <a:solidFill>
                  <a:srgbClr val="0077D3"/>
                </a:solidFill>
                <a:latin typeface="Arial Black"/>
                <a:cs typeface="Arial Black"/>
              </a:rPr>
              <a:t>+</a:t>
            </a:r>
            <a:r>
              <a:rPr dirty="0" sz="1300" spc="-65">
                <a:solidFill>
                  <a:srgbClr val="0077D3"/>
                </a:solidFill>
                <a:latin typeface="Arial Black"/>
                <a:cs typeface="Arial Black"/>
              </a:rPr>
              <a:t> result </a:t>
            </a:r>
            <a:r>
              <a:rPr dirty="0" sz="1300" spc="-125">
                <a:solidFill>
                  <a:srgbClr val="0077D3"/>
                </a:solidFill>
                <a:latin typeface="Arial Black"/>
                <a:cs typeface="Arial Black"/>
              </a:rPr>
              <a:t>+</a:t>
            </a:r>
            <a:r>
              <a:rPr dirty="0" sz="1300" spc="-7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300" spc="-45">
                <a:solidFill>
                  <a:srgbClr val="0077D3"/>
                </a:solidFill>
                <a:latin typeface="Arial Black"/>
                <a:cs typeface="Arial Black"/>
              </a:rPr>
              <a:t>brief</a:t>
            </a:r>
            <a:r>
              <a:rPr dirty="0" sz="1300" spc="-6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300" spc="-65">
                <a:solidFill>
                  <a:srgbClr val="0077D3"/>
                </a:solidFill>
                <a:latin typeface="Arial Black"/>
                <a:cs typeface="Arial Black"/>
              </a:rPr>
              <a:t>explanation </a:t>
            </a:r>
            <a:r>
              <a:rPr dirty="0" sz="1300" spc="-125">
                <a:solidFill>
                  <a:srgbClr val="0077D3"/>
                </a:solidFill>
                <a:latin typeface="Arial Black"/>
                <a:cs typeface="Arial Black"/>
              </a:rPr>
              <a:t>+</a:t>
            </a:r>
            <a:r>
              <a:rPr dirty="0" sz="1300" spc="-7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300" spc="-90">
                <a:solidFill>
                  <a:srgbClr val="0077D3"/>
                </a:solidFill>
                <a:latin typeface="Arial Black"/>
                <a:cs typeface="Arial Black"/>
              </a:rPr>
              <a:t>safe</a:t>
            </a:r>
            <a:r>
              <a:rPr dirty="0" sz="1300" spc="-65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300" spc="-60">
                <a:solidFill>
                  <a:srgbClr val="0077D3"/>
                </a:solidFill>
                <a:latin typeface="Arial Black"/>
                <a:cs typeface="Arial Black"/>
              </a:rPr>
              <a:t>remediation</a:t>
            </a:r>
            <a:r>
              <a:rPr dirty="0" sz="1300" spc="-7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300" spc="170">
                <a:solidFill>
                  <a:srgbClr val="0077D3"/>
                </a:solidFill>
                <a:latin typeface="Arial Black"/>
                <a:cs typeface="Arial Black"/>
              </a:rPr>
              <a:t>/</a:t>
            </a:r>
            <a:r>
              <a:rPr dirty="0" sz="1300" spc="-65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300" spc="-90">
                <a:solidFill>
                  <a:srgbClr val="0077D3"/>
                </a:solidFill>
                <a:latin typeface="Arial Black"/>
                <a:cs typeface="Arial Black"/>
              </a:rPr>
              <a:t>exception</a:t>
            </a:r>
            <a:r>
              <a:rPr dirty="0" sz="1300" spc="-7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300" spc="-10">
                <a:solidFill>
                  <a:srgbClr val="0077D3"/>
                </a:solidFill>
                <a:latin typeface="Arial Black"/>
                <a:cs typeface="Arial Black"/>
              </a:rPr>
              <a:t>note.</a:t>
            </a:r>
            <a:endParaRPr sz="1300">
              <a:latin typeface="Arial Black"/>
              <a:cs typeface="Arial Black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66635" y="6382435"/>
            <a:ext cx="11064240" cy="635"/>
          </a:xfrm>
          <a:custGeom>
            <a:avLst/>
            <a:gdLst/>
            <a:ahLst/>
            <a:cxnLst/>
            <a:rect l="l" t="t" r="r" b="b"/>
            <a:pathLst>
              <a:path w="11064240" h="635">
                <a:moveTo>
                  <a:pt x="0" y="0"/>
                </a:moveTo>
                <a:lnTo>
                  <a:pt x="11064240" y="368"/>
                </a:lnTo>
              </a:path>
            </a:pathLst>
          </a:custGeom>
          <a:ln w="8999">
            <a:solidFill>
              <a:srgbClr val="DBE4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90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 spc="-100"/>
              <a:t>DAY</a:t>
            </a:r>
            <a:r>
              <a:rPr dirty="0" spc="-55"/>
              <a:t> </a:t>
            </a:r>
            <a:r>
              <a:rPr dirty="0"/>
              <a:t>1</a:t>
            </a:r>
            <a:r>
              <a:rPr dirty="0" spc="105"/>
              <a:t> </a:t>
            </a:r>
            <a:r>
              <a:rPr dirty="0"/>
              <a:t>•</a:t>
            </a:r>
            <a:r>
              <a:rPr dirty="0" spc="130"/>
              <a:t> </a:t>
            </a:r>
            <a:r>
              <a:rPr dirty="0" spc="-70"/>
              <a:t>CLOUD</a:t>
            </a:r>
            <a:r>
              <a:rPr dirty="0" spc="-55"/>
              <a:t> </a:t>
            </a:r>
            <a:r>
              <a:rPr dirty="0" spc="-65"/>
              <a:t>FOUNDATIONS</a:t>
            </a:r>
            <a:r>
              <a:rPr dirty="0" spc="-55"/>
              <a:t> </a:t>
            </a:r>
            <a:r>
              <a:rPr dirty="0" spc="-105"/>
              <a:t>&amp;</a:t>
            </a:r>
            <a:r>
              <a:rPr dirty="0" spc="-50"/>
              <a:t> </a:t>
            </a:r>
            <a:r>
              <a:rPr dirty="0" spc="-95"/>
              <a:t>AZURE</a:t>
            </a:r>
            <a:r>
              <a:rPr dirty="0" spc="-55"/>
              <a:t> </a:t>
            </a:r>
            <a:r>
              <a:rPr dirty="0" spc="-50"/>
              <a:t>BASICS</a:t>
            </a:r>
          </a:p>
        </p:txBody>
      </p:sp>
      <p:sp>
        <p:nvSpPr>
          <p:cNvPr id="43" name="object 4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032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160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3935" y="299427"/>
            <a:ext cx="150876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85">
                <a:solidFill>
                  <a:srgbClr val="0077D3"/>
                </a:solidFill>
                <a:latin typeface="Arial Black"/>
                <a:cs typeface="Arial Black"/>
              </a:rPr>
              <a:t>K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>
                <a:solidFill>
                  <a:srgbClr val="0077D3"/>
                </a:solidFill>
                <a:latin typeface="Arial Black"/>
                <a:cs typeface="Arial Black"/>
              </a:rPr>
              <a:t>NOWL</a:t>
            </a:r>
            <a:r>
              <a:rPr dirty="0" sz="1000" spc="-204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75">
                <a:solidFill>
                  <a:srgbClr val="0077D3"/>
                </a:solidFill>
                <a:latin typeface="Arial Black"/>
                <a:cs typeface="Arial Black"/>
              </a:rPr>
              <a:t>E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45">
                <a:solidFill>
                  <a:srgbClr val="0077D3"/>
                </a:solidFill>
                <a:latin typeface="Arial Black"/>
                <a:cs typeface="Arial Black"/>
              </a:rPr>
              <a:t>D</a:t>
            </a:r>
            <a:r>
              <a:rPr dirty="0" sz="1000" spc="-204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25">
                <a:solidFill>
                  <a:srgbClr val="0077D3"/>
                </a:solidFill>
                <a:latin typeface="Arial Black"/>
                <a:cs typeface="Arial Black"/>
              </a:rPr>
              <a:t>G</a:t>
            </a:r>
            <a:r>
              <a:rPr dirty="0" sz="1000" spc="-204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>
                <a:solidFill>
                  <a:srgbClr val="0077D3"/>
                </a:solidFill>
                <a:latin typeface="Arial Black"/>
                <a:cs typeface="Arial Black"/>
              </a:rPr>
              <a:t>E</a:t>
            </a:r>
            <a:r>
              <a:rPr dirty="0" sz="1000" spc="19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45">
                <a:solidFill>
                  <a:srgbClr val="0077D3"/>
                </a:solidFill>
                <a:latin typeface="Arial Black"/>
                <a:cs typeface="Arial Black"/>
              </a:rPr>
              <a:t>C</a:t>
            </a:r>
            <a:r>
              <a:rPr dirty="0" sz="1000" spc="-204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85">
                <a:solidFill>
                  <a:srgbClr val="0077D3"/>
                </a:solidFill>
                <a:latin typeface="Arial Black"/>
                <a:cs typeface="Arial Black"/>
              </a:rPr>
              <a:t>H</a:t>
            </a:r>
            <a:r>
              <a:rPr dirty="0" sz="1000" spc="-204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75">
                <a:solidFill>
                  <a:srgbClr val="0077D3"/>
                </a:solidFill>
                <a:latin typeface="Arial Black"/>
                <a:cs typeface="Arial Black"/>
              </a:rPr>
              <a:t>E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45">
                <a:solidFill>
                  <a:srgbClr val="0077D3"/>
                </a:solidFill>
                <a:latin typeface="Arial Black"/>
                <a:cs typeface="Arial Black"/>
              </a:rPr>
              <a:t>C</a:t>
            </a:r>
            <a:r>
              <a:rPr dirty="0" sz="1000" spc="-204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90">
                <a:solidFill>
                  <a:srgbClr val="0077D3"/>
                </a:solidFill>
                <a:latin typeface="Arial Black"/>
                <a:cs typeface="Arial Black"/>
              </a:rPr>
              <a:t>K</a:t>
            </a:r>
            <a:endParaRPr sz="1000">
              <a:latin typeface="Arial Black"/>
              <a:cs typeface="Arial Black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54304" y="428977"/>
            <a:ext cx="8856980" cy="814705"/>
          </a:xfrm>
          <a:prstGeom prst="rect"/>
        </p:spPr>
        <p:txBody>
          <a:bodyPr wrap="square" lIns="0" tIns="133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0"/>
              </a:spcBef>
            </a:pPr>
            <a:r>
              <a:rPr dirty="0" sz="2700" spc="-165">
                <a:solidFill>
                  <a:srgbClr val="0F2339"/>
                </a:solidFill>
              </a:rPr>
              <a:t>Quick</a:t>
            </a:r>
            <a:r>
              <a:rPr dirty="0" sz="2700" spc="-180">
                <a:solidFill>
                  <a:srgbClr val="0F2339"/>
                </a:solidFill>
              </a:rPr>
              <a:t> </a:t>
            </a:r>
            <a:r>
              <a:rPr dirty="0" sz="2700" spc="-245">
                <a:solidFill>
                  <a:srgbClr val="0F2339"/>
                </a:solidFill>
              </a:rPr>
              <a:t>check</a:t>
            </a:r>
            <a:r>
              <a:rPr dirty="0" sz="2700" spc="-180">
                <a:solidFill>
                  <a:srgbClr val="0F2339"/>
                </a:solidFill>
              </a:rPr>
              <a:t> </a:t>
            </a:r>
            <a:r>
              <a:rPr dirty="0" sz="2700" spc="-340">
                <a:solidFill>
                  <a:srgbClr val="0F2339"/>
                </a:solidFill>
              </a:rPr>
              <a:t>•</a:t>
            </a:r>
            <a:r>
              <a:rPr dirty="0" sz="2700" spc="-175">
                <a:solidFill>
                  <a:srgbClr val="0F2339"/>
                </a:solidFill>
              </a:rPr>
              <a:t> </a:t>
            </a:r>
            <a:r>
              <a:rPr dirty="0" sz="2700" spc="-170">
                <a:solidFill>
                  <a:srgbClr val="0F2339"/>
                </a:solidFill>
              </a:rPr>
              <a:t>Answer</a:t>
            </a:r>
            <a:r>
              <a:rPr dirty="0" sz="2700" spc="-180">
                <a:solidFill>
                  <a:srgbClr val="0F2339"/>
                </a:solidFill>
              </a:rPr>
              <a:t> </a:t>
            </a:r>
            <a:r>
              <a:rPr dirty="0" sz="2700" spc="-95">
                <a:solidFill>
                  <a:srgbClr val="0F2339"/>
                </a:solidFill>
              </a:rPr>
              <a:t>individually</a:t>
            </a:r>
            <a:r>
              <a:rPr dirty="0" sz="2700" spc="-180">
                <a:solidFill>
                  <a:srgbClr val="0F2339"/>
                </a:solidFill>
              </a:rPr>
              <a:t> </a:t>
            </a:r>
            <a:r>
              <a:rPr dirty="0" sz="2700" spc="-120">
                <a:solidFill>
                  <a:srgbClr val="0F2339"/>
                </a:solidFill>
              </a:rPr>
              <a:t>before</a:t>
            </a:r>
            <a:r>
              <a:rPr dirty="0" sz="2700" spc="-175">
                <a:solidFill>
                  <a:srgbClr val="0F2339"/>
                </a:solidFill>
              </a:rPr>
              <a:t> </a:t>
            </a:r>
            <a:r>
              <a:rPr dirty="0" sz="2700" spc="-155">
                <a:solidFill>
                  <a:srgbClr val="0F2339"/>
                </a:solidFill>
              </a:rPr>
              <a:t>discussion</a:t>
            </a:r>
            <a:endParaRPr sz="2700"/>
          </a:p>
          <a:p>
            <a:pPr marL="30480">
              <a:lnSpc>
                <a:spcPct val="100000"/>
              </a:lnSpc>
              <a:spcBef>
                <a:spcPts val="459"/>
              </a:spcBef>
            </a:pP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These</a:t>
            </a:r>
            <a:r>
              <a:rPr dirty="0" sz="13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are</a:t>
            </a:r>
            <a:r>
              <a:rPr dirty="0" sz="13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designed</a:t>
            </a:r>
            <a:r>
              <a:rPr dirty="0" sz="130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to</a:t>
            </a:r>
            <a:r>
              <a:rPr dirty="0" sz="13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test</a:t>
            </a:r>
            <a:r>
              <a:rPr dirty="0" sz="13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understanding,</a:t>
            </a:r>
            <a:r>
              <a:rPr dirty="0" sz="130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not</a:t>
            </a:r>
            <a:r>
              <a:rPr dirty="0" sz="13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memorization</a:t>
            </a:r>
            <a:r>
              <a:rPr dirty="0" sz="13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of</a:t>
            </a:r>
            <a:r>
              <a:rPr dirty="0" sz="130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Portal</a:t>
            </a:r>
            <a:r>
              <a:rPr dirty="0" sz="13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labels.</a:t>
            </a:r>
            <a:endParaRPr sz="1300">
              <a:latin typeface="Noto Sans"/>
              <a:cs typeface="Noto San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66635" y="1417319"/>
            <a:ext cx="11064240" cy="635"/>
          </a:xfrm>
          <a:custGeom>
            <a:avLst/>
            <a:gdLst/>
            <a:ahLst/>
            <a:cxnLst/>
            <a:rect l="l" t="t" r="r" b="b"/>
            <a:pathLst>
              <a:path w="11064240" h="634">
                <a:moveTo>
                  <a:pt x="0" y="0"/>
                </a:moveTo>
                <a:lnTo>
                  <a:pt x="11064240" y="355"/>
                </a:lnTo>
              </a:path>
            </a:pathLst>
          </a:custGeom>
          <a:ln w="10079">
            <a:solidFill>
              <a:srgbClr val="DBE4ED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6" name="object 6"/>
          <p:cNvGrpSpPr/>
          <p:nvPr/>
        </p:nvGrpSpPr>
        <p:grpSpPr>
          <a:xfrm>
            <a:off x="863284" y="1731964"/>
            <a:ext cx="10480675" cy="1035050"/>
            <a:chOff x="863284" y="1731964"/>
            <a:chExt cx="10480675" cy="1035050"/>
          </a:xfrm>
        </p:grpSpPr>
        <p:sp>
          <p:nvSpPr>
            <p:cNvPr id="7" name="object 7"/>
            <p:cNvSpPr/>
            <p:nvPr/>
          </p:nvSpPr>
          <p:spPr>
            <a:xfrm>
              <a:off x="868324" y="1737004"/>
              <a:ext cx="10470515" cy="1024890"/>
            </a:xfrm>
            <a:custGeom>
              <a:avLst/>
              <a:gdLst/>
              <a:ahLst/>
              <a:cxnLst/>
              <a:rect l="l" t="t" r="r" b="b"/>
              <a:pathLst>
                <a:path w="10470515" h="1024889">
                  <a:moveTo>
                    <a:pt x="110159" y="0"/>
                  </a:moveTo>
                  <a:lnTo>
                    <a:pt x="68088" y="8352"/>
                  </a:lnTo>
                  <a:lnTo>
                    <a:pt x="32534" y="32213"/>
                  </a:lnTo>
                  <a:lnTo>
                    <a:pt x="8708" y="67882"/>
                  </a:lnTo>
                  <a:lnTo>
                    <a:pt x="355" y="109791"/>
                  </a:lnTo>
                  <a:lnTo>
                    <a:pt x="0" y="914755"/>
                  </a:lnTo>
                  <a:lnTo>
                    <a:pt x="939" y="929185"/>
                  </a:lnTo>
                  <a:lnTo>
                    <a:pt x="3735" y="943243"/>
                  </a:lnTo>
                  <a:lnTo>
                    <a:pt x="8301" y="956676"/>
                  </a:lnTo>
                  <a:lnTo>
                    <a:pt x="8352" y="956826"/>
                  </a:lnTo>
                  <a:lnTo>
                    <a:pt x="32213" y="992379"/>
                  </a:lnTo>
                  <a:lnTo>
                    <a:pt x="67882" y="1016201"/>
                  </a:lnTo>
                  <a:lnTo>
                    <a:pt x="109791" y="1024559"/>
                  </a:lnTo>
                  <a:lnTo>
                    <a:pt x="10360431" y="1024559"/>
                  </a:lnTo>
                  <a:lnTo>
                    <a:pt x="10402502" y="1016201"/>
                  </a:lnTo>
                  <a:lnTo>
                    <a:pt x="10438006" y="992379"/>
                  </a:lnTo>
                  <a:lnTo>
                    <a:pt x="10461807" y="956826"/>
                  </a:lnTo>
                  <a:lnTo>
                    <a:pt x="10470235" y="914755"/>
                  </a:lnTo>
                  <a:lnTo>
                    <a:pt x="10470211" y="109791"/>
                  </a:lnTo>
                  <a:lnTo>
                    <a:pt x="10461882" y="68088"/>
                  </a:lnTo>
                  <a:lnTo>
                    <a:pt x="10438012" y="32534"/>
                  </a:lnTo>
                  <a:lnTo>
                    <a:pt x="10402352" y="8708"/>
                  </a:lnTo>
                  <a:lnTo>
                    <a:pt x="10360431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868324" y="1737004"/>
              <a:ext cx="10470515" cy="1024890"/>
            </a:xfrm>
            <a:custGeom>
              <a:avLst/>
              <a:gdLst/>
              <a:ahLst/>
              <a:cxnLst/>
              <a:rect l="l" t="t" r="r" b="b"/>
              <a:pathLst>
                <a:path w="10470515" h="1024889">
                  <a:moveTo>
                    <a:pt x="355" y="109791"/>
                  </a:moveTo>
                  <a:lnTo>
                    <a:pt x="1295" y="95374"/>
                  </a:lnTo>
                  <a:lnTo>
                    <a:pt x="4090" y="81359"/>
                  </a:lnTo>
                  <a:lnTo>
                    <a:pt x="23133" y="43003"/>
                  </a:lnTo>
                  <a:lnTo>
                    <a:pt x="55079" y="14757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10360431" y="355"/>
                  </a:lnTo>
                  <a:lnTo>
                    <a:pt x="10402352" y="8708"/>
                  </a:lnTo>
                  <a:lnTo>
                    <a:pt x="10438012" y="32534"/>
                  </a:lnTo>
                  <a:lnTo>
                    <a:pt x="10461882" y="68088"/>
                  </a:lnTo>
                  <a:lnTo>
                    <a:pt x="10470235" y="110159"/>
                  </a:lnTo>
                  <a:lnTo>
                    <a:pt x="10470235" y="914755"/>
                  </a:lnTo>
                  <a:lnTo>
                    <a:pt x="10469295" y="929180"/>
                  </a:lnTo>
                  <a:lnTo>
                    <a:pt x="10466500" y="943198"/>
                  </a:lnTo>
                  <a:lnTo>
                    <a:pt x="10447458" y="981548"/>
                  </a:lnTo>
                  <a:lnTo>
                    <a:pt x="10415511" y="1009789"/>
                  </a:lnTo>
                  <a:lnTo>
                    <a:pt x="10374861" y="1023620"/>
                  </a:lnTo>
                  <a:lnTo>
                    <a:pt x="10360431" y="1024559"/>
                  </a:lnTo>
                  <a:lnTo>
                    <a:pt x="109791" y="1024559"/>
                  </a:lnTo>
                  <a:lnTo>
                    <a:pt x="67882" y="1016201"/>
                  </a:lnTo>
                  <a:lnTo>
                    <a:pt x="32213" y="992379"/>
                  </a:lnTo>
                  <a:lnTo>
                    <a:pt x="8352" y="956826"/>
                  </a:lnTo>
                  <a:lnTo>
                    <a:pt x="0" y="914755"/>
                  </a:lnTo>
                  <a:lnTo>
                    <a:pt x="355" y="109791"/>
                  </a:lnTo>
                  <a:close/>
                </a:path>
              </a:pathLst>
            </a:custGeom>
            <a:ln w="10079">
              <a:solidFill>
                <a:srgbClr val="DBE4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078560" y="1901520"/>
              <a:ext cx="594995" cy="293370"/>
            </a:xfrm>
            <a:custGeom>
              <a:avLst/>
              <a:gdLst/>
              <a:ahLst/>
              <a:cxnLst/>
              <a:rect l="l" t="t" r="r" b="b"/>
              <a:pathLst>
                <a:path w="594994" h="293369">
                  <a:moveTo>
                    <a:pt x="110159" y="0"/>
                  </a:moveTo>
                  <a:lnTo>
                    <a:pt x="68088" y="8352"/>
                  </a:lnTo>
                  <a:lnTo>
                    <a:pt x="32535" y="32223"/>
                  </a:lnTo>
                  <a:lnTo>
                    <a:pt x="8713" y="67882"/>
                  </a:lnTo>
                  <a:lnTo>
                    <a:pt x="355" y="109804"/>
                  </a:lnTo>
                  <a:lnTo>
                    <a:pt x="0" y="183235"/>
                  </a:lnTo>
                  <a:lnTo>
                    <a:pt x="939" y="197665"/>
                  </a:lnTo>
                  <a:lnTo>
                    <a:pt x="14757" y="238315"/>
                  </a:lnTo>
                  <a:lnTo>
                    <a:pt x="43010" y="270262"/>
                  </a:lnTo>
                  <a:lnTo>
                    <a:pt x="81360" y="289304"/>
                  </a:lnTo>
                  <a:lnTo>
                    <a:pt x="109804" y="293039"/>
                  </a:lnTo>
                  <a:lnTo>
                    <a:pt x="484924" y="293039"/>
                  </a:lnTo>
                  <a:lnTo>
                    <a:pt x="526988" y="284686"/>
                  </a:lnTo>
                  <a:lnTo>
                    <a:pt x="562497" y="260861"/>
                  </a:lnTo>
                  <a:lnTo>
                    <a:pt x="586287" y="225306"/>
                  </a:lnTo>
                  <a:lnTo>
                    <a:pt x="586362" y="225156"/>
                  </a:lnTo>
                  <a:lnTo>
                    <a:pt x="590964" y="211723"/>
                  </a:lnTo>
                  <a:lnTo>
                    <a:pt x="593774" y="197665"/>
                  </a:lnTo>
                  <a:lnTo>
                    <a:pt x="594715" y="183235"/>
                  </a:lnTo>
                  <a:lnTo>
                    <a:pt x="594692" y="109804"/>
                  </a:lnTo>
                  <a:lnTo>
                    <a:pt x="586362" y="68088"/>
                  </a:lnTo>
                  <a:lnTo>
                    <a:pt x="562502" y="32535"/>
                  </a:lnTo>
                  <a:lnTo>
                    <a:pt x="526832" y="8713"/>
                  </a:lnTo>
                  <a:lnTo>
                    <a:pt x="48492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9F3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078560" y="1901520"/>
              <a:ext cx="594995" cy="293370"/>
            </a:xfrm>
            <a:custGeom>
              <a:avLst/>
              <a:gdLst/>
              <a:ahLst/>
              <a:cxnLst/>
              <a:rect l="l" t="t" r="r" b="b"/>
              <a:pathLst>
                <a:path w="594994" h="293369">
                  <a:moveTo>
                    <a:pt x="355" y="109804"/>
                  </a:moveTo>
                  <a:lnTo>
                    <a:pt x="1295" y="95379"/>
                  </a:lnTo>
                  <a:lnTo>
                    <a:pt x="4092" y="81360"/>
                  </a:lnTo>
                  <a:lnTo>
                    <a:pt x="23138" y="43010"/>
                  </a:lnTo>
                  <a:lnTo>
                    <a:pt x="55079" y="14757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484924" y="355"/>
                  </a:lnTo>
                  <a:lnTo>
                    <a:pt x="526832" y="8713"/>
                  </a:lnTo>
                  <a:lnTo>
                    <a:pt x="562502" y="32535"/>
                  </a:lnTo>
                  <a:lnTo>
                    <a:pt x="586362" y="68088"/>
                  </a:lnTo>
                  <a:lnTo>
                    <a:pt x="594715" y="110159"/>
                  </a:lnTo>
                  <a:lnTo>
                    <a:pt x="594715" y="183235"/>
                  </a:lnTo>
                  <a:lnTo>
                    <a:pt x="593775" y="197660"/>
                  </a:lnTo>
                  <a:lnTo>
                    <a:pt x="590980" y="211678"/>
                  </a:lnTo>
                  <a:lnTo>
                    <a:pt x="571945" y="250028"/>
                  </a:lnTo>
                  <a:lnTo>
                    <a:pt x="540004" y="278282"/>
                  </a:lnTo>
                  <a:lnTo>
                    <a:pt x="499347" y="292100"/>
                  </a:lnTo>
                  <a:lnTo>
                    <a:pt x="484924" y="293039"/>
                  </a:lnTo>
                  <a:lnTo>
                    <a:pt x="109804" y="293039"/>
                  </a:lnTo>
                  <a:lnTo>
                    <a:pt x="67882" y="284686"/>
                  </a:lnTo>
                  <a:lnTo>
                    <a:pt x="32223" y="260861"/>
                  </a:lnTo>
                  <a:lnTo>
                    <a:pt x="8352" y="225306"/>
                  </a:lnTo>
                  <a:lnTo>
                    <a:pt x="0" y="183235"/>
                  </a:lnTo>
                  <a:lnTo>
                    <a:pt x="355" y="109804"/>
                  </a:lnTo>
                  <a:close/>
                </a:path>
              </a:pathLst>
            </a:custGeom>
            <a:ln w="10079">
              <a:solidFill>
                <a:srgbClr val="E9F3F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1276819" y="1954339"/>
            <a:ext cx="19875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50">
                <a:solidFill>
                  <a:srgbClr val="0077D3"/>
                </a:solidFill>
                <a:latin typeface="Arial Black"/>
                <a:cs typeface="Arial Black"/>
              </a:rPr>
              <a:t>Q1</a:t>
            </a:r>
            <a:endParaRPr sz="1000">
              <a:latin typeface="Arial Black"/>
              <a:cs typeface="Arial Black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861820" y="1875497"/>
            <a:ext cx="7061200" cy="6375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85">
                <a:solidFill>
                  <a:srgbClr val="0F2339"/>
                </a:solidFill>
                <a:latin typeface="Arial Black"/>
                <a:cs typeface="Arial Black"/>
              </a:rPr>
              <a:t>Which </a:t>
            </a:r>
            <a:r>
              <a:rPr dirty="0" sz="1500" spc="-110">
                <a:solidFill>
                  <a:srgbClr val="0F2339"/>
                </a:solidFill>
                <a:latin typeface="Arial Black"/>
                <a:cs typeface="Arial Black"/>
              </a:rPr>
              <a:t>service</a:t>
            </a:r>
            <a:r>
              <a:rPr dirty="0" sz="1500" spc="-8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500" spc="-70">
                <a:solidFill>
                  <a:srgbClr val="0F2339"/>
                </a:solidFill>
                <a:latin typeface="Arial Black"/>
                <a:cs typeface="Arial Black"/>
              </a:rPr>
              <a:t>model</a:t>
            </a:r>
            <a:r>
              <a:rPr dirty="0" sz="1500" spc="-8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500" spc="-55">
                <a:solidFill>
                  <a:srgbClr val="0F2339"/>
                </a:solidFill>
                <a:latin typeface="Arial Black"/>
                <a:cs typeface="Arial Black"/>
              </a:rPr>
              <a:t>normally</a:t>
            </a:r>
            <a:r>
              <a:rPr dirty="0" sz="1500" spc="-8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500" spc="-90">
                <a:solidFill>
                  <a:srgbClr val="0F2339"/>
                </a:solidFill>
                <a:latin typeface="Arial Black"/>
                <a:cs typeface="Arial Black"/>
              </a:rPr>
              <a:t>gives</a:t>
            </a:r>
            <a:r>
              <a:rPr dirty="0" sz="1500" spc="-8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500" spc="-55">
                <a:solidFill>
                  <a:srgbClr val="0F2339"/>
                </a:solidFill>
                <a:latin typeface="Arial Black"/>
                <a:cs typeface="Arial Black"/>
              </a:rPr>
              <a:t>you</a:t>
            </a:r>
            <a:r>
              <a:rPr dirty="0" sz="1500" spc="-8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500" spc="-75">
                <a:solidFill>
                  <a:srgbClr val="0F2339"/>
                </a:solidFill>
                <a:latin typeface="Arial Black"/>
                <a:cs typeface="Arial Black"/>
              </a:rPr>
              <a:t>guest-</a:t>
            </a:r>
            <a:r>
              <a:rPr dirty="0" sz="1500" spc="-165">
                <a:solidFill>
                  <a:srgbClr val="0F2339"/>
                </a:solidFill>
                <a:latin typeface="Arial Black"/>
                <a:cs typeface="Arial Black"/>
              </a:rPr>
              <a:t>OS</a:t>
            </a:r>
            <a:r>
              <a:rPr dirty="0" sz="1500" spc="-8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500" spc="-75">
                <a:solidFill>
                  <a:srgbClr val="0F2339"/>
                </a:solidFill>
                <a:latin typeface="Arial Black"/>
                <a:cs typeface="Arial Black"/>
              </a:rPr>
              <a:t>patching</a:t>
            </a:r>
            <a:r>
              <a:rPr dirty="0" sz="1500" spc="-8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500" spc="-55">
                <a:solidFill>
                  <a:srgbClr val="0F2339"/>
                </a:solidFill>
                <a:latin typeface="Arial Black"/>
                <a:cs typeface="Arial Black"/>
              </a:rPr>
              <a:t>responsibility?</a:t>
            </a:r>
            <a:endParaRPr sz="15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1520"/>
              </a:spcBef>
            </a:pPr>
            <a:r>
              <a:rPr dirty="0" sz="1250">
                <a:solidFill>
                  <a:srgbClr val="556478"/>
                </a:solidFill>
                <a:latin typeface="Noto Sans"/>
                <a:cs typeface="Noto Sans"/>
              </a:rPr>
              <a:t>A.</a:t>
            </a:r>
            <a:r>
              <a:rPr dirty="0" sz="1250" spc="-1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50">
                <a:solidFill>
                  <a:srgbClr val="556478"/>
                </a:solidFill>
                <a:latin typeface="Noto Sans"/>
                <a:cs typeface="Noto Sans"/>
              </a:rPr>
              <a:t>IaaS</a:t>
            </a:r>
            <a:r>
              <a:rPr dirty="0" sz="1250" spc="145">
                <a:solidFill>
                  <a:srgbClr val="556478"/>
                </a:solidFill>
                <a:latin typeface="Noto Sans"/>
                <a:cs typeface="Noto Sans"/>
              </a:rPr>
              <a:t>  </a:t>
            </a:r>
            <a:r>
              <a:rPr dirty="0" sz="1250">
                <a:solidFill>
                  <a:srgbClr val="556478"/>
                </a:solidFill>
                <a:latin typeface="Noto Sans"/>
                <a:cs typeface="Noto Sans"/>
              </a:rPr>
              <a:t>B.</a:t>
            </a:r>
            <a:r>
              <a:rPr dirty="0" sz="1250" spc="-1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50">
                <a:solidFill>
                  <a:srgbClr val="556478"/>
                </a:solidFill>
                <a:latin typeface="Noto Sans"/>
                <a:cs typeface="Noto Sans"/>
              </a:rPr>
              <a:t>PaaS</a:t>
            </a:r>
            <a:r>
              <a:rPr dirty="0" sz="1250" spc="145">
                <a:solidFill>
                  <a:srgbClr val="556478"/>
                </a:solidFill>
                <a:latin typeface="Noto Sans"/>
                <a:cs typeface="Noto Sans"/>
              </a:rPr>
              <a:t>  </a:t>
            </a:r>
            <a:r>
              <a:rPr dirty="0" sz="1250">
                <a:solidFill>
                  <a:srgbClr val="556478"/>
                </a:solidFill>
                <a:latin typeface="Noto Sans"/>
                <a:cs typeface="Noto Sans"/>
              </a:rPr>
              <a:t>C.</a:t>
            </a:r>
            <a:r>
              <a:rPr dirty="0" sz="1250" spc="-1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50" spc="-20">
                <a:solidFill>
                  <a:srgbClr val="556478"/>
                </a:solidFill>
                <a:latin typeface="Noto Sans"/>
                <a:cs typeface="Noto Sans"/>
              </a:rPr>
              <a:t>SaaS</a:t>
            </a:r>
            <a:endParaRPr sz="1250">
              <a:latin typeface="Noto Sans"/>
              <a:cs typeface="Noto Sans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863284" y="3039480"/>
            <a:ext cx="10480675" cy="1035050"/>
            <a:chOff x="863284" y="3039480"/>
            <a:chExt cx="10480675" cy="1035050"/>
          </a:xfrm>
        </p:grpSpPr>
        <p:sp>
          <p:nvSpPr>
            <p:cNvPr id="14" name="object 14"/>
            <p:cNvSpPr/>
            <p:nvPr/>
          </p:nvSpPr>
          <p:spPr>
            <a:xfrm>
              <a:off x="868324" y="3044520"/>
              <a:ext cx="10470515" cy="1024890"/>
            </a:xfrm>
            <a:custGeom>
              <a:avLst/>
              <a:gdLst/>
              <a:ahLst/>
              <a:cxnLst/>
              <a:rect l="l" t="t" r="r" b="b"/>
              <a:pathLst>
                <a:path w="10470515" h="1024889">
                  <a:moveTo>
                    <a:pt x="110159" y="0"/>
                  </a:moveTo>
                  <a:lnTo>
                    <a:pt x="68088" y="8352"/>
                  </a:lnTo>
                  <a:lnTo>
                    <a:pt x="32534" y="32223"/>
                  </a:lnTo>
                  <a:lnTo>
                    <a:pt x="8708" y="67882"/>
                  </a:lnTo>
                  <a:lnTo>
                    <a:pt x="355" y="109804"/>
                  </a:lnTo>
                  <a:lnTo>
                    <a:pt x="0" y="914755"/>
                  </a:lnTo>
                  <a:lnTo>
                    <a:pt x="939" y="929185"/>
                  </a:lnTo>
                  <a:lnTo>
                    <a:pt x="3735" y="943243"/>
                  </a:lnTo>
                  <a:lnTo>
                    <a:pt x="8301" y="956676"/>
                  </a:lnTo>
                  <a:lnTo>
                    <a:pt x="8352" y="956826"/>
                  </a:lnTo>
                  <a:lnTo>
                    <a:pt x="14757" y="969835"/>
                  </a:lnTo>
                  <a:lnTo>
                    <a:pt x="22674" y="981548"/>
                  </a:lnTo>
                  <a:lnTo>
                    <a:pt x="22775" y="981698"/>
                  </a:lnTo>
                  <a:lnTo>
                    <a:pt x="55079" y="1009802"/>
                  </a:lnTo>
                  <a:lnTo>
                    <a:pt x="95374" y="1023620"/>
                  </a:lnTo>
                  <a:lnTo>
                    <a:pt x="109791" y="1024559"/>
                  </a:lnTo>
                  <a:lnTo>
                    <a:pt x="10360431" y="1024559"/>
                  </a:lnTo>
                  <a:lnTo>
                    <a:pt x="10402502" y="1016206"/>
                  </a:lnTo>
                  <a:lnTo>
                    <a:pt x="10438006" y="992381"/>
                  </a:lnTo>
                  <a:lnTo>
                    <a:pt x="10461807" y="956826"/>
                  </a:lnTo>
                  <a:lnTo>
                    <a:pt x="10470235" y="914755"/>
                  </a:lnTo>
                  <a:lnTo>
                    <a:pt x="10470212" y="109804"/>
                  </a:lnTo>
                  <a:lnTo>
                    <a:pt x="10461882" y="68088"/>
                  </a:lnTo>
                  <a:lnTo>
                    <a:pt x="10438012" y="32535"/>
                  </a:lnTo>
                  <a:lnTo>
                    <a:pt x="10402352" y="8713"/>
                  </a:lnTo>
                  <a:lnTo>
                    <a:pt x="10360431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868324" y="3044520"/>
              <a:ext cx="10470515" cy="1024890"/>
            </a:xfrm>
            <a:custGeom>
              <a:avLst/>
              <a:gdLst/>
              <a:ahLst/>
              <a:cxnLst/>
              <a:rect l="l" t="t" r="r" b="b"/>
              <a:pathLst>
                <a:path w="10470515" h="1024889">
                  <a:moveTo>
                    <a:pt x="355" y="109804"/>
                  </a:moveTo>
                  <a:lnTo>
                    <a:pt x="1295" y="95379"/>
                  </a:lnTo>
                  <a:lnTo>
                    <a:pt x="4090" y="81360"/>
                  </a:lnTo>
                  <a:lnTo>
                    <a:pt x="23133" y="43010"/>
                  </a:lnTo>
                  <a:lnTo>
                    <a:pt x="55079" y="14757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10360431" y="355"/>
                  </a:lnTo>
                  <a:lnTo>
                    <a:pt x="10402352" y="8713"/>
                  </a:lnTo>
                  <a:lnTo>
                    <a:pt x="10438012" y="32535"/>
                  </a:lnTo>
                  <a:lnTo>
                    <a:pt x="10461882" y="68088"/>
                  </a:lnTo>
                  <a:lnTo>
                    <a:pt x="10470235" y="110159"/>
                  </a:lnTo>
                  <a:lnTo>
                    <a:pt x="10470235" y="914755"/>
                  </a:lnTo>
                  <a:lnTo>
                    <a:pt x="10469295" y="929180"/>
                  </a:lnTo>
                  <a:lnTo>
                    <a:pt x="10466500" y="943198"/>
                  </a:lnTo>
                  <a:lnTo>
                    <a:pt x="10447458" y="981548"/>
                  </a:lnTo>
                  <a:lnTo>
                    <a:pt x="10415511" y="1009802"/>
                  </a:lnTo>
                  <a:lnTo>
                    <a:pt x="10374861" y="1023620"/>
                  </a:lnTo>
                  <a:lnTo>
                    <a:pt x="10360431" y="1024559"/>
                  </a:lnTo>
                  <a:lnTo>
                    <a:pt x="109791" y="1024559"/>
                  </a:lnTo>
                  <a:lnTo>
                    <a:pt x="67882" y="1016206"/>
                  </a:lnTo>
                  <a:lnTo>
                    <a:pt x="32213" y="992381"/>
                  </a:lnTo>
                  <a:lnTo>
                    <a:pt x="8352" y="956826"/>
                  </a:lnTo>
                  <a:lnTo>
                    <a:pt x="0" y="914755"/>
                  </a:lnTo>
                  <a:lnTo>
                    <a:pt x="355" y="109804"/>
                  </a:lnTo>
                  <a:close/>
                </a:path>
              </a:pathLst>
            </a:custGeom>
            <a:ln w="10079">
              <a:solidFill>
                <a:srgbClr val="DBE4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078560" y="3209036"/>
              <a:ext cx="594995" cy="293370"/>
            </a:xfrm>
            <a:custGeom>
              <a:avLst/>
              <a:gdLst/>
              <a:ahLst/>
              <a:cxnLst/>
              <a:rect l="l" t="t" r="r" b="b"/>
              <a:pathLst>
                <a:path w="594994" h="293370">
                  <a:moveTo>
                    <a:pt x="110159" y="0"/>
                  </a:moveTo>
                  <a:lnTo>
                    <a:pt x="68088" y="8358"/>
                  </a:lnTo>
                  <a:lnTo>
                    <a:pt x="32535" y="32224"/>
                  </a:lnTo>
                  <a:lnTo>
                    <a:pt x="8713" y="67882"/>
                  </a:lnTo>
                  <a:lnTo>
                    <a:pt x="355" y="109804"/>
                  </a:lnTo>
                  <a:lnTo>
                    <a:pt x="0" y="183248"/>
                  </a:lnTo>
                  <a:lnTo>
                    <a:pt x="939" y="197671"/>
                  </a:lnTo>
                  <a:lnTo>
                    <a:pt x="3735" y="211726"/>
                  </a:lnTo>
                  <a:lnTo>
                    <a:pt x="8300" y="225157"/>
                  </a:lnTo>
                  <a:lnTo>
                    <a:pt x="8352" y="225312"/>
                  </a:lnTo>
                  <a:lnTo>
                    <a:pt x="32223" y="260872"/>
                  </a:lnTo>
                  <a:lnTo>
                    <a:pt x="67882" y="284686"/>
                  </a:lnTo>
                  <a:lnTo>
                    <a:pt x="109804" y="293039"/>
                  </a:lnTo>
                  <a:lnTo>
                    <a:pt x="484924" y="293039"/>
                  </a:lnTo>
                  <a:lnTo>
                    <a:pt x="526988" y="284686"/>
                  </a:lnTo>
                  <a:lnTo>
                    <a:pt x="562495" y="260872"/>
                  </a:lnTo>
                  <a:lnTo>
                    <a:pt x="586285" y="225312"/>
                  </a:lnTo>
                  <a:lnTo>
                    <a:pt x="594715" y="183248"/>
                  </a:lnTo>
                  <a:lnTo>
                    <a:pt x="594692" y="109804"/>
                  </a:lnTo>
                  <a:lnTo>
                    <a:pt x="586362" y="68095"/>
                  </a:lnTo>
                  <a:lnTo>
                    <a:pt x="562502" y="32535"/>
                  </a:lnTo>
                  <a:lnTo>
                    <a:pt x="526832" y="8721"/>
                  </a:lnTo>
                  <a:lnTo>
                    <a:pt x="484924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9F3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1078560" y="3209036"/>
              <a:ext cx="594995" cy="293370"/>
            </a:xfrm>
            <a:custGeom>
              <a:avLst/>
              <a:gdLst/>
              <a:ahLst/>
              <a:cxnLst/>
              <a:rect l="l" t="t" r="r" b="b"/>
              <a:pathLst>
                <a:path w="594994" h="293370">
                  <a:moveTo>
                    <a:pt x="355" y="109804"/>
                  </a:moveTo>
                  <a:lnTo>
                    <a:pt x="1295" y="95379"/>
                  </a:lnTo>
                  <a:lnTo>
                    <a:pt x="4092" y="81360"/>
                  </a:lnTo>
                  <a:lnTo>
                    <a:pt x="23138" y="43011"/>
                  </a:lnTo>
                  <a:lnTo>
                    <a:pt x="55079" y="14770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484924" y="368"/>
                  </a:lnTo>
                  <a:lnTo>
                    <a:pt x="526832" y="8721"/>
                  </a:lnTo>
                  <a:lnTo>
                    <a:pt x="562502" y="32535"/>
                  </a:lnTo>
                  <a:lnTo>
                    <a:pt x="586362" y="68095"/>
                  </a:lnTo>
                  <a:lnTo>
                    <a:pt x="594715" y="110159"/>
                  </a:lnTo>
                  <a:lnTo>
                    <a:pt x="594715" y="183248"/>
                  </a:lnTo>
                  <a:lnTo>
                    <a:pt x="593775" y="197665"/>
                  </a:lnTo>
                  <a:lnTo>
                    <a:pt x="590980" y="211680"/>
                  </a:lnTo>
                  <a:lnTo>
                    <a:pt x="571945" y="250036"/>
                  </a:lnTo>
                  <a:lnTo>
                    <a:pt x="540004" y="278282"/>
                  </a:lnTo>
                  <a:lnTo>
                    <a:pt x="499347" y="292100"/>
                  </a:lnTo>
                  <a:lnTo>
                    <a:pt x="484924" y="293039"/>
                  </a:lnTo>
                  <a:lnTo>
                    <a:pt x="109804" y="293039"/>
                  </a:lnTo>
                  <a:lnTo>
                    <a:pt x="67882" y="284686"/>
                  </a:lnTo>
                  <a:lnTo>
                    <a:pt x="32223" y="260872"/>
                  </a:lnTo>
                  <a:lnTo>
                    <a:pt x="8352" y="225312"/>
                  </a:lnTo>
                  <a:lnTo>
                    <a:pt x="0" y="183248"/>
                  </a:lnTo>
                  <a:lnTo>
                    <a:pt x="355" y="109804"/>
                  </a:lnTo>
                  <a:close/>
                </a:path>
              </a:pathLst>
            </a:custGeom>
            <a:ln w="10079">
              <a:solidFill>
                <a:srgbClr val="E9F3F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1276819" y="3262223"/>
            <a:ext cx="19875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50">
                <a:solidFill>
                  <a:srgbClr val="0077D3"/>
                </a:solidFill>
                <a:latin typeface="Arial Black"/>
                <a:cs typeface="Arial Black"/>
              </a:rPr>
              <a:t>Q2</a:t>
            </a:r>
            <a:endParaRPr sz="1000">
              <a:latin typeface="Arial Black"/>
              <a:cs typeface="Arial Black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861820" y="3183026"/>
            <a:ext cx="6484620" cy="6375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85">
                <a:solidFill>
                  <a:srgbClr val="0F2339"/>
                </a:solidFill>
                <a:latin typeface="Arial Black"/>
                <a:cs typeface="Arial Black"/>
              </a:rPr>
              <a:t>Which</a:t>
            </a:r>
            <a:r>
              <a:rPr dirty="0" sz="1500" spc="-9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500" spc="-105">
                <a:solidFill>
                  <a:srgbClr val="0F2339"/>
                </a:solidFill>
                <a:latin typeface="Arial Black"/>
                <a:cs typeface="Arial Black"/>
              </a:rPr>
              <a:t>resource</a:t>
            </a:r>
            <a:r>
              <a:rPr dirty="0" sz="1500" spc="-8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500" spc="-50">
                <a:solidFill>
                  <a:srgbClr val="0F2339"/>
                </a:solidFill>
                <a:latin typeface="Arial Black"/>
                <a:cs typeface="Arial Black"/>
              </a:rPr>
              <a:t>grouping</a:t>
            </a:r>
            <a:r>
              <a:rPr dirty="0" sz="1500" spc="-8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500" spc="-110">
                <a:solidFill>
                  <a:srgbClr val="0F2339"/>
                </a:solidFill>
                <a:latin typeface="Arial Black"/>
                <a:cs typeface="Arial Black"/>
              </a:rPr>
              <a:t>is</a:t>
            </a:r>
            <a:r>
              <a:rPr dirty="0" sz="1500" spc="-8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500" spc="-95">
                <a:solidFill>
                  <a:srgbClr val="0F2339"/>
                </a:solidFill>
                <a:latin typeface="Arial Black"/>
                <a:cs typeface="Arial Black"/>
              </a:rPr>
              <a:t>best</a:t>
            </a:r>
            <a:r>
              <a:rPr dirty="0" sz="1500" spc="-8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500" spc="-25">
                <a:solidFill>
                  <a:srgbClr val="0F2339"/>
                </a:solidFill>
                <a:latin typeface="Arial Black"/>
                <a:cs typeface="Arial Black"/>
              </a:rPr>
              <a:t>for</a:t>
            </a:r>
            <a:r>
              <a:rPr dirty="0" sz="1500" spc="-8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500" spc="-114">
                <a:solidFill>
                  <a:srgbClr val="0F2339"/>
                </a:solidFill>
                <a:latin typeface="Arial Black"/>
                <a:cs typeface="Arial Black"/>
              </a:rPr>
              <a:t>resources</a:t>
            </a:r>
            <a:r>
              <a:rPr dirty="0" sz="1500" spc="-8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500" spc="-45">
                <a:solidFill>
                  <a:srgbClr val="0F2339"/>
                </a:solidFill>
                <a:latin typeface="Arial Black"/>
                <a:cs typeface="Arial Black"/>
              </a:rPr>
              <a:t>that</a:t>
            </a:r>
            <a:r>
              <a:rPr dirty="0" sz="1500" spc="-8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500" spc="-95">
                <a:solidFill>
                  <a:srgbClr val="0F2339"/>
                </a:solidFill>
                <a:latin typeface="Arial Black"/>
                <a:cs typeface="Arial Black"/>
              </a:rPr>
              <a:t>share</a:t>
            </a:r>
            <a:r>
              <a:rPr dirty="0" sz="1500" spc="-8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500" spc="-100">
                <a:solidFill>
                  <a:srgbClr val="0F2339"/>
                </a:solidFill>
                <a:latin typeface="Arial Black"/>
                <a:cs typeface="Arial Black"/>
              </a:rPr>
              <a:t>a</a:t>
            </a:r>
            <a:r>
              <a:rPr dirty="0" sz="1500" spc="-9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500" spc="-80">
                <a:solidFill>
                  <a:srgbClr val="0F2339"/>
                </a:solidFill>
                <a:latin typeface="Arial Black"/>
                <a:cs typeface="Arial Black"/>
              </a:rPr>
              <a:t>lifecycle?</a:t>
            </a:r>
            <a:endParaRPr sz="15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1520"/>
              </a:spcBef>
            </a:pPr>
            <a:r>
              <a:rPr dirty="0" sz="1250">
                <a:solidFill>
                  <a:srgbClr val="556478"/>
                </a:solidFill>
                <a:latin typeface="Noto Sans"/>
                <a:cs typeface="Noto Sans"/>
              </a:rPr>
              <a:t>A.</a:t>
            </a:r>
            <a:r>
              <a:rPr dirty="0" sz="1250" spc="-2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50">
                <a:solidFill>
                  <a:srgbClr val="556478"/>
                </a:solidFill>
                <a:latin typeface="Noto Sans"/>
                <a:cs typeface="Noto Sans"/>
              </a:rPr>
              <a:t>Availability</a:t>
            </a:r>
            <a:r>
              <a:rPr dirty="0" sz="1250" spc="-2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50">
                <a:solidFill>
                  <a:srgbClr val="556478"/>
                </a:solidFill>
                <a:latin typeface="Noto Sans"/>
                <a:cs typeface="Noto Sans"/>
              </a:rPr>
              <a:t>Zone</a:t>
            </a:r>
            <a:r>
              <a:rPr dirty="0" sz="1250" spc="130">
                <a:solidFill>
                  <a:srgbClr val="556478"/>
                </a:solidFill>
                <a:latin typeface="Noto Sans"/>
                <a:cs typeface="Noto Sans"/>
              </a:rPr>
              <a:t>  </a:t>
            </a:r>
            <a:r>
              <a:rPr dirty="0" sz="1250">
                <a:solidFill>
                  <a:srgbClr val="556478"/>
                </a:solidFill>
                <a:latin typeface="Noto Sans"/>
                <a:cs typeface="Noto Sans"/>
              </a:rPr>
              <a:t>B.</a:t>
            </a:r>
            <a:r>
              <a:rPr dirty="0" sz="1250" spc="-2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50" spc="-10">
                <a:solidFill>
                  <a:srgbClr val="556478"/>
                </a:solidFill>
                <a:latin typeface="Noto Sans"/>
                <a:cs typeface="Noto Sans"/>
              </a:rPr>
              <a:t>Resource</a:t>
            </a:r>
            <a:r>
              <a:rPr dirty="0" sz="1250" spc="-2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50">
                <a:solidFill>
                  <a:srgbClr val="556478"/>
                </a:solidFill>
                <a:latin typeface="Noto Sans"/>
                <a:cs typeface="Noto Sans"/>
              </a:rPr>
              <a:t>Group</a:t>
            </a:r>
            <a:r>
              <a:rPr dirty="0" sz="1250" spc="130">
                <a:solidFill>
                  <a:srgbClr val="556478"/>
                </a:solidFill>
                <a:latin typeface="Noto Sans"/>
                <a:cs typeface="Noto Sans"/>
              </a:rPr>
              <a:t>  </a:t>
            </a:r>
            <a:r>
              <a:rPr dirty="0" sz="1250">
                <a:solidFill>
                  <a:srgbClr val="556478"/>
                </a:solidFill>
                <a:latin typeface="Noto Sans"/>
                <a:cs typeface="Noto Sans"/>
              </a:rPr>
              <a:t>C.</a:t>
            </a:r>
            <a:r>
              <a:rPr dirty="0" sz="1250" spc="-2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50" spc="-10">
                <a:solidFill>
                  <a:srgbClr val="556478"/>
                </a:solidFill>
                <a:latin typeface="Noto Sans"/>
                <a:cs typeface="Noto Sans"/>
              </a:rPr>
              <a:t>Tenant</a:t>
            </a:r>
            <a:endParaRPr sz="1250">
              <a:latin typeface="Noto Sans"/>
              <a:cs typeface="Noto Sans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863284" y="4346996"/>
            <a:ext cx="10480675" cy="1035050"/>
            <a:chOff x="863284" y="4346996"/>
            <a:chExt cx="10480675" cy="1035050"/>
          </a:xfrm>
        </p:grpSpPr>
        <p:sp>
          <p:nvSpPr>
            <p:cNvPr id="21" name="object 21"/>
            <p:cNvSpPr/>
            <p:nvPr/>
          </p:nvSpPr>
          <p:spPr>
            <a:xfrm>
              <a:off x="868324" y="4352036"/>
              <a:ext cx="10470515" cy="1024890"/>
            </a:xfrm>
            <a:custGeom>
              <a:avLst/>
              <a:gdLst/>
              <a:ahLst/>
              <a:cxnLst/>
              <a:rect l="l" t="t" r="r" b="b"/>
              <a:pathLst>
                <a:path w="10470515" h="1024889">
                  <a:moveTo>
                    <a:pt x="110159" y="0"/>
                  </a:moveTo>
                  <a:lnTo>
                    <a:pt x="68088" y="8358"/>
                  </a:lnTo>
                  <a:lnTo>
                    <a:pt x="32534" y="32224"/>
                  </a:lnTo>
                  <a:lnTo>
                    <a:pt x="8708" y="67882"/>
                  </a:lnTo>
                  <a:lnTo>
                    <a:pt x="355" y="109804"/>
                  </a:lnTo>
                  <a:lnTo>
                    <a:pt x="0" y="914768"/>
                  </a:lnTo>
                  <a:lnTo>
                    <a:pt x="939" y="929191"/>
                  </a:lnTo>
                  <a:lnTo>
                    <a:pt x="14757" y="969848"/>
                  </a:lnTo>
                  <a:lnTo>
                    <a:pt x="22670" y="981556"/>
                  </a:lnTo>
                  <a:lnTo>
                    <a:pt x="22775" y="981711"/>
                  </a:lnTo>
                  <a:lnTo>
                    <a:pt x="55079" y="1009802"/>
                  </a:lnTo>
                  <a:lnTo>
                    <a:pt x="95374" y="1023620"/>
                  </a:lnTo>
                  <a:lnTo>
                    <a:pt x="109791" y="1024559"/>
                  </a:lnTo>
                  <a:lnTo>
                    <a:pt x="10360431" y="1024559"/>
                  </a:lnTo>
                  <a:lnTo>
                    <a:pt x="10402502" y="1016206"/>
                  </a:lnTo>
                  <a:lnTo>
                    <a:pt x="10438004" y="992392"/>
                  </a:lnTo>
                  <a:lnTo>
                    <a:pt x="10461805" y="956832"/>
                  </a:lnTo>
                  <a:lnTo>
                    <a:pt x="10470235" y="914768"/>
                  </a:lnTo>
                  <a:lnTo>
                    <a:pt x="10470212" y="109804"/>
                  </a:lnTo>
                  <a:lnTo>
                    <a:pt x="10461882" y="68095"/>
                  </a:lnTo>
                  <a:lnTo>
                    <a:pt x="10438012" y="32535"/>
                  </a:lnTo>
                  <a:lnTo>
                    <a:pt x="10402352" y="8721"/>
                  </a:lnTo>
                  <a:lnTo>
                    <a:pt x="10360431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868324" y="4352036"/>
              <a:ext cx="10470515" cy="1024890"/>
            </a:xfrm>
            <a:custGeom>
              <a:avLst/>
              <a:gdLst/>
              <a:ahLst/>
              <a:cxnLst/>
              <a:rect l="l" t="t" r="r" b="b"/>
              <a:pathLst>
                <a:path w="10470515" h="1024889">
                  <a:moveTo>
                    <a:pt x="355" y="109804"/>
                  </a:moveTo>
                  <a:lnTo>
                    <a:pt x="1295" y="95379"/>
                  </a:lnTo>
                  <a:lnTo>
                    <a:pt x="4090" y="81360"/>
                  </a:lnTo>
                  <a:lnTo>
                    <a:pt x="23133" y="43011"/>
                  </a:lnTo>
                  <a:lnTo>
                    <a:pt x="55079" y="14770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10360431" y="368"/>
                  </a:lnTo>
                  <a:lnTo>
                    <a:pt x="10402352" y="8721"/>
                  </a:lnTo>
                  <a:lnTo>
                    <a:pt x="10438012" y="32535"/>
                  </a:lnTo>
                  <a:lnTo>
                    <a:pt x="10461882" y="68095"/>
                  </a:lnTo>
                  <a:lnTo>
                    <a:pt x="10470235" y="110159"/>
                  </a:lnTo>
                  <a:lnTo>
                    <a:pt x="10470235" y="914768"/>
                  </a:lnTo>
                  <a:lnTo>
                    <a:pt x="10469295" y="929185"/>
                  </a:lnTo>
                  <a:lnTo>
                    <a:pt x="10466500" y="943200"/>
                  </a:lnTo>
                  <a:lnTo>
                    <a:pt x="10447458" y="981556"/>
                  </a:lnTo>
                  <a:lnTo>
                    <a:pt x="10415511" y="1009802"/>
                  </a:lnTo>
                  <a:lnTo>
                    <a:pt x="10374861" y="1023620"/>
                  </a:lnTo>
                  <a:lnTo>
                    <a:pt x="10360431" y="1024559"/>
                  </a:lnTo>
                  <a:lnTo>
                    <a:pt x="109791" y="1024559"/>
                  </a:lnTo>
                  <a:lnTo>
                    <a:pt x="67882" y="1016206"/>
                  </a:lnTo>
                  <a:lnTo>
                    <a:pt x="32213" y="992392"/>
                  </a:lnTo>
                  <a:lnTo>
                    <a:pt x="8352" y="956832"/>
                  </a:lnTo>
                  <a:lnTo>
                    <a:pt x="0" y="914768"/>
                  </a:lnTo>
                  <a:lnTo>
                    <a:pt x="355" y="109804"/>
                  </a:lnTo>
                  <a:close/>
                </a:path>
              </a:pathLst>
            </a:custGeom>
            <a:ln w="10079">
              <a:solidFill>
                <a:srgbClr val="DBE4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1078560" y="4516920"/>
              <a:ext cx="594995" cy="293370"/>
            </a:xfrm>
            <a:custGeom>
              <a:avLst/>
              <a:gdLst/>
              <a:ahLst/>
              <a:cxnLst/>
              <a:rect l="l" t="t" r="r" b="b"/>
              <a:pathLst>
                <a:path w="594994" h="293370">
                  <a:moveTo>
                    <a:pt x="110159" y="0"/>
                  </a:moveTo>
                  <a:lnTo>
                    <a:pt x="68088" y="8352"/>
                  </a:lnTo>
                  <a:lnTo>
                    <a:pt x="32535" y="32223"/>
                  </a:lnTo>
                  <a:lnTo>
                    <a:pt x="8713" y="67882"/>
                  </a:lnTo>
                  <a:lnTo>
                    <a:pt x="355" y="109804"/>
                  </a:lnTo>
                  <a:lnTo>
                    <a:pt x="0" y="183235"/>
                  </a:lnTo>
                  <a:lnTo>
                    <a:pt x="939" y="197665"/>
                  </a:lnTo>
                  <a:lnTo>
                    <a:pt x="14757" y="238315"/>
                  </a:lnTo>
                  <a:lnTo>
                    <a:pt x="22681" y="250028"/>
                  </a:lnTo>
                  <a:lnTo>
                    <a:pt x="22783" y="250178"/>
                  </a:lnTo>
                  <a:lnTo>
                    <a:pt x="55079" y="278282"/>
                  </a:lnTo>
                  <a:lnTo>
                    <a:pt x="95379" y="292100"/>
                  </a:lnTo>
                  <a:lnTo>
                    <a:pt x="109804" y="293039"/>
                  </a:lnTo>
                  <a:lnTo>
                    <a:pt x="484924" y="293039"/>
                  </a:lnTo>
                  <a:lnTo>
                    <a:pt x="526988" y="284686"/>
                  </a:lnTo>
                  <a:lnTo>
                    <a:pt x="562497" y="260861"/>
                  </a:lnTo>
                  <a:lnTo>
                    <a:pt x="586287" y="225306"/>
                  </a:lnTo>
                  <a:lnTo>
                    <a:pt x="586362" y="225156"/>
                  </a:lnTo>
                  <a:lnTo>
                    <a:pt x="590964" y="211723"/>
                  </a:lnTo>
                  <a:lnTo>
                    <a:pt x="593774" y="197665"/>
                  </a:lnTo>
                  <a:lnTo>
                    <a:pt x="594715" y="183235"/>
                  </a:lnTo>
                  <a:lnTo>
                    <a:pt x="594692" y="109804"/>
                  </a:lnTo>
                  <a:lnTo>
                    <a:pt x="586362" y="68088"/>
                  </a:lnTo>
                  <a:lnTo>
                    <a:pt x="562502" y="32535"/>
                  </a:lnTo>
                  <a:lnTo>
                    <a:pt x="526832" y="8713"/>
                  </a:lnTo>
                  <a:lnTo>
                    <a:pt x="48492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9F3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1078560" y="4516920"/>
              <a:ext cx="594995" cy="293370"/>
            </a:xfrm>
            <a:custGeom>
              <a:avLst/>
              <a:gdLst/>
              <a:ahLst/>
              <a:cxnLst/>
              <a:rect l="l" t="t" r="r" b="b"/>
              <a:pathLst>
                <a:path w="594994" h="293370">
                  <a:moveTo>
                    <a:pt x="355" y="109804"/>
                  </a:moveTo>
                  <a:lnTo>
                    <a:pt x="1295" y="95379"/>
                  </a:lnTo>
                  <a:lnTo>
                    <a:pt x="4092" y="81360"/>
                  </a:lnTo>
                  <a:lnTo>
                    <a:pt x="23138" y="43010"/>
                  </a:lnTo>
                  <a:lnTo>
                    <a:pt x="55079" y="14757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484924" y="355"/>
                  </a:lnTo>
                  <a:lnTo>
                    <a:pt x="526832" y="8713"/>
                  </a:lnTo>
                  <a:lnTo>
                    <a:pt x="562502" y="32535"/>
                  </a:lnTo>
                  <a:lnTo>
                    <a:pt x="586362" y="68088"/>
                  </a:lnTo>
                  <a:lnTo>
                    <a:pt x="594715" y="110159"/>
                  </a:lnTo>
                  <a:lnTo>
                    <a:pt x="594715" y="183235"/>
                  </a:lnTo>
                  <a:lnTo>
                    <a:pt x="593775" y="197660"/>
                  </a:lnTo>
                  <a:lnTo>
                    <a:pt x="590980" y="211678"/>
                  </a:lnTo>
                  <a:lnTo>
                    <a:pt x="571945" y="250028"/>
                  </a:lnTo>
                  <a:lnTo>
                    <a:pt x="540004" y="278282"/>
                  </a:lnTo>
                  <a:lnTo>
                    <a:pt x="499347" y="292100"/>
                  </a:lnTo>
                  <a:lnTo>
                    <a:pt x="484924" y="293039"/>
                  </a:lnTo>
                  <a:lnTo>
                    <a:pt x="109804" y="293039"/>
                  </a:lnTo>
                  <a:lnTo>
                    <a:pt x="67882" y="284686"/>
                  </a:lnTo>
                  <a:lnTo>
                    <a:pt x="32223" y="260861"/>
                  </a:lnTo>
                  <a:lnTo>
                    <a:pt x="8352" y="225306"/>
                  </a:lnTo>
                  <a:lnTo>
                    <a:pt x="0" y="183235"/>
                  </a:lnTo>
                  <a:lnTo>
                    <a:pt x="355" y="109804"/>
                  </a:lnTo>
                  <a:close/>
                </a:path>
              </a:pathLst>
            </a:custGeom>
            <a:ln w="10079">
              <a:solidFill>
                <a:srgbClr val="E9F3F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1276819" y="4569739"/>
            <a:ext cx="19875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50">
                <a:solidFill>
                  <a:srgbClr val="0077D3"/>
                </a:solidFill>
                <a:latin typeface="Arial Black"/>
                <a:cs typeface="Arial Black"/>
              </a:rPr>
              <a:t>Q3</a:t>
            </a:r>
            <a:endParaRPr sz="1000">
              <a:latin typeface="Arial Black"/>
              <a:cs typeface="Arial Black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861820" y="4490897"/>
            <a:ext cx="5873750" cy="6375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55">
                <a:solidFill>
                  <a:srgbClr val="0F2339"/>
                </a:solidFill>
                <a:latin typeface="Arial Black"/>
                <a:cs typeface="Arial Black"/>
              </a:rPr>
              <a:t>What</a:t>
            </a:r>
            <a:r>
              <a:rPr dirty="0" sz="1500" spc="-8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500" spc="-114">
                <a:solidFill>
                  <a:srgbClr val="0F2339"/>
                </a:solidFill>
                <a:latin typeface="Arial Black"/>
                <a:cs typeface="Arial Black"/>
              </a:rPr>
              <a:t>does</a:t>
            </a:r>
            <a:r>
              <a:rPr dirty="0" sz="1500" spc="-8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500" spc="-65">
                <a:solidFill>
                  <a:srgbClr val="0F2339"/>
                </a:solidFill>
                <a:latin typeface="Arial Black"/>
                <a:cs typeface="Arial Black"/>
              </a:rPr>
              <a:t>an</a:t>
            </a:r>
            <a:r>
              <a:rPr dirty="0" sz="1500" spc="-8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500" spc="-70">
                <a:solidFill>
                  <a:srgbClr val="0F2339"/>
                </a:solidFill>
                <a:latin typeface="Arial Black"/>
                <a:cs typeface="Arial Black"/>
              </a:rPr>
              <a:t>Availability</a:t>
            </a:r>
            <a:r>
              <a:rPr dirty="0" sz="1500" spc="-8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500" spc="-135">
                <a:solidFill>
                  <a:srgbClr val="0F2339"/>
                </a:solidFill>
                <a:latin typeface="Arial Black"/>
                <a:cs typeface="Arial Black"/>
              </a:rPr>
              <a:t>Set</a:t>
            </a:r>
            <a:r>
              <a:rPr dirty="0" sz="1500" spc="-8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500" spc="-45">
                <a:solidFill>
                  <a:srgbClr val="0F2339"/>
                </a:solidFill>
                <a:latin typeface="Arial Black"/>
                <a:cs typeface="Arial Black"/>
              </a:rPr>
              <a:t>primarily</a:t>
            </a:r>
            <a:r>
              <a:rPr dirty="0" sz="1500" spc="-8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500" spc="-110">
                <a:solidFill>
                  <a:srgbClr val="0F2339"/>
                </a:solidFill>
                <a:latin typeface="Arial Black"/>
                <a:cs typeface="Arial Black"/>
              </a:rPr>
              <a:t>use</a:t>
            </a:r>
            <a:r>
              <a:rPr dirty="0" sz="1500" spc="-8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500" spc="-45">
                <a:solidFill>
                  <a:srgbClr val="0F2339"/>
                </a:solidFill>
                <a:latin typeface="Arial Black"/>
                <a:cs typeface="Arial Black"/>
              </a:rPr>
              <a:t>to</a:t>
            </a:r>
            <a:r>
              <a:rPr dirty="0" sz="1500" spc="-8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500" spc="-60">
                <a:solidFill>
                  <a:srgbClr val="0F2339"/>
                </a:solidFill>
                <a:latin typeface="Arial Black"/>
                <a:cs typeface="Arial Black"/>
              </a:rPr>
              <a:t>distribute</a:t>
            </a:r>
            <a:r>
              <a:rPr dirty="0" sz="1500" spc="-8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500" spc="-70">
                <a:solidFill>
                  <a:srgbClr val="0F2339"/>
                </a:solidFill>
                <a:latin typeface="Arial Black"/>
                <a:cs typeface="Arial Black"/>
              </a:rPr>
              <a:t>VMs?</a:t>
            </a:r>
            <a:endParaRPr sz="15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1515"/>
              </a:spcBef>
            </a:pPr>
            <a:r>
              <a:rPr dirty="0" sz="1250">
                <a:solidFill>
                  <a:srgbClr val="556478"/>
                </a:solidFill>
                <a:latin typeface="Noto Sans"/>
                <a:cs typeface="Noto Sans"/>
              </a:rPr>
              <a:t>A.</a:t>
            </a:r>
            <a:r>
              <a:rPr dirty="0" sz="125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50">
                <a:solidFill>
                  <a:srgbClr val="556478"/>
                </a:solidFill>
                <a:latin typeface="Noto Sans"/>
                <a:cs typeface="Noto Sans"/>
              </a:rPr>
              <a:t>Projects</a:t>
            </a:r>
            <a:r>
              <a:rPr dirty="0" sz="125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50">
                <a:solidFill>
                  <a:srgbClr val="556478"/>
                </a:solidFill>
                <a:latin typeface="Noto Sans"/>
                <a:cs typeface="Noto Sans"/>
              </a:rPr>
              <a:t>/</a:t>
            </a:r>
            <a:r>
              <a:rPr dirty="0" sz="125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50">
                <a:solidFill>
                  <a:srgbClr val="556478"/>
                </a:solidFill>
                <a:latin typeface="Noto Sans"/>
                <a:cs typeface="Noto Sans"/>
              </a:rPr>
              <a:t>folders</a:t>
            </a:r>
            <a:r>
              <a:rPr dirty="0" sz="1250" spc="125">
                <a:solidFill>
                  <a:srgbClr val="556478"/>
                </a:solidFill>
                <a:latin typeface="Noto Sans"/>
                <a:cs typeface="Noto Sans"/>
              </a:rPr>
              <a:t>  </a:t>
            </a:r>
            <a:r>
              <a:rPr dirty="0" sz="1250">
                <a:solidFill>
                  <a:srgbClr val="556478"/>
                </a:solidFill>
                <a:latin typeface="Noto Sans"/>
                <a:cs typeface="Noto Sans"/>
              </a:rPr>
              <a:t>B.</a:t>
            </a:r>
            <a:r>
              <a:rPr dirty="0" sz="1250" spc="-2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50">
                <a:solidFill>
                  <a:srgbClr val="556478"/>
                </a:solidFill>
                <a:latin typeface="Noto Sans"/>
                <a:cs typeface="Noto Sans"/>
              </a:rPr>
              <a:t>Fault</a:t>
            </a:r>
            <a:r>
              <a:rPr dirty="0" sz="1250" spc="-2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50">
                <a:solidFill>
                  <a:srgbClr val="556478"/>
                </a:solidFill>
                <a:latin typeface="Noto Sans"/>
                <a:cs typeface="Noto Sans"/>
              </a:rPr>
              <a:t>&amp;</a:t>
            </a:r>
            <a:r>
              <a:rPr dirty="0" sz="125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50">
                <a:solidFill>
                  <a:srgbClr val="556478"/>
                </a:solidFill>
                <a:latin typeface="Noto Sans"/>
                <a:cs typeface="Noto Sans"/>
              </a:rPr>
              <a:t>update</a:t>
            </a:r>
            <a:r>
              <a:rPr dirty="0" sz="1250" spc="-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50">
                <a:solidFill>
                  <a:srgbClr val="556478"/>
                </a:solidFill>
                <a:latin typeface="Noto Sans"/>
                <a:cs typeface="Noto Sans"/>
              </a:rPr>
              <a:t>domains</a:t>
            </a:r>
            <a:r>
              <a:rPr dirty="0" sz="1250" spc="125">
                <a:solidFill>
                  <a:srgbClr val="556478"/>
                </a:solidFill>
                <a:latin typeface="Noto Sans"/>
                <a:cs typeface="Noto Sans"/>
              </a:rPr>
              <a:t>  </a:t>
            </a:r>
            <a:r>
              <a:rPr dirty="0" sz="1250">
                <a:solidFill>
                  <a:srgbClr val="556478"/>
                </a:solidFill>
                <a:latin typeface="Noto Sans"/>
                <a:cs typeface="Noto Sans"/>
              </a:rPr>
              <a:t>C.</a:t>
            </a:r>
            <a:r>
              <a:rPr dirty="0" sz="1250" spc="-2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50">
                <a:solidFill>
                  <a:srgbClr val="556478"/>
                </a:solidFill>
                <a:latin typeface="Noto Sans"/>
                <a:cs typeface="Noto Sans"/>
              </a:rPr>
              <a:t>Multiple</a:t>
            </a:r>
            <a:r>
              <a:rPr dirty="0" sz="1250" spc="-2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50" spc="-10">
                <a:solidFill>
                  <a:srgbClr val="556478"/>
                </a:solidFill>
                <a:latin typeface="Noto Sans"/>
                <a:cs typeface="Noto Sans"/>
              </a:rPr>
              <a:t>regions</a:t>
            </a:r>
            <a:endParaRPr sz="1250">
              <a:latin typeface="Noto Sans"/>
              <a:cs typeface="Noto San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427744" y="5853150"/>
            <a:ext cx="7308215" cy="227329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 spc="-75">
                <a:solidFill>
                  <a:srgbClr val="5A399D"/>
                </a:solidFill>
                <a:latin typeface="Arial Black"/>
                <a:cs typeface="Arial Black"/>
              </a:rPr>
              <a:t>Bonus: </a:t>
            </a:r>
            <a:r>
              <a:rPr dirty="0" sz="1300" spc="-110">
                <a:solidFill>
                  <a:srgbClr val="5A399D"/>
                </a:solidFill>
                <a:latin typeface="Arial Black"/>
                <a:cs typeface="Arial Black"/>
              </a:rPr>
              <a:t>A</a:t>
            </a:r>
            <a:r>
              <a:rPr dirty="0" sz="1300" spc="-70">
                <a:solidFill>
                  <a:srgbClr val="5A399D"/>
                </a:solidFill>
                <a:latin typeface="Arial Black"/>
                <a:cs typeface="Arial Black"/>
              </a:rPr>
              <a:t> </a:t>
            </a:r>
            <a:r>
              <a:rPr dirty="0" sz="1300" spc="-60">
                <a:solidFill>
                  <a:srgbClr val="5A399D"/>
                </a:solidFill>
                <a:latin typeface="Arial Black"/>
                <a:cs typeface="Arial Black"/>
              </a:rPr>
              <a:t>user</a:t>
            </a:r>
            <a:r>
              <a:rPr dirty="0" sz="1300" spc="-70">
                <a:solidFill>
                  <a:srgbClr val="5A399D"/>
                </a:solidFill>
                <a:latin typeface="Arial Black"/>
                <a:cs typeface="Arial Black"/>
              </a:rPr>
              <a:t> </a:t>
            </a:r>
            <a:r>
              <a:rPr dirty="0" sz="1300" spc="-75">
                <a:solidFill>
                  <a:srgbClr val="5A399D"/>
                </a:solidFill>
                <a:latin typeface="Arial Black"/>
                <a:cs typeface="Arial Black"/>
              </a:rPr>
              <a:t>has</a:t>
            </a:r>
            <a:r>
              <a:rPr dirty="0" sz="1300" spc="-70">
                <a:solidFill>
                  <a:srgbClr val="5A399D"/>
                </a:solidFill>
                <a:latin typeface="Arial Black"/>
                <a:cs typeface="Arial Black"/>
              </a:rPr>
              <a:t> </a:t>
            </a:r>
            <a:r>
              <a:rPr dirty="0" sz="1300" spc="-35">
                <a:solidFill>
                  <a:srgbClr val="5A399D"/>
                </a:solidFill>
                <a:latin typeface="Arial Black"/>
                <a:cs typeface="Arial Black"/>
              </a:rPr>
              <a:t>Contributor</a:t>
            </a:r>
            <a:r>
              <a:rPr dirty="0" sz="1300" spc="-75">
                <a:solidFill>
                  <a:srgbClr val="5A399D"/>
                </a:solidFill>
                <a:latin typeface="Arial Black"/>
                <a:cs typeface="Arial Black"/>
              </a:rPr>
              <a:t> </a:t>
            </a:r>
            <a:r>
              <a:rPr dirty="0" sz="1300" spc="-10">
                <a:solidFill>
                  <a:srgbClr val="5A399D"/>
                </a:solidFill>
                <a:latin typeface="Arial Black"/>
                <a:cs typeface="Arial Black"/>
              </a:rPr>
              <a:t>but</a:t>
            </a:r>
            <a:r>
              <a:rPr dirty="0" sz="1300" spc="-70">
                <a:solidFill>
                  <a:srgbClr val="5A399D"/>
                </a:solidFill>
                <a:latin typeface="Arial Black"/>
                <a:cs typeface="Arial Black"/>
              </a:rPr>
              <a:t> </a:t>
            </a:r>
            <a:r>
              <a:rPr dirty="0" sz="1300" spc="-90">
                <a:solidFill>
                  <a:srgbClr val="5A399D"/>
                </a:solidFill>
                <a:latin typeface="Arial Black"/>
                <a:cs typeface="Arial Black"/>
              </a:rPr>
              <a:t>receives</a:t>
            </a:r>
            <a:r>
              <a:rPr dirty="0" sz="1300" spc="-70">
                <a:solidFill>
                  <a:srgbClr val="5A399D"/>
                </a:solidFill>
                <a:latin typeface="Arial Black"/>
                <a:cs typeface="Arial Black"/>
              </a:rPr>
              <a:t> </a:t>
            </a:r>
            <a:r>
              <a:rPr dirty="0" sz="1300" spc="-150">
                <a:solidFill>
                  <a:srgbClr val="5A399D"/>
                </a:solidFill>
                <a:latin typeface="Arial Black"/>
                <a:cs typeface="Arial Black"/>
              </a:rPr>
              <a:t>Access</a:t>
            </a:r>
            <a:r>
              <a:rPr dirty="0" sz="1300" spc="-70">
                <a:solidFill>
                  <a:srgbClr val="5A399D"/>
                </a:solidFill>
                <a:latin typeface="Arial Black"/>
                <a:cs typeface="Arial Black"/>
              </a:rPr>
              <a:t> </a:t>
            </a:r>
            <a:r>
              <a:rPr dirty="0" sz="1300" spc="-50">
                <a:solidFill>
                  <a:srgbClr val="5A399D"/>
                </a:solidFill>
                <a:latin typeface="Arial Black"/>
                <a:cs typeface="Arial Black"/>
              </a:rPr>
              <a:t>Denied.</a:t>
            </a:r>
            <a:r>
              <a:rPr dirty="0" sz="1300" spc="-70">
                <a:solidFill>
                  <a:srgbClr val="5A399D"/>
                </a:solidFill>
                <a:latin typeface="Arial Black"/>
                <a:cs typeface="Arial Black"/>
              </a:rPr>
              <a:t> </a:t>
            </a:r>
            <a:r>
              <a:rPr dirty="0" sz="1300" spc="-30">
                <a:solidFill>
                  <a:srgbClr val="5A399D"/>
                </a:solidFill>
                <a:latin typeface="Arial Black"/>
                <a:cs typeface="Arial Black"/>
              </a:rPr>
              <a:t>What</a:t>
            </a:r>
            <a:r>
              <a:rPr dirty="0" sz="1300" spc="-75">
                <a:solidFill>
                  <a:srgbClr val="5A399D"/>
                </a:solidFill>
                <a:latin typeface="Arial Black"/>
                <a:cs typeface="Arial Black"/>
              </a:rPr>
              <a:t> </a:t>
            </a:r>
            <a:r>
              <a:rPr dirty="0" sz="1300" spc="-50">
                <a:solidFill>
                  <a:srgbClr val="5A399D"/>
                </a:solidFill>
                <a:latin typeface="Arial Black"/>
                <a:cs typeface="Arial Black"/>
              </a:rPr>
              <a:t>would</a:t>
            </a:r>
            <a:r>
              <a:rPr dirty="0" sz="1300" spc="-70">
                <a:solidFill>
                  <a:srgbClr val="5A399D"/>
                </a:solidFill>
                <a:latin typeface="Arial Black"/>
                <a:cs typeface="Arial Black"/>
              </a:rPr>
              <a:t> </a:t>
            </a:r>
            <a:r>
              <a:rPr dirty="0" sz="1300" spc="-35">
                <a:solidFill>
                  <a:srgbClr val="5A399D"/>
                </a:solidFill>
                <a:latin typeface="Arial Black"/>
                <a:cs typeface="Arial Black"/>
              </a:rPr>
              <a:t>you</a:t>
            </a:r>
            <a:r>
              <a:rPr dirty="0" sz="1300" spc="-70">
                <a:solidFill>
                  <a:srgbClr val="5A399D"/>
                </a:solidFill>
                <a:latin typeface="Arial Black"/>
                <a:cs typeface="Arial Black"/>
              </a:rPr>
              <a:t> </a:t>
            </a:r>
            <a:r>
              <a:rPr dirty="0" sz="1300" spc="-110">
                <a:solidFill>
                  <a:srgbClr val="5A399D"/>
                </a:solidFill>
                <a:latin typeface="Arial Black"/>
                <a:cs typeface="Arial Black"/>
              </a:rPr>
              <a:t>check</a:t>
            </a:r>
            <a:r>
              <a:rPr dirty="0" sz="1300" spc="-70">
                <a:solidFill>
                  <a:srgbClr val="5A399D"/>
                </a:solidFill>
                <a:latin typeface="Arial Black"/>
                <a:cs typeface="Arial Black"/>
              </a:rPr>
              <a:t> </a:t>
            </a:r>
            <a:r>
              <a:rPr dirty="0" sz="1300" spc="-10">
                <a:solidFill>
                  <a:srgbClr val="5A399D"/>
                </a:solidFill>
                <a:latin typeface="Arial Black"/>
                <a:cs typeface="Arial Black"/>
              </a:rPr>
              <a:t>next?</a:t>
            </a:r>
            <a:endParaRPr sz="1300">
              <a:latin typeface="Arial Black"/>
              <a:cs typeface="Arial Black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66635" y="6382435"/>
            <a:ext cx="11064240" cy="635"/>
          </a:xfrm>
          <a:custGeom>
            <a:avLst/>
            <a:gdLst/>
            <a:ahLst/>
            <a:cxnLst/>
            <a:rect l="l" t="t" r="r" b="b"/>
            <a:pathLst>
              <a:path w="11064240" h="635">
                <a:moveTo>
                  <a:pt x="0" y="0"/>
                </a:moveTo>
                <a:lnTo>
                  <a:pt x="11064240" y="368"/>
                </a:lnTo>
              </a:path>
            </a:pathLst>
          </a:custGeom>
          <a:ln w="8999">
            <a:solidFill>
              <a:srgbClr val="DBE4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90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 spc="-100"/>
              <a:t>DAY</a:t>
            </a:r>
            <a:r>
              <a:rPr dirty="0" spc="-55"/>
              <a:t> </a:t>
            </a:r>
            <a:r>
              <a:rPr dirty="0"/>
              <a:t>1</a:t>
            </a:r>
            <a:r>
              <a:rPr dirty="0" spc="105"/>
              <a:t> </a:t>
            </a:r>
            <a:r>
              <a:rPr dirty="0"/>
              <a:t>•</a:t>
            </a:r>
            <a:r>
              <a:rPr dirty="0" spc="130"/>
              <a:t> </a:t>
            </a:r>
            <a:r>
              <a:rPr dirty="0" spc="-70"/>
              <a:t>CLOUD</a:t>
            </a:r>
            <a:r>
              <a:rPr dirty="0" spc="-55"/>
              <a:t> </a:t>
            </a:r>
            <a:r>
              <a:rPr dirty="0" spc="-65"/>
              <a:t>FOUNDATIONS</a:t>
            </a:r>
            <a:r>
              <a:rPr dirty="0" spc="-55"/>
              <a:t> </a:t>
            </a:r>
            <a:r>
              <a:rPr dirty="0" spc="-105"/>
              <a:t>&amp;</a:t>
            </a:r>
            <a:r>
              <a:rPr dirty="0" spc="-50"/>
              <a:t> </a:t>
            </a:r>
            <a:r>
              <a:rPr dirty="0" spc="-95"/>
              <a:t>AZURE</a:t>
            </a:r>
            <a:r>
              <a:rPr dirty="0" spc="-55"/>
              <a:t> </a:t>
            </a:r>
            <a:r>
              <a:rPr dirty="0" spc="-50"/>
              <a:t>BASICS</a:t>
            </a:r>
          </a:p>
        </p:txBody>
      </p:sp>
      <p:sp>
        <p:nvSpPr>
          <p:cNvPr id="28" name="object 2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032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160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3935" y="299427"/>
            <a:ext cx="150876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85">
                <a:solidFill>
                  <a:srgbClr val="0077D3"/>
                </a:solidFill>
                <a:latin typeface="Arial Black"/>
                <a:cs typeface="Arial Black"/>
              </a:rPr>
              <a:t>K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>
                <a:solidFill>
                  <a:srgbClr val="0077D3"/>
                </a:solidFill>
                <a:latin typeface="Arial Black"/>
                <a:cs typeface="Arial Black"/>
              </a:rPr>
              <a:t>NOWL</a:t>
            </a:r>
            <a:r>
              <a:rPr dirty="0" sz="1000" spc="-204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75">
                <a:solidFill>
                  <a:srgbClr val="0077D3"/>
                </a:solidFill>
                <a:latin typeface="Arial Black"/>
                <a:cs typeface="Arial Black"/>
              </a:rPr>
              <a:t>E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45">
                <a:solidFill>
                  <a:srgbClr val="0077D3"/>
                </a:solidFill>
                <a:latin typeface="Arial Black"/>
                <a:cs typeface="Arial Black"/>
              </a:rPr>
              <a:t>D</a:t>
            </a:r>
            <a:r>
              <a:rPr dirty="0" sz="1000" spc="-204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25">
                <a:solidFill>
                  <a:srgbClr val="0077D3"/>
                </a:solidFill>
                <a:latin typeface="Arial Black"/>
                <a:cs typeface="Arial Black"/>
              </a:rPr>
              <a:t>G</a:t>
            </a:r>
            <a:r>
              <a:rPr dirty="0" sz="1000" spc="-204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>
                <a:solidFill>
                  <a:srgbClr val="0077D3"/>
                </a:solidFill>
                <a:latin typeface="Arial Black"/>
                <a:cs typeface="Arial Black"/>
              </a:rPr>
              <a:t>E</a:t>
            </a:r>
            <a:r>
              <a:rPr dirty="0" sz="1000" spc="19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45">
                <a:solidFill>
                  <a:srgbClr val="0077D3"/>
                </a:solidFill>
                <a:latin typeface="Arial Black"/>
                <a:cs typeface="Arial Black"/>
              </a:rPr>
              <a:t>C</a:t>
            </a:r>
            <a:r>
              <a:rPr dirty="0" sz="1000" spc="-204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85">
                <a:solidFill>
                  <a:srgbClr val="0077D3"/>
                </a:solidFill>
                <a:latin typeface="Arial Black"/>
                <a:cs typeface="Arial Black"/>
              </a:rPr>
              <a:t>H</a:t>
            </a:r>
            <a:r>
              <a:rPr dirty="0" sz="1000" spc="-204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75">
                <a:solidFill>
                  <a:srgbClr val="0077D3"/>
                </a:solidFill>
                <a:latin typeface="Arial Black"/>
                <a:cs typeface="Arial Black"/>
              </a:rPr>
              <a:t>E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45">
                <a:solidFill>
                  <a:srgbClr val="0077D3"/>
                </a:solidFill>
                <a:latin typeface="Arial Black"/>
                <a:cs typeface="Arial Black"/>
              </a:rPr>
              <a:t>C</a:t>
            </a:r>
            <a:r>
              <a:rPr dirty="0" sz="1000" spc="-204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90">
                <a:solidFill>
                  <a:srgbClr val="0077D3"/>
                </a:solidFill>
                <a:latin typeface="Arial Black"/>
                <a:cs typeface="Arial Black"/>
              </a:rPr>
              <a:t>K</a:t>
            </a:r>
            <a:endParaRPr sz="1000">
              <a:latin typeface="Arial Black"/>
              <a:cs typeface="Arial Black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54304" y="428977"/>
            <a:ext cx="4484370" cy="814705"/>
          </a:xfrm>
          <a:prstGeom prst="rect"/>
        </p:spPr>
        <p:txBody>
          <a:bodyPr wrap="square" lIns="0" tIns="133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0"/>
              </a:spcBef>
            </a:pPr>
            <a:r>
              <a:rPr dirty="0" sz="2700" spc="-170">
                <a:solidFill>
                  <a:srgbClr val="0F2339"/>
                </a:solidFill>
              </a:rPr>
              <a:t>Answer</a:t>
            </a:r>
            <a:r>
              <a:rPr dirty="0" sz="2700" spc="-195">
                <a:solidFill>
                  <a:srgbClr val="0F2339"/>
                </a:solidFill>
              </a:rPr>
              <a:t> </a:t>
            </a:r>
            <a:r>
              <a:rPr dirty="0" sz="2700" spc="-180">
                <a:solidFill>
                  <a:srgbClr val="0F2339"/>
                </a:solidFill>
              </a:rPr>
              <a:t>key</a:t>
            </a:r>
            <a:r>
              <a:rPr dirty="0" sz="2700" spc="-195">
                <a:solidFill>
                  <a:srgbClr val="0F2339"/>
                </a:solidFill>
              </a:rPr>
              <a:t> </a:t>
            </a:r>
            <a:r>
              <a:rPr dirty="0" sz="2700" spc="-385">
                <a:solidFill>
                  <a:srgbClr val="0F2339"/>
                </a:solidFill>
              </a:rPr>
              <a:t>&amp;</a:t>
            </a:r>
            <a:r>
              <a:rPr dirty="0" sz="2700" spc="-195">
                <a:solidFill>
                  <a:srgbClr val="0F2339"/>
                </a:solidFill>
              </a:rPr>
              <a:t> </a:t>
            </a:r>
            <a:r>
              <a:rPr dirty="0" sz="2700" spc="-114">
                <a:solidFill>
                  <a:srgbClr val="0F2339"/>
                </a:solidFill>
              </a:rPr>
              <a:t>explanation</a:t>
            </a:r>
            <a:endParaRPr sz="2700"/>
          </a:p>
          <a:p>
            <a:pPr marL="30480">
              <a:lnSpc>
                <a:spcPct val="100000"/>
              </a:lnSpc>
              <a:spcBef>
                <a:spcPts val="459"/>
              </a:spcBef>
            </a:pP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Use</a:t>
            </a:r>
            <a:r>
              <a:rPr dirty="0" sz="1300" spc="-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the</a:t>
            </a:r>
            <a:r>
              <a:rPr dirty="0" sz="1300" spc="-2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reasoning</a:t>
            </a:r>
            <a:r>
              <a:rPr dirty="0" sz="1300" spc="-2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as</a:t>
            </a:r>
            <a:r>
              <a:rPr dirty="0" sz="1300" spc="-2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important</a:t>
            </a:r>
            <a:r>
              <a:rPr dirty="0" sz="1300" spc="-2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as</a:t>
            </a:r>
            <a:r>
              <a:rPr dirty="0" sz="1300" spc="-2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the</a:t>
            </a:r>
            <a:r>
              <a:rPr dirty="0" sz="1300" spc="-2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answer</a:t>
            </a:r>
            <a:r>
              <a:rPr dirty="0" sz="1300" spc="-2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itself.</a:t>
            </a:r>
            <a:endParaRPr sz="1300">
              <a:latin typeface="Noto Sans"/>
              <a:cs typeface="Noto San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66635" y="1417319"/>
            <a:ext cx="11064240" cy="635"/>
          </a:xfrm>
          <a:custGeom>
            <a:avLst/>
            <a:gdLst/>
            <a:ahLst/>
            <a:cxnLst/>
            <a:rect l="l" t="t" r="r" b="b"/>
            <a:pathLst>
              <a:path w="11064240" h="634">
                <a:moveTo>
                  <a:pt x="0" y="0"/>
                </a:moveTo>
                <a:lnTo>
                  <a:pt x="11064240" y="355"/>
                </a:lnTo>
              </a:path>
            </a:pathLst>
          </a:custGeom>
          <a:ln w="10079">
            <a:solidFill>
              <a:srgbClr val="DBE4ED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6" name="object 6"/>
          <p:cNvGrpSpPr/>
          <p:nvPr/>
        </p:nvGrpSpPr>
        <p:grpSpPr>
          <a:xfrm>
            <a:off x="891900" y="1797295"/>
            <a:ext cx="318770" cy="318770"/>
            <a:chOff x="891900" y="1797295"/>
            <a:chExt cx="318770" cy="318770"/>
          </a:xfrm>
        </p:grpSpPr>
        <p:sp>
          <p:nvSpPr>
            <p:cNvPr id="7" name="object 7"/>
            <p:cNvSpPr/>
            <p:nvPr/>
          </p:nvSpPr>
          <p:spPr>
            <a:xfrm>
              <a:off x="895680" y="1801075"/>
              <a:ext cx="311150" cy="311150"/>
            </a:xfrm>
            <a:custGeom>
              <a:avLst/>
              <a:gdLst/>
              <a:ahLst/>
              <a:cxnLst/>
              <a:rect l="l" t="t" r="r" b="b"/>
              <a:pathLst>
                <a:path w="311150" h="311150">
                  <a:moveTo>
                    <a:pt x="155524" y="0"/>
                  </a:moveTo>
                  <a:lnTo>
                    <a:pt x="115290" y="5310"/>
                  </a:lnTo>
                  <a:lnTo>
                    <a:pt x="77762" y="20878"/>
                  </a:lnTo>
                  <a:lnTo>
                    <a:pt x="45539" y="45543"/>
                  </a:lnTo>
                  <a:lnTo>
                    <a:pt x="20878" y="77762"/>
                  </a:lnTo>
                  <a:lnTo>
                    <a:pt x="5310" y="115295"/>
                  </a:lnTo>
                  <a:lnTo>
                    <a:pt x="0" y="155524"/>
                  </a:lnTo>
                  <a:lnTo>
                    <a:pt x="1338" y="175873"/>
                  </a:lnTo>
                  <a:lnTo>
                    <a:pt x="11846" y="214958"/>
                  </a:lnTo>
                  <a:lnTo>
                    <a:pt x="32195" y="250273"/>
                  </a:lnTo>
                  <a:lnTo>
                    <a:pt x="60773" y="278847"/>
                  </a:lnTo>
                  <a:lnTo>
                    <a:pt x="96088" y="299202"/>
                  </a:lnTo>
                  <a:lnTo>
                    <a:pt x="135169" y="309709"/>
                  </a:lnTo>
                  <a:lnTo>
                    <a:pt x="155524" y="311048"/>
                  </a:lnTo>
                  <a:lnTo>
                    <a:pt x="175873" y="309709"/>
                  </a:lnTo>
                  <a:lnTo>
                    <a:pt x="214953" y="299202"/>
                  </a:lnTo>
                  <a:lnTo>
                    <a:pt x="250262" y="278847"/>
                  </a:lnTo>
                  <a:lnTo>
                    <a:pt x="278840" y="250273"/>
                  </a:lnTo>
                  <a:lnTo>
                    <a:pt x="299189" y="214958"/>
                  </a:lnTo>
                  <a:lnTo>
                    <a:pt x="309696" y="175873"/>
                  </a:lnTo>
                  <a:lnTo>
                    <a:pt x="311035" y="155524"/>
                  </a:lnTo>
                  <a:lnTo>
                    <a:pt x="309696" y="135174"/>
                  </a:lnTo>
                  <a:lnTo>
                    <a:pt x="299189" y="96089"/>
                  </a:lnTo>
                  <a:lnTo>
                    <a:pt x="278840" y="60774"/>
                  </a:lnTo>
                  <a:lnTo>
                    <a:pt x="250262" y="32201"/>
                  </a:lnTo>
                  <a:lnTo>
                    <a:pt x="214953" y="11846"/>
                  </a:lnTo>
                  <a:lnTo>
                    <a:pt x="175873" y="1338"/>
                  </a:lnTo>
                  <a:lnTo>
                    <a:pt x="155524" y="0"/>
                  </a:lnTo>
                  <a:close/>
                </a:path>
              </a:pathLst>
            </a:custGeom>
            <a:solidFill>
              <a:srgbClr val="0077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895680" y="1801075"/>
              <a:ext cx="311150" cy="311150"/>
            </a:xfrm>
            <a:custGeom>
              <a:avLst/>
              <a:gdLst/>
              <a:ahLst/>
              <a:cxnLst/>
              <a:rect l="l" t="t" r="r" b="b"/>
              <a:pathLst>
                <a:path w="311150" h="311150">
                  <a:moveTo>
                    <a:pt x="0" y="155524"/>
                  </a:moveTo>
                  <a:lnTo>
                    <a:pt x="1338" y="135174"/>
                  </a:lnTo>
                  <a:lnTo>
                    <a:pt x="5310" y="115295"/>
                  </a:lnTo>
                  <a:lnTo>
                    <a:pt x="20878" y="77762"/>
                  </a:lnTo>
                  <a:lnTo>
                    <a:pt x="45539" y="45543"/>
                  </a:lnTo>
                  <a:lnTo>
                    <a:pt x="77762" y="20878"/>
                  </a:lnTo>
                  <a:lnTo>
                    <a:pt x="115290" y="5310"/>
                  </a:lnTo>
                  <a:lnTo>
                    <a:pt x="155524" y="0"/>
                  </a:lnTo>
                  <a:lnTo>
                    <a:pt x="195751" y="5310"/>
                  </a:lnTo>
                  <a:lnTo>
                    <a:pt x="233273" y="20878"/>
                  </a:lnTo>
                  <a:lnTo>
                    <a:pt x="265496" y="45543"/>
                  </a:lnTo>
                  <a:lnTo>
                    <a:pt x="290156" y="77762"/>
                  </a:lnTo>
                  <a:lnTo>
                    <a:pt x="305725" y="115295"/>
                  </a:lnTo>
                  <a:lnTo>
                    <a:pt x="311035" y="155524"/>
                  </a:lnTo>
                  <a:lnTo>
                    <a:pt x="309696" y="175873"/>
                  </a:lnTo>
                  <a:lnTo>
                    <a:pt x="305725" y="195753"/>
                  </a:lnTo>
                  <a:lnTo>
                    <a:pt x="290156" y="233286"/>
                  </a:lnTo>
                  <a:lnTo>
                    <a:pt x="265496" y="265504"/>
                  </a:lnTo>
                  <a:lnTo>
                    <a:pt x="233273" y="290169"/>
                  </a:lnTo>
                  <a:lnTo>
                    <a:pt x="195751" y="305738"/>
                  </a:lnTo>
                  <a:lnTo>
                    <a:pt x="155524" y="311048"/>
                  </a:lnTo>
                  <a:lnTo>
                    <a:pt x="115290" y="305738"/>
                  </a:lnTo>
                  <a:lnTo>
                    <a:pt x="77762" y="290169"/>
                  </a:lnTo>
                  <a:lnTo>
                    <a:pt x="45539" y="265504"/>
                  </a:lnTo>
                  <a:lnTo>
                    <a:pt x="20878" y="233286"/>
                  </a:lnTo>
                  <a:lnTo>
                    <a:pt x="5310" y="195753"/>
                  </a:lnTo>
                  <a:lnTo>
                    <a:pt x="1338" y="175873"/>
                  </a:lnTo>
                  <a:lnTo>
                    <a:pt x="0" y="155524"/>
                  </a:lnTo>
                  <a:close/>
                </a:path>
              </a:pathLst>
            </a:custGeom>
            <a:ln w="7559">
              <a:solidFill>
                <a:srgbClr val="0077D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994943" y="1829409"/>
            <a:ext cx="1130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60">
                <a:solidFill>
                  <a:srgbClr val="FFFFFF"/>
                </a:solidFill>
                <a:latin typeface="Arial Black"/>
                <a:cs typeface="Arial Black"/>
              </a:rPr>
              <a:t>1</a:t>
            </a:r>
            <a:endParaRPr sz="1200">
              <a:latin typeface="Arial Black"/>
              <a:cs typeface="Arial Black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77264" y="1767852"/>
            <a:ext cx="1155700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105">
                <a:solidFill>
                  <a:srgbClr val="0F2339"/>
                </a:solidFill>
                <a:latin typeface="Arial Black"/>
                <a:cs typeface="Arial Black"/>
              </a:rPr>
              <a:t>Q1</a:t>
            </a:r>
            <a:r>
              <a:rPr dirty="0" sz="1350" spc="-11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350" spc="-170">
                <a:solidFill>
                  <a:srgbClr val="0F2339"/>
                </a:solidFill>
                <a:latin typeface="Arial Black"/>
                <a:cs typeface="Arial Black"/>
              </a:rPr>
              <a:t>•</a:t>
            </a:r>
            <a:r>
              <a:rPr dirty="0" sz="1350" spc="-10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350" spc="-130">
                <a:solidFill>
                  <a:srgbClr val="0F2339"/>
                </a:solidFill>
                <a:latin typeface="Arial Black"/>
                <a:cs typeface="Arial Black"/>
              </a:rPr>
              <a:t>A</a:t>
            </a:r>
            <a:r>
              <a:rPr dirty="0" sz="1350" spc="-10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350">
                <a:solidFill>
                  <a:srgbClr val="0F2339"/>
                </a:solidFill>
                <a:latin typeface="Arial Black"/>
                <a:cs typeface="Arial Black"/>
              </a:rPr>
              <a:t>—</a:t>
            </a:r>
            <a:r>
              <a:rPr dirty="0" sz="1350" spc="-11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350" spc="-85">
                <a:solidFill>
                  <a:srgbClr val="0F2339"/>
                </a:solidFill>
                <a:latin typeface="Arial Black"/>
                <a:cs typeface="Arial Black"/>
              </a:rPr>
              <a:t>IaaS</a:t>
            </a:r>
            <a:endParaRPr sz="1350">
              <a:latin typeface="Arial Black"/>
              <a:cs typeface="Arial Black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598824" y="1706295"/>
            <a:ext cx="6923405" cy="3949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1200"/>
              </a:lnSpc>
              <a:spcBef>
                <a:spcPts val="90"/>
              </a:spcBef>
            </a:pPr>
            <a:r>
              <a:rPr dirty="0" sz="1200">
                <a:solidFill>
                  <a:srgbClr val="556478"/>
                </a:solidFill>
                <a:latin typeface="Noto Sans"/>
                <a:cs typeface="Noto Sans"/>
              </a:rPr>
              <a:t>In IaaS,</a:t>
            </a:r>
            <a:r>
              <a:rPr dirty="0" sz="1200" spc="-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00">
                <a:solidFill>
                  <a:srgbClr val="556478"/>
                </a:solidFill>
                <a:latin typeface="Noto Sans"/>
                <a:cs typeface="Noto Sans"/>
              </a:rPr>
              <a:t>the customer</a:t>
            </a:r>
            <a:r>
              <a:rPr dirty="0" sz="1200" spc="-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00">
                <a:solidFill>
                  <a:srgbClr val="556478"/>
                </a:solidFill>
                <a:latin typeface="Noto Sans"/>
                <a:cs typeface="Noto Sans"/>
              </a:rPr>
              <a:t>administers the</a:t>
            </a:r>
            <a:r>
              <a:rPr dirty="0" sz="1200" spc="-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00">
                <a:solidFill>
                  <a:srgbClr val="556478"/>
                </a:solidFill>
                <a:latin typeface="Noto Sans"/>
                <a:cs typeface="Noto Sans"/>
              </a:rPr>
              <a:t>guest OS.</a:t>
            </a:r>
            <a:r>
              <a:rPr dirty="0" sz="1200" spc="-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00">
                <a:solidFill>
                  <a:srgbClr val="556478"/>
                </a:solidFill>
                <a:latin typeface="Noto Sans"/>
                <a:cs typeface="Noto Sans"/>
              </a:rPr>
              <a:t>In PaaS,</a:t>
            </a:r>
            <a:r>
              <a:rPr dirty="0" sz="1200" spc="-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00">
                <a:solidFill>
                  <a:srgbClr val="556478"/>
                </a:solidFill>
                <a:latin typeface="Noto Sans"/>
                <a:cs typeface="Noto Sans"/>
              </a:rPr>
              <a:t>the provider</a:t>
            </a:r>
            <a:r>
              <a:rPr dirty="0" sz="1200" spc="-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00">
                <a:solidFill>
                  <a:srgbClr val="556478"/>
                </a:solidFill>
                <a:latin typeface="Noto Sans"/>
                <a:cs typeface="Noto Sans"/>
              </a:rPr>
              <a:t>manages the</a:t>
            </a:r>
            <a:r>
              <a:rPr dirty="0" sz="1200" spc="-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00" spc="-10">
                <a:solidFill>
                  <a:srgbClr val="556478"/>
                </a:solidFill>
                <a:latin typeface="Noto Sans"/>
                <a:cs typeface="Noto Sans"/>
              </a:rPr>
              <a:t>OS/platform layer.</a:t>
            </a:r>
            <a:endParaRPr sz="1200">
              <a:latin typeface="Noto Sans"/>
              <a:cs typeface="Noto San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51864" y="2712859"/>
            <a:ext cx="9032240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24691" sz="2025" spc="-157">
                <a:solidFill>
                  <a:srgbClr val="0F2339"/>
                </a:solidFill>
                <a:latin typeface="Arial Black"/>
                <a:cs typeface="Arial Black"/>
              </a:rPr>
              <a:t>Q2</a:t>
            </a:r>
            <a:r>
              <a:rPr dirty="0" baseline="-24691" sz="2025" spc="-16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baseline="-24691" sz="2025" spc="-254">
                <a:solidFill>
                  <a:srgbClr val="0F2339"/>
                </a:solidFill>
                <a:latin typeface="Arial Black"/>
                <a:cs typeface="Arial Black"/>
              </a:rPr>
              <a:t>•</a:t>
            </a:r>
            <a:r>
              <a:rPr dirty="0" baseline="-24691" sz="2025" spc="-157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baseline="-24691" sz="2025" spc="-232">
                <a:solidFill>
                  <a:srgbClr val="0F2339"/>
                </a:solidFill>
                <a:latin typeface="Arial Black"/>
                <a:cs typeface="Arial Black"/>
              </a:rPr>
              <a:t>B</a:t>
            </a:r>
            <a:r>
              <a:rPr dirty="0" baseline="-24691" sz="2025" spc="-157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baseline="-24691" sz="2025">
                <a:solidFill>
                  <a:srgbClr val="0F2339"/>
                </a:solidFill>
                <a:latin typeface="Arial Black"/>
                <a:cs typeface="Arial Black"/>
              </a:rPr>
              <a:t>—</a:t>
            </a:r>
            <a:r>
              <a:rPr dirty="0" baseline="-24691" sz="2025" spc="-172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baseline="-24691" sz="2025" spc="-179">
                <a:solidFill>
                  <a:srgbClr val="0F2339"/>
                </a:solidFill>
                <a:latin typeface="Arial Black"/>
                <a:cs typeface="Arial Black"/>
              </a:rPr>
              <a:t>Resource</a:t>
            </a:r>
            <a:r>
              <a:rPr dirty="0" baseline="-24691" sz="2025" spc="-157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baseline="-24691" sz="2025" spc="-15">
                <a:solidFill>
                  <a:srgbClr val="0F2339"/>
                </a:solidFill>
                <a:latin typeface="Arial Black"/>
                <a:cs typeface="Arial Black"/>
              </a:rPr>
              <a:t>Group</a:t>
            </a:r>
            <a:r>
              <a:rPr dirty="0" baseline="-24691" sz="2025" spc="48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200">
                <a:solidFill>
                  <a:srgbClr val="556478"/>
                </a:solidFill>
                <a:latin typeface="Noto Sans"/>
                <a:cs typeface="Noto Sans"/>
              </a:rPr>
              <a:t>Resource</a:t>
            </a:r>
            <a:r>
              <a:rPr dirty="0" sz="1200" spc="-1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00">
                <a:solidFill>
                  <a:srgbClr val="556478"/>
                </a:solidFill>
                <a:latin typeface="Noto Sans"/>
                <a:cs typeface="Noto Sans"/>
              </a:rPr>
              <a:t>groups</a:t>
            </a:r>
            <a:r>
              <a:rPr dirty="0" sz="1200" spc="-1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00">
                <a:solidFill>
                  <a:srgbClr val="556478"/>
                </a:solidFill>
                <a:latin typeface="Noto Sans"/>
                <a:cs typeface="Noto Sans"/>
              </a:rPr>
              <a:t>organize</a:t>
            </a:r>
            <a:r>
              <a:rPr dirty="0" sz="1200" spc="-1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00">
                <a:solidFill>
                  <a:srgbClr val="556478"/>
                </a:solidFill>
                <a:latin typeface="Noto Sans"/>
                <a:cs typeface="Noto Sans"/>
              </a:rPr>
              <a:t>related</a:t>
            </a:r>
            <a:r>
              <a:rPr dirty="0" sz="1200" spc="-1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00">
                <a:solidFill>
                  <a:srgbClr val="556478"/>
                </a:solidFill>
                <a:latin typeface="Noto Sans"/>
                <a:cs typeface="Noto Sans"/>
              </a:rPr>
              <a:t>resources</a:t>
            </a:r>
            <a:r>
              <a:rPr dirty="0" sz="1200" spc="-2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00">
                <a:solidFill>
                  <a:srgbClr val="556478"/>
                </a:solidFill>
                <a:latin typeface="Noto Sans"/>
                <a:cs typeface="Noto Sans"/>
              </a:rPr>
              <a:t>by</a:t>
            </a:r>
            <a:r>
              <a:rPr dirty="0" sz="1200" spc="-1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00">
                <a:solidFill>
                  <a:srgbClr val="556478"/>
                </a:solidFill>
                <a:latin typeface="Noto Sans"/>
                <a:cs typeface="Noto Sans"/>
              </a:rPr>
              <a:t>lifecycle,</a:t>
            </a:r>
            <a:r>
              <a:rPr dirty="0" sz="1200" spc="-1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00">
                <a:solidFill>
                  <a:srgbClr val="556478"/>
                </a:solidFill>
                <a:latin typeface="Noto Sans"/>
                <a:cs typeface="Noto Sans"/>
              </a:rPr>
              <a:t>ownership</a:t>
            </a:r>
            <a:r>
              <a:rPr dirty="0" sz="1200" spc="-1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00">
                <a:solidFill>
                  <a:srgbClr val="556478"/>
                </a:solidFill>
                <a:latin typeface="Noto Sans"/>
                <a:cs typeface="Noto Sans"/>
              </a:rPr>
              <a:t>or</a:t>
            </a:r>
            <a:r>
              <a:rPr dirty="0" sz="1200" spc="-2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00">
                <a:solidFill>
                  <a:srgbClr val="556478"/>
                </a:solidFill>
                <a:latin typeface="Noto Sans"/>
                <a:cs typeface="Noto Sans"/>
              </a:rPr>
              <a:t>operational</a:t>
            </a:r>
            <a:r>
              <a:rPr dirty="0" sz="1200" spc="-1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00">
                <a:solidFill>
                  <a:srgbClr val="556478"/>
                </a:solidFill>
                <a:latin typeface="Noto Sans"/>
                <a:cs typeface="Noto Sans"/>
              </a:rPr>
              <a:t>need;</a:t>
            </a:r>
            <a:r>
              <a:rPr dirty="0" sz="1200" spc="-1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00" spc="-10">
                <a:solidFill>
                  <a:srgbClr val="556478"/>
                </a:solidFill>
                <a:latin typeface="Noto Sans"/>
                <a:cs typeface="Noto Sans"/>
              </a:rPr>
              <a:t>their</a:t>
            </a:r>
            <a:endParaRPr sz="1200">
              <a:latin typeface="Noto Sans"/>
              <a:cs typeface="Noto San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891900" y="2821500"/>
            <a:ext cx="318770" cy="318770"/>
            <a:chOff x="891900" y="2821500"/>
            <a:chExt cx="318770" cy="318770"/>
          </a:xfrm>
        </p:grpSpPr>
        <p:sp>
          <p:nvSpPr>
            <p:cNvPr id="13" name="object 13"/>
            <p:cNvSpPr/>
            <p:nvPr/>
          </p:nvSpPr>
          <p:spPr>
            <a:xfrm>
              <a:off x="895680" y="2825280"/>
              <a:ext cx="311150" cy="311150"/>
            </a:xfrm>
            <a:custGeom>
              <a:avLst/>
              <a:gdLst/>
              <a:ahLst/>
              <a:cxnLst/>
              <a:rect l="l" t="t" r="r" b="b"/>
              <a:pathLst>
                <a:path w="311150" h="311150">
                  <a:moveTo>
                    <a:pt x="155524" y="0"/>
                  </a:moveTo>
                  <a:lnTo>
                    <a:pt x="115290" y="5310"/>
                  </a:lnTo>
                  <a:lnTo>
                    <a:pt x="77762" y="20878"/>
                  </a:lnTo>
                  <a:lnTo>
                    <a:pt x="45539" y="45539"/>
                  </a:lnTo>
                  <a:lnTo>
                    <a:pt x="20878" y="77762"/>
                  </a:lnTo>
                  <a:lnTo>
                    <a:pt x="5310" y="115290"/>
                  </a:lnTo>
                  <a:lnTo>
                    <a:pt x="0" y="155524"/>
                  </a:lnTo>
                  <a:lnTo>
                    <a:pt x="1338" y="175873"/>
                  </a:lnTo>
                  <a:lnTo>
                    <a:pt x="11846" y="214953"/>
                  </a:lnTo>
                  <a:lnTo>
                    <a:pt x="32195" y="250262"/>
                  </a:lnTo>
                  <a:lnTo>
                    <a:pt x="60773" y="278840"/>
                  </a:lnTo>
                  <a:lnTo>
                    <a:pt x="96088" y="299189"/>
                  </a:lnTo>
                  <a:lnTo>
                    <a:pt x="135169" y="309696"/>
                  </a:lnTo>
                  <a:lnTo>
                    <a:pt x="155524" y="311035"/>
                  </a:lnTo>
                  <a:lnTo>
                    <a:pt x="175873" y="309696"/>
                  </a:lnTo>
                  <a:lnTo>
                    <a:pt x="214953" y="299189"/>
                  </a:lnTo>
                  <a:lnTo>
                    <a:pt x="250262" y="278840"/>
                  </a:lnTo>
                  <a:lnTo>
                    <a:pt x="278840" y="250262"/>
                  </a:lnTo>
                  <a:lnTo>
                    <a:pt x="299189" y="214953"/>
                  </a:lnTo>
                  <a:lnTo>
                    <a:pt x="309696" y="175873"/>
                  </a:lnTo>
                  <a:lnTo>
                    <a:pt x="311035" y="155524"/>
                  </a:lnTo>
                  <a:lnTo>
                    <a:pt x="309696" y="135169"/>
                  </a:lnTo>
                  <a:lnTo>
                    <a:pt x="299189" y="96088"/>
                  </a:lnTo>
                  <a:lnTo>
                    <a:pt x="278840" y="60773"/>
                  </a:lnTo>
                  <a:lnTo>
                    <a:pt x="250262" y="32195"/>
                  </a:lnTo>
                  <a:lnTo>
                    <a:pt x="214953" y="11846"/>
                  </a:lnTo>
                  <a:lnTo>
                    <a:pt x="175873" y="1338"/>
                  </a:lnTo>
                  <a:lnTo>
                    <a:pt x="155524" y="0"/>
                  </a:lnTo>
                  <a:close/>
                </a:path>
              </a:pathLst>
            </a:custGeom>
            <a:solidFill>
              <a:srgbClr val="0C938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895680" y="2825280"/>
              <a:ext cx="311150" cy="311150"/>
            </a:xfrm>
            <a:custGeom>
              <a:avLst/>
              <a:gdLst/>
              <a:ahLst/>
              <a:cxnLst/>
              <a:rect l="l" t="t" r="r" b="b"/>
              <a:pathLst>
                <a:path w="311150" h="311150">
                  <a:moveTo>
                    <a:pt x="0" y="155524"/>
                  </a:moveTo>
                  <a:lnTo>
                    <a:pt x="1338" y="135169"/>
                  </a:lnTo>
                  <a:lnTo>
                    <a:pt x="5310" y="115290"/>
                  </a:lnTo>
                  <a:lnTo>
                    <a:pt x="20878" y="77762"/>
                  </a:lnTo>
                  <a:lnTo>
                    <a:pt x="45539" y="45539"/>
                  </a:lnTo>
                  <a:lnTo>
                    <a:pt x="77762" y="20878"/>
                  </a:lnTo>
                  <a:lnTo>
                    <a:pt x="115290" y="5310"/>
                  </a:lnTo>
                  <a:lnTo>
                    <a:pt x="155524" y="0"/>
                  </a:lnTo>
                  <a:lnTo>
                    <a:pt x="195751" y="5310"/>
                  </a:lnTo>
                  <a:lnTo>
                    <a:pt x="233273" y="20878"/>
                  </a:lnTo>
                  <a:lnTo>
                    <a:pt x="265496" y="45539"/>
                  </a:lnTo>
                  <a:lnTo>
                    <a:pt x="290156" y="77762"/>
                  </a:lnTo>
                  <a:lnTo>
                    <a:pt x="305725" y="115290"/>
                  </a:lnTo>
                  <a:lnTo>
                    <a:pt x="311035" y="155524"/>
                  </a:lnTo>
                  <a:lnTo>
                    <a:pt x="309696" y="175873"/>
                  </a:lnTo>
                  <a:lnTo>
                    <a:pt x="305725" y="195751"/>
                  </a:lnTo>
                  <a:lnTo>
                    <a:pt x="290156" y="233273"/>
                  </a:lnTo>
                  <a:lnTo>
                    <a:pt x="265496" y="265496"/>
                  </a:lnTo>
                  <a:lnTo>
                    <a:pt x="233273" y="290156"/>
                  </a:lnTo>
                  <a:lnTo>
                    <a:pt x="195751" y="305725"/>
                  </a:lnTo>
                  <a:lnTo>
                    <a:pt x="155524" y="311035"/>
                  </a:lnTo>
                  <a:lnTo>
                    <a:pt x="115290" y="305725"/>
                  </a:lnTo>
                  <a:lnTo>
                    <a:pt x="77762" y="290156"/>
                  </a:lnTo>
                  <a:lnTo>
                    <a:pt x="45539" y="265496"/>
                  </a:lnTo>
                  <a:lnTo>
                    <a:pt x="20878" y="233273"/>
                  </a:lnTo>
                  <a:lnTo>
                    <a:pt x="5310" y="195751"/>
                  </a:lnTo>
                  <a:lnTo>
                    <a:pt x="1338" y="175873"/>
                  </a:lnTo>
                  <a:lnTo>
                    <a:pt x="0" y="155524"/>
                  </a:lnTo>
                  <a:close/>
                </a:path>
              </a:pathLst>
            </a:custGeom>
            <a:ln w="7559">
              <a:solidFill>
                <a:srgbClr val="0C938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994943" y="2853613"/>
            <a:ext cx="1130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60">
                <a:solidFill>
                  <a:srgbClr val="FFFFFF"/>
                </a:solidFill>
                <a:latin typeface="Arial Black"/>
                <a:cs typeface="Arial Black"/>
              </a:rPr>
              <a:t>2</a:t>
            </a:r>
            <a:endParaRPr sz="1200">
              <a:latin typeface="Arial Black"/>
              <a:cs typeface="Arial Black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598824" y="2915539"/>
            <a:ext cx="2762250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00">
                <a:solidFill>
                  <a:srgbClr val="556478"/>
                </a:solidFill>
                <a:latin typeface="Noto Sans"/>
                <a:cs typeface="Noto Sans"/>
              </a:rPr>
              <a:t>resources</a:t>
            </a:r>
            <a:r>
              <a:rPr dirty="0" sz="1200" spc="-1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00">
                <a:solidFill>
                  <a:srgbClr val="556478"/>
                </a:solidFill>
                <a:latin typeface="Noto Sans"/>
                <a:cs typeface="Noto Sans"/>
              </a:rPr>
              <a:t>may</a:t>
            </a:r>
            <a:r>
              <a:rPr dirty="0" sz="1200" spc="-1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00">
                <a:solidFill>
                  <a:srgbClr val="556478"/>
                </a:solidFill>
                <a:latin typeface="Noto Sans"/>
                <a:cs typeface="Noto Sans"/>
              </a:rPr>
              <a:t>be</a:t>
            </a:r>
            <a:r>
              <a:rPr dirty="0" sz="1200" spc="-1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00">
                <a:solidFill>
                  <a:srgbClr val="556478"/>
                </a:solidFill>
                <a:latin typeface="Noto Sans"/>
                <a:cs typeface="Noto Sans"/>
              </a:rPr>
              <a:t>in</a:t>
            </a:r>
            <a:r>
              <a:rPr dirty="0" sz="1200" spc="-1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00">
                <a:solidFill>
                  <a:srgbClr val="556478"/>
                </a:solidFill>
                <a:latin typeface="Noto Sans"/>
                <a:cs typeface="Noto Sans"/>
              </a:rPr>
              <a:t>different</a:t>
            </a:r>
            <a:r>
              <a:rPr dirty="0" sz="1200" spc="-1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00" spc="-10">
                <a:solidFill>
                  <a:srgbClr val="556478"/>
                </a:solidFill>
                <a:latin typeface="Noto Sans"/>
                <a:cs typeface="Noto Sans"/>
              </a:rPr>
              <a:t>regions.</a:t>
            </a:r>
            <a:endParaRPr sz="1200">
              <a:latin typeface="Noto Sans"/>
              <a:cs typeface="Noto Sans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891900" y="3845336"/>
            <a:ext cx="318770" cy="318770"/>
            <a:chOff x="891900" y="3845336"/>
            <a:chExt cx="318770" cy="318770"/>
          </a:xfrm>
        </p:grpSpPr>
        <p:sp>
          <p:nvSpPr>
            <p:cNvPr id="19" name="object 19"/>
            <p:cNvSpPr/>
            <p:nvPr/>
          </p:nvSpPr>
          <p:spPr>
            <a:xfrm>
              <a:off x="895680" y="3849116"/>
              <a:ext cx="311150" cy="311150"/>
            </a:xfrm>
            <a:custGeom>
              <a:avLst/>
              <a:gdLst/>
              <a:ahLst/>
              <a:cxnLst/>
              <a:rect l="l" t="t" r="r" b="b"/>
              <a:pathLst>
                <a:path w="311150" h="311150">
                  <a:moveTo>
                    <a:pt x="155524" y="0"/>
                  </a:moveTo>
                  <a:lnTo>
                    <a:pt x="115290" y="5310"/>
                  </a:lnTo>
                  <a:lnTo>
                    <a:pt x="77762" y="20878"/>
                  </a:lnTo>
                  <a:lnTo>
                    <a:pt x="45539" y="45543"/>
                  </a:lnTo>
                  <a:lnTo>
                    <a:pt x="20878" y="77762"/>
                  </a:lnTo>
                  <a:lnTo>
                    <a:pt x="5310" y="115295"/>
                  </a:lnTo>
                  <a:lnTo>
                    <a:pt x="0" y="155524"/>
                  </a:lnTo>
                  <a:lnTo>
                    <a:pt x="1338" y="175873"/>
                  </a:lnTo>
                  <a:lnTo>
                    <a:pt x="11846" y="214958"/>
                  </a:lnTo>
                  <a:lnTo>
                    <a:pt x="32195" y="250273"/>
                  </a:lnTo>
                  <a:lnTo>
                    <a:pt x="60773" y="278847"/>
                  </a:lnTo>
                  <a:lnTo>
                    <a:pt x="96088" y="299202"/>
                  </a:lnTo>
                  <a:lnTo>
                    <a:pt x="135169" y="309709"/>
                  </a:lnTo>
                  <a:lnTo>
                    <a:pt x="155524" y="311048"/>
                  </a:lnTo>
                  <a:lnTo>
                    <a:pt x="175873" y="309709"/>
                  </a:lnTo>
                  <a:lnTo>
                    <a:pt x="214953" y="299202"/>
                  </a:lnTo>
                  <a:lnTo>
                    <a:pt x="250262" y="278847"/>
                  </a:lnTo>
                  <a:lnTo>
                    <a:pt x="278840" y="250273"/>
                  </a:lnTo>
                  <a:lnTo>
                    <a:pt x="299189" y="214958"/>
                  </a:lnTo>
                  <a:lnTo>
                    <a:pt x="309696" y="175873"/>
                  </a:lnTo>
                  <a:lnTo>
                    <a:pt x="311035" y="155524"/>
                  </a:lnTo>
                  <a:lnTo>
                    <a:pt x="309696" y="135174"/>
                  </a:lnTo>
                  <a:lnTo>
                    <a:pt x="299189" y="96089"/>
                  </a:lnTo>
                  <a:lnTo>
                    <a:pt x="278840" y="60774"/>
                  </a:lnTo>
                  <a:lnTo>
                    <a:pt x="250262" y="32201"/>
                  </a:lnTo>
                  <a:lnTo>
                    <a:pt x="214953" y="11846"/>
                  </a:lnTo>
                  <a:lnTo>
                    <a:pt x="175873" y="1338"/>
                  </a:lnTo>
                  <a:lnTo>
                    <a:pt x="155524" y="0"/>
                  </a:lnTo>
                  <a:close/>
                </a:path>
              </a:pathLst>
            </a:custGeom>
            <a:solidFill>
              <a:srgbClr val="5A39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895680" y="3849116"/>
              <a:ext cx="311150" cy="311150"/>
            </a:xfrm>
            <a:custGeom>
              <a:avLst/>
              <a:gdLst/>
              <a:ahLst/>
              <a:cxnLst/>
              <a:rect l="l" t="t" r="r" b="b"/>
              <a:pathLst>
                <a:path w="311150" h="311150">
                  <a:moveTo>
                    <a:pt x="0" y="155524"/>
                  </a:moveTo>
                  <a:lnTo>
                    <a:pt x="1338" y="135174"/>
                  </a:lnTo>
                  <a:lnTo>
                    <a:pt x="5310" y="115295"/>
                  </a:lnTo>
                  <a:lnTo>
                    <a:pt x="20878" y="77762"/>
                  </a:lnTo>
                  <a:lnTo>
                    <a:pt x="45539" y="45543"/>
                  </a:lnTo>
                  <a:lnTo>
                    <a:pt x="77762" y="20878"/>
                  </a:lnTo>
                  <a:lnTo>
                    <a:pt x="115290" y="5310"/>
                  </a:lnTo>
                  <a:lnTo>
                    <a:pt x="155524" y="0"/>
                  </a:lnTo>
                  <a:lnTo>
                    <a:pt x="195751" y="5310"/>
                  </a:lnTo>
                  <a:lnTo>
                    <a:pt x="233273" y="20878"/>
                  </a:lnTo>
                  <a:lnTo>
                    <a:pt x="265496" y="45543"/>
                  </a:lnTo>
                  <a:lnTo>
                    <a:pt x="290156" y="77762"/>
                  </a:lnTo>
                  <a:lnTo>
                    <a:pt x="305725" y="115295"/>
                  </a:lnTo>
                  <a:lnTo>
                    <a:pt x="311035" y="155524"/>
                  </a:lnTo>
                  <a:lnTo>
                    <a:pt x="309696" y="175873"/>
                  </a:lnTo>
                  <a:lnTo>
                    <a:pt x="305725" y="195753"/>
                  </a:lnTo>
                  <a:lnTo>
                    <a:pt x="290156" y="233286"/>
                  </a:lnTo>
                  <a:lnTo>
                    <a:pt x="265496" y="265504"/>
                  </a:lnTo>
                  <a:lnTo>
                    <a:pt x="233273" y="290169"/>
                  </a:lnTo>
                  <a:lnTo>
                    <a:pt x="195751" y="305738"/>
                  </a:lnTo>
                  <a:lnTo>
                    <a:pt x="155524" y="311048"/>
                  </a:lnTo>
                  <a:lnTo>
                    <a:pt x="115290" y="305738"/>
                  </a:lnTo>
                  <a:lnTo>
                    <a:pt x="77762" y="290169"/>
                  </a:lnTo>
                  <a:lnTo>
                    <a:pt x="45539" y="265504"/>
                  </a:lnTo>
                  <a:lnTo>
                    <a:pt x="20878" y="233286"/>
                  </a:lnTo>
                  <a:lnTo>
                    <a:pt x="5310" y="195753"/>
                  </a:lnTo>
                  <a:lnTo>
                    <a:pt x="1338" y="175873"/>
                  </a:lnTo>
                  <a:lnTo>
                    <a:pt x="0" y="155524"/>
                  </a:lnTo>
                  <a:close/>
                </a:path>
              </a:pathLst>
            </a:custGeom>
            <a:ln w="7559">
              <a:solidFill>
                <a:srgbClr val="5A399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994943" y="3877817"/>
            <a:ext cx="1130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60">
                <a:solidFill>
                  <a:srgbClr val="FFFFFF"/>
                </a:solidFill>
                <a:latin typeface="Arial Black"/>
                <a:cs typeface="Arial Black"/>
              </a:rPr>
              <a:t>3</a:t>
            </a:r>
            <a:endParaRPr sz="1200">
              <a:latin typeface="Arial Black"/>
              <a:cs typeface="Arial Black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377264" y="3767289"/>
            <a:ext cx="1826260" cy="354330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marL="12700" marR="5080">
              <a:lnSpc>
                <a:spcPct val="79900"/>
              </a:lnSpc>
              <a:spcBef>
                <a:spcPts val="385"/>
              </a:spcBef>
            </a:pPr>
            <a:r>
              <a:rPr dirty="0" sz="1200" spc="-90">
                <a:solidFill>
                  <a:srgbClr val="0F2339"/>
                </a:solidFill>
                <a:latin typeface="Arial Black"/>
                <a:cs typeface="Arial Black"/>
              </a:rPr>
              <a:t>Q3</a:t>
            </a:r>
            <a:r>
              <a:rPr dirty="0" sz="1200" spc="-8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200" spc="-150">
                <a:solidFill>
                  <a:srgbClr val="0F2339"/>
                </a:solidFill>
                <a:latin typeface="Arial Black"/>
                <a:cs typeface="Arial Black"/>
              </a:rPr>
              <a:t>•</a:t>
            </a:r>
            <a:r>
              <a:rPr dirty="0" sz="1200" spc="-8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200" spc="-140">
                <a:solidFill>
                  <a:srgbClr val="0F2339"/>
                </a:solidFill>
                <a:latin typeface="Arial Black"/>
                <a:cs typeface="Arial Black"/>
              </a:rPr>
              <a:t>B</a:t>
            </a:r>
            <a:r>
              <a:rPr dirty="0" sz="1200" spc="-8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200">
                <a:solidFill>
                  <a:srgbClr val="0F2339"/>
                </a:solidFill>
                <a:latin typeface="Arial Black"/>
                <a:cs typeface="Arial Black"/>
              </a:rPr>
              <a:t>—</a:t>
            </a:r>
            <a:r>
              <a:rPr dirty="0" sz="1200" spc="-8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200" spc="-65">
                <a:solidFill>
                  <a:srgbClr val="0F2339"/>
                </a:solidFill>
                <a:latin typeface="Arial Black"/>
                <a:cs typeface="Arial Black"/>
              </a:rPr>
              <a:t>Fault</a:t>
            </a:r>
            <a:r>
              <a:rPr dirty="0" sz="1200" spc="-8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200" spc="-170">
                <a:solidFill>
                  <a:srgbClr val="0F2339"/>
                </a:solidFill>
                <a:latin typeface="Arial Black"/>
                <a:cs typeface="Arial Black"/>
              </a:rPr>
              <a:t>&amp;</a:t>
            </a:r>
            <a:r>
              <a:rPr dirty="0" sz="1200" spc="-8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200" spc="-50">
                <a:solidFill>
                  <a:srgbClr val="0F2339"/>
                </a:solidFill>
                <a:latin typeface="Arial Black"/>
                <a:cs typeface="Arial Black"/>
              </a:rPr>
              <a:t>update </a:t>
            </a:r>
            <a:r>
              <a:rPr dirty="0" sz="1200" spc="-10">
                <a:solidFill>
                  <a:srgbClr val="0F2339"/>
                </a:solidFill>
                <a:latin typeface="Arial Black"/>
                <a:cs typeface="Arial Black"/>
              </a:rPr>
              <a:t>domains</a:t>
            </a:r>
            <a:endParaRPr sz="1200">
              <a:latin typeface="Arial Black"/>
              <a:cs typeface="Arial Black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598824" y="3754704"/>
            <a:ext cx="6548120" cy="3949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1200"/>
              </a:lnSpc>
              <a:spcBef>
                <a:spcPts val="90"/>
              </a:spcBef>
            </a:pPr>
            <a:r>
              <a:rPr dirty="0" sz="1200">
                <a:solidFill>
                  <a:srgbClr val="556478"/>
                </a:solidFill>
                <a:latin typeface="Noto Sans"/>
                <a:cs typeface="Noto Sans"/>
              </a:rPr>
              <a:t>Availability Sets distribute VMs across fault and update domains. Availability Zones </a:t>
            </a:r>
            <a:r>
              <a:rPr dirty="0" sz="1200" spc="-10">
                <a:solidFill>
                  <a:srgbClr val="556478"/>
                </a:solidFill>
                <a:latin typeface="Noto Sans"/>
                <a:cs typeface="Noto Sans"/>
              </a:rPr>
              <a:t>provide </a:t>
            </a:r>
            <a:r>
              <a:rPr dirty="0" sz="1200">
                <a:solidFill>
                  <a:srgbClr val="556478"/>
                </a:solidFill>
                <a:latin typeface="Noto Sans"/>
                <a:cs typeface="Noto Sans"/>
              </a:rPr>
              <a:t>physically separate zone locations in</a:t>
            </a:r>
            <a:r>
              <a:rPr dirty="0" sz="1200" spc="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00">
                <a:solidFill>
                  <a:srgbClr val="556478"/>
                </a:solidFill>
                <a:latin typeface="Noto Sans"/>
                <a:cs typeface="Noto Sans"/>
              </a:rPr>
              <a:t>supported </a:t>
            </a:r>
            <a:r>
              <a:rPr dirty="0" sz="1200" spc="-10">
                <a:solidFill>
                  <a:srgbClr val="556478"/>
                </a:solidFill>
                <a:latin typeface="Noto Sans"/>
                <a:cs typeface="Noto Sans"/>
              </a:rPr>
              <a:t>regions.</a:t>
            </a:r>
            <a:endParaRPr sz="1200">
              <a:latin typeface="Noto Sans"/>
              <a:cs typeface="Noto Sans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891900" y="4869540"/>
            <a:ext cx="318770" cy="318770"/>
            <a:chOff x="891900" y="4869540"/>
            <a:chExt cx="318770" cy="318770"/>
          </a:xfrm>
        </p:grpSpPr>
        <p:sp>
          <p:nvSpPr>
            <p:cNvPr id="25" name="object 25"/>
            <p:cNvSpPr/>
            <p:nvPr/>
          </p:nvSpPr>
          <p:spPr>
            <a:xfrm>
              <a:off x="895680" y="4873320"/>
              <a:ext cx="311150" cy="311150"/>
            </a:xfrm>
            <a:custGeom>
              <a:avLst/>
              <a:gdLst/>
              <a:ahLst/>
              <a:cxnLst/>
              <a:rect l="l" t="t" r="r" b="b"/>
              <a:pathLst>
                <a:path w="311150" h="311150">
                  <a:moveTo>
                    <a:pt x="155524" y="0"/>
                  </a:moveTo>
                  <a:lnTo>
                    <a:pt x="115290" y="5310"/>
                  </a:lnTo>
                  <a:lnTo>
                    <a:pt x="77762" y="20878"/>
                  </a:lnTo>
                  <a:lnTo>
                    <a:pt x="45539" y="45539"/>
                  </a:lnTo>
                  <a:lnTo>
                    <a:pt x="20878" y="77762"/>
                  </a:lnTo>
                  <a:lnTo>
                    <a:pt x="5310" y="115290"/>
                  </a:lnTo>
                  <a:lnTo>
                    <a:pt x="0" y="155524"/>
                  </a:lnTo>
                  <a:lnTo>
                    <a:pt x="1338" y="175873"/>
                  </a:lnTo>
                  <a:lnTo>
                    <a:pt x="11846" y="214953"/>
                  </a:lnTo>
                  <a:lnTo>
                    <a:pt x="32195" y="250262"/>
                  </a:lnTo>
                  <a:lnTo>
                    <a:pt x="60773" y="278840"/>
                  </a:lnTo>
                  <a:lnTo>
                    <a:pt x="96088" y="299189"/>
                  </a:lnTo>
                  <a:lnTo>
                    <a:pt x="135169" y="309696"/>
                  </a:lnTo>
                  <a:lnTo>
                    <a:pt x="155524" y="311035"/>
                  </a:lnTo>
                  <a:lnTo>
                    <a:pt x="175873" y="309696"/>
                  </a:lnTo>
                  <a:lnTo>
                    <a:pt x="214953" y="299189"/>
                  </a:lnTo>
                  <a:lnTo>
                    <a:pt x="250262" y="278840"/>
                  </a:lnTo>
                  <a:lnTo>
                    <a:pt x="278840" y="250262"/>
                  </a:lnTo>
                  <a:lnTo>
                    <a:pt x="299189" y="214953"/>
                  </a:lnTo>
                  <a:lnTo>
                    <a:pt x="309696" y="175873"/>
                  </a:lnTo>
                  <a:lnTo>
                    <a:pt x="311035" y="155524"/>
                  </a:lnTo>
                  <a:lnTo>
                    <a:pt x="309696" y="135169"/>
                  </a:lnTo>
                  <a:lnTo>
                    <a:pt x="299189" y="96088"/>
                  </a:lnTo>
                  <a:lnTo>
                    <a:pt x="278840" y="60773"/>
                  </a:lnTo>
                  <a:lnTo>
                    <a:pt x="250262" y="32195"/>
                  </a:lnTo>
                  <a:lnTo>
                    <a:pt x="214953" y="11846"/>
                  </a:lnTo>
                  <a:lnTo>
                    <a:pt x="175873" y="1338"/>
                  </a:lnTo>
                  <a:lnTo>
                    <a:pt x="155524" y="0"/>
                  </a:lnTo>
                  <a:close/>
                </a:path>
              </a:pathLst>
            </a:custGeom>
            <a:solidFill>
              <a:srgbClr val="F49D0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895680" y="4873320"/>
              <a:ext cx="311150" cy="311150"/>
            </a:xfrm>
            <a:custGeom>
              <a:avLst/>
              <a:gdLst/>
              <a:ahLst/>
              <a:cxnLst/>
              <a:rect l="l" t="t" r="r" b="b"/>
              <a:pathLst>
                <a:path w="311150" h="311150">
                  <a:moveTo>
                    <a:pt x="0" y="155524"/>
                  </a:moveTo>
                  <a:lnTo>
                    <a:pt x="1338" y="135169"/>
                  </a:lnTo>
                  <a:lnTo>
                    <a:pt x="5310" y="115290"/>
                  </a:lnTo>
                  <a:lnTo>
                    <a:pt x="20878" y="77762"/>
                  </a:lnTo>
                  <a:lnTo>
                    <a:pt x="45539" y="45539"/>
                  </a:lnTo>
                  <a:lnTo>
                    <a:pt x="77762" y="20878"/>
                  </a:lnTo>
                  <a:lnTo>
                    <a:pt x="115290" y="5310"/>
                  </a:lnTo>
                  <a:lnTo>
                    <a:pt x="155524" y="0"/>
                  </a:lnTo>
                  <a:lnTo>
                    <a:pt x="195751" y="5310"/>
                  </a:lnTo>
                  <a:lnTo>
                    <a:pt x="233273" y="20878"/>
                  </a:lnTo>
                  <a:lnTo>
                    <a:pt x="265496" y="45539"/>
                  </a:lnTo>
                  <a:lnTo>
                    <a:pt x="290156" y="77762"/>
                  </a:lnTo>
                  <a:lnTo>
                    <a:pt x="305725" y="115290"/>
                  </a:lnTo>
                  <a:lnTo>
                    <a:pt x="311035" y="155524"/>
                  </a:lnTo>
                  <a:lnTo>
                    <a:pt x="309696" y="175873"/>
                  </a:lnTo>
                  <a:lnTo>
                    <a:pt x="305725" y="195751"/>
                  </a:lnTo>
                  <a:lnTo>
                    <a:pt x="290156" y="233273"/>
                  </a:lnTo>
                  <a:lnTo>
                    <a:pt x="265496" y="265496"/>
                  </a:lnTo>
                  <a:lnTo>
                    <a:pt x="233273" y="290156"/>
                  </a:lnTo>
                  <a:lnTo>
                    <a:pt x="195751" y="305725"/>
                  </a:lnTo>
                  <a:lnTo>
                    <a:pt x="155524" y="311035"/>
                  </a:lnTo>
                  <a:lnTo>
                    <a:pt x="115290" y="305725"/>
                  </a:lnTo>
                  <a:lnTo>
                    <a:pt x="77762" y="290156"/>
                  </a:lnTo>
                  <a:lnTo>
                    <a:pt x="45539" y="265496"/>
                  </a:lnTo>
                  <a:lnTo>
                    <a:pt x="20878" y="233273"/>
                  </a:lnTo>
                  <a:lnTo>
                    <a:pt x="5310" y="195751"/>
                  </a:lnTo>
                  <a:lnTo>
                    <a:pt x="1338" y="175873"/>
                  </a:lnTo>
                  <a:lnTo>
                    <a:pt x="0" y="155524"/>
                  </a:lnTo>
                  <a:close/>
                </a:path>
              </a:pathLst>
            </a:custGeom>
            <a:ln w="7559">
              <a:solidFill>
                <a:srgbClr val="F49D0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994943" y="4902009"/>
            <a:ext cx="1130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60">
                <a:solidFill>
                  <a:srgbClr val="FFFFFF"/>
                </a:solidFill>
                <a:latin typeface="Arial Black"/>
                <a:cs typeface="Arial Black"/>
              </a:rPr>
              <a:t>4</a:t>
            </a:r>
            <a:endParaRPr sz="1200">
              <a:latin typeface="Arial Black"/>
              <a:cs typeface="Arial Black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377264" y="4840096"/>
            <a:ext cx="554990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80">
                <a:solidFill>
                  <a:srgbClr val="0F2339"/>
                </a:solidFill>
                <a:latin typeface="Arial Black"/>
                <a:cs typeface="Arial Black"/>
              </a:rPr>
              <a:t>Bonus</a:t>
            </a:r>
            <a:endParaRPr sz="1350">
              <a:latin typeface="Arial Black"/>
              <a:cs typeface="Arial Black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598824" y="4778895"/>
            <a:ext cx="6946265" cy="5803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1200"/>
              </a:lnSpc>
              <a:spcBef>
                <a:spcPts val="90"/>
              </a:spcBef>
            </a:pPr>
            <a:r>
              <a:rPr dirty="0" sz="1200">
                <a:solidFill>
                  <a:srgbClr val="556478"/>
                </a:solidFill>
                <a:latin typeface="Noto Sans"/>
                <a:cs typeface="Noto Sans"/>
              </a:rPr>
              <a:t>Confirm tenant</a:t>
            </a:r>
            <a:r>
              <a:rPr dirty="0" sz="1200" spc="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00">
                <a:solidFill>
                  <a:srgbClr val="556478"/>
                </a:solidFill>
                <a:latin typeface="Noto Sans"/>
                <a:cs typeface="Noto Sans"/>
              </a:rPr>
              <a:t>and</a:t>
            </a:r>
            <a:r>
              <a:rPr dirty="0" sz="1200" spc="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00">
                <a:solidFill>
                  <a:srgbClr val="556478"/>
                </a:solidFill>
                <a:latin typeface="Noto Sans"/>
                <a:cs typeface="Noto Sans"/>
              </a:rPr>
              <a:t>principal</a:t>
            </a:r>
            <a:r>
              <a:rPr dirty="0" sz="1200" spc="2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00" spc="-200">
                <a:solidFill>
                  <a:srgbClr val="556478"/>
                </a:solidFill>
                <a:latin typeface="Arial Narrow"/>
                <a:cs typeface="Arial Narrow"/>
              </a:rPr>
              <a:t>→</a:t>
            </a:r>
            <a:r>
              <a:rPr dirty="0" sz="1200" spc="35">
                <a:solidFill>
                  <a:srgbClr val="556478"/>
                </a:solidFill>
                <a:latin typeface="Arial Narrow"/>
                <a:cs typeface="Arial Narrow"/>
              </a:rPr>
              <a:t> </a:t>
            </a:r>
            <a:r>
              <a:rPr dirty="0" sz="1200">
                <a:solidFill>
                  <a:srgbClr val="556478"/>
                </a:solidFill>
                <a:latin typeface="Noto Sans"/>
                <a:cs typeface="Noto Sans"/>
              </a:rPr>
              <a:t>resource scope</a:t>
            </a:r>
            <a:r>
              <a:rPr dirty="0" sz="1200" spc="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00" spc="-200">
                <a:solidFill>
                  <a:srgbClr val="556478"/>
                </a:solidFill>
                <a:latin typeface="Arial Narrow"/>
                <a:cs typeface="Arial Narrow"/>
              </a:rPr>
              <a:t>→</a:t>
            </a:r>
            <a:r>
              <a:rPr dirty="0" sz="1200" spc="25">
                <a:solidFill>
                  <a:srgbClr val="556478"/>
                </a:solidFill>
                <a:latin typeface="Arial Narrow"/>
                <a:cs typeface="Arial Narrow"/>
              </a:rPr>
              <a:t> </a:t>
            </a:r>
            <a:r>
              <a:rPr dirty="0" sz="1200">
                <a:solidFill>
                  <a:srgbClr val="556478"/>
                </a:solidFill>
                <a:latin typeface="Noto Sans"/>
                <a:cs typeface="Noto Sans"/>
              </a:rPr>
              <a:t>effective</a:t>
            </a:r>
            <a:r>
              <a:rPr dirty="0" sz="1200" spc="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00">
                <a:solidFill>
                  <a:srgbClr val="556478"/>
                </a:solidFill>
                <a:latin typeface="Noto Sans"/>
                <a:cs typeface="Noto Sans"/>
              </a:rPr>
              <a:t>role</a:t>
            </a:r>
            <a:r>
              <a:rPr dirty="0" sz="1200" spc="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00">
                <a:solidFill>
                  <a:srgbClr val="556478"/>
                </a:solidFill>
                <a:latin typeface="Noto Sans"/>
                <a:cs typeface="Noto Sans"/>
              </a:rPr>
              <a:t>and the</a:t>
            </a:r>
            <a:r>
              <a:rPr dirty="0" sz="1200" spc="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00">
                <a:solidFill>
                  <a:srgbClr val="556478"/>
                </a:solidFill>
                <a:latin typeface="Noto Sans"/>
                <a:cs typeface="Noto Sans"/>
              </a:rPr>
              <a:t>exact</a:t>
            </a:r>
            <a:r>
              <a:rPr dirty="0" sz="1200" spc="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00" spc="-10">
                <a:solidFill>
                  <a:srgbClr val="556478"/>
                </a:solidFill>
                <a:latin typeface="Noto Sans"/>
                <a:cs typeface="Noto Sans"/>
              </a:rPr>
              <a:t>data/control-plane </a:t>
            </a:r>
            <a:r>
              <a:rPr dirty="0" sz="1200">
                <a:solidFill>
                  <a:srgbClr val="556478"/>
                </a:solidFill>
                <a:latin typeface="Noto Sans"/>
                <a:cs typeface="Noto Sans"/>
              </a:rPr>
              <a:t>operation</a:t>
            </a:r>
            <a:r>
              <a:rPr dirty="0" sz="1200" spc="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00" spc="-200">
                <a:solidFill>
                  <a:srgbClr val="556478"/>
                </a:solidFill>
                <a:latin typeface="Arial Narrow"/>
                <a:cs typeface="Arial Narrow"/>
              </a:rPr>
              <a:t>→</a:t>
            </a:r>
            <a:r>
              <a:rPr dirty="0" sz="1200" spc="45">
                <a:solidFill>
                  <a:srgbClr val="556478"/>
                </a:solidFill>
                <a:latin typeface="Arial Narrow"/>
                <a:cs typeface="Arial Narrow"/>
              </a:rPr>
              <a:t> </a:t>
            </a:r>
            <a:r>
              <a:rPr dirty="0" sz="1200">
                <a:solidFill>
                  <a:srgbClr val="556478"/>
                </a:solidFill>
                <a:latin typeface="Noto Sans"/>
                <a:cs typeface="Noto Sans"/>
              </a:rPr>
              <a:t>deny assignments</a:t>
            </a:r>
            <a:r>
              <a:rPr dirty="0" sz="1200" spc="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00">
                <a:solidFill>
                  <a:srgbClr val="556478"/>
                </a:solidFill>
                <a:latin typeface="Noto Sans"/>
                <a:cs typeface="Noto Sans"/>
              </a:rPr>
              <a:t>/</a:t>
            </a:r>
            <a:r>
              <a:rPr dirty="0" sz="1200" spc="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00">
                <a:solidFill>
                  <a:srgbClr val="556478"/>
                </a:solidFill>
                <a:latin typeface="Noto Sans"/>
                <a:cs typeface="Noto Sans"/>
              </a:rPr>
              <a:t>other restrictions</a:t>
            </a:r>
            <a:r>
              <a:rPr dirty="0" sz="1200" spc="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00" spc="-200">
                <a:solidFill>
                  <a:srgbClr val="556478"/>
                </a:solidFill>
                <a:latin typeface="Arial Narrow"/>
                <a:cs typeface="Arial Narrow"/>
              </a:rPr>
              <a:t>→</a:t>
            </a:r>
            <a:r>
              <a:rPr dirty="0" sz="1200" spc="15">
                <a:solidFill>
                  <a:srgbClr val="556478"/>
                </a:solidFill>
                <a:latin typeface="Arial Narrow"/>
                <a:cs typeface="Arial Narrow"/>
              </a:rPr>
              <a:t> </a:t>
            </a:r>
            <a:r>
              <a:rPr dirty="0" sz="1200">
                <a:solidFill>
                  <a:srgbClr val="556478"/>
                </a:solidFill>
                <a:latin typeface="Noto Sans"/>
                <a:cs typeface="Noto Sans"/>
              </a:rPr>
              <a:t>test</a:t>
            </a:r>
            <a:r>
              <a:rPr dirty="0" sz="1200" spc="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00">
                <a:solidFill>
                  <a:srgbClr val="556478"/>
                </a:solidFill>
                <a:latin typeface="Noto Sans"/>
                <a:cs typeface="Noto Sans"/>
              </a:rPr>
              <a:t>using</a:t>
            </a:r>
            <a:r>
              <a:rPr dirty="0" sz="1200" spc="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00">
                <a:solidFill>
                  <a:srgbClr val="556478"/>
                </a:solidFill>
                <a:latin typeface="Noto Sans"/>
                <a:cs typeface="Noto Sans"/>
              </a:rPr>
              <a:t>Check Access</a:t>
            </a:r>
            <a:r>
              <a:rPr dirty="0" sz="1200" spc="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00">
                <a:solidFill>
                  <a:srgbClr val="556478"/>
                </a:solidFill>
                <a:latin typeface="Noto Sans"/>
                <a:cs typeface="Noto Sans"/>
              </a:rPr>
              <a:t>and a</a:t>
            </a:r>
            <a:r>
              <a:rPr dirty="0" sz="1200" spc="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00" spc="-20">
                <a:solidFill>
                  <a:srgbClr val="556478"/>
                </a:solidFill>
                <a:latin typeface="Noto Sans"/>
                <a:cs typeface="Noto Sans"/>
              </a:rPr>
              <a:t>safe </a:t>
            </a:r>
            <a:r>
              <a:rPr dirty="0" sz="1200">
                <a:solidFill>
                  <a:srgbClr val="556478"/>
                </a:solidFill>
                <a:latin typeface="Noto Sans"/>
                <a:cs typeface="Noto Sans"/>
              </a:rPr>
              <a:t>reproducible</a:t>
            </a:r>
            <a:r>
              <a:rPr dirty="0" sz="12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200" spc="-10">
                <a:solidFill>
                  <a:srgbClr val="556478"/>
                </a:solidFill>
                <a:latin typeface="Noto Sans"/>
                <a:cs typeface="Noto Sans"/>
              </a:rPr>
              <a:t>call.</a:t>
            </a:r>
            <a:endParaRPr sz="1200">
              <a:latin typeface="Noto Sans"/>
              <a:cs typeface="Noto San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66635" y="6382435"/>
            <a:ext cx="11064240" cy="635"/>
          </a:xfrm>
          <a:custGeom>
            <a:avLst/>
            <a:gdLst/>
            <a:ahLst/>
            <a:cxnLst/>
            <a:rect l="l" t="t" r="r" b="b"/>
            <a:pathLst>
              <a:path w="11064240" h="635">
                <a:moveTo>
                  <a:pt x="0" y="0"/>
                </a:moveTo>
                <a:lnTo>
                  <a:pt x="11064240" y="368"/>
                </a:lnTo>
              </a:path>
            </a:pathLst>
          </a:custGeom>
          <a:ln w="8999">
            <a:solidFill>
              <a:srgbClr val="DBE4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90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 spc="-100"/>
              <a:t>DAY</a:t>
            </a:r>
            <a:r>
              <a:rPr dirty="0" spc="-55"/>
              <a:t> </a:t>
            </a:r>
            <a:r>
              <a:rPr dirty="0"/>
              <a:t>1</a:t>
            </a:r>
            <a:r>
              <a:rPr dirty="0" spc="105"/>
              <a:t> </a:t>
            </a:r>
            <a:r>
              <a:rPr dirty="0"/>
              <a:t>•</a:t>
            </a:r>
            <a:r>
              <a:rPr dirty="0" spc="130"/>
              <a:t> </a:t>
            </a:r>
            <a:r>
              <a:rPr dirty="0" spc="-70"/>
              <a:t>CLOUD</a:t>
            </a:r>
            <a:r>
              <a:rPr dirty="0" spc="-55"/>
              <a:t> </a:t>
            </a:r>
            <a:r>
              <a:rPr dirty="0" spc="-65"/>
              <a:t>FOUNDATIONS</a:t>
            </a:r>
            <a:r>
              <a:rPr dirty="0" spc="-55"/>
              <a:t> </a:t>
            </a:r>
            <a:r>
              <a:rPr dirty="0" spc="-105"/>
              <a:t>&amp;</a:t>
            </a:r>
            <a:r>
              <a:rPr dirty="0" spc="-50"/>
              <a:t> </a:t>
            </a:r>
            <a:r>
              <a:rPr dirty="0" spc="-95"/>
              <a:t>AZURE</a:t>
            </a:r>
            <a:r>
              <a:rPr dirty="0" spc="-55"/>
              <a:t> </a:t>
            </a:r>
            <a:r>
              <a:rPr dirty="0" spc="-50"/>
              <a:t>BASICS</a:t>
            </a:r>
          </a:p>
        </p:txBody>
      </p:sp>
      <p:sp>
        <p:nvSpPr>
          <p:cNvPr id="30" name="object 3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032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160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3935" y="299427"/>
            <a:ext cx="153860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25">
                <a:solidFill>
                  <a:srgbClr val="0077D3"/>
                </a:solidFill>
                <a:latin typeface="Arial Black"/>
                <a:cs typeface="Arial Black"/>
              </a:rPr>
              <a:t>F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90">
                <a:solidFill>
                  <a:srgbClr val="0077D3"/>
                </a:solidFill>
                <a:latin typeface="Arial Black"/>
                <a:cs typeface="Arial Black"/>
              </a:rPr>
              <a:t>U</a:t>
            </a:r>
            <a:r>
              <a:rPr dirty="0" sz="1000" spc="-204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25">
                <a:solidFill>
                  <a:srgbClr val="0077D3"/>
                </a:solidFill>
                <a:latin typeface="Arial Black"/>
                <a:cs typeface="Arial Black"/>
              </a:rPr>
              <a:t>R</a:t>
            </a:r>
            <a:r>
              <a:rPr dirty="0" sz="1000" spc="-204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60">
                <a:solidFill>
                  <a:srgbClr val="0077D3"/>
                </a:solidFill>
                <a:latin typeface="Arial Black"/>
                <a:cs typeface="Arial Black"/>
              </a:rPr>
              <a:t>T</a:t>
            </a:r>
            <a:r>
              <a:rPr dirty="0" sz="1000" spc="-204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85">
                <a:solidFill>
                  <a:srgbClr val="0077D3"/>
                </a:solidFill>
                <a:latin typeface="Arial Black"/>
                <a:cs typeface="Arial Black"/>
              </a:rPr>
              <a:t>H</a:t>
            </a:r>
            <a:r>
              <a:rPr dirty="0" sz="1000" spc="-204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75">
                <a:solidFill>
                  <a:srgbClr val="0077D3"/>
                </a:solidFill>
                <a:latin typeface="Arial Black"/>
                <a:cs typeface="Arial Black"/>
              </a:rPr>
              <a:t>E</a:t>
            </a:r>
            <a:r>
              <a:rPr dirty="0" sz="1000" spc="-204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>
                <a:solidFill>
                  <a:srgbClr val="0077D3"/>
                </a:solidFill>
                <a:latin typeface="Arial Black"/>
                <a:cs typeface="Arial Black"/>
              </a:rPr>
              <a:t>R</a:t>
            </a:r>
            <a:r>
              <a:rPr dirty="0" sz="1000" spc="195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05">
                <a:solidFill>
                  <a:srgbClr val="0077D3"/>
                </a:solidFill>
                <a:latin typeface="Arial Black"/>
                <a:cs typeface="Arial Black"/>
              </a:rPr>
              <a:t>L</a:t>
            </a:r>
            <a:r>
              <a:rPr dirty="0" sz="1000" spc="-204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75">
                <a:solidFill>
                  <a:srgbClr val="0077D3"/>
                </a:solidFill>
                <a:latin typeface="Arial Black"/>
                <a:cs typeface="Arial Black"/>
              </a:rPr>
              <a:t>E</a:t>
            </a:r>
            <a:r>
              <a:rPr dirty="0" sz="1000" spc="-204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95">
                <a:solidFill>
                  <a:srgbClr val="0077D3"/>
                </a:solidFill>
                <a:latin typeface="Arial Black"/>
                <a:cs typeface="Arial Black"/>
              </a:rPr>
              <a:t>A</a:t>
            </a:r>
            <a:r>
              <a:rPr dirty="0" sz="1000" spc="-21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125">
                <a:solidFill>
                  <a:srgbClr val="0077D3"/>
                </a:solidFill>
                <a:latin typeface="Arial Black"/>
                <a:cs typeface="Arial Black"/>
              </a:rPr>
              <a:t>R</a:t>
            </a:r>
            <a:r>
              <a:rPr dirty="0" sz="1000" spc="-204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>
                <a:solidFill>
                  <a:srgbClr val="0077D3"/>
                </a:solidFill>
                <a:latin typeface="Arial Black"/>
                <a:cs typeface="Arial Black"/>
              </a:rPr>
              <a:t>NI</a:t>
            </a:r>
            <a:r>
              <a:rPr dirty="0" sz="1000" spc="-200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35">
                <a:solidFill>
                  <a:srgbClr val="0077D3"/>
                </a:solidFill>
                <a:latin typeface="Arial Black"/>
                <a:cs typeface="Arial Black"/>
              </a:rPr>
              <a:t>N</a:t>
            </a:r>
            <a:r>
              <a:rPr dirty="0" sz="1000" spc="-204">
                <a:solidFill>
                  <a:srgbClr val="0077D3"/>
                </a:solidFill>
                <a:latin typeface="Arial Black"/>
                <a:cs typeface="Arial Black"/>
              </a:rPr>
              <a:t> </a:t>
            </a:r>
            <a:r>
              <a:rPr dirty="0" sz="1000" spc="-50">
                <a:solidFill>
                  <a:srgbClr val="0077D3"/>
                </a:solidFill>
                <a:latin typeface="Arial Black"/>
                <a:cs typeface="Arial Black"/>
              </a:rPr>
              <a:t>G</a:t>
            </a:r>
            <a:endParaRPr sz="1000">
              <a:latin typeface="Arial Black"/>
              <a:cs typeface="Arial Black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54304" y="428977"/>
            <a:ext cx="7969250" cy="814705"/>
          </a:xfrm>
          <a:prstGeom prst="rect"/>
        </p:spPr>
        <p:txBody>
          <a:bodyPr wrap="square" lIns="0" tIns="133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0"/>
              </a:spcBef>
            </a:pPr>
            <a:r>
              <a:rPr dirty="0" sz="2700" spc="-130">
                <a:solidFill>
                  <a:srgbClr val="0F2339"/>
                </a:solidFill>
              </a:rPr>
              <a:t>Official</a:t>
            </a:r>
            <a:r>
              <a:rPr dirty="0" sz="2700" spc="-180">
                <a:solidFill>
                  <a:srgbClr val="0F2339"/>
                </a:solidFill>
              </a:rPr>
              <a:t> </a:t>
            </a:r>
            <a:r>
              <a:rPr dirty="0" sz="2700" spc="-150">
                <a:solidFill>
                  <a:srgbClr val="0F2339"/>
                </a:solidFill>
              </a:rPr>
              <a:t>Azure</a:t>
            </a:r>
            <a:r>
              <a:rPr dirty="0" sz="2700" spc="-175">
                <a:solidFill>
                  <a:srgbClr val="0F2339"/>
                </a:solidFill>
              </a:rPr>
              <a:t> references</a:t>
            </a:r>
            <a:r>
              <a:rPr dirty="0" sz="2700" spc="-170">
                <a:solidFill>
                  <a:srgbClr val="0F2339"/>
                </a:solidFill>
              </a:rPr>
              <a:t> </a:t>
            </a:r>
            <a:r>
              <a:rPr dirty="0" sz="2700" spc="-385">
                <a:solidFill>
                  <a:srgbClr val="0F2339"/>
                </a:solidFill>
              </a:rPr>
              <a:t>&amp;</a:t>
            </a:r>
            <a:r>
              <a:rPr dirty="0" sz="2700" spc="-175">
                <a:solidFill>
                  <a:srgbClr val="0F2339"/>
                </a:solidFill>
              </a:rPr>
              <a:t> </a:t>
            </a:r>
            <a:r>
              <a:rPr dirty="0" sz="2700" spc="-200">
                <a:solidFill>
                  <a:srgbClr val="0F2339"/>
                </a:solidFill>
              </a:rPr>
              <a:t>KodeKloud</a:t>
            </a:r>
            <a:r>
              <a:rPr dirty="0" sz="2700" spc="-175">
                <a:solidFill>
                  <a:srgbClr val="0F2339"/>
                </a:solidFill>
              </a:rPr>
              <a:t> </a:t>
            </a:r>
            <a:r>
              <a:rPr dirty="0" sz="2700" spc="-10">
                <a:solidFill>
                  <a:srgbClr val="0F2339"/>
                </a:solidFill>
              </a:rPr>
              <a:t>videos</a:t>
            </a:r>
            <a:endParaRPr sz="2700"/>
          </a:p>
          <a:p>
            <a:pPr marL="30480">
              <a:lnSpc>
                <a:spcPct val="100000"/>
              </a:lnSpc>
              <a:spcBef>
                <a:spcPts val="459"/>
              </a:spcBef>
            </a:pP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Use</a:t>
            </a:r>
            <a:r>
              <a:rPr dirty="0" sz="1300" spc="-4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these</a:t>
            </a:r>
            <a:r>
              <a:rPr dirty="0" sz="1300" spc="-4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sources</a:t>
            </a:r>
            <a:r>
              <a:rPr dirty="0" sz="1300" spc="-4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to</a:t>
            </a:r>
            <a:r>
              <a:rPr dirty="0" sz="1300" spc="-4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deepen</a:t>
            </a:r>
            <a:r>
              <a:rPr dirty="0" sz="1300" spc="-4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the</a:t>
            </a:r>
            <a:r>
              <a:rPr dirty="0" sz="1300" spc="-4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exact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concepts</a:t>
            </a:r>
            <a:r>
              <a:rPr dirty="0" sz="1300" spc="-4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covered</a:t>
            </a:r>
            <a:r>
              <a:rPr dirty="0" sz="1300" spc="-4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in</a:t>
            </a:r>
            <a:r>
              <a:rPr dirty="0" sz="1300" spc="-4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this</a:t>
            </a:r>
            <a:r>
              <a:rPr dirty="0" sz="1300" spc="-4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deck.</a:t>
            </a:r>
            <a:r>
              <a:rPr dirty="0" sz="1300" spc="-4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Links</a:t>
            </a:r>
            <a:r>
              <a:rPr dirty="0" sz="1300" spc="-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are</a:t>
            </a:r>
            <a:r>
              <a:rPr dirty="0" sz="1300" spc="-4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clickable</a:t>
            </a:r>
            <a:r>
              <a:rPr dirty="0" sz="1300" spc="-4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>
                <a:solidFill>
                  <a:srgbClr val="556478"/>
                </a:solidFill>
                <a:latin typeface="Noto Sans"/>
                <a:cs typeface="Noto Sans"/>
              </a:rPr>
              <a:t>in</a:t>
            </a:r>
            <a:r>
              <a:rPr dirty="0" sz="1300" spc="-4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300" spc="-10">
                <a:solidFill>
                  <a:srgbClr val="556478"/>
                </a:solidFill>
                <a:latin typeface="Noto Sans"/>
                <a:cs typeface="Noto Sans"/>
              </a:rPr>
              <a:t>PowerPoint.</a:t>
            </a:r>
            <a:endParaRPr sz="1300">
              <a:latin typeface="Noto Sans"/>
              <a:cs typeface="Noto San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66635" y="1417319"/>
            <a:ext cx="11064240" cy="635"/>
          </a:xfrm>
          <a:custGeom>
            <a:avLst/>
            <a:gdLst/>
            <a:ahLst/>
            <a:cxnLst/>
            <a:rect l="l" t="t" r="r" b="b"/>
            <a:pathLst>
              <a:path w="11064240" h="634">
                <a:moveTo>
                  <a:pt x="0" y="0"/>
                </a:moveTo>
                <a:lnTo>
                  <a:pt x="11064240" y="355"/>
                </a:lnTo>
              </a:path>
            </a:pathLst>
          </a:custGeom>
          <a:ln w="10079">
            <a:solidFill>
              <a:srgbClr val="DBE4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737184" y="1551347"/>
            <a:ext cx="3745865" cy="546735"/>
          </a:xfrm>
          <a:prstGeom prst="rect">
            <a:avLst/>
          </a:prstGeom>
        </p:spPr>
        <p:txBody>
          <a:bodyPr wrap="square" lIns="0" tIns="1130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dirty="0" u="sng" sz="1150" spc="-65">
                <a:solidFill>
                  <a:srgbClr val="0077D3"/>
                </a:solidFill>
                <a:uFill>
                  <a:solidFill>
                    <a:srgbClr val="0077D3"/>
                  </a:solidFill>
                </a:uFill>
                <a:latin typeface="Arial Black"/>
                <a:cs typeface="Arial Black"/>
                <a:hlinkClick r:id="rId2"/>
              </a:rPr>
              <a:t>Microsoft</a:t>
            </a:r>
            <a:r>
              <a:rPr dirty="0" u="sng" sz="1150" spc="-50">
                <a:solidFill>
                  <a:srgbClr val="0077D3"/>
                </a:solidFill>
                <a:uFill>
                  <a:solidFill>
                    <a:srgbClr val="0077D3"/>
                  </a:solidFill>
                </a:uFill>
                <a:latin typeface="Arial Black"/>
                <a:cs typeface="Arial Black"/>
                <a:hlinkClick r:id="rId2"/>
              </a:rPr>
              <a:t> </a:t>
            </a:r>
            <a:r>
              <a:rPr dirty="0" u="sng" sz="1150" spc="-60">
                <a:solidFill>
                  <a:srgbClr val="0077D3"/>
                </a:solidFill>
                <a:uFill>
                  <a:solidFill>
                    <a:srgbClr val="0077D3"/>
                  </a:solidFill>
                </a:uFill>
                <a:latin typeface="Arial Black"/>
                <a:cs typeface="Arial Black"/>
                <a:hlinkClick r:id="rId2"/>
              </a:rPr>
              <a:t>Learn</a:t>
            </a:r>
            <a:r>
              <a:rPr dirty="0" u="sng" sz="1150" spc="-50">
                <a:solidFill>
                  <a:srgbClr val="0077D3"/>
                </a:solidFill>
                <a:uFill>
                  <a:solidFill>
                    <a:srgbClr val="0077D3"/>
                  </a:solidFill>
                </a:uFill>
                <a:latin typeface="Arial Black"/>
                <a:cs typeface="Arial Black"/>
                <a:hlinkClick r:id="rId2"/>
              </a:rPr>
              <a:t> </a:t>
            </a:r>
            <a:r>
              <a:rPr dirty="0" u="sng" sz="1150" spc="-145">
                <a:solidFill>
                  <a:srgbClr val="0077D3"/>
                </a:solidFill>
                <a:uFill>
                  <a:solidFill>
                    <a:srgbClr val="0077D3"/>
                  </a:solidFill>
                </a:uFill>
                <a:latin typeface="Arial Black"/>
                <a:cs typeface="Arial Black"/>
                <a:hlinkClick r:id="rId2"/>
              </a:rPr>
              <a:t>•</a:t>
            </a:r>
            <a:r>
              <a:rPr dirty="0" u="sng" sz="1150" spc="-55">
                <a:solidFill>
                  <a:srgbClr val="0077D3"/>
                </a:solidFill>
                <a:uFill>
                  <a:solidFill>
                    <a:srgbClr val="0077D3"/>
                  </a:solidFill>
                </a:uFill>
                <a:latin typeface="Arial Black"/>
                <a:cs typeface="Arial Black"/>
                <a:hlinkClick r:id="rId2"/>
              </a:rPr>
              <a:t> </a:t>
            </a:r>
            <a:r>
              <a:rPr dirty="0" u="sng" sz="1150" spc="-75">
                <a:solidFill>
                  <a:srgbClr val="0077D3"/>
                </a:solidFill>
                <a:uFill>
                  <a:solidFill>
                    <a:srgbClr val="0077D3"/>
                  </a:solidFill>
                </a:uFill>
                <a:latin typeface="Arial Black"/>
                <a:cs typeface="Arial Black"/>
                <a:hlinkClick r:id="rId2"/>
              </a:rPr>
              <a:t>Shared</a:t>
            </a:r>
            <a:r>
              <a:rPr dirty="0" u="sng" sz="1150" spc="-50">
                <a:solidFill>
                  <a:srgbClr val="0077D3"/>
                </a:solidFill>
                <a:uFill>
                  <a:solidFill>
                    <a:srgbClr val="0077D3"/>
                  </a:solidFill>
                </a:uFill>
                <a:latin typeface="Arial Black"/>
                <a:cs typeface="Arial Black"/>
                <a:hlinkClick r:id="rId2"/>
              </a:rPr>
              <a:t> </a:t>
            </a:r>
            <a:r>
              <a:rPr dirty="0" u="sng" sz="1150" spc="-60">
                <a:solidFill>
                  <a:srgbClr val="0077D3"/>
                </a:solidFill>
                <a:uFill>
                  <a:solidFill>
                    <a:srgbClr val="0077D3"/>
                  </a:solidFill>
                </a:uFill>
                <a:latin typeface="Arial Black"/>
                <a:cs typeface="Arial Black"/>
                <a:hlinkClick r:id="rId2"/>
              </a:rPr>
              <a:t>responsibility</a:t>
            </a:r>
            <a:r>
              <a:rPr dirty="0" u="sng" sz="1150" spc="-45">
                <a:solidFill>
                  <a:srgbClr val="0077D3"/>
                </a:solidFill>
                <a:uFill>
                  <a:solidFill>
                    <a:srgbClr val="0077D3"/>
                  </a:solidFill>
                </a:uFill>
                <a:latin typeface="Arial Black"/>
                <a:cs typeface="Arial Black"/>
                <a:hlinkClick r:id="rId2"/>
              </a:rPr>
              <a:t> </a:t>
            </a:r>
            <a:r>
              <a:rPr dirty="0" u="sng" sz="1150" spc="-25">
                <a:solidFill>
                  <a:srgbClr val="0077D3"/>
                </a:solidFill>
                <a:uFill>
                  <a:solidFill>
                    <a:srgbClr val="0077D3"/>
                  </a:solidFill>
                </a:uFill>
                <a:latin typeface="Arial Black"/>
                <a:cs typeface="Arial Black"/>
                <a:hlinkClick r:id="rId2"/>
              </a:rPr>
              <a:t>in</a:t>
            </a:r>
            <a:r>
              <a:rPr dirty="0" u="sng" sz="1150" spc="-55">
                <a:solidFill>
                  <a:srgbClr val="0077D3"/>
                </a:solidFill>
                <a:uFill>
                  <a:solidFill>
                    <a:srgbClr val="0077D3"/>
                  </a:solidFill>
                </a:uFill>
                <a:latin typeface="Arial Black"/>
                <a:cs typeface="Arial Black"/>
                <a:hlinkClick r:id="rId2"/>
              </a:rPr>
              <a:t> </a:t>
            </a:r>
            <a:r>
              <a:rPr dirty="0" u="sng" sz="1150" spc="-40">
                <a:solidFill>
                  <a:srgbClr val="0077D3"/>
                </a:solidFill>
                <a:uFill>
                  <a:solidFill>
                    <a:srgbClr val="0077D3"/>
                  </a:solidFill>
                </a:uFill>
                <a:latin typeface="Arial Black"/>
                <a:cs typeface="Arial Black"/>
                <a:hlinkClick r:id="rId2"/>
              </a:rPr>
              <a:t>the</a:t>
            </a:r>
            <a:r>
              <a:rPr dirty="0" u="sng" sz="1150" spc="-50">
                <a:solidFill>
                  <a:srgbClr val="0077D3"/>
                </a:solidFill>
                <a:uFill>
                  <a:solidFill>
                    <a:srgbClr val="0077D3"/>
                  </a:solidFill>
                </a:uFill>
                <a:latin typeface="Arial Black"/>
                <a:cs typeface="Arial Black"/>
                <a:hlinkClick r:id="rId2"/>
              </a:rPr>
              <a:t> </a:t>
            </a:r>
            <a:r>
              <a:rPr dirty="0" u="sng" sz="1150" spc="-20">
                <a:solidFill>
                  <a:srgbClr val="0077D3"/>
                </a:solidFill>
                <a:uFill>
                  <a:solidFill>
                    <a:srgbClr val="0077D3"/>
                  </a:solidFill>
                </a:uFill>
                <a:latin typeface="Arial Black"/>
                <a:cs typeface="Arial Black"/>
                <a:hlinkClick r:id="rId2"/>
              </a:rPr>
              <a:t>cloud</a:t>
            </a:r>
            <a:endParaRPr sz="115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dirty="0" sz="1000">
                <a:solidFill>
                  <a:srgbClr val="556478"/>
                </a:solidFill>
                <a:latin typeface="Noto Sans"/>
                <a:cs typeface="Noto Sans"/>
              </a:rPr>
              <a:t>IaaS</a:t>
            </a:r>
            <a:r>
              <a:rPr dirty="0" sz="1000" spc="2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000">
                <a:solidFill>
                  <a:srgbClr val="556478"/>
                </a:solidFill>
                <a:latin typeface="Noto Sans"/>
                <a:cs typeface="Noto Sans"/>
              </a:rPr>
              <a:t>/</a:t>
            </a:r>
            <a:r>
              <a:rPr dirty="0" sz="1000" spc="2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000">
                <a:solidFill>
                  <a:srgbClr val="556478"/>
                </a:solidFill>
                <a:latin typeface="Noto Sans"/>
                <a:cs typeface="Noto Sans"/>
              </a:rPr>
              <a:t>PaaS</a:t>
            </a:r>
            <a:r>
              <a:rPr dirty="0" sz="1000" spc="2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000">
                <a:solidFill>
                  <a:srgbClr val="556478"/>
                </a:solidFill>
                <a:latin typeface="Noto Sans"/>
                <a:cs typeface="Noto Sans"/>
              </a:rPr>
              <a:t>/</a:t>
            </a:r>
            <a:r>
              <a:rPr dirty="0" sz="1000" spc="3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000">
                <a:solidFill>
                  <a:srgbClr val="556478"/>
                </a:solidFill>
                <a:latin typeface="Noto Sans"/>
                <a:cs typeface="Noto Sans"/>
              </a:rPr>
              <a:t>SaaS</a:t>
            </a:r>
            <a:r>
              <a:rPr dirty="0" sz="1000" spc="2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000">
                <a:solidFill>
                  <a:srgbClr val="556478"/>
                </a:solidFill>
                <a:latin typeface="Noto Sans"/>
                <a:cs typeface="Noto Sans"/>
              </a:rPr>
              <a:t>and</a:t>
            </a:r>
            <a:r>
              <a:rPr dirty="0" sz="1000" spc="2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000">
                <a:solidFill>
                  <a:srgbClr val="556478"/>
                </a:solidFill>
                <a:latin typeface="Noto Sans"/>
                <a:cs typeface="Noto Sans"/>
              </a:rPr>
              <a:t>responsibility</a:t>
            </a:r>
            <a:r>
              <a:rPr dirty="0" sz="1000" spc="2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000" spc="-10">
                <a:solidFill>
                  <a:srgbClr val="556478"/>
                </a:solidFill>
                <a:latin typeface="Noto Sans"/>
                <a:cs typeface="Noto Sans"/>
              </a:rPr>
              <a:t>matrix</a:t>
            </a:r>
            <a:endParaRPr sz="1000">
              <a:latin typeface="Noto Sans"/>
              <a:cs typeface="Noto San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388100" y="1551347"/>
            <a:ext cx="3468370" cy="546735"/>
          </a:xfrm>
          <a:prstGeom prst="rect">
            <a:avLst/>
          </a:prstGeom>
        </p:spPr>
        <p:txBody>
          <a:bodyPr wrap="square" lIns="0" tIns="1130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dirty="0" u="sng" sz="1150" spc="-65">
                <a:solidFill>
                  <a:srgbClr val="0077D3"/>
                </a:solidFill>
                <a:uFill>
                  <a:solidFill>
                    <a:srgbClr val="0077D3"/>
                  </a:solidFill>
                </a:uFill>
                <a:latin typeface="Arial Black"/>
                <a:cs typeface="Arial Black"/>
                <a:hlinkClick r:id="rId7"/>
              </a:rPr>
              <a:t>Microsoft</a:t>
            </a:r>
            <a:r>
              <a:rPr dirty="0" u="sng" sz="1150" spc="-55">
                <a:solidFill>
                  <a:srgbClr val="0077D3"/>
                </a:solidFill>
                <a:uFill>
                  <a:solidFill>
                    <a:srgbClr val="0077D3"/>
                  </a:solidFill>
                </a:uFill>
                <a:latin typeface="Arial Black"/>
                <a:cs typeface="Arial Black"/>
                <a:hlinkClick r:id="rId7"/>
              </a:rPr>
              <a:t> </a:t>
            </a:r>
            <a:r>
              <a:rPr dirty="0" u="sng" sz="1150" spc="-60">
                <a:solidFill>
                  <a:srgbClr val="0077D3"/>
                </a:solidFill>
                <a:uFill>
                  <a:solidFill>
                    <a:srgbClr val="0077D3"/>
                  </a:solidFill>
                </a:uFill>
                <a:latin typeface="Arial Black"/>
                <a:cs typeface="Arial Black"/>
                <a:hlinkClick r:id="rId7"/>
              </a:rPr>
              <a:t>Learn</a:t>
            </a:r>
            <a:r>
              <a:rPr dirty="0" u="sng" sz="1150" spc="-55">
                <a:solidFill>
                  <a:srgbClr val="0077D3"/>
                </a:solidFill>
                <a:uFill>
                  <a:solidFill>
                    <a:srgbClr val="0077D3"/>
                  </a:solidFill>
                </a:uFill>
                <a:latin typeface="Arial Black"/>
                <a:cs typeface="Arial Black"/>
                <a:hlinkClick r:id="rId7"/>
              </a:rPr>
              <a:t> </a:t>
            </a:r>
            <a:r>
              <a:rPr dirty="0" u="sng" sz="1150" spc="-145">
                <a:solidFill>
                  <a:srgbClr val="0077D3"/>
                </a:solidFill>
                <a:uFill>
                  <a:solidFill>
                    <a:srgbClr val="0077D3"/>
                  </a:solidFill>
                </a:uFill>
                <a:latin typeface="Arial Black"/>
                <a:cs typeface="Arial Black"/>
                <a:hlinkClick r:id="rId7"/>
              </a:rPr>
              <a:t>•</a:t>
            </a:r>
            <a:r>
              <a:rPr dirty="0" u="sng" sz="1150" spc="-65">
                <a:solidFill>
                  <a:srgbClr val="0077D3"/>
                </a:solidFill>
                <a:uFill>
                  <a:solidFill>
                    <a:srgbClr val="0077D3"/>
                  </a:solidFill>
                </a:uFill>
                <a:latin typeface="Arial Black"/>
                <a:cs typeface="Arial Black"/>
                <a:hlinkClick r:id="rId7"/>
              </a:rPr>
              <a:t> </a:t>
            </a:r>
            <a:r>
              <a:rPr dirty="0" u="sng" sz="1150" spc="-95">
                <a:solidFill>
                  <a:srgbClr val="0077D3"/>
                </a:solidFill>
                <a:uFill>
                  <a:solidFill>
                    <a:srgbClr val="0077D3"/>
                  </a:solidFill>
                </a:uFill>
                <a:latin typeface="Arial Black"/>
                <a:cs typeface="Arial Black"/>
                <a:hlinkClick r:id="rId7"/>
              </a:rPr>
              <a:t>Resource</a:t>
            </a:r>
            <a:r>
              <a:rPr dirty="0" u="sng" sz="1150" spc="-60">
                <a:solidFill>
                  <a:srgbClr val="0077D3"/>
                </a:solidFill>
                <a:uFill>
                  <a:solidFill>
                    <a:srgbClr val="0077D3"/>
                  </a:solidFill>
                </a:uFill>
                <a:latin typeface="Arial Black"/>
                <a:cs typeface="Arial Black"/>
                <a:hlinkClick r:id="rId7"/>
              </a:rPr>
              <a:t> </a:t>
            </a:r>
            <a:r>
              <a:rPr dirty="0" u="sng" sz="1150" spc="-55">
                <a:solidFill>
                  <a:srgbClr val="0077D3"/>
                </a:solidFill>
                <a:uFill>
                  <a:solidFill>
                    <a:srgbClr val="0077D3"/>
                  </a:solidFill>
                </a:uFill>
                <a:latin typeface="Arial Black"/>
                <a:cs typeface="Arial Black"/>
                <a:hlinkClick r:id="rId7"/>
              </a:rPr>
              <a:t>groups</a:t>
            </a:r>
            <a:r>
              <a:rPr dirty="0" u="sng" sz="1150" spc="-60">
                <a:solidFill>
                  <a:srgbClr val="0077D3"/>
                </a:solidFill>
                <a:uFill>
                  <a:solidFill>
                    <a:srgbClr val="0077D3"/>
                  </a:solidFill>
                </a:uFill>
                <a:latin typeface="Arial Black"/>
                <a:cs typeface="Arial Black"/>
                <a:hlinkClick r:id="rId7"/>
              </a:rPr>
              <a:t> </a:t>
            </a:r>
            <a:r>
              <a:rPr dirty="0" u="sng" sz="1150" spc="-25">
                <a:solidFill>
                  <a:srgbClr val="0077D3"/>
                </a:solidFill>
                <a:uFill>
                  <a:solidFill>
                    <a:srgbClr val="0077D3"/>
                  </a:solidFill>
                </a:uFill>
                <a:latin typeface="Arial Black"/>
                <a:cs typeface="Arial Black"/>
                <a:hlinkClick r:id="rId7"/>
              </a:rPr>
              <a:t>in</a:t>
            </a:r>
            <a:r>
              <a:rPr dirty="0" u="sng" sz="1150" spc="-55">
                <a:solidFill>
                  <a:srgbClr val="0077D3"/>
                </a:solidFill>
                <a:uFill>
                  <a:solidFill>
                    <a:srgbClr val="0077D3"/>
                  </a:solidFill>
                </a:uFill>
                <a:latin typeface="Arial Black"/>
                <a:cs typeface="Arial Black"/>
                <a:hlinkClick r:id="rId7"/>
              </a:rPr>
              <a:t> </a:t>
            </a:r>
            <a:r>
              <a:rPr dirty="0" u="sng" sz="1150" spc="-40">
                <a:solidFill>
                  <a:srgbClr val="0077D3"/>
                </a:solidFill>
                <a:uFill>
                  <a:solidFill>
                    <a:srgbClr val="0077D3"/>
                  </a:solidFill>
                </a:uFill>
                <a:latin typeface="Arial Black"/>
                <a:cs typeface="Arial Black"/>
                <a:hlinkClick r:id="rId7"/>
              </a:rPr>
              <a:t>the</a:t>
            </a:r>
            <a:r>
              <a:rPr dirty="0" u="sng" sz="1150" spc="-55">
                <a:solidFill>
                  <a:srgbClr val="0077D3"/>
                </a:solidFill>
                <a:uFill>
                  <a:solidFill>
                    <a:srgbClr val="0077D3"/>
                  </a:solidFill>
                </a:uFill>
                <a:latin typeface="Arial Black"/>
                <a:cs typeface="Arial Black"/>
                <a:hlinkClick r:id="rId7"/>
              </a:rPr>
              <a:t> </a:t>
            </a:r>
            <a:r>
              <a:rPr dirty="0" u="sng" sz="1150" spc="-20">
                <a:solidFill>
                  <a:srgbClr val="0077D3"/>
                </a:solidFill>
                <a:uFill>
                  <a:solidFill>
                    <a:srgbClr val="0077D3"/>
                  </a:solidFill>
                </a:uFill>
                <a:latin typeface="Arial Black"/>
                <a:cs typeface="Arial Black"/>
                <a:hlinkClick r:id="rId7"/>
              </a:rPr>
              <a:t>Portal</a:t>
            </a:r>
            <a:endParaRPr sz="115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dirty="0" sz="1000">
                <a:solidFill>
                  <a:srgbClr val="556478"/>
                </a:solidFill>
                <a:latin typeface="Noto Sans"/>
                <a:cs typeface="Noto Sans"/>
              </a:rPr>
              <a:t>Create,</a:t>
            </a:r>
            <a:r>
              <a:rPr dirty="0" sz="1000" spc="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000">
                <a:solidFill>
                  <a:srgbClr val="556478"/>
                </a:solidFill>
                <a:latin typeface="Noto Sans"/>
                <a:cs typeface="Noto Sans"/>
              </a:rPr>
              <a:t>navigate</a:t>
            </a:r>
            <a:r>
              <a:rPr dirty="0" sz="1000" spc="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000">
                <a:solidFill>
                  <a:srgbClr val="556478"/>
                </a:solidFill>
                <a:latin typeface="Noto Sans"/>
                <a:cs typeface="Noto Sans"/>
              </a:rPr>
              <a:t>and</a:t>
            </a:r>
            <a:r>
              <a:rPr dirty="0" sz="1000" spc="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000">
                <a:solidFill>
                  <a:srgbClr val="556478"/>
                </a:solidFill>
                <a:latin typeface="Noto Sans"/>
                <a:cs typeface="Noto Sans"/>
              </a:rPr>
              <a:t>manage</a:t>
            </a:r>
            <a:r>
              <a:rPr dirty="0" sz="1000" spc="4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000" spc="-25">
                <a:solidFill>
                  <a:srgbClr val="556478"/>
                </a:solidFill>
                <a:latin typeface="Noto Sans"/>
                <a:cs typeface="Noto Sans"/>
              </a:rPr>
              <a:t>RGs</a:t>
            </a:r>
            <a:endParaRPr sz="1000">
              <a:latin typeface="Noto Sans"/>
              <a:cs typeface="Noto San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37184" y="2411009"/>
            <a:ext cx="2574925" cy="546735"/>
          </a:xfrm>
          <a:prstGeom prst="rect">
            <a:avLst/>
          </a:prstGeom>
        </p:spPr>
        <p:txBody>
          <a:bodyPr wrap="square" lIns="0" tIns="1130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dirty="0" u="sng" sz="1150" spc="-65">
                <a:solidFill>
                  <a:srgbClr val="0077D3"/>
                </a:solidFill>
                <a:uFill>
                  <a:solidFill>
                    <a:srgbClr val="0077D3"/>
                  </a:solidFill>
                </a:uFill>
                <a:latin typeface="Arial Black"/>
                <a:cs typeface="Arial Black"/>
                <a:hlinkClick r:id="rId3"/>
              </a:rPr>
              <a:t>Microsoft</a:t>
            </a:r>
            <a:r>
              <a:rPr dirty="0" u="sng" sz="1150" spc="-50">
                <a:solidFill>
                  <a:srgbClr val="0077D3"/>
                </a:solidFill>
                <a:uFill>
                  <a:solidFill>
                    <a:srgbClr val="0077D3"/>
                  </a:solidFill>
                </a:uFill>
                <a:latin typeface="Arial Black"/>
                <a:cs typeface="Arial Black"/>
                <a:hlinkClick r:id="rId3"/>
              </a:rPr>
              <a:t> </a:t>
            </a:r>
            <a:r>
              <a:rPr dirty="0" u="sng" sz="1150" spc="-60">
                <a:solidFill>
                  <a:srgbClr val="0077D3"/>
                </a:solidFill>
                <a:uFill>
                  <a:solidFill>
                    <a:srgbClr val="0077D3"/>
                  </a:solidFill>
                </a:uFill>
                <a:latin typeface="Arial Black"/>
                <a:cs typeface="Arial Black"/>
                <a:hlinkClick r:id="rId3"/>
              </a:rPr>
              <a:t>Learn</a:t>
            </a:r>
            <a:r>
              <a:rPr dirty="0" u="sng" sz="1150" spc="-50">
                <a:solidFill>
                  <a:srgbClr val="0077D3"/>
                </a:solidFill>
                <a:uFill>
                  <a:solidFill>
                    <a:srgbClr val="0077D3"/>
                  </a:solidFill>
                </a:uFill>
                <a:latin typeface="Arial Black"/>
                <a:cs typeface="Arial Black"/>
                <a:hlinkClick r:id="rId3"/>
              </a:rPr>
              <a:t> </a:t>
            </a:r>
            <a:r>
              <a:rPr dirty="0" u="sng" sz="1150" spc="-145">
                <a:solidFill>
                  <a:srgbClr val="0077D3"/>
                </a:solidFill>
                <a:uFill>
                  <a:solidFill>
                    <a:srgbClr val="0077D3"/>
                  </a:solidFill>
                </a:uFill>
                <a:latin typeface="Arial Black"/>
                <a:cs typeface="Arial Black"/>
                <a:hlinkClick r:id="rId3"/>
              </a:rPr>
              <a:t>•</a:t>
            </a:r>
            <a:r>
              <a:rPr dirty="0" u="sng" sz="1150" spc="-55">
                <a:solidFill>
                  <a:srgbClr val="0077D3"/>
                </a:solidFill>
                <a:uFill>
                  <a:solidFill>
                    <a:srgbClr val="0077D3"/>
                  </a:solidFill>
                </a:uFill>
                <a:latin typeface="Arial Black"/>
                <a:cs typeface="Arial Black"/>
                <a:hlinkClick r:id="rId3"/>
              </a:rPr>
              <a:t> </a:t>
            </a:r>
            <a:r>
              <a:rPr dirty="0" u="sng" sz="1150" spc="-65">
                <a:solidFill>
                  <a:srgbClr val="0077D3"/>
                </a:solidFill>
                <a:uFill>
                  <a:solidFill>
                    <a:srgbClr val="0077D3"/>
                  </a:solidFill>
                </a:uFill>
                <a:latin typeface="Arial Black"/>
                <a:cs typeface="Arial Black"/>
                <a:hlinkClick r:id="rId3"/>
              </a:rPr>
              <a:t>Azure</a:t>
            </a:r>
            <a:r>
              <a:rPr dirty="0" u="sng" sz="1150" spc="-50">
                <a:solidFill>
                  <a:srgbClr val="0077D3"/>
                </a:solidFill>
                <a:uFill>
                  <a:solidFill>
                    <a:srgbClr val="0077D3"/>
                  </a:solidFill>
                </a:uFill>
                <a:latin typeface="Arial Black"/>
                <a:cs typeface="Arial Black"/>
                <a:hlinkClick r:id="rId3"/>
              </a:rPr>
              <a:t> </a:t>
            </a:r>
            <a:r>
              <a:rPr dirty="0" u="sng" sz="1150" spc="-60">
                <a:solidFill>
                  <a:srgbClr val="0077D3"/>
                </a:solidFill>
                <a:uFill>
                  <a:solidFill>
                    <a:srgbClr val="0077D3"/>
                  </a:solidFill>
                </a:uFill>
                <a:latin typeface="Arial Black"/>
                <a:cs typeface="Arial Black"/>
                <a:hlinkClick r:id="rId3"/>
              </a:rPr>
              <a:t>regions</a:t>
            </a:r>
            <a:r>
              <a:rPr dirty="0" u="sng" sz="1150" spc="-55">
                <a:solidFill>
                  <a:srgbClr val="0077D3"/>
                </a:solidFill>
                <a:uFill>
                  <a:solidFill>
                    <a:srgbClr val="0077D3"/>
                  </a:solidFill>
                </a:uFill>
                <a:latin typeface="Arial Black"/>
                <a:cs typeface="Arial Black"/>
                <a:hlinkClick r:id="rId3"/>
              </a:rPr>
              <a:t> </a:t>
            </a:r>
            <a:r>
              <a:rPr dirty="0" u="sng" sz="1150" spc="-25">
                <a:solidFill>
                  <a:srgbClr val="0077D3"/>
                </a:solidFill>
                <a:uFill>
                  <a:solidFill>
                    <a:srgbClr val="0077D3"/>
                  </a:solidFill>
                </a:uFill>
                <a:latin typeface="Arial Black"/>
                <a:cs typeface="Arial Black"/>
                <a:hlinkClick r:id="rId3"/>
              </a:rPr>
              <a:t>list</a:t>
            </a:r>
            <a:endParaRPr sz="115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dirty="0" sz="1000">
                <a:solidFill>
                  <a:srgbClr val="556478"/>
                </a:solidFill>
                <a:latin typeface="Noto Sans"/>
                <a:cs typeface="Noto Sans"/>
              </a:rPr>
              <a:t>Region</a:t>
            </a:r>
            <a:r>
              <a:rPr dirty="0" sz="1000" spc="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000">
                <a:solidFill>
                  <a:srgbClr val="556478"/>
                </a:solidFill>
                <a:latin typeface="Noto Sans"/>
                <a:cs typeface="Noto Sans"/>
              </a:rPr>
              <a:t>names</a:t>
            </a:r>
            <a:r>
              <a:rPr dirty="0" sz="1000" spc="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000">
                <a:solidFill>
                  <a:srgbClr val="556478"/>
                </a:solidFill>
                <a:latin typeface="Noto Sans"/>
                <a:cs typeface="Noto Sans"/>
              </a:rPr>
              <a:t>and</a:t>
            </a:r>
            <a:r>
              <a:rPr dirty="0" sz="1000" spc="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000">
                <a:solidFill>
                  <a:srgbClr val="556478"/>
                </a:solidFill>
                <a:latin typeface="Noto Sans"/>
                <a:cs typeface="Noto Sans"/>
              </a:rPr>
              <a:t>zone</a:t>
            </a:r>
            <a:r>
              <a:rPr dirty="0" sz="1000" spc="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000" spc="-10">
                <a:solidFill>
                  <a:srgbClr val="556478"/>
                </a:solidFill>
                <a:latin typeface="Noto Sans"/>
                <a:cs typeface="Noto Sans"/>
              </a:rPr>
              <a:t>support</a:t>
            </a:r>
            <a:endParaRPr sz="1000">
              <a:latin typeface="Noto Sans"/>
              <a:cs typeface="Noto San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388100" y="2411009"/>
            <a:ext cx="3274695" cy="546735"/>
          </a:xfrm>
          <a:prstGeom prst="rect">
            <a:avLst/>
          </a:prstGeom>
        </p:spPr>
        <p:txBody>
          <a:bodyPr wrap="square" lIns="0" tIns="1130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dirty="0" u="sng" sz="1150" spc="-65">
                <a:solidFill>
                  <a:srgbClr val="0077D3"/>
                </a:solidFill>
                <a:uFill>
                  <a:solidFill>
                    <a:srgbClr val="0077D3"/>
                  </a:solidFill>
                </a:uFill>
                <a:latin typeface="Arial Black"/>
                <a:cs typeface="Arial Black"/>
                <a:hlinkClick r:id="rId8"/>
              </a:rPr>
              <a:t>Microsoft</a:t>
            </a:r>
            <a:r>
              <a:rPr dirty="0" u="sng" sz="1150" spc="-55">
                <a:solidFill>
                  <a:srgbClr val="0077D3"/>
                </a:solidFill>
                <a:uFill>
                  <a:solidFill>
                    <a:srgbClr val="0077D3"/>
                  </a:solidFill>
                </a:uFill>
                <a:latin typeface="Arial Black"/>
                <a:cs typeface="Arial Black"/>
                <a:hlinkClick r:id="rId8"/>
              </a:rPr>
              <a:t> </a:t>
            </a:r>
            <a:r>
              <a:rPr dirty="0" u="sng" sz="1150" spc="-60">
                <a:solidFill>
                  <a:srgbClr val="0077D3"/>
                </a:solidFill>
                <a:uFill>
                  <a:solidFill>
                    <a:srgbClr val="0077D3"/>
                  </a:solidFill>
                </a:uFill>
                <a:latin typeface="Arial Black"/>
                <a:cs typeface="Arial Black"/>
                <a:hlinkClick r:id="rId8"/>
              </a:rPr>
              <a:t>Learn</a:t>
            </a:r>
            <a:r>
              <a:rPr dirty="0" u="sng" sz="1150" spc="-55">
                <a:solidFill>
                  <a:srgbClr val="0077D3"/>
                </a:solidFill>
                <a:uFill>
                  <a:solidFill>
                    <a:srgbClr val="0077D3"/>
                  </a:solidFill>
                </a:uFill>
                <a:latin typeface="Arial Black"/>
                <a:cs typeface="Arial Black"/>
                <a:hlinkClick r:id="rId8"/>
              </a:rPr>
              <a:t> </a:t>
            </a:r>
            <a:r>
              <a:rPr dirty="0" u="sng" sz="1150" spc="-145">
                <a:solidFill>
                  <a:srgbClr val="0077D3"/>
                </a:solidFill>
                <a:uFill>
                  <a:solidFill>
                    <a:srgbClr val="0077D3"/>
                  </a:solidFill>
                </a:uFill>
                <a:latin typeface="Arial Black"/>
                <a:cs typeface="Arial Black"/>
                <a:hlinkClick r:id="rId8"/>
              </a:rPr>
              <a:t>•</a:t>
            </a:r>
            <a:r>
              <a:rPr dirty="0" u="sng" sz="1150" spc="-65">
                <a:solidFill>
                  <a:srgbClr val="0077D3"/>
                </a:solidFill>
                <a:uFill>
                  <a:solidFill>
                    <a:srgbClr val="0077D3"/>
                  </a:solidFill>
                </a:uFill>
                <a:latin typeface="Arial Black"/>
                <a:cs typeface="Arial Black"/>
                <a:hlinkClick r:id="rId8"/>
              </a:rPr>
              <a:t> Azure</a:t>
            </a:r>
            <a:r>
              <a:rPr dirty="0" u="sng" sz="1150" spc="-55">
                <a:solidFill>
                  <a:srgbClr val="0077D3"/>
                </a:solidFill>
                <a:uFill>
                  <a:solidFill>
                    <a:srgbClr val="0077D3"/>
                  </a:solidFill>
                </a:uFill>
                <a:latin typeface="Arial Black"/>
                <a:cs typeface="Arial Black"/>
                <a:hlinkClick r:id="rId8"/>
              </a:rPr>
              <a:t> </a:t>
            </a:r>
            <a:r>
              <a:rPr dirty="0" u="sng" sz="1150" spc="-150">
                <a:solidFill>
                  <a:srgbClr val="0077D3"/>
                </a:solidFill>
                <a:uFill>
                  <a:solidFill>
                    <a:srgbClr val="0077D3"/>
                  </a:solidFill>
                </a:uFill>
                <a:latin typeface="Arial Black"/>
                <a:cs typeface="Arial Black"/>
                <a:hlinkClick r:id="rId8"/>
              </a:rPr>
              <a:t>RBAC</a:t>
            </a:r>
            <a:r>
              <a:rPr dirty="0" u="sng" sz="1150" spc="-60">
                <a:solidFill>
                  <a:srgbClr val="0077D3"/>
                </a:solidFill>
                <a:uFill>
                  <a:solidFill>
                    <a:srgbClr val="0077D3"/>
                  </a:solidFill>
                </a:uFill>
                <a:latin typeface="Arial Black"/>
                <a:cs typeface="Arial Black"/>
                <a:hlinkClick r:id="rId8"/>
              </a:rPr>
              <a:t> </a:t>
            </a:r>
            <a:r>
              <a:rPr dirty="0" u="sng" sz="1150" spc="-170">
                <a:solidFill>
                  <a:srgbClr val="0077D3"/>
                </a:solidFill>
                <a:uFill>
                  <a:solidFill>
                    <a:srgbClr val="0077D3"/>
                  </a:solidFill>
                </a:uFill>
                <a:latin typeface="Arial Black"/>
                <a:cs typeface="Arial Black"/>
                <a:hlinkClick r:id="rId8"/>
              </a:rPr>
              <a:t>&amp;</a:t>
            </a:r>
            <a:r>
              <a:rPr dirty="0" u="sng" sz="1150" spc="-55">
                <a:solidFill>
                  <a:srgbClr val="0077D3"/>
                </a:solidFill>
                <a:uFill>
                  <a:solidFill>
                    <a:srgbClr val="0077D3"/>
                  </a:solidFill>
                </a:uFill>
                <a:latin typeface="Arial Black"/>
                <a:cs typeface="Arial Black"/>
                <a:hlinkClick r:id="rId8"/>
              </a:rPr>
              <a:t> </a:t>
            </a:r>
            <a:r>
              <a:rPr dirty="0" u="sng" sz="1150" spc="-75">
                <a:solidFill>
                  <a:srgbClr val="0077D3"/>
                </a:solidFill>
                <a:uFill>
                  <a:solidFill>
                    <a:srgbClr val="0077D3"/>
                  </a:solidFill>
                </a:uFill>
                <a:latin typeface="Arial Black"/>
                <a:cs typeface="Arial Black"/>
                <a:hlinkClick r:id="rId8"/>
              </a:rPr>
              <a:t>custom</a:t>
            </a:r>
            <a:r>
              <a:rPr dirty="0" u="sng" sz="1150" spc="-60">
                <a:solidFill>
                  <a:srgbClr val="0077D3"/>
                </a:solidFill>
                <a:uFill>
                  <a:solidFill>
                    <a:srgbClr val="0077D3"/>
                  </a:solidFill>
                </a:uFill>
                <a:latin typeface="Arial Black"/>
                <a:cs typeface="Arial Black"/>
                <a:hlinkClick r:id="rId8"/>
              </a:rPr>
              <a:t> </a:t>
            </a:r>
            <a:r>
              <a:rPr dirty="0" u="sng" sz="1150" spc="-40">
                <a:solidFill>
                  <a:srgbClr val="0077D3"/>
                </a:solidFill>
                <a:uFill>
                  <a:solidFill>
                    <a:srgbClr val="0077D3"/>
                  </a:solidFill>
                </a:uFill>
                <a:latin typeface="Arial Black"/>
                <a:cs typeface="Arial Black"/>
                <a:hlinkClick r:id="rId8"/>
              </a:rPr>
              <a:t>roles</a:t>
            </a:r>
            <a:endParaRPr sz="115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dirty="0" sz="1000">
                <a:solidFill>
                  <a:srgbClr val="556478"/>
                </a:solidFill>
                <a:latin typeface="Noto Sans"/>
                <a:cs typeface="Noto Sans"/>
              </a:rPr>
              <a:t>Role</a:t>
            </a:r>
            <a:r>
              <a:rPr dirty="0" sz="1000" spc="4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000">
                <a:solidFill>
                  <a:srgbClr val="556478"/>
                </a:solidFill>
                <a:latin typeface="Noto Sans"/>
                <a:cs typeface="Noto Sans"/>
              </a:rPr>
              <a:t>definitions,</a:t>
            </a:r>
            <a:r>
              <a:rPr dirty="0" sz="1000" spc="4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000">
                <a:solidFill>
                  <a:srgbClr val="556478"/>
                </a:solidFill>
                <a:latin typeface="Noto Sans"/>
                <a:cs typeface="Noto Sans"/>
              </a:rPr>
              <a:t>assignments</a:t>
            </a:r>
            <a:r>
              <a:rPr dirty="0" sz="1000" spc="4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000">
                <a:solidFill>
                  <a:srgbClr val="556478"/>
                </a:solidFill>
                <a:latin typeface="Noto Sans"/>
                <a:cs typeface="Noto Sans"/>
              </a:rPr>
              <a:t>and</a:t>
            </a:r>
            <a:r>
              <a:rPr dirty="0" sz="1000" spc="4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000">
                <a:solidFill>
                  <a:srgbClr val="556478"/>
                </a:solidFill>
                <a:latin typeface="Noto Sans"/>
                <a:cs typeface="Noto Sans"/>
              </a:rPr>
              <a:t>least</a:t>
            </a:r>
            <a:r>
              <a:rPr dirty="0" sz="1000" spc="4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000" spc="-10">
                <a:solidFill>
                  <a:srgbClr val="556478"/>
                </a:solidFill>
                <a:latin typeface="Noto Sans"/>
                <a:cs typeface="Noto Sans"/>
              </a:rPr>
              <a:t>privilege</a:t>
            </a:r>
            <a:endParaRPr sz="1000">
              <a:latin typeface="Noto Sans"/>
              <a:cs typeface="Noto San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37184" y="3269928"/>
            <a:ext cx="3298825" cy="547370"/>
          </a:xfrm>
          <a:prstGeom prst="rect">
            <a:avLst/>
          </a:prstGeom>
        </p:spPr>
        <p:txBody>
          <a:bodyPr wrap="square" lIns="0" tIns="11366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94"/>
              </a:spcBef>
            </a:pPr>
            <a:r>
              <a:rPr dirty="0" u="sng" sz="1150" spc="-65">
                <a:solidFill>
                  <a:srgbClr val="0077D3"/>
                </a:solidFill>
                <a:uFill>
                  <a:solidFill>
                    <a:srgbClr val="0077D3"/>
                  </a:solidFill>
                </a:uFill>
                <a:latin typeface="Arial Black"/>
                <a:cs typeface="Arial Black"/>
                <a:hlinkClick r:id="rId4"/>
              </a:rPr>
              <a:t>Microsoft</a:t>
            </a:r>
            <a:r>
              <a:rPr dirty="0" u="sng" sz="1150" spc="-50">
                <a:solidFill>
                  <a:srgbClr val="0077D3"/>
                </a:solidFill>
                <a:uFill>
                  <a:solidFill>
                    <a:srgbClr val="0077D3"/>
                  </a:solidFill>
                </a:uFill>
                <a:latin typeface="Arial Black"/>
                <a:cs typeface="Arial Black"/>
                <a:hlinkClick r:id="rId4"/>
              </a:rPr>
              <a:t> </a:t>
            </a:r>
            <a:r>
              <a:rPr dirty="0" u="sng" sz="1150" spc="-60">
                <a:solidFill>
                  <a:srgbClr val="0077D3"/>
                </a:solidFill>
                <a:uFill>
                  <a:solidFill>
                    <a:srgbClr val="0077D3"/>
                  </a:solidFill>
                </a:uFill>
                <a:latin typeface="Arial Black"/>
                <a:cs typeface="Arial Black"/>
                <a:hlinkClick r:id="rId4"/>
              </a:rPr>
              <a:t>Learn</a:t>
            </a:r>
            <a:r>
              <a:rPr dirty="0" u="sng" sz="1150" spc="-45">
                <a:solidFill>
                  <a:srgbClr val="0077D3"/>
                </a:solidFill>
                <a:uFill>
                  <a:solidFill>
                    <a:srgbClr val="0077D3"/>
                  </a:solidFill>
                </a:uFill>
                <a:latin typeface="Arial Black"/>
                <a:cs typeface="Arial Black"/>
                <a:hlinkClick r:id="rId4"/>
              </a:rPr>
              <a:t> </a:t>
            </a:r>
            <a:r>
              <a:rPr dirty="0" u="sng" sz="1150" spc="-145">
                <a:solidFill>
                  <a:srgbClr val="0077D3"/>
                </a:solidFill>
                <a:uFill>
                  <a:solidFill>
                    <a:srgbClr val="0077D3"/>
                  </a:solidFill>
                </a:uFill>
                <a:latin typeface="Arial Black"/>
                <a:cs typeface="Arial Black"/>
                <a:hlinkClick r:id="rId4"/>
              </a:rPr>
              <a:t>•</a:t>
            </a:r>
            <a:r>
              <a:rPr dirty="0" u="sng" sz="1150" spc="-50">
                <a:solidFill>
                  <a:srgbClr val="0077D3"/>
                </a:solidFill>
                <a:uFill>
                  <a:solidFill>
                    <a:srgbClr val="0077D3"/>
                  </a:solidFill>
                </a:uFill>
                <a:latin typeface="Arial Black"/>
                <a:cs typeface="Arial Black"/>
                <a:hlinkClick r:id="rId4"/>
              </a:rPr>
              <a:t> </a:t>
            </a:r>
            <a:r>
              <a:rPr dirty="0" u="sng" sz="1150" spc="-55">
                <a:solidFill>
                  <a:srgbClr val="0077D3"/>
                </a:solidFill>
                <a:uFill>
                  <a:solidFill>
                    <a:srgbClr val="0077D3"/>
                  </a:solidFill>
                </a:uFill>
                <a:latin typeface="Arial Black"/>
                <a:cs typeface="Arial Black"/>
                <a:hlinkClick r:id="rId4"/>
              </a:rPr>
              <a:t>Availability</a:t>
            </a:r>
            <a:r>
              <a:rPr dirty="0" u="sng" sz="1150" spc="-50">
                <a:solidFill>
                  <a:srgbClr val="0077D3"/>
                </a:solidFill>
                <a:uFill>
                  <a:solidFill>
                    <a:srgbClr val="0077D3"/>
                  </a:solidFill>
                </a:uFill>
                <a:latin typeface="Arial Black"/>
                <a:cs typeface="Arial Black"/>
                <a:hlinkClick r:id="rId4"/>
              </a:rPr>
              <a:t> </a:t>
            </a:r>
            <a:r>
              <a:rPr dirty="0" u="sng" sz="1150" spc="-95">
                <a:solidFill>
                  <a:srgbClr val="0077D3"/>
                </a:solidFill>
                <a:uFill>
                  <a:solidFill>
                    <a:srgbClr val="0077D3"/>
                  </a:solidFill>
                </a:uFill>
                <a:latin typeface="Arial Black"/>
                <a:cs typeface="Arial Black"/>
                <a:hlinkClick r:id="rId4"/>
              </a:rPr>
              <a:t>Zones</a:t>
            </a:r>
            <a:r>
              <a:rPr dirty="0" u="sng" sz="1150" spc="-45">
                <a:solidFill>
                  <a:srgbClr val="0077D3"/>
                </a:solidFill>
                <a:uFill>
                  <a:solidFill>
                    <a:srgbClr val="0077D3"/>
                  </a:solidFill>
                </a:uFill>
                <a:latin typeface="Arial Black"/>
                <a:cs typeface="Arial Black"/>
                <a:hlinkClick r:id="rId4"/>
              </a:rPr>
              <a:t> overview</a:t>
            </a:r>
            <a:endParaRPr sz="115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dirty="0" sz="1000">
                <a:solidFill>
                  <a:srgbClr val="556478"/>
                </a:solidFill>
                <a:latin typeface="Noto Sans"/>
                <a:cs typeface="Noto Sans"/>
              </a:rPr>
              <a:t>Zones,</a:t>
            </a:r>
            <a:r>
              <a:rPr dirty="0" sz="1000" spc="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000">
                <a:solidFill>
                  <a:srgbClr val="556478"/>
                </a:solidFill>
                <a:latin typeface="Noto Sans"/>
                <a:cs typeface="Noto Sans"/>
              </a:rPr>
              <a:t>resilience</a:t>
            </a:r>
            <a:r>
              <a:rPr dirty="0" sz="1000" spc="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000">
                <a:solidFill>
                  <a:srgbClr val="556478"/>
                </a:solidFill>
                <a:latin typeface="Noto Sans"/>
                <a:cs typeface="Noto Sans"/>
              </a:rPr>
              <a:t>and</a:t>
            </a:r>
            <a:r>
              <a:rPr dirty="0" sz="1000" spc="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000">
                <a:solidFill>
                  <a:srgbClr val="556478"/>
                </a:solidFill>
                <a:latin typeface="Noto Sans"/>
                <a:cs typeface="Noto Sans"/>
              </a:rPr>
              <a:t>design</a:t>
            </a:r>
            <a:r>
              <a:rPr dirty="0" sz="1000" spc="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000" spc="-10">
                <a:solidFill>
                  <a:srgbClr val="556478"/>
                </a:solidFill>
                <a:latin typeface="Noto Sans"/>
                <a:cs typeface="Noto Sans"/>
              </a:rPr>
              <a:t>guidance</a:t>
            </a:r>
            <a:endParaRPr sz="1000">
              <a:latin typeface="Noto Sans"/>
              <a:cs typeface="Noto San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388100" y="3269928"/>
            <a:ext cx="2976245" cy="547370"/>
          </a:xfrm>
          <a:prstGeom prst="rect">
            <a:avLst/>
          </a:prstGeom>
        </p:spPr>
        <p:txBody>
          <a:bodyPr wrap="square" lIns="0" tIns="11366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94"/>
              </a:spcBef>
            </a:pPr>
            <a:r>
              <a:rPr dirty="0" u="sng" sz="1150" spc="-65">
                <a:solidFill>
                  <a:srgbClr val="0077D3"/>
                </a:solidFill>
                <a:uFill>
                  <a:solidFill>
                    <a:srgbClr val="0077D3"/>
                  </a:solidFill>
                </a:uFill>
                <a:latin typeface="Arial Black"/>
                <a:cs typeface="Arial Black"/>
                <a:hlinkClick r:id="rId9"/>
              </a:rPr>
              <a:t>Microsoft</a:t>
            </a:r>
            <a:r>
              <a:rPr dirty="0" u="sng" sz="1150" spc="-55">
                <a:solidFill>
                  <a:srgbClr val="0077D3"/>
                </a:solidFill>
                <a:uFill>
                  <a:solidFill>
                    <a:srgbClr val="0077D3"/>
                  </a:solidFill>
                </a:uFill>
                <a:latin typeface="Arial Black"/>
                <a:cs typeface="Arial Black"/>
                <a:hlinkClick r:id="rId9"/>
              </a:rPr>
              <a:t> </a:t>
            </a:r>
            <a:r>
              <a:rPr dirty="0" u="sng" sz="1150" spc="-60">
                <a:solidFill>
                  <a:srgbClr val="0077D3"/>
                </a:solidFill>
                <a:uFill>
                  <a:solidFill>
                    <a:srgbClr val="0077D3"/>
                  </a:solidFill>
                </a:uFill>
                <a:latin typeface="Arial Black"/>
                <a:cs typeface="Arial Black"/>
                <a:hlinkClick r:id="rId9"/>
              </a:rPr>
              <a:t>Learn</a:t>
            </a:r>
            <a:r>
              <a:rPr dirty="0" u="sng" sz="1150" spc="-55">
                <a:solidFill>
                  <a:srgbClr val="0077D3"/>
                </a:solidFill>
                <a:uFill>
                  <a:solidFill>
                    <a:srgbClr val="0077D3"/>
                  </a:solidFill>
                </a:uFill>
                <a:latin typeface="Arial Black"/>
                <a:cs typeface="Arial Black"/>
                <a:hlinkClick r:id="rId9"/>
              </a:rPr>
              <a:t> </a:t>
            </a:r>
            <a:r>
              <a:rPr dirty="0" u="sng" sz="1150" spc="-145">
                <a:solidFill>
                  <a:srgbClr val="0077D3"/>
                </a:solidFill>
                <a:uFill>
                  <a:solidFill>
                    <a:srgbClr val="0077D3"/>
                  </a:solidFill>
                </a:uFill>
                <a:latin typeface="Arial Black"/>
                <a:cs typeface="Arial Black"/>
                <a:hlinkClick r:id="rId9"/>
              </a:rPr>
              <a:t>•</a:t>
            </a:r>
            <a:r>
              <a:rPr dirty="0" u="sng" sz="1150" spc="-55">
                <a:solidFill>
                  <a:srgbClr val="0077D3"/>
                </a:solidFill>
                <a:uFill>
                  <a:solidFill>
                    <a:srgbClr val="0077D3"/>
                  </a:solidFill>
                </a:uFill>
                <a:latin typeface="Arial Black"/>
                <a:cs typeface="Arial Black"/>
                <a:hlinkClick r:id="rId9"/>
              </a:rPr>
              <a:t> Deny </a:t>
            </a:r>
            <a:r>
              <a:rPr dirty="0" u="sng" sz="1150" spc="-10">
                <a:solidFill>
                  <a:srgbClr val="0077D3"/>
                </a:solidFill>
                <a:uFill>
                  <a:solidFill>
                    <a:srgbClr val="0077D3"/>
                  </a:solidFill>
                </a:uFill>
                <a:latin typeface="Arial Black"/>
                <a:cs typeface="Arial Black"/>
                <a:hlinkClick r:id="rId9"/>
              </a:rPr>
              <a:t>assignments</a:t>
            </a:r>
            <a:endParaRPr sz="115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dirty="0" sz="1000">
                <a:solidFill>
                  <a:srgbClr val="556478"/>
                </a:solidFill>
                <a:latin typeface="Noto Sans"/>
                <a:cs typeface="Noto Sans"/>
              </a:rPr>
              <a:t>Why</a:t>
            </a:r>
            <a:r>
              <a:rPr dirty="0" sz="1000" spc="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000">
                <a:solidFill>
                  <a:srgbClr val="556478"/>
                </a:solidFill>
                <a:latin typeface="Noto Sans"/>
                <a:cs typeface="Noto Sans"/>
              </a:rPr>
              <a:t>Deny</a:t>
            </a:r>
            <a:r>
              <a:rPr dirty="0" sz="1000" spc="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000">
                <a:solidFill>
                  <a:srgbClr val="556478"/>
                </a:solidFill>
                <a:latin typeface="Noto Sans"/>
                <a:cs typeface="Noto Sans"/>
              </a:rPr>
              <a:t>can</a:t>
            </a:r>
            <a:r>
              <a:rPr dirty="0" sz="1000" spc="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000">
                <a:solidFill>
                  <a:srgbClr val="556478"/>
                </a:solidFill>
                <a:latin typeface="Noto Sans"/>
                <a:cs typeface="Noto Sans"/>
              </a:rPr>
              <a:t>block</a:t>
            </a:r>
            <a:r>
              <a:rPr dirty="0" sz="1000" spc="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000">
                <a:solidFill>
                  <a:srgbClr val="556478"/>
                </a:solidFill>
                <a:latin typeface="Noto Sans"/>
                <a:cs typeface="Noto Sans"/>
              </a:rPr>
              <a:t>an</a:t>
            </a:r>
            <a:r>
              <a:rPr dirty="0" sz="1000" spc="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000">
                <a:solidFill>
                  <a:srgbClr val="556478"/>
                </a:solidFill>
                <a:latin typeface="Noto Sans"/>
                <a:cs typeface="Noto Sans"/>
              </a:rPr>
              <a:t>otherwise</a:t>
            </a:r>
            <a:r>
              <a:rPr dirty="0" sz="1000" spc="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000">
                <a:solidFill>
                  <a:srgbClr val="556478"/>
                </a:solidFill>
                <a:latin typeface="Noto Sans"/>
                <a:cs typeface="Noto Sans"/>
              </a:rPr>
              <a:t>allowed</a:t>
            </a:r>
            <a:r>
              <a:rPr dirty="0" sz="1000" spc="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000" spc="-10">
                <a:solidFill>
                  <a:srgbClr val="556478"/>
                </a:solidFill>
                <a:latin typeface="Noto Sans"/>
                <a:cs typeface="Noto Sans"/>
              </a:rPr>
              <a:t>action</a:t>
            </a:r>
            <a:endParaRPr sz="1000">
              <a:latin typeface="Noto Sans"/>
              <a:cs typeface="Noto San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37184" y="4130005"/>
            <a:ext cx="3171825" cy="546735"/>
          </a:xfrm>
          <a:prstGeom prst="rect">
            <a:avLst/>
          </a:prstGeom>
        </p:spPr>
        <p:txBody>
          <a:bodyPr wrap="square" lIns="0" tIns="1130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dirty="0" u="sng" sz="1150" spc="-65">
                <a:solidFill>
                  <a:srgbClr val="0077D3"/>
                </a:solidFill>
                <a:uFill>
                  <a:solidFill>
                    <a:srgbClr val="0077D3"/>
                  </a:solidFill>
                </a:uFill>
                <a:latin typeface="Arial Black"/>
                <a:cs typeface="Arial Black"/>
                <a:hlinkClick r:id="rId5"/>
              </a:rPr>
              <a:t>Microsoft</a:t>
            </a:r>
            <a:r>
              <a:rPr dirty="0" u="sng" sz="1150" spc="-50">
                <a:solidFill>
                  <a:srgbClr val="0077D3"/>
                </a:solidFill>
                <a:uFill>
                  <a:solidFill>
                    <a:srgbClr val="0077D3"/>
                  </a:solidFill>
                </a:uFill>
                <a:latin typeface="Arial Black"/>
                <a:cs typeface="Arial Black"/>
                <a:hlinkClick r:id="rId5"/>
              </a:rPr>
              <a:t> </a:t>
            </a:r>
            <a:r>
              <a:rPr dirty="0" u="sng" sz="1150" spc="-60">
                <a:solidFill>
                  <a:srgbClr val="0077D3"/>
                </a:solidFill>
                <a:uFill>
                  <a:solidFill>
                    <a:srgbClr val="0077D3"/>
                  </a:solidFill>
                </a:uFill>
                <a:latin typeface="Arial Black"/>
                <a:cs typeface="Arial Black"/>
                <a:hlinkClick r:id="rId5"/>
              </a:rPr>
              <a:t>Learn</a:t>
            </a:r>
            <a:r>
              <a:rPr dirty="0" u="sng" sz="1150" spc="-45">
                <a:solidFill>
                  <a:srgbClr val="0077D3"/>
                </a:solidFill>
                <a:uFill>
                  <a:solidFill>
                    <a:srgbClr val="0077D3"/>
                  </a:solidFill>
                </a:uFill>
                <a:latin typeface="Arial Black"/>
                <a:cs typeface="Arial Black"/>
                <a:hlinkClick r:id="rId5"/>
              </a:rPr>
              <a:t> </a:t>
            </a:r>
            <a:r>
              <a:rPr dirty="0" u="sng" sz="1150" spc="-145">
                <a:solidFill>
                  <a:srgbClr val="0077D3"/>
                </a:solidFill>
                <a:uFill>
                  <a:solidFill>
                    <a:srgbClr val="0077D3"/>
                  </a:solidFill>
                </a:uFill>
                <a:latin typeface="Arial Black"/>
                <a:cs typeface="Arial Black"/>
                <a:hlinkClick r:id="rId5"/>
              </a:rPr>
              <a:t>•</a:t>
            </a:r>
            <a:r>
              <a:rPr dirty="0" u="sng" sz="1150" spc="-50">
                <a:solidFill>
                  <a:srgbClr val="0077D3"/>
                </a:solidFill>
                <a:uFill>
                  <a:solidFill>
                    <a:srgbClr val="0077D3"/>
                  </a:solidFill>
                </a:uFill>
                <a:latin typeface="Arial Black"/>
                <a:cs typeface="Arial Black"/>
                <a:hlinkClick r:id="rId5"/>
              </a:rPr>
              <a:t> </a:t>
            </a:r>
            <a:r>
              <a:rPr dirty="0" u="sng" sz="1150" spc="-55">
                <a:solidFill>
                  <a:srgbClr val="0077D3"/>
                </a:solidFill>
                <a:uFill>
                  <a:solidFill>
                    <a:srgbClr val="0077D3"/>
                  </a:solidFill>
                </a:uFill>
                <a:latin typeface="Arial Black"/>
                <a:cs typeface="Arial Black"/>
                <a:hlinkClick r:id="rId5"/>
              </a:rPr>
              <a:t>Availability</a:t>
            </a:r>
            <a:r>
              <a:rPr dirty="0" u="sng" sz="1150" spc="-45">
                <a:solidFill>
                  <a:srgbClr val="0077D3"/>
                </a:solidFill>
                <a:uFill>
                  <a:solidFill>
                    <a:srgbClr val="0077D3"/>
                  </a:solidFill>
                </a:uFill>
                <a:latin typeface="Arial Black"/>
                <a:cs typeface="Arial Black"/>
                <a:hlinkClick r:id="rId5"/>
              </a:rPr>
              <a:t> </a:t>
            </a:r>
            <a:r>
              <a:rPr dirty="0" u="sng" sz="1150" spc="-114">
                <a:solidFill>
                  <a:srgbClr val="0077D3"/>
                </a:solidFill>
                <a:uFill>
                  <a:solidFill>
                    <a:srgbClr val="0077D3"/>
                  </a:solidFill>
                </a:uFill>
                <a:latin typeface="Arial Black"/>
                <a:cs typeface="Arial Black"/>
                <a:hlinkClick r:id="rId5"/>
              </a:rPr>
              <a:t>Sets</a:t>
            </a:r>
            <a:r>
              <a:rPr dirty="0" u="sng" sz="1150" spc="-50">
                <a:solidFill>
                  <a:srgbClr val="0077D3"/>
                </a:solidFill>
                <a:uFill>
                  <a:solidFill>
                    <a:srgbClr val="0077D3"/>
                  </a:solidFill>
                </a:uFill>
                <a:latin typeface="Arial Black"/>
                <a:cs typeface="Arial Black"/>
                <a:hlinkClick r:id="rId5"/>
              </a:rPr>
              <a:t> </a:t>
            </a:r>
            <a:r>
              <a:rPr dirty="0" u="sng" sz="1150" spc="-45">
                <a:solidFill>
                  <a:srgbClr val="0077D3"/>
                </a:solidFill>
                <a:uFill>
                  <a:solidFill>
                    <a:srgbClr val="0077D3"/>
                  </a:solidFill>
                </a:uFill>
                <a:latin typeface="Arial Black"/>
                <a:cs typeface="Arial Black"/>
                <a:hlinkClick r:id="rId5"/>
              </a:rPr>
              <a:t>overview</a:t>
            </a:r>
            <a:endParaRPr sz="115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dirty="0" sz="1000">
                <a:solidFill>
                  <a:srgbClr val="556478"/>
                </a:solidFill>
                <a:latin typeface="Noto Sans"/>
                <a:cs typeface="Noto Sans"/>
              </a:rPr>
              <a:t>Fault</a:t>
            </a:r>
            <a:r>
              <a:rPr dirty="0" sz="1000" spc="4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000">
                <a:solidFill>
                  <a:srgbClr val="556478"/>
                </a:solidFill>
                <a:latin typeface="Noto Sans"/>
                <a:cs typeface="Noto Sans"/>
              </a:rPr>
              <a:t>domains</a:t>
            </a:r>
            <a:r>
              <a:rPr dirty="0" sz="1000" spc="3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000">
                <a:solidFill>
                  <a:srgbClr val="556478"/>
                </a:solidFill>
                <a:latin typeface="Noto Sans"/>
                <a:cs typeface="Noto Sans"/>
              </a:rPr>
              <a:t>and</a:t>
            </a:r>
            <a:r>
              <a:rPr dirty="0" sz="1000" spc="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000">
                <a:solidFill>
                  <a:srgbClr val="556478"/>
                </a:solidFill>
                <a:latin typeface="Noto Sans"/>
                <a:cs typeface="Noto Sans"/>
              </a:rPr>
              <a:t>update</a:t>
            </a:r>
            <a:r>
              <a:rPr dirty="0" sz="1000" spc="4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000" spc="-10">
                <a:solidFill>
                  <a:srgbClr val="556478"/>
                </a:solidFill>
                <a:latin typeface="Noto Sans"/>
                <a:cs typeface="Noto Sans"/>
              </a:rPr>
              <a:t>domains</a:t>
            </a:r>
            <a:endParaRPr sz="1000">
              <a:latin typeface="Noto Sans"/>
              <a:cs typeface="Noto San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388100" y="4130005"/>
            <a:ext cx="4756150" cy="701675"/>
          </a:xfrm>
          <a:prstGeom prst="rect">
            <a:avLst/>
          </a:prstGeom>
        </p:spPr>
        <p:txBody>
          <a:bodyPr wrap="square" lIns="0" tIns="1130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dirty="0" u="sng" sz="1150" spc="-85">
                <a:solidFill>
                  <a:srgbClr val="0077D3"/>
                </a:solidFill>
                <a:uFill>
                  <a:solidFill>
                    <a:srgbClr val="0077D3"/>
                  </a:solidFill>
                </a:uFill>
                <a:latin typeface="Arial Black"/>
                <a:cs typeface="Arial Black"/>
                <a:hlinkClick r:id="rId10"/>
              </a:rPr>
              <a:t>KodeKloud</a:t>
            </a:r>
            <a:r>
              <a:rPr dirty="0" u="sng" sz="1150" spc="-60">
                <a:solidFill>
                  <a:srgbClr val="0077D3"/>
                </a:solidFill>
                <a:uFill>
                  <a:solidFill>
                    <a:srgbClr val="0077D3"/>
                  </a:solidFill>
                </a:uFill>
                <a:latin typeface="Arial Black"/>
                <a:cs typeface="Arial Black"/>
                <a:hlinkClick r:id="rId10"/>
              </a:rPr>
              <a:t> </a:t>
            </a:r>
            <a:r>
              <a:rPr dirty="0" u="sng" sz="1150" spc="-145">
                <a:solidFill>
                  <a:srgbClr val="0077D3"/>
                </a:solidFill>
                <a:uFill>
                  <a:solidFill>
                    <a:srgbClr val="0077D3"/>
                  </a:solidFill>
                </a:uFill>
                <a:latin typeface="Arial Black"/>
                <a:cs typeface="Arial Black"/>
                <a:hlinkClick r:id="rId10"/>
              </a:rPr>
              <a:t>•</a:t>
            </a:r>
            <a:r>
              <a:rPr dirty="0" u="sng" sz="1150" spc="-65">
                <a:solidFill>
                  <a:srgbClr val="0077D3"/>
                </a:solidFill>
                <a:uFill>
                  <a:solidFill>
                    <a:srgbClr val="0077D3"/>
                  </a:solidFill>
                </a:uFill>
                <a:latin typeface="Arial Black"/>
                <a:cs typeface="Arial Black"/>
                <a:hlinkClick r:id="rId10"/>
              </a:rPr>
              <a:t> </a:t>
            </a:r>
            <a:r>
              <a:rPr dirty="0" u="sng" sz="1150" spc="-105">
                <a:solidFill>
                  <a:srgbClr val="0077D3"/>
                </a:solidFill>
                <a:uFill>
                  <a:solidFill>
                    <a:srgbClr val="0077D3"/>
                  </a:solidFill>
                </a:uFill>
                <a:latin typeface="Arial Black"/>
                <a:cs typeface="Arial Black"/>
                <a:hlinkClick r:id="rId10"/>
              </a:rPr>
              <a:t>AZ-</a:t>
            </a:r>
            <a:r>
              <a:rPr dirty="0" u="sng" sz="1150" spc="-114">
                <a:solidFill>
                  <a:srgbClr val="0077D3"/>
                </a:solidFill>
                <a:uFill>
                  <a:solidFill>
                    <a:srgbClr val="0077D3"/>
                  </a:solidFill>
                </a:uFill>
                <a:latin typeface="Arial Black"/>
                <a:cs typeface="Arial Black"/>
                <a:hlinkClick r:id="rId10"/>
              </a:rPr>
              <a:t>900</a:t>
            </a:r>
            <a:r>
              <a:rPr dirty="0" u="sng" sz="1150" spc="-60">
                <a:solidFill>
                  <a:srgbClr val="0077D3"/>
                </a:solidFill>
                <a:uFill>
                  <a:solidFill>
                    <a:srgbClr val="0077D3"/>
                  </a:solidFill>
                </a:uFill>
                <a:latin typeface="Arial Black"/>
                <a:cs typeface="Arial Black"/>
                <a:hlinkClick r:id="rId10"/>
              </a:rPr>
              <a:t> Microsoft</a:t>
            </a:r>
            <a:r>
              <a:rPr dirty="0" u="sng" sz="1150" spc="-55">
                <a:solidFill>
                  <a:srgbClr val="0077D3"/>
                </a:solidFill>
                <a:uFill>
                  <a:solidFill>
                    <a:srgbClr val="0077D3"/>
                  </a:solidFill>
                </a:uFill>
                <a:latin typeface="Arial Black"/>
                <a:cs typeface="Arial Black"/>
                <a:hlinkClick r:id="rId10"/>
              </a:rPr>
              <a:t> </a:t>
            </a:r>
            <a:r>
              <a:rPr dirty="0" u="sng" sz="1150" spc="-65">
                <a:solidFill>
                  <a:srgbClr val="0077D3"/>
                </a:solidFill>
                <a:uFill>
                  <a:solidFill>
                    <a:srgbClr val="0077D3"/>
                  </a:solidFill>
                </a:uFill>
                <a:latin typeface="Arial Black"/>
                <a:cs typeface="Arial Black"/>
                <a:hlinkClick r:id="rId10"/>
              </a:rPr>
              <a:t>Azure</a:t>
            </a:r>
            <a:r>
              <a:rPr dirty="0" u="sng" sz="1150" spc="-60">
                <a:solidFill>
                  <a:srgbClr val="0077D3"/>
                </a:solidFill>
                <a:uFill>
                  <a:solidFill>
                    <a:srgbClr val="0077D3"/>
                  </a:solidFill>
                </a:uFill>
                <a:latin typeface="Arial Black"/>
                <a:cs typeface="Arial Black"/>
                <a:hlinkClick r:id="rId10"/>
              </a:rPr>
              <a:t> </a:t>
            </a:r>
            <a:r>
              <a:rPr dirty="0" u="sng" sz="1150" spc="-10">
                <a:solidFill>
                  <a:srgbClr val="0077D3"/>
                </a:solidFill>
                <a:uFill>
                  <a:solidFill>
                    <a:srgbClr val="0077D3"/>
                  </a:solidFill>
                </a:uFill>
                <a:latin typeface="Arial Black"/>
                <a:cs typeface="Arial Black"/>
                <a:hlinkClick r:id="rId10"/>
              </a:rPr>
              <a:t>Fundamentals</a:t>
            </a:r>
            <a:endParaRPr sz="1150">
              <a:latin typeface="Arial Black"/>
              <a:cs typeface="Arial Black"/>
            </a:endParaRPr>
          </a:p>
          <a:p>
            <a:pPr marL="12700" marR="5080">
              <a:lnSpc>
                <a:spcPct val="102099"/>
              </a:lnSpc>
              <a:spcBef>
                <a:spcPts val="700"/>
              </a:spcBef>
            </a:pPr>
            <a:r>
              <a:rPr dirty="0" sz="1000">
                <a:solidFill>
                  <a:srgbClr val="556478"/>
                </a:solidFill>
                <a:latin typeface="Noto Sans"/>
                <a:cs typeface="Noto Sans"/>
              </a:rPr>
              <a:t>Suggested</a:t>
            </a:r>
            <a:r>
              <a:rPr dirty="0" sz="1000" spc="5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000">
                <a:solidFill>
                  <a:srgbClr val="556478"/>
                </a:solidFill>
                <a:latin typeface="Noto Sans"/>
                <a:cs typeface="Noto Sans"/>
              </a:rPr>
              <a:t>videos:</a:t>
            </a:r>
            <a:r>
              <a:rPr dirty="0" sz="1000" spc="5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000">
                <a:solidFill>
                  <a:srgbClr val="556478"/>
                </a:solidFill>
                <a:latin typeface="Noto Sans"/>
                <a:cs typeface="Noto Sans"/>
              </a:rPr>
              <a:t>Regions</a:t>
            </a:r>
            <a:r>
              <a:rPr dirty="0" sz="1000" spc="5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000">
                <a:solidFill>
                  <a:srgbClr val="556478"/>
                </a:solidFill>
                <a:latin typeface="Noto Sans"/>
                <a:cs typeface="Noto Sans"/>
              </a:rPr>
              <a:t>and</a:t>
            </a:r>
            <a:r>
              <a:rPr dirty="0" sz="1000" spc="5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000">
                <a:solidFill>
                  <a:srgbClr val="556478"/>
                </a:solidFill>
                <a:latin typeface="Noto Sans"/>
                <a:cs typeface="Noto Sans"/>
              </a:rPr>
              <a:t>Availability</a:t>
            </a:r>
            <a:r>
              <a:rPr dirty="0" sz="1000" spc="5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000">
                <a:solidFill>
                  <a:srgbClr val="556478"/>
                </a:solidFill>
                <a:latin typeface="Noto Sans"/>
                <a:cs typeface="Noto Sans"/>
              </a:rPr>
              <a:t>Zones;</a:t>
            </a:r>
            <a:r>
              <a:rPr dirty="0" sz="1000" spc="5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000">
                <a:solidFill>
                  <a:srgbClr val="556478"/>
                </a:solidFill>
                <a:latin typeface="Noto Sans"/>
                <a:cs typeface="Noto Sans"/>
              </a:rPr>
              <a:t>Subscriptions</a:t>
            </a:r>
            <a:r>
              <a:rPr dirty="0" sz="1000" spc="5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000">
                <a:solidFill>
                  <a:srgbClr val="556478"/>
                </a:solidFill>
                <a:latin typeface="Noto Sans"/>
                <a:cs typeface="Noto Sans"/>
              </a:rPr>
              <a:t>and</a:t>
            </a:r>
            <a:r>
              <a:rPr dirty="0" sz="1000" spc="5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000" spc="-10">
                <a:solidFill>
                  <a:srgbClr val="556478"/>
                </a:solidFill>
                <a:latin typeface="Noto Sans"/>
                <a:cs typeface="Noto Sans"/>
              </a:rPr>
              <a:t>Resource </a:t>
            </a:r>
            <a:r>
              <a:rPr dirty="0" sz="1000">
                <a:solidFill>
                  <a:srgbClr val="556478"/>
                </a:solidFill>
                <a:latin typeface="Noto Sans"/>
                <a:cs typeface="Noto Sans"/>
              </a:rPr>
              <a:t>Groups;</a:t>
            </a:r>
            <a:r>
              <a:rPr dirty="0" sz="1000" spc="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000">
                <a:solidFill>
                  <a:srgbClr val="556478"/>
                </a:solidFill>
                <a:latin typeface="Noto Sans"/>
                <a:cs typeface="Noto Sans"/>
              </a:rPr>
              <a:t>cloud</a:t>
            </a:r>
            <a:r>
              <a:rPr dirty="0" sz="1000" spc="4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000">
                <a:solidFill>
                  <a:srgbClr val="556478"/>
                </a:solidFill>
                <a:latin typeface="Noto Sans"/>
                <a:cs typeface="Noto Sans"/>
              </a:rPr>
              <a:t>service</a:t>
            </a:r>
            <a:r>
              <a:rPr dirty="0" sz="1000" spc="4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000" spc="-20">
                <a:solidFill>
                  <a:srgbClr val="556478"/>
                </a:solidFill>
                <a:latin typeface="Noto Sans"/>
                <a:cs typeface="Noto Sans"/>
              </a:rPr>
              <a:t>types</a:t>
            </a:r>
            <a:endParaRPr sz="1000">
              <a:latin typeface="Noto Sans"/>
              <a:cs typeface="Noto San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37184" y="4988924"/>
            <a:ext cx="3825875" cy="547370"/>
          </a:xfrm>
          <a:prstGeom prst="rect">
            <a:avLst/>
          </a:prstGeom>
        </p:spPr>
        <p:txBody>
          <a:bodyPr wrap="square" lIns="0" tIns="11366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94"/>
              </a:spcBef>
            </a:pPr>
            <a:r>
              <a:rPr dirty="0" u="sng" sz="1150" spc="-65">
                <a:solidFill>
                  <a:srgbClr val="0077D3"/>
                </a:solidFill>
                <a:uFill>
                  <a:solidFill>
                    <a:srgbClr val="0077D3"/>
                  </a:solidFill>
                </a:uFill>
                <a:latin typeface="Arial Black"/>
                <a:cs typeface="Arial Black"/>
                <a:hlinkClick r:id="rId6"/>
              </a:rPr>
              <a:t>Microsoft</a:t>
            </a:r>
            <a:r>
              <a:rPr dirty="0" u="sng" sz="1150" spc="-50">
                <a:solidFill>
                  <a:srgbClr val="0077D3"/>
                </a:solidFill>
                <a:uFill>
                  <a:solidFill>
                    <a:srgbClr val="0077D3"/>
                  </a:solidFill>
                </a:uFill>
                <a:latin typeface="Arial Black"/>
                <a:cs typeface="Arial Black"/>
                <a:hlinkClick r:id="rId6"/>
              </a:rPr>
              <a:t> </a:t>
            </a:r>
            <a:r>
              <a:rPr dirty="0" u="sng" sz="1150" spc="-60">
                <a:solidFill>
                  <a:srgbClr val="0077D3"/>
                </a:solidFill>
                <a:uFill>
                  <a:solidFill>
                    <a:srgbClr val="0077D3"/>
                  </a:solidFill>
                </a:uFill>
                <a:latin typeface="Arial Black"/>
                <a:cs typeface="Arial Black"/>
                <a:hlinkClick r:id="rId6"/>
              </a:rPr>
              <a:t>Learn</a:t>
            </a:r>
            <a:r>
              <a:rPr dirty="0" u="sng" sz="1150" spc="-50">
                <a:solidFill>
                  <a:srgbClr val="0077D3"/>
                </a:solidFill>
                <a:uFill>
                  <a:solidFill>
                    <a:srgbClr val="0077D3"/>
                  </a:solidFill>
                </a:uFill>
                <a:latin typeface="Arial Black"/>
                <a:cs typeface="Arial Black"/>
                <a:hlinkClick r:id="rId6"/>
              </a:rPr>
              <a:t> </a:t>
            </a:r>
            <a:r>
              <a:rPr dirty="0" u="sng" sz="1150" spc="-145">
                <a:solidFill>
                  <a:srgbClr val="0077D3"/>
                </a:solidFill>
                <a:uFill>
                  <a:solidFill>
                    <a:srgbClr val="0077D3"/>
                  </a:solidFill>
                </a:uFill>
                <a:latin typeface="Arial Black"/>
                <a:cs typeface="Arial Black"/>
                <a:hlinkClick r:id="rId6"/>
              </a:rPr>
              <a:t>•</a:t>
            </a:r>
            <a:r>
              <a:rPr dirty="0" u="sng" sz="1150" spc="-50">
                <a:solidFill>
                  <a:srgbClr val="0077D3"/>
                </a:solidFill>
                <a:uFill>
                  <a:solidFill>
                    <a:srgbClr val="0077D3"/>
                  </a:solidFill>
                </a:uFill>
                <a:latin typeface="Arial Black"/>
                <a:cs typeface="Arial Black"/>
                <a:hlinkClick r:id="rId6"/>
              </a:rPr>
              <a:t> </a:t>
            </a:r>
            <a:r>
              <a:rPr dirty="0" u="sng" sz="1150" spc="-65">
                <a:solidFill>
                  <a:srgbClr val="0077D3"/>
                </a:solidFill>
                <a:uFill>
                  <a:solidFill>
                    <a:srgbClr val="0077D3"/>
                  </a:solidFill>
                </a:uFill>
                <a:latin typeface="Arial Black"/>
                <a:cs typeface="Arial Black"/>
                <a:hlinkClick r:id="rId6"/>
              </a:rPr>
              <a:t>Azure</a:t>
            </a:r>
            <a:r>
              <a:rPr dirty="0" u="sng" sz="1150" spc="-50">
                <a:solidFill>
                  <a:srgbClr val="0077D3"/>
                </a:solidFill>
                <a:uFill>
                  <a:solidFill>
                    <a:srgbClr val="0077D3"/>
                  </a:solidFill>
                </a:uFill>
                <a:latin typeface="Arial Black"/>
                <a:cs typeface="Arial Black"/>
                <a:hlinkClick r:id="rId6"/>
              </a:rPr>
              <a:t> </a:t>
            </a:r>
            <a:r>
              <a:rPr dirty="0" u="sng" sz="1150" spc="-95">
                <a:solidFill>
                  <a:srgbClr val="0077D3"/>
                </a:solidFill>
                <a:uFill>
                  <a:solidFill>
                    <a:srgbClr val="0077D3"/>
                  </a:solidFill>
                </a:uFill>
                <a:latin typeface="Arial Black"/>
                <a:cs typeface="Arial Black"/>
                <a:hlinkClick r:id="rId6"/>
              </a:rPr>
              <a:t>Resource</a:t>
            </a:r>
            <a:r>
              <a:rPr dirty="0" u="sng" sz="1150" spc="-45">
                <a:solidFill>
                  <a:srgbClr val="0077D3"/>
                </a:solidFill>
                <a:uFill>
                  <a:solidFill>
                    <a:srgbClr val="0077D3"/>
                  </a:solidFill>
                </a:uFill>
                <a:latin typeface="Arial Black"/>
                <a:cs typeface="Arial Black"/>
                <a:hlinkClick r:id="rId6"/>
              </a:rPr>
              <a:t> Manager</a:t>
            </a:r>
            <a:r>
              <a:rPr dirty="0" u="sng" sz="1150" spc="-50">
                <a:solidFill>
                  <a:srgbClr val="0077D3"/>
                </a:solidFill>
                <a:uFill>
                  <a:solidFill>
                    <a:srgbClr val="0077D3"/>
                  </a:solidFill>
                </a:uFill>
                <a:latin typeface="Arial Black"/>
                <a:cs typeface="Arial Black"/>
                <a:hlinkClick r:id="rId6"/>
              </a:rPr>
              <a:t> </a:t>
            </a:r>
            <a:r>
              <a:rPr dirty="0" u="sng" sz="1150" spc="-45">
                <a:solidFill>
                  <a:srgbClr val="0077D3"/>
                </a:solidFill>
                <a:uFill>
                  <a:solidFill>
                    <a:srgbClr val="0077D3"/>
                  </a:solidFill>
                </a:uFill>
                <a:latin typeface="Arial Black"/>
                <a:cs typeface="Arial Black"/>
                <a:hlinkClick r:id="rId6"/>
              </a:rPr>
              <a:t>overview</a:t>
            </a:r>
            <a:endParaRPr sz="115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dirty="0" sz="1000">
                <a:solidFill>
                  <a:srgbClr val="556478"/>
                </a:solidFill>
                <a:latin typeface="Noto Sans"/>
                <a:cs typeface="Noto Sans"/>
              </a:rPr>
              <a:t>Management</a:t>
            </a:r>
            <a:r>
              <a:rPr dirty="0" sz="1000" spc="45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000">
                <a:solidFill>
                  <a:srgbClr val="556478"/>
                </a:solidFill>
                <a:latin typeface="Noto Sans"/>
                <a:cs typeface="Noto Sans"/>
              </a:rPr>
              <a:t>scopes</a:t>
            </a:r>
            <a:r>
              <a:rPr dirty="0" sz="1000" spc="5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000">
                <a:solidFill>
                  <a:srgbClr val="556478"/>
                </a:solidFill>
                <a:latin typeface="Noto Sans"/>
                <a:cs typeface="Noto Sans"/>
              </a:rPr>
              <a:t>and</a:t>
            </a:r>
            <a:r>
              <a:rPr dirty="0" sz="1000" spc="5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000">
                <a:solidFill>
                  <a:srgbClr val="556478"/>
                </a:solidFill>
                <a:latin typeface="Noto Sans"/>
                <a:cs typeface="Noto Sans"/>
              </a:rPr>
              <a:t>resource</a:t>
            </a:r>
            <a:r>
              <a:rPr dirty="0" sz="1000" spc="60">
                <a:solidFill>
                  <a:srgbClr val="556478"/>
                </a:solidFill>
                <a:latin typeface="Noto Sans"/>
                <a:cs typeface="Noto Sans"/>
              </a:rPr>
              <a:t> </a:t>
            </a:r>
            <a:r>
              <a:rPr dirty="0" sz="1000" spc="-10">
                <a:solidFill>
                  <a:srgbClr val="556478"/>
                </a:solidFill>
                <a:latin typeface="Noto Sans"/>
                <a:cs typeface="Noto Sans"/>
              </a:rPr>
              <a:t>groups</a:t>
            </a:r>
            <a:endParaRPr sz="1000">
              <a:latin typeface="Noto Sans"/>
              <a:cs typeface="Noto San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407134" y="6005423"/>
            <a:ext cx="9391650" cy="1962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100" spc="-70">
                <a:solidFill>
                  <a:srgbClr val="0F2339"/>
                </a:solidFill>
                <a:latin typeface="Arial Black"/>
                <a:cs typeface="Arial Black"/>
              </a:rPr>
              <a:t>Tip:</a:t>
            </a:r>
            <a:r>
              <a:rPr dirty="0" sz="1100" spc="-6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100" spc="-100">
                <a:solidFill>
                  <a:srgbClr val="0F2339"/>
                </a:solidFill>
                <a:latin typeface="Arial Black"/>
                <a:cs typeface="Arial Black"/>
              </a:rPr>
              <a:t>Use</a:t>
            </a:r>
            <a:r>
              <a:rPr dirty="0" sz="1100" spc="-5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100" spc="-85">
                <a:solidFill>
                  <a:srgbClr val="0F2339"/>
                </a:solidFill>
                <a:latin typeface="Arial Black"/>
                <a:cs typeface="Arial Black"/>
              </a:rPr>
              <a:t>KodeKloud’s</a:t>
            </a:r>
            <a:r>
              <a:rPr dirty="0" sz="1100" spc="-5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100" spc="-70">
                <a:solidFill>
                  <a:srgbClr val="0F2339"/>
                </a:solidFill>
                <a:latin typeface="Arial Black"/>
                <a:cs typeface="Arial Black"/>
              </a:rPr>
              <a:t>videos</a:t>
            </a:r>
            <a:r>
              <a:rPr dirty="0" sz="1100" spc="-5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100" spc="-100">
                <a:solidFill>
                  <a:srgbClr val="0F2339"/>
                </a:solidFill>
                <a:latin typeface="Arial Black"/>
                <a:cs typeface="Arial Black"/>
              </a:rPr>
              <a:t>as</a:t>
            </a:r>
            <a:r>
              <a:rPr dirty="0" sz="1100" spc="-5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100" spc="-40">
                <a:solidFill>
                  <a:srgbClr val="0F2339"/>
                </a:solidFill>
                <a:latin typeface="Arial Black"/>
                <a:cs typeface="Arial Black"/>
              </a:rPr>
              <a:t>pre-</a:t>
            </a:r>
            <a:r>
              <a:rPr dirty="0" sz="1100" spc="-50">
                <a:solidFill>
                  <a:srgbClr val="0F2339"/>
                </a:solidFill>
                <a:latin typeface="Arial Black"/>
                <a:cs typeface="Arial Black"/>
              </a:rPr>
              <a:t>work</a:t>
            </a:r>
            <a:r>
              <a:rPr dirty="0" sz="1100" spc="-5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100" spc="-20">
                <a:solidFill>
                  <a:srgbClr val="0F2339"/>
                </a:solidFill>
                <a:latin typeface="Arial Black"/>
                <a:cs typeface="Arial Black"/>
              </a:rPr>
              <a:t>or</a:t>
            </a:r>
            <a:r>
              <a:rPr dirty="0" sz="1100" spc="-55">
                <a:solidFill>
                  <a:srgbClr val="0F2339"/>
                </a:solidFill>
                <a:latin typeface="Arial Black"/>
                <a:cs typeface="Arial Black"/>
              </a:rPr>
              <a:t> revision;</a:t>
            </a:r>
            <a:r>
              <a:rPr dirty="0" sz="1100" spc="-5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100" spc="-75">
                <a:solidFill>
                  <a:srgbClr val="0F2339"/>
                </a:solidFill>
                <a:latin typeface="Arial Black"/>
                <a:cs typeface="Arial Black"/>
              </a:rPr>
              <a:t>use</a:t>
            </a:r>
            <a:r>
              <a:rPr dirty="0" sz="1100" spc="-5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100" spc="-55">
                <a:solidFill>
                  <a:srgbClr val="0F2339"/>
                </a:solidFill>
                <a:latin typeface="Arial Black"/>
                <a:cs typeface="Arial Black"/>
              </a:rPr>
              <a:t>Microsoft</a:t>
            </a:r>
            <a:r>
              <a:rPr dirty="0" sz="1100" spc="-5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100" spc="-60">
                <a:solidFill>
                  <a:srgbClr val="0F2339"/>
                </a:solidFill>
                <a:latin typeface="Arial Black"/>
                <a:cs typeface="Arial Black"/>
              </a:rPr>
              <a:t>Learn</a:t>
            </a:r>
            <a:r>
              <a:rPr dirty="0" sz="1100" spc="-5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100" spc="-100">
                <a:solidFill>
                  <a:srgbClr val="0F2339"/>
                </a:solidFill>
                <a:latin typeface="Arial Black"/>
                <a:cs typeface="Arial Black"/>
              </a:rPr>
              <a:t>as</a:t>
            </a:r>
            <a:r>
              <a:rPr dirty="0" sz="1100" spc="-5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100" spc="-40">
                <a:solidFill>
                  <a:srgbClr val="0F2339"/>
                </a:solidFill>
                <a:latin typeface="Arial Black"/>
                <a:cs typeface="Arial Black"/>
              </a:rPr>
              <a:t>the</a:t>
            </a:r>
            <a:r>
              <a:rPr dirty="0" sz="1100" spc="-5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100" spc="-70">
                <a:solidFill>
                  <a:srgbClr val="0F2339"/>
                </a:solidFill>
                <a:latin typeface="Arial Black"/>
                <a:cs typeface="Arial Black"/>
              </a:rPr>
              <a:t>technical</a:t>
            </a:r>
            <a:r>
              <a:rPr dirty="0" sz="1100" spc="-5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100" spc="-80">
                <a:solidFill>
                  <a:srgbClr val="0F2339"/>
                </a:solidFill>
                <a:latin typeface="Arial Black"/>
                <a:cs typeface="Arial Black"/>
              </a:rPr>
              <a:t>source</a:t>
            </a:r>
            <a:r>
              <a:rPr dirty="0" sz="1100" spc="-5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100" spc="-30">
                <a:solidFill>
                  <a:srgbClr val="0F2339"/>
                </a:solidFill>
                <a:latin typeface="Arial Black"/>
                <a:cs typeface="Arial Black"/>
              </a:rPr>
              <a:t>of</a:t>
            </a:r>
            <a:r>
              <a:rPr dirty="0" sz="1100" spc="-55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100" spc="-10">
                <a:solidFill>
                  <a:srgbClr val="0F2339"/>
                </a:solidFill>
                <a:latin typeface="Arial Black"/>
                <a:cs typeface="Arial Black"/>
              </a:rPr>
              <a:t>truth</a:t>
            </a:r>
            <a:r>
              <a:rPr dirty="0" sz="1100" spc="-5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100" spc="-55">
                <a:solidFill>
                  <a:srgbClr val="0F2339"/>
                </a:solidFill>
                <a:latin typeface="Arial Black"/>
                <a:cs typeface="Arial Black"/>
              </a:rPr>
              <a:t>when</a:t>
            </a:r>
            <a:r>
              <a:rPr dirty="0" sz="1100" spc="-5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100" spc="-80">
                <a:solidFill>
                  <a:srgbClr val="0F2339"/>
                </a:solidFill>
                <a:latin typeface="Arial Black"/>
                <a:cs typeface="Arial Black"/>
              </a:rPr>
              <a:t>service</a:t>
            </a:r>
            <a:r>
              <a:rPr dirty="0" sz="1100" spc="-5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100" spc="-60">
                <a:solidFill>
                  <a:srgbClr val="0F2339"/>
                </a:solidFill>
                <a:latin typeface="Arial Black"/>
                <a:cs typeface="Arial Black"/>
              </a:rPr>
              <a:t>details</a:t>
            </a:r>
            <a:r>
              <a:rPr dirty="0" sz="1100" spc="-50">
                <a:solidFill>
                  <a:srgbClr val="0F2339"/>
                </a:solidFill>
                <a:latin typeface="Arial Black"/>
                <a:cs typeface="Arial Black"/>
              </a:rPr>
              <a:t> </a:t>
            </a:r>
            <a:r>
              <a:rPr dirty="0" sz="1100" spc="-10">
                <a:solidFill>
                  <a:srgbClr val="0F2339"/>
                </a:solidFill>
                <a:latin typeface="Arial Black"/>
                <a:cs typeface="Arial Black"/>
              </a:rPr>
              <a:t>matter.</a:t>
            </a:r>
            <a:endParaRPr sz="1100">
              <a:latin typeface="Arial Black"/>
              <a:cs typeface="Arial Black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66635" y="6382435"/>
            <a:ext cx="11064240" cy="635"/>
          </a:xfrm>
          <a:custGeom>
            <a:avLst/>
            <a:gdLst/>
            <a:ahLst/>
            <a:cxnLst/>
            <a:rect l="l" t="t" r="r" b="b"/>
            <a:pathLst>
              <a:path w="11064240" h="635">
                <a:moveTo>
                  <a:pt x="0" y="0"/>
                </a:moveTo>
                <a:lnTo>
                  <a:pt x="11064240" y="368"/>
                </a:lnTo>
              </a:path>
            </a:pathLst>
          </a:custGeom>
          <a:ln w="8999">
            <a:solidFill>
              <a:srgbClr val="DBE4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90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 spc="-100"/>
              <a:t>DAY</a:t>
            </a:r>
            <a:r>
              <a:rPr dirty="0" spc="-55"/>
              <a:t> </a:t>
            </a:r>
            <a:r>
              <a:rPr dirty="0"/>
              <a:t>1</a:t>
            </a:r>
            <a:r>
              <a:rPr dirty="0" spc="105"/>
              <a:t> </a:t>
            </a:r>
            <a:r>
              <a:rPr dirty="0"/>
              <a:t>•</a:t>
            </a:r>
            <a:r>
              <a:rPr dirty="0" spc="130"/>
              <a:t> </a:t>
            </a:r>
            <a:r>
              <a:rPr dirty="0" spc="-70"/>
              <a:t>CLOUD</a:t>
            </a:r>
            <a:r>
              <a:rPr dirty="0" spc="-55"/>
              <a:t> </a:t>
            </a:r>
            <a:r>
              <a:rPr dirty="0" spc="-65"/>
              <a:t>FOUNDATIONS</a:t>
            </a:r>
            <a:r>
              <a:rPr dirty="0" spc="-55"/>
              <a:t> </a:t>
            </a:r>
            <a:r>
              <a:rPr dirty="0" spc="-105"/>
              <a:t>&amp;</a:t>
            </a:r>
            <a:r>
              <a:rPr dirty="0" spc="-50"/>
              <a:t> </a:t>
            </a:r>
            <a:r>
              <a:rPr dirty="0" spc="-95"/>
              <a:t>AZURE</a:t>
            </a:r>
            <a:r>
              <a:rPr dirty="0" spc="-55"/>
              <a:t> </a:t>
            </a:r>
            <a:r>
              <a:rPr dirty="0" spc="-50"/>
              <a:t>BASICS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032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160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758" y="0"/>
                </a:moveTo>
                <a:lnTo>
                  <a:pt x="0" y="0"/>
                </a:lnTo>
                <a:lnTo>
                  <a:pt x="0" y="6858000"/>
                </a:lnTo>
                <a:lnTo>
                  <a:pt x="12191758" y="6858000"/>
                </a:lnTo>
                <a:lnTo>
                  <a:pt x="12191758" y="0"/>
                </a:lnTo>
                <a:close/>
              </a:path>
            </a:pathLst>
          </a:custGeom>
          <a:solidFill>
            <a:srgbClr val="0F2339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771476" y="726124"/>
            <a:ext cx="2022475" cy="303530"/>
            <a:chOff x="771476" y="726124"/>
            <a:chExt cx="2022475" cy="303530"/>
          </a:xfrm>
        </p:grpSpPr>
        <p:sp>
          <p:nvSpPr>
            <p:cNvPr id="4" name="object 4"/>
            <p:cNvSpPr/>
            <p:nvPr/>
          </p:nvSpPr>
          <p:spPr>
            <a:xfrm>
              <a:off x="776516" y="731164"/>
              <a:ext cx="2012314" cy="293370"/>
            </a:xfrm>
            <a:custGeom>
              <a:avLst/>
              <a:gdLst/>
              <a:ahLst/>
              <a:cxnLst/>
              <a:rect l="l" t="t" r="r" b="b"/>
              <a:pathLst>
                <a:path w="2012314" h="293369">
                  <a:moveTo>
                    <a:pt x="110159" y="0"/>
                  </a:moveTo>
                  <a:lnTo>
                    <a:pt x="68095" y="8352"/>
                  </a:lnTo>
                  <a:lnTo>
                    <a:pt x="32535" y="32213"/>
                  </a:lnTo>
                  <a:lnTo>
                    <a:pt x="8721" y="67882"/>
                  </a:lnTo>
                  <a:lnTo>
                    <a:pt x="368" y="109791"/>
                  </a:lnTo>
                  <a:lnTo>
                    <a:pt x="0" y="183235"/>
                  </a:lnTo>
                  <a:lnTo>
                    <a:pt x="939" y="197665"/>
                  </a:lnTo>
                  <a:lnTo>
                    <a:pt x="14770" y="238315"/>
                  </a:lnTo>
                  <a:lnTo>
                    <a:pt x="22686" y="250028"/>
                  </a:lnTo>
                  <a:lnTo>
                    <a:pt x="22788" y="250178"/>
                  </a:lnTo>
                  <a:lnTo>
                    <a:pt x="55079" y="278269"/>
                  </a:lnTo>
                  <a:lnTo>
                    <a:pt x="95379" y="292100"/>
                  </a:lnTo>
                  <a:lnTo>
                    <a:pt x="109804" y="293039"/>
                  </a:lnTo>
                  <a:lnTo>
                    <a:pt x="1902244" y="293039"/>
                  </a:lnTo>
                  <a:lnTo>
                    <a:pt x="1944315" y="284681"/>
                  </a:lnTo>
                  <a:lnTo>
                    <a:pt x="1979817" y="260859"/>
                  </a:lnTo>
                  <a:lnTo>
                    <a:pt x="2003614" y="225306"/>
                  </a:lnTo>
                  <a:lnTo>
                    <a:pt x="2012048" y="183235"/>
                  </a:lnTo>
                  <a:lnTo>
                    <a:pt x="2012024" y="109791"/>
                  </a:lnTo>
                  <a:lnTo>
                    <a:pt x="2003690" y="68088"/>
                  </a:lnTo>
                  <a:lnTo>
                    <a:pt x="1979823" y="32534"/>
                  </a:lnTo>
                  <a:lnTo>
                    <a:pt x="1944165" y="8708"/>
                  </a:lnTo>
                  <a:lnTo>
                    <a:pt x="190224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2248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776516" y="731164"/>
              <a:ext cx="2012314" cy="293370"/>
            </a:xfrm>
            <a:custGeom>
              <a:avLst/>
              <a:gdLst/>
              <a:ahLst/>
              <a:cxnLst/>
              <a:rect l="l" t="t" r="r" b="b"/>
              <a:pathLst>
                <a:path w="2012314" h="293369">
                  <a:moveTo>
                    <a:pt x="368" y="109791"/>
                  </a:moveTo>
                  <a:lnTo>
                    <a:pt x="1307" y="95374"/>
                  </a:lnTo>
                  <a:lnTo>
                    <a:pt x="4103" y="81359"/>
                  </a:lnTo>
                  <a:lnTo>
                    <a:pt x="23138" y="43003"/>
                  </a:lnTo>
                  <a:lnTo>
                    <a:pt x="55079" y="14757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1902244" y="355"/>
                  </a:lnTo>
                  <a:lnTo>
                    <a:pt x="1944165" y="8708"/>
                  </a:lnTo>
                  <a:lnTo>
                    <a:pt x="1979823" y="32534"/>
                  </a:lnTo>
                  <a:lnTo>
                    <a:pt x="2003690" y="68088"/>
                  </a:lnTo>
                  <a:lnTo>
                    <a:pt x="2012048" y="110159"/>
                  </a:lnTo>
                  <a:lnTo>
                    <a:pt x="2012048" y="183235"/>
                  </a:lnTo>
                  <a:lnTo>
                    <a:pt x="2011108" y="197660"/>
                  </a:lnTo>
                  <a:lnTo>
                    <a:pt x="2008311" y="211678"/>
                  </a:lnTo>
                  <a:lnTo>
                    <a:pt x="1989265" y="250028"/>
                  </a:lnTo>
                  <a:lnTo>
                    <a:pt x="1957324" y="278269"/>
                  </a:lnTo>
                  <a:lnTo>
                    <a:pt x="1916674" y="292100"/>
                  </a:lnTo>
                  <a:lnTo>
                    <a:pt x="1902244" y="293039"/>
                  </a:lnTo>
                  <a:lnTo>
                    <a:pt x="109804" y="293039"/>
                  </a:lnTo>
                  <a:lnTo>
                    <a:pt x="67882" y="284681"/>
                  </a:lnTo>
                  <a:lnTo>
                    <a:pt x="32224" y="260859"/>
                  </a:lnTo>
                  <a:lnTo>
                    <a:pt x="8358" y="225306"/>
                  </a:lnTo>
                  <a:lnTo>
                    <a:pt x="0" y="183235"/>
                  </a:lnTo>
                  <a:lnTo>
                    <a:pt x="368" y="109791"/>
                  </a:lnTo>
                  <a:close/>
                </a:path>
              </a:pathLst>
            </a:custGeom>
            <a:ln w="10079">
              <a:solidFill>
                <a:srgbClr val="22486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1066584" y="783983"/>
            <a:ext cx="143319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30">
                <a:solidFill>
                  <a:srgbClr val="BEE8FF"/>
                </a:solidFill>
                <a:latin typeface="Arial Black"/>
                <a:cs typeface="Arial Black"/>
              </a:rPr>
              <a:t>DAY</a:t>
            </a:r>
            <a:r>
              <a:rPr dirty="0" sz="1000" spc="-65">
                <a:solidFill>
                  <a:srgbClr val="BEE8FF"/>
                </a:solidFill>
                <a:latin typeface="Arial Black"/>
                <a:cs typeface="Arial Black"/>
              </a:rPr>
              <a:t> </a:t>
            </a:r>
            <a:r>
              <a:rPr dirty="0" sz="1000" spc="-95">
                <a:solidFill>
                  <a:srgbClr val="BEE8FF"/>
                </a:solidFill>
                <a:latin typeface="Arial Black"/>
                <a:cs typeface="Arial Black"/>
              </a:rPr>
              <a:t>1</a:t>
            </a:r>
            <a:r>
              <a:rPr dirty="0" sz="1000" spc="-60">
                <a:solidFill>
                  <a:srgbClr val="BEE8FF"/>
                </a:solidFill>
                <a:latin typeface="Arial Black"/>
                <a:cs typeface="Arial Black"/>
              </a:rPr>
              <a:t> </a:t>
            </a:r>
            <a:r>
              <a:rPr dirty="0" sz="1000" spc="-130">
                <a:solidFill>
                  <a:srgbClr val="BEE8FF"/>
                </a:solidFill>
                <a:latin typeface="Arial Black"/>
                <a:cs typeface="Arial Black"/>
              </a:rPr>
              <a:t>•</a:t>
            </a:r>
            <a:r>
              <a:rPr dirty="0" sz="1000" spc="-65">
                <a:solidFill>
                  <a:srgbClr val="BEE8FF"/>
                </a:solidFill>
                <a:latin typeface="Arial Black"/>
                <a:cs typeface="Arial Black"/>
              </a:rPr>
              <a:t> </a:t>
            </a:r>
            <a:r>
              <a:rPr dirty="0" sz="1000" spc="-130">
                <a:solidFill>
                  <a:srgbClr val="BEE8FF"/>
                </a:solidFill>
                <a:latin typeface="Arial Black"/>
                <a:cs typeface="Arial Black"/>
              </a:rPr>
              <a:t>THEORY</a:t>
            </a:r>
            <a:r>
              <a:rPr dirty="0" sz="1000" spc="-60">
                <a:solidFill>
                  <a:srgbClr val="BEE8FF"/>
                </a:solidFill>
                <a:latin typeface="Arial Black"/>
                <a:cs typeface="Arial Black"/>
              </a:rPr>
              <a:t> </a:t>
            </a:r>
            <a:r>
              <a:rPr dirty="0" sz="1000" spc="-110">
                <a:solidFill>
                  <a:srgbClr val="BEE8FF"/>
                </a:solidFill>
                <a:latin typeface="Arial Black"/>
                <a:cs typeface="Arial Black"/>
              </a:rPr>
              <a:t>RECAP</a:t>
            </a:r>
            <a:endParaRPr sz="1000">
              <a:latin typeface="Arial Black"/>
              <a:cs typeface="Arial Black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764184" y="1541780"/>
            <a:ext cx="9900920" cy="4527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125"/>
              <a:t>Build</a:t>
            </a:r>
            <a:r>
              <a:rPr dirty="0" sz="2800" spc="-200"/>
              <a:t> </a:t>
            </a:r>
            <a:r>
              <a:rPr dirty="0" sz="2800" spc="-100"/>
              <a:t>the</a:t>
            </a:r>
            <a:r>
              <a:rPr dirty="0" sz="2800" spc="-200"/>
              <a:t> </a:t>
            </a:r>
            <a:r>
              <a:rPr dirty="0" sz="2800" spc="-50"/>
              <a:t>right</a:t>
            </a:r>
            <a:r>
              <a:rPr dirty="0" sz="2800" spc="-195"/>
              <a:t> </a:t>
            </a:r>
            <a:r>
              <a:rPr dirty="0" sz="2800" spc="-110"/>
              <a:t>mental</a:t>
            </a:r>
            <a:r>
              <a:rPr dirty="0" sz="2800" spc="-195"/>
              <a:t> </a:t>
            </a:r>
            <a:r>
              <a:rPr dirty="0" sz="2800" spc="-125"/>
              <a:t>model</a:t>
            </a:r>
            <a:r>
              <a:rPr dirty="0" sz="2800" spc="-195"/>
              <a:t> </a:t>
            </a:r>
            <a:r>
              <a:rPr dirty="0" sz="2800" spc="-125"/>
              <a:t>before</a:t>
            </a:r>
            <a:r>
              <a:rPr dirty="0" sz="2800" spc="-195"/>
              <a:t> </a:t>
            </a:r>
            <a:r>
              <a:rPr dirty="0" sz="2800" spc="-145"/>
              <a:t>creating</a:t>
            </a:r>
            <a:r>
              <a:rPr dirty="0" sz="2800" spc="-195"/>
              <a:t> </a:t>
            </a:r>
            <a:r>
              <a:rPr dirty="0" sz="2800" spc="-150"/>
              <a:t>resources.</a:t>
            </a:r>
            <a:endParaRPr sz="2800"/>
          </a:p>
        </p:txBody>
      </p:sp>
      <p:grpSp>
        <p:nvGrpSpPr>
          <p:cNvPr id="8" name="object 8"/>
          <p:cNvGrpSpPr/>
          <p:nvPr/>
        </p:nvGrpSpPr>
        <p:grpSpPr>
          <a:xfrm>
            <a:off x="817196" y="2783524"/>
            <a:ext cx="2479675" cy="1519555"/>
            <a:chOff x="817196" y="2783524"/>
            <a:chExt cx="2479675" cy="1519555"/>
          </a:xfrm>
        </p:grpSpPr>
        <p:sp>
          <p:nvSpPr>
            <p:cNvPr id="9" name="object 9"/>
            <p:cNvSpPr/>
            <p:nvPr/>
          </p:nvSpPr>
          <p:spPr>
            <a:xfrm>
              <a:off x="822236" y="2788564"/>
              <a:ext cx="2469515" cy="1509395"/>
            </a:xfrm>
            <a:custGeom>
              <a:avLst/>
              <a:gdLst/>
              <a:ahLst/>
              <a:cxnLst/>
              <a:rect l="l" t="t" r="r" b="b"/>
              <a:pathLst>
                <a:path w="2469515" h="1509395">
                  <a:moveTo>
                    <a:pt x="110159" y="0"/>
                  </a:moveTo>
                  <a:lnTo>
                    <a:pt x="68095" y="8352"/>
                  </a:lnTo>
                  <a:lnTo>
                    <a:pt x="32535" y="32213"/>
                  </a:lnTo>
                  <a:lnTo>
                    <a:pt x="8721" y="67882"/>
                  </a:lnTo>
                  <a:lnTo>
                    <a:pt x="368" y="109791"/>
                  </a:lnTo>
                  <a:lnTo>
                    <a:pt x="0" y="1399311"/>
                  </a:lnTo>
                  <a:lnTo>
                    <a:pt x="939" y="1413741"/>
                  </a:lnTo>
                  <a:lnTo>
                    <a:pt x="3736" y="1427799"/>
                  </a:lnTo>
                  <a:lnTo>
                    <a:pt x="8307" y="1441232"/>
                  </a:lnTo>
                  <a:lnTo>
                    <a:pt x="8358" y="1441382"/>
                  </a:lnTo>
                  <a:lnTo>
                    <a:pt x="32224" y="1476936"/>
                  </a:lnTo>
                  <a:lnTo>
                    <a:pt x="67882" y="1500762"/>
                  </a:lnTo>
                  <a:lnTo>
                    <a:pt x="109804" y="1509115"/>
                  </a:lnTo>
                  <a:lnTo>
                    <a:pt x="2359444" y="1509115"/>
                  </a:lnTo>
                  <a:lnTo>
                    <a:pt x="2401515" y="1500762"/>
                  </a:lnTo>
                  <a:lnTo>
                    <a:pt x="2437017" y="1476936"/>
                  </a:lnTo>
                  <a:lnTo>
                    <a:pt x="2460814" y="1441382"/>
                  </a:lnTo>
                  <a:lnTo>
                    <a:pt x="2460890" y="1441232"/>
                  </a:lnTo>
                  <a:lnTo>
                    <a:pt x="2465496" y="1427799"/>
                  </a:lnTo>
                  <a:lnTo>
                    <a:pt x="2468307" y="1413741"/>
                  </a:lnTo>
                  <a:lnTo>
                    <a:pt x="2469248" y="1399311"/>
                  </a:lnTo>
                  <a:lnTo>
                    <a:pt x="2469224" y="109791"/>
                  </a:lnTo>
                  <a:lnTo>
                    <a:pt x="2460890" y="68088"/>
                  </a:lnTo>
                  <a:lnTo>
                    <a:pt x="2437023" y="32534"/>
                  </a:lnTo>
                  <a:lnTo>
                    <a:pt x="2401365" y="8708"/>
                  </a:lnTo>
                  <a:lnTo>
                    <a:pt x="235944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1736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822236" y="2788564"/>
              <a:ext cx="2469515" cy="1509395"/>
            </a:xfrm>
            <a:custGeom>
              <a:avLst/>
              <a:gdLst/>
              <a:ahLst/>
              <a:cxnLst/>
              <a:rect l="l" t="t" r="r" b="b"/>
              <a:pathLst>
                <a:path w="2469515" h="1509395">
                  <a:moveTo>
                    <a:pt x="368" y="109791"/>
                  </a:moveTo>
                  <a:lnTo>
                    <a:pt x="1307" y="95374"/>
                  </a:lnTo>
                  <a:lnTo>
                    <a:pt x="4103" y="81359"/>
                  </a:lnTo>
                  <a:lnTo>
                    <a:pt x="23138" y="43003"/>
                  </a:lnTo>
                  <a:lnTo>
                    <a:pt x="55079" y="14757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2359444" y="355"/>
                  </a:lnTo>
                  <a:lnTo>
                    <a:pt x="2401365" y="8708"/>
                  </a:lnTo>
                  <a:lnTo>
                    <a:pt x="2437023" y="32534"/>
                  </a:lnTo>
                  <a:lnTo>
                    <a:pt x="2460890" y="68088"/>
                  </a:lnTo>
                  <a:lnTo>
                    <a:pt x="2469248" y="110159"/>
                  </a:lnTo>
                  <a:lnTo>
                    <a:pt x="2469248" y="1399311"/>
                  </a:lnTo>
                  <a:lnTo>
                    <a:pt x="2468308" y="1413736"/>
                  </a:lnTo>
                  <a:lnTo>
                    <a:pt x="2465511" y="1427754"/>
                  </a:lnTo>
                  <a:lnTo>
                    <a:pt x="2446465" y="1466104"/>
                  </a:lnTo>
                  <a:lnTo>
                    <a:pt x="2414524" y="1494358"/>
                  </a:lnTo>
                  <a:lnTo>
                    <a:pt x="2373874" y="1508175"/>
                  </a:lnTo>
                  <a:lnTo>
                    <a:pt x="2359444" y="1509115"/>
                  </a:lnTo>
                  <a:lnTo>
                    <a:pt x="109804" y="1509115"/>
                  </a:lnTo>
                  <a:lnTo>
                    <a:pt x="67882" y="1500762"/>
                  </a:lnTo>
                  <a:lnTo>
                    <a:pt x="32224" y="1476936"/>
                  </a:lnTo>
                  <a:lnTo>
                    <a:pt x="8358" y="1441382"/>
                  </a:lnTo>
                  <a:lnTo>
                    <a:pt x="0" y="1399311"/>
                  </a:lnTo>
                  <a:lnTo>
                    <a:pt x="368" y="109791"/>
                  </a:lnTo>
                  <a:close/>
                </a:path>
              </a:pathLst>
            </a:custGeom>
            <a:ln w="10079">
              <a:solidFill>
                <a:srgbClr val="2C516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987120" y="2989795"/>
              <a:ext cx="988060" cy="293370"/>
            </a:xfrm>
            <a:custGeom>
              <a:avLst/>
              <a:gdLst/>
              <a:ahLst/>
              <a:cxnLst/>
              <a:rect l="l" t="t" r="r" b="b"/>
              <a:pathLst>
                <a:path w="988060" h="293370">
                  <a:moveTo>
                    <a:pt x="110159" y="0"/>
                  </a:moveTo>
                  <a:lnTo>
                    <a:pt x="68088" y="8358"/>
                  </a:lnTo>
                  <a:lnTo>
                    <a:pt x="32535" y="32224"/>
                  </a:lnTo>
                  <a:lnTo>
                    <a:pt x="8713" y="67882"/>
                  </a:lnTo>
                  <a:lnTo>
                    <a:pt x="355" y="109804"/>
                  </a:lnTo>
                  <a:lnTo>
                    <a:pt x="0" y="183248"/>
                  </a:lnTo>
                  <a:lnTo>
                    <a:pt x="939" y="197671"/>
                  </a:lnTo>
                  <a:lnTo>
                    <a:pt x="3735" y="211726"/>
                  </a:lnTo>
                  <a:lnTo>
                    <a:pt x="8300" y="225157"/>
                  </a:lnTo>
                  <a:lnTo>
                    <a:pt x="8352" y="225312"/>
                  </a:lnTo>
                  <a:lnTo>
                    <a:pt x="32223" y="260872"/>
                  </a:lnTo>
                  <a:lnTo>
                    <a:pt x="67882" y="284686"/>
                  </a:lnTo>
                  <a:lnTo>
                    <a:pt x="109804" y="293039"/>
                  </a:lnTo>
                  <a:lnTo>
                    <a:pt x="878039" y="293039"/>
                  </a:lnTo>
                  <a:lnTo>
                    <a:pt x="920111" y="284686"/>
                  </a:lnTo>
                  <a:lnTo>
                    <a:pt x="955611" y="260872"/>
                  </a:lnTo>
                  <a:lnTo>
                    <a:pt x="979408" y="225312"/>
                  </a:lnTo>
                  <a:lnTo>
                    <a:pt x="987844" y="183248"/>
                  </a:lnTo>
                  <a:lnTo>
                    <a:pt x="987820" y="109804"/>
                  </a:lnTo>
                  <a:lnTo>
                    <a:pt x="979485" y="68095"/>
                  </a:lnTo>
                  <a:lnTo>
                    <a:pt x="955619" y="32535"/>
                  </a:lnTo>
                  <a:lnTo>
                    <a:pt x="919961" y="8721"/>
                  </a:lnTo>
                  <a:lnTo>
                    <a:pt x="878039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254B6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987120" y="2989795"/>
              <a:ext cx="988060" cy="293370"/>
            </a:xfrm>
            <a:custGeom>
              <a:avLst/>
              <a:gdLst/>
              <a:ahLst/>
              <a:cxnLst/>
              <a:rect l="l" t="t" r="r" b="b"/>
              <a:pathLst>
                <a:path w="988060" h="293370">
                  <a:moveTo>
                    <a:pt x="355" y="109804"/>
                  </a:moveTo>
                  <a:lnTo>
                    <a:pt x="1295" y="95379"/>
                  </a:lnTo>
                  <a:lnTo>
                    <a:pt x="4092" y="81360"/>
                  </a:lnTo>
                  <a:lnTo>
                    <a:pt x="23138" y="43011"/>
                  </a:lnTo>
                  <a:lnTo>
                    <a:pt x="55079" y="14770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878039" y="368"/>
                  </a:lnTo>
                  <a:lnTo>
                    <a:pt x="919961" y="8721"/>
                  </a:lnTo>
                  <a:lnTo>
                    <a:pt x="955619" y="32535"/>
                  </a:lnTo>
                  <a:lnTo>
                    <a:pt x="979485" y="68095"/>
                  </a:lnTo>
                  <a:lnTo>
                    <a:pt x="987844" y="110159"/>
                  </a:lnTo>
                  <a:lnTo>
                    <a:pt x="987844" y="183248"/>
                  </a:lnTo>
                  <a:lnTo>
                    <a:pt x="986904" y="197665"/>
                  </a:lnTo>
                  <a:lnTo>
                    <a:pt x="984107" y="211680"/>
                  </a:lnTo>
                  <a:lnTo>
                    <a:pt x="965061" y="250036"/>
                  </a:lnTo>
                  <a:lnTo>
                    <a:pt x="933119" y="278282"/>
                  </a:lnTo>
                  <a:lnTo>
                    <a:pt x="892470" y="292100"/>
                  </a:lnTo>
                  <a:lnTo>
                    <a:pt x="878039" y="293039"/>
                  </a:lnTo>
                  <a:lnTo>
                    <a:pt x="109804" y="293039"/>
                  </a:lnTo>
                  <a:lnTo>
                    <a:pt x="67882" y="284686"/>
                  </a:lnTo>
                  <a:lnTo>
                    <a:pt x="32223" y="260872"/>
                  </a:lnTo>
                  <a:lnTo>
                    <a:pt x="8352" y="225312"/>
                  </a:lnTo>
                  <a:lnTo>
                    <a:pt x="0" y="183248"/>
                  </a:lnTo>
                  <a:lnTo>
                    <a:pt x="355" y="109804"/>
                  </a:lnTo>
                  <a:close/>
                </a:path>
              </a:pathLst>
            </a:custGeom>
            <a:ln w="10079">
              <a:solidFill>
                <a:srgbClr val="254B6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1248740" y="3042628"/>
            <a:ext cx="46545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80">
                <a:solidFill>
                  <a:srgbClr val="BEE8FF"/>
                </a:solidFill>
                <a:latin typeface="Arial Black"/>
                <a:cs typeface="Arial Black"/>
              </a:rPr>
              <a:t>CLOUD</a:t>
            </a:r>
            <a:endParaRPr sz="1000">
              <a:latin typeface="Arial Black"/>
              <a:cs typeface="Arial Black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74420" y="3461651"/>
            <a:ext cx="198247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FFFF"/>
                </a:solidFill>
                <a:latin typeface="Noto Sans"/>
                <a:cs typeface="Noto Sans"/>
              </a:rPr>
              <a:t>Service</a:t>
            </a:r>
            <a:r>
              <a:rPr dirty="0" sz="1200" spc="-45">
                <a:solidFill>
                  <a:srgbClr val="FFFFFF"/>
                </a:solidFill>
                <a:latin typeface="Noto Sans"/>
                <a:cs typeface="Noto Sans"/>
              </a:rPr>
              <a:t> </a:t>
            </a:r>
            <a:r>
              <a:rPr dirty="0" sz="1200">
                <a:solidFill>
                  <a:srgbClr val="FFFFFF"/>
                </a:solidFill>
                <a:latin typeface="Noto Sans"/>
                <a:cs typeface="Noto Sans"/>
              </a:rPr>
              <a:t>models</a:t>
            </a:r>
            <a:r>
              <a:rPr dirty="0" sz="1200" spc="-45">
                <a:solidFill>
                  <a:srgbClr val="FFFFFF"/>
                </a:solidFill>
                <a:latin typeface="Noto Sans"/>
                <a:cs typeface="Noto Sans"/>
              </a:rPr>
              <a:t> </a:t>
            </a:r>
            <a:r>
              <a:rPr dirty="0" sz="1200">
                <a:solidFill>
                  <a:srgbClr val="FFFFFF"/>
                </a:solidFill>
                <a:latin typeface="Noto Sans"/>
                <a:cs typeface="Noto Sans"/>
              </a:rPr>
              <a:t>define</a:t>
            </a:r>
            <a:r>
              <a:rPr dirty="0" sz="1200" spc="-40">
                <a:solidFill>
                  <a:srgbClr val="FFFFFF"/>
                </a:solidFill>
                <a:latin typeface="Noto Sans"/>
                <a:cs typeface="Noto Sans"/>
              </a:rPr>
              <a:t> </a:t>
            </a:r>
            <a:r>
              <a:rPr dirty="0" sz="1200" spc="-20">
                <a:solidFill>
                  <a:srgbClr val="FFFFFF"/>
                </a:solidFill>
                <a:latin typeface="Noto Sans"/>
                <a:cs typeface="Noto Sans"/>
              </a:rPr>
              <a:t>what </a:t>
            </a:r>
            <a:r>
              <a:rPr dirty="0" sz="1200">
                <a:solidFill>
                  <a:srgbClr val="FFFFFF"/>
                </a:solidFill>
                <a:latin typeface="Noto Sans"/>
                <a:cs typeface="Noto Sans"/>
              </a:rPr>
              <a:t>the</a:t>
            </a:r>
            <a:r>
              <a:rPr dirty="0" sz="1200" spc="-20">
                <a:solidFill>
                  <a:srgbClr val="FFFFFF"/>
                </a:solidFill>
                <a:latin typeface="Noto Sans"/>
                <a:cs typeface="Noto Sans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Noto Sans"/>
                <a:cs typeface="Noto Sans"/>
              </a:rPr>
              <a:t>provider</a:t>
            </a:r>
            <a:r>
              <a:rPr dirty="0" sz="1200" spc="-15">
                <a:solidFill>
                  <a:srgbClr val="FFFFFF"/>
                </a:solidFill>
                <a:latin typeface="Noto Sans"/>
                <a:cs typeface="Noto Sans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Noto Sans"/>
                <a:cs typeface="Noto Sans"/>
              </a:rPr>
              <a:t>manages.</a:t>
            </a:r>
            <a:endParaRPr sz="1200">
              <a:latin typeface="Noto Sans"/>
              <a:cs typeface="Noto Sans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633484" y="2783524"/>
            <a:ext cx="2479675" cy="1519555"/>
            <a:chOff x="3633484" y="2783524"/>
            <a:chExt cx="2479675" cy="1519555"/>
          </a:xfrm>
        </p:grpSpPr>
        <p:sp>
          <p:nvSpPr>
            <p:cNvPr id="16" name="object 16"/>
            <p:cNvSpPr/>
            <p:nvPr/>
          </p:nvSpPr>
          <p:spPr>
            <a:xfrm>
              <a:off x="3638524" y="2788564"/>
              <a:ext cx="2469515" cy="1509395"/>
            </a:xfrm>
            <a:custGeom>
              <a:avLst/>
              <a:gdLst/>
              <a:ahLst/>
              <a:cxnLst/>
              <a:rect l="l" t="t" r="r" b="b"/>
              <a:pathLst>
                <a:path w="2469515" h="1509395">
                  <a:moveTo>
                    <a:pt x="110159" y="0"/>
                  </a:moveTo>
                  <a:lnTo>
                    <a:pt x="68088" y="8352"/>
                  </a:lnTo>
                  <a:lnTo>
                    <a:pt x="32534" y="32213"/>
                  </a:lnTo>
                  <a:lnTo>
                    <a:pt x="8708" y="67882"/>
                  </a:lnTo>
                  <a:lnTo>
                    <a:pt x="355" y="109791"/>
                  </a:lnTo>
                  <a:lnTo>
                    <a:pt x="0" y="1399311"/>
                  </a:lnTo>
                  <a:lnTo>
                    <a:pt x="937" y="1413741"/>
                  </a:lnTo>
                  <a:lnTo>
                    <a:pt x="14757" y="1454391"/>
                  </a:lnTo>
                  <a:lnTo>
                    <a:pt x="43003" y="1486338"/>
                  </a:lnTo>
                  <a:lnTo>
                    <a:pt x="81359" y="1505380"/>
                  </a:lnTo>
                  <a:lnTo>
                    <a:pt x="109791" y="1509115"/>
                  </a:lnTo>
                  <a:lnTo>
                    <a:pt x="2359431" y="1509115"/>
                  </a:lnTo>
                  <a:lnTo>
                    <a:pt x="2401502" y="1500762"/>
                  </a:lnTo>
                  <a:lnTo>
                    <a:pt x="2437006" y="1476936"/>
                  </a:lnTo>
                  <a:lnTo>
                    <a:pt x="2460807" y="1441382"/>
                  </a:lnTo>
                  <a:lnTo>
                    <a:pt x="2460882" y="1441232"/>
                  </a:lnTo>
                  <a:lnTo>
                    <a:pt x="2465484" y="1427799"/>
                  </a:lnTo>
                  <a:lnTo>
                    <a:pt x="2468294" y="1413741"/>
                  </a:lnTo>
                  <a:lnTo>
                    <a:pt x="2469235" y="1399311"/>
                  </a:lnTo>
                  <a:lnTo>
                    <a:pt x="2469211" y="109791"/>
                  </a:lnTo>
                  <a:lnTo>
                    <a:pt x="2460882" y="68088"/>
                  </a:lnTo>
                  <a:lnTo>
                    <a:pt x="2437012" y="32534"/>
                  </a:lnTo>
                  <a:lnTo>
                    <a:pt x="2401352" y="8708"/>
                  </a:lnTo>
                  <a:lnTo>
                    <a:pt x="2359431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1736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3638524" y="2788564"/>
              <a:ext cx="2469515" cy="1509395"/>
            </a:xfrm>
            <a:custGeom>
              <a:avLst/>
              <a:gdLst/>
              <a:ahLst/>
              <a:cxnLst/>
              <a:rect l="l" t="t" r="r" b="b"/>
              <a:pathLst>
                <a:path w="2469515" h="1509395">
                  <a:moveTo>
                    <a:pt x="355" y="109791"/>
                  </a:moveTo>
                  <a:lnTo>
                    <a:pt x="1295" y="95374"/>
                  </a:lnTo>
                  <a:lnTo>
                    <a:pt x="4090" y="81359"/>
                  </a:lnTo>
                  <a:lnTo>
                    <a:pt x="23133" y="43003"/>
                  </a:lnTo>
                  <a:lnTo>
                    <a:pt x="55079" y="14757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2359431" y="355"/>
                  </a:lnTo>
                  <a:lnTo>
                    <a:pt x="2401352" y="8708"/>
                  </a:lnTo>
                  <a:lnTo>
                    <a:pt x="2437012" y="32534"/>
                  </a:lnTo>
                  <a:lnTo>
                    <a:pt x="2460882" y="68088"/>
                  </a:lnTo>
                  <a:lnTo>
                    <a:pt x="2469235" y="110159"/>
                  </a:lnTo>
                  <a:lnTo>
                    <a:pt x="2469235" y="1399311"/>
                  </a:lnTo>
                  <a:lnTo>
                    <a:pt x="2468295" y="1413736"/>
                  </a:lnTo>
                  <a:lnTo>
                    <a:pt x="2465500" y="1427754"/>
                  </a:lnTo>
                  <a:lnTo>
                    <a:pt x="2446458" y="1466104"/>
                  </a:lnTo>
                  <a:lnTo>
                    <a:pt x="2414511" y="1494358"/>
                  </a:lnTo>
                  <a:lnTo>
                    <a:pt x="2373861" y="1508175"/>
                  </a:lnTo>
                  <a:lnTo>
                    <a:pt x="2359431" y="1509115"/>
                  </a:lnTo>
                  <a:lnTo>
                    <a:pt x="109791" y="1509115"/>
                  </a:lnTo>
                  <a:lnTo>
                    <a:pt x="67882" y="1500762"/>
                  </a:lnTo>
                  <a:lnTo>
                    <a:pt x="32213" y="1476936"/>
                  </a:lnTo>
                  <a:lnTo>
                    <a:pt x="8347" y="1441382"/>
                  </a:lnTo>
                  <a:lnTo>
                    <a:pt x="0" y="1399311"/>
                  </a:lnTo>
                  <a:lnTo>
                    <a:pt x="355" y="109791"/>
                  </a:lnTo>
                  <a:close/>
                </a:path>
              </a:pathLst>
            </a:custGeom>
            <a:ln w="10079">
              <a:solidFill>
                <a:srgbClr val="2C516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3803396" y="2989795"/>
              <a:ext cx="988060" cy="293370"/>
            </a:xfrm>
            <a:custGeom>
              <a:avLst/>
              <a:gdLst/>
              <a:ahLst/>
              <a:cxnLst/>
              <a:rect l="l" t="t" r="r" b="b"/>
              <a:pathLst>
                <a:path w="988060" h="293370">
                  <a:moveTo>
                    <a:pt x="110159" y="0"/>
                  </a:moveTo>
                  <a:lnTo>
                    <a:pt x="68095" y="8358"/>
                  </a:lnTo>
                  <a:lnTo>
                    <a:pt x="32535" y="32224"/>
                  </a:lnTo>
                  <a:lnTo>
                    <a:pt x="8721" y="67882"/>
                  </a:lnTo>
                  <a:lnTo>
                    <a:pt x="368" y="109804"/>
                  </a:lnTo>
                  <a:lnTo>
                    <a:pt x="0" y="183248"/>
                  </a:lnTo>
                  <a:lnTo>
                    <a:pt x="939" y="197671"/>
                  </a:lnTo>
                  <a:lnTo>
                    <a:pt x="3736" y="211726"/>
                  </a:lnTo>
                  <a:lnTo>
                    <a:pt x="8305" y="225157"/>
                  </a:lnTo>
                  <a:lnTo>
                    <a:pt x="8358" y="225312"/>
                  </a:lnTo>
                  <a:lnTo>
                    <a:pt x="14770" y="238328"/>
                  </a:lnTo>
                  <a:lnTo>
                    <a:pt x="22683" y="250036"/>
                  </a:lnTo>
                  <a:lnTo>
                    <a:pt x="22788" y="250191"/>
                  </a:lnTo>
                  <a:lnTo>
                    <a:pt x="55079" y="278282"/>
                  </a:lnTo>
                  <a:lnTo>
                    <a:pt x="95379" y="292100"/>
                  </a:lnTo>
                  <a:lnTo>
                    <a:pt x="109804" y="293039"/>
                  </a:lnTo>
                  <a:lnTo>
                    <a:pt x="878039" y="293039"/>
                  </a:lnTo>
                  <a:lnTo>
                    <a:pt x="920111" y="284686"/>
                  </a:lnTo>
                  <a:lnTo>
                    <a:pt x="955613" y="260872"/>
                  </a:lnTo>
                  <a:lnTo>
                    <a:pt x="979413" y="225312"/>
                  </a:lnTo>
                  <a:lnTo>
                    <a:pt x="987844" y="183248"/>
                  </a:lnTo>
                  <a:lnTo>
                    <a:pt x="987820" y="109804"/>
                  </a:lnTo>
                  <a:lnTo>
                    <a:pt x="979491" y="68095"/>
                  </a:lnTo>
                  <a:lnTo>
                    <a:pt x="955621" y="32535"/>
                  </a:lnTo>
                  <a:lnTo>
                    <a:pt x="919961" y="8721"/>
                  </a:lnTo>
                  <a:lnTo>
                    <a:pt x="878039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254B6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3803396" y="2989795"/>
              <a:ext cx="988060" cy="293370"/>
            </a:xfrm>
            <a:custGeom>
              <a:avLst/>
              <a:gdLst/>
              <a:ahLst/>
              <a:cxnLst/>
              <a:rect l="l" t="t" r="r" b="b"/>
              <a:pathLst>
                <a:path w="988060" h="293370">
                  <a:moveTo>
                    <a:pt x="368" y="109804"/>
                  </a:moveTo>
                  <a:lnTo>
                    <a:pt x="1307" y="95379"/>
                  </a:lnTo>
                  <a:lnTo>
                    <a:pt x="4103" y="81360"/>
                  </a:lnTo>
                  <a:lnTo>
                    <a:pt x="23138" y="43011"/>
                  </a:lnTo>
                  <a:lnTo>
                    <a:pt x="55079" y="14770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878039" y="368"/>
                  </a:lnTo>
                  <a:lnTo>
                    <a:pt x="919961" y="8721"/>
                  </a:lnTo>
                  <a:lnTo>
                    <a:pt x="955621" y="32535"/>
                  </a:lnTo>
                  <a:lnTo>
                    <a:pt x="979491" y="68095"/>
                  </a:lnTo>
                  <a:lnTo>
                    <a:pt x="987844" y="110159"/>
                  </a:lnTo>
                  <a:lnTo>
                    <a:pt x="987844" y="183248"/>
                  </a:lnTo>
                  <a:lnTo>
                    <a:pt x="986904" y="197665"/>
                  </a:lnTo>
                  <a:lnTo>
                    <a:pt x="984108" y="211680"/>
                  </a:lnTo>
                  <a:lnTo>
                    <a:pt x="965066" y="250036"/>
                  </a:lnTo>
                  <a:lnTo>
                    <a:pt x="933119" y="278282"/>
                  </a:lnTo>
                  <a:lnTo>
                    <a:pt x="892470" y="292100"/>
                  </a:lnTo>
                  <a:lnTo>
                    <a:pt x="878039" y="293039"/>
                  </a:lnTo>
                  <a:lnTo>
                    <a:pt x="109804" y="293039"/>
                  </a:lnTo>
                  <a:lnTo>
                    <a:pt x="67882" y="284686"/>
                  </a:lnTo>
                  <a:lnTo>
                    <a:pt x="32224" y="260872"/>
                  </a:lnTo>
                  <a:lnTo>
                    <a:pt x="8358" y="225312"/>
                  </a:lnTo>
                  <a:lnTo>
                    <a:pt x="0" y="183248"/>
                  </a:lnTo>
                  <a:lnTo>
                    <a:pt x="368" y="109804"/>
                  </a:lnTo>
                  <a:close/>
                </a:path>
              </a:pathLst>
            </a:custGeom>
            <a:ln w="10079">
              <a:solidFill>
                <a:srgbClr val="254B6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3932173" y="3042628"/>
            <a:ext cx="73279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30">
                <a:solidFill>
                  <a:srgbClr val="BEE8FF"/>
                </a:solidFill>
                <a:latin typeface="Arial Black"/>
                <a:cs typeface="Arial Black"/>
              </a:rPr>
              <a:t>AZURE</a:t>
            </a:r>
            <a:r>
              <a:rPr dirty="0" sz="1000" spc="-55">
                <a:solidFill>
                  <a:srgbClr val="BEE8FF"/>
                </a:solidFill>
                <a:latin typeface="Arial Black"/>
                <a:cs typeface="Arial Black"/>
              </a:rPr>
              <a:t> </a:t>
            </a:r>
            <a:r>
              <a:rPr dirty="0" sz="1000" spc="-90">
                <a:solidFill>
                  <a:srgbClr val="BEE8FF"/>
                </a:solidFill>
                <a:latin typeface="Arial Black"/>
                <a:cs typeface="Arial Black"/>
              </a:rPr>
              <a:t>GEO</a:t>
            </a:r>
            <a:endParaRPr sz="1000">
              <a:latin typeface="Arial Black"/>
              <a:cs typeface="Arial Black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790696" y="3461651"/>
            <a:ext cx="1856739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FFFF"/>
                </a:solidFill>
                <a:latin typeface="Noto Sans"/>
                <a:cs typeface="Noto Sans"/>
              </a:rPr>
              <a:t>Regions</a:t>
            </a:r>
            <a:r>
              <a:rPr dirty="0" sz="1200" spc="-20">
                <a:solidFill>
                  <a:srgbClr val="FFFFFF"/>
                </a:solidFill>
                <a:latin typeface="Noto Sans"/>
                <a:cs typeface="Noto Sans"/>
              </a:rPr>
              <a:t> </a:t>
            </a:r>
            <a:r>
              <a:rPr dirty="0" sz="1200">
                <a:solidFill>
                  <a:srgbClr val="FFFFFF"/>
                </a:solidFill>
                <a:latin typeface="Noto Sans"/>
                <a:cs typeface="Noto Sans"/>
              </a:rPr>
              <a:t>and</a:t>
            </a:r>
            <a:r>
              <a:rPr dirty="0" sz="1200" spc="-15">
                <a:solidFill>
                  <a:srgbClr val="FFFFFF"/>
                </a:solidFill>
                <a:latin typeface="Noto Sans"/>
                <a:cs typeface="Noto Sans"/>
              </a:rPr>
              <a:t> </a:t>
            </a:r>
            <a:r>
              <a:rPr dirty="0" sz="1200">
                <a:solidFill>
                  <a:srgbClr val="FFFFFF"/>
                </a:solidFill>
                <a:latin typeface="Noto Sans"/>
                <a:cs typeface="Noto Sans"/>
              </a:rPr>
              <a:t>zones</a:t>
            </a:r>
            <a:r>
              <a:rPr dirty="0" sz="1200" spc="-20">
                <a:solidFill>
                  <a:srgbClr val="FFFFFF"/>
                </a:solidFill>
                <a:latin typeface="Noto Sans"/>
                <a:cs typeface="Noto Sans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Noto Sans"/>
                <a:cs typeface="Noto Sans"/>
              </a:rPr>
              <a:t>define </a:t>
            </a:r>
            <a:r>
              <a:rPr dirty="0" sz="1200">
                <a:solidFill>
                  <a:srgbClr val="FFFFFF"/>
                </a:solidFill>
                <a:latin typeface="Noto Sans"/>
                <a:cs typeface="Noto Sans"/>
              </a:rPr>
              <a:t>where</a:t>
            </a:r>
            <a:r>
              <a:rPr dirty="0" sz="1200" spc="-60">
                <a:solidFill>
                  <a:srgbClr val="FFFFFF"/>
                </a:solidFill>
                <a:latin typeface="Noto Sans"/>
                <a:cs typeface="Noto Sans"/>
              </a:rPr>
              <a:t> </a:t>
            </a:r>
            <a:r>
              <a:rPr dirty="0" sz="1200">
                <a:solidFill>
                  <a:srgbClr val="FFFFFF"/>
                </a:solidFill>
                <a:latin typeface="Noto Sans"/>
                <a:cs typeface="Noto Sans"/>
              </a:rPr>
              <a:t>resilience</a:t>
            </a:r>
            <a:r>
              <a:rPr dirty="0" sz="1200" spc="-60">
                <a:solidFill>
                  <a:srgbClr val="FFFFFF"/>
                </a:solidFill>
                <a:latin typeface="Noto Sans"/>
                <a:cs typeface="Noto Sans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Noto Sans"/>
                <a:cs typeface="Noto Sans"/>
              </a:rPr>
              <a:t>lives.</a:t>
            </a:r>
            <a:endParaRPr sz="1200">
              <a:latin typeface="Noto Sans"/>
              <a:cs typeface="Noto Sans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6449760" y="2783524"/>
            <a:ext cx="2479675" cy="1519555"/>
            <a:chOff x="6449760" y="2783524"/>
            <a:chExt cx="2479675" cy="1519555"/>
          </a:xfrm>
        </p:grpSpPr>
        <p:sp>
          <p:nvSpPr>
            <p:cNvPr id="23" name="object 23"/>
            <p:cNvSpPr/>
            <p:nvPr/>
          </p:nvSpPr>
          <p:spPr>
            <a:xfrm>
              <a:off x="6454800" y="2788564"/>
              <a:ext cx="2469515" cy="1509395"/>
            </a:xfrm>
            <a:custGeom>
              <a:avLst/>
              <a:gdLst/>
              <a:ahLst/>
              <a:cxnLst/>
              <a:rect l="l" t="t" r="r" b="b"/>
              <a:pathLst>
                <a:path w="2469515" h="1509395">
                  <a:moveTo>
                    <a:pt x="110159" y="0"/>
                  </a:moveTo>
                  <a:lnTo>
                    <a:pt x="68088" y="8352"/>
                  </a:lnTo>
                  <a:lnTo>
                    <a:pt x="32535" y="32213"/>
                  </a:lnTo>
                  <a:lnTo>
                    <a:pt x="8713" y="67882"/>
                  </a:lnTo>
                  <a:lnTo>
                    <a:pt x="355" y="109791"/>
                  </a:lnTo>
                  <a:lnTo>
                    <a:pt x="0" y="1399311"/>
                  </a:lnTo>
                  <a:lnTo>
                    <a:pt x="939" y="1413741"/>
                  </a:lnTo>
                  <a:lnTo>
                    <a:pt x="14757" y="1454391"/>
                  </a:lnTo>
                  <a:lnTo>
                    <a:pt x="43010" y="1486338"/>
                  </a:lnTo>
                  <a:lnTo>
                    <a:pt x="81360" y="1505380"/>
                  </a:lnTo>
                  <a:lnTo>
                    <a:pt x="109804" y="1509115"/>
                  </a:lnTo>
                  <a:lnTo>
                    <a:pt x="2359444" y="1509115"/>
                  </a:lnTo>
                  <a:lnTo>
                    <a:pt x="2401508" y="1500762"/>
                  </a:lnTo>
                  <a:lnTo>
                    <a:pt x="2437017" y="1476936"/>
                  </a:lnTo>
                  <a:lnTo>
                    <a:pt x="2460807" y="1441382"/>
                  </a:lnTo>
                  <a:lnTo>
                    <a:pt x="2469235" y="1399311"/>
                  </a:lnTo>
                  <a:lnTo>
                    <a:pt x="2469211" y="109791"/>
                  </a:lnTo>
                  <a:lnTo>
                    <a:pt x="2460882" y="68088"/>
                  </a:lnTo>
                  <a:lnTo>
                    <a:pt x="2437022" y="32534"/>
                  </a:lnTo>
                  <a:lnTo>
                    <a:pt x="2401352" y="8708"/>
                  </a:lnTo>
                  <a:lnTo>
                    <a:pt x="235944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1736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6454800" y="2788564"/>
              <a:ext cx="2469515" cy="1509395"/>
            </a:xfrm>
            <a:custGeom>
              <a:avLst/>
              <a:gdLst/>
              <a:ahLst/>
              <a:cxnLst/>
              <a:rect l="l" t="t" r="r" b="b"/>
              <a:pathLst>
                <a:path w="2469515" h="1509395">
                  <a:moveTo>
                    <a:pt x="355" y="109791"/>
                  </a:moveTo>
                  <a:lnTo>
                    <a:pt x="1295" y="95374"/>
                  </a:lnTo>
                  <a:lnTo>
                    <a:pt x="4092" y="81359"/>
                  </a:lnTo>
                  <a:lnTo>
                    <a:pt x="23138" y="43003"/>
                  </a:lnTo>
                  <a:lnTo>
                    <a:pt x="55079" y="14757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2359444" y="355"/>
                  </a:lnTo>
                  <a:lnTo>
                    <a:pt x="2401352" y="8708"/>
                  </a:lnTo>
                  <a:lnTo>
                    <a:pt x="2437022" y="32534"/>
                  </a:lnTo>
                  <a:lnTo>
                    <a:pt x="2460882" y="68088"/>
                  </a:lnTo>
                  <a:lnTo>
                    <a:pt x="2469235" y="110159"/>
                  </a:lnTo>
                  <a:lnTo>
                    <a:pt x="2469235" y="1399311"/>
                  </a:lnTo>
                  <a:lnTo>
                    <a:pt x="2468295" y="1413736"/>
                  </a:lnTo>
                  <a:lnTo>
                    <a:pt x="2465500" y="1427754"/>
                  </a:lnTo>
                  <a:lnTo>
                    <a:pt x="2446465" y="1466104"/>
                  </a:lnTo>
                  <a:lnTo>
                    <a:pt x="2414523" y="1494358"/>
                  </a:lnTo>
                  <a:lnTo>
                    <a:pt x="2373867" y="1508175"/>
                  </a:lnTo>
                  <a:lnTo>
                    <a:pt x="2359444" y="1509115"/>
                  </a:lnTo>
                  <a:lnTo>
                    <a:pt x="109804" y="1509115"/>
                  </a:lnTo>
                  <a:lnTo>
                    <a:pt x="67882" y="1500762"/>
                  </a:lnTo>
                  <a:lnTo>
                    <a:pt x="32223" y="1476936"/>
                  </a:lnTo>
                  <a:lnTo>
                    <a:pt x="8352" y="1441382"/>
                  </a:lnTo>
                  <a:lnTo>
                    <a:pt x="0" y="1399311"/>
                  </a:lnTo>
                  <a:lnTo>
                    <a:pt x="355" y="109791"/>
                  </a:lnTo>
                  <a:close/>
                </a:path>
              </a:pathLst>
            </a:custGeom>
            <a:ln w="10079">
              <a:solidFill>
                <a:srgbClr val="2C516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6620040" y="2989795"/>
              <a:ext cx="988060" cy="293370"/>
            </a:xfrm>
            <a:custGeom>
              <a:avLst/>
              <a:gdLst/>
              <a:ahLst/>
              <a:cxnLst/>
              <a:rect l="l" t="t" r="r" b="b"/>
              <a:pathLst>
                <a:path w="988059" h="293370">
                  <a:moveTo>
                    <a:pt x="110159" y="0"/>
                  </a:moveTo>
                  <a:lnTo>
                    <a:pt x="68088" y="8358"/>
                  </a:lnTo>
                  <a:lnTo>
                    <a:pt x="32535" y="32224"/>
                  </a:lnTo>
                  <a:lnTo>
                    <a:pt x="8713" y="67882"/>
                  </a:lnTo>
                  <a:lnTo>
                    <a:pt x="355" y="109804"/>
                  </a:lnTo>
                  <a:lnTo>
                    <a:pt x="0" y="183248"/>
                  </a:lnTo>
                  <a:lnTo>
                    <a:pt x="939" y="197671"/>
                  </a:lnTo>
                  <a:lnTo>
                    <a:pt x="3735" y="211726"/>
                  </a:lnTo>
                  <a:lnTo>
                    <a:pt x="8300" y="225157"/>
                  </a:lnTo>
                  <a:lnTo>
                    <a:pt x="8352" y="225312"/>
                  </a:lnTo>
                  <a:lnTo>
                    <a:pt x="32223" y="260872"/>
                  </a:lnTo>
                  <a:lnTo>
                    <a:pt x="67882" y="284686"/>
                  </a:lnTo>
                  <a:lnTo>
                    <a:pt x="109804" y="293039"/>
                  </a:lnTo>
                  <a:lnTo>
                    <a:pt x="878039" y="293039"/>
                  </a:lnTo>
                  <a:lnTo>
                    <a:pt x="920111" y="284686"/>
                  </a:lnTo>
                  <a:lnTo>
                    <a:pt x="955611" y="260872"/>
                  </a:lnTo>
                  <a:lnTo>
                    <a:pt x="979408" y="225312"/>
                  </a:lnTo>
                  <a:lnTo>
                    <a:pt x="987844" y="183248"/>
                  </a:lnTo>
                  <a:lnTo>
                    <a:pt x="987820" y="109804"/>
                  </a:lnTo>
                  <a:lnTo>
                    <a:pt x="979485" y="68095"/>
                  </a:lnTo>
                  <a:lnTo>
                    <a:pt x="955619" y="32535"/>
                  </a:lnTo>
                  <a:lnTo>
                    <a:pt x="919961" y="8721"/>
                  </a:lnTo>
                  <a:lnTo>
                    <a:pt x="878039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254B6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6620040" y="2989795"/>
              <a:ext cx="988060" cy="293370"/>
            </a:xfrm>
            <a:custGeom>
              <a:avLst/>
              <a:gdLst/>
              <a:ahLst/>
              <a:cxnLst/>
              <a:rect l="l" t="t" r="r" b="b"/>
              <a:pathLst>
                <a:path w="988059" h="293370">
                  <a:moveTo>
                    <a:pt x="355" y="109804"/>
                  </a:moveTo>
                  <a:lnTo>
                    <a:pt x="1295" y="95379"/>
                  </a:lnTo>
                  <a:lnTo>
                    <a:pt x="4092" y="81360"/>
                  </a:lnTo>
                  <a:lnTo>
                    <a:pt x="23138" y="43011"/>
                  </a:lnTo>
                  <a:lnTo>
                    <a:pt x="55079" y="14770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878039" y="368"/>
                  </a:lnTo>
                  <a:lnTo>
                    <a:pt x="919961" y="8721"/>
                  </a:lnTo>
                  <a:lnTo>
                    <a:pt x="955619" y="32535"/>
                  </a:lnTo>
                  <a:lnTo>
                    <a:pt x="979485" y="68095"/>
                  </a:lnTo>
                  <a:lnTo>
                    <a:pt x="987844" y="110159"/>
                  </a:lnTo>
                  <a:lnTo>
                    <a:pt x="987844" y="183248"/>
                  </a:lnTo>
                  <a:lnTo>
                    <a:pt x="986904" y="197665"/>
                  </a:lnTo>
                  <a:lnTo>
                    <a:pt x="984107" y="211680"/>
                  </a:lnTo>
                  <a:lnTo>
                    <a:pt x="965061" y="250036"/>
                  </a:lnTo>
                  <a:lnTo>
                    <a:pt x="933119" y="278282"/>
                  </a:lnTo>
                  <a:lnTo>
                    <a:pt x="892470" y="292100"/>
                  </a:lnTo>
                  <a:lnTo>
                    <a:pt x="878039" y="293039"/>
                  </a:lnTo>
                  <a:lnTo>
                    <a:pt x="109804" y="293039"/>
                  </a:lnTo>
                  <a:lnTo>
                    <a:pt x="67882" y="284686"/>
                  </a:lnTo>
                  <a:lnTo>
                    <a:pt x="32223" y="260872"/>
                  </a:lnTo>
                  <a:lnTo>
                    <a:pt x="8352" y="225312"/>
                  </a:lnTo>
                  <a:lnTo>
                    <a:pt x="0" y="183248"/>
                  </a:lnTo>
                  <a:lnTo>
                    <a:pt x="355" y="109804"/>
                  </a:lnTo>
                  <a:close/>
                </a:path>
              </a:pathLst>
            </a:custGeom>
            <a:ln w="10079">
              <a:solidFill>
                <a:srgbClr val="254B6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6738022" y="3042628"/>
            <a:ext cx="75374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5">
                <a:solidFill>
                  <a:srgbClr val="BEE8FF"/>
                </a:solidFill>
                <a:latin typeface="Arial Black"/>
                <a:cs typeface="Arial Black"/>
              </a:rPr>
              <a:t>HIERARCHY</a:t>
            </a:r>
            <a:endParaRPr sz="1000">
              <a:latin typeface="Arial Black"/>
              <a:cs typeface="Arial Black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607340" y="3461651"/>
            <a:ext cx="2034539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FFFFFF"/>
                </a:solidFill>
                <a:latin typeface="Noto Sans"/>
                <a:cs typeface="Noto Sans"/>
              </a:rPr>
              <a:t>Tenant,</a:t>
            </a:r>
            <a:r>
              <a:rPr dirty="0" sz="1200" spc="-40">
                <a:solidFill>
                  <a:srgbClr val="FFFFFF"/>
                </a:solidFill>
                <a:latin typeface="Noto Sans"/>
                <a:cs typeface="Noto Sans"/>
              </a:rPr>
              <a:t> </a:t>
            </a:r>
            <a:r>
              <a:rPr dirty="0" sz="1200">
                <a:solidFill>
                  <a:srgbClr val="FFFFFF"/>
                </a:solidFill>
                <a:latin typeface="Noto Sans"/>
                <a:cs typeface="Noto Sans"/>
              </a:rPr>
              <a:t>subscription</a:t>
            </a:r>
            <a:r>
              <a:rPr dirty="0" sz="1200" spc="-35">
                <a:solidFill>
                  <a:srgbClr val="FFFFFF"/>
                </a:solidFill>
                <a:latin typeface="Noto Sans"/>
                <a:cs typeface="Noto Sans"/>
              </a:rPr>
              <a:t> </a:t>
            </a:r>
            <a:r>
              <a:rPr dirty="0" sz="1200">
                <a:solidFill>
                  <a:srgbClr val="FFFFFF"/>
                </a:solidFill>
                <a:latin typeface="Noto Sans"/>
                <a:cs typeface="Noto Sans"/>
              </a:rPr>
              <a:t>and</a:t>
            </a:r>
            <a:r>
              <a:rPr dirty="0" sz="1200" spc="-30">
                <a:solidFill>
                  <a:srgbClr val="FFFFFF"/>
                </a:solidFill>
                <a:latin typeface="Noto Sans"/>
                <a:cs typeface="Noto Sans"/>
              </a:rPr>
              <a:t> </a:t>
            </a:r>
            <a:r>
              <a:rPr dirty="0" sz="1200" spc="-25">
                <a:solidFill>
                  <a:srgbClr val="FFFFFF"/>
                </a:solidFill>
                <a:latin typeface="Noto Sans"/>
                <a:cs typeface="Noto Sans"/>
              </a:rPr>
              <a:t>RG </a:t>
            </a:r>
            <a:r>
              <a:rPr dirty="0" sz="1200">
                <a:solidFill>
                  <a:srgbClr val="FFFFFF"/>
                </a:solidFill>
                <a:latin typeface="Noto Sans"/>
                <a:cs typeface="Noto Sans"/>
              </a:rPr>
              <a:t>answer</a:t>
            </a:r>
            <a:r>
              <a:rPr dirty="0" sz="1200" spc="-50">
                <a:solidFill>
                  <a:srgbClr val="FFFFFF"/>
                </a:solidFill>
                <a:latin typeface="Noto Sans"/>
                <a:cs typeface="Noto Sans"/>
              </a:rPr>
              <a:t> </a:t>
            </a:r>
            <a:r>
              <a:rPr dirty="0" sz="1200">
                <a:solidFill>
                  <a:srgbClr val="FFFFFF"/>
                </a:solidFill>
                <a:latin typeface="Noto Sans"/>
                <a:cs typeface="Noto Sans"/>
              </a:rPr>
              <a:t>different</a:t>
            </a:r>
            <a:r>
              <a:rPr dirty="0" sz="1200" spc="-45">
                <a:solidFill>
                  <a:srgbClr val="FFFFFF"/>
                </a:solidFill>
                <a:latin typeface="Noto Sans"/>
                <a:cs typeface="Noto Sans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Noto Sans"/>
                <a:cs typeface="Noto Sans"/>
              </a:rPr>
              <a:t>questions.</a:t>
            </a:r>
            <a:endParaRPr sz="1200">
              <a:latin typeface="Noto Sans"/>
              <a:cs typeface="Noto Sans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9266404" y="2783524"/>
            <a:ext cx="2479675" cy="1519555"/>
            <a:chOff x="9266404" y="2783524"/>
            <a:chExt cx="2479675" cy="1519555"/>
          </a:xfrm>
        </p:grpSpPr>
        <p:sp>
          <p:nvSpPr>
            <p:cNvPr id="30" name="object 30"/>
            <p:cNvSpPr/>
            <p:nvPr/>
          </p:nvSpPr>
          <p:spPr>
            <a:xfrm>
              <a:off x="9271444" y="2788564"/>
              <a:ext cx="2469515" cy="1509395"/>
            </a:xfrm>
            <a:custGeom>
              <a:avLst/>
              <a:gdLst/>
              <a:ahLst/>
              <a:cxnLst/>
              <a:rect l="l" t="t" r="r" b="b"/>
              <a:pathLst>
                <a:path w="2469515" h="1509395">
                  <a:moveTo>
                    <a:pt x="110159" y="0"/>
                  </a:moveTo>
                  <a:lnTo>
                    <a:pt x="68088" y="8352"/>
                  </a:lnTo>
                  <a:lnTo>
                    <a:pt x="32534" y="32213"/>
                  </a:lnTo>
                  <a:lnTo>
                    <a:pt x="8708" y="67882"/>
                  </a:lnTo>
                  <a:lnTo>
                    <a:pt x="355" y="109791"/>
                  </a:lnTo>
                  <a:lnTo>
                    <a:pt x="0" y="1399311"/>
                  </a:lnTo>
                  <a:lnTo>
                    <a:pt x="937" y="1413741"/>
                  </a:lnTo>
                  <a:lnTo>
                    <a:pt x="14757" y="1454391"/>
                  </a:lnTo>
                  <a:lnTo>
                    <a:pt x="43003" y="1486338"/>
                  </a:lnTo>
                  <a:lnTo>
                    <a:pt x="81359" y="1505380"/>
                  </a:lnTo>
                  <a:lnTo>
                    <a:pt x="109791" y="1509115"/>
                  </a:lnTo>
                  <a:lnTo>
                    <a:pt x="2359431" y="1509115"/>
                  </a:lnTo>
                  <a:lnTo>
                    <a:pt x="2401502" y="1500762"/>
                  </a:lnTo>
                  <a:lnTo>
                    <a:pt x="2437006" y="1476936"/>
                  </a:lnTo>
                  <a:lnTo>
                    <a:pt x="2460807" y="1441382"/>
                  </a:lnTo>
                  <a:lnTo>
                    <a:pt x="2469235" y="1399311"/>
                  </a:lnTo>
                  <a:lnTo>
                    <a:pt x="2469211" y="109791"/>
                  </a:lnTo>
                  <a:lnTo>
                    <a:pt x="2460882" y="68088"/>
                  </a:lnTo>
                  <a:lnTo>
                    <a:pt x="2437012" y="32534"/>
                  </a:lnTo>
                  <a:lnTo>
                    <a:pt x="2401352" y="8708"/>
                  </a:lnTo>
                  <a:lnTo>
                    <a:pt x="2359431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1736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9271444" y="2788564"/>
              <a:ext cx="2469515" cy="1509395"/>
            </a:xfrm>
            <a:custGeom>
              <a:avLst/>
              <a:gdLst/>
              <a:ahLst/>
              <a:cxnLst/>
              <a:rect l="l" t="t" r="r" b="b"/>
              <a:pathLst>
                <a:path w="2469515" h="1509395">
                  <a:moveTo>
                    <a:pt x="355" y="109791"/>
                  </a:moveTo>
                  <a:lnTo>
                    <a:pt x="1295" y="95374"/>
                  </a:lnTo>
                  <a:lnTo>
                    <a:pt x="4090" y="81359"/>
                  </a:lnTo>
                  <a:lnTo>
                    <a:pt x="23133" y="43003"/>
                  </a:lnTo>
                  <a:lnTo>
                    <a:pt x="55079" y="14757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2359431" y="355"/>
                  </a:lnTo>
                  <a:lnTo>
                    <a:pt x="2401352" y="8708"/>
                  </a:lnTo>
                  <a:lnTo>
                    <a:pt x="2437012" y="32534"/>
                  </a:lnTo>
                  <a:lnTo>
                    <a:pt x="2460882" y="68088"/>
                  </a:lnTo>
                  <a:lnTo>
                    <a:pt x="2469235" y="110159"/>
                  </a:lnTo>
                  <a:lnTo>
                    <a:pt x="2469235" y="1399311"/>
                  </a:lnTo>
                  <a:lnTo>
                    <a:pt x="2468295" y="1413736"/>
                  </a:lnTo>
                  <a:lnTo>
                    <a:pt x="2465500" y="1427754"/>
                  </a:lnTo>
                  <a:lnTo>
                    <a:pt x="2446458" y="1466104"/>
                  </a:lnTo>
                  <a:lnTo>
                    <a:pt x="2414511" y="1494358"/>
                  </a:lnTo>
                  <a:lnTo>
                    <a:pt x="2373861" y="1508175"/>
                  </a:lnTo>
                  <a:lnTo>
                    <a:pt x="2359431" y="1509115"/>
                  </a:lnTo>
                  <a:lnTo>
                    <a:pt x="109791" y="1509115"/>
                  </a:lnTo>
                  <a:lnTo>
                    <a:pt x="67882" y="1500762"/>
                  </a:lnTo>
                  <a:lnTo>
                    <a:pt x="32213" y="1476936"/>
                  </a:lnTo>
                  <a:lnTo>
                    <a:pt x="8347" y="1441382"/>
                  </a:lnTo>
                  <a:lnTo>
                    <a:pt x="0" y="1399311"/>
                  </a:lnTo>
                  <a:lnTo>
                    <a:pt x="355" y="109791"/>
                  </a:lnTo>
                  <a:close/>
                </a:path>
              </a:pathLst>
            </a:custGeom>
            <a:ln w="10079">
              <a:solidFill>
                <a:srgbClr val="2C516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9436316" y="2989795"/>
              <a:ext cx="988060" cy="293370"/>
            </a:xfrm>
            <a:custGeom>
              <a:avLst/>
              <a:gdLst/>
              <a:ahLst/>
              <a:cxnLst/>
              <a:rect l="l" t="t" r="r" b="b"/>
              <a:pathLst>
                <a:path w="988059" h="293370">
                  <a:moveTo>
                    <a:pt x="110159" y="0"/>
                  </a:moveTo>
                  <a:lnTo>
                    <a:pt x="68095" y="8358"/>
                  </a:lnTo>
                  <a:lnTo>
                    <a:pt x="32535" y="32224"/>
                  </a:lnTo>
                  <a:lnTo>
                    <a:pt x="8721" y="67882"/>
                  </a:lnTo>
                  <a:lnTo>
                    <a:pt x="368" y="109804"/>
                  </a:lnTo>
                  <a:lnTo>
                    <a:pt x="0" y="183248"/>
                  </a:lnTo>
                  <a:lnTo>
                    <a:pt x="939" y="197671"/>
                  </a:lnTo>
                  <a:lnTo>
                    <a:pt x="14770" y="238328"/>
                  </a:lnTo>
                  <a:lnTo>
                    <a:pt x="22683" y="250036"/>
                  </a:lnTo>
                  <a:lnTo>
                    <a:pt x="22788" y="250191"/>
                  </a:lnTo>
                  <a:lnTo>
                    <a:pt x="55079" y="278282"/>
                  </a:lnTo>
                  <a:lnTo>
                    <a:pt x="95379" y="292100"/>
                  </a:lnTo>
                  <a:lnTo>
                    <a:pt x="109804" y="293039"/>
                  </a:lnTo>
                  <a:lnTo>
                    <a:pt x="878039" y="293039"/>
                  </a:lnTo>
                  <a:lnTo>
                    <a:pt x="920111" y="284686"/>
                  </a:lnTo>
                  <a:lnTo>
                    <a:pt x="955613" y="260872"/>
                  </a:lnTo>
                  <a:lnTo>
                    <a:pt x="979413" y="225312"/>
                  </a:lnTo>
                  <a:lnTo>
                    <a:pt x="987844" y="183248"/>
                  </a:lnTo>
                  <a:lnTo>
                    <a:pt x="987820" y="109804"/>
                  </a:lnTo>
                  <a:lnTo>
                    <a:pt x="979491" y="68095"/>
                  </a:lnTo>
                  <a:lnTo>
                    <a:pt x="955621" y="32535"/>
                  </a:lnTo>
                  <a:lnTo>
                    <a:pt x="919961" y="8721"/>
                  </a:lnTo>
                  <a:lnTo>
                    <a:pt x="878039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254B6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9436316" y="2989795"/>
              <a:ext cx="988060" cy="293370"/>
            </a:xfrm>
            <a:custGeom>
              <a:avLst/>
              <a:gdLst/>
              <a:ahLst/>
              <a:cxnLst/>
              <a:rect l="l" t="t" r="r" b="b"/>
              <a:pathLst>
                <a:path w="988059" h="293370">
                  <a:moveTo>
                    <a:pt x="368" y="109804"/>
                  </a:moveTo>
                  <a:lnTo>
                    <a:pt x="1307" y="95379"/>
                  </a:lnTo>
                  <a:lnTo>
                    <a:pt x="4103" y="81360"/>
                  </a:lnTo>
                  <a:lnTo>
                    <a:pt x="23138" y="43011"/>
                  </a:lnTo>
                  <a:lnTo>
                    <a:pt x="55079" y="14770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878039" y="368"/>
                  </a:lnTo>
                  <a:lnTo>
                    <a:pt x="919961" y="8721"/>
                  </a:lnTo>
                  <a:lnTo>
                    <a:pt x="955621" y="32535"/>
                  </a:lnTo>
                  <a:lnTo>
                    <a:pt x="979491" y="68095"/>
                  </a:lnTo>
                  <a:lnTo>
                    <a:pt x="987844" y="110159"/>
                  </a:lnTo>
                  <a:lnTo>
                    <a:pt x="987844" y="183248"/>
                  </a:lnTo>
                  <a:lnTo>
                    <a:pt x="986904" y="197665"/>
                  </a:lnTo>
                  <a:lnTo>
                    <a:pt x="984108" y="211680"/>
                  </a:lnTo>
                  <a:lnTo>
                    <a:pt x="965066" y="250036"/>
                  </a:lnTo>
                  <a:lnTo>
                    <a:pt x="933119" y="278282"/>
                  </a:lnTo>
                  <a:lnTo>
                    <a:pt x="892470" y="292100"/>
                  </a:lnTo>
                  <a:lnTo>
                    <a:pt x="878039" y="293039"/>
                  </a:lnTo>
                  <a:lnTo>
                    <a:pt x="109804" y="293039"/>
                  </a:lnTo>
                  <a:lnTo>
                    <a:pt x="67882" y="284686"/>
                  </a:lnTo>
                  <a:lnTo>
                    <a:pt x="32224" y="260872"/>
                  </a:lnTo>
                  <a:lnTo>
                    <a:pt x="8358" y="225312"/>
                  </a:lnTo>
                  <a:lnTo>
                    <a:pt x="0" y="183248"/>
                  </a:lnTo>
                  <a:lnTo>
                    <a:pt x="368" y="109804"/>
                  </a:lnTo>
                  <a:close/>
                </a:path>
              </a:pathLst>
            </a:custGeom>
            <a:ln w="10079">
              <a:solidFill>
                <a:srgbClr val="254B6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/>
          <p:cNvSpPr txBox="1"/>
          <p:nvPr/>
        </p:nvSpPr>
        <p:spPr>
          <a:xfrm>
            <a:off x="9691103" y="3042628"/>
            <a:ext cx="480059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45">
                <a:solidFill>
                  <a:srgbClr val="BEE8FF"/>
                </a:solidFill>
                <a:latin typeface="Arial Black"/>
                <a:cs typeface="Arial Black"/>
              </a:rPr>
              <a:t>ACCESS</a:t>
            </a:r>
            <a:endParaRPr sz="1000">
              <a:latin typeface="Arial Black"/>
              <a:cs typeface="Arial Black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9423616" y="3461651"/>
            <a:ext cx="20040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FFFF"/>
                </a:solidFill>
                <a:latin typeface="Noto Sans"/>
                <a:cs typeface="Noto Sans"/>
              </a:rPr>
              <a:t>RBAC</a:t>
            </a:r>
            <a:r>
              <a:rPr dirty="0" sz="1200" spc="-40">
                <a:solidFill>
                  <a:srgbClr val="FFFFFF"/>
                </a:solidFill>
                <a:latin typeface="Noto Sans"/>
                <a:cs typeface="Noto Sans"/>
              </a:rPr>
              <a:t> </a:t>
            </a:r>
            <a:r>
              <a:rPr dirty="0" sz="1200">
                <a:solidFill>
                  <a:srgbClr val="FFFFFF"/>
                </a:solidFill>
                <a:latin typeface="Noto Sans"/>
                <a:cs typeface="Noto Sans"/>
              </a:rPr>
              <a:t>grants</a:t>
            </a:r>
            <a:r>
              <a:rPr dirty="0" sz="1200" spc="-40">
                <a:solidFill>
                  <a:srgbClr val="FFFFFF"/>
                </a:solidFill>
                <a:latin typeface="Noto Sans"/>
                <a:cs typeface="Noto Sans"/>
              </a:rPr>
              <a:t> </a:t>
            </a:r>
            <a:r>
              <a:rPr dirty="0" sz="1200">
                <a:solidFill>
                  <a:srgbClr val="FFFFFF"/>
                </a:solidFill>
                <a:latin typeface="Noto Sans"/>
                <a:cs typeface="Noto Sans"/>
              </a:rPr>
              <a:t>scoped</a:t>
            </a:r>
            <a:r>
              <a:rPr dirty="0" sz="1200" spc="-40">
                <a:solidFill>
                  <a:srgbClr val="FFFFFF"/>
                </a:solidFill>
                <a:latin typeface="Noto Sans"/>
                <a:cs typeface="Noto Sans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Noto Sans"/>
                <a:cs typeface="Noto Sans"/>
              </a:rPr>
              <a:t>access; </a:t>
            </a:r>
            <a:r>
              <a:rPr dirty="0" sz="1200">
                <a:solidFill>
                  <a:srgbClr val="FFFFFF"/>
                </a:solidFill>
                <a:latin typeface="Noto Sans"/>
                <a:cs typeface="Noto Sans"/>
              </a:rPr>
              <a:t>Deny</a:t>
            </a:r>
            <a:r>
              <a:rPr dirty="0" sz="1200" spc="-20">
                <a:solidFill>
                  <a:srgbClr val="FFFFFF"/>
                </a:solidFill>
                <a:latin typeface="Noto Sans"/>
                <a:cs typeface="Noto Sans"/>
              </a:rPr>
              <a:t> </a:t>
            </a:r>
            <a:r>
              <a:rPr dirty="0" sz="1200">
                <a:solidFill>
                  <a:srgbClr val="FFFFFF"/>
                </a:solidFill>
                <a:latin typeface="Noto Sans"/>
                <a:cs typeface="Noto Sans"/>
              </a:rPr>
              <a:t>can</a:t>
            </a:r>
            <a:r>
              <a:rPr dirty="0" sz="1200" spc="-15">
                <a:solidFill>
                  <a:srgbClr val="FFFFFF"/>
                </a:solidFill>
                <a:latin typeface="Noto Sans"/>
                <a:cs typeface="Noto Sans"/>
              </a:rPr>
              <a:t> </a:t>
            </a:r>
            <a:r>
              <a:rPr dirty="0" sz="1200">
                <a:solidFill>
                  <a:srgbClr val="FFFFFF"/>
                </a:solidFill>
                <a:latin typeface="Noto Sans"/>
                <a:cs typeface="Noto Sans"/>
              </a:rPr>
              <a:t>still</a:t>
            </a:r>
            <a:r>
              <a:rPr dirty="0" sz="1200" spc="-15">
                <a:solidFill>
                  <a:srgbClr val="FFFFFF"/>
                </a:solidFill>
                <a:latin typeface="Noto Sans"/>
                <a:cs typeface="Noto Sans"/>
              </a:rPr>
              <a:t> </a:t>
            </a:r>
            <a:r>
              <a:rPr dirty="0" sz="1200">
                <a:solidFill>
                  <a:srgbClr val="FFFFFF"/>
                </a:solidFill>
                <a:latin typeface="Noto Sans"/>
                <a:cs typeface="Noto Sans"/>
              </a:rPr>
              <a:t>block</a:t>
            </a:r>
            <a:r>
              <a:rPr dirty="0" sz="1200" spc="-10">
                <a:solidFill>
                  <a:srgbClr val="FFFFFF"/>
                </a:solidFill>
                <a:latin typeface="Noto Sans"/>
                <a:cs typeface="Noto Sans"/>
              </a:rPr>
              <a:t> </a:t>
            </a:r>
            <a:r>
              <a:rPr dirty="0" sz="1200" spc="-25">
                <a:solidFill>
                  <a:srgbClr val="FFFFFF"/>
                </a:solidFill>
                <a:latin typeface="Noto Sans"/>
                <a:cs typeface="Noto Sans"/>
              </a:rPr>
              <a:t>it.</a:t>
            </a:r>
            <a:endParaRPr sz="1200">
              <a:latin typeface="Noto Sans"/>
              <a:cs typeface="Noto Sans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106538" y="5061864"/>
            <a:ext cx="9852660" cy="11499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spc="-110">
                <a:solidFill>
                  <a:srgbClr val="CAE6F7"/>
                </a:solidFill>
                <a:latin typeface="Arial Black"/>
                <a:cs typeface="Arial Black"/>
              </a:rPr>
              <a:t>Before </a:t>
            </a:r>
            <a:r>
              <a:rPr dirty="0" sz="1800" spc="-75">
                <a:solidFill>
                  <a:srgbClr val="CAE6F7"/>
                </a:solidFill>
                <a:latin typeface="Arial Black"/>
                <a:cs typeface="Arial Black"/>
              </a:rPr>
              <a:t>you</a:t>
            </a:r>
            <a:r>
              <a:rPr dirty="0" sz="1800" spc="-110">
                <a:solidFill>
                  <a:srgbClr val="CAE6F7"/>
                </a:solidFill>
                <a:latin typeface="Arial Black"/>
                <a:cs typeface="Arial Black"/>
              </a:rPr>
              <a:t> </a:t>
            </a:r>
            <a:r>
              <a:rPr dirty="0" sz="1800" spc="-160">
                <a:solidFill>
                  <a:srgbClr val="CAE6F7"/>
                </a:solidFill>
                <a:latin typeface="Arial Black"/>
                <a:cs typeface="Arial Black"/>
              </a:rPr>
              <a:t>close</a:t>
            </a:r>
            <a:r>
              <a:rPr dirty="0" sz="1800" spc="-110">
                <a:solidFill>
                  <a:srgbClr val="CAE6F7"/>
                </a:solidFill>
                <a:latin typeface="Arial Black"/>
                <a:cs typeface="Arial Black"/>
              </a:rPr>
              <a:t> </a:t>
            </a:r>
            <a:r>
              <a:rPr dirty="0" sz="1800" spc="-120">
                <a:solidFill>
                  <a:srgbClr val="CAE6F7"/>
                </a:solidFill>
                <a:latin typeface="Arial Black"/>
                <a:cs typeface="Arial Black"/>
              </a:rPr>
              <a:t>a</a:t>
            </a:r>
            <a:r>
              <a:rPr dirty="0" sz="1800" spc="-110">
                <a:solidFill>
                  <a:srgbClr val="CAE6F7"/>
                </a:solidFill>
                <a:latin typeface="Arial Black"/>
                <a:cs typeface="Arial Black"/>
              </a:rPr>
              <a:t> ticket: </a:t>
            </a:r>
            <a:r>
              <a:rPr dirty="0" sz="1800" spc="-65">
                <a:solidFill>
                  <a:srgbClr val="CAE6F7"/>
                </a:solidFill>
                <a:latin typeface="Arial Black"/>
                <a:cs typeface="Arial Black"/>
              </a:rPr>
              <a:t>verify</a:t>
            </a:r>
            <a:r>
              <a:rPr dirty="0" sz="1800" spc="-110">
                <a:solidFill>
                  <a:srgbClr val="CAE6F7"/>
                </a:solidFill>
                <a:latin typeface="Arial Black"/>
                <a:cs typeface="Arial Black"/>
              </a:rPr>
              <a:t> </a:t>
            </a:r>
            <a:r>
              <a:rPr dirty="0" sz="1800" spc="-165">
                <a:solidFill>
                  <a:srgbClr val="CAE6F7"/>
                </a:solidFill>
                <a:latin typeface="Arial Black"/>
                <a:cs typeface="Arial Black"/>
              </a:rPr>
              <a:t>scope</a:t>
            </a:r>
            <a:r>
              <a:rPr dirty="0" sz="1800" spc="-110">
                <a:solidFill>
                  <a:srgbClr val="CAE6F7"/>
                </a:solidFill>
                <a:latin typeface="Arial Black"/>
                <a:cs typeface="Arial Black"/>
              </a:rPr>
              <a:t> </a:t>
            </a:r>
            <a:r>
              <a:rPr dirty="0" sz="1800" spc="-225">
                <a:solidFill>
                  <a:srgbClr val="CAE6F7"/>
                </a:solidFill>
                <a:latin typeface="Arial Black"/>
                <a:cs typeface="Arial Black"/>
              </a:rPr>
              <a:t>•</a:t>
            </a:r>
            <a:r>
              <a:rPr dirty="0" sz="1800" spc="-110">
                <a:solidFill>
                  <a:srgbClr val="CAE6F7"/>
                </a:solidFill>
                <a:latin typeface="Arial Black"/>
                <a:cs typeface="Arial Black"/>
              </a:rPr>
              <a:t> </a:t>
            </a:r>
            <a:r>
              <a:rPr dirty="0" sz="1800" spc="-65">
                <a:solidFill>
                  <a:srgbClr val="CAE6F7"/>
                </a:solidFill>
                <a:latin typeface="Arial Black"/>
                <a:cs typeface="Arial Black"/>
              </a:rPr>
              <a:t>gather</a:t>
            </a:r>
            <a:r>
              <a:rPr dirty="0" sz="1800" spc="-110">
                <a:solidFill>
                  <a:srgbClr val="CAE6F7"/>
                </a:solidFill>
                <a:latin typeface="Arial Black"/>
                <a:cs typeface="Arial Black"/>
              </a:rPr>
              <a:t> </a:t>
            </a:r>
            <a:r>
              <a:rPr dirty="0" sz="1800" spc="-125">
                <a:solidFill>
                  <a:srgbClr val="CAE6F7"/>
                </a:solidFill>
                <a:latin typeface="Arial Black"/>
                <a:cs typeface="Arial Black"/>
              </a:rPr>
              <a:t>evidence</a:t>
            </a:r>
            <a:r>
              <a:rPr dirty="0" sz="1800" spc="-110">
                <a:solidFill>
                  <a:srgbClr val="CAE6F7"/>
                </a:solidFill>
                <a:latin typeface="Arial Black"/>
                <a:cs typeface="Arial Black"/>
              </a:rPr>
              <a:t> </a:t>
            </a:r>
            <a:r>
              <a:rPr dirty="0" sz="1800" spc="-225">
                <a:solidFill>
                  <a:srgbClr val="CAE6F7"/>
                </a:solidFill>
                <a:latin typeface="Arial Black"/>
                <a:cs typeface="Arial Black"/>
              </a:rPr>
              <a:t>•</a:t>
            </a:r>
            <a:r>
              <a:rPr dirty="0" sz="1800" spc="-110">
                <a:solidFill>
                  <a:srgbClr val="CAE6F7"/>
                </a:solidFill>
                <a:latin typeface="Arial Black"/>
                <a:cs typeface="Arial Black"/>
              </a:rPr>
              <a:t> </a:t>
            </a:r>
            <a:r>
              <a:rPr dirty="0" sz="1800" spc="-105">
                <a:solidFill>
                  <a:srgbClr val="CAE6F7"/>
                </a:solidFill>
                <a:latin typeface="Arial Black"/>
                <a:cs typeface="Arial Black"/>
              </a:rPr>
              <a:t>explain</a:t>
            </a:r>
            <a:r>
              <a:rPr dirty="0" sz="1800" spc="-110">
                <a:solidFill>
                  <a:srgbClr val="CAE6F7"/>
                </a:solidFill>
                <a:latin typeface="Arial Black"/>
                <a:cs typeface="Arial Black"/>
              </a:rPr>
              <a:t> </a:t>
            </a:r>
            <a:r>
              <a:rPr dirty="0" sz="1800" spc="-65">
                <a:solidFill>
                  <a:srgbClr val="CAE6F7"/>
                </a:solidFill>
                <a:latin typeface="Arial Black"/>
                <a:cs typeface="Arial Black"/>
              </a:rPr>
              <a:t>the</a:t>
            </a:r>
            <a:r>
              <a:rPr dirty="0" sz="1800" spc="-110">
                <a:solidFill>
                  <a:srgbClr val="CAE6F7"/>
                </a:solidFill>
                <a:latin typeface="Arial Black"/>
                <a:cs typeface="Arial Black"/>
              </a:rPr>
              <a:t> </a:t>
            </a:r>
            <a:r>
              <a:rPr dirty="0" sz="1800" spc="-85">
                <a:solidFill>
                  <a:srgbClr val="CAE6F7"/>
                </a:solidFill>
                <a:latin typeface="Arial Black"/>
                <a:cs typeface="Arial Black"/>
              </a:rPr>
              <a:t>result</a:t>
            </a:r>
            <a:r>
              <a:rPr dirty="0" sz="1800" spc="-110">
                <a:solidFill>
                  <a:srgbClr val="CAE6F7"/>
                </a:solidFill>
                <a:latin typeface="Arial Black"/>
                <a:cs typeface="Arial Black"/>
              </a:rPr>
              <a:t> </a:t>
            </a:r>
            <a:r>
              <a:rPr dirty="0" sz="1800" spc="-225">
                <a:solidFill>
                  <a:srgbClr val="CAE6F7"/>
                </a:solidFill>
                <a:latin typeface="Arial Black"/>
                <a:cs typeface="Arial Black"/>
              </a:rPr>
              <a:t>•</a:t>
            </a:r>
            <a:r>
              <a:rPr dirty="0" sz="1800" spc="-110">
                <a:solidFill>
                  <a:srgbClr val="CAE6F7"/>
                </a:solidFill>
                <a:latin typeface="Arial Black"/>
                <a:cs typeface="Arial Black"/>
              </a:rPr>
              <a:t> </a:t>
            </a:r>
            <a:r>
              <a:rPr dirty="0" sz="1800" spc="-105">
                <a:solidFill>
                  <a:srgbClr val="CAE6F7"/>
                </a:solidFill>
                <a:latin typeface="Arial Black"/>
                <a:cs typeface="Arial Black"/>
              </a:rPr>
              <a:t>make</a:t>
            </a:r>
            <a:r>
              <a:rPr dirty="0" sz="1800" spc="-110">
                <a:solidFill>
                  <a:srgbClr val="CAE6F7"/>
                </a:solidFill>
                <a:latin typeface="Arial Black"/>
                <a:cs typeface="Arial Black"/>
              </a:rPr>
              <a:t> </a:t>
            </a:r>
            <a:r>
              <a:rPr dirty="0" sz="1800" spc="-25">
                <a:solidFill>
                  <a:srgbClr val="CAE6F7"/>
                </a:solidFill>
                <a:latin typeface="Arial Black"/>
                <a:cs typeface="Arial Black"/>
              </a:rPr>
              <a:t>the </a:t>
            </a:r>
            <a:r>
              <a:rPr dirty="0" sz="1800" spc="-110">
                <a:solidFill>
                  <a:srgbClr val="CAE6F7"/>
                </a:solidFill>
                <a:latin typeface="Arial Black"/>
                <a:cs typeface="Arial Black"/>
              </a:rPr>
              <a:t>smallest</a:t>
            </a:r>
            <a:r>
              <a:rPr dirty="0" sz="1800" spc="-114">
                <a:solidFill>
                  <a:srgbClr val="CAE6F7"/>
                </a:solidFill>
                <a:latin typeface="Arial Black"/>
                <a:cs typeface="Arial Black"/>
              </a:rPr>
              <a:t> </a:t>
            </a:r>
            <a:r>
              <a:rPr dirty="0" sz="1800" spc="-125">
                <a:solidFill>
                  <a:srgbClr val="CAE6F7"/>
                </a:solidFill>
                <a:latin typeface="Arial Black"/>
                <a:cs typeface="Arial Black"/>
              </a:rPr>
              <a:t>safe</a:t>
            </a:r>
            <a:r>
              <a:rPr dirty="0" sz="1800" spc="-110">
                <a:solidFill>
                  <a:srgbClr val="CAE6F7"/>
                </a:solidFill>
                <a:latin typeface="Arial Black"/>
                <a:cs typeface="Arial Black"/>
              </a:rPr>
              <a:t> </a:t>
            </a:r>
            <a:r>
              <a:rPr dirty="0" sz="1800" spc="-10">
                <a:solidFill>
                  <a:srgbClr val="CAE6F7"/>
                </a:solidFill>
                <a:latin typeface="Arial Black"/>
                <a:cs typeface="Arial Black"/>
              </a:rPr>
              <a:t>change.</a:t>
            </a:r>
            <a:endParaRPr sz="18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490"/>
              </a:spcBef>
            </a:pPr>
            <a:endParaRPr sz="1800">
              <a:latin typeface="Arial Black"/>
              <a:cs typeface="Arial Black"/>
            </a:endParaRPr>
          </a:p>
          <a:p>
            <a:pPr algn="ctr" marL="3175">
              <a:lnSpc>
                <a:spcPct val="100000"/>
              </a:lnSpc>
              <a:spcBef>
                <a:spcPts val="5"/>
              </a:spcBef>
            </a:pPr>
            <a:r>
              <a:rPr dirty="0" sz="1250">
                <a:solidFill>
                  <a:srgbClr val="AEC5D8"/>
                </a:solidFill>
                <a:latin typeface="Noto Sans"/>
                <a:cs typeface="Noto Sans"/>
              </a:rPr>
              <a:t>Next:</a:t>
            </a:r>
            <a:r>
              <a:rPr dirty="0" sz="1250" spc="-30">
                <a:solidFill>
                  <a:srgbClr val="AEC5D8"/>
                </a:solidFill>
                <a:latin typeface="Noto Sans"/>
                <a:cs typeface="Noto Sans"/>
              </a:rPr>
              <a:t> </a:t>
            </a:r>
            <a:r>
              <a:rPr dirty="0" sz="1250">
                <a:solidFill>
                  <a:srgbClr val="AEC5D8"/>
                </a:solidFill>
                <a:latin typeface="Noto Sans"/>
                <a:cs typeface="Noto Sans"/>
              </a:rPr>
              <a:t>apply</a:t>
            </a:r>
            <a:r>
              <a:rPr dirty="0" sz="1250" spc="-35">
                <a:solidFill>
                  <a:srgbClr val="AEC5D8"/>
                </a:solidFill>
                <a:latin typeface="Noto Sans"/>
                <a:cs typeface="Noto Sans"/>
              </a:rPr>
              <a:t> </a:t>
            </a:r>
            <a:r>
              <a:rPr dirty="0" sz="1250">
                <a:solidFill>
                  <a:srgbClr val="AEC5D8"/>
                </a:solidFill>
                <a:latin typeface="Noto Sans"/>
                <a:cs typeface="Noto Sans"/>
              </a:rPr>
              <a:t>these</a:t>
            </a:r>
            <a:r>
              <a:rPr dirty="0" sz="1250" spc="-35">
                <a:solidFill>
                  <a:srgbClr val="AEC5D8"/>
                </a:solidFill>
                <a:latin typeface="Noto Sans"/>
                <a:cs typeface="Noto Sans"/>
              </a:rPr>
              <a:t> </a:t>
            </a:r>
            <a:r>
              <a:rPr dirty="0" sz="1250">
                <a:solidFill>
                  <a:srgbClr val="AEC5D8"/>
                </a:solidFill>
                <a:latin typeface="Noto Sans"/>
                <a:cs typeface="Noto Sans"/>
              </a:rPr>
              <a:t>concepts</a:t>
            </a:r>
            <a:r>
              <a:rPr dirty="0" sz="1250" spc="-35">
                <a:solidFill>
                  <a:srgbClr val="AEC5D8"/>
                </a:solidFill>
                <a:latin typeface="Noto Sans"/>
                <a:cs typeface="Noto Sans"/>
              </a:rPr>
              <a:t> </a:t>
            </a:r>
            <a:r>
              <a:rPr dirty="0" sz="1250">
                <a:solidFill>
                  <a:srgbClr val="AEC5D8"/>
                </a:solidFill>
                <a:latin typeface="Noto Sans"/>
                <a:cs typeface="Noto Sans"/>
              </a:rPr>
              <a:t>in</a:t>
            </a:r>
            <a:r>
              <a:rPr dirty="0" sz="1250" spc="-35">
                <a:solidFill>
                  <a:srgbClr val="AEC5D8"/>
                </a:solidFill>
                <a:latin typeface="Noto Sans"/>
                <a:cs typeface="Noto Sans"/>
              </a:rPr>
              <a:t> </a:t>
            </a:r>
            <a:r>
              <a:rPr dirty="0" sz="1250">
                <a:solidFill>
                  <a:srgbClr val="AEC5D8"/>
                </a:solidFill>
                <a:latin typeface="Noto Sans"/>
                <a:cs typeface="Noto Sans"/>
              </a:rPr>
              <a:t>the</a:t>
            </a:r>
            <a:r>
              <a:rPr dirty="0" sz="1250" spc="-35">
                <a:solidFill>
                  <a:srgbClr val="AEC5D8"/>
                </a:solidFill>
                <a:latin typeface="Noto Sans"/>
                <a:cs typeface="Noto Sans"/>
              </a:rPr>
              <a:t> </a:t>
            </a:r>
            <a:r>
              <a:rPr dirty="0" sz="1250">
                <a:solidFill>
                  <a:srgbClr val="AEC5D8"/>
                </a:solidFill>
                <a:latin typeface="Noto Sans"/>
                <a:cs typeface="Noto Sans"/>
              </a:rPr>
              <a:t>Day</a:t>
            </a:r>
            <a:r>
              <a:rPr dirty="0" sz="1250" spc="-35">
                <a:solidFill>
                  <a:srgbClr val="AEC5D8"/>
                </a:solidFill>
                <a:latin typeface="Noto Sans"/>
                <a:cs typeface="Noto Sans"/>
              </a:rPr>
              <a:t> </a:t>
            </a:r>
            <a:r>
              <a:rPr dirty="0" sz="1250">
                <a:solidFill>
                  <a:srgbClr val="AEC5D8"/>
                </a:solidFill>
                <a:latin typeface="Noto Sans"/>
                <a:cs typeface="Noto Sans"/>
              </a:rPr>
              <a:t>1</a:t>
            </a:r>
            <a:r>
              <a:rPr dirty="0" sz="1250" spc="-35">
                <a:solidFill>
                  <a:srgbClr val="AEC5D8"/>
                </a:solidFill>
                <a:latin typeface="Noto Sans"/>
                <a:cs typeface="Noto Sans"/>
              </a:rPr>
              <a:t> </a:t>
            </a:r>
            <a:r>
              <a:rPr dirty="0" sz="1250">
                <a:solidFill>
                  <a:srgbClr val="AEC5D8"/>
                </a:solidFill>
                <a:latin typeface="Noto Sans"/>
                <a:cs typeface="Noto Sans"/>
              </a:rPr>
              <a:t>Azure</a:t>
            </a:r>
            <a:r>
              <a:rPr dirty="0" sz="1250" spc="-35">
                <a:solidFill>
                  <a:srgbClr val="AEC5D8"/>
                </a:solidFill>
                <a:latin typeface="Noto Sans"/>
                <a:cs typeface="Noto Sans"/>
              </a:rPr>
              <a:t> </a:t>
            </a:r>
            <a:r>
              <a:rPr dirty="0" sz="1250" spc="-10">
                <a:solidFill>
                  <a:srgbClr val="AEC5D8"/>
                </a:solidFill>
                <a:latin typeface="Noto Sans"/>
                <a:cs typeface="Noto Sans"/>
              </a:rPr>
              <a:t>labs.</a:t>
            </a:r>
            <a:endParaRPr sz="1250">
              <a:latin typeface="Noto Sans"/>
              <a:cs typeface="Noto Sans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1378056" y="6483502"/>
            <a:ext cx="156210" cy="163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60">
                <a:solidFill>
                  <a:srgbClr val="34B3CE"/>
                </a:solidFill>
                <a:latin typeface="Arial Black"/>
                <a:cs typeface="Arial Black"/>
              </a:rPr>
              <a:t>30</a:t>
            </a:r>
            <a:endParaRPr sz="9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77D3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OpenAI</dc:creator>
  <dc:subject>Day 1 Student Presentation: Cloud Computing Foundations and Azure Basics</dc:subject>
  <dc:title>Cloud Computing Foundations &amp;amp; Azure Basics</dc:title>
  <dcterms:created xsi:type="dcterms:W3CDTF">2026-10-18T19:18:09Z</dcterms:created>
  <dcterms:modified xsi:type="dcterms:W3CDTF">2026-10-18T19:18:09Z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2026-10-18T00:00:00Z</vt:filetime>
  </property>
  <property fmtid="{D5CDD505-2E9C-101B-9397-08002B2CF9AE}" pid="4" name="Creator">
    <vt:lpwstr>Impress</vt:lpwstr>
  </property>
  <property fmtid="{D5CDD505-2E9C-101B-9397-08002B2CF9AE}" pid="5" name="Producer">
    <vt:lpwstr>LibreOffice 25.2.3.2 (X86_64) / LibreOffice Community</vt:lpwstr>
  </property>
  <property fmtid="{D5CDD505-2E9C-101B-9397-08002B2CF9AE}" pid="6" name="LastSaved">
    <vt:filetime>2026-10-18T00:00:00Z</vt:filetime>
  </property>
</Properties>
</file>