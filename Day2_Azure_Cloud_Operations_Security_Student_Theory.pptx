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0243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0243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0243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0243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F4F7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02919" y="6510235"/>
            <a:ext cx="11183620" cy="635"/>
          </a:xfrm>
          <a:custGeom>
            <a:avLst/>
            <a:gdLst/>
            <a:ahLst/>
            <a:cxnLst/>
            <a:rect l="l" t="t" r="r" b="b"/>
            <a:pathLst>
              <a:path w="11183620" h="634">
                <a:moveTo>
                  <a:pt x="0" y="0"/>
                </a:moveTo>
                <a:lnTo>
                  <a:pt x="11183035" y="368"/>
                </a:lnTo>
              </a:path>
            </a:pathLst>
          </a:custGeom>
          <a:ln w="10079">
            <a:solidFill>
              <a:srgbClr val="D8E2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584" y="474014"/>
            <a:ext cx="10673080" cy="41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0243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20" y="6577858"/>
            <a:ext cx="3028950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251617" y="6577858"/>
            <a:ext cx="1236345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83581" y="6579872"/>
            <a:ext cx="303530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28199"/>
                </a:solidFill>
                <a:latin typeface="Arial"/>
                <a:cs typeface="Arial"/>
              </a:defRPr>
            </a:lvl1pPr>
          </a:lstStyle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arn.microsoft.com/en-us/azure/virtual-machines/states-billing" TargetMode="External"/><Relationship Id="rId3" Type="http://schemas.openxmlformats.org/officeDocument/2006/relationships/hyperlink" Target="https://learn.microsoft.com/en-us/azure/virtual-machine-scale-sets/overview" TargetMode="External"/><Relationship Id="rId4" Type="http://schemas.openxmlformats.org/officeDocument/2006/relationships/hyperlink" Target="https://learn.microsoft.com/en-us/azure/virtual-machine-scale-sets/virtual-machine-scale-sets-autoscale-overview" TargetMode="External"/><Relationship Id="rId5" Type="http://schemas.openxmlformats.org/officeDocument/2006/relationships/hyperlink" Target="https://learn.microsoft.com/en-us/azure/virtual-network/network-overview" TargetMode="External"/><Relationship Id="rId6" Type="http://schemas.openxmlformats.org/officeDocument/2006/relationships/hyperlink" Target="https://learn.microsoft.com/en-us/azure/nat-gateway/nat-gateway-design" TargetMode="External"/><Relationship Id="rId7" Type="http://schemas.openxmlformats.org/officeDocument/2006/relationships/hyperlink" Target="https://learn.microsoft.com/en-us/azure/virtual-machines/linux/expand-disks" TargetMode="External"/><Relationship Id="rId8" Type="http://schemas.openxmlformats.org/officeDocument/2006/relationships/hyperlink" Target="https://learn.microsoft.com/en-us/azure/virtual-machines/managed-disks-overview" TargetMode="Externa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arn.microsoft.com/en-us/azure/storage/blobs/anonymous-read-access-configure" TargetMode="External"/><Relationship Id="rId3" Type="http://schemas.openxmlformats.org/officeDocument/2006/relationships/hyperlink" Target="https://learn.microsoft.com/en-us/azure/storage/blobs/lifecycle-management-overview" TargetMode="External"/><Relationship Id="rId4" Type="http://schemas.openxmlformats.org/officeDocument/2006/relationships/hyperlink" Target="https://learn.microsoft.com/en-us/azure/key-vault/general/about-keys-secrets-certificates" TargetMode="External"/><Relationship Id="rId5" Type="http://schemas.openxmlformats.org/officeDocument/2006/relationships/hyperlink" Target="https://learn.microsoft.com/en-us/azure/storage/common/customer-managed-keys-configure-new-account" TargetMode="External"/><Relationship Id="rId6" Type="http://schemas.openxmlformats.org/officeDocument/2006/relationships/hyperlink" Target="https://learn.microsoft.com/en-us/azure/azure-monitor/overview" TargetMode="External"/><Relationship Id="rId7" Type="http://schemas.openxmlformats.org/officeDocument/2006/relationships/hyperlink" Target="https://learn.microsoft.com/en-us/azure/azure-monitor/alerts/tutorial-metric-alert" TargetMode="External"/><Relationship Id="rId8" Type="http://schemas.openxmlformats.org/officeDocument/2006/relationships/hyperlink" Target="https://learn.microsoft.com/en-us/azure/cost-management-billing/costs/understand-cost-mgt-data" TargetMode="External"/><Relationship Id="rId9" Type="http://schemas.openxmlformats.org/officeDocument/2006/relationships/hyperlink" Target="https://kodekloud.com/courses/az-104-microsoft-azure-administrator/" TargetMode="External"/><Relationship Id="rId10" Type="http://schemas.openxmlformats.org/officeDocument/2006/relationships/hyperlink" Target="https://kodekloud.com/courses/az900-microsoft-azure-fundamentals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10243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6350" y="-6705"/>
            <a:ext cx="12197715" cy="6870700"/>
            <a:chOff x="-6350" y="-6705"/>
            <a:chExt cx="12197715" cy="6870700"/>
          </a:xfrm>
        </p:grpSpPr>
        <p:sp>
          <p:nvSpPr>
            <p:cNvPr id="4" name="object 4"/>
            <p:cNvSpPr/>
            <p:nvPr/>
          </p:nvSpPr>
          <p:spPr>
            <a:xfrm>
              <a:off x="-355" y="-355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390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95873" y="6857631"/>
                  </a:lnTo>
                  <a:lnTo>
                    <a:pt x="12191390" y="6857631"/>
                  </a:lnTo>
                  <a:lnTo>
                    <a:pt x="12191390" y="0"/>
                  </a:lnTo>
                  <a:close/>
                </a:path>
              </a:pathLst>
            </a:custGeom>
            <a:solidFill>
              <a:srgbClr val="102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-355"/>
              <a:ext cx="164465" cy="6858000"/>
            </a:xfrm>
            <a:custGeom>
              <a:avLst/>
              <a:gdLst/>
              <a:ahLst/>
              <a:cxnLst/>
              <a:rect l="l" t="t" r="r" b="b"/>
              <a:pathLst>
                <a:path w="164465" h="6858000">
                  <a:moveTo>
                    <a:pt x="164160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82080" y="6857631"/>
                  </a:lnTo>
                  <a:lnTo>
                    <a:pt x="164160" y="6857631"/>
                  </a:lnTo>
                  <a:lnTo>
                    <a:pt x="16416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-355"/>
              <a:ext cx="164465" cy="6858000"/>
            </a:xfrm>
            <a:custGeom>
              <a:avLst/>
              <a:gdLst/>
              <a:ahLst/>
              <a:cxnLst/>
              <a:rect l="l" t="t" r="r" b="b"/>
              <a:pathLst>
                <a:path w="164465" h="6858000">
                  <a:moveTo>
                    <a:pt x="82080" y="6857631"/>
                  </a:moveTo>
                  <a:lnTo>
                    <a:pt x="0" y="6857631"/>
                  </a:lnTo>
                  <a:lnTo>
                    <a:pt x="0" y="0"/>
                  </a:lnTo>
                  <a:lnTo>
                    <a:pt x="164160" y="0"/>
                  </a:lnTo>
                  <a:lnTo>
                    <a:pt x="164160" y="6857631"/>
                  </a:lnTo>
                  <a:lnTo>
                    <a:pt x="82080" y="6857631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503919" y="136804"/>
              <a:ext cx="3429000" cy="3429635"/>
            </a:xfrm>
            <a:custGeom>
              <a:avLst/>
              <a:gdLst/>
              <a:ahLst/>
              <a:cxnLst/>
              <a:rect l="l" t="t" r="r" b="b"/>
              <a:pathLst>
                <a:path w="3429000" h="3429635">
                  <a:moveTo>
                    <a:pt x="1714677" y="0"/>
                  </a:moveTo>
                  <a:lnTo>
                    <a:pt x="1664570" y="735"/>
                  </a:lnTo>
                  <a:lnTo>
                    <a:pt x="1614588" y="2934"/>
                  </a:lnTo>
                  <a:lnTo>
                    <a:pt x="1564761" y="6589"/>
                  </a:lnTo>
                  <a:lnTo>
                    <a:pt x="1515120" y="11690"/>
                  </a:lnTo>
                  <a:lnTo>
                    <a:pt x="1465697" y="18230"/>
                  </a:lnTo>
                  <a:lnTo>
                    <a:pt x="1416522" y="26198"/>
                  </a:lnTo>
                  <a:lnTo>
                    <a:pt x="1367628" y="35586"/>
                  </a:lnTo>
                  <a:lnTo>
                    <a:pt x="1319044" y="46385"/>
                  </a:lnTo>
                  <a:lnTo>
                    <a:pt x="1270803" y="58586"/>
                  </a:lnTo>
                  <a:lnTo>
                    <a:pt x="1222935" y="72181"/>
                  </a:lnTo>
                  <a:lnTo>
                    <a:pt x="1175471" y="87160"/>
                  </a:lnTo>
                  <a:lnTo>
                    <a:pt x="1128442" y="103515"/>
                  </a:lnTo>
                  <a:lnTo>
                    <a:pt x="1081881" y="121236"/>
                  </a:lnTo>
                  <a:lnTo>
                    <a:pt x="1035817" y="140316"/>
                  </a:lnTo>
                  <a:lnTo>
                    <a:pt x="990282" y="160744"/>
                  </a:lnTo>
                  <a:lnTo>
                    <a:pt x="945306" y="182513"/>
                  </a:lnTo>
                  <a:lnTo>
                    <a:pt x="900922" y="205612"/>
                  </a:lnTo>
                  <a:lnTo>
                    <a:pt x="857161" y="230035"/>
                  </a:lnTo>
                  <a:lnTo>
                    <a:pt x="814134" y="255721"/>
                  </a:lnTo>
                  <a:lnTo>
                    <a:pt x="771950" y="282606"/>
                  </a:lnTo>
                  <a:lnTo>
                    <a:pt x="730630" y="310665"/>
                  </a:lnTo>
                  <a:lnTo>
                    <a:pt x="690197" y="339878"/>
                  </a:lnTo>
                  <a:lnTo>
                    <a:pt x="650673" y="370223"/>
                  </a:lnTo>
                  <a:lnTo>
                    <a:pt x="612080" y="401676"/>
                  </a:lnTo>
                  <a:lnTo>
                    <a:pt x="574440" y="434215"/>
                  </a:lnTo>
                  <a:lnTo>
                    <a:pt x="537776" y="467819"/>
                  </a:lnTo>
                  <a:lnTo>
                    <a:pt x="502110" y="502465"/>
                  </a:lnTo>
                  <a:lnTo>
                    <a:pt x="467464" y="538132"/>
                  </a:lnTo>
                  <a:lnTo>
                    <a:pt x="433860" y="574796"/>
                  </a:lnTo>
                  <a:lnTo>
                    <a:pt x="401320" y="612435"/>
                  </a:lnTo>
                  <a:lnTo>
                    <a:pt x="369867" y="651028"/>
                  </a:lnTo>
                  <a:lnTo>
                    <a:pt x="339523" y="690552"/>
                  </a:lnTo>
                  <a:lnTo>
                    <a:pt x="310310" y="730986"/>
                  </a:lnTo>
                  <a:lnTo>
                    <a:pt x="282250" y="772305"/>
                  </a:lnTo>
                  <a:lnTo>
                    <a:pt x="255366" y="814490"/>
                  </a:lnTo>
                  <a:lnTo>
                    <a:pt x="229679" y="857516"/>
                  </a:lnTo>
                  <a:lnTo>
                    <a:pt x="205260" y="901275"/>
                  </a:lnTo>
                  <a:lnTo>
                    <a:pt x="182169" y="945649"/>
                  </a:lnTo>
                  <a:lnTo>
                    <a:pt x="160415" y="990610"/>
                  </a:lnTo>
                  <a:lnTo>
                    <a:pt x="140005" y="1036126"/>
                  </a:lnTo>
                  <a:lnTo>
                    <a:pt x="120948" y="1082167"/>
                  </a:lnTo>
                  <a:lnTo>
                    <a:pt x="103251" y="1128703"/>
                  </a:lnTo>
                  <a:lnTo>
                    <a:pt x="86924" y="1175703"/>
                  </a:lnTo>
                  <a:lnTo>
                    <a:pt x="71974" y="1223138"/>
                  </a:lnTo>
                  <a:lnTo>
                    <a:pt x="58408" y="1270976"/>
                  </a:lnTo>
                  <a:lnTo>
                    <a:pt x="46237" y="1319187"/>
                  </a:lnTo>
                  <a:lnTo>
                    <a:pt x="35466" y="1367742"/>
                  </a:lnTo>
                  <a:lnTo>
                    <a:pt x="26106" y="1416609"/>
                  </a:lnTo>
                  <a:lnTo>
                    <a:pt x="18163" y="1465758"/>
                  </a:lnTo>
                  <a:lnTo>
                    <a:pt x="11646" y="1515159"/>
                  </a:lnTo>
                  <a:lnTo>
                    <a:pt x="6563" y="1564782"/>
                  </a:lnTo>
                  <a:lnTo>
                    <a:pt x="2922" y="1614597"/>
                  </a:lnTo>
                  <a:lnTo>
                    <a:pt x="731" y="1664572"/>
                  </a:lnTo>
                  <a:lnTo>
                    <a:pt x="0" y="1714677"/>
                  </a:lnTo>
                  <a:lnTo>
                    <a:pt x="731" y="1764781"/>
                  </a:lnTo>
                  <a:lnTo>
                    <a:pt x="2922" y="1814755"/>
                  </a:lnTo>
                  <a:lnTo>
                    <a:pt x="6563" y="1864568"/>
                  </a:lnTo>
                  <a:lnTo>
                    <a:pt x="11646" y="1914190"/>
                  </a:lnTo>
                  <a:lnTo>
                    <a:pt x="18163" y="1963591"/>
                  </a:lnTo>
                  <a:lnTo>
                    <a:pt x="26106" y="2012740"/>
                  </a:lnTo>
                  <a:lnTo>
                    <a:pt x="35466" y="2061607"/>
                  </a:lnTo>
                  <a:lnTo>
                    <a:pt x="46237" y="2110162"/>
                  </a:lnTo>
                  <a:lnTo>
                    <a:pt x="58408" y="2158374"/>
                  </a:lnTo>
                  <a:lnTo>
                    <a:pt x="71974" y="2206213"/>
                  </a:lnTo>
                  <a:lnTo>
                    <a:pt x="86924" y="2253648"/>
                  </a:lnTo>
                  <a:lnTo>
                    <a:pt x="103251" y="2300649"/>
                  </a:lnTo>
                  <a:lnTo>
                    <a:pt x="120948" y="2347185"/>
                  </a:lnTo>
                  <a:lnTo>
                    <a:pt x="140005" y="2393227"/>
                  </a:lnTo>
                  <a:lnTo>
                    <a:pt x="160415" y="2438744"/>
                  </a:lnTo>
                  <a:lnTo>
                    <a:pt x="182169" y="2483705"/>
                  </a:lnTo>
                  <a:lnTo>
                    <a:pt x="205260" y="2528080"/>
                  </a:lnTo>
                  <a:lnTo>
                    <a:pt x="229679" y="2571838"/>
                  </a:lnTo>
                  <a:lnTo>
                    <a:pt x="255366" y="2614865"/>
                  </a:lnTo>
                  <a:lnTo>
                    <a:pt x="282250" y="2657049"/>
                  </a:lnTo>
                  <a:lnTo>
                    <a:pt x="310310" y="2698369"/>
                  </a:lnTo>
                  <a:lnTo>
                    <a:pt x="339523" y="2738802"/>
                  </a:lnTo>
                  <a:lnTo>
                    <a:pt x="369867" y="2778326"/>
                  </a:lnTo>
                  <a:lnTo>
                    <a:pt x="401320" y="2816919"/>
                  </a:lnTo>
                  <a:lnTo>
                    <a:pt x="433860" y="2854559"/>
                  </a:lnTo>
                  <a:lnTo>
                    <a:pt x="467464" y="2891223"/>
                  </a:lnTo>
                  <a:lnTo>
                    <a:pt x="502110" y="2926889"/>
                  </a:lnTo>
                  <a:lnTo>
                    <a:pt x="537776" y="2961535"/>
                  </a:lnTo>
                  <a:lnTo>
                    <a:pt x="574440" y="2995139"/>
                  </a:lnTo>
                  <a:lnTo>
                    <a:pt x="612080" y="3027679"/>
                  </a:lnTo>
                  <a:lnTo>
                    <a:pt x="650673" y="3059132"/>
                  </a:lnTo>
                  <a:lnTo>
                    <a:pt x="690197" y="3089476"/>
                  </a:lnTo>
                  <a:lnTo>
                    <a:pt x="730630" y="3118689"/>
                  </a:lnTo>
                  <a:lnTo>
                    <a:pt x="771950" y="3146749"/>
                  </a:lnTo>
                  <a:lnTo>
                    <a:pt x="814134" y="3173633"/>
                  </a:lnTo>
                  <a:lnTo>
                    <a:pt x="857161" y="3199320"/>
                  </a:lnTo>
                  <a:lnTo>
                    <a:pt x="900922" y="3223740"/>
                  </a:lnTo>
                  <a:lnTo>
                    <a:pt x="945306" y="3246839"/>
                  </a:lnTo>
                  <a:lnTo>
                    <a:pt x="990282" y="3268606"/>
                  </a:lnTo>
                  <a:lnTo>
                    <a:pt x="1035817" y="3289034"/>
                  </a:lnTo>
                  <a:lnTo>
                    <a:pt x="1081881" y="3308113"/>
                  </a:lnTo>
                  <a:lnTo>
                    <a:pt x="1128442" y="3325834"/>
                  </a:lnTo>
                  <a:lnTo>
                    <a:pt x="1175471" y="3342189"/>
                  </a:lnTo>
                  <a:lnTo>
                    <a:pt x="1222935" y="3357168"/>
                  </a:lnTo>
                  <a:lnTo>
                    <a:pt x="1270803" y="3370764"/>
                  </a:lnTo>
                  <a:lnTo>
                    <a:pt x="1319044" y="3382966"/>
                  </a:lnTo>
                  <a:lnTo>
                    <a:pt x="1367628" y="3393765"/>
                  </a:lnTo>
                  <a:lnTo>
                    <a:pt x="1416522" y="3403154"/>
                  </a:lnTo>
                  <a:lnTo>
                    <a:pt x="1465697" y="3411123"/>
                  </a:lnTo>
                  <a:lnTo>
                    <a:pt x="1515120" y="3417663"/>
                  </a:lnTo>
                  <a:lnTo>
                    <a:pt x="1564761" y="3422765"/>
                  </a:lnTo>
                  <a:lnTo>
                    <a:pt x="1614588" y="3426420"/>
                  </a:lnTo>
                  <a:lnTo>
                    <a:pt x="1664570" y="3428620"/>
                  </a:lnTo>
                  <a:lnTo>
                    <a:pt x="1714677" y="3429355"/>
                  </a:lnTo>
                  <a:lnTo>
                    <a:pt x="1764728" y="3428620"/>
                  </a:lnTo>
                  <a:lnTo>
                    <a:pt x="1814661" y="3426420"/>
                  </a:lnTo>
                  <a:lnTo>
                    <a:pt x="1864444" y="3422765"/>
                  </a:lnTo>
                  <a:lnTo>
                    <a:pt x="1914047" y="3417663"/>
                  </a:lnTo>
                  <a:lnTo>
                    <a:pt x="1963436" y="3411123"/>
                  </a:lnTo>
                  <a:lnTo>
                    <a:pt x="2012582" y="3403154"/>
                  </a:lnTo>
                  <a:lnTo>
                    <a:pt x="2061452" y="3393765"/>
                  </a:lnTo>
                  <a:lnTo>
                    <a:pt x="2110016" y="3382966"/>
                  </a:lnTo>
                  <a:lnTo>
                    <a:pt x="2158241" y="3370764"/>
                  </a:lnTo>
                  <a:lnTo>
                    <a:pt x="2206096" y="3357168"/>
                  </a:lnTo>
                  <a:lnTo>
                    <a:pt x="2253549" y="3342189"/>
                  </a:lnTo>
                  <a:lnTo>
                    <a:pt x="2300570" y="3325834"/>
                  </a:lnTo>
                  <a:lnTo>
                    <a:pt x="2347126" y="3308113"/>
                  </a:lnTo>
                  <a:lnTo>
                    <a:pt x="2393186" y="3289034"/>
                  </a:lnTo>
                  <a:lnTo>
                    <a:pt x="2438719" y="3268606"/>
                  </a:lnTo>
                  <a:lnTo>
                    <a:pt x="2483693" y="3246839"/>
                  </a:lnTo>
                  <a:lnTo>
                    <a:pt x="2528077" y="3223740"/>
                  </a:lnTo>
                  <a:lnTo>
                    <a:pt x="2571838" y="3199320"/>
                  </a:lnTo>
                  <a:lnTo>
                    <a:pt x="2614865" y="3173633"/>
                  </a:lnTo>
                  <a:lnTo>
                    <a:pt x="2657049" y="3146749"/>
                  </a:lnTo>
                  <a:lnTo>
                    <a:pt x="2698369" y="3118689"/>
                  </a:lnTo>
                  <a:lnTo>
                    <a:pt x="2738802" y="3089476"/>
                  </a:lnTo>
                  <a:lnTo>
                    <a:pt x="2778326" y="3059132"/>
                  </a:lnTo>
                  <a:lnTo>
                    <a:pt x="2816919" y="3027679"/>
                  </a:lnTo>
                  <a:lnTo>
                    <a:pt x="2854559" y="2995139"/>
                  </a:lnTo>
                  <a:lnTo>
                    <a:pt x="2891223" y="2961535"/>
                  </a:lnTo>
                  <a:lnTo>
                    <a:pt x="2926889" y="2926889"/>
                  </a:lnTo>
                  <a:lnTo>
                    <a:pt x="2961535" y="2891223"/>
                  </a:lnTo>
                  <a:lnTo>
                    <a:pt x="2995139" y="2854559"/>
                  </a:lnTo>
                  <a:lnTo>
                    <a:pt x="3027679" y="2816919"/>
                  </a:lnTo>
                  <a:lnTo>
                    <a:pt x="3059132" y="2778326"/>
                  </a:lnTo>
                  <a:lnTo>
                    <a:pt x="3089476" y="2738802"/>
                  </a:lnTo>
                  <a:lnTo>
                    <a:pt x="3118689" y="2698369"/>
                  </a:lnTo>
                  <a:lnTo>
                    <a:pt x="3146749" y="2657049"/>
                  </a:lnTo>
                  <a:lnTo>
                    <a:pt x="3173633" y="2614865"/>
                  </a:lnTo>
                  <a:lnTo>
                    <a:pt x="3199320" y="2571838"/>
                  </a:lnTo>
                  <a:lnTo>
                    <a:pt x="3223739" y="2528080"/>
                  </a:lnTo>
                  <a:lnTo>
                    <a:pt x="3246830" y="2483705"/>
                  </a:lnTo>
                  <a:lnTo>
                    <a:pt x="3268584" y="2438744"/>
                  </a:lnTo>
                  <a:lnTo>
                    <a:pt x="3288994" y="2393227"/>
                  </a:lnTo>
                  <a:lnTo>
                    <a:pt x="3308051" y="2347185"/>
                  </a:lnTo>
                  <a:lnTo>
                    <a:pt x="3325748" y="2300649"/>
                  </a:lnTo>
                  <a:lnTo>
                    <a:pt x="3342075" y="2253648"/>
                  </a:lnTo>
                  <a:lnTo>
                    <a:pt x="3357025" y="2206213"/>
                  </a:lnTo>
                  <a:lnTo>
                    <a:pt x="3370591" y="2158374"/>
                  </a:lnTo>
                  <a:lnTo>
                    <a:pt x="3382762" y="2110162"/>
                  </a:lnTo>
                  <a:lnTo>
                    <a:pt x="3393533" y="2061607"/>
                  </a:lnTo>
                  <a:lnTo>
                    <a:pt x="3402893" y="2012740"/>
                  </a:lnTo>
                  <a:lnTo>
                    <a:pt x="3410836" y="1963591"/>
                  </a:lnTo>
                  <a:lnTo>
                    <a:pt x="3417353" y="1914190"/>
                  </a:lnTo>
                  <a:lnTo>
                    <a:pt x="3422436" y="1864568"/>
                  </a:lnTo>
                  <a:lnTo>
                    <a:pt x="3426077" y="1814755"/>
                  </a:lnTo>
                  <a:lnTo>
                    <a:pt x="3428268" y="1764781"/>
                  </a:lnTo>
                  <a:lnTo>
                    <a:pt x="3429000" y="1714677"/>
                  </a:lnTo>
                  <a:lnTo>
                    <a:pt x="3428268" y="1664572"/>
                  </a:lnTo>
                  <a:lnTo>
                    <a:pt x="3426077" y="1614597"/>
                  </a:lnTo>
                  <a:lnTo>
                    <a:pt x="3422436" y="1564782"/>
                  </a:lnTo>
                  <a:lnTo>
                    <a:pt x="3417353" y="1515159"/>
                  </a:lnTo>
                  <a:lnTo>
                    <a:pt x="3410836" y="1465758"/>
                  </a:lnTo>
                  <a:lnTo>
                    <a:pt x="3402893" y="1416609"/>
                  </a:lnTo>
                  <a:lnTo>
                    <a:pt x="3393533" y="1367742"/>
                  </a:lnTo>
                  <a:lnTo>
                    <a:pt x="3382762" y="1319187"/>
                  </a:lnTo>
                  <a:lnTo>
                    <a:pt x="3370591" y="1270976"/>
                  </a:lnTo>
                  <a:lnTo>
                    <a:pt x="3357025" y="1223138"/>
                  </a:lnTo>
                  <a:lnTo>
                    <a:pt x="3342075" y="1175703"/>
                  </a:lnTo>
                  <a:lnTo>
                    <a:pt x="3325748" y="1128703"/>
                  </a:lnTo>
                  <a:lnTo>
                    <a:pt x="3308051" y="1082167"/>
                  </a:lnTo>
                  <a:lnTo>
                    <a:pt x="3288994" y="1036126"/>
                  </a:lnTo>
                  <a:lnTo>
                    <a:pt x="3268584" y="990610"/>
                  </a:lnTo>
                  <a:lnTo>
                    <a:pt x="3246830" y="945649"/>
                  </a:lnTo>
                  <a:lnTo>
                    <a:pt x="3223739" y="901275"/>
                  </a:lnTo>
                  <a:lnTo>
                    <a:pt x="3199320" y="857516"/>
                  </a:lnTo>
                  <a:lnTo>
                    <a:pt x="3173633" y="814490"/>
                  </a:lnTo>
                  <a:lnTo>
                    <a:pt x="3146749" y="772305"/>
                  </a:lnTo>
                  <a:lnTo>
                    <a:pt x="3118689" y="730986"/>
                  </a:lnTo>
                  <a:lnTo>
                    <a:pt x="3089476" y="690552"/>
                  </a:lnTo>
                  <a:lnTo>
                    <a:pt x="3059132" y="651028"/>
                  </a:lnTo>
                  <a:lnTo>
                    <a:pt x="3027679" y="612435"/>
                  </a:lnTo>
                  <a:lnTo>
                    <a:pt x="2995139" y="574796"/>
                  </a:lnTo>
                  <a:lnTo>
                    <a:pt x="2961535" y="538132"/>
                  </a:lnTo>
                  <a:lnTo>
                    <a:pt x="2926889" y="502465"/>
                  </a:lnTo>
                  <a:lnTo>
                    <a:pt x="2891223" y="467819"/>
                  </a:lnTo>
                  <a:lnTo>
                    <a:pt x="2854559" y="434215"/>
                  </a:lnTo>
                  <a:lnTo>
                    <a:pt x="2816919" y="401676"/>
                  </a:lnTo>
                  <a:lnTo>
                    <a:pt x="2778326" y="370223"/>
                  </a:lnTo>
                  <a:lnTo>
                    <a:pt x="2738802" y="339878"/>
                  </a:lnTo>
                  <a:lnTo>
                    <a:pt x="2698369" y="310665"/>
                  </a:lnTo>
                  <a:lnTo>
                    <a:pt x="2657049" y="282606"/>
                  </a:lnTo>
                  <a:lnTo>
                    <a:pt x="2614865" y="255721"/>
                  </a:lnTo>
                  <a:lnTo>
                    <a:pt x="2571838" y="230035"/>
                  </a:lnTo>
                  <a:lnTo>
                    <a:pt x="2528077" y="205612"/>
                  </a:lnTo>
                  <a:lnTo>
                    <a:pt x="2483693" y="182513"/>
                  </a:lnTo>
                  <a:lnTo>
                    <a:pt x="2438719" y="160744"/>
                  </a:lnTo>
                  <a:lnTo>
                    <a:pt x="2393186" y="140316"/>
                  </a:lnTo>
                  <a:lnTo>
                    <a:pt x="2347126" y="121236"/>
                  </a:lnTo>
                  <a:lnTo>
                    <a:pt x="2300570" y="103515"/>
                  </a:lnTo>
                  <a:lnTo>
                    <a:pt x="2253549" y="87160"/>
                  </a:lnTo>
                  <a:lnTo>
                    <a:pt x="2206096" y="72181"/>
                  </a:lnTo>
                  <a:lnTo>
                    <a:pt x="2158241" y="58586"/>
                  </a:lnTo>
                  <a:lnTo>
                    <a:pt x="2110016" y="46385"/>
                  </a:lnTo>
                  <a:lnTo>
                    <a:pt x="2061452" y="35586"/>
                  </a:lnTo>
                  <a:lnTo>
                    <a:pt x="2012582" y="26198"/>
                  </a:lnTo>
                  <a:lnTo>
                    <a:pt x="1963436" y="18230"/>
                  </a:lnTo>
                  <a:lnTo>
                    <a:pt x="1914047" y="11690"/>
                  </a:lnTo>
                  <a:lnTo>
                    <a:pt x="1864444" y="6589"/>
                  </a:lnTo>
                  <a:lnTo>
                    <a:pt x="1814661" y="2934"/>
                  </a:lnTo>
                  <a:lnTo>
                    <a:pt x="1764728" y="735"/>
                  </a:lnTo>
                  <a:lnTo>
                    <a:pt x="1714677" y="0"/>
                  </a:lnTo>
                  <a:close/>
                </a:path>
              </a:pathLst>
            </a:custGeom>
            <a:solidFill>
              <a:srgbClr val="15385A">
                <a:alpha val="8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915400" y="3520439"/>
              <a:ext cx="3063240" cy="3063240"/>
            </a:xfrm>
            <a:custGeom>
              <a:avLst/>
              <a:gdLst/>
              <a:ahLst/>
              <a:cxnLst/>
              <a:rect l="l" t="t" r="r" b="b"/>
              <a:pathLst>
                <a:path w="3063240" h="3063240">
                  <a:moveTo>
                    <a:pt x="1531797" y="0"/>
                  </a:moveTo>
                  <a:lnTo>
                    <a:pt x="1481436" y="825"/>
                  </a:lnTo>
                  <a:lnTo>
                    <a:pt x="1431223" y="3294"/>
                  </a:lnTo>
                  <a:lnTo>
                    <a:pt x="1381198" y="7396"/>
                  </a:lnTo>
                  <a:lnTo>
                    <a:pt x="1331400" y="13123"/>
                  </a:lnTo>
                  <a:lnTo>
                    <a:pt x="1281868" y="20463"/>
                  </a:lnTo>
                  <a:lnTo>
                    <a:pt x="1232641" y="29407"/>
                  </a:lnTo>
                  <a:lnTo>
                    <a:pt x="1183758" y="39944"/>
                  </a:lnTo>
                  <a:lnTo>
                    <a:pt x="1135257" y="52065"/>
                  </a:lnTo>
                  <a:lnTo>
                    <a:pt x="1087179" y="65759"/>
                  </a:lnTo>
                  <a:lnTo>
                    <a:pt x="1039561" y="81017"/>
                  </a:lnTo>
                  <a:lnTo>
                    <a:pt x="992444" y="97829"/>
                  </a:lnTo>
                  <a:lnTo>
                    <a:pt x="945865" y="116184"/>
                  </a:lnTo>
                  <a:lnTo>
                    <a:pt x="899865" y="136072"/>
                  </a:lnTo>
                  <a:lnTo>
                    <a:pt x="854481" y="157484"/>
                  </a:lnTo>
                  <a:lnTo>
                    <a:pt x="809753" y="180409"/>
                  </a:lnTo>
                  <a:lnTo>
                    <a:pt x="765721" y="204838"/>
                  </a:lnTo>
                  <a:lnTo>
                    <a:pt x="722517" y="230767"/>
                  </a:lnTo>
                  <a:lnTo>
                    <a:pt x="680270" y="258043"/>
                  </a:lnTo>
                  <a:lnTo>
                    <a:pt x="639009" y="286638"/>
                  </a:lnTo>
                  <a:lnTo>
                    <a:pt x="598760" y="316525"/>
                  </a:lnTo>
                  <a:lnTo>
                    <a:pt x="559554" y="347675"/>
                  </a:lnTo>
                  <a:lnTo>
                    <a:pt x="521418" y="380061"/>
                  </a:lnTo>
                  <a:lnTo>
                    <a:pt x="484381" y="413654"/>
                  </a:lnTo>
                  <a:lnTo>
                    <a:pt x="448471" y="448427"/>
                  </a:lnTo>
                  <a:lnTo>
                    <a:pt x="413718" y="484351"/>
                  </a:lnTo>
                  <a:lnTo>
                    <a:pt x="380148" y="521399"/>
                  </a:lnTo>
                  <a:lnTo>
                    <a:pt x="347791" y="559543"/>
                  </a:lnTo>
                  <a:lnTo>
                    <a:pt x="316675" y="598755"/>
                  </a:lnTo>
                  <a:lnTo>
                    <a:pt x="286829" y="639006"/>
                  </a:lnTo>
                  <a:lnTo>
                    <a:pt x="258281" y="680270"/>
                  </a:lnTo>
                  <a:lnTo>
                    <a:pt x="231060" y="722517"/>
                  </a:lnTo>
                  <a:lnTo>
                    <a:pt x="205193" y="765721"/>
                  </a:lnTo>
                  <a:lnTo>
                    <a:pt x="180761" y="809749"/>
                  </a:lnTo>
                  <a:lnTo>
                    <a:pt x="157824" y="854466"/>
                  </a:lnTo>
                  <a:lnTo>
                    <a:pt x="136395" y="899832"/>
                  </a:lnTo>
                  <a:lnTo>
                    <a:pt x="116484" y="945810"/>
                  </a:lnTo>
                  <a:lnTo>
                    <a:pt x="98102" y="992361"/>
                  </a:lnTo>
                  <a:lnTo>
                    <a:pt x="81260" y="1039449"/>
                  </a:lnTo>
                  <a:lnTo>
                    <a:pt x="65970" y="1087034"/>
                  </a:lnTo>
                  <a:lnTo>
                    <a:pt x="52243" y="1135079"/>
                  </a:lnTo>
                  <a:lnTo>
                    <a:pt x="40088" y="1183547"/>
                  </a:lnTo>
                  <a:lnTo>
                    <a:pt x="29519" y="1232398"/>
                  </a:lnTo>
                  <a:lnTo>
                    <a:pt x="20545" y="1281595"/>
                  </a:lnTo>
                  <a:lnTo>
                    <a:pt x="13178" y="1331100"/>
                  </a:lnTo>
                  <a:lnTo>
                    <a:pt x="7429" y="1380875"/>
                  </a:lnTo>
                  <a:lnTo>
                    <a:pt x="3309" y="1430883"/>
                  </a:lnTo>
                  <a:lnTo>
                    <a:pt x="829" y="1481084"/>
                  </a:lnTo>
                  <a:lnTo>
                    <a:pt x="0" y="1531442"/>
                  </a:lnTo>
                  <a:lnTo>
                    <a:pt x="829" y="1581799"/>
                  </a:lnTo>
                  <a:lnTo>
                    <a:pt x="3309" y="1632001"/>
                  </a:lnTo>
                  <a:lnTo>
                    <a:pt x="7429" y="1682008"/>
                  </a:lnTo>
                  <a:lnTo>
                    <a:pt x="13178" y="1731783"/>
                  </a:lnTo>
                  <a:lnTo>
                    <a:pt x="20545" y="1781288"/>
                  </a:lnTo>
                  <a:lnTo>
                    <a:pt x="29519" y="1830486"/>
                  </a:lnTo>
                  <a:lnTo>
                    <a:pt x="40088" y="1879337"/>
                  </a:lnTo>
                  <a:lnTo>
                    <a:pt x="52243" y="1927804"/>
                  </a:lnTo>
                  <a:lnTo>
                    <a:pt x="65970" y="1975849"/>
                  </a:lnTo>
                  <a:lnTo>
                    <a:pt x="81260" y="2023435"/>
                  </a:lnTo>
                  <a:lnTo>
                    <a:pt x="98102" y="2070522"/>
                  </a:lnTo>
                  <a:lnTo>
                    <a:pt x="116484" y="2117074"/>
                  </a:lnTo>
                  <a:lnTo>
                    <a:pt x="136395" y="2163052"/>
                  </a:lnTo>
                  <a:lnTo>
                    <a:pt x="157824" y="2208418"/>
                  </a:lnTo>
                  <a:lnTo>
                    <a:pt x="180761" y="2253134"/>
                  </a:lnTo>
                  <a:lnTo>
                    <a:pt x="205193" y="2297163"/>
                  </a:lnTo>
                  <a:lnTo>
                    <a:pt x="231060" y="2340366"/>
                  </a:lnTo>
                  <a:lnTo>
                    <a:pt x="258281" y="2382614"/>
                  </a:lnTo>
                  <a:lnTo>
                    <a:pt x="286829" y="2423877"/>
                  </a:lnTo>
                  <a:lnTo>
                    <a:pt x="316675" y="2464129"/>
                  </a:lnTo>
                  <a:lnTo>
                    <a:pt x="347791" y="2503340"/>
                  </a:lnTo>
                  <a:lnTo>
                    <a:pt x="380148" y="2541484"/>
                  </a:lnTo>
                  <a:lnTo>
                    <a:pt x="413718" y="2578532"/>
                  </a:lnTo>
                  <a:lnTo>
                    <a:pt x="448471" y="2614456"/>
                  </a:lnTo>
                  <a:lnTo>
                    <a:pt x="484381" y="2649229"/>
                  </a:lnTo>
                  <a:lnTo>
                    <a:pt x="521418" y="2682822"/>
                  </a:lnTo>
                  <a:lnTo>
                    <a:pt x="559554" y="2715208"/>
                  </a:lnTo>
                  <a:lnTo>
                    <a:pt x="598760" y="2746358"/>
                  </a:lnTo>
                  <a:lnTo>
                    <a:pt x="639009" y="2776245"/>
                  </a:lnTo>
                  <a:lnTo>
                    <a:pt x="680270" y="2804840"/>
                  </a:lnTo>
                  <a:lnTo>
                    <a:pt x="722517" y="2832117"/>
                  </a:lnTo>
                  <a:lnTo>
                    <a:pt x="765721" y="2858046"/>
                  </a:lnTo>
                  <a:lnTo>
                    <a:pt x="809753" y="2882478"/>
                  </a:lnTo>
                  <a:lnTo>
                    <a:pt x="854481" y="2905415"/>
                  </a:lnTo>
                  <a:lnTo>
                    <a:pt x="899865" y="2926844"/>
                  </a:lnTo>
                  <a:lnTo>
                    <a:pt x="945865" y="2946755"/>
                  </a:lnTo>
                  <a:lnTo>
                    <a:pt x="992444" y="2965137"/>
                  </a:lnTo>
                  <a:lnTo>
                    <a:pt x="1039561" y="2981979"/>
                  </a:lnTo>
                  <a:lnTo>
                    <a:pt x="1087179" y="2997269"/>
                  </a:lnTo>
                  <a:lnTo>
                    <a:pt x="1135257" y="3010996"/>
                  </a:lnTo>
                  <a:lnTo>
                    <a:pt x="1183758" y="3023151"/>
                  </a:lnTo>
                  <a:lnTo>
                    <a:pt x="1232641" y="3033720"/>
                  </a:lnTo>
                  <a:lnTo>
                    <a:pt x="1281868" y="3042694"/>
                  </a:lnTo>
                  <a:lnTo>
                    <a:pt x="1331400" y="3050061"/>
                  </a:lnTo>
                  <a:lnTo>
                    <a:pt x="1381198" y="3055810"/>
                  </a:lnTo>
                  <a:lnTo>
                    <a:pt x="1431223" y="3059930"/>
                  </a:lnTo>
                  <a:lnTo>
                    <a:pt x="1481436" y="3062410"/>
                  </a:lnTo>
                  <a:lnTo>
                    <a:pt x="1531797" y="3063240"/>
                  </a:lnTo>
                  <a:lnTo>
                    <a:pt x="1582096" y="3062410"/>
                  </a:lnTo>
                  <a:lnTo>
                    <a:pt x="1632254" y="3059930"/>
                  </a:lnTo>
                  <a:lnTo>
                    <a:pt x="1682232" y="3055810"/>
                  </a:lnTo>
                  <a:lnTo>
                    <a:pt x="1731989" y="3050061"/>
                  </a:lnTo>
                  <a:lnTo>
                    <a:pt x="1781486" y="3042694"/>
                  </a:lnTo>
                  <a:lnTo>
                    <a:pt x="1830685" y="3033720"/>
                  </a:lnTo>
                  <a:lnTo>
                    <a:pt x="1879545" y="3023151"/>
                  </a:lnTo>
                  <a:lnTo>
                    <a:pt x="1928026" y="3010996"/>
                  </a:lnTo>
                  <a:lnTo>
                    <a:pt x="1976090" y="2997269"/>
                  </a:lnTo>
                  <a:lnTo>
                    <a:pt x="2023696" y="2981979"/>
                  </a:lnTo>
                  <a:lnTo>
                    <a:pt x="2070806" y="2965137"/>
                  </a:lnTo>
                  <a:lnTo>
                    <a:pt x="2117379" y="2946755"/>
                  </a:lnTo>
                  <a:lnTo>
                    <a:pt x="2163377" y="2926844"/>
                  </a:lnTo>
                  <a:lnTo>
                    <a:pt x="2208759" y="2905415"/>
                  </a:lnTo>
                  <a:lnTo>
                    <a:pt x="2253486" y="2882478"/>
                  </a:lnTo>
                  <a:lnTo>
                    <a:pt x="2297518" y="2858046"/>
                  </a:lnTo>
                  <a:lnTo>
                    <a:pt x="2340722" y="2832117"/>
                  </a:lnTo>
                  <a:lnTo>
                    <a:pt x="2382969" y="2804840"/>
                  </a:lnTo>
                  <a:lnTo>
                    <a:pt x="2424230" y="2776245"/>
                  </a:lnTo>
                  <a:lnTo>
                    <a:pt x="2464479" y="2746358"/>
                  </a:lnTo>
                  <a:lnTo>
                    <a:pt x="2503685" y="2715208"/>
                  </a:lnTo>
                  <a:lnTo>
                    <a:pt x="2541821" y="2682822"/>
                  </a:lnTo>
                  <a:lnTo>
                    <a:pt x="2578858" y="2649229"/>
                  </a:lnTo>
                  <a:lnTo>
                    <a:pt x="2614768" y="2614456"/>
                  </a:lnTo>
                  <a:lnTo>
                    <a:pt x="2649521" y="2578532"/>
                  </a:lnTo>
                  <a:lnTo>
                    <a:pt x="2683091" y="2541484"/>
                  </a:lnTo>
                  <a:lnTo>
                    <a:pt x="2715448" y="2503340"/>
                  </a:lnTo>
                  <a:lnTo>
                    <a:pt x="2746564" y="2464129"/>
                  </a:lnTo>
                  <a:lnTo>
                    <a:pt x="2776410" y="2423877"/>
                  </a:lnTo>
                  <a:lnTo>
                    <a:pt x="2804958" y="2382614"/>
                  </a:lnTo>
                  <a:lnTo>
                    <a:pt x="2832179" y="2340366"/>
                  </a:lnTo>
                  <a:lnTo>
                    <a:pt x="2858046" y="2297163"/>
                  </a:lnTo>
                  <a:lnTo>
                    <a:pt x="2882478" y="2253134"/>
                  </a:lnTo>
                  <a:lnTo>
                    <a:pt x="2905415" y="2208418"/>
                  </a:lnTo>
                  <a:lnTo>
                    <a:pt x="2926844" y="2163052"/>
                  </a:lnTo>
                  <a:lnTo>
                    <a:pt x="2946755" y="2117074"/>
                  </a:lnTo>
                  <a:lnTo>
                    <a:pt x="2965137" y="2070522"/>
                  </a:lnTo>
                  <a:lnTo>
                    <a:pt x="2981979" y="2023435"/>
                  </a:lnTo>
                  <a:lnTo>
                    <a:pt x="2997269" y="1975849"/>
                  </a:lnTo>
                  <a:lnTo>
                    <a:pt x="3010996" y="1927804"/>
                  </a:lnTo>
                  <a:lnTo>
                    <a:pt x="3023151" y="1879337"/>
                  </a:lnTo>
                  <a:lnTo>
                    <a:pt x="3033720" y="1830486"/>
                  </a:lnTo>
                  <a:lnTo>
                    <a:pt x="3042694" y="1781288"/>
                  </a:lnTo>
                  <a:lnTo>
                    <a:pt x="3050061" y="1731783"/>
                  </a:lnTo>
                  <a:lnTo>
                    <a:pt x="3055810" y="1682008"/>
                  </a:lnTo>
                  <a:lnTo>
                    <a:pt x="3059930" y="1632001"/>
                  </a:lnTo>
                  <a:lnTo>
                    <a:pt x="3062410" y="1581799"/>
                  </a:lnTo>
                  <a:lnTo>
                    <a:pt x="3063240" y="1531442"/>
                  </a:lnTo>
                  <a:lnTo>
                    <a:pt x="3062410" y="1481084"/>
                  </a:lnTo>
                  <a:lnTo>
                    <a:pt x="3059930" y="1430883"/>
                  </a:lnTo>
                  <a:lnTo>
                    <a:pt x="3055810" y="1380875"/>
                  </a:lnTo>
                  <a:lnTo>
                    <a:pt x="3050061" y="1331100"/>
                  </a:lnTo>
                  <a:lnTo>
                    <a:pt x="3042694" y="1281595"/>
                  </a:lnTo>
                  <a:lnTo>
                    <a:pt x="3033720" y="1232398"/>
                  </a:lnTo>
                  <a:lnTo>
                    <a:pt x="3023151" y="1183547"/>
                  </a:lnTo>
                  <a:lnTo>
                    <a:pt x="3010996" y="1135079"/>
                  </a:lnTo>
                  <a:lnTo>
                    <a:pt x="2997269" y="1087034"/>
                  </a:lnTo>
                  <a:lnTo>
                    <a:pt x="2981979" y="1039449"/>
                  </a:lnTo>
                  <a:lnTo>
                    <a:pt x="2965137" y="992361"/>
                  </a:lnTo>
                  <a:lnTo>
                    <a:pt x="2946755" y="945810"/>
                  </a:lnTo>
                  <a:lnTo>
                    <a:pt x="2926844" y="899832"/>
                  </a:lnTo>
                  <a:lnTo>
                    <a:pt x="2905415" y="854466"/>
                  </a:lnTo>
                  <a:lnTo>
                    <a:pt x="2882478" y="809749"/>
                  </a:lnTo>
                  <a:lnTo>
                    <a:pt x="2858046" y="765721"/>
                  </a:lnTo>
                  <a:lnTo>
                    <a:pt x="2832179" y="722517"/>
                  </a:lnTo>
                  <a:lnTo>
                    <a:pt x="2804958" y="680270"/>
                  </a:lnTo>
                  <a:lnTo>
                    <a:pt x="2776410" y="639006"/>
                  </a:lnTo>
                  <a:lnTo>
                    <a:pt x="2746564" y="598755"/>
                  </a:lnTo>
                  <a:lnTo>
                    <a:pt x="2715448" y="559543"/>
                  </a:lnTo>
                  <a:lnTo>
                    <a:pt x="2683091" y="521399"/>
                  </a:lnTo>
                  <a:lnTo>
                    <a:pt x="2649521" y="484351"/>
                  </a:lnTo>
                  <a:lnTo>
                    <a:pt x="2614768" y="448427"/>
                  </a:lnTo>
                  <a:lnTo>
                    <a:pt x="2578858" y="413654"/>
                  </a:lnTo>
                  <a:lnTo>
                    <a:pt x="2541821" y="380061"/>
                  </a:lnTo>
                  <a:lnTo>
                    <a:pt x="2503685" y="347675"/>
                  </a:lnTo>
                  <a:lnTo>
                    <a:pt x="2464479" y="316525"/>
                  </a:lnTo>
                  <a:lnTo>
                    <a:pt x="2424230" y="286638"/>
                  </a:lnTo>
                  <a:lnTo>
                    <a:pt x="2382969" y="258043"/>
                  </a:lnTo>
                  <a:lnTo>
                    <a:pt x="2340722" y="230767"/>
                  </a:lnTo>
                  <a:lnTo>
                    <a:pt x="2297518" y="204838"/>
                  </a:lnTo>
                  <a:lnTo>
                    <a:pt x="2253486" y="180409"/>
                  </a:lnTo>
                  <a:lnTo>
                    <a:pt x="2208759" y="157484"/>
                  </a:lnTo>
                  <a:lnTo>
                    <a:pt x="2163377" y="136072"/>
                  </a:lnTo>
                  <a:lnTo>
                    <a:pt x="2117379" y="116184"/>
                  </a:lnTo>
                  <a:lnTo>
                    <a:pt x="2070806" y="97829"/>
                  </a:lnTo>
                  <a:lnTo>
                    <a:pt x="2023696" y="81017"/>
                  </a:lnTo>
                  <a:lnTo>
                    <a:pt x="1976090" y="65759"/>
                  </a:lnTo>
                  <a:lnTo>
                    <a:pt x="1928026" y="52065"/>
                  </a:lnTo>
                  <a:lnTo>
                    <a:pt x="1879545" y="39944"/>
                  </a:lnTo>
                  <a:lnTo>
                    <a:pt x="1830685" y="29407"/>
                  </a:lnTo>
                  <a:lnTo>
                    <a:pt x="1781486" y="20463"/>
                  </a:lnTo>
                  <a:lnTo>
                    <a:pt x="1731989" y="13123"/>
                  </a:lnTo>
                  <a:lnTo>
                    <a:pt x="1682232" y="7396"/>
                  </a:lnTo>
                  <a:lnTo>
                    <a:pt x="1632254" y="3294"/>
                  </a:lnTo>
                  <a:lnTo>
                    <a:pt x="1582096" y="825"/>
                  </a:lnTo>
                  <a:lnTo>
                    <a:pt x="1531797" y="0"/>
                  </a:lnTo>
                  <a:close/>
                </a:path>
              </a:pathLst>
            </a:custGeom>
            <a:solidFill>
              <a:srgbClr val="1C4B7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15200" y="1371599"/>
              <a:ext cx="1760855" cy="1012825"/>
            </a:xfrm>
            <a:custGeom>
              <a:avLst/>
              <a:gdLst/>
              <a:ahLst/>
              <a:cxnLst/>
              <a:rect l="l" t="t" r="r" b="b"/>
              <a:pathLst>
                <a:path w="1760854" h="1012825">
                  <a:moveTo>
                    <a:pt x="0" y="0"/>
                  </a:moveTo>
                  <a:lnTo>
                    <a:pt x="1760766" y="1012316"/>
                  </a:lnTo>
                </a:path>
              </a:pathLst>
            </a:custGeom>
            <a:ln w="28079">
              <a:solidFill>
                <a:srgbClr val="4FE5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050045" y="2344673"/>
              <a:ext cx="93980" cy="78740"/>
            </a:xfrm>
            <a:custGeom>
              <a:avLst/>
              <a:gdLst/>
              <a:ahLst/>
              <a:cxnLst/>
              <a:rect l="l" t="t" r="r" b="b"/>
              <a:pathLst>
                <a:path w="93979" h="78739">
                  <a:moveTo>
                    <a:pt x="41757" y="0"/>
                  </a:moveTo>
                  <a:lnTo>
                    <a:pt x="0" y="73088"/>
                  </a:lnTo>
                  <a:lnTo>
                    <a:pt x="93954" y="78486"/>
                  </a:lnTo>
                  <a:lnTo>
                    <a:pt x="41757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098280" y="2423160"/>
              <a:ext cx="1230630" cy="1494155"/>
            </a:xfrm>
            <a:custGeom>
              <a:avLst/>
              <a:gdLst/>
              <a:ahLst/>
              <a:cxnLst/>
              <a:rect l="l" t="t" r="r" b="b"/>
              <a:pathLst>
                <a:path w="1230629" h="1494154">
                  <a:moveTo>
                    <a:pt x="0" y="0"/>
                  </a:moveTo>
                  <a:lnTo>
                    <a:pt x="1230122" y="1493634"/>
                  </a:lnTo>
                </a:path>
              </a:pathLst>
            </a:custGeom>
            <a:ln w="28079">
              <a:solidFill>
                <a:srgbClr val="4FE5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292397" y="3885844"/>
              <a:ext cx="86360" cy="92075"/>
            </a:xfrm>
            <a:custGeom>
              <a:avLst/>
              <a:gdLst/>
              <a:ahLst/>
              <a:cxnLst/>
              <a:rect l="l" t="t" r="r" b="b"/>
              <a:pathLst>
                <a:path w="86359" h="92075">
                  <a:moveTo>
                    <a:pt x="65163" y="0"/>
                  </a:moveTo>
                  <a:lnTo>
                    <a:pt x="0" y="53632"/>
                  </a:lnTo>
                  <a:lnTo>
                    <a:pt x="86042" y="91795"/>
                  </a:lnTo>
                  <a:lnTo>
                    <a:pt x="65163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452359" y="2828874"/>
              <a:ext cx="2401570" cy="1423670"/>
            </a:xfrm>
            <a:custGeom>
              <a:avLst/>
              <a:gdLst/>
              <a:ahLst/>
              <a:cxnLst/>
              <a:rect l="l" t="t" r="r" b="b"/>
              <a:pathLst>
                <a:path w="2401570" h="1423670">
                  <a:moveTo>
                    <a:pt x="0" y="1423085"/>
                  </a:moveTo>
                  <a:lnTo>
                    <a:pt x="2401201" y="0"/>
                  </a:lnTo>
                </a:path>
              </a:pathLst>
            </a:custGeom>
            <a:ln w="28079">
              <a:solidFill>
                <a:srgbClr val="4FE5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827285" y="2788920"/>
              <a:ext cx="93980" cy="79375"/>
            </a:xfrm>
            <a:custGeom>
              <a:avLst/>
              <a:gdLst/>
              <a:ahLst/>
              <a:cxnLst/>
              <a:rect l="l" t="t" r="r" b="b"/>
              <a:pathLst>
                <a:path w="93979" h="79375">
                  <a:moveTo>
                    <a:pt x="93954" y="0"/>
                  </a:moveTo>
                  <a:lnTo>
                    <a:pt x="0" y="6845"/>
                  </a:lnTo>
                  <a:lnTo>
                    <a:pt x="42837" y="79197"/>
                  </a:lnTo>
                  <a:lnTo>
                    <a:pt x="93954" y="0"/>
                  </a:lnTo>
                  <a:close/>
                </a:path>
              </a:pathLst>
            </a:custGeom>
            <a:solidFill>
              <a:srgbClr val="4F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269124" y="960119"/>
              <a:ext cx="1645920" cy="685800"/>
            </a:xfrm>
            <a:custGeom>
              <a:avLst/>
              <a:gdLst/>
              <a:ahLst/>
              <a:cxnLst/>
              <a:rect l="l" t="t" r="r" b="b"/>
              <a:pathLst>
                <a:path w="1645920" h="685800">
                  <a:moveTo>
                    <a:pt x="15908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31075"/>
                  </a:lnTo>
                  <a:lnTo>
                    <a:pt x="3994" y="651674"/>
                  </a:lnTo>
                  <a:lnTo>
                    <a:pt x="4098" y="651990"/>
                  </a:lnTo>
                  <a:lnTo>
                    <a:pt x="33757" y="681701"/>
                  </a:lnTo>
                  <a:lnTo>
                    <a:pt x="48065" y="685444"/>
                  </a:lnTo>
                  <a:lnTo>
                    <a:pt x="49212" y="685444"/>
                  </a:lnTo>
                  <a:lnTo>
                    <a:pt x="54711" y="685800"/>
                  </a:lnTo>
                  <a:lnTo>
                    <a:pt x="1591195" y="685444"/>
                  </a:lnTo>
                  <a:lnTo>
                    <a:pt x="1629849" y="669507"/>
                  </a:lnTo>
                  <a:lnTo>
                    <a:pt x="1645896" y="631075"/>
                  </a:lnTo>
                  <a:lnTo>
                    <a:pt x="1645920" y="630720"/>
                  </a:lnTo>
                  <a:lnTo>
                    <a:pt x="1645551" y="54724"/>
                  </a:lnTo>
                  <a:lnTo>
                    <a:pt x="1629625" y="16063"/>
                  </a:lnTo>
                  <a:lnTo>
                    <a:pt x="1598048" y="466"/>
                  </a:lnTo>
                  <a:lnTo>
                    <a:pt x="159084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269124" y="960119"/>
              <a:ext cx="1645920" cy="685800"/>
            </a:xfrm>
            <a:custGeom>
              <a:avLst/>
              <a:gdLst/>
              <a:ahLst/>
              <a:cxnLst/>
              <a:rect l="l" t="t" r="r" b="b"/>
              <a:pathLst>
                <a:path w="1645920" h="6858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590840" y="0"/>
                  </a:lnTo>
                  <a:lnTo>
                    <a:pt x="1629625" y="16063"/>
                  </a:lnTo>
                  <a:lnTo>
                    <a:pt x="1645551" y="54724"/>
                  </a:lnTo>
                  <a:lnTo>
                    <a:pt x="1645920" y="630720"/>
                  </a:lnTo>
                  <a:lnTo>
                    <a:pt x="1645452" y="637928"/>
                  </a:lnTo>
                  <a:lnTo>
                    <a:pt x="1644072" y="644936"/>
                  </a:lnTo>
                  <a:lnTo>
                    <a:pt x="1618551" y="678243"/>
                  </a:lnTo>
                  <a:lnTo>
                    <a:pt x="54711" y="685800"/>
                  </a:lnTo>
                  <a:lnTo>
                    <a:pt x="15925" y="669736"/>
                  </a:lnTo>
                  <a:lnTo>
                    <a:pt x="0" y="63107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709307" y="654583"/>
            <a:ext cx="2339340" cy="354965"/>
            <a:chOff x="709307" y="654583"/>
            <a:chExt cx="2339340" cy="354965"/>
          </a:xfrm>
        </p:grpSpPr>
        <p:sp>
          <p:nvSpPr>
            <p:cNvPr id="31" name="object 31"/>
            <p:cNvSpPr/>
            <p:nvPr/>
          </p:nvSpPr>
          <p:spPr>
            <a:xfrm>
              <a:off x="712800" y="658075"/>
              <a:ext cx="2332355" cy="347980"/>
            </a:xfrm>
            <a:custGeom>
              <a:avLst/>
              <a:gdLst/>
              <a:ahLst/>
              <a:cxnLst/>
              <a:rect l="l" t="t" r="r" b="b"/>
              <a:pathLst>
                <a:path w="2332355" h="347980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56324"/>
                  </a:lnTo>
                  <a:lnTo>
                    <a:pt x="798" y="268329"/>
                  </a:lnTo>
                  <a:lnTo>
                    <a:pt x="18836" y="312088"/>
                  </a:lnTo>
                  <a:lnTo>
                    <a:pt x="56505" y="340777"/>
                  </a:lnTo>
                  <a:lnTo>
                    <a:pt x="91440" y="347764"/>
                  </a:lnTo>
                  <a:lnTo>
                    <a:pt x="2240635" y="347764"/>
                  </a:lnTo>
                  <a:lnTo>
                    <a:pt x="2286355" y="335521"/>
                  </a:lnTo>
                  <a:lnTo>
                    <a:pt x="2319845" y="302044"/>
                  </a:lnTo>
                  <a:lnTo>
                    <a:pt x="2332075" y="256324"/>
                  </a:lnTo>
                  <a:lnTo>
                    <a:pt x="2332051" y="91439"/>
                  </a:lnTo>
                  <a:lnTo>
                    <a:pt x="2319845" y="46088"/>
                  </a:lnTo>
                  <a:lnTo>
                    <a:pt x="2286355" y="12598"/>
                  </a:lnTo>
                  <a:lnTo>
                    <a:pt x="22406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83D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2800" y="658075"/>
              <a:ext cx="2332355" cy="347980"/>
            </a:xfrm>
            <a:custGeom>
              <a:avLst/>
              <a:gdLst/>
              <a:ahLst/>
              <a:cxnLst/>
              <a:rect l="l" t="t" r="r" b="b"/>
              <a:pathLst>
                <a:path w="2332355" h="34798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46" y="26690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2240635" y="368"/>
                  </a:lnTo>
                  <a:lnTo>
                    <a:pt x="2286355" y="12598"/>
                  </a:lnTo>
                  <a:lnTo>
                    <a:pt x="2319845" y="46088"/>
                  </a:lnTo>
                  <a:lnTo>
                    <a:pt x="2332075" y="91808"/>
                  </a:lnTo>
                  <a:lnTo>
                    <a:pt x="2332075" y="256324"/>
                  </a:lnTo>
                  <a:lnTo>
                    <a:pt x="2331277" y="268329"/>
                  </a:lnTo>
                  <a:lnTo>
                    <a:pt x="2328927" y="279993"/>
                  </a:lnTo>
                  <a:lnTo>
                    <a:pt x="2305396" y="321082"/>
                  </a:lnTo>
                  <a:lnTo>
                    <a:pt x="2264309" y="344614"/>
                  </a:lnTo>
                  <a:lnTo>
                    <a:pt x="2240635" y="347764"/>
                  </a:lnTo>
                  <a:lnTo>
                    <a:pt x="91440" y="347764"/>
                  </a:lnTo>
                  <a:lnTo>
                    <a:pt x="45720" y="335521"/>
                  </a:lnTo>
                  <a:lnTo>
                    <a:pt x="12242" y="302044"/>
                  </a:lnTo>
                  <a:lnTo>
                    <a:pt x="0" y="256324"/>
                  </a:lnTo>
                  <a:lnTo>
                    <a:pt x="355" y="91439"/>
                  </a:lnTo>
                  <a:close/>
                </a:path>
              </a:pathLst>
            </a:custGeom>
            <a:ln w="6479">
              <a:solidFill>
                <a:srgbClr val="183D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52537" y="742581"/>
            <a:ext cx="16548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 b="1">
                <a:solidFill>
                  <a:srgbClr val="4FE5FF"/>
                </a:solidFill>
                <a:latin typeface="Arial"/>
                <a:cs typeface="Arial"/>
              </a:rPr>
              <a:t>DAY</a:t>
            </a:r>
            <a:r>
              <a:rPr dirty="0" sz="1000" spc="-20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4FE5FF"/>
                </a:solidFill>
                <a:latin typeface="Arial"/>
                <a:cs typeface="Arial"/>
              </a:rPr>
              <a:t>2 •</a:t>
            </a:r>
            <a:r>
              <a:rPr dirty="0" sz="1000" spc="5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4FE5FF"/>
                </a:solidFill>
                <a:latin typeface="Arial"/>
                <a:cs typeface="Arial"/>
              </a:rPr>
              <a:t>STUDENT</a:t>
            </a:r>
            <a:r>
              <a:rPr dirty="0" sz="1000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4FE5FF"/>
                </a:solidFill>
                <a:latin typeface="Arial"/>
                <a:cs typeface="Arial"/>
              </a:rPr>
              <a:t>THEORY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93100" y="1183944"/>
            <a:ext cx="7969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77D3"/>
                </a:solidFill>
                <a:latin typeface="Arial"/>
                <a:cs typeface="Arial"/>
              </a:rPr>
              <a:t>Compute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700100" y="1531340"/>
            <a:ext cx="4959985" cy="10610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solidFill>
                  <a:srgbClr val="FFFFFF"/>
                </a:solidFill>
              </a:rPr>
              <a:t>Azure</a:t>
            </a:r>
            <a:r>
              <a:rPr dirty="0" sz="3400" spc="-75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Cloud</a:t>
            </a:r>
            <a:r>
              <a:rPr dirty="0" sz="3400" spc="-75">
                <a:solidFill>
                  <a:srgbClr val="FFFFFF"/>
                </a:solidFill>
              </a:rPr>
              <a:t> </a:t>
            </a:r>
            <a:r>
              <a:rPr dirty="0" sz="3400" spc="-10">
                <a:solidFill>
                  <a:srgbClr val="FFFFFF"/>
                </a:solidFill>
              </a:rPr>
              <a:t>Operations </a:t>
            </a:r>
            <a:r>
              <a:rPr dirty="0" sz="3400">
                <a:solidFill>
                  <a:srgbClr val="FFFFFF"/>
                </a:solidFill>
              </a:rPr>
              <a:t>&amp;</a:t>
            </a:r>
            <a:r>
              <a:rPr dirty="0" sz="3400" spc="-10">
                <a:solidFill>
                  <a:srgbClr val="FFFFFF"/>
                </a:solidFill>
              </a:rPr>
              <a:t> Security</a:t>
            </a:r>
            <a:endParaRPr sz="3400"/>
          </a:p>
        </p:txBody>
      </p:sp>
      <p:grpSp>
        <p:nvGrpSpPr>
          <p:cNvPr id="18" name="object 18"/>
          <p:cNvGrpSpPr/>
          <p:nvPr/>
        </p:nvGrpSpPr>
        <p:grpSpPr>
          <a:xfrm>
            <a:off x="9321444" y="2006600"/>
            <a:ext cx="1564640" cy="695960"/>
            <a:chOff x="9321444" y="2006600"/>
            <a:chExt cx="1564640" cy="695960"/>
          </a:xfrm>
        </p:grpSpPr>
        <p:sp>
          <p:nvSpPr>
            <p:cNvPr id="19" name="object 19"/>
            <p:cNvSpPr/>
            <p:nvPr/>
          </p:nvSpPr>
          <p:spPr>
            <a:xfrm>
              <a:off x="9326524" y="2011680"/>
              <a:ext cx="1554480" cy="685800"/>
            </a:xfrm>
            <a:custGeom>
              <a:avLst/>
              <a:gdLst/>
              <a:ahLst/>
              <a:cxnLst/>
              <a:rect l="l" t="t" r="r" b="b"/>
              <a:pathLst>
                <a:path w="1554479" h="685800">
                  <a:moveTo>
                    <a:pt x="14994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31075"/>
                  </a:lnTo>
                  <a:lnTo>
                    <a:pt x="452" y="637928"/>
                  </a:lnTo>
                  <a:lnTo>
                    <a:pt x="466" y="638136"/>
                  </a:lnTo>
                  <a:lnTo>
                    <a:pt x="1798" y="644936"/>
                  </a:lnTo>
                  <a:lnTo>
                    <a:pt x="1843" y="645164"/>
                  </a:lnTo>
                  <a:lnTo>
                    <a:pt x="3994" y="651674"/>
                  </a:lnTo>
                  <a:lnTo>
                    <a:pt x="4098" y="651990"/>
                  </a:lnTo>
                  <a:lnTo>
                    <a:pt x="7200" y="658444"/>
                  </a:lnTo>
                  <a:lnTo>
                    <a:pt x="40495" y="683956"/>
                  </a:lnTo>
                  <a:lnTo>
                    <a:pt x="48065" y="685444"/>
                  </a:lnTo>
                  <a:lnTo>
                    <a:pt x="49212" y="685444"/>
                  </a:lnTo>
                  <a:lnTo>
                    <a:pt x="54711" y="685800"/>
                  </a:lnTo>
                  <a:lnTo>
                    <a:pt x="1499755" y="685444"/>
                  </a:lnTo>
                  <a:lnTo>
                    <a:pt x="1538409" y="669507"/>
                  </a:lnTo>
                  <a:lnTo>
                    <a:pt x="1552555" y="645164"/>
                  </a:lnTo>
                  <a:lnTo>
                    <a:pt x="1552632" y="644936"/>
                  </a:lnTo>
                  <a:lnTo>
                    <a:pt x="1553971" y="638136"/>
                  </a:lnTo>
                  <a:lnTo>
                    <a:pt x="1554012" y="637928"/>
                  </a:lnTo>
                  <a:lnTo>
                    <a:pt x="1554456" y="631075"/>
                  </a:lnTo>
                  <a:lnTo>
                    <a:pt x="1554480" y="630720"/>
                  </a:lnTo>
                  <a:lnTo>
                    <a:pt x="1554111" y="54724"/>
                  </a:lnTo>
                  <a:lnTo>
                    <a:pt x="1538185" y="16063"/>
                  </a:lnTo>
                  <a:lnTo>
                    <a:pt x="1506608" y="466"/>
                  </a:lnTo>
                  <a:lnTo>
                    <a:pt x="14994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326524" y="2011680"/>
              <a:ext cx="1554480" cy="685800"/>
            </a:xfrm>
            <a:custGeom>
              <a:avLst/>
              <a:gdLst/>
              <a:ahLst/>
              <a:cxnLst/>
              <a:rect l="l" t="t" r="r" b="b"/>
              <a:pathLst>
                <a:path w="1554479" h="6858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99400" y="0"/>
                  </a:lnTo>
                  <a:lnTo>
                    <a:pt x="1538185" y="16063"/>
                  </a:lnTo>
                  <a:lnTo>
                    <a:pt x="1554111" y="54724"/>
                  </a:lnTo>
                  <a:lnTo>
                    <a:pt x="1554480" y="630720"/>
                  </a:lnTo>
                  <a:lnTo>
                    <a:pt x="1554012" y="637928"/>
                  </a:lnTo>
                  <a:lnTo>
                    <a:pt x="1552632" y="644936"/>
                  </a:lnTo>
                  <a:lnTo>
                    <a:pt x="1527111" y="678243"/>
                  </a:lnTo>
                  <a:lnTo>
                    <a:pt x="54711" y="685800"/>
                  </a:lnTo>
                  <a:lnTo>
                    <a:pt x="15925" y="669736"/>
                  </a:lnTo>
                  <a:lnTo>
                    <a:pt x="0" y="63107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739338" y="2235504"/>
            <a:ext cx="7277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A5A5"/>
                </a:solidFill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7184" y="3005175"/>
            <a:ext cx="571754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Compute</a:t>
            </a:r>
            <a:r>
              <a:rPr dirty="0" sz="1700" spc="-40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lifecycle</a:t>
            </a:r>
            <a:r>
              <a:rPr dirty="0" sz="1700" spc="-35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•</a:t>
            </a:r>
            <a:r>
              <a:rPr dirty="0" sz="1700" spc="-40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Connectivity</a:t>
            </a:r>
            <a:r>
              <a:rPr dirty="0" sz="1700" spc="-40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•</a:t>
            </a:r>
            <a:r>
              <a:rPr dirty="0" sz="1700" spc="-40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Disk</a:t>
            </a:r>
            <a:r>
              <a:rPr dirty="0" sz="1700" spc="-35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expansion</a:t>
            </a:r>
            <a:r>
              <a:rPr dirty="0" sz="1700" spc="-40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•</a:t>
            </a:r>
            <a:r>
              <a:rPr dirty="0" sz="1700" spc="-35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E4F2"/>
                </a:solidFill>
                <a:latin typeface="Arial"/>
                <a:cs typeface="Arial"/>
              </a:rPr>
              <a:t>Storage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governance</a:t>
            </a:r>
            <a:r>
              <a:rPr dirty="0" sz="1700" spc="-60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D6E4F2"/>
                </a:solidFill>
                <a:latin typeface="Arial"/>
                <a:cs typeface="Arial"/>
              </a:rPr>
              <a:t>•</a:t>
            </a:r>
            <a:r>
              <a:rPr dirty="0" sz="1700" spc="-55">
                <a:solidFill>
                  <a:srgbClr val="D6E4F2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D6E4F2"/>
                </a:solidFill>
                <a:latin typeface="Arial"/>
                <a:cs typeface="Arial"/>
              </a:rPr>
              <a:t>Monitoring</a:t>
            </a:r>
            <a:endParaRPr sz="17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9515" y="4041356"/>
            <a:ext cx="5349240" cy="635"/>
          </a:xfrm>
          <a:custGeom>
            <a:avLst/>
            <a:gdLst/>
            <a:ahLst/>
            <a:cxnLst/>
            <a:rect l="l" t="t" r="r" b="b"/>
            <a:pathLst>
              <a:path w="5349240" h="635">
                <a:moveTo>
                  <a:pt x="0" y="0"/>
                </a:moveTo>
                <a:lnTo>
                  <a:pt x="5349240" y="368"/>
                </a:lnTo>
              </a:path>
            </a:pathLst>
          </a:custGeom>
          <a:ln w="29159">
            <a:solidFill>
              <a:srgbClr val="0077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36815" y="4413148"/>
            <a:ext cx="53479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FE5FF"/>
                </a:solidFill>
                <a:latin typeface="Arial"/>
                <a:cs typeface="Arial"/>
              </a:rPr>
              <a:t>Concepts</a:t>
            </a:r>
            <a:r>
              <a:rPr dirty="0" sz="1600" spc="-55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FE5FF"/>
                </a:solidFill>
                <a:latin typeface="Arial"/>
                <a:cs typeface="Arial"/>
              </a:rPr>
              <a:t>first.</a:t>
            </a:r>
            <a:r>
              <a:rPr dirty="0" sz="1600" spc="-50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FE5FF"/>
                </a:solidFill>
                <a:latin typeface="Arial"/>
                <a:cs typeface="Arial"/>
              </a:rPr>
              <a:t>Safe</a:t>
            </a:r>
            <a:r>
              <a:rPr dirty="0" sz="1600" spc="-55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FE5FF"/>
                </a:solidFill>
                <a:latin typeface="Arial"/>
                <a:cs typeface="Arial"/>
              </a:rPr>
              <a:t>changes</a:t>
            </a:r>
            <a:r>
              <a:rPr dirty="0" sz="1600" spc="-55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FE5FF"/>
                </a:solidFill>
                <a:latin typeface="Arial"/>
                <a:cs typeface="Arial"/>
              </a:rPr>
              <a:t>second.</a:t>
            </a:r>
            <a:r>
              <a:rPr dirty="0" sz="1600" spc="-50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FE5FF"/>
                </a:solidFill>
                <a:latin typeface="Arial"/>
                <a:cs typeface="Arial"/>
              </a:rPr>
              <a:t>Evidence</a:t>
            </a:r>
            <a:r>
              <a:rPr dirty="0" sz="1600" spc="-50" b="1">
                <a:solidFill>
                  <a:srgbClr val="4FE5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4FE5FF"/>
                </a:solidFill>
                <a:latin typeface="Arial"/>
                <a:cs typeface="Arial"/>
              </a:rPr>
              <a:t>always.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081164" y="4155440"/>
            <a:ext cx="1656080" cy="695960"/>
            <a:chOff x="7081164" y="4155440"/>
            <a:chExt cx="1656080" cy="695960"/>
          </a:xfrm>
        </p:grpSpPr>
        <p:sp>
          <p:nvSpPr>
            <p:cNvPr id="27" name="object 27"/>
            <p:cNvSpPr/>
            <p:nvPr/>
          </p:nvSpPr>
          <p:spPr>
            <a:xfrm>
              <a:off x="7086244" y="4160520"/>
              <a:ext cx="1645920" cy="685800"/>
            </a:xfrm>
            <a:custGeom>
              <a:avLst/>
              <a:gdLst/>
              <a:ahLst/>
              <a:cxnLst/>
              <a:rect l="l" t="t" r="r" b="b"/>
              <a:pathLst>
                <a:path w="1645920" h="685800">
                  <a:moveTo>
                    <a:pt x="15908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31075"/>
                  </a:lnTo>
                  <a:lnTo>
                    <a:pt x="3994" y="651674"/>
                  </a:lnTo>
                  <a:lnTo>
                    <a:pt x="4098" y="651990"/>
                  </a:lnTo>
                  <a:lnTo>
                    <a:pt x="33757" y="681701"/>
                  </a:lnTo>
                  <a:lnTo>
                    <a:pt x="48065" y="685444"/>
                  </a:lnTo>
                  <a:lnTo>
                    <a:pt x="49212" y="685444"/>
                  </a:lnTo>
                  <a:lnTo>
                    <a:pt x="54711" y="685799"/>
                  </a:lnTo>
                  <a:lnTo>
                    <a:pt x="1591195" y="685444"/>
                  </a:lnTo>
                  <a:lnTo>
                    <a:pt x="1629849" y="669507"/>
                  </a:lnTo>
                  <a:lnTo>
                    <a:pt x="1643995" y="645164"/>
                  </a:lnTo>
                  <a:lnTo>
                    <a:pt x="1644072" y="644936"/>
                  </a:lnTo>
                  <a:lnTo>
                    <a:pt x="1645411" y="638136"/>
                  </a:lnTo>
                  <a:lnTo>
                    <a:pt x="1645452" y="637928"/>
                  </a:lnTo>
                  <a:lnTo>
                    <a:pt x="1645896" y="631075"/>
                  </a:lnTo>
                  <a:lnTo>
                    <a:pt x="1645551" y="54724"/>
                  </a:lnTo>
                  <a:lnTo>
                    <a:pt x="1629625" y="16063"/>
                  </a:lnTo>
                  <a:lnTo>
                    <a:pt x="1598048" y="466"/>
                  </a:lnTo>
                  <a:lnTo>
                    <a:pt x="159084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086244" y="4160520"/>
              <a:ext cx="1645920" cy="685800"/>
            </a:xfrm>
            <a:custGeom>
              <a:avLst/>
              <a:gdLst/>
              <a:ahLst/>
              <a:cxnLst/>
              <a:rect l="l" t="t" r="r" b="b"/>
              <a:pathLst>
                <a:path w="1645920" h="6858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590840" y="0"/>
                  </a:lnTo>
                  <a:lnTo>
                    <a:pt x="1629625" y="16063"/>
                  </a:lnTo>
                  <a:lnTo>
                    <a:pt x="1645551" y="54724"/>
                  </a:lnTo>
                  <a:lnTo>
                    <a:pt x="1645920" y="630720"/>
                  </a:lnTo>
                  <a:lnTo>
                    <a:pt x="1645452" y="637928"/>
                  </a:lnTo>
                  <a:lnTo>
                    <a:pt x="1644072" y="644936"/>
                  </a:lnTo>
                  <a:lnTo>
                    <a:pt x="1618551" y="678243"/>
                  </a:lnTo>
                  <a:lnTo>
                    <a:pt x="54711" y="685799"/>
                  </a:lnTo>
                  <a:lnTo>
                    <a:pt x="15925" y="669736"/>
                  </a:lnTo>
                  <a:lnTo>
                    <a:pt x="0" y="63107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FFF2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564577" y="4384344"/>
            <a:ext cx="6883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C46900"/>
                </a:solidFill>
                <a:latin typeface="Arial"/>
                <a:cs typeface="Arial"/>
              </a:rPr>
              <a:t>Storage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824719" y="4201159"/>
            <a:ext cx="1518920" cy="695960"/>
            <a:chOff x="9824719" y="4201159"/>
            <a:chExt cx="1518920" cy="695960"/>
          </a:xfrm>
        </p:grpSpPr>
        <p:sp>
          <p:nvSpPr>
            <p:cNvPr id="23" name="object 23"/>
            <p:cNvSpPr/>
            <p:nvPr/>
          </p:nvSpPr>
          <p:spPr>
            <a:xfrm>
              <a:off x="9829799" y="4206239"/>
              <a:ext cx="1508760" cy="685800"/>
            </a:xfrm>
            <a:custGeom>
              <a:avLst/>
              <a:gdLst/>
              <a:ahLst/>
              <a:cxnLst/>
              <a:rect l="l" t="t" r="r" b="b"/>
              <a:pathLst>
                <a:path w="1508759" h="685800">
                  <a:moveTo>
                    <a:pt x="145368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631075"/>
                  </a:lnTo>
                  <a:lnTo>
                    <a:pt x="3994" y="651674"/>
                  </a:lnTo>
                  <a:lnTo>
                    <a:pt x="4098" y="651990"/>
                  </a:lnTo>
                  <a:lnTo>
                    <a:pt x="33757" y="681701"/>
                  </a:lnTo>
                  <a:lnTo>
                    <a:pt x="48071" y="685444"/>
                  </a:lnTo>
                  <a:lnTo>
                    <a:pt x="49219" y="685444"/>
                  </a:lnTo>
                  <a:lnTo>
                    <a:pt x="54724" y="685800"/>
                  </a:lnTo>
                  <a:lnTo>
                    <a:pt x="1454035" y="685444"/>
                  </a:lnTo>
                  <a:lnTo>
                    <a:pt x="1492696" y="669507"/>
                  </a:lnTo>
                  <a:lnTo>
                    <a:pt x="1506840" y="645164"/>
                  </a:lnTo>
                  <a:lnTo>
                    <a:pt x="1506916" y="644936"/>
                  </a:lnTo>
                  <a:lnTo>
                    <a:pt x="1508253" y="638136"/>
                  </a:lnTo>
                  <a:lnTo>
                    <a:pt x="1508293" y="637928"/>
                  </a:lnTo>
                  <a:lnTo>
                    <a:pt x="1508737" y="631075"/>
                  </a:lnTo>
                  <a:lnTo>
                    <a:pt x="1508404" y="54724"/>
                  </a:lnTo>
                  <a:lnTo>
                    <a:pt x="1492467" y="16063"/>
                  </a:lnTo>
                  <a:lnTo>
                    <a:pt x="1460888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829799" y="4206239"/>
              <a:ext cx="1508760" cy="685800"/>
            </a:xfrm>
            <a:custGeom>
              <a:avLst/>
              <a:gdLst/>
              <a:ahLst/>
              <a:cxnLst/>
              <a:rect l="l" t="t" r="r" b="b"/>
              <a:pathLst>
                <a:path w="1508759" h="6858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67" y="16063"/>
                  </a:lnTo>
                  <a:lnTo>
                    <a:pt x="1508404" y="54724"/>
                  </a:lnTo>
                  <a:lnTo>
                    <a:pt x="1508759" y="630720"/>
                  </a:lnTo>
                  <a:lnTo>
                    <a:pt x="1508293" y="637928"/>
                  </a:lnTo>
                  <a:lnTo>
                    <a:pt x="1506916" y="644936"/>
                  </a:lnTo>
                  <a:lnTo>
                    <a:pt x="1481404" y="678243"/>
                  </a:lnTo>
                  <a:lnTo>
                    <a:pt x="54724" y="685800"/>
                  </a:lnTo>
                  <a:lnTo>
                    <a:pt x="15925" y="669736"/>
                  </a:lnTo>
                  <a:lnTo>
                    <a:pt x="0" y="63107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FE9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0219575" y="4430064"/>
            <a:ext cx="7277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B2C90"/>
                </a:solidFill>
                <a:latin typeface="Arial"/>
                <a:cs typeface="Arial"/>
              </a:rPr>
              <a:t>Security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6815" y="6197307"/>
            <a:ext cx="39814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Designed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for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engineering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freshers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and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junior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cloud</a:t>
            </a:r>
            <a:r>
              <a:rPr dirty="0" sz="1000" spc="-20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3C3D5"/>
                </a:solidFill>
                <a:latin typeface="Arial"/>
                <a:cs typeface="Arial"/>
              </a:rPr>
              <a:t>operations</a:t>
            </a:r>
            <a:r>
              <a:rPr dirty="0" sz="1000" spc="-15">
                <a:solidFill>
                  <a:srgbClr val="B3C3D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B3C3D5"/>
                </a:solidFill>
                <a:latin typeface="Arial"/>
                <a:cs typeface="Arial"/>
              </a:rPr>
              <a:t>learners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85661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Day</a:t>
            </a:r>
            <a:r>
              <a:rPr dirty="0" spc="-30"/>
              <a:t> </a:t>
            </a:r>
            <a:r>
              <a:rPr dirty="0"/>
              <a:t>2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four</a:t>
            </a:r>
            <a:r>
              <a:rPr dirty="0" spc="-25"/>
              <a:t> </a:t>
            </a:r>
            <a:r>
              <a:rPr dirty="0"/>
              <a:t>operational</a:t>
            </a:r>
            <a:r>
              <a:rPr dirty="0" spc="-35"/>
              <a:t> </a:t>
            </a:r>
            <a:r>
              <a:rPr dirty="0" spc="-10"/>
              <a:t>stories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777430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Every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scenario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small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production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incident.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Learn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concept,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predict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cause,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make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scoped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change,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verify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recovery.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51725" y="1593850"/>
            <a:ext cx="2693670" cy="3122930"/>
            <a:chOff x="651725" y="1593850"/>
            <a:chExt cx="2693670" cy="31229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440" y="1618195"/>
              <a:ext cx="2668676" cy="30981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444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25599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990164"/>
                  </a:lnTo>
                  <a:lnTo>
                    <a:pt x="594" y="2999435"/>
                  </a:lnTo>
                  <a:lnTo>
                    <a:pt x="607" y="2999640"/>
                  </a:lnTo>
                  <a:lnTo>
                    <a:pt x="2394" y="3008836"/>
                  </a:lnTo>
                  <a:lnTo>
                    <a:pt x="2428" y="3009015"/>
                  </a:lnTo>
                  <a:lnTo>
                    <a:pt x="5412" y="3017899"/>
                  </a:lnTo>
                  <a:lnTo>
                    <a:pt x="36360" y="3053524"/>
                  </a:lnTo>
                  <a:lnTo>
                    <a:pt x="73075" y="3063240"/>
                  </a:lnTo>
                  <a:lnTo>
                    <a:pt x="2560320" y="3062884"/>
                  </a:lnTo>
                  <a:lnTo>
                    <a:pt x="2604690" y="3047780"/>
                  </a:lnTo>
                  <a:lnTo>
                    <a:pt x="2630906" y="3009015"/>
                  </a:lnTo>
                  <a:lnTo>
                    <a:pt x="2630966" y="3008836"/>
                  </a:lnTo>
                  <a:lnTo>
                    <a:pt x="2632748" y="2999640"/>
                  </a:lnTo>
                  <a:lnTo>
                    <a:pt x="2632788" y="2999435"/>
                  </a:lnTo>
                  <a:lnTo>
                    <a:pt x="2633372" y="2990164"/>
                  </a:lnTo>
                  <a:lnTo>
                    <a:pt x="2633395" y="2989795"/>
                  </a:lnTo>
                  <a:lnTo>
                    <a:pt x="2633040" y="73075"/>
                  </a:lnTo>
                  <a:lnTo>
                    <a:pt x="2617936" y="28705"/>
                  </a:lnTo>
                  <a:lnTo>
                    <a:pt x="2578992" y="2428"/>
                  </a:lnTo>
                  <a:lnTo>
                    <a:pt x="2569591" y="607"/>
                  </a:lnTo>
                  <a:lnTo>
                    <a:pt x="2559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58444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559951" y="0"/>
                  </a:lnTo>
                  <a:lnTo>
                    <a:pt x="2604484" y="15104"/>
                  </a:lnTo>
                  <a:lnTo>
                    <a:pt x="2630609" y="54224"/>
                  </a:lnTo>
                  <a:lnTo>
                    <a:pt x="2633040" y="73075"/>
                  </a:lnTo>
                  <a:lnTo>
                    <a:pt x="2633395" y="2989795"/>
                  </a:lnTo>
                  <a:lnTo>
                    <a:pt x="2632788" y="2999435"/>
                  </a:lnTo>
                  <a:lnTo>
                    <a:pt x="2630966" y="3008836"/>
                  </a:lnTo>
                  <a:lnTo>
                    <a:pt x="2604690" y="3047780"/>
                  </a:lnTo>
                  <a:lnTo>
                    <a:pt x="2560320" y="3062884"/>
                  </a:lnTo>
                  <a:lnTo>
                    <a:pt x="73075" y="3063240"/>
                  </a:lnTo>
                  <a:lnTo>
                    <a:pt x="28548" y="3048135"/>
                  </a:lnTo>
                  <a:lnTo>
                    <a:pt x="2428" y="3009015"/>
                  </a:lnTo>
                  <a:lnTo>
                    <a:pt x="0" y="29901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58075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63728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42" y="3062884"/>
                  </a:lnTo>
                  <a:lnTo>
                    <a:pt x="63728" y="30628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8075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32042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3062884"/>
                  </a:lnTo>
                  <a:lnTo>
                    <a:pt x="32042" y="306288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46975" y="2083942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9261" y="2109139"/>
            <a:ext cx="2099945" cy="58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2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idle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keeps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costing money.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web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tier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needs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more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capacity.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35024" y="1804135"/>
            <a:ext cx="396875" cy="396875"/>
            <a:chOff x="835024" y="1804135"/>
            <a:chExt cx="396875" cy="396875"/>
          </a:xfrm>
        </p:grpSpPr>
        <p:sp>
          <p:nvSpPr>
            <p:cNvPr id="17" name="object 17"/>
            <p:cNvSpPr/>
            <p:nvPr/>
          </p:nvSpPr>
          <p:spPr>
            <a:xfrm>
              <a:off x="841324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8"/>
                  </a:lnTo>
                  <a:lnTo>
                    <a:pt x="96113" y="25565"/>
                  </a:lnTo>
                  <a:lnTo>
                    <a:pt x="56246" y="56070"/>
                  </a:lnTo>
                  <a:lnTo>
                    <a:pt x="25552" y="95758"/>
                  </a:lnTo>
                  <a:lnTo>
                    <a:pt x="6565" y="142068"/>
                  </a:lnTo>
                  <a:lnTo>
                    <a:pt x="0" y="191884"/>
                  </a:lnTo>
                  <a:lnTo>
                    <a:pt x="1663" y="217080"/>
                  </a:lnTo>
                  <a:lnTo>
                    <a:pt x="14573" y="265438"/>
                  </a:lnTo>
                  <a:lnTo>
                    <a:pt x="39619" y="308895"/>
                  </a:lnTo>
                  <a:lnTo>
                    <a:pt x="75167" y="344199"/>
                  </a:lnTo>
                  <a:lnTo>
                    <a:pt x="118675" y="369390"/>
                  </a:lnTo>
                  <a:lnTo>
                    <a:pt x="167042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3" y="344199"/>
                  </a:lnTo>
                  <a:lnTo>
                    <a:pt x="344492" y="308895"/>
                  </a:lnTo>
                  <a:lnTo>
                    <a:pt x="369538" y="265438"/>
                  </a:lnTo>
                  <a:lnTo>
                    <a:pt x="382447" y="217080"/>
                  </a:lnTo>
                  <a:lnTo>
                    <a:pt x="384111" y="191884"/>
                  </a:lnTo>
                  <a:lnTo>
                    <a:pt x="382447" y="166688"/>
                  </a:lnTo>
                  <a:lnTo>
                    <a:pt x="369538" y="118325"/>
                  </a:lnTo>
                  <a:lnTo>
                    <a:pt x="344492" y="74867"/>
                  </a:lnTo>
                  <a:lnTo>
                    <a:pt x="308943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41324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3" y="166688"/>
                  </a:lnTo>
                  <a:lnTo>
                    <a:pt x="6565" y="142068"/>
                  </a:lnTo>
                  <a:lnTo>
                    <a:pt x="25552" y="95758"/>
                  </a:lnTo>
                  <a:lnTo>
                    <a:pt x="56246" y="56070"/>
                  </a:lnTo>
                  <a:lnTo>
                    <a:pt x="96113" y="25565"/>
                  </a:lnTo>
                  <a:lnTo>
                    <a:pt x="142419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4" y="56070"/>
                  </a:lnTo>
                  <a:lnTo>
                    <a:pt x="358559" y="95758"/>
                  </a:lnTo>
                  <a:lnTo>
                    <a:pt x="377545" y="142068"/>
                  </a:lnTo>
                  <a:lnTo>
                    <a:pt x="384111" y="191884"/>
                  </a:lnTo>
                  <a:lnTo>
                    <a:pt x="382447" y="217080"/>
                  </a:lnTo>
                  <a:lnTo>
                    <a:pt x="377545" y="241698"/>
                  </a:lnTo>
                  <a:lnTo>
                    <a:pt x="358559" y="287997"/>
                  </a:lnTo>
                  <a:lnTo>
                    <a:pt x="327864" y="32769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19" y="377507"/>
                  </a:lnTo>
                  <a:lnTo>
                    <a:pt x="96113" y="358203"/>
                  </a:lnTo>
                  <a:lnTo>
                    <a:pt x="56246" y="327696"/>
                  </a:lnTo>
                  <a:lnTo>
                    <a:pt x="25552" y="287997"/>
                  </a:lnTo>
                  <a:lnTo>
                    <a:pt x="6565" y="241698"/>
                  </a:lnTo>
                  <a:lnTo>
                    <a:pt x="1663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21220" y="1762823"/>
            <a:ext cx="12922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340" b="1">
                <a:solidFill>
                  <a:srgbClr val="10243F"/>
                </a:solidFill>
                <a:latin typeface="Arial"/>
                <a:cs typeface="Arial"/>
              </a:rPr>
              <a:t>C</a:t>
            </a:r>
            <a:r>
              <a:rPr dirty="0" baseline="-33333" sz="1500" spc="-337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600" spc="-760" b="1">
                <a:solidFill>
                  <a:srgbClr val="10243F"/>
                </a:solidFill>
                <a:latin typeface="Arial"/>
                <a:cs typeface="Arial"/>
              </a:rPr>
              <a:t>o</a:t>
            </a:r>
            <a:r>
              <a:rPr dirty="0" baseline="-33333" sz="15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baseline="-33333" sz="1500" spc="-127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st</a:t>
            </a:r>
            <a:r>
              <a:rPr dirty="0" sz="16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&amp;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 scale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6975" y="2829864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9261" y="2855061"/>
            <a:ext cx="1998980" cy="398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question:</a:t>
            </a:r>
            <a:r>
              <a:rPr dirty="0" sz="12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evidence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proves</a:t>
            </a:r>
            <a:r>
              <a:rPr dirty="0" sz="12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fixed?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13734" y="1593850"/>
            <a:ext cx="2693670" cy="3122930"/>
            <a:chOff x="3513734" y="1593850"/>
            <a:chExt cx="2693670" cy="312293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8435" y="1618195"/>
              <a:ext cx="2668676" cy="30981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520439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255996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990164"/>
                  </a:lnTo>
                  <a:lnTo>
                    <a:pt x="15098" y="3034534"/>
                  </a:lnTo>
                  <a:lnTo>
                    <a:pt x="54046" y="3060811"/>
                  </a:lnTo>
                  <a:lnTo>
                    <a:pt x="73075" y="3063240"/>
                  </a:lnTo>
                  <a:lnTo>
                    <a:pt x="2560320" y="3062884"/>
                  </a:lnTo>
                  <a:lnTo>
                    <a:pt x="2604697" y="3047780"/>
                  </a:lnTo>
                  <a:lnTo>
                    <a:pt x="2630906" y="3009015"/>
                  </a:lnTo>
                  <a:lnTo>
                    <a:pt x="2630966" y="3008836"/>
                  </a:lnTo>
                  <a:lnTo>
                    <a:pt x="2632748" y="2999640"/>
                  </a:lnTo>
                  <a:lnTo>
                    <a:pt x="2632788" y="2999435"/>
                  </a:lnTo>
                  <a:lnTo>
                    <a:pt x="2633372" y="2990164"/>
                  </a:lnTo>
                  <a:lnTo>
                    <a:pt x="2633395" y="2989795"/>
                  </a:lnTo>
                  <a:lnTo>
                    <a:pt x="2633040" y="73075"/>
                  </a:lnTo>
                  <a:lnTo>
                    <a:pt x="2617941" y="28705"/>
                  </a:lnTo>
                  <a:lnTo>
                    <a:pt x="2578993" y="2428"/>
                  </a:lnTo>
                  <a:lnTo>
                    <a:pt x="2569596" y="607"/>
                  </a:lnTo>
                  <a:lnTo>
                    <a:pt x="2559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520439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59964" y="0"/>
                  </a:lnTo>
                  <a:lnTo>
                    <a:pt x="2604484" y="15104"/>
                  </a:lnTo>
                  <a:lnTo>
                    <a:pt x="2630611" y="54224"/>
                  </a:lnTo>
                  <a:lnTo>
                    <a:pt x="2633040" y="73075"/>
                  </a:lnTo>
                  <a:lnTo>
                    <a:pt x="2633395" y="2989795"/>
                  </a:lnTo>
                  <a:lnTo>
                    <a:pt x="2632788" y="2999435"/>
                  </a:lnTo>
                  <a:lnTo>
                    <a:pt x="2630966" y="3008836"/>
                  </a:lnTo>
                  <a:lnTo>
                    <a:pt x="2604697" y="3047780"/>
                  </a:lnTo>
                  <a:lnTo>
                    <a:pt x="2560320" y="3062884"/>
                  </a:lnTo>
                  <a:lnTo>
                    <a:pt x="73075" y="3063240"/>
                  </a:lnTo>
                  <a:lnTo>
                    <a:pt x="28555" y="3048135"/>
                  </a:lnTo>
                  <a:lnTo>
                    <a:pt x="2428" y="3009015"/>
                  </a:lnTo>
                  <a:lnTo>
                    <a:pt x="0" y="29901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20084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5" h="3063240">
                  <a:moveTo>
                    <a:pt x="63715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29" y="3062884"/>
                  </a:lnTo>
                  <a:lnTo>
                    <a:pt x="63715" y="30628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8A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520084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5" h="3063240">
                  <a:moveTo>
                    <a:pt x="32029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62884"/>
                  </a:lnTo>
                  <a:lnTo>
                    <a:pt x="32029" y="3062884"/>
                  </a:lnTo>
                  <a:close/>
                </a:path>
              </a:pathLst>
            </a:custGeom>
            <a:ln w="12599">
              <a:solidFill>
                <a:srgbClr val="008A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708984" y="2083942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61257" y="2109139"/>
            <a:ext cx="1964689" cy="58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SSH</a:t>
            </a:r>
            <a:r>
              <a:rPr dirty="0" sz="12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fails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on</a:t>
            </a:r>
            <a:r>
              <a:rPr dirty="0" sz="12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VM;</a:t>
            </a:r>
            <a:r>
              <a:rPr dirty="0" sz="12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cannot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reach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97020" y="1804135"/>
            <a:ext cx="396875" cy="396875"/>
            <a:chOff x="3697020" y="1804135"/>
            <a:chExt cx="396875" cy="396875"/>
          </a:xfrm>
        </p:grpSpPr>
        <p:sp>
          <p:nvSpPr>
            <p:cNvPr id="31" name="object 31"/>
            <p:cNvSpPr/>
            <p:nvPr/>
          </p:nvSpPr>
          <p:spPr>
            <a:xfrm>
              <a:off x="3703319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4" y="308895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08A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703319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69" y="32769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008A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683215" y="1762823"/>
            <a:ext cx="1291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340" b="1">
                <a:solidFill>
                  <a:srgbClr val="10243F"/>
                </a:solidFill>
                <a:latin typeface="Arial"/>
                <a:cs typeface="Arial"/>
              </a:rPr>
              <a:t>C</a:t>
            </a:r>
            <a:r>
              <a:rPr dirty="0" baseline="-33333" sz="1500" spc="-337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600" spc="-760" b="1">
                <a:solidFill>
                  <a:srgbClr val="10243F"/>
                </a:solidFill>
                <a:latin typeface="Arial"/>
                <a:cs typeface="Arial"/>
              </a:rPr>
              <a:t>o</a:t>
            </a:r>
            <a:r>
              <a:rPr dirty="0" baseline="-33333" sz="15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baseline="-33333" sz="1500" spc="-112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nnectivity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08984" y="2829864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61257" y="2855061"/>
            <a:ext cx="1998980" cy="398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question:</a:t>
            </a:r>
            <a:r>
              <a:rPr dirty="0" sz="12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evidence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proves</a:t>
            </a:r>
            <a:r>
              <a:rPr dirty="0" sz="12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fixed?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75730" y="1593850"/>
            <a:ext cx="2693670" cy="3122930"/>
            <a:chOff x="6375730" y="1593850"/>
            <a:chExt cx="2693670" cy="3122930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444" y="1618195"/>
              <a:ext cx="2668676" cy="30981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82435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255996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990164"/>
                  </a:lnTo>
                  <a:lnTo>
                    <a:pt x="594" y="2999435"/>
                  </a:lnTo>
                  <a:lnTo>
                    <a:pt x="607" y="2999640"/>
                  </a:lnTo>
                  <a:lnTo>
                    <a:pt x="2395" y="3008836"/>
                  </a:lnTo>
                  <a:lnTo>
                    <a:pt x="2430" y="3009015"/>
                  </a:lnTo>
                  <a:lnTo>
                    <a:pt x="28555" y="3048135"/>
                  </a:lnTo>
                  <a:lnTo>
                    <a:pt x="73088" y="3063240"/>
                  </a:lnTo>
                  <a:lnTo>
                    <a:pt x="2560320" y="3062884"/>
                  </a:lnTo>
                  <a:lnTo>
                    <a:pt x="2604697" y="3047780"/>
                  </a:lnTo>
                  <a:lnTo>
                    <a:pt x="2627861" y="3018055"/>
                  </a:lnTo>
                  <a:lnTo>
                    <a:pt x="2627938" y="3017899"/>
                  </a:lnTo>
                  <a:lnTo>
                    <a:pt x="2633385" y="2990164"/>
                  </a:lnTo>
                  <a:lnTo>
                    <a:pt x="2633408" y="2989795"/>
                  </a:lnTo>
                  <a:lnTo>
                    <a:pt x="2633040" y="73075"/>
                  </a:lnTo>
                  <a:lnTo>
                    <a:pt x="2617948" y="28705"/>
                  </a:lnTo>
                  <a:lnTo>
                    <a:pt x="2578998" y="2428"/>
                  </a:lnTo>
                  <a:lnTo>
                    <a:pt x="2569598" y="607"/>
                  </a:lnTo>
                  <a:lnTo>
                    <a:pt x="2559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82435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559964" y="0"/>
                  </a:lnTo>
                  <a:lnTo>
                    <a:pt x="2604491" y="15104"/>
                  </a:lnTo>
                  <a:lnTo>
                    <a:pt x="2630611" y="54224"/>
                  </a:lnTo>
                  <a:lnTo>
                    <a:pt x="2633040" y="73075"/>
                  </a:lnTo>
                  <a:lnTo>
                    <a:pt x="2633408" y="2989795"/>
                  </a:lnTo>
                  <a:lnTo>
                    <a:pt x="2632801" y="2999435"/>
                  </a:lnTo>
                  <a:lnTo>
                    <a:pt x="2630978" y="3008836"/>
                  </a:lnTo>
                  <a:lnTo>
                    <a:pt x="2604697" y="3047780"/>
                  </a:lnTo>
                  <a:lnTo>
                    <a:pt x="2560320" y="3062884"/>
                  </a:lnTo>
                  <a:lnTo>
                    <a:pt x="73088" y="3063240"/>
                  </a:lnTo>
                  <a:lnTo>
                    <a:pt x="28555" y="3048135"/>
                  </a:lnTo>
                  <a:lnTo>
                    <a:pt x="2430" y="3009015"/>
                  </a:lnTo>
                  <a:lnTo>
                    <a:pt x="0" y="29901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382080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5" h="3063240">
                  <a:moveTo>
                    <a:pt x="63715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42" y="3062884"/>
                  </a:lnTo>
                  <a:lnTo>
                    <a:pt x="63715" y="30628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82080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5" h="3063240">
                  <a:moveTo>
                    <a:pt x="32042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62884"/>
                  </a:lnTo>
                  <a:lnTo>
                    <a:pt x="32042" y="306288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570980" y="2083942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23265" y="2109139"/>
            <a:ext cx="2085339" cy="58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cloud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has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grown,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but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Linux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still</a:t>
            </a:r>
            <a:r>
              <a:rPr dirty="0" sz="12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sees</a:t>
            </a:r>
            <a:r>
              <a:rPr dirty="0" sz="12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old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size.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559015" y="1804135"/>
            <a:ext cx="396875" cy="396875"/>
            <a:chOff x="6559015" y="1804135"/>
            <a:chExt cx="396875" cy="396875"/>
          </a:xfrm>
        </p:grpSpPr>
        <p:sp>
          <p:nvSpPr>
            <p:cNvPr id="45" name="object 45"/>
            <p:cNvSpPr/>
            <p:nvPr/>
          </p:nvSpPr>
          <p:spPr>
            <a:xfrm>
              <a:off x="6565315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6" y="308895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3" y="369390"/>
                  </a:lnTo>
                  <a:lnTo>
                    <a:pt x="308951" y="344199"/>
                  </a:lnTo>
                  <a:lnTo>
                    <a:pt x="344499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1" y="39568"/>
                  </a:lnTo>
                  <a:lnTo>
                    <a:pt x="265443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565315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8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2" y="6438"/>
                  </a:lnTo>
                  <a:lnTo>
                    <a:pt x="287997" y="25565"/>
                  </a:lnTo>
                  <a:lnTo>
                    <a:pt x="327874" y="56070"/>
                  </a:lnTo>
                  <a:lnTo>
                    <a:pt x="358559" y="95758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74" y="327696"/>
                  </a:lnTo>
                  <a:lnTo>
                    <a:pt x="287997" y="358203"/>
                  </a:lnTo>
                  <a:lnTo>
                    <a:pt x="241742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6545224" y="1762823"/>
            <a:ext cx="8305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105" b="1">
                <a:solidFill>
                  <a:srgbClr val="10243F"/>
                </a:solidFill>
                <a:latin typeface="Arial"/>
                <a:cs typeface="Arial"/>
              </a:rPr>
              <a:t>S</a:t>
            </a:r>
            <a:r>
              <a:rPr dirty="0" baseline="-33333" sz="1500" spc="-157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600" spc="-105" b="1">
                <a:solidFill>
                  <a:srgbClr val="10243F"/>
                </a:solidFill>
                <a:latin typeface="Arial"/>
                <a:cs typeface="Arial"/>
              </a:rPr>
              <a:t>t</a:t>
            </a:r>
            <a:r>
              <a:rPr dirty="0" baseline="-33333" sz="1500" spc="-157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1600" spc="-105" b="1">
                <a:solidFill>
                  <a:srgbClr val="10243F"/>
                </a:solidFill>
                <a:latin typeface="Arial"/>
                <a:cs typeface="Arial"/>
              </a:rPr>
              <a:t>orage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70980" y="2829864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23265" y="2855061"/>
            <a:ext cx="1998980" cy="398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question:</a:t>
            </a:r>
            <a:r>
              <a:rPr dirty="0" sz="12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evidence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proves</a:t>
            </a:r>
            <a:r>
              <a:rPr dirty="0" sz="12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fixed?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237726" y="1593850"/>
            <a:ext cx="2693670" cy="3122930"/>
            <a:chOff x="9237726" y="1593850"/>
            <a:chExt cx="2693670" cy="3122930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2440" y="1618195"/>
              <a:ext cx="2668676" cy="309816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244444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255995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990164"/>
                  </a:lnTo>
                  <a:lnTo>
                    <a:pt x="594" y="2999435"/>
                  </a:lnTo>
                  <a:lnTo>
                    <a:pt x="607" y="2999640"/>
                  </a:lnTo>
                  <a:lnTo>
                    <a:pt x="2394" y="3008836"/>
                  </a:lnTo>
                  <a:lnTo>
                    <a:pt x="2428" y="3009015"/>
                  </a:lnTo>
                  <a:lnTo>
                    <a:pt x="5412" y="3017899"/>
                  </a:lnTo>
                  <a:lnTo>
                    <a:pt x="36360" y="3053524"/>
                  </a:lnTo>
                  <a:lnTo>
                    <a:pt x="73075" y="3063240"/>
                  </a:lnTo>
                  <a:lnTo>
                    <a:pt x="2560320" y="3062884"/>
                  </a:lnTo>
                  <a:lnTo>
                    <a:pt x="2604690" y="3047780"/>
                  </a:lnTo>
                  <a:lnTo>
                    <a:pt x="2627854" y="3018055"/>
                  </a:lnTo>
                  <a:lnTo>
                    <a:pt x="2627930" y="3017899"/>
                  </a:lnTo>
                  <a:lnTo>
                    <a:pt x="2630906" y="3009015"/>
                  </a:lnTo>
                  <a:lnTo>
                    <a:pt x="2630966" y="3008836"/>
                  </a:lnTo>
                  <a:lnTo>
                    <a:pt x="2632748" y="2999640"/>
                  </a:lnTo>
                  <a:lnTo>
                    <a:pt x="2632788" y="2999435"/>
                  </a:lnTo>
                  <a:lnTo>
                    <a:pt x="2633372" y="2990164"/>
                  </a:lnTo>
                  <a:lnTo>
                    <a:pt x="2633395" y="2989795"/>
                  </a:lnTo>
                  <a:lnTo>
                    <a:pt x="2633040" y="73075"/>
                  </a:lnTo>
                  <a:lnTo>
                    <a:pt x="2617936" y="28705"/>
                  </a:lnTo>
                  <a:lnTo>
                    <a:pt x="2578992" y="2428"/>
                  </a:lnTo>
                  <a:lnTo>
                    <a:pt x="2569591" y="607"/>
                  </a:lnTo>
                  <a:lnTo>
                    <a:pt x="2559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244444" y="1600200"/>
              <a:ext cx="2633980" cy="3063240"/>
            </a:xfrm>
            <a:custGeom>
              <a:avLst/>
              <a:gdLst/>
              <a:ahLst/>
              <a:cxnLst/>
              <a:rect l="l" t="t" r="r" b="b"/>
              <a:pathLst>
                <a:path w="2633979" h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559951" y="0"/>
                  </a:lnTo>
                  <a:lnTo>
                    <a:pt x="2604484" y="15104"/>
                  </a:lnTo>
                  <a:lnTo>
                    <a:pt x="2630609" y="54224"/>
                  </a:lnTo>
                  <a:lnTo>
                    <a:pt x="2633040" y="73075"/>
                  </a:lnTo>
                  <a:lnTo>
                    <a:pt x="2633395" y="2989795"/>
                  </a:lnTo>
                  <a:lnTo>
                    <a:pt x="2632788" y="2999435"/>
                  </a:lnTo>
                  <a:lnTo>
                    <a:pt x="2630966" y="3008836"/>
                  </a:lnTo>
                  <a:lnTo>
                    <a:pt x="2604690" y="3047780"/>
                  </a:lnTo>
                  <a:lnTo>
                    <a:pt x="2560320" y="3062884"/>
                  </a:lnTo>
                  <a:lnTo>
                    <a:pt x="73075" y="3063240"/>
                  </a:lnTo>
                  <a:lnTo>
                    <a:pt x="28548" y="3048135"/>
                  </a:lnTo>
                  <a:lnTo>
                    <a:pt x="2428" y="3009015"/>
                  </a:lnTo>
                  <a:lnTo>
                    <a:pt x="0" y="29901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244076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63728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42" y="3062884"/>
                  </a:lnTo>
                  <a:lnTo>
                    <a:pt x="63728" y="30628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244076" y="1600200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32042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3062884"/>
                  </a:lnTo>
                  <a:lnTo>
                    <a:pt x="32042" y="306288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9432976" y="2083942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585261" y="2109139"/>
            <a:ext cx="1998980" cy="584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data,</a:t>
            </a:r>
            <a:r>
              <a:rPr dirty="0" sz="12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exposed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credentials,</a:t>
            </a:r>
            <a:r>
              <a:rPr dirty="0" sz="12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silent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alert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unclear</a:t>
            </a:r>
            <a:r>
              <a:rPr dirty="0" sz="12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spend.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421024" y="1804135"/>
            <a:ext cx="396875" cy="396875"/>
            <a:chOff x="9421024" y="1804135"/>
            <a:chExt cx="396875" cy="396875"/>
          </a:xfrm>
        </p:grpSpPr>
        <p:sp>
          <p:nvSpPr>
            <p:cNvPr id="59" name="object 59"/>
            <p:cNvSpPr/>
            <p:nvPr/>
          </p:nvSpPr>
          <p:spPr>
            <a:xfrm>
              <a:off x="9427324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8"/>
                  </a:lnTo>
                  <a:lnTo>
                    <a:pt x="96113" y="25565"/>
                  </a:lnTo>
                  <a:lnTo>
                    <a:pt x="56246" y="56070"/>
                  </a:lnTo>
                  <a:lnTo>
                    <a:pt x="25552" y="95758"/>
                  </a:lnTo>
                  <a:lnTo>
                    <a:pt x="6565" y="142068"/>
                  </a:lnTo>
                  <a:lnTo>
                    <a:pt x="0" y="191884"/>
                  </a:lnTo>
                  <a:lnTo>
                    <a:pt x="1663" y="217080"/>
                  </a:lnTo>
                  <a:lnTo>
                    <a:pt x="14573" y="265438"/>
                  </a:lnTo>
                  <a:lnTo>
                    <a:pt x="39619" y="308895"/>
                  </a:lnTo>
                  <a:lnTo>
                    <a:pt x="75167" y="344199"/>
                  </a:lnTo>
                  <a:lnTo>
                    <a:pt x="118675" y="369390"/>
                  </a:lnTo>
                  <a:lnTo>
                    <a:pt x="167042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3" y="344199"/>
                  </a:lnTo>
                  <a:lnTo>
                    <a:pt x="344492" y="308895"/>
                  </a:lnTo>
                  <a:lnTo>
                    <a:pt x="369538" y="265438"/>
                  </a:lnTo>
                  <a:lnTo>
                    <a:pt x="382447" y="217080"/>
                  </a:lnTo>
                  <a:lnTo>
                    <a:pt x="384111" y="191884"/>
                  </a:lnTo>
                  <a:lnTo>
                    <a:pt x="382447" y="166688"/>
                  </a:lnTo>
                  <a:lnTo>
                    <a:pt x="369538" y="118325"/>
                  </a:lnTo>
                  <a:lnTo>
                    <a:pt x="344492" y="74867"/>
                  </a:lnTo>
                  <a:lnTo>
                    <a:pt x="308943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427324" y="181043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3" y="166688"/>
                  </a:lnTo>
                  <a:lnTo>
                    <a:pt x="6565" y="142068"/>
                  </a:lnTo>
                  <a:lnTo>
                    <a:pt x="25552" y="95758"/>
                  </a:lnTo>
                  <a:lnTo>
                    <a:pt x="56246" y="56070"/>
                  </a:lnTo>
                  <a:lnTo>
                    <a:pt x="96113" y="25565"/>
                  </a:lnTo>
                  <a:lnTo>
                    <a:pt x="142419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4" y="56070"/>
                  </a:lnTo>
                  <a:lnTo>
                    <a:pt x="358559" y="95758"/>
                  </a:lnTo>
                  <a:lnTo>
                    <a:pt x="377545" y="142068"/>
                  </a:lnTo>
                  <a:lnTo>
                    <a:pt x="384111" y="191884"/>
                  </a:lnTo>
                  <a:lnTo>
                    <a:pt x="382447" y="217080"/>
                  </a:lnTo>
                  <a:lnTo>
                    <a:pt x="377545" y="241698"/>
                  </a:lnTo>
                  <a:lnTo>
                    <a:pt x="358559" y="287997"/>
                  </a:lnTo>
                  <a:lnTo>
                    <a:pt x="327864" y="32769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19" y="377507"/>
                  </a:lnTo>
                  <a:lnTo>
                    <a:pt x="96113" y="358203"/>
                  </a:lnTo>
                  <a:lnTo>
                    <a:pt x="56246" y="327696"/>
                  </a:lnTo>
                  <a:lnTo>
                    <a:pt x="25552" y="287997"/>
                  </a:lnTo>
                  <a:lnTo>
                    <a:pt x="6565" y="241698"/>
                  </a:lnTo>
                  <a:lnTo>
                    <a:pt x="1663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9407220" y="1762823"/>
            <a:ext cx="1494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4" b="1">
                <a:solidFill>
                  <a:srgbClr val="10243F"/>
                </a:solidFill>
                <a:latin typeface="Arial"/>
                <a:cs typeface="Arial"/>
              </a:rPr>
              <a:t>S</a:t>
            </a:r>
            <a:r>
              <a:rPr dirty="0" baseline="-33333" sz="1500" spc="-48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600" spc="-590" b="1">
                <a:solidFill>
                  <a:srgbClr val="10243F"/>
                </a:solidFill>
                <a:latin typeface="Arial"/>
                <a:cs typeface="Arial"/>
              </a:rPr>
              <a:t>e</a:t>
            </a:r>
            <a:r>
              <a:rPr dirty="0" baseline="-33333" sz="1500" spc="22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cu</a:t>
            </a:r>
            <a:r>
              <a:rPr dirty="0" sz="1600" spc="-15" b="1">
                <a:solidFill>
                  <a:srgbClr val="10243F"/>
                </a:solidFill>
                <a:latin typeface="Arial"/>
                <a:cs typeface="Arial"/>
              </a:rPr>
              <a:t>r</a:t>
            </a:r>
            <a:r>
              <a:rPr dirty="0" sz="1600" spc="-5" b="1">
                <a:solidFill>
                  <a:srgbClr val="10243F"/>
                </a:solidFill>
                <a:latin typeface="Arial"/>
                <a:cs typeface="Arial"/>
              </a:rPr>
              <a:t>i</a:t>
            </a:r>
            <a:r>
              <a:rPr dirty="0" sz="1600" spc="-15" b="1">
                <a:solidFill>
                  <a:srgbClr val="10243F"/>
                </a:solidFill>
                <a:latin typeface="Arial"/>
                <a:cs typeface="Arial"/>
              </a:rPr>
              <a:t>t</a:t>
            </a:r>
            <a:r>
              <a:rPr dirty="0" sz="1600" spc="-5" b="1">
                <a:solidFill>
                  <a:srgbClr val="10243F"/>
                </a:solidFill>
                <a:latin typeface="Arial"/>
                <a:cs typeface="Arial"/>
              </a:rPr>
              <a:t>y</a:t>
            </a:r>
            <a:r>
              <a:rPr dirty="0" sz="1600" spc="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&amp;</a:t>
            </a:r>
            <a:r>
              <a:rPr dirty="0" sz="1600" spc="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10243F"/>
                </a:solidFill>
                <a:latin typeface="Arial"/>
                <a:cs typeface="Arial"/>
              </a:rPr>
              <a:t>ops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432976" y="2829864"/>
            <a:ext cx="8064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585261" y="2855061"/>
            <a:ext cx="1998980" cy="398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question:</a:t>
            </a:r>
            <a:r>
              <a:rPr dirty="0" sz="12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2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evidence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proves</a:t>
            </a:r>
            <a:r>
              <a:rPr dirty="0" sz="12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fixed?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63" name="object 63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809904" y="6000381"/>
            <a:ext cx="45967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Support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rule: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successful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command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same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resolved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incident.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51003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By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end,</a:t>
            </a:r>
            <a:r>
              <a:rPr dirty="0" spc="-30"/>
              <a:t> </a:t>
            </a:r>
            <a:r>
              <a:rPr dirty="0"/>
              <a:t>learners</a:t>
            </a:r>
            <a:r>
              <a:rPr dirty="0" spc="-25"/>
              <a:t> </a:t>
            </a:r>
            <a:r>
              <a:rPr dirty="0"/>
              <a:t>should</a:t>
            </a:r>
            <a:r>
              <a:rPr dirty="0" spc="-30"/>
              <a:t> </a:t>
            </a:r>
            <a:r>
              <a:rPr dirty="0"/>
              <a:t>be</a:t>
            </a:r>
            <a:r>
              <a:rPr dirty="0" spc="-25"/>
              <a:t> </a:t>
            </a:r>
            <a:r>
              <a:rPr dirty="0"/>
              <a:t>able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explain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verify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1321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This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just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click-through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lab.</a:t>
            </a:r>
            <a:r>
              <a:rPr dirty="0" sz="1050" spc="1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You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should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understand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what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each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change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does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why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safe.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79144" y="1529815"/>
            <a:ext cx="5589270" cy="817244"/>
            <a:chOff x="679144" y="1529815"/>
            <a:chExt cx="5589270" cy="817244"/>
          </a:xfrm>
        </p:grpSpPr>
        <p:sp>
          <p:nvSpPr>
            <p:cNvPr id="7" name="object 7"/>
            <p:cNvSpPr/>
            <p:nvPr/>
          </p:nvSpPr>
          <p:spPr>
            <a:xfrm>
              <a:off x="685444" y="153611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80">
                  <a:moveTo>
                    <a:pt x="55043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731519"/>
                  </a:lnTo>
                  <a:lnTo>
                    <a:pt x="594" y="740798"/>
                  </a:lnTo>
                  <a:lnTo>
                    <a:pt x="607" y="740998"/>
                  </a:lnTo>
                  <a:lnTo>
                    <a:pt x="2394" y="750198"/>
                  </a:lnTo>
                  <a:lnTo>
                    <a:pt x="2428" y="750376"/>
                  </a:lnTo>
                  <a:lnTo>
                    <a:pt x="28548" y="789498"/>
                  </a:lnTo>
                  <a:lnTo>
                    <a:pt x="73075" y="804608"/>
                  </a:lnTo>
                  <a:lnTo>
                    <a:pt x="5504751" y="804240"/>
                  </a:lnTo>
                  <a:lnTo>
                    <a:pt x="5549129" y="789148"/>
                  </a:lnTo>
                  <a:lnTo>
                    <a:pt x="5572292" y="759416"/>
                  </a:lnTo>
                  <a:lnTo>
                    <a:pt x="5572369" y="759260"/>
                  </a:lnTo>
                  <a:lnTo>
                    <a:pt x="5575349" y="750376"/>
                  </a:lnTo>
                  <a:lnTo>
                    <a:pt x="5575409" y="750198"/>
                  </a:lnTo>
                  <a:lnTo>
                    <a:pt x="5577193" y="740998"/>
                  </a:lnTo>
                  <a:lnTo>
                    <a:pt x="5577232" y="740798"/>
                  </a:lnTo>
                  <a:lnTo>
                    <a:pt x="5577817" y="731519"/>
                  </a:lnTo>
                  <a:lnTo>
                    <a:pt x="5577840" y="731164"/>
                  </a:lnTo>
                  <a:lnTo>
                    <a:pt x="5577471" y="73088"/>
                  </a:lnTo>
                  <a:lnTo>
                    <a:pt x="5562380" y="28710"/>
                  </a:lnTo>
                  <a:lnTo>
                    <a:pt x="5523430" y="2430"/>
                  </a:lnTo>
                  <a:lnTo>
                    <a:pt x="5514029" y="607"/>
                  </a:lnTo>
                  <a:lnTo>
                    <a:pt x="5504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444" y="153611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8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504395" y="0"/>
                  </a:lnTo>
                  <a:lnTo>
                    <a:pt x="5548923" y="15109"/>
                  </a:lnTo>
                  <a:lnTo>
                    <a:pt x="5575042" y="54232"/>
                  </a:lnTo>
                  <a:lnTo>
                    <a:pt x="5577471" y="73088"/>
                  </a:lnTo>
                  <a:lnTo>
                    <a:pt x="5577840" y="731164"/>
                  </a:lnTo>
                  <a:lnTo>
                    <a:pt x="5577232" y="740798"/>
                  </a:lnTo>
                  <a:lnTo>
                    <a:pt x="5575409" y="750198"/>
                  </a:lnTo>
                  <a:lnTo>
                    <a:pt x="5549129" y="789148"/>
                  </a:lnTo>
                  <a:lnTo>
                    <a:pt x="5504751" y="804240"/>
                  </a:lnTo>
                  <a:lnTo>
                    <a:pt x="73075" y="804608"/>
                  </a:lnTo>
                  <a:lnTo>
                    <a:pt x="28548" y="789498"/>
                  </a:lnTo>
                  <a:lnTo>
                    <a:pt x="2428" y="750376"/>
                  </a:lnTo>
                  <a:lnTo>
                    <a:pt x="0" y="731519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444" y="153611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4">
                  <a:moveTo>
                    <a:pt x="6371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32029" y="804240"/>
                  </a:lnTo>
                  <a:lnTo>
                    <a:pt x="63715" y="80424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444" y="153611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4">
                  <a:moveTo>
                    <a:pt x="32029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04240"/>
                  </a:lnTo>
                  <a:lnTo>
                    <a:pt x="32029" y="80424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799224" y="1605864"/>
            <a:ext cx="161734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70" b="1">
                <a:solidFill>
                  <a:srgbClr val="0077D3"/>
                </a:solidFill>
                <a:latin typeface="Arial"/>
                <a:cs typeface="Arial"/>
              </a:rPr>
              <a:t>THE</a:t>
            </a:r>
            <a:r>
              <a:rPr dirty="0" sz="900" spc="21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spc="90" b="1">
                <a:solidFill>
                  <a:srgbClr val="0077D3"/>
                </a:solidFill>
                <a:latin typeface="Arial"/>
                <a:cs typeface="Arial"/>
              </a:rPr>
              <a:t>WORKING</a:t>
            </a:r>
            <a:r>
              <a:rPr dirty="0" sz="900" spc="229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spc="80" b="1">
                <a:solidFill>
                  <a:srgbClr val="0077D3"/>
                </a:solidFill>
                <a:latin typeface="Arial"/>
                <a:cs typeface="Arial"/>
              </a:rPr>
              <a:t>METHOD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344" y="1718538"/>
            <a:ext cx="763905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Compute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975" y="202237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6261" y="2044331"/>
            <a:ext cx="381254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Explain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states,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deallocation,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Scale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Set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scaling.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897369" y="2051050"/>
            <a:ext cx="396875" cy="396875"/>
            <a:chOff x="6897369" y="2051050"/>
            <a:chExt cx="396875" cy="396875"/>
          </a:xfrm>
        </p:grpSpPr>
        <p:sp>
          <p:nvSpPr>
            <p:cNvPr id="40" name="object 40"/>
            <p:cNvSpPr/>
            <p:nvPr/>
          </p:nvSpPr>
          <p:spPr>
            <a:xfrm>
              <a:off x="6903719" y="205740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903719" y="205740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6"/>
                  </a:lnTo>
                  <a:lnTo>
                    <a:pt x="6572" y="142063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4"/>
                  </a:lnTo>
                  <a:lnTo>
                    <a:pt x="192239" y="0"/>
                  </a:lnTo>
                  <a:lnTo>
                    <a:pt x="241738" y="6434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3"/>
                  </a:lnTo>
                  <a:lnTo>
                    <a:pt x="384124" y="191884"/>
                  </a:lnTo>
                  <a:lnTo>
                    <a:pt x="382458" y="217074"/>
                  </a:lnTo>
                  <a:lnTo>
                    <a:pt x="377551" y="241693"/>
                  </a:lnTo>
                  <a:lnTo>
                    <a:pt x="358559" y="287997"/>
                  </a:lnTo>
                  <a:lnTo>
                    <a:pt x="327869" y="32768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86"/>
                  </a:lnTo>
                  <a:lnTo>
                    <a:pt x="25565" y="287997"/>
                  </a:lnTo>
                  <a:lnTo>
                    <a:pt x="6572" y="241693"/>
                  </a:lnTo>
                  <a:lnTo>
                    <a:pt x="1665" y="217074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7044016" y="2152700"/>
            <a:ext cx="103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39304" y="2042172"/>
            <a:ext cx="7086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Observe</a:t>
            </a:r>
            <a:endParaRPr sz="13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856624" y="2057653"/>
            <a:ext cx="82169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Collect</a:t>
            </a:r>
            <a:r>
              <a:rPr dirty="0" sz="11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facts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9144" y="2535655"/>
            <a:ext cx="5589270" cy="817244"/>
            <a:chOff x="679144" y="2535655"/>
            <a:chExt cx="5589270" cy="817244"/>
          </a:xfrm>
        </p:grpSpPr>
        <p:sp>
          <p:nvSpPr>
            <p:cNvPr id="15" name="object 15"/>
            <p:cNvSpPr/>
            <p:nvPr/>
          </p:nvSpPr>
          <p:spPr>
            <a:xfrm>
              <a:off x="685444" y="254195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79">
                  <a:moveTo>
                    <a:pt x="55043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731520"/>
                  </a:lnTo>
                  <a:lnTo>
                    <a:pt x="594" y="740798"/>
                  </a:lnTo>
                  <a:lnTo>
                    <a:pt x="607" y="740998"/>
                  </a:lnTo>
                  <a:lnTo>
                    <a:pt x="2394" y="750198"/>
                  </a:lnTo>
                  <a:lnTo>
                    <a:pt x="2428" y="750376"/>
                  </a:lnTo>
                  <a:lnTo>
                    <a:pt x="5412" y="759260"/>
                  </a:lnTo>
                  <a:lnTo>
                    <a:pt x="36360" y="794880"/>
                  </a:lnTo>
                  <a:lnTo>
                    <a:pt x="73075" y="804608"/>
                  </a:lnTo>
                  <a:lnTo>
                    <a:pt x="5504751" y="804240"/>
                  </a:lnTo>
                  <a:lnTo>
                    <a:pt x="5549129" y="789148"/>
                  </a:lnTo>
                  <a:lnTo>
                    <a:pt x="5575349" y="750376"/>
                  </a:lnTo>
                  <a:lnTo>
                    <a:pt x="5577193" y="740998"/>
                  </a:lnTo>
                  <a:lnTo>
                    <a:pt x="5577232" y="740798"/>
                  </a:lnTo>
                  <a:lnTo>
                    <a:pt x="5577817" y="731520"/>
                  </a:lnTo>
                  <a:lnTo>
                    <a:pt x="5577840" y="731164"/>
                  </a:lnTo>
                  <a:lnTo>
                    <a:pt x="5577471" y="73088"/>
                  </a:lnTo>
                  <a:lnTo>
                    <a:pt x="5562380" y="28710"/>
                  </a:lnTo>
                  <a:lnTo>
                    <a:pt x="5523430" y="2430"/>
                  </a:lnTo>
                  <a:lnTo>
                    <a:pt x="5514029" y="607"/>
                  </a:lnTo>
                  <a:lnTo>
                    <a:pt x="5504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5444" y="254195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504395" y="0"/>
                  </a:lnTo>
                  <a:lnTo>
                    <a:pt x="5548923" y="15109"/>
                  </a:lnTo>
                  <a:lnTo>
                    <a:pt x="5575042" y="54232"/>
                  </a:lnTo>
                  <a:lnTo>
                    <a:pt x="5577471" y="73088"/>
                  </a:lnTo>
                  <a:lnTo>
                    <a:pt x="5577840" y="731164"/>
                  </a:lnTo>
                  <a:lnTo>
                    <a:pt x="5577232" y="740798"/>
                  </a:lnTo>
                  <a:lnTo>
                    <a:pt x="5575409" y="750198"/>
                  </a:lnTo>
                  <a:lnTo>
                    <a:pt x="5549129" y="789148"/>
                  </a:lnTo>
                  <a:lnTo>
                    <a:pt x="5504751" y="804240"/>
                  </a:lnTo>
                  <a:lnTo>
                    <a:pt x="73075" y="804608"/>
                  </a:lnTo>
                  <a:lnTo>
                    <a:pt x="28548" y="789498"/>
                  </a:lnTo>
                  <a:lnTo>
                    <a:pt x="2428" y="750376"/>
                  </a:lnTo>
                  <a:lnTo>
                    <a:pt x="0" y="73152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5444" y="254195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5">
                  <a:moveTo>
                    <a:pt x="6371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32029" y="804240"/>
                  </a:lnTo>
                  <a:lnTo>
                    <a:pt x="63715" y="80424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5444" y="254195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5">
                  <a:moveTo>
                    <a:pt x="32029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04240"/>
                  </a:lnTo>
                  <a:lnTo>
                    <a:pt x="32029" y="80424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/>
          <p:cNvGrpSpPr/>
          <p:nvPr/>
        </p:nvGrpSpPr>
        <p:grpSpPr>
          <a:xfrm>
            <a:off x="7058164" y="2470864"/>
            <a:ext cx="76200" cy="290830"/>
            <a:chOff x="7058164" y="2470864"/>
            <a:chExt cx="76200" cy="290830"/>
          </a:xfrm>
        </p:grpSpPr>
        <p:sp>
          <p:nvSpPr>
            <p:cNvPr id="46" name="object 46"/>
            <p:cNvSpPr/>
            <p:nvPr/>
          </p:nvSpPr>
          <p:spPr>
            <a:xfrm>
              <a:off x="7095604" y="2477884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60">
                  <a:moveTo>
                    <a:pt x="0" y="0"/>
                  </a:moveTo>
                  <a:lnTo>
                    <a:pt x="355" y="212750"/>
                  </a:lnTo>
                </a:path>
              </a:pathLst>
            </a:custGeom>
            <a:ln w="140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058164" y="26856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7795" y="75590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74344" y="2724378"/>
            <a:ext cx="104775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Connectivity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3975" y="302821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6261" y="3050171"/>
            <a:ext cx="465582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Trace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SSH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connectivity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through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IP,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routing,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OS.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97369" y="2837294"/>
            <a:ext cx="396875" cy="396875"/>
            <a:chOff x="6897369" y="2837294"/>
            <a:chExt cx="396875" cy="396875"/>
          </a:xfrm>
        </p:grpSpPr>
        <p:sp>
          <p:nvSpPr>
            <p:cNvPr id="49" name="object 49"/>
            <p:cNvSpPr/>
            <p:nvPr/>
          </p:nvSpPr>
          <p:spPr>
            <a:xfrm>
              <a:off x="6903719" y="28436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903719" y="28436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7044016" y="2939300"/>
            <a:ext cx="103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39304" y="2828417"/>
            <a:ext cx="7937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Diagnose</a:t>
            </a:r>
            <a:endParaRPr sz="13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856624" y="2843898"/>
            <a:ext cx="9112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Find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layer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058164" y="3257096"/>
            <a:ext cx="76200" cy="290830"/>
            <a:chOff x="7058164" y="3257096"/>
            <a:chExt cx="76200" cy="290830"/>
          </a:xfrm>
        </p:grpSpPr>
        <p:sp>
          <p:nvSpPr>
            <p:cNvPr id="55" name="object 55"/>
            <p:cNvSpPr/>
            <p:nvPr/>
          </p:nvSpPr>
          <p:spPr>
            <a:xfrm>
              <a:off x="7095604" y="3264116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60">
                  <a:moveTo>
                    <a:pt x="0" y="0"/>
                  </a:moveTo>
                  <a:lnTo>
                    <a:pt x="355" y="213118"/>
                  </a:lnTo>
                </a:path>
              </a:pathLst>
            </a:custGeom>
            <a:ln w="140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058164" y="34722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7795" y="75590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679144" y="3541495"/>
            <a:ext cx="5589270" cy="817244"/>
            <a:chOff x="679144" y="3541495"/>
            <a:chExt cx="5589270" cy="817244"/>
          </a:xfrm>
        </p:grpSpPr>
        <p:sp>
          <p:nvSpPr>
            <p:cNvPr id="23" name="object 23"/>
            <p:cNvSpPr/>
            <p:nvPr/>
          </p:nvSpPr>
          <p:spPr>
            <a:xfrm>
              <a:off x="685444" y="354779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79">
                  <a:moveTo>
                    <a:pt x="55043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731520"/>
                  </a:lnTo>
                  <a:lnTo>
                    <a:pt x="594" y="740798"/>
                  </a:lnTo>
                  <a:lnTo>
                    <a:pt x="607" y="740998"/>
                  </a:lnTo>
                  <a:lnTo>
                    <a:pt x="2394" y="750198"/>
                  </a:lnTo>
                  <a:lnTo>
                    <a:pt x="2428" y="750376"/>
                  </a:lnTo>
                  <a:lnTo>
                    <a:pt x="5412" y="759260"/>
                  </a:lnTo>
                  <a:lnTo>
                    <a:pt x="5464" y="759416"/>
                  </a:lnTo>
                  <a:lnTo>
                    <a:pt x="9715" y="767880"/>
                  </a:lnTo>
                  <a:lnTo>
                    <a:pt x="44979" y="799138"/>
                  </a:lnTo>
                  <a:lnTo>
                    <a:pt x="73075" y="804608"/>
                  </a:lnTo>
                  <a:lnTo>
                    <a:pt x="5504751" y="804240"/>
                  </a:lnTo>
                  <a:lnTo>
                    <a:pt x="5549129" y="789148"/>
                  </a:lnTo>
                  <a:lnTo>
                    <a:pt x="5575349" y="750376"/>
                  </a:lnTo>
                  <a:lnTo>
                    <a:pt x="5577193" y="740998"/>
                  </a:lnTo>
                  <a:lnTo>
                    <a:pt x="5577232" y="740798"/>
                  </a:lnTo>
                  <a:lnTo>
                    <a:pt x="5577817" y="731520"/>
                  </a:lnTo>
                  <a:lnTo>
                    <a:pt x="5577840" y="731164"/>
                  </a:lnTo>
                  <a:lnTo>
                    <a:pt x="5577471" y="73088"/>
                  </a:lnTo>
                  <a:lnTo>
                    <a:pt x="5562380" y="28710"/>
                  </a:lnTo>
                  <a:lnTo>
                    <a:pt x="5523430" y="2430"/>
                  </a:lnTo>
                  <a:lnTo>
                    <a:pt x="5514029" y="607"/>
                  </a:lnTo>
                  <a:lnTo>
                    <a:pt x="5504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5444" y="354779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504395" y="0"/>
                  </a:lnTo>
                  <a:lnTo>
                    <a:pt x="5548923" y="15109"/>
                  </a:lnTo>
                  <a:lnTo>
                    <a:pt x="5575042" y="54232"/>
                  </a:lnTo>
                  <a:lnTo>
                    <a:pt x="5577471" y="73088"/>
                  </a:lnTo>
                  <a:lnTo>
                    <a:pt x="5577840" y="731164"/>
                  </a:lnTo>
                  <a:lnTo>
                    <a:pt x="5577232" y="740798"/>
                  </a:lnTo>
                  <a:lnTo>
                    <a:pt x="5575409" y="750198"/>
                  </a:lnTo>
                  <a:lnTo>
                    <a:pt x="5549129" y="789148"/>
                  </a:lnTo>
                  <a:lnTo>
                    <a:pt x="5504751" y="804240"/>
                  </a:lnTo>
                  <a:lnTo>
                    <a:pt x="73075" y="804608"/>
                  </a:lnTo>
                  <a:lnTo>
                    <a:pt x="28548" y="789498"/>
                  </a:lnTo>
                  <a:lnTo>
                    <a:pt x="2428" y="750376"/>
                  </a:lnTo>
                  <a:lnTo>
                    <a:pt x="0" y="73152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5444" y="354779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5">
                  <a:moveTo>
                    <a:pt x="6371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32029" y="804240"/>
                  </a:lnTo>
                  <a:lnTo>
                    <a:pt x="63715" y="80424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85444" y="354779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5">
                  <a:moveTo>
                    <a:pt x="32029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04240"/>
                  </a:lnTo>
                  <a:lnTo>
                    <a:pt x="32029" y="80424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74344" y="3730218"/>
            <a:ext cx="659765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Storage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897369" y="3623894"/>
            <a:ext cx="396875" cy="396875"/>
            <a:chOff x="6897369" y="3623894"/>
            <a:chExt cx="396875" cy="396875"/>
          </a:xfrm>
        </p:grpSpPr>
        <p:sp>
          <p:nvSpPr>
            <p:cNvPr id="58" name="object 58"/>
            <p:cNvSpPr/>
            <p:nvPr/>
          </p:nvSpPr>
          <p:spPr>
            <a:xfrm>
              <a:off x="6903719" y="36302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7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903719" y="36302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7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7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044016" y="3725545"/>
            <a:ext cx="103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39304" y="3614661"/>
            <a:ext cx="6515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Change</a:t>
            </a:r>
            <a:endParaRPr sz="13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856624" y="3630129"/>
            <a:ext cx="8705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Scope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fix</a:t>
            </a:r>
            <a:endParaRPr sz="1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3975" y="403405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6261" y="4056011"/>
            <a:ext cx="4645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Expand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managed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then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expand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Linux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partition/filesystem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safely.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058164" y="4043695"/>
            <a:ext cx="76200" cy="290830"/>
            <a:chOff x="7058164" y="4043695"/>
            <a:chExt cx="76200" cy="290830"/>
          </a:xfrm>
        </p:grpSpPr>
        <p:sp>
          <p:nvSpPr>
            <p:cNvPr id="64" name="object 64"/>
            <p:cNvSpPr/>
            <p:nvPr/>
          </p:nvSpPr>
          <p:spPr>
            <a:xfrm>
              <a:off x="7095604" y="4050715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60">
                  <a:moveTo>
                    <a:pt x="0" y="0"/>
                  </a:moveTo>
                  <a:lnTo>
                    <a:pt x="355" y="212763"/>
                  </a:lnTo>
                </a:path>
              </a:pathLst>
            </a:custGeom>
            <a:ln w="140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058164" y="42584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679144" y="4547336"/>
            <a:ext cx="5589270" cy="817244"/>
            <a:chOff x="679144" y="4547336"/>
            <a:chExt cx="5589270" cy="817244"/>
          </a:xfrm>
        </p:grpSpPr>
        <p:sp>
          <p:nvSpPr>
            <p:cNvPr id="31" name="object 31"/>
            <p:cNvSpPr/>
            <p:nvPr/>
          </p:nvSpPr>
          <p:spPr>
            <a:xfrm>
              <a:off x="685444" y="455363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79">
                  <a:moveTo>
                    <a:pt x="55043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731520"/>
                  </a:lnTo>
                  <a:lnTo>
                    <a:pt x="594" y="740798"/>
                  </a:lnTo>
                  <a:lnTo>
                    <a:pt x="607" y="740998"/>
                  </a:lnTo>
                  <a:lnTo>
                    <a:pt x="2394" y="750198"/>
                  </a:lnTo>
                  <a:lnTo>
                    <a:pt x="2428" y="750376"/>
                  </a:lnTo>
                  <a:lnTo>
                    <a:pt x="28548" y="789498"/>
                  </a:lnTo>
                  <a:lnTo>
                    <a:pt x="73075" y="804608"/>
                  </a:lnTo>
                  <a:lnTo>
                    <a:pt x="5504751" y="804240"/>
                  </a:lnTo>
                  <a:lnTo>
                    <a:pt x="5549129" y="789148"/>
                  </a:lnTo>
                  <a:lnTo>
                    <a:pt x="5575349" y="750376"/>
                  </a:lnTo>
                  <a:lnTo>
                    <a:pt x="5577193" y="740998"/>
                  </a:lnTo>
                  <a:lnTo>
                    <a:pt x="5577232" y="740798"/>
                  </a:lnTo>
                  <a:lnTo>
                    <a:pt x="5577817" y="731520"/>
                  </a:lnTo>
                  <a:lnTo>
                    <a:pt x="5577840" y="731164"/>
                  </a:lnTo>
                  <a:lnTo>
                    <a:pt x="5577471" y="73088"/>
                  </a:lnTo>
                  <a:lnTo>
                    <a:pt x="5562380" y="28710"/>
                  </a:lnTo>
                  <a:lnTo>
                    <a:pt x="5523430" y="2430"/>
                  </a:lnTo>
                  <a:lnTo>
                    <a:pt x="5514029" y="607"/>
                  </a:lnTo>
                  <a:lnTo>
                    <a:pt x="5504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85444" y="4553635"/>
              <a:ext cx="5577840" cy="805180"/>
            </a:xfrm>
            <a:custGeom>
              <a:avLst/>
              <a:gdLst/>
              <a:ahLst/>
              <a:cxnLst/>
              <a:rect l="l" t="t" r="r" b="b"/>
              <a:pathLst>
                <a:path w="5577840" h="8051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504395" y="0"/>
                  </a:lnTo>
                  <a:lnTo>
                    <a:pt x="5548923" y="15109"/>
                  </a:lnTo>
                  <a:lnTo>
                    <a:pt x="5575042" y="54232"/>
                  </a:lnTo>
                  <a:lnTo>
                    <a:pt x="5577471" y="73088"/>
                  </a:lnTo>
                  <a:lnTo>
                    <a:pt x="5577840" y="731164"/>
                  </a:lnTo>
                  <a:lnTo>
                    <a:pt x="5577232" y="740798"/>
                  </a:lnTo>
                  <a:lnTo>
                    <a:pt x="5575409" y="750198"/>
                  </a:lnTo>
                  <a:lnTo>
                    <a:pt x="5549129" y="789148"/>
                  </a:lnTo>
                  <a:lnTo>
                    <a:pt x="5504751" y="804240"/>
                  </a:lnTo>
                  <a:lnTo>
                    <a:pt x="73075" y="804608"/>
                  </a:lnTo>
                  <a:lnTo>
                    <a:pt x="28548" y="789498"/>
                  </a:lnTo>
                  <a:lnTo>
                    <a:pt x="2428" y="750376"/>
                  </a:lnTo>
                  <a:lnTo>
                    <a:pt x="0" y="73152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85444" y="455363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5">
                  <a:moveTo>
                    <a:pt x="6371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32029" y="804240"/>
                  </a:lnTo>
                  <a:lnTo>
                    <a:pt x="63715" y="80424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85444" y="4553635"/>
              <a:ext cx="64135" cy="804545"/>
            </a:xfrm>
            <a:custGeom>
              <a:avLst/>
              <a:gdLst/>
              <a:ahLst/>
              <a:cxnLst/>
              <a:rect l="l" t="t" r="r" b="b"/>
              <a:pathLst>
                <a:path w="64134" h="804545">
                  <a:moveTo>
                    <a:pt x="32029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04240"/>
                  </a:lnTo>
                  <a:lnTo>
                    <a:pt x="32029" y="804240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/>
          <p:cNvGrpSpPr/>
          <p:nvPr/>
        </p:nvGrpSpPr>
        <p:grpSpPr>
          <a:xfrm>
            <a:off x="6897420" y="4410175"/>
            <a:ext cx="396875" cy="396875"/>
            <a:chOff x="6897420" y="4410175"/>
            <a:chExt cx="396875" cy="396875"/>
          </a:xfrm>
        </p:grpSpPr>
        <p:sp>
          <p:nvSpPr>
            <p:cNvPr id="67" name="object 67"/>
            <p:cNvSpPr/>
            <p:nvPr/>
          </p:nvSpPr>
          <p:spPr>
            <a:xfrm>
              <a:off x="6903719" y="44164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4" y="308895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903719" y="44164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69" y="32769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044016" y="4512145"/>
            <a:ext cx="103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439304" y="4401261"/>
            <a:ext cx="4908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Verify</a:t>
            </a:r>
            <a:endParaRPr sz="13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856624" y="4416730"/>
            <a:ext cx="11385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Test</a:t>
            </a:r>
            <a:r>
              <a:rPr dirty="0" sz="11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outcome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4344" y="4736058"/>
            <a:ext cx="121920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Security</a:t>
            </a:r>
            <a:r>
              <a:rPr dirty="0" sz="13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&amp;</a:t>
            </a:r>
            <a:r>
              <a:rPr dirty="0" sz="13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0243F"/>
                </a:solidFill>
                <a:latin typeface="Arial"/>
                <a:cs typeface="Arial"/>
              </a:rPr>
              <a:t>ops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3975" y="50398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26261" y="5061851"/>
            <a:ext cx="477393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Lock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down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Blob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access,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store/rotate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secrets,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configure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CMK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validate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alerts.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73" name="object 73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809904" y="6000381"/>
            <a:ext cx="53168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good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ticket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closure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includes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before/after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evidence,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root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cause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safe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remediation.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78" name="object 7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747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B</a:t>
            </a:r>
            <a:r>
              <a:rPr dirty="0" sz="850" spc="24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Day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20"/>
              <a:t> </a:t>
            </a:r>
            <a:r>
              <a:rPr dirty="0"/>
              <a:t>resources</a:t>
            </a:r>
            <a:r>
              <a:rPr dirty="0" spc="-25"/>
              <a:t> </a:t>
            </a:r>
            <a:r>
              <a:rPr dirty="0"/>
              <a:t>fit</a:t>
            </a:r>
            <a:r>
              <a:rPr dirty="0" spc="-20"/>
              <a:t> </a:t>
            </a:r>
            <a:r>
              <a:rPr dirty="0" spc="-10"/>
              <a:t>together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107765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learner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environment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combines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virtual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network,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compute,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data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storage,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identity/secrets,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monitoring.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Some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components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may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provisioned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only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selected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scenario.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24" y="1528740"/>
            <a:ext cx="7329595" cy="41749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2980" y="1640776"/>
            <a:ext cx="1570990" cy="156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solidFill>
                  <a:srgbClr val="6A798F"/>
                </a:solidFill>
                <a:latin typeface="Arial"/>
                <a:cs typeface="Arial"/>
              </a:rPr>
              <a:t>L</a:t>
            </a:r>
            <a:r>
              <a:rPr dirty="0" sz="850" spc="-125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B</a:t>
            </a:r>
            <a:r>
              <a:rPr dirty="0" sz="850" spc="24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R</a:t>
            </a:r>
            <a:r>
              <a:rPr dirty="0" sz="850" spc="-125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E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S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O</a:t>
            </a:r>
            <a:r>
              <a:rPr dirty="0" sz="850" spc="-125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U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R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C</a:t>
            </a:r>
            <a:r>
              <a:rPr dirty="0" sz="850" spc="-125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E</a:t>
            </a:r>
            <a:r>
              <a:rPr dirty="0" sz="850" spc="235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G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R</a:t>
            </a:r>
            <a:r>
              <a:rPr dirty="0" sz="850" spc="-125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O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6A798F"/>
                </a:solidFill>
                <a:latin typeface="Arial"/>
                <a:cs typeface="Arial"/>
              </a:rPr>
              <a:t>U</a:t>
            </a:r>
            <a:r>
              <a:rPr dirty="0" sz="850" spc="-120" b="1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6A798F"/>
                </a:solidFill>
                <a:latin typeface="Arial"/>
                <a:cs typeface="Arial"/>
              </a:rPr>
              <a:t>P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575" y="2023110"/>
            <a:ext cx="16687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77D3"/>
                </a:solidFill>
                <a:latin typeface="Arial"/>
                <a:cs typeface="Arial"/>
              </a:rPr>
              <a:t>VIRTUAL</a:t>
            </a:r>
            <a:r>
              <a:rPr dirty="0" sz="1000" spc="-2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77D3"/>
                </a:solidFill>
                <a:latin typeface="Arial"/>
                <a:cs typeface="Arial"/>
              </a:rPr>
              <a:t>NETWORK</a:t>
            </a:r>
            <a:r>
              <a:rPr dirty="0" sz="1000" spc="-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77D3"/>
                </a:solidFill>
                <a:latin typeface="Arial"/>
                <a:cs typeface="Arial"/>
              </a:rPr>
              <a:t>(VNet)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30861" y="2328024"/>
            <a:ext cx="108013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370" marR="5080" indent="-27305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Storage</a:t>
            </a:r>
            <a:r>
              <a:rPr dirty="0" sz="105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Account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Blob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containers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4733" y="2528544"/>
            <a:ext cx="10617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 marR="5080" indent="-28321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77D3"/>
                </a:solidFill>
                <a:latin typeface="Arial"/>
                <a:cs typeface="Arial"/>
              </a:rPr>
              <a:t>PUBLIC</a:t>
            </a:r>
            <a:r>
              <a:rPr dirty="0" sz="900" spc="-1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77D3"/>
                </a:solidFill>
                <a:latin typeface="Arial"/>
                <a:cs typeface="Arial"/>
              </a:rPr>
              <a:t>/</a:t>
            </a:r>
            <a:r>
              <a:rPr dirty="0" sz="900" spc="-10" b="1">
                <a:solidFill>
                  <a:srgbClr val="0077D3"/>
                </a:solidFill>
                <a:latin typeface="Arial"/>
                <a:cs typeface="Arial"/>
              </a:rPr>
              <a:t> INGRESS SUBNET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21378" y="2528544"/>
            <a:ext cx="9004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4629" marR="5080" indent="-202565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00A5A5"/>
                </a:solidFill>
                <a:latin typeface="Arial"/>
                <a:cs typeface="Arial"/>
              </a:rPr>
              <a:t>PRIVATE</a:t>
            </a:r>
            <a:r>
              <a:rPr dirty="0" sz="900" spc="-1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A5A5"/>
                </a:solidFill>
                <a:latin typeface="Arial"/>
                <a:cs typeface="Arial"/>
              </a:rPr>
              <a:t>/</a:t>
            </a:r>
            <a:r>
              <a:rPr dirty="0" sz="900" spc="-1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00" spc="-40" b="1">
                <a:solidFill>
                  <a:srgbClr val="00A5A5"/>
                </a:solidFill>
                <a:latin typeface="Arial"/>
                <a:cs typeface="Arial"/>
              </a:rPr>
              <a:t>DATA </a:t>
            </a:r>
            <a:r>
              <a:rPr dirty="0" sz="900" spc="-10" b="1">
                <a:solidFill>
                  <a:srgbClr val="00A5A5"/>
                </a:solidFill>
                <a:latin typeface="Arial"/>
                <a:cs typeface="Arial"/>
              </a:rPr>
              <a:t>SUBNET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360104" y="1684984"/>
            <a:ext cx="3120390" cy="1109980"/>
            <a:chOff x="8360104" y="1684984"/>
            <a:chExt cx="3120390" cy="1109980"/>
          </a:xfrm>
        </p:grpSpPr>
        <p:sp>
          <p:nvSpPr>
            <p:cNvPr id="21" name="object 21"/>
            <p:cNvSpPr/>
            <p:nvPr/>
          </p:nvSpPr>
          <p:spPr>
            <a:xfrm>
              <a:off x="8366404" y="1691284"/>
              <a:ext cx="3108960" cy="1097280"/>
            </a:xfrm>
            <a:custGeom>
              <a:avLst/>
              <a:gdLst/>
              <a:ahLst/>
              <a:cxnLst/>
              <a:rect l="l" t="t" r="r" b="b"/>
              <a:pathLst>
                <a:path w="3108959" h="1097280">
                  <a:moveTo>
                    <a:pt x="30355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594" y="1033469"/>
                  </a:lnTo>
                  <a:lnTo>
                    <a:pt x="607" y="1033669"/>
                  </a:lnTo>
                  <a:lnTo>
                    <a:pt x="21413" y="1075809"/>
                  </a:lnTo>
                  <a:lnTo>
                    <a:pt x="63442" y="1096672"/>
                  </a:lnTo>
                  <a:lnTo>
                    <a:pt x="73075" y="1097279"/>
                  </a:lnTo>
                  <a:lnTo>
                    <a:pt x="3035871" y="1096911"/>
                  </a:lnTo>
                  <a:lnTo>
                    <a:pt x="3080249" y="1081820"/>
                  </a:lnTo>
                  <a:lnTo>
                    <a:pt x="3103412" y="1052087"/>
                  </a:lnTo>
                  <a:lnTo>
                    <a:pt x="3103489" y="1051932"/>
                  </a:lnTo>
                  <a:lnTo>
                    <a:pt x="3106469" y="1043047"/>
                  </a:lnTo>
                  <a:lnTo>
                    <a:pt x="3106529" y="1042870"/>
                  </a:lnTo>
                  <a:lnTo>
                    <a:pt x="3108313" y="1033669"/>
                  </a:lnTo>
                  <a:lnTo>
                    <a:pt x="3108352" y="1033469"/>
                  </a:lnTo>
                  <a:lnTo>
                    <a:pt x="3108937" y="1024191"/>
                  </a:lnTo>
                  <a:lnTo>
                    <a:pt x="3108959" y="1023835"/>
                  </a:lnTo>
                  <a:lnTo>
                    <a:pt x="3108591" y="73075"/>
                  </a:lnTo>
                  <a:lnTo>
                    <a:pt x="3093500" y="28698"/>
                  </a:lnTo>
                  <a:lnTo>
                    <a:pt x="3054550" y="2428"/>
                  </a:lnTo>
                  <a:lnTo>
                    <a:pt x="3045149" y="607"/>
                  </a:lnTo>
                  <a:lnTo>
                    <a:pt x="3035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366404" y="1691284"/>
              <a:ext cx="3108960" cy="1097280"/>
            </a:xfrm>
            <a:custGeom>
              <a:avLst/>
              <a:gdLst/>
              <a:ahLst/>
              <a:cxnLst/>
              <a:rect l="l" t="t" r="r" b="b"/>
              <a:pathLst>
                <a:path w="3108959" h="109728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035515" y="0"/>
                  </a:lnTo>
                  <a:lnTo>
                    <a:pt x="3080043" y="15096"/>
                  </a:lnTo>
                  <a:lnTo>
                    <a:pt x="3106162" y="54219"/>
                  </a:lnTo>
                  <a:lnTo>
                    <a:pt x="3108591" y="73075"/>
                  </a:lnTo>
                  <a:lnTo>
                    <a:pt x="3108959" y="1023835"/>
                  </a:lnTo>
                  <a:lnTo>
                    <a:pt x="3108352" y="1033469"/>
                  </a:lnTo>
                  <a:lnTo>
                    <a:pt x="3106529" y="1042870"/>
                  </a:lnTo>
                  <a:lnTo>
                    <a:pt x="3080249" y="1081820"/>
                  </a:lnTo>
                  <a:lnTo>
                    <a:pt x="3035871" y="1096911"/>
                  </a:lnTo>
                  <a:lnTo>
                    <a:pt x="73075" y="1097279"/>
                  </a:lnTo>
                  <a:lnTo>
                    <a:pt x="28548" y="1082170"/>
                  </a:lnTo>
                  <a:lnTo>
                    <a:pt x="2428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366404" y="1691284"/>
              <a:ext cx="64135" cy="1097280"/>
            </a:xfrm>
            <a:custGeom>
              <a:avLst/>
              <a:gdLst/>
              <a:ahLst/>
              <a:cxnLst/>
              <a:rect l="l" t="t" r="r" b="b"/>
              <a:pathLst>
                <a:path w="64134" h="1097280">
                  <a:moveTo>
                    <a:pt x="63715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32029" y="1096911"/>
                  </a:lnTo>
                  <a:lnTo>
                    <a:pt x="63715" y="109691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66404" y="1691284"/>
              <a:ext cx="64135" cy="1097280"/>
            </a:xfrm>
            <a:custGeom>
              <a:avLst/>
              <a:gdLst/>
              <a:ahLst/>
              <a:cxnLst/>
              <a:rect l="l" t="t" r="r" b="b"/>
              <a:pathLst>
                <a:path w="64134" h="1097280">
                  <a:moveTo>
                    <a:pt x="32029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096911"/>
                  </a:lnTo>
                  <a:lnTo>
                    <a:pt x="32029" y="1096911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555304" y="1876945"/>
            <a:ext cx="12522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Network</a:t>
            </a:r>
            <a:r>
              <a:rPr dirty="0" sz="1300" spc="-7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egress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54935" y="2178621"/>
            <a:ext cx="7112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07221" y="2200224"/>
            <a:ext cx="2480945" cy="333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dirty="0" sz="1000" spc="-2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10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Gateway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is associated with the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subnet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that</a:t>
            </a:r>
            <a:r>
              <a:rPr dirty="0" sz="10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needs</a:t>
            </a:r>
            <a:r>
              <a:rPr dirty="0" sz="10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0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internet</a:t>
            </a:r>
            <a:r>
              <a:rPr dirty="0" sz="10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connectivity.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9701" y="3154222"/>
            <a:ext cx="7092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Admin</a:t>
            </a:r>
            <a:r>
              <a:rPr dirty="0" sz="11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8460" y="3216503"/>
            <a:ext cx="13830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(if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enabled)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96024" y="3306508"/>
            <a:ext cx="94932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6383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5B2C90"/>
                </a:solidFill>
                <a:latin typeface="Arial"/>
                <a:cs typeface="Arial"/>
              </a:rPr>
              <a:t>Key</a:t>
            </a:r>
            <a:r>
              <a:rPr dirty="0" sz="1050" spc="-4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5B2C90"/>
                </a:solidFill>
                <a:latin typeface="Arial"/>
                <a:cs typeface="Arial"/>
              </a:rPr>
              <a:t>Vault Secrets</a:t>
            </a:r>
            <a:r>
              <a:rPr dirty="0" sz="105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5B2C90"/>
                </a:solidFill>
                <a:latin typeface="Arial"/>
                <a:cs typeface="Arial"/>
              </a:rPr>
              <a:t>+</a:t>
            </a:r>
            <a:r>
              <a:rPr dirty="0" sz="105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5B2C90"/>
                </a:solidFill>
                <a:latin typeface="Arial"/>
                <a:cs typeface="Arial"/>
              </a:rPr>
              <a:t>keys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7215" y="3794302"/>
            <a:ext cx="9740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1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demo</a:t>
            </a:r>
            <a:r>
              <a:rPr dirty="0" sz="1100" spc="-25" b="1">
                <a:solidFill>
                  <a:srgbClr val="10243F"/>
                </a:solidFill>
                <a:latin typeface="Arial"/>
                <a:cs typeface="Arial"/>
              </a:rPr>
              <a:t> VM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00779" y="3929659"/>
            <a:ext cx="11582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Managed</a:t>
            </a:r>
            <a:r>
              <a:rPr dirty="0" sz="10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data</a:t>
            </a:r>
            <a:r>
              <a:rPr dirty="0" sz="10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360104" y="2965144"/>
            <a:ext cx="3120390" cy="1109980"/>
            <a:chOff x="8360104" y="2965144"/>
            <a:chExt cx="3120390" cy="1109980"/>
          </a:xfrm>
        </p:grpSpPr>
        <p:sp>
          <p:nvSpPr>
            <p:cNvPr id="29" name="object 29"/>
            <p:cNvSpPr/>
            <p:nvPr/>
          </p:nvSpPr>
          <p:spPr>
            <a:xfrm>
              <a:off x="8366404" y="2971444"/>
              <a:ext cx="3108960" cy="1097280"/>
            </a:xfrm>
            <a:custGeom>
              <a:avLst/>
              <a:gdLst/>
              <a:ahLst/>
              <a:cxnLst/>
              <a:rect l="l" t="t" r="r" b="b"/>
              <a:pathLst>
                <a:path w="3108959" h="1097279">
                  <a:moveTo>
                    <a:pt x="30355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594" y="1033469"/>
                  </a:lnTo>
                  <a:lnTo>
                    <a:pt x="607" y="1033669"/>
                  </a:lnTo>
                  <a:lnTo>
                    <a:pt x="2394" y="1042870"/>
                  </a:lnTo>
                  <a:lnTo>
                    <a:pt x="2428" y="1043047"/>
                  </a:lnTo>
                  <a:lnTo>
                    <a:pt x="5412" y="1051932"/>
                  </a:lnTo>
                  <a:lnTo>
                    <a:pt x="5464" y="1052087"/>
                  </a:lnTo>
                  <a:lnTo>
                    <a:pt x="36360" y="1087551"/>
                  </a:lnTo>
                  <a:lnTo>
                    <a:pt x="73075" y="1097280"/>
                  </a:lnTo>
                  <a:lnTo>
                    <a:pt x="3035871" y="1096911"/>
                  </a:lnTo>
                  <a:lnTo>
                    <a:pt x="3080249" y="1081820"/>
                  </a:lnTo>
                  <a:lnTo>
                    <a:pt x="3106469" y="1043047"/>
                  </a:lnTo>
                  <a:lnTo>
                    <a:pt x="3108313" y="1033669"/>
                  </a:lnTo>
                  <a:lnTo>
                    <a:pt x="3108352" y="1033469"/>
                  </a:lnTo>
                  <a:lnTo>
                    <a:pt x="3108937" y="1024191"/>
                  </a:lnTo>
                  <a:lnTo>
                    <a:pt x="3108959" y="1023835"/>
                  </a:lnTo>
                  <a:lnTo>
                    <a:pt x="3108591" y="73075"/>
                  </a:lnTo>
                  <a:lnTo>
                    <a:pt x="3093500" y="28698"/>
                  </a:lnTo>
                  <a:lnTo>
                    <a:pt x="3054550" y="2428"/>
                  </a:lnTo>
                  <a:lnTo>
                    <a:pt x="3045149" y="607"/>
                  </a:lnTo>
                  <a:lnTo>
                    <a:pt x="3035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366404" y="2971444"/>
              <a:ext cx="3108960" cy="1097280"/>
            </a:xfrm>
            <a:custGeom>
              <a:avLst/>
              <a:gdLst/>
              <a:ahLst/>
              <a:cxnLst/>
              <a:rect l="l" t="t" r="r" b="b"/>
              <a:pathLst>
                <a:path w="3108959" h="1097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035515" y="0"/>
                  </a:lnTo>
                  <a:lnTo>
                    <a:pt x="3080043" y="15096"/>
                  </a:lnTo>
                  <a:lnTo>
                    <a:pt x="3106162" y="54219"/>
                  </a:lnTo>
                  <a:lnTo>
                    <a:pt x="3108591" y="73075"/>
                  </a:lnTo>
                  <a:lnTo>
                    <a:pt x="3108959" y="1023835"/>
                  </a:lnTo>
                  <a:lnTo>
                    <a:pt x="3108352" y="1033469"/>
                  </a:lnTo>
                  <a:lnTo>
                    <a:pt x="3106529" y="1042870"/>
                  </a:lnTo>
                  <a:lnTo>
                    <a:pt x="3080249" y="1081820"/>
                  </a:lnTo>
                  <a:lnTo>
                    <a:pt x="3035871" y="1096911"/>
                  </a:lnTo>
                  <a:lnTo>
                    <a:pt x="73075" y="1097280"/>
                  </a:lnTo>
                  <a:lnTo>
                    <a:pt x="28548" y="1082170"/>
                  </a:lnTo>
                  <a:lnTo>
                    <a:pt x="2428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366404" y="2971444"/>
              <a:ext cx="64135" cy="1097280"/>
            </a:xfrm>
            <a:custGeom>
              <a:avLst/>
              <a:gdLst/>
              <a:ahLst/>
              <a:cxnLst/>
              <a:rect l="l" t="t" r="r" b="b"/>
              <a:pathLst>
                <a:path w="64134" h="1097279">
                  <a:moveTo>
                    <a:pt x="63715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32029" y="1096911"/>
                  </a:lnTo>
                  <a:lnTo>
                    <a:pt x="63715" y="109691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366404" y="2971444"/>
              <a:ext cx="64135" cy="1097280"/>
            </a:xfrm>
            <a:custGeom>
              <a:avLst/>
              <a:gdLst/>
              <a:ahLst/>
              <a:cxnLst/>
              <a:rect l="l" t="t" r="r" b="b"/>
              <a:pathLst>
                <a:path w="64134" h="1097279">
                  <a:moveTo>
                    <a:pt x="32029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096911"/>
                  </a:lnTo>
                  <a:lnTo>
                    <a:pt x="32029" y="1096911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555304" y="3157105"/>
            <a:ext cx="100520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Identity</a:t>
            </a:r>
            <a:r>
              <a:rPr dirty="0" sz="1300" spc="-8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path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54935" y="3458781"/>
            <a:ext cx="7112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07221" y="3480384"/>
            <a:ext cx="2407285" cy="333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00" spc="-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managed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identity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let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resource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use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Vault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without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embedding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credentials.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9496" y="4437976"/>
            <a:ext cx="8496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0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Set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54095" y="4521860"/>
            <a:ext cx="184975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6A798F"/>
                </a:solidFill>
                <a:latin typeface="Arial"/>
                <a:cs typeface="Arial"/>
              </a:rPr>
              <a:t>NSGs</a:t>
            </a:r>
            <a:r>
              <a:rPr dirty="0" sz="8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A798F"/>
                </a:solidFill>
                <a:latin typeface="Arial"/>
                <a:cs typeface="Arial"/>
              </a:rPr>
              <a:t>filter</a:t>
            </a:r>
            <a:r>
              <a:rPr dirty="0" sz="8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A798F"/>
                </a:solidFill>
                <a:latin typeface="Arial"/>
                <a:cs typeface="Arial"/>
              </a:rPr>
              <a:t>traffic</a:t>
            </a:r>
            <a:r>
              <a:rPr dirty="0" sz="8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A798F"/>
                </a:solidFill>
                <a:latin typeface="Arial"/>
                <a:cs typeface="Arial"/>
              </a:rPr>
              <a:t>at</a:t>
            </a:r>
            <a:r>
              <a:rPr dirty="0" sz="8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A798F"/>
                </a:solidFill>
                <a:latin typeface="Arial"/>
                <a:cs typeface="Arial"/>
              </a:rPr>
              <a:t>subnet/NIC</a:t>
            </a:r>
            <a:r>
              <a:rPr dirty="0" sz="8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6A798F"/>
                </a:solidFill>
                <a:latin typeface="Arial"/>
                <a:cs typeface="Arial"/>
              </a:rPr>
              <a:t>scope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59296" y="4284979"/>
            <a:ext cx="102298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0077D3"/>
                </a:solidFill>
                <a:latin typeface="Arial"/>
                <a:cs typeface="Arial"/>
              </a:rPr>
              <a:t>Azure</a:t>
            </a:r>
            <a:r>
              <a:rPr dirty="0" sz="1050" spc="-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77D3"/>
                </a:solidFill>
                <a:latin typeface="Arial"/>
                <a:cs typeface="Arial"/>
              </a:rPr>
              <a:t>Monitor Alerts</a:t>
            </a:r>
            <a:r>
              <a:rPr dirty="0" sz="1050" spc="-1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77D3"/>
                </a:solidFill>
                <a:latin typeface="Arial"/>
                <a:cs typeface="Arial"/>
              </a:rPr>
              <a:t>+</a:t>
            </a:r>
            <a:r>
              <a:rPr dirty="0" sz="1050" spc="-10" b="1">
                <a:solidFill>
                  <a:srgbClr val="0077D3"/>
                </a:solidFill>
                <a:latin typeface="Arial"/>
                <a:cs typeface="Arial"/>
              </a:rPr>
              <a:t> metrics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360104" y="4245304"/>
            <a:ext cx="3120390" cy="1109980"/>
            <a:chOff x="8360104" y="4245304"/>
            <a:chExt cx="3120390" cy="1109980"/>
          </a:xfrm>
        </p:grpSpPr>
        <p:sp>
          <p:nvSpPr>
            <p:cNvPr id="37" name="object 37"/>
            <p:cNvSpPr/>
            <p:nvPr/>
          </p:nvSpPr>
          <p:spPr>
            <a:xfrm>
              <a:off x="8366404" y="4251604"/>
              <a:ext cx="3108960" cy="1097280"/>
            </a:xfrm>
            <a:custGeom>
              <a:avLst/>
              <a:gdLst/>
              <a:ahLst/>
              <a:cxnLst/>
              <a:rect l="l" t="t" r="r" b="b"/>
              <a:pathLst>
                <a:path w="3108959" h="1097279">
                  <a:moveTo>
                    <a:pt x="30355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24191"/>
                  </a:lnTo>
                  <a:lnTo>
                    <a:pt x="594" y="1033469"/>
                  </a:lnTo>
                  <a:lnTo>
                    <a:pt x="607" y="1033669"/>
                  </a:lnTo>
                  <a:lnTo>
                    <a:pt x="2394" y="1042870"/>
                  </a:lnTo>
                  <a:lnTo>
                    <a:pt x="2428" y="1043047"/>
                  </a:lnTo>
                  <a:lnTo>
                    <a:pt x="5412" y="1051932"/>
                  </a:lnTo>
                  <a:lnTo>
                    <a:pt x="5464" y="1052087"/>
                  </a:lnTo>
                  <a:lnTo>
                    <a:pt x="36360" y="1087551"/>
                  </a:lnTo>
                  <a:lnTo>
                    <a:pt x="73075" y="1097280"/>
                  </a:lnTo>
                  <a:lnTo>
                    <a:pt x="3035871" y="1096911"/>
                  </a:lnTo>
                  <a:lnTo>
                    <a:pt x="3080249" y="1081820"/>
                  </a:lnTo>
                  <a:lnTo>
                    <a:pt x="3106469" y="1043047"/>
                  </a:lnTo>
                  <a:lnTo>
                    <a:pt x="3108313" y="1033669"/>
                  </a:lnTo>
                  <a:lnTo>
                    <a:pt x="3108352" y="1033469"/>
                  </a:lnTo>
                  <a:lnTo>
                    <a:pt x="3108937" y="1024191"/>
                  </a:lnTo>
                  <a:lnTo>
                    <a:pt x="3108959" y="1023835"/>
                  </a:lnTo>
                  <a:lnTo>
                    <a:pt x="3108591" y="73075"/>
                  </a:lnTo>
                  <a:lnTo>
                    <a:pt x="3093500" y="28698"/>
                  </a:lnTo>
                  <a:lnTo>
                    <a:pt x="3054550" y="2428"/>
                  </a:lnTo>
                  <a:lnTo>
                    <a:pt x="3045149" y="607"/>
                  </a:lnTo>
                  <a:lnTo>
                    <a:pt x="3035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366404" y="4251604"/>
              <a:ext cx="3108960" cy="1097280"/>
            </a:xfrm>
            <a:custGeom>
              <a:avLst/>
              <a:gdLst/>
              <a:ahLst/>
              <a:cxnLst/>
              <a:rect l="l" t="t" r="r" b="b"/>
              <a:pathLst>
                <a:path w="3108959" h="10972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035515" y="0"/>
                  </a:lnTo>
                  <a:lnTo>
                    <a:pt x="3080043" y="15096"/>
                  </a:lnTo>
                  <a:lnTo>
                    <a:pt x="3106162" y="54219"/>
                  </a:lnTo>
                  <a:lnTo>
                    <a:pt x="3108591" y="73075"/>
                  </a:lnTo>
                  <a:lnTo>
                    <a:pt x="3108959" y="1023835"/>
                  </a:lnTo>
                  <a:lnTo>
                    <a:pt x="3108352" y="1033469"/>
                  </a:lnTo>
                  <a:lnTo>
                    <a:pt x="3106529" y="1042870"/>
                  </a:lnTo>
                  <a:lnTo>
                    <a:pt x="3080249" y="1081820"/>
                  </a:lnTo>
                  <a:lnTo>
                    <a:pt x="3035871" y="1096911"/>
                  </a:lnTo>
                  <a:lnTo>
                    <a:pt x="73075" y="1097280"/>
                  </a:lnTo>
                  <a:lnTo>
                    <a:pt x="28548" y="1082170"/>
                  </a:lnTo>
                  <a:lnTo>
                    <a:pt x="2428" y="1043047"/>
                  </a:lnTo>
                  <a:lnTo>
                    <a:pt x="0" y="102419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366404" y="4251604"/>
              <a:ext cx="64135" cy="1097280"/>
            </a:xfrm>
            <a:custGeom>
              <a:avLst/>
              <a:gdLst/>
              <a:ahLst/>
              <a:cxnLst/>
              <a:rect l="l" t="t" r="r" b="b"/>
              <a:pathLst>
                <a:path w="64134" h="1097279">
                  <a:moveTo>
                    <a:pt x="63715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32029" y="1096911"/>
                  </a:lnTo>
                  <a:lnTo>
                    <a:pt x="63715" y="109691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366404" y="4251604"/>
              <a:ext cx="64135" cy="1097280"/>
            </a:xfrm>
            <a:custGeom>
              <a:avLst/>
              <a:gdLst/>
              <a:ahLst/>
              <a:cxnLst/>
              <a:rect l="l" t="t" r="r" b="b"/>
              <a:pathLst>
                <a:path w="64134" h="1097279">
                  <a:moveTo>
                    <a:pt x="32029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096911"/>
                  </a:lnTo>
                  <a:lnTo>
                    <a:pt x="32029" y="109691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555304" y="4437265"/>
            <a:ext cx="11423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Evidence</a:t>
            </a:r>
            <a:r>
              <a:rPr dirty="0" sz="13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path</a:t>
            </a:r>
            <a:endParaRPr sz="13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54935" y="4738941"/>
            <a:ext cx="7112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07221" y="4760544"/>
            <a:ext cx="2413635" cy="333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Portal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status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+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CLI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output</a:t>
            </a:r>
            <a:r>
              <a:rPr dirty="0" sz="10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+</a:t>
            </a:r>
            <a:r>
              <a:rPr dirty="0" sz="10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end-to-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end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test close the</a:t>
            </a:r>
            <a:r>
              <a:rPr dirty="0" sz="10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ticket.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2300" y="6309982"/>
            <a:ext cx="31496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29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Adapted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from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the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attached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lab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replication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guide;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topology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is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conceptual.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0680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254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same</a:t>
            </a:r>
            <a:r>
              <a:rPr dirty="0" spc="-25"/>
              <a:t> </a:t>
            </a:r>
            <a:r>
              <a:rPr dirty="0" spc="-10"/>
              <a:t>five-</a:t>
            </a:r>
            <a:r>
              <a:rPr dirty="0"/>
              <a:t>step</a:t>
            </a:r>
            <a:r>
              <a:rPr dirty="0" spc="-20"/>
              <a:t> </a:t>
            </a:r>
            <a:r>
              <a:rPr dirty="0"/>
              <a:t>loop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every</a:t>
            </a:r>
            <a:r>
              <a:rPr dirty="0" spc="-20"/>
              <a:t> </a:t>
            </a:r>
            <a:r>
              <a:rPr dirty="0"/>
              <a:t>cloud</a:t>
            </a:r>
            <a:r>
              <a:rPr dirty="0" spc="-20"/>
              <a:t> </a:t>
            </a:r>
            <a:r>
              <a:rPr dirty="0" spc="-10"/>
              <a:t>ticket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4489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Troubleshooting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sequence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of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evidence-led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decisions,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list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of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random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commands.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273860" y="1776780"/>
            <a:ext cx="542925" cy="542925"/>
            <a:chOff x="1273860" y="1776780"/>
            <a:chExt cx="542925" cy="542925"/>
          </a:xfrm>
        </p:grpSpPr>
        <p:sp>
          <p:nvSpPr>
            <p:cNvPr id="7" name="object 7"/>
            <p:cNvSpPr/>
            <p:nvPr/>
          </p:nvSpPr>
          <p:spPr>
            <a:xfrm>
              <a:off x="1280160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5315" y="0"/>
                  </a:moveTo>
                  <a:lnTo>
                    <a:pt x="196465" y="9001"/>
                  </a:lnTo>
                  <a:lnTo>
                    <a:pt x="132473" y="35280"/>
                  </a:lnTo>
                  <a:lnTo>
                    <a:pt x="77577" y="77533"/>
                  </a:lnTo>
                  <a:lnTo>
                    <a:pt x="35636" y="132473"/>
                  </a:lnTo>
                  <a:lnTo>
                    <a:pt x="9045" y="196421"/>
                  </a:lnTo>
                  <a:lnTo>
                    <a:pt x="0" y="264960"/>
                  </a:lnTo>
                  <a:lnTo>
                    <a:pt x="2278" y="299584"/>
                  </a:lnTo>
                  <a:lnTo>
                    <a:pt x="20198" y="366260"/>
                  </a:lnTo>
                  <a:lnTo>
                    <a:pt x="54817" y="426343"/>
                  </a:lnTo>
                  <a:lnTo>
                    <a:pt x="103576" y="475252"/>
                  </a:lnTo>
                  <a:lnTo>
                    <a:pt x="163660" y="509926"/>
                  </a:lnTo>
                  <a:lnTo>
                    <a:pt x="230485" y="527947"/>
                  </a:lnTo>
                  <a:lnTo>
                    <a:pt x="265315" y="530275"/>
                  </a:lnTo>
                  <a:lnTo>
                    <a:pt x="299939" y="527947"/>
                  </a:lnTo>
                  <a:lnTo>
                    <a:pt x="366621" y="509926"/>
                  </a:lnTo>
                  <a:lnTo>
                    <a:pt x="426704" y="475252"/>
                  </a:lnTo>
                  <a:lnTo>
                    <a:pt x="475460" y="426343"/>
                  </a:lnTo>
                  <a:lnTo>
                    <a:pt x="510082" y="366260"/>
                  </a:lnTo>
                  <a:lnTo>
                    <a:pt x="527999" y="299584"/>
                  </a:lnTo>
                  <a:lnTo>
                    <a:pt x="530275" y="264960"/>
                  </a:lnTo>
                  <a:lnTo>
                    <a:pt x="527999" y="230335"/>
                  </a:lnTo>
                  <a:lnTo>
                    <a:pt x="510082" y="163654"/>
                  </a:lnTo>
                  <a:lnTo>
                    <a:pt x="475460" y="103571"/>
                  </a:lnTo>
                  <a:lnTo>
                    <a:pt x="426704" y="54667"/>
                  </a:lnTo>
                  <a:lnTo>
                    <a:pt x="366621" y="20048"/>
                  </a:lnTo>
                  <a:lnTo>
                    <a:pt x="299939" y="2272"/>
                  </a:lnTo>
                  <a:lnTo>
                    <a:pt x="2653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80160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0" y="264960"/>
                  </a:moveTo>
                  <a:lnTo>
                    <a:pt x="2278" y="230335"/>
                  </a:lnTo>
                  <a:lnTo>
                    <a:pt x="9045" y="196421"/>
                  </a:lnTo>
                  <a:lnTo>
                    <a:pt x="35636" y="132473"/>
                  </a:lnTo>
                  <a:lnTo>
                    <a:pt x="77577" y="77533"/>
                  </a:lnTo>
                  <a:lnTo>
                    <a:pt x="132473" y="35280"/>
                  </a:lnTo>
                  <a:lnTo>
                    <a:pt x="196465" y="9001"/>
                  </a:lnTo>
                  <a:lnTo>
                    <a:pt x="265315" y="0"/>
                  </a:lnTo>
                  <a:lnTo>
                    <a:pt x="333854" y="9001"/>
                  </a:lnTo>
                  <a:lnTo>
                    <a:pt x="397802" y="35280"/>
                  </a:lnTo>
                  <a:lnTo>
                    <a:pt x="452702" y="77533"/>
                  </a:lnTo>
                  <a:lnTo>
                    <a:pt x="494639" y="132473"/>
                  </a:lnTo>
                  <a:lnTo>
                    <a:pt x="521234" y="196421"/>
                  </a:lnTo>
                  <a:lnTo>
                    <a:pt x="530275" y="264960"/>
                  </a:lnTo>
                  <a:lnTo>
                    <a:pt x="527999" y="299584"/>
                  </a:lnTo>
                  <a:lnTo>
                    <a:pt x="521234" y="333497"/>
                  </a:lnTo>
                  <a:lnTo>
                    <a:pt x="494639" y="397433"/>
                  </a:lnTo>
                  <a:lnTo>
                    <a:pt x="452702" y="452385"/>
                  </a:lnTo>
                  <a:lnTo>
                    <a:pt x="397802" y="494639"/>
                  </a:lnTo>
                  <a:lnTo>
                    <a:pt x="333854" y="521096"/>
                  </a:lnTo>
                  <a:lnTo>
                    <a:pt x="265315" y="530275"/>
                  </a:lnTo>
                  <a:lnTo>
                    <a:pt x="196465" y="521096"/>
                  </a:lnTo>
                  <a:lnTo>
                    <a:pt x="132473" y="494639"/>
                  </a:lnTo>
                  <a:lnTo>
                    <a:pt x="77577" y="452385"/>
                  </a:lnTo>
                  <a:lnTo>
                    <a:pt x="35636" y="397433"/>
                  </a:lnTo>
                  <a:lnTo>
                    <a:pt x="9045" y="333497"/>
                  </a:lnTo>
                  <a:lnTo>
                    <a:pt x="2278" y="299584"/>
                  </a:lnTo>
                  <a:lnTo>
                    <a:pt x="0" y="26496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83105" y="1928418"/>
            <a:ext cx="12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78224" y="1776780"/>
            <a:ext cx="542925" cy="542925"/>
            <a:chOff x="3578224" y="1776780"/>
            <a:chExt cx="542925" cy="542925"/>
          </a:xfrm>
        </p:grpSpPr>
        <p:sp>
          <p:nvSpPr>
            <p:cNvPr id="19" name="object 19"/>
            <p:cNvSpPr/>
            <p:nvPr/>
          </p:nvSpPr>
          <p:spPr>
            <a:xfrm>
              <a:off x="3584524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4960" y="0"/>
                  </a:moveTo>
                  <a:lnTo>
                    <a:pt x="196421" y="9001"/>
                  </a:lnTo>
                  <a:lnTo>
                    <a:pt x="132473" y="35280"/>
                  </a:lnTo>
                  <a:lnTo>
                    <a:pt x="77573" y="77533"/>
                  </a:lnTo>
                  <a:lnTo>
                    <a:pt x="35636" y="132473"/>
                  </a:lnTo>
                  <a:lnTo>
                    <a:pt x="9040" y="196421"/>
                  </a:lnTo>
                  <a:lnTo>
                    <a:pt x="0" y="264960"/>
                  </a:lnTo>
                  <a:lnTo>
                    <a:pt x="2276" y="299584"/>
                  </a:lnTo>
                  <a:lnTo>
                    <a:pt x="20193" y="366260"/>
                  </a:lnTo>
                  <a:lnTo>
                    <a:pt x="54815" y="426343"/>
                  </a:lnTo>
                  <a:lnTo>
                    <a:pt x="103571" y="475252"/>
                  </a:lnTo>
                  <a:lnTo>
                    <a:pt x="163654" y="509926"/>
                  </a:lnTo>
                  <a:lnTo>
                    <a:pt x="230335" y="527947"/>
                  </a:lnTo>
                  <a:lnTo>
                    <a:pt x="264960" y="530275"/>
                  </a:lnTo>
                  <a:lnTo>
                    <a:pt x="299789" y="527947"/>
                  </a:lnTo>
                  <a:lnTo>
                    <a:pt x="366615" y="509926"/>
                  </a:lnTo>
                  <a:lnTo>
                    <a:pt x="426698" y="475252"/>
                  </a:lnTo>
                  <a:lnTo>
                    <a:pt x="475458" y="426343"/>
                  </a:lnTo>
                  <a:lnTo>
                    <a:pt x="510076" y="366260"/>
                  </a:lnTo>
                  <a:lnTo>
                    <a:pt x="527997" y="299584"/>
                  </a:lnTo>
                  <a:lnTo>
                    <a:pt x="530275" y="264960"/>
                  </a:lnTo>
                  <a:lnTo>
                    <a:pt x="527997" y="230335"/>
                  </a:lnTo>
                  <a:lnTo>
                    <a:pt x="510076" y="163654"/>
                  </a:lnTo>
                  <a:lnTo>
                    <a:pt x="475458" y="103571"/>
                  </a:lnTo>
                  <a:lnTo>
                    <a:pt x="426698" y="54667"/>
                  </a:lnTo>
                  <a:lnTo>
                    <a:pt x="366615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584524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0" y="264960"/>
                  </a:moveTo>
                  <a:lnTo>
                    <a:pt x="2276" y="230335"/>
                  </a:lnTo>
                  <a:lnTo>
                    <a:pt x="9040" y="196421"/>
                  </a:lnTo>
                  <a:lnTo>
                    <a:pt x="35636" y="132473"/>
                  </a:lnTo>
                  <a:lnTo>
                    <a:pt x="77573" y="77533"/>
                  </a:lnTo>
                  <a:lnTo>
                    <a:pt x="132473" y="35280"/>
                  </a:lnTo>
                  <a:lnTo>
                    <a:pt x="196421" y="9001"/>
                  </a:lnTo>
                  <a:lnTo>
                    <a:pt x="264960" y="0"/>
                  </a:lnTo>
                  <a:lnTo>
                    <a:pt x="333809" y="9001"/>
                  </a:lnTo>
                  <a:lnTo>
                    <a:pt x="397802" y="35280"/>
                  </a:lnTo>
                  <a:lnTo>
                    <a:pt x="452697" y="77533"/>
                  </a:lnTo>
                  <a:lnTo>
                    <a:pt x="494639" y="132473"/>
                  </a:lnTo>
                  <a:lnTo>
                    <a:pt x="521230" y="196421"/>
                  </a:lnTo>
                  <a:lnTo>
                    <a:pt x="530275" y="264960"/>
                  </a:lnTo>
                  <a:lnTo>
                    <a:pt x="527997" y="299584"/>
                  </a:lnTo>
                  <a:lnTo>
                    <a:pt x="521230" y="333497"/>
                  </a:lnTo>
                  <a:lnTo>
                    <a:pt x="494639" y="397433"/>
                  </a:lnTo>
                  <a:lnTo>
                    <a:pt x="452697" y="452385"/>
                  </a:lnTo>
                  <a:lnTo>
                    <a:pt x="397802" y="494639"/>
                  </a:lnTo>
                  <a:lnTo>
                    <a:pt x="333809" y="521096"/>
                  </a:lnTo>
                  <a:lnTo>
                    <a:pt x="264960" y="530275"/>
                  </a:lnTo>
                  <a:lnTo>
                    <a:pt x="196421" y="521096"/>
                  </a:lnTo>
                  <a:lnTo>
                    <a:pt x="132473" y="494639"/>
                  </a:lnTo>
                  <a:lnTo>
                    <a:pt x="77573" y="452385"/>
                  </a:lnTo>
                  <a:lnTo>
                    <a:pt x="35636" y="397433"/>
                  </a:lnTo>
                  <a:lnTo>
                    <a:pt x="9040" y="333497"/>
                  </a:lnTo>
                  <a:lnTo>
                    <a:pt x="2276" y="299584"/>
                  </a:lnTo>
                  <a:lnTo>
                    <a:pt x="0" y="26496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787457" y="1928418"/>
            <a:ext cx="12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82575" y="1776780"/>
            <a:ext cx="542925" cy="542925"/>
            <a:chOff x="5882575" y="1776780"/>
            <a:chExt cx="542925" cy="542925"/>
          </a:xfrm>
        </p:grpSpPr>
        <p:sp>
          <p:nvSpPr>
            <p:cNvPr id="33" name="object 33"/>
            <p:cNvSpPr/>
            <p:nvPr/>
          </p:nvSpPr>
          <p:spPr>
            <a:xfrm>
              <a:off x="5888875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264960" y="0"/>
                  </a:moveTo>
                  <a:lnTo>
                    <a:pt x="196432" y="9001"/>
                  </a:lnTo>
                  <a:lnTo>
                    <a:pt x="132486" y="35280"/>
                  </a:lnTo>
                  <a:lnTo>
                    <a:pt x="77585" y="77533"/>
                  </a:lnTo>
                  <a:lnTo>
                    <a:pt x="35648" y="132473"/>
                  </a:lnTo>
                  <a:lnTo>
                    <a:pt x="9047" y="196421"/>
                  </a:lnTo>
                  <a:lnTo>
                    <a:pt x="0" y="264960"/>
                  </a:lnTo>
                  <a:lnTo>
                    <a:pt x="2278" y="299584"/>
                  </a:lnTo>
                  <a:lnTo>
                    <a:pt x="20204" y="366260"/>
                  </a:lnTo>
                  <a:lnTo>
                    <a:pt x="54828" y="426343"/>
                  </a:lnTo>
                  <a:lnTo>
                    <a:pt x="103584" y="475252"/>
                  </a:lnTo>
                  <a:lnTo>
                    <a:pt x="163667" y="509926"/>
                  </a:lnTo>
                  <a:lnTo>
                    <a:pt x="230343" y="527947"/>
                  </a:lnTo>
                  <a:lnTo>
                    <a:pt x="264960" y="530275"/>
                  </a:lnTo>
                  <a:lnTo>
                    <a:pt x="299789" y="527947"/>
                  </a:lnTo>
                  <a:lnTo>
                    <a:pt x="366615" y="509926"/>
                  </a:lnTo>
                  <a:lnTo>
                    <a:pt x="426704" y="475252"/>
                  </a:lnTo>
                  <a:lnTo>
                    <a:pt x="475460" y="426343"/>
                  </a:lnTo>
                  <a:lnTo>
                    <a:pt x="510084" y="366260"/>
                  </a:lnTo>
                  <a:lnTo>
                    <a:pt x="528009" y="299584"/>
                  </a:lnTo>
                  <a:lnTo>
                    <a:pt x="530288" y="264960"/>
                  </a:lnTo>
                  <a:lnTo>
                    <a:pt x="528009" y="230335"/>
                  </a:lnTo>
                  <a:lnTo>
                    <a:pt x="510084" y="163654"/>
                  </a:lnTo>
                  <a:lnTo>
                    <a:pt x="475460" y="103571"/>
                  </a:lnTo>
                  <a:lnTo>
                    <a:pt x="426704" y="54667"/>
                  </a:lnTo>
                  <a:lnTo>
                    <a:pt x="366615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888875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60" h="530860">
                  <a:moveTo>
                    <a:pt x="0" y="264960"/>
                  </a:moveTo>
                  <a:lnTo>
                    <a:pt x="2278" y="230335"/>
                  </a:lnTo>
                  <a:lnTo>
                    <a:pt x="9047" y="196421"/>
                  </a:lnTo>
                  <a:lnTo>
                    <a:pt x="35648" y="132473"/>
                  </a:lnTo>
                  <a:lnTo>
                    <a:pt x="77585" y="77533"/>
                  </a:lnTo>
                  <a:lnTo>
                    <a:pt x="132486" y="35280"/>
                  </a:lnTo>
                  <a:lnTo>
                    <a:pt x="196432" y="9001"/>
                  </a:lnTo>
                  <a:lnTo>
                    <a:pt x="264960" y="0"/>
                  </a:lnTo>
                  <a:lnTo>
                    <a:pt x="333809" y="9001"/>
                  </a:lnTo>
                  <a:lnTo>
                    <a:pt x="397802" y="35280"/>
                  </a:lnTo>
                  <a:lnTo>
                    <a:pt x="452702" y="77533"/>
                  </a:lnTo>
                  <a:lnTo>
                    <a:pt x="494639" y="132473"/>
                  </a:lnTo>
                  <a:lnTo>
                    <a:pt x="521241" y="196421"/>
                  </a:lnTo>
                  <a:lnTo>
                    <a:pt x="530288" y="264960"/>
                  </a:lnTo>
                  <a:lnTo>
                    <a:pt x="528009" y="299584"/>
                  </a:lnTo>
                  <a:lnTo>
                    <a:pt x="521241" y="333497"/>
                  </a:lnTo>
                  <a:lnTo>
                    <a:pt x="494639" y="397433"/>
                  </a:lnTo>
                  <a:lnTo>
                    <a:pt x="452702" y="452385"/>
                  </a:lnTo>
                  <a:lnTo>
                    <a:pt x="397802" y="494639"/>
                  </a:lnTo>
                  <a:lnTo>
                    <a:pt x="333809" y="521096"/>
                  </a:lnTo>
                  <a:lnTo>
                    <a:pt x="264960" y="530275"/>
                  </a:lnTo>
                  <a:lnTo>
                    <a:pt x="196432" y="521096"/>
                  </a:lnTo>
                  <a:lnTo>
                    <a:pt x="132486" y="494639"/>
                  </a:lnTo>
                  <a:lnTo>
                    <a:pt x="77585" y="452385"/>
                  </a:lnTo>
                  <a:lnTo>
                    <a:pt x="35648" y="397433"/>
                  </a:lnTo>
                  <a:lnTo>
                    <a:pt x="9047" y="333497"/>
                  </a:lnTo>
                  <a:lnTo>
                    <a:pt x="2278" y="299584"/>
                  </a:lnTo>
                  <a:lnTo>
                    <a:pt x="0" y="26496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091821" y="1928418"/>
            <a:ext cx="12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186584" y="1776780"/>
            <a:ext cx="542925" cy="542925"/>
            <a:chOff x="8186584" y="1776780"/>
            <a:chExt cx="542925" cy="542925"/>
          </a:xfrm>
        </p:grpSpPr>
        <p:sp>
          <p:nvSpPr>
            <p:cNvPr id="47" name="object 47"/>
            <p:cNvSpPr/>
            <p:nvPr/>
          </p:nvSpPr>
          <p:spPr>
            <a:xfrm>
              <a:off x="8192883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4960" y="0"/>
                  </a:moveTo>
                  <a:lnTo>
                    <a:pt x="196421" y="9001"/>
                  </a:lnTo>
                  <a:lnTo>
                    <a:pt x="132473" y="35280"/>
                  </a:lnTo>
                  <a:lnTo>
                    <a:pt x="77573" y="77533"/>
                  </a:lnTo>
                  <a:lnTo>
                    <a:pt x="35636" y="132473"/>
                  </a:lnTo>
                  <a:lnTo>
                    <a:pt x="9040" y="196421"/>
                  </a:lnTo>
                  <a:lnTo>
                    <a:pt x="0" y="264960"/>
                  </a:lnTo>
                  <a:lnTo>
                    <a:pt x="2276" y="299584"/>
                  </a:lnTo>
                  <a:lnTo>
                    <a:pt x="20193" y="366260"/>
                  </a:lnTo>
                  <a:lnTo>
                    <a:pt x="54815" y="426343"/>
                  </a:lnTo>
                  <a:lnTo>
                    <a:pt x="103571" y="475252"/>
                  </a:lnTo>
                  <a:lnTo>
                    <a:pt x="163654" y="509926"/>
                  </a:lnTo>
                  <a:lnTo>
                    <a:pt x="230335" y="527947"/>
                  </a:lnTo>
                  <a:lnTo>
                    <a:pt x="264960" y="530275"/>
                  </a:lnTo>
                  <a:lnTo>
                    <a:pt x="299789" y="527947"/>
                  </a:lnTo>
                  <a:lnTo>
                    <a:pt x="366610" y="509926"/>
                  </a:lnTo>
                  <a:lnTo>
                    <a:pt x="426693" y="475252"/>
                  </a:lnTo>
                  <a:lnTo>
                    <a:pt x="475458" y="426343"/>
                  </a:lnTo>
                  <a:lnTo>
                    <a:pt x="510076" y="366260"/>
                  </a:lnTo>
                  <a:lnTo>
                    <a:pt x="527997" y="299584"/>
                  </a:lnTo>
                  <a:lnTo>
                    <a:pt x="530275" y="264960"/>
                  </a:lnTo>
                  <a:lnTo>
                    <a:pt x="527997" y="230335"/>
                  </a:lnTo>
                  <a:lnTo>
                    <a:pt x="510076" y="163654"/>
                  </a:lnTo>
                  <a:lnTo>
                    <a:pt x="475458" y="103571"/>
                  </a:lnTo>
                  <a:lnTo>
                    <a:pt x="426693" y="54667"/>
                  </a:lnTo>
                  <a:lnTo>
                    <a:pt x="366610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192883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0" y="264960"/>
                  </a:moveTo>
                  <a:lnTo>
                    <a:pt x="2276" y="230335"/>
                  </a:lnTo>
                  <a:lnTo>
                    <a:pt x="9040" y="196421"/>
                  </a:lnTo>
                  <a:lnTo>
                    <a:pt x="35636" y="132473"/>
                  </a:lnTo>
                  <a:lnTo>
                    <a:pt x="77573" y="77533"/>
                  </a:lnTo>
                  <a:lnTo>
                    <a:pt x="132473" y="35280"/>
                  </a:lnTo>
                  <a:lnTo>
                    <a:pt x="196421" y="9001"/>
                  </a:lnTo>
                  <a:lnTo>
                    <a:pt x="264960" y="0"/>
                  </a:lnTo>
                  <a:lnTo>
                    <a:pt x="333808" y="9001"/>
                  </a:lnTo>
                  <a:lnTo>
                    <a:pt x="397789" y="35280"/>
                  </a:lnTo>
                  <a:lnTo>
                    <a:pt x="452696" y="77533"/>
                  </a:lnTo>
                  <a:lnTo>
                    <a:pt x="494639" y="132473"/>
                  </a:lnTo>
                  <a:lnTo>
                    <a:pt x="521230" y="196421"/>
                  </a:lnTo>
                  <a:lnTo>
                    <a:pt x="530275" y="264960"/>
                  </a:lnTo>
                  <a:lnTo>
                    <a:pt x="527997" y="299584"/>
                  </a:lnTo>
                  <a:lnTo>
                    <a:pt x="521230" y="333497"/>
                  </a:lnTo>
                  <a:lnTo>
                    <a:pt x="494639" y="397433"/>
                  </a:lnTo>
                  <a:lnTo>
                    <a:pt x="452696" y="452385"/>
                  </a:lnTo>
                  <a:lnTo>
                    <a:pt x="397789" y="494639"/>
                  </a:lnTo>
                  <a:lnTo>
                    <a:pt x="333808" y="521096"/>
                  </a:lnTo>
                  <a:lnTo>
                    <a:pt x="264960" y="530275"/>
                  </a:lnTo>
                  <a:lnTo>
                    <a:pt x="196421" y="521096"/>
                  </a:lnTo>
                  <a:lnTo>
                    <a:pt x="132473" y="494639"/>
                  </a:lnTo>
                  <a:lnTo>
                    <a:pt x="77573" y="452385"/>
                  </a:lnTo>
                  <a:lnTo>
                    <a:pt x="35636" y="397433"/>
                  </a:lnTo>
                  <a:lnTo>
                    <a:pt x="9040" y="333497"/>
                  </a:lnTo>
                  <a:lnTo>
                    <a:pt x="2276" y="299584"/>
                  </a:lnTo>
                  <a:lnTo>
                    <a:pt x="0" y="264960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8395817" y="1928418"/>
            <a:ext cx="12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490935" y="1776780"/>
            <a:ext cx="542925" cy="542925"/>
            <a:chOff x="10490935" y="1776780"/>
            <a:chExt cx="542925" cy="542925"/>
          </a:xfrm>
        </p:grpSpPr>
        <p:sp>
          <p:nvSpPr>
            <p:cNvPr id="61" name="object 61"/>
            <p:cNvSpPr/>
            <p:nvPr/>
          </p:nvSpPr>
          <p:spPr>
            <a:xfrm>
              <a:off x="10497235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4960" y="0"/>
                  </a:moveTo>
                  <a:lnTo>
                    <a:pt x="196432" y="9001"/>
                  </a:lnTo>
                  <a:lnTo>
                    <a:pt x="132486" y="35280"/>
                  </a:lnTo>
                  <a:lnTo>
                    <a:pt x="77585" y="77533"/>
                  </a:lnTo>
                  <a:lnTo>
                    <a:pt x="35648" y="132473"/>
                  </a:lnTo>
                  <a:lnTo>
                    <a:pt x="9047" y="196421"/>
                  </a:lnTo>
                  <a:lnTo>
                    <a:pt x="0" y="264960"/>
                  </a:lnTo>
                  <a:lnTo>
                    <a:pt x="2278" y="299584"/>
                  </a:lnTo>
                  <a:lnTo>
                    <a:pt x="20204" y="366260"/>
                  </a:lnTo>
                  <a:lnTo>
                    <a:pt x="54828" y="426343"/>
                  </a:lnTo>
                  <a:lnTo>
                    <a:pt x="103584" y="475252"/>
                  </a:lnTo>
                  <a:lnTo>
                    <a:pt x="163667" y="509926"/>
                  </a:lnTo>
                  <a:lnTo>
                    <a:pt x="230343" y="527947"/>
                  </a:lnTo>
                  <a:lnTo>
                    <a:pt x="264960" y="530275"/>
                  </a:lnTo>
                  <a:lnTo>
                    <a:pt x="299789" y="527947"/>
                  </a:lnTo>
                  <a:lnTo>
                    <a:pt x="366615" y="509926"/>
                  </a:lnTo>
                  <a:lnTo>
                    <a:pt x="426704" y="475252"/>
                  </a:lnTo>
                  <a:lnTo>
                    <a:pt x="475460" y="426343"/>
                  </a:lnTo>
                  <a:lnTo>
                    <a:pt x="510084" y="366260"/>
                  </a:lnTo>
                  <a:lnTo>
                    <a:pt x="528009" y="299584"/>
                  </a:lnTo>
                  <a:lnTo>
                    <a:pt x="530288" y="264960"/>
                  </a:lnTo>
                  <a:lnTo>
                    <a:pt x="528009" y="230335"/>
                  </a:lnTo>
                  <a:lnTo>
                    <a:pt x="510084" y="163654"/>
                  </a:lnTo>
                  <a:lnTo>
                    <a:pt x="475460" y="103571"/>
                  </a:lnTo>
                  <a:lnTo>
                    <a:pt x="426704" y="54667"/>
                  </a:lnTo>
                  <a:lnTo>
                    <a:pt x="366615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0497235" y="1783080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0" y="264960"/>
                  </a:moveTo>
                  <a:lnTo>
                    <a:pt x="2278" y="230335"/>
                  </a:lnTo>
                  <a:lnTo>
                    <a:pt x="9047" y="196421"/>
                  </a:lnTo>
                  <a:lnTo>
                    <a:pt x="35648" y="132473"/>
                  </a:lnTo>
                  <a:lnTo>
                    <a:pt x="77585" y="77533"/>
                  </a:lnTo>
                  <a:lnTo>
                    <a:pt x="132486" y="35280"/>
                  </a:lnTo>
                  <a:lnTo>
                    <a:pt x="196432" y="9001"/>
                  </a:lnTo>
                  <a:lnTo>
                    <a:pt x="264960" y="0"/>
                  </a:lnTo>
                  <a:lnTo>
                    <a:pt x="333809" y="9001"/>
                  </a:lnTo>
                  <a:lnTo>
                    <a:pt x="397802" y="35280"/>
                  </a:lnTo>
                  <a:lnTo>
                    <a:pt x="452702" y="77533"/>
                  </a:lnTo>
                  <a:lnTo>
                    <a:pt x="494639" y="132473"/>
                  </a:lnTo>
                  <a:lnTo>
                    <a:pt x="521241" y="196421"/>
                  </a:lnTo>
                  <a:lnTo>
                    <a:pt x="530288" y="264960"/>
                  </a:lnTo>
                  <a:lnTo>
                    <a:pt x="528009" y="299584"/>
                  </a:lnTo>
                  <a:lnTo>
                    <a:pt x="521241" y="333497"/>
                  </a:lnTo>
                  <a:lnTo>
                    <a:pt x="494639" y="397433"/>
                  </a:lnTo>
                  <a:lnTo>
                    <a:pt x="452702" y="452385"/>
                  </a:lnTo>
                  <a:lnTo>
                    <a:pt x="397802" y="494639"/>
                  </a:lnTo>
                  <a:lnTo>
                    <a:pt x="333809" y="521096"/>
                  </a:lnTo>
                  <a:lnTo>
                    <a:pt x="264960" y="530275"/>
                  </a:lnTo>
                  <a:lnTo>
                    <a:pt x="196432" y="521096"/>
                  </a:lnTo>
                  <a:lnTo>
                    <a:pt x="132486" y="494639"/>
                  </a:lnTo>
                  <a:lnTo>
                    <a:pt x="77585" y="452385"/>
                  </a:lnTo>
                  <a:lnTo>
                    <a:pt x="35648" y="397433"/>
                  </a:lnTo>
                  <a:lnTo>
                    <a:pt x="9047" y="333497"/>
                  </a:lnTo>
                  <a:lnTo>
                    <a:pt x="2278" y="299584"/>
                  </a:lnTo>
                  <a:lnTo>
                    <a:pt x="0" y="264960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0700181" y="1928418"/>
            <a:ext cx="124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9094" y="2499245"/>
            <a:ext cx="2114550" cy="2344420"/>
            <a:chOff x="679094" y="2499245"/>
            <a:chExt cx="2114550" cy="2344420"/>
          </a:xfrm>
        </p:grpSpPr>
        <p:sp>
          <p:nvSpPr>
            <p:cNvPr id="11" name="object 11"/>
            <p:cNvSpPr/>
            <p:nvPr/>
          </p:nvSpPr>
          <p:spPr>
            <a:xfrm>
              <a:off x="685444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2029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258644"/>
                  </a:lnTo>
                  <a:lnTo>
                    <a:pt x="594" y="2267920"/>
                  </a:lnTo>
                  <a:lnTo>
                    <a:pt x="607" y="2268122"/>
                  </a:lnTo>
                  <a:lnTo>
                    <a:pt x="21413" y="2310261"/>
                  </a:lnTo>
                  <a:lnTo>
                    <a:pt x="63442" y="2331112"/>
                  </a:lnTo>
                  <a:lnTo>
                    <a:pt x="73075" y="2331720"/>
                  </a:lnTo>
                  <a:lnTo>
                    <a:pt x="2030031" y="2331364"/>
                  </a:lnTo>
                  <a:lnTo>
                    <a:pt x="2074409" y="2316265"/>
                  </a:lnTo>
                  <a:lnTo>
                    <a:pt x="2100628" y="2277500"/>
                  </a:lnTo>
                  <a:lnTo>
                    <a:pt x="2102473" y="2268122"/>
                  </a:lnTo>
                  <a:lnTo>
                    <a:pt x="2102512" y="2267920"/>
                  </a:lnTo>
                  <a:lnTo>
                    <a:pt x="2103097" y="2258644"/>
                  </a:lnTo>
                  <a:lnTo>
                    <a:pt x="2103120" y="2258288"/>
                  </a:lnTo>
                  <a:lnTo>
                    <a:pt x="2102751" y="73088"/>
                  </a:lnTo>
                  <a:lnTo>
                    <a:pt x="2087660" y="28710"/>
                  </a:lnTo>
                  <a:lnTo>
                    <a:pt x="2048710" y="2430"/>
                  </a:lnTo>
                  <a:lnTo>
                    <a:pt x="2039309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5444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3" y="15109"/>
                  </a:lnTo>
                  <a:lnTo>
                    <a:pt x="2100322" y="54232"/>
                  </a:lnTo>
                  <a:lnTo>
                    <a:pt x="2102751" y="73088"/>
                  </a:lnTo>
                  <a:lnTo>
                    <a:pt x="2103120" y="2258288"/>
                  </a:lnTo>
                  <a:lnTo>
                    <a:pt x="2102512" y="2267920"/>
                  </a:lnTo>
                  <a:lnTo>
                    <a:pt x="2100689" y="2277317"/>
                  </a:lnTo>
                  <a:lnTo>
                    <a:pt x="2074409" y="2316265"/>
                  </a:lnTo>
                  <a:lnTo>
                    <a:pt x="2030031" y="2331364"/>
                  </a:lnTo>
                  <a:lnTo>
                    <a:pt x="73075" y="2331720"/>
                  </a:lnTo>
                  <a:lnTo>
                    <a:pt x="28548" y="2316623"/>
                  </a:lnTo>
                  <a:lnTo>
                    <a:pt x="2428" y="2277500"/>
                  </a:lnTo>
                  <a:lnTo>
                    <a:pt x="0" y="225864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444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4" h="2331720">
                  <a:moveTo>
                    <a:pt x="63715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2029" y="2331364"/>
                  </a:lnTo>
                  <a:lnTo>
                    <a:pt x="63715" y="23313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5444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4" h="2331720">
                  <a:moveTo>
                    <a:pt x="32029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331364"/>
                  </a:lnTo>
                  <a:lnTo>
                    <a:pt x="32029" y="233136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74344" y="2683700"/>
            <a:ext cx="7378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Observe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3975" y="2990418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6261" y="3013455"/>
            <a:ext cx="1379855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failed?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still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works?</a:t>
            </a:r>
            <a:r>
              <a:rPr dirty="0" sz="105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Capture</a:t>
            </a:r>
            <a:r>
              <a:rPr dirty="0" sz="105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state,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time,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target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exact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error.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1983" y="2499245"/>
            <a:ext cx="2336165" cy="2344420"/>
            <a:chOff x="2761983" y="2499245"/>
            <a:chExt cx="2336165" cy="2344420"/>
          </a:xfrm>
        </p:grpSpPr>
        <p:sp>
          <p:nvSpPr>
            <p:cNvPr id="22" name="object 22"/>
            <p:cNvSpPr/>
            <p:nvPr/>
          </p:nvSpPr>
          <p:spPr>
            <a:xfrm>
              <a:off x="2770555" y="3602520"/>
              <a:ext cx="130810" cy="635"/>
            </a:xfrm>
            <a:custGeom>
              <a:avLst/>
              <a:gdLst/>
              <a:ahLst/>
              <a:cxnLst/>
              <a:rect l="l" t="t" r="r" b="b"/>
              <a:pathLst>
                <a:path w="130810" h="635">
                  <a:moveTo>
                    <a:pt x="0" y="0"/>
                  </a:moveTo>
                  <a:lnTo>
                    <a:pt x="130682" y="355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96196" y="3565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89795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20296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258644"/>
                  </a:lnTo>
                  <a:lnTo>
                    <a:pt x="594" y="2267920"/>
                  </a:lnTo>
                  <a:lnTo>
                    <a:pt x="607" y="2268122"/>
                  </a:lnTo>
                  <a:lnTo>
                    <a:pt x="2394" y="2277317"/>
                  </a:lnTo>
                  <a:lnTo>
                    <a:pt x="2430" y="2277500"/>
                  </a:lnTo>
                  <a:lnTo>
                    <a:pt x="5416" y="2286379"/>
                  </a:lnTo>
                  <a:lnTo>
                    <a:pt x="5470" y="2286540"/>
                  </a:lnTo>
                  <a:lnTo>
                    <a:pt x="36360" y="2322004"/>
                  </a:lnTo>
                  <a:lnTo>
                    <a:pt x="73088" y="2331720"/>
                  </a:lnTo>
                  <a:lnTo>
                    <a:pt x="2030044" y="2331364"/>
                  </a:lnTo>
                  <a:lnTo>
                    <a:pt x="2074421" y="2316265"/>
                  </a:lnTo>
                  <a:lnTo>
                    <a:pt x="2100629" y="2277500"/>
                  </a:lnTo>
                  <a:lnTo>
                    <a:pt x="2100691" y="2277317"/>
                  </a:lnTo>
                  <a:lnTo>
                    <a:pt x="2102473" y="2268122"/>
                  </a:lnTo>
                  <a:lnTo>
                    <a:pt x="2102512" y="2267920"/>
                  </a:lnTo>
                  <a:lnTo>
                    <a:pt x="2103097" y="2258644"/>
                  </a:lnTo>
                  <a:lnTo>
                    <a:pt x="2103120" y="2258288"/>
                  </a:lnTo>
                  <a:lnTo>
                    <a:pt x="2102764" y="73088"/>
                  </a:lnTo>
                  <a:lnTo>
                    <a:pt x="2087665" y="28710"/>
                  </a:lnTo>
                  <a:lnTo>
                    <a:pt x="2048717" y="2430"/>
                  </a:lnTo>
                  <a:lnTo>
                    <a:pt x="2039320" y="607"/>
                  </a:lnTo>
                  <a:lnTo>
                    <a:pt x="2029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989795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2029688" y="0"/>
                  </a:lnTo>
                  <a:lnTo>
                    <a:pt x="2074209" y="15109"/>
                  </a:lnTo>
                  <a:lnTo>
                    <a:pt x="2100335" y="54232"/>
                  </a:lnTo>
                  <a:lnTo>
                    <a:pt x="2102764" y="73088"/>
                  </a:lnTo>
                  <a:lnTo>
                    <a:pt x="2103120" y="2258288"/>
                  </a:lnTo>
                  <a:lnTo>
                    <a:pt x="2102512" y="2267920"/>
                  </a:lnTo>
                  <a:lnTo>
                    <a:pt x="2100691" y="2277317"/>
                  </a:lnTo>
                  <a:lnTo>
                    <a:pt x="2074421" y="2316265"/>
                  </a:lnTo>
                  <a:lnTo>
                    <a:pt x="2030044" y="2331364"/>
                  </a:lnTo>
                  <a:lnTo>
                    <a:pt x="73088" y="2331720"/>
                  </a:lnTo>
                  <a:lnTo>
                    <a:pt x="28555" y="2316623"/>
                  </a:lnTo>
                  <a:lnTo>
                    <a:pt x="2430" y="2277500"/>
                  </a:lnTo>
                  <a:lnTo>
                    <a:pt x="0" y="225864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989795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5" h="2331720">
                  <a:moveTo>
                    <a:pt x="63728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2042" y="2331364"/>
                  </a:lnTo>
                  <a:lnTo>
                    <a:pt x="63728" y="233136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89795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5" h="2331720">
                  <a:moveTo>
                    <a:pt x="32042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331364"/>
                  </a:lnTo>
                  <a:lnTo>
                    <a:pt x="32042" y="233136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178695" y="2683700"/>
            <a:ext cx="7277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Localize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78340" y="2990418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30625" y="3013455"/>
            <a:ext cx="1593850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Which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layer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owns</a:t>
            </a:r>
            <a:r>
              <a:rPr dirty="0" sz="10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failure:</a:t>
            </a:r>
            <a:r>
              <a:rPr dirty="0" sz="10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compute,</a:t>
            </a:r>
            <a:r>
              <a:rPr dirty="0" sz="10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network,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OS,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storage,</a:t>
            </a:r>
            <a:r>
              <a:rPr dirty="0" sz="1050" spc="5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identity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monitoring?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66347" y="2499245"/>
            <a:ext cx="2336165" cy="2344420"/>
            <a:chOff x="5066347" y="2499245"/>
            <a:chExt cx="2336165" cy="2344420"/>
          </a:xfrm>
        </p:grpSpPr>
        <p:sp>
          <p:nvSpPr>
            <p:cNvPr id="36" name="object 36"/>
            <p:cNvSpPr/>
            <p:nvPr/>
          </p:nvSpPr>
          <p:spPr>
            <a:xfrm>
              <a:off x="5074919" y="3602520"/>
              <a:ext cx="130810" cy="635"/>
            </a:xfrm>
            <a:custGeom>
              <a:avLst/>
              <a:gdLst/>
              <a:ahLst/>
              <a:cxnLst/>
              <a:rect l="l" t="t" r="r" b="b"/>
              <a:pathLst>
                <a:path w="130810" h="635">
                  <a:moveTo>
                    <a:pt x="0" y="0"/>
                  </a:moveTo>
                  <a:lnTo>
                    <a:pt x="130314" y="355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200205" y="3565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294159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2029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258644"/>
                  </a:lnTo>
                  <a:lnTo>
                    <a:pt x="594" y="2267920"/>
                  </a:lnTo>
                  <a:lnTo>
                    <a:pt x="607" y="2268122"/>
                  </a:lnTo>
                  <a:lnTo>
                    <a:pt x="2393" y="2277317"/>
                  </a:lnTo>
                  <a:lnTo>
                    <a:pt x="2428" y="2277500"/>
                  </a:lnTo>
                  <a:lnTo>
                    <a:pt x="5410" y="2286379"/>
                  </a:lnTo>
                  <a:lnTo>
                    <a:pt x="36360" y="2322004"/>
                  </a:lnTo>
                  <a:lnTo>
                    <a:pt x="73075" y="2331720"/>
                  </a:lnTo>
                  <a:lnTo>
                    <a:pt x="2030044" y="2331364"/>
                  </a:lnTo>
                  <a:lnTo>
                    <a:pt x="2074414" y="2316265"/>
                  </a:lnTo>
                  <a:lnTo>
                    <a:pt x="2100629" y="2277500"/>
                  </a:lnTo>
                  <a:lnTo>
                    <a:pt x="2100691" y="2277317"/>
                  </a:lnTo>
                  <a:lnTo>
                    <a:pt x="2102473" y="2268122"/>
                  </a:lnTo>
                  <a:lnTo>
                    <a:pt x="2102512" y="2267920"/>
                  </a:lnTo>
                  <a:lnTo>
                    <a:pt x="2103097" y="2258644"/>
                  </a:lnTo>
                  <a:lnTo>
                    <a:pt x="2102764" y="73088"/>
                  </a:lnTo>
                  <a:lnTo>
                    <a:pt x="2087660" y="28710"/>
                  </a:lnTo>
                  <a:lnTo>
                    <a:pt x="2048716" y="2430"/>
                  </a:lnTo>
                  <a:lnTo>
                    <a:pt x="2039315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94159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8" y="15109"/>
                  </a:lnTo>
                  <a:lnTo>
                    <a:pt x="2100333" y="54232"/>
                  </a:lnTo>
                  <a:lnTo>
                    <a:pt x="2102764" y="73088"/>
                  </a:lnTo>
                  <a:lnTo>
                    <a:pt x="2103119" y="2258288"/>
                  </a:lnTo>
                  <a:lnTo>
                    <a:pt x="2102512" y="2267920"/>
                  </a:lnTo>
                  <a:lnTo>
                    <a:pt x="2100691" y="2277317"/>
                  </a:lnTo>
                  <a:lnTo>
                    <a:pt x="2074414" y="2316265"/>
                  </a:lnTo>
                  <a:lnTo>
                    <a:pt x="2030044" y="2331364"/>
                  </a:lnTo>
                  <a:lnTo>
                    <a:pt x="73075" y="2331720"/>
                  </a:lnTo>
                  <a:lnTo>
                    <a:pt x="28555" y="2316623"/>
                  </a:lnTo>
                  <a:lnTo>
                    <a:pt x="2428" y="2277500"/>
                  </a:lnTo>
                  <a:lnTo>
                    <a:pt x="0" y="225864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94159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5" h="2331720">
                  <a:moveTo>
                    <a:pt x="63715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2042" y="2331364"/>
                  </a:lnTo>
                  <a:lnTo>
                    <a:pt x="63715" y="23313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94159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5" h="2331720">
                  <a:moveTo>
                    <a:pt x="32042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331364"/>
                  </a:lnTo>
                  <a:lnTo>
                    <a:pt x="32042" y="233136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5482704" y="2683700"/>
            <a:ext cx="10737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Hypothesize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82335" y="2990418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34621" y="3013455"/>
            <a:ext cx="1548130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likely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cause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evidence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that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would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reject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it.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370343" y="2499245"/>
            <a:ext cx="2336165" cy="2344420"/>
            <a:chOff x="7370343" y="2499245"/>
            <a:chExt cx="2336165" cy="2344420"/>
          </a:xfrm>
        </p:grpSpPr>
        <p:sp>
          <p:nvSpPr>
            <p:cNvPr id="50" name="object 50"/>
            <p:cNvSpPr/>
            <p:nvPr/>
          </p:nvSpPr>
          <p:spPr>
            <a:xfrm>
              <a:off x="7378915" y="3602520"/>
              <a:ext cx="130810" cy="635"/>
            </a:xfrm>
            <a:custGeom>
              <a:avLst/>
              <a:gdLst/>
              <a:ahLst/>
              <a:cxnLst/>
              <a:rect l="l" t="t" r="r" b="b"/>
              <a:pathLst>
                <a:path w="130809" h="635">
                  <a:moveTo>
                    <a:pt x="0" y="0"/>
                  </a:moveTo>
                  <a:lnTo>
                    <a:pt x="130682" y="355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504556" y="3565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598155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20296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258644"/>
                  </a:lnTo>
                  <a:lnTo>
                    <a:pt x="594" y="2267920"/>
                  </a:lnTo>
                  <a:lnTo>
                    <a:pt x="607" y="2268122"/>
                  </a:lnTo>
                  <a:lnTo>
                    <a:pt x="2394" y="2277317"/>
                  </a:lnTo>
                  <a:lnTo>
                    <a:pt x="2430" y="2277500"/>
                  </a:lnTo>
                  <a:lnTo>
                    <a:pt x="5416" y="2286379"/>
                  </a:lnTo>
                  <a:lnTo>
                    <a:pt x="5470" y="2286540"/>
                  </a:lnTo>
                  <a:lnTo>
                    <a:pt x="36360" y="2322004"/>
                  </a:lnTo>
                  <a:lnTo>
                    <a:pt x="73088" y="2331720"/>
                  </a:lnTo>
                  <a:lnTo>
                    <a:pt x="2030044" y="2331364"/>
                  </a:lnTo>
                  <a:lnTo>
                    <a:pt x="2074421" y="2316265"/>
                  </a:lnTo>
                  <a:lnTo>
                    <a:pt x="2100629" y="2277500"/>
                  </a:lnTo>
                  <a:lnTo>
                    <a:pt x="2100691" y="2277317"/>
                  </a:lnTo>
                  <a:lnTo>
                    <a:pt x="2102473" y="2268122"/>
                  </a:lnTo>
                  <a:lnTo>
                    <a:pt x="2102512" y="2267920"/>
                  </a:lnTo>
                  <a:lnTo>
                    <a:pt x="2103097" y="2258644"/>
                  </a:lnTo>
                  <a:lnTo>
                    <a:pt x="2102764" y="73088"/>
                  </a:lnTo>
                  <a:lnTo>
                    <a:pt x="2087665" y="28710"/>
                  </a:lnTo>
                  <a:lnTo>
                    <a:pt x="2048717" y="2430"/>
                  </a:lnTo>
                  <a:lnTo>
                    <a:pt x="2039320" y="607"/>
                  </a:lnTo>
                  <a:lnTo>
                    <a:pt x="2029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598155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2029688" y="0"/>
                  </a:lnTo>
                  <a:lnTo>
                    <a:pt x="2074209" y="15109"/>
                  </a:lnTo>
                  <a:lnTo>
                    <a:pt x="2100335" y="54232"/>
                  </a:lnTo>
                  <a:lnTo>
                    <a:pt x="2102764" y="73088"/>
                  </a:lnTo>
                  <a:lnTo>
                    <a:pt x="2103120" y="2258288"/>
                  </a:lnTo>
                  <a:lnTo>
                    <a:pt x="2102512" y="2267920"/>
                  </a:lnTo>
                  <a:lnTo>
                    <a:pt x="2100691" y="2277317"/>
                  </a:lnTo>
                  <a:lnTo>
                    <a:pt x="2074421" y="2316265"/>
                  </a:lnTo>
                  <a:lnTo>
                    <a:pt x="2030044" y="2331364"/>
                  </a:lnTo>
                  <a:lnTo>
                    <a:pt x="73088" y="2331720"/>
                  </a:lnTo>
                  <a:lnTo>
                    <a:pt x="28555" y="2316623"/>
                  </a:lnTo>
                  <a:lnTo>
                    <a:pt x="2430" y="2277500"/>
                  </a:lnTo>
                  <a:lnTo>
                    <a:pt x="0" y="225864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598155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4" h="2331720">
                  <a:moveTo>
                    <a:pt x="63728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2042" y="2331364"/>
                  </a:lnTo>
                  <a:lnTo>
                    <a:pt x="63728" y="233136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598155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4" h="2331720">
                  <a:moveTo>
                    <a:pt x="32042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331364"/>
                  </a:lnTo>
                  <a:lnTo>
                    <a:pt x="32042" y="233136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7787055" y="2683700"/>
            <a:ext cx="12325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Change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safely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86699" y="2990418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938985" y="3013455"/>
            <a:ext cx="1480185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Apply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smallest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reversible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in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approved</a:t>
            </a:r>
            <a:r>
              <a:rPr dirty="0" sz="105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sandbox.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675000" y="2499295"/>
            <a:ext cx="2336165" cy="2344420"/>
            <a:chOff x="9675000" y="2499295"/>
            <a:chExt cx="2336165" cy="2344420"/>
          </a:xfrm>
        </p:grpSpPr>
        <p:sp>
          <p:nvSpPr>
            <p:cNvPr id="64" name="object 64"/>
            <p:cNvSpPr/>
            <p:nvPr/>
          </p:nvSpPr>
          <p:spPr>
            <a:xfrm>
              <a:off x="9683279" y="3602520"/>
              <a:ext cx="130810" cy="635"/>
            </a:xfrm>
            <a:custGeom>
              <a:avLst/>
              <a:gdLst/>
              <a:ahLst/>
              <a:cxnLst/>
              <a:rect l="l" t="t" r="r" b="b"/>
              <a:pathLst>
                <a:path w="130809" h="635">
                  <a:moveTo>
                    <a:pt x="0" y="0"/>
                  </a:moveTo>
                  <a:lnTo>
                    <a:pt x="130683" y="355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808921" y="3565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9902520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2029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258644"/>
                  </a:lnTo>
                  <a:lnTo>
                    <a:pt x="594" y="2267920"/>
                  </a:lnTo>
                  <a:lnTo>
                    <a:pt x="607" y="2268122"/>
                  </a:lnTo>
                  <a:lnTo>
                    <a:pt x="2393" y="2277317"/>
                  </a:lnTo>
                  <a:lnTo>
                    <a:pt x="2428" y="2277500"/>
                  </a:lnTo>
                  <a:lnTo>
                    <a:pt x="5410" y="2286379"/>
                  </a:lnTo>
                  <a:lnTo>
                    <a:pt x="36360" y="2322004"/>
                  </a:lnTo>
                  <a:lnTo>
                    <a:pt x="73075" y="2331720"/>
                  </a:lnTo>
                  <a:lnTo>
                    <a:pt x="2030044" y="2331364"/>
                  </a:lnTo>
                  <a:lnTo>
                    <a:pt x="2074414" y="2316265"/>
                  </a:lnTo>
                  <a:lnTo>
                    <a:pt x="2100629" y="2277500"/>
                  </a:lnTo>
                  <a:lnTo>
                    <a:pt x="2100691" y="2277317"/>
                  </a:lnTo>
                  <a:lnTo>
                    <a:pt x="2102473" y="2268122"/>
                  </a:lnTo>
                  <a:lnTo>
                    <a:pt x="2102512" y="2267920"/>
                  </a:lnTo>
                  <a:lnTo>
                    <a:pt x="2103097" y="2258644"/>
                  </a:lnTo>
                  <a:lnTo>
                    <a:pt x="2102764" y="73088"/>
                  </a:lnTo>
                  <a:lnTo>
                    <a:pt x="2087660" y="28710"/>
                  </a:lnTo>
                  <a:lnTo>
                    <a:pt x="2048716" y="2430"/>
                  </a:lnTo>
                  <a:lnTo>
                    <a:pt x="2039315" y="607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902520" y="2505595"/>
              <a:ext cx="2103120" cy="2331720"/>
            </a:xfrm>
            <a:custGeom>
              <a:avLst/>
              <a:gdLst/>
              <a:ahLst/>
              <a:cxnLst/>
              <a:rect l="l" t="t" r="r" b="b"/>
              <a:pathLst>
                <a:path w="2103120" h="233172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029675" y="0"/>
                  </a:lnTo>
                  <a:lnTo>
                    <a:pt x="2074208" y="15109"/>
                  </a:lnTo>
                  <a:lnTo>
                    <a:pt x="2100333" y="54232"/>
                  </a:lnTo>
                  <a:lnTo>
                    <a:pt x="2102764" y="73088"/>
                  </a:lnTo>
                  <a:lnTo>
                    <a:pt x="2103120" y="2258288"/>
                  </a:lnTo>
                  <a:lnTo>
                    <a:pt x="2102512" y="2267920"/>
                  </a:lnTo>
                  <a:lnTo>
                    <a:pt x="2100691" y="2277317"/>
                  </a:lnTo>
                  <a:lnTo>
                    <a:pt x="2074414" y="2316265"/>
                  </a:lnTo>
                  <a:lnTo>
                    <a:pt x="2030044" y="2331364"/>
                  </a:lnTo>
                  <a:lnTo>
                    <a:pt x="73075" y="2331720"/>
                  </a:lnTo>
                  <a:lnTo>
                    <a:pt x="28555" y="2316623"/>
                  </a:lnTo>
                  <a:lnTo>
                    <a:pt x="2428" y="2277500"/>
                  </a:lnTo>
                  <a:lnTo>
                    <a:pt x="0" y="225864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902520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4" h="2331720">
                  <a:moveTo>
                    <a:pt x="63715" y="0"/>
                  </a:moveTo>
                  <a:lnTo>
                    <a:pt x="0" y="0"/>
                  </a:lnTo>
                  <a:lnTo>
                    <a:pt x="0" y="2331364"/>
                  </a:lnTo>
                  <a:lnTo>
                    <a:pt x="32042" y="2331364"/>
                  </a:lnTo>
                  <a:lnTo>
                    <a:pt x="63715" y="23313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902520" y="2505595"/>
              <a:ext cx="64135" cy="2331720"/>
            </a:xfrm>
            <a:custGeom>
              <a:avLst/>
              <a:gdLst/>
              <a:ahLst/>
              <a:cxnLst/>
              <a:rect l="l" t="t" r="r" b="b"/>
              <a:pathLst>
                <a:path w="64134" h="2331720">
                  <a:moveTo>
                    <a:pt x="32042" y="2331364"/>
                  </a:moveTo>
                  <a:lnTo>
                    <a:pt x="0" y="23313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331364"/>
                  </a:lnTo>
                  <a:lnTo>
                    <a:pt x="32042" y="233136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0091419" y="2683700"/>
            <a:ext cx="11779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Prove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10243F"/>
                </a:solidFill>
                <a:latin typeface="Arial"/>
                <a:cs typeface="Arial"/>
              </a:rPr>
              <a:t>close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091064" y="2990418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243337" y="3013455"/>
            <a:ext cx="1342390" cy="683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Retest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original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symptom,</a:t>
            </a:r>
            <a:r>
              <a:rPr dirty="0" sz="105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capture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before/after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r>
              <a:rPr dirty="0" sz="10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document</a:t>
            </a:r>
            <a:r>
              <a:rPr dirty="0" sz="105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prevention.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75" name="object 7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09904" y="6000381"/>
            <a:ext cx="56870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Example: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“SSH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failed”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symptom.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“The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has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no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reachable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IP”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testable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cause.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80" name="object 8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80340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8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Azure</a:t>
            </a:r>
            <a:r>
              <a:rPr dirty="0" spc="-30"/>
              <a:t> </a:t>
            </a:r>
            <a:r>
              <a:rPr dirty="0"/>
              <a:t>VM</a:t>
            </a:r>
            <a:r>
              <a:rPr dirty="0" spc="-30"/>
              <a:t> </a:t>
            </a:r>
            <a:r>
              <a:rPr dirty="0"/>
              <a:t>=</a:t>
            </a:r>
            <a:r>
              <a:rPr dirty="0" spc="-30"/>
              <a:t> </a:t>
            </a:r>
            <a:r>
              <a:rPr dirty="0"/>
              <a:t>IaaS:</a:t>
            </a:r>
            <a:r>
              <a:rPr dirty="0" spc="-30"/>
              <a:t> </a:t>
            </a:r>
            <a:r>
              <a:rPr dirty="0"/>
              <a:t>you</a:t>
            </a:r>
            <a:r>
              <a:rPr dirty="0" spc="-30"/>
              <a:t> </a:t>
            </a:r>
            <a:r>
              <a:rPr dirty="0"/>
              <a:t>manage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guest</a:t>
            </a:r>
            <a:r>
              <a:rPr dirty="0" spc="-35"/>
              <a:t> </a:t>
            </a:r>
            <a:r>
              <a:rPr dirty="0"/>
              <a:t>operating</a:t>
            </a:r>
            <a:r>
              <a:rPr dirty="0" spc="-25"/>
              <a:t> </a:t>
            </a:r>
            <a:r>
              <a:rPr dirty="0" spc="-1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620509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Infrastructure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Service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gives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flexibility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because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customer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controls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workload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configuration.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06500" y="1621255"/>
            <a:ext cx="3441065" cy="3414395"/>
            <a:chOff x="706500" y="1621255"/>
            <a:chExt cx="3441065" cy="3414395"/>
          </a:xfrm>
        </p:grpSpPr>
        <p:sp>
          <p:nvSpPr>
            <p:cNvPr id="7" name="object 7"/>
            <p:cNvSpPr/>
            <p:nvPr/>
          </p:nvSpPr>
          <p:spPr>
            <a:xfrm>
              <a:off x="713155" y="1627555"/>
              <a:ext cx="3429000" cy="3401695"/>
            </a:xfrm>
            <a:custGeom>
              <a:avLst/>
              <a:gdLst/>
              <a:ahLst/>
              <a:cxnLst/>
              <a:rect l="l" t="t" r="r" b="b"/>
              <a:pathLst>
                <a:path w="3429000" h="3401695">
                  <a:moveTo>
                    <a:pt x="335556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328568"/>
                  </a:lnTo>
                  <a:lnTo>
                    <a:pt x="15053" y="3372938"/>
                  </a:lnTo>
                  <a:lnTo>
                    <a:pt x="54048" y="3399215"/>
                  </a:lnTo>
                  <a:lnTo>
                    <a:pt x="73088" y="3401644"/>
                  </a:lnTo>
                  <a:lnTo>
                    <a:pt x="3355924" y="3401288"/>
                  </a:lnTo>
                  <a:lnTo>
                    <a:pt x="3400301" y="3386234"/>
                  </a:lnTo>
                  <a:lnTo>
                    <a:pt x="3426555" y="3347286"/>
                  </a:lnTo>
                  <a:lnTo>
                    <a:pt x="3428976" y="3328568"/>
                  </a:lnTo>
                  <a:lnTo>
                    <a:pt x="3429000" y="3328200"/>
                  </a:lnTo>
                  <a:lnTo>
                    <a:pt x="3428644" y="73088"/>
                  </a:lnTo>
                  <a:lnTo>
                    <a:pt x="3413597" y="28710"/>
                  </a:lnTo>
                  <a:lnTo>
                    <a:pt x="3374597" y="2430"/>
                  </a:lnTo>
                  <a:lnTo>
                    <a:pt x="3365200" y="607"/>
                  </a:lnTo>
                  <a:lnTo>
                    <a:pt x="3355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3155" y="1627555"/>
              <a:ext cx="3429000" cy="3401695"/>
            </a:xfrm>
            <a:custGeom>
              <a:avLst/>
              <a:gdLst/>
              <a:ahLst/>
              <a:cxnLst/>
              <a:rect l="l" t="t" r="r" b="b"/>
              <a:pathLst>
                <a:path w="3429000" h="3401695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3355568" y="0"/>
                  </a:lnTo>
                  <a:lnTo>
                    <a:pt x="3400244" y="15109"/>
                  </a:lnTo>
                  <a:lnTo>
                    <a:pt x="3426215" y="54365"/>
                  </a:lnTo>
                  <a:lnTo>
                    <a:pt x="3428644" y="73088"/>
                  </a:lnTo>
                  <a:lnTo>
                    <a:pt x="3429000" y="3328200"/>
                  </a:lnTo>
                  <a:lnTo>
                    <a:pt x="3428392" y="3337839"/>
                  </a:lnTo>
                  <a:lnTo>
                    <a:pt x="3426571" y="3347240"/>
                  </a:lnTo>
                  <a:lnTo>
                    <a:pt x="3400301" y="3386234"/>
                  </a:lnTo>
                  <a:lnTo>
                    <a:pt x="3355924" y="3401288"/>
                  </a:lnTo>
                  <a:lnTo>
                    <a:pt x="73088" y="3401644"/>
                  </a:lnTo>
                  <a:lnTo>
                    <a:pt x="28405" y="3386540"/>
                  </a:lnTo>
                  <a:lnTo>
                    <a:pt x="2430" y="3347286"/>
                  </a:lnTo>
                  <a:lnTo>
                    <a:pt x="0" y="33285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280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4" h="3401695">
                  <a:moveTo>
                    <a:pt x="63715" y="0"/>
                  </a:moveTo>
                  <a:lnTo>
                    <a:pt x="0" y="0"/>
                  </a:lnTo>
                  <a:lnTo>
                    <a:pt x="0" y="3401288"/>
                  </a:lnTo>
                  <a:lnTo>
                    <a:pt x="32042" y="3401288"/>
                  </a:lnTo>
                  <a:lnTo>
                    <a:pt x="63715" y="340128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280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4" h="3401695">
                  <a:moveTo>
                    <a:pt x="32042" y="3401288"/>
                  </a:moveTo>
                  <a:lnTo>
                    <a:pt x="0" y="340128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401288"/>
                  </a:lnTo>
                  <a:lnTo>
                    <a:pt x="32042" y="3401288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01344" y="1790179"/>
            <a:ext cx="1522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6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manages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2110219"/>
            <a:ext cx="81280" cy="7778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985" y="2136508"/>
            <a:ext cx="2515870" cy="96646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130"/>
              </a:spcBef>
              <a:buChar char="-"/>
              <a:tabLst>
                <a:tab pos="10795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Physical</a:t>
            </a:r>
            <a:r>
              <a:rPr dirty="0" sz="1200" spc="1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datacenter</a:t>
            </a:r>
            <a:r>
              <a:rPr dirty="0" sz="1200" spc="1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14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servers</a:t>
            </a:r>
            <a:endParaRPr sz="12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spcBef>
                <a:spcPts val="40"/>
              </a:spcBef>
              <a:buChar char="-"/>
              <a:tabLst>
                <a:tab pos="10795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Virtualization</a:t>
            </a:r>
            <a:r>
              <a:rPr dirty="0" sz="1200" spc="1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underlying</a:t>
            </a:r>
            <a:r>
              <a:rPr dirty="0" sz="1200" spc="1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host</a:t>
            </a:r>
            <a:endParaRPr sz="12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spcBef>
                <a:spcPts val="45"/>
              </a:spcBef>
              <a:buChar char="-"/>
              <a:tabLst>
                <a:tab pos="10795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Core</a:t>
            </a:r>
            <a:r>
              <a:rPr dirty="0" sz="12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cloud</a:t>
            </a:r>
            <a:r>
              <a:rPr dirty="0" sz="12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fabric</a:t>
            </a:r>
            <a:endParaRPr sz="1200">
              <a:latin typeface="Arial"/>
              <a:cs typeface="Arial"/>
            </a:endParaRPr>
          </a:p>
          <a:p>
            <a:pPr marL="12700" marR="5080" indent="95250">
              <a:lnSpc>
                <a:spcPct val="103000"/>
              </a:lnSpc>
              <a:buChar char="-"/>
              <a:tabLst>
                <a:tab pos="10795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Managed</a:t>
            </a:r>
            <a:r>
              <a:rPr dirty="0" sz="12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1200" spc="1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availability</a:t>
            </a:r>
            <a:r>
              <a:rPr dirty="0" sz="12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of</a:t>
            </a:r>
            <a:r>
              <a:rPr dirty="0" sz="1200" spc="1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platform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64100" y="1621255"/>
            <a:ext cx="3441065" cy="3414395"/>
            <a:chOff x="4364100" y="1621255"/>
            <a:chExt cx="3441065" cy="3414395"/>
          </a:xfrm>
        </p:grpSpPr>
        <p:sp>
          <p:nvSpPr>
            <p:cNvPr id="15" name="object 15"/>
            <p:cNvSpPr/>
            <p:nvPr/>
          </p:nvSpPr>
          <p:spPr>
            <a:xfrm>
              <a:off x="4370755" y="1627555"/>
              <a:ext cx="3429000" cy="3401695"/>
            </a:xfrm>
            <a:custGeom>
              <a:avLst/>
              <a:gdLst/>
              <a:ahLst/>
              <a:cxnLst/>
              <a:rect l="l" t="t" r="r" b="b"/>
              <a:pathLst>
                <a:path w="3429000" h="3401695">
                  <a:moveTo>
                    <a:pt x="335556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328568"/>
                  </a:lnTo>
                  <a:lnTo>
                    <a:pt x="597" y="3337839"/>
                  </a:lnTo>
                  <a:lnTo>
                    <a:pt x="607" y="3337994"/>
                  </a:lnTo>
                  <a:lnTo>
                    <a:pt x="21291" y="3380176"/>
                  </a:lnTo>
                  <a:lnTo>
                    <a:pt x="63449" y="3401036"/>
                  </a:lnTo>
                  <a:lnTo>
                    <a:pt x="73088" y="3401644"/>
                  </a:lnTo>
                  <a:lnTo>
                    <a:pt x="3355924" y="3401288"/>
                  </a:lnTo>
                  <a:lnTo>
                    <a:pt x="3400301" y="3386234"/>
                  </a:lnTo>
                  <a:lnTo>
                    <a:pt x="3426555" y="3347286"/>
                  </a:lnTo>
                  <a:lnTo>
                    <a:pt x="3428976" y="3328568"/>
                  </a:lnTo>
                  <a:lnTo>
                    <a:pt x="3429000" y="3328200"/>
                  </a:lnTo>
                  <a:lnTo>
                    <a:pt x="3428644" y="73088"/>
                  </a:lnTo>
                  <a:lnTo>
                    <a:pt x="3413597" y="28710"/>
                  </a:lnTo>
                  <a:lnTo>
                    <a:pt x="3374597" y="2430"/>
                  </a:lnTo>
                  <a:lnTo>
                    <a:pt x="3365200" y="607"/>
                  </a:lnTo>
                  <a:lnTo>
                    <a:pt x="3355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70755" y="1627555"/>
              <a:ext cx="3429000" cy="3401695"/>
            </a:xfrm>
            <a:custGeom>
              <a:avLst/>
              <a:gdLst/>
              <a:ahLst/>
              <a:cxnLst/>
              <a:rect l="l" t="t" r="r" b="b"/>
              <a:pathLst>
                <a:path w="3429000" h="3401695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3355568" y="0"/>
                  </a:lnTo>
                  <a:lnTo>
                    <a:pt x="3400244" y="15109"/>
                  </a:lnTo>
                  <a:lnTo>
                    <a:pt x="3426215" y="54365"/>
                  </a:lnTo>
                  <a:lnTo>
                    <a:pt x="3428644" y="73088"/>
                  </a:lnTo>
                  <a:lnTo>
                    <a:pt x="3429000" y="3328200"/>
                  </a:lnTo>
                  <a:lnTo>
                    <a:pt x="3428392" y="3337839"/>
                  </a:lnTo>
                  <a:lnTo>
                    <a:pt x="3426571" y="3347240"/>
                  </a:lnTo>
                  <a:lnTo>
                    <a:pt x="3400301" y="3386234"/>
                  </a:lnTo>
                  <a:lnTo>
                    <a:pt x="3355924" y="3401288"/>
                  </a:lnTo>
                  <a:lnTo>
                    <a:pt x="73088" y="3401644"/>
                  </a:lnTo>
                  <a:lnTo>
                    <a:pt x="28405" y="3386540"/>
                  </a:lnTo>
                  <a:lnTo>
                    <a:pt x="2430" y="3347286"/>
                  </a:lnTo>
                  <a:lnTo>
                    <a:pt x="0" y="33285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7040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5" h="3401695">
                  <a:moveTo>
                    <a:pt x="63715" y="0"/>
                  </a:moveTo>
                  <a:lnTo>
                    <a:pt x="0" y="0"/>
                  </a:lnTo>
                  <a:lnTo>
                    <a:pt x="0" y="3401288"/>
                  </a:lnTo>
                  <a:lnTo>
                    <a:pt x="32042" y="3401288"/>
                  </a:lnTo>
                  <a:lnTo>
                    <a:pt x="63715" y="340128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7040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5" h="3401695">
                  <a:moveTo>
                    <a:pt x="32042" y="3401288"/>
                  </a:moveTo>
                  <a:lnTo>
                    <a:pt x="0" y="340128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401288"/>
                  </a:lnTo>
                  <a:lnTo>
                    <a:pt x="32042" y="3401288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558944" y="1790179"/>
            <a:ext cx="1979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10243F"/>
                </a:solidFill>
                <a:latin typeface="Arial"/>
                <a:cs typeface="Arial"/>
              </a:rPr>
              <a:t>You</a:t>
            </a:r>
            <a:r>
              <a:rPr dirty="0" sz="16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manage</a:t>
            </a:r>
            <a:r>
              <a:rPr dirty="0" sz="16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in</a:t>
            </a:r>
            <a:r>
              <a:rPr dirty="0" sz="16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6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59300" y="2110219"/>
            <a:ext cx="81280" cy="7778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1585" y="2136508"/>
            <a:ext cx="2672715" cy="7778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130"/>
              </a:spcBef>
              <a:buChar char="-"/>
              <a:tabLst>
                <a:tab pos="10795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2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OS</a:t>
            </a:r>
            <a:r>
              <a:rPr dirty="0" sz="12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updates</a:t>
            </a:r>
            <a:r>
              <a:rPr dirty="0" sz="12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hardening</a:t>
            </a:r>
            <a:endParaRPr sz="12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spcBef>
                <a:spcPts val="40"/>
              </a:spcBef>
              <a:buChar char="-"/>
              <a:tabLst>
                <a:tab pos="10795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Installed</a:t>
            </a:r>
            <a:r>
              <a:rPr dirty="0" sz="1200" spc="114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packages</a:t>
            </a:r>
            <a:r>
              <a:rPr dirty="0" sz="1200" spc="1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99695" indent="-86995">
              <a:lnSpc>
                <a:spcPct val="100000"/>
              </a:lnSpc>
              <a:spcBef>
                <a:spcPts val="45"/>
              </a:spcBef>
              <a:buChar char="-"/>
              <a:tabLst>
                <a:tab pos="9969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Accounts,</a:t>
            </a:r>
            <a:r>
              <a:rPr dirty="0" sz="12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keys</a:t>
            </a:r>
            <a:r>
              <a:rPr dirty="0" sz="12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workload</a:t>
            </a:r>
            <a:r>
              <a:rPr dirty="0" sz="12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endParaRPr sz="1200">
              <a:latin typeface="Arial"/>
              <a:cs typeface="Arial"/>
            </a:endParaRPr>
          </a:p>
          <a:p>
            <a:pPr marL="99695" indent="-86995">
              <a:lnSpc>
                <a:spcPct val="100000"/>
              </a:lnSpc>
              <a:spcBef>
                <a:spcPts val="40"/>
              </a:spcBef>
              <a:buChar char="-"/>
              <a:tabLst>
                <a:tab pos="9969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Application</a:t>
            </a:r>
            <a:r>
              <a:rPr dirty="0" sz="1200" spc="1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configuration</a:t>
            </a:r>
            <a:r>
              <a:rPr dirty="0" sz="1200" spc="1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21700" y="1621255"/>
            <a:ext cx="3441065" cy="3414395"/>
            <a:chOff x="8021700" y="1621255"/>
            <a:chExt cx="3441065" cy="3414395"/>
          </a:xfrm>
        </p:grpSpPr>
        <p:sp>
          <p:nvSpPr>
            <p:cNvPr id="23" name="object 23"/>
            <p:cNvSpPr/>
            <p:nvPr/>
          </p:nvSpPr>
          <p:spPr>
            <a:xfrm>
              <a:off x="8028355" y="1627555"/>
              <a:ext cx="3429000" cy="3401695"/>
            </a:xfrm>
            <a:custGeom>
              <a:avLst/>
              <a:gdLst/>
              <a:ahLst/>
              <a:cxnLst/>
              <a:rect l="l" t="t" r="r" b="b"/>
              <a:pathLst>
                <a:path w="3429000" h="3401695">
                  <a:moveTo>
                    <a:pt x="335556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328568"/>
                  </a:lnTo>
                  <a:lnTo>
                    <a:pt x="15053" y="3372938"/>
                  </a:lnTo>
                  <a:lnTo>
                    <a:pt x="54048" y="3399215"/>
                  </a:lnTo>
                  <a:lnTo>
                    <a:pt x="73088" y="3401644"/>
                  </a:lnTo>
                  <a:lnTo>
                    <a:pt x="3355924" y="3401288"/>
                  </a:lnTo>
                  <a:lnTo>
                    <a:pt x="3400301" y="3386234"/>
                  </a:lnTo>
                  <a:lnTo>
                    <a:pt x="3426555" y="3347286"/>
                  </a:lnTo>
                  <a:lnTo>
                    <a:pt x="3428976" y="3328568"/>
                  </a:lnTo>
                  <a:lnTo>
                    <a:pt x="3429000" y="3328200"/>
                  </a:lnTo>
                  <a:lnTo>
                    <a:pt x="3428644" y="73088"/>
                  </a:lnTo>
                  <a:lnTo>
                    <a:pt x="3413597" y="28710"/>
                  </a:lnTo>
                  <a:lnTo>
                    <a:pt x="3374597" y="2430"/>
                  </a:lnTo>
                  <a:lnTo>
                    <a:pt x="3365200" y="607"/>
                  </a:lnTo>
                  <a:lnTo>
                    <a:pt x="3355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028355" y="1627555"/>
              <a:ext cx="3429000" cy="3401695"/>
            </a:xfrm>
            <a:custGeom>
              <a:avLst/>
              <a:gdLst/>
              <a:ahLst/>
              <a:cxnLst/>
              <a:rect l="l" t="t" r="r" b="b"/>
              <a:pathLst>
                <a:path w="3429000" h="3401695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3355568" y="0"/>
                  </a:lnTo>
                  <a:lnTo>
                    <a:pt x="3400244" y="15109"/>
                  </a:lnTo>
                  <a:lnTo>
                    <a:pt x="3426215" y="54365"/>
                  </a:lnTo>
                  <a:lnTo>
                    <a:pt x="3428644" y="73088"/>
                  </a:lnTo>
                  <a:lnTo>
                    <a:pt x="3429000" y="3328200"/>
                  </a:lnTo>
                  <a:lnTo>
                    <a:pt x="3428392" y="3337839"/>
                  </a:lnTo>
                  <a:lnTo>
                    <a:pt x="3426571" y="3347240"/>
                  </a:lnTo>
                  <a:lnTo>
                    <a:pt x="3400301" y="3386234"/>
                  </a:lnTo>
                  <a:lnTo>
                    <a:pt x="3355924" y="3401288"/>
                  </a:lnTo>
                  <a:lnTo>
                    <a:pt x="73088" y="3401644"/>
                  </a:lnTo>
                  <a:lnTo>
                    <a:pt x="28405" y="3386540"/>
                  </a:lnTo>
                  <a:lnTo>
                    <a:pt x="2430" y="3347286"/>
                  </a:lnTo>
                  <a:lnTo>
                    <a:pt x="0" y="33285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02800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4" h="3401695">
                  <a:moveTo>
                    <a:pt x="63715" y="0"/>
                  </a:moveTo>
                  <a:lnTo>
                    <a:pt x="0" y="0"/>
                  </a:lnTo>
                  <a:lnTo>
                    <a:pt x="0" y="3401288"/>
                  </a:lnTo>
                  <a:lnTo>
                    <a:pt x="32042" y="3401288"/>
                  </a:lnTo>
                  <a:lnTo>
                    <a:pt x="63715" y="340128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2800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4" h="3401695">
                  <a:moveTo>
                    <a:pt x="32042" y="3401288"/>
                  </a:moveTo>
                  <a:lnTo>
                    <a:pt x="0" y="340128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401288"/>
                  </a:lnTo>
                  <a:lnTo>
                    <a:pt x="32042" y="3401288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216544" y="1790179"/>
            <a:ext cx="1657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Why</a:t>
            </a:r>
            <a:r>
              <a:rPr dirty="0" sz="16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this</a:t>
            </a:r>
            <a:r>
              <a:rPr dirty="0" sz="16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matters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16900" y="211129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69186" y="2135771"/>
            <a:ext cx="28117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When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reachable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but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SSH,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unhealthy,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OS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workload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are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part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of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your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troubleshooting</a:t>
            </a:r>
            <a:r>
              <a:rPr dirty="0" sz="1200" spc="-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scope.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1" name="object 31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72300" y="6000381"/>
            <a:ext cx="723392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Compare:</a:t>
            </a:r>
            <a:r>
              <a:rPr dirty="0" sz="10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SQL</a:t>
            </a:r>
            <a:r>
              <a:rPr dirty="0" sz="10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Database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PaaS;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provider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manages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more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of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operating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system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database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platform.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6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Virtual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machines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in</a:t>
            </a:r>
            <a:r>
              <a:rPr dirty="0" sz="700" spc="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Azure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•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Shared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responsibility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depends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on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service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type.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21983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“Stopped”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“Stopped</a:t>
            </a:r>
            <a:r>
              <a:rPr dirty="0" spc="-50"/>
              <a:t> </a:t>
            </a:r>
            <a:r>
              <a:rPr dirty="0"/>
              <a:t>(deallocated)”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55"/>
              <a:t> </a:t>
            </a:r>
            <a:r>
              <a:rPr dirty="0"/>
              <a:t>different</a:t>
            </a:r>
            <a:r>
              <a:rPr dirty="0" spc="-50"/>
              <a:t> </a:t>
            </a:r>
            <a:r>
              <a:rPr dirty="0" spc="-10"/>
              <a:t>states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2887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Billing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follows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allocation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state,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just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what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guest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screen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says.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06135" y="1776060"/>
            <a:ext cx="3507740" cy="3169285"/>
            <a:chOff x="706135" y="1776060"/>
            <a:chExt cx="3507740" cy="3169285"/>
          </a:xfrm>
        </p:grpSpPr>
        <p:sp>
          <p:nvSpPr>
            <p:cNvPr id="7" name="object 7"/>
            <p:cNvSpPr/>
            <p:nvPr/>
          </p:nvSpPr>
          <p:spPr>
            <a:xfrm>
              <a:off x="713155" y="1783080"/>
              <a:ext cx="3493135" cy="3154680"/>
            </a:xfrm>
            <a:custGeom>
              <a:avLst/>
              <a:gdLst/>
              <a:ahLst/>
              <a:cxnLst/>
              <a:rect l="l" t="t" r="r" b="b"/>
              <a:pathLst>
                <a:path w="3493135" h="315467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081604"/>
                  </a:lnTo>
                  <a:lnTo>
                    <a:pt x="594" y="3090875"/>
                  </a:lnTo>
                  <a:lnTo>
                    <a:pt x="607" y="3091080"/>
                  </a:lnTo>
                  <a:lnTo>
                    <a:pt x="2395" y="3100276"/>
                  </a:lnTo>
                  <a:lnTo>
                    <a:pt x="2430" y="3100455"/>
                  </a:lnTo>
                  <a:lnTo>
                    <a:pt x="28555" y="3139575"/>
                  </a:lnTo>
                  <a:lnTo>
                    <a:pt x="73088" y="3154680"/>
                  </a:lnTo>
                  <a:lnTo>
                    <a:pt x="3420008" y="3154324"/>
                  </a:lnTo>
                  <a:lnTo>
                    <a:pt x="3464378" y="3139220"/>
                  </a:lnTo>
                  <a:lnTo>
                    <a:pt x="3487542" y="3109495"/>
                  </a:lnTo>
                  <a:lnTo>
                    <a:pt x="3487619" y="3109339"/>
                  </a:lnTo>
                  <a:lnTo>
                    <a:pt x="3490595" y="3100455"/>
                  </a:lnTo>
                  <a:lnTo>
                    <a:pt x="3490655" y="3100276"/>
                  </a:lnTo>
                  <a:lnTo>
                    <a:pt x="3492437" y="3091080"/>
                  </a:lnTo>
                  <a:lnTo>
                    <a:pt x="3492476" y="3090875"/>
                  </a:lnTo>
                  <a:lnTo>
                    <a:pt x="3493060" y="3081604"/>
                  </a:lnTo>
                  <a:lnTo>
                    <a:pt x="3493084" y="3081235"/>
                  </a:lnTo>
                  <a:lnTo>
                    <a:pt x="3492728" y="73075"/>
                  </a:lnTo>
                  <a:lnTo>
                    <a:pt x="3477624" y="28705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E7F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3155" y="1783080"/>
              <a:ext cx="3493135" cy="3154680"/>
            </a:xfrm>
            <a:custGeom>
              <a:avLst/>
              <a:gdLst/>
              <a:ahLst/>
              <a:cxnLst/>
              <a:rect l="l" t="t" r="r" b="b"/>
              <a:pathLst>
                <a:path w="3493135" h="31546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104"/>
                  </a:lnTo>
                  <a:lnTo>
                    <a:pt x="3490298" y="54224"/>
                  </a:lnTo>
                  <a:lnTo>
                    <a:pt x="3492728" y="73075"/>
                  </a:lnTo>
                  <a:lnTo>
                    <a:pt x="3493084" y="3081235"/>
                  </a:lnTo>
                  <a:lnTo>
                    <a:pt x="3492476" y="3090875"/>
                  </a:lnTo>
                  <a:lnTo>
                    <a:pt x="3490655" y="3100276"/>
                  </a:lnTo>
                  <a:lnTo>
                    <a:pt x="3464378" y="3139220"/>
                  </a:lnTo>
                  <a:lnTo>
                    <a:pt x="3420008" y="3154324"/>
                  </a:lnTo>
                  <a:lnTo>
                    <a:pt x="73088" y="3154680"/>
                  </a:lnTo>
                  <a:lnTo>
                    <a:pt x="28555" y="3139575"/>
                  </a:lnTo>
                  <a:lnTo>
                    <a:pt x="2430" y="3100455"/>
                  </a:lnTo>
                  <a:lnTo>
                    <a:pt x="0" y="3081604"/>
                  </a:lnTo>
                  <a:lnTo>
                    <a:pt x="0" y="73075"/>
                  </a:lnTo>
                  <a:close/>
                </a:path>
              </a:pathLst>
            </a:custGeom>
            <a:ln w="1403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50760" y="2011680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60" h="384175">
                  <a:moveTo>
                    <a:pt x="255996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92684"/>
                  </a:lnTo>
                  <a:lnTo>
                    <a:pt x="774" y="304322"/>
                  </a:lnTo>
                  <a:lnTo>
                    <a:pt x="798" y="304683"/>
                  </a:lnTo>
                  <a:lnTo>
                    <a:pt x="3077" y="315990"/>
                  </a:lnTo>
                  <a:lnTo>
                    <a:pt x="3149" y="316349"/>
                  </a:lnTo>
                  <a:lnTo>
                    <a:pt x="6863" y="327250"/>
                  </a:lnTo>
                  <a:lnTo>
                    <a:pt x="6986" y="327611"/>
                  </a:lnTo>
                  <a:lnTo>
                    <a:pt x="12242" y="338404"/>
                  </a:lnTo>
                  <a:lnTo>
                    <a:pt x="45719" y="371881"/>
                  </a:lnTo>
                  <a:lnTo>
                    <a:pt x="91440" y="384124"/>
                  </a:lnTo>
                  <a:lnTo>
                    <a:pt x="2560320" y="383755"/>
                  </a:lnTo>
                  <a:lnTo>
                    <a:pt x="2606040" y="371525"/>
                  </a:lnTo>
                  <a:lnTo>
                    <a:pt x="2639517" y="338035"/>
                  </a:lnTo>
                  <a:lnTo>
                    <a:pt x="2648488" y="316349"/>
                  </a:lnTo>
                  <a:lnTo>
                    <a:pt x="2648610" y="315990"/>
                  </a:lnTo>
                  <a:lnTo>
                    <a:pt x="2650888" y="304683"/>
                  </a:lnTo>
                  <a:lnTo>
                    <a:pt x="2650961" y="304322"/>
                  </a:lnTo>
                  <a:lnTo>
                    <a:pt x="2651735" y="292684"/>
                  </a:lnTo>
                  <a:lnTo>
                    <a:pt x="2651760" y="292315"/>
                  </a:lnTo>
                  <a:lnTo>
                    <a:pt x="2651404" y="91440"/>
                  </a:lnTo>
                  <a:lnTo>
                    <a:pt x="2639161" y="45720"/>
                  </a:lnTo>
                  <a:lnTo>
                    <a:pt x="2605684" y="12242"/>
                  </a:lnTo>
                  <a:lnTo>
                    <a:pt x="2571964" y="798"/>
                  </a:lnTo>
                  <a:lnTo>
                    <a:pt x="2559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50760" y="2011680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60" h="384175">
                  <a:moveTo>
                    <a:pt x="0" y="91440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559964" y="0"/>
                  </a:lnTo>
                  <a:lnTo>
                    <a:pt x="2605684" y="12242"/>
                  </a:lnTo>
                  <a:lnTo>
                    <a:pt x="2639161" y="45720"/>
                  </a:lnTo>
                  <a:lnTo>
                    <a:pt x="2651404" y="91440"/>
                  </a:lnTo>
                  <a:lnTo>
                    <a:pt x="2651760" y="292315"/>
                  </a:lnTo>
                  <a:lnTo>
                    <a:pt x="2650961" y="304322"/>
                  </a:lnTo>
                  <a:lnTo>
                    <a:pt x="2648610" y="315990"/>
                  </a:lnTo>
                  <a:lnTo>
                    <a:pt x="2625078" y="357076"/>
                  </a:lnTo>
                  <a:lnTo>
                    <a:pt x="2583989" y="380607"/>
                  </a:lnTo>
                  <a:lnTo>
                    <a:pt x="91440" y="384124"/>
                  </a:lnTo>
                  <a:lnTo>
                    <a:pt x="45719" y="371881"/>
                  </a:lnTo>
                  <a:lnTo>
                    <a:pt x="12242" y="338404"/>
                  </a:lnTo>
                  <a:lnTo>
                    <a:pt x="0" y="292684"/>
                  </a:lnTo>
                  <a:lnTo>
                    <a:pt x="0" y="91440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68385" y="2114181"/>
            <a:ext cx="6165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F7B0F"/>
                </a:solidFill>
                <a:latin typeface="Arial"/>
                <a:cs typeface="Arial"/>
              </a:rPr>
              <a:t>RUNNING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424" y="2639783"/>
            <a:ext cx="2072005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200" spc="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200" spc="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executing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workloads.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6424" y="3480015"/>
            <a:ext cx="17672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961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Compute: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Disk: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Networking: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46615" y="1776060"/>
            <a:ext cx="3507740" cy="3169285"/>
            <a:chOff x="4546615" y="1776060"/>
            <a:chExt cx="3507740" cy="3169285"/>
          </a:xfrm>
        </p:grpSpPr>
        <p:sp>
          <p:nvSpPr>
            <p:cNvPr id="15" name="object 15"/>
            <p:cNvSpPr/>
            <p:nvPr/>
          </p:nvSpPr>
          <p:spPr>
            <a:xfrm>
              <a:off x="4553635" y="1783080"/>
              <a:ext cx="3493135" cy="3154680"/>
            </a:xfrm>
            <a:custGeom>
              <a:avLst/>
              <a:gdLst/>
              <a:ahLst/>
              <a:cxnLst/>
              <a:rect l="l" t="t" r="r" b="b"/>
              <a:pathLst>
                <a:path w="3493134" h="315467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081604"/>
                  </a:lnTo>
                  <a:lnTo>
                    <a:pt x="594" y="3090875"/>
                  </a:lnTo>
                  <a:lnTo>
                    <a:pt x="607" y="3091080"/>
                  </a:lnTo>
                  <a:lnTo>
                    <a:pt x="2395" y="3100276"/>
                  </a:lnTo>
                  <a:lnTo>
                    <a:pt x="2430" y="3100455"/>
                  </a:lnTo>
                  <a:lnTo>
                    <a:pt x="5417" y="3109339"/>
                  </a:lnTo>
                  <a:lnTo>
                    <a:pt x="5470" y="3109495"/>
                  </a:lnTo>
                  <a:lnTo>
                    <a:pt x="9728" y="3117964"/>
                  </a:lnTo>
                  <a:lnTo>
                    <a:pt x="44984" y="3149215"/>
                  </a:lnTo>
                  <a:lnTo>
                    <a:pt x="73088" y="3154680"/>
                  </a:lnTo>
                  <a:lnTo>
                    <a:pt x="3420008" y="3154324"/>
                  </a:lnTo>
                  <a:lnTo>
                    <a:pt x="3464378" y="3139220"/>
                  </a:lnTo>
                  <a:lnTo>
                    <a:pt x="3490595" y="3100455"/>
                  </a:lnTo>
                  <a:lnTo>
                    <a:pt x="3490655" y="3100276"/>
                  </a:lnTo>
                  <a:lnTo>
                    <a:pt x="3492437" y="3091080"/>
                  </a:lnTo>
                  <a:lnTo>
                    <a:pt x="3492476" y="3090875"/>
                  </a:lnTo>
                  <a:lnTo>
                    <a:pt x="3493060" y="3081604"/>
                  </a:lnTo>
                  <a:lnTo>
                    <a:pt x="3493084" y="3081235"/>
                  </a:lnTo>
                  <a:lnTo>
                    <a:pt x="3492728" y="73075"/>
                  </a:lnTo>
                  <a:lnTo>
                    <a:pt x="3477624" y="28705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53635" y="1783080"/>
              <a:ext cx="3493135" cy="3154680"/>
            </a:xfrm>
            <a:custGeom>
              <a:avLst/>
              <a:gdLst/>
              <a:ahLst/>
              <a:cxnLst/>
              <a:rect l="l" t="t" r="r" b="b"/>
              <a:pathLst>
                <a:path w="3493134" h="31546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104"/>
                  </a:lnTo>
                  <a:lnTo>
                    <a:pt x="3490298" y="54224"/>
                  </a:lnTo>
                  <a:lnTo>
                    <a:pt x="3492728" y="73075"/>
                  </a:lnTo>
                  <a:lnTo>
                    <a:pt x="3493084" y="3081235"/>
                  </a:lnTo>
                  <a:lnTo>
                    <a:pt x="3492476" y="3090875"/>
                  </a:lnTo>
                  <a:lnTo>
                    <a:pt x="3490655" y="3100276"/>
                  </a:lnTo>
                  <a:lnTo>
                    <a:pt x="3464378" y="3139220"/>
                  </a:lnTo>
                  <a:lnTo>
                    <a:pt x="3420008" y="3154324"/>
                  </a:lnTo>
                  <a:lnTo>
                    <a:pt x="73088" y="3154680"/>
                  </a:lnTo>
                  <a:lnTo>
                    <a:pt x="28555" y="3139575"/>
                  </a:lnTo>
                  <a:lnTo>
                    <a:pt x="2430" y="3100455"/>
                  </a:lnTo>
                  <a:lnTo>
                    <a:pt x="0" y="3081604"/>
                  </a:lnTo>
                  <a:lnTo>
                    <a:pt x="0" y="73075"/>
                  </a:lnTo>
                  <a:close/>
                </a:path>
              </a:pathLst>
            </a:custGeom>
            <a:ln w="1403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91240" y="2011680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255996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92684"/>
                  </a:lnTo>
                  <a:lnTo>
                    <a:pt x="774" y="304322"/>
                  </a:lnTo>
                  <a:lnTo>
                    <a:pt x="798" y="304683"/>
                  </a:lnTo>
                  <a:lnTo>
                    <a:pt x="18836" y="348440"/>
                  </a:lnTo>
                  <a:lnTo>
                    <a:pt x="56510" y="377137"/>
                  </a:lnTo>
                  <a:lnTo>
                    <a:pt x="91440" y="384124"/>
                  </a:lnTo>
                  <a:lnTo>
                    <a:pt x="2560320" y="383755"/>
                  </a:lnTo>
                  <a:lnTo>
                    <a:pt x="2606040" y="371525"/>
                  </a:lnTo>
                  <a:lnTo>
                    <a:pt x="2639517" y="338035"/>
                  </a:lnTo>
                  <a:lnTo>
                    <a:pt x="2651735" y="292684"/>
                  </a:lnTo>
                  <a:lnTo>
                    <a:pt x="2651760" y="292315"/>
                  </a:lnTo>
                  <a:lnTo>
                    <a:pt x="2651404" y="91440"/>
                  </a:lnTo>
                  <a:lnTo>
                    <a:pt x="2639161" y="45720"/>
                  </a:lnTo>
                  <a:lnTo>
                    <a:pt x="2605684" y="12242"/>
                  </a:lnTo>
                  <a:lnTo>
                    <a:pt x="2571964" y="798"/>
                  </a:lnTo>
                  <a:lnTo>
                    <a:pt x="2559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91240" y="2011680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0" y="91440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559964" y="0"/>
                  </a:lnTo>
                  <a:lnTo>
                    <a:pt x="2605684" y="12242"/>
                  </a:lnTo>
                  <a:lnTo>
                    <a:pt x="2639161" y="45720"/>
                  </a:lnTo>
                  <a:lnTo>
                    <a:pt x="2651404" y="91440"/>
                  </a:lnTo>
                  <a:lnTo>
                    <a:pt x="2651760" y="292315"/>
                  </a:lnTo>
                  <a:lnTo>
                    <a:pt x="2650961" y="304322"/>
                  </a:lnTo>
                  <a:lnTo>
                    <a:pt x="2648610" y="315990"/>
                  </a:lnTo>
                  <a:lnTo>
                    <a:pt x="2625078" y="357076"/>
                  </a:lnTo>
                  <a:lnTo>
                    <a:pt x="2583989" y="380607"/>
                  </a:lnTo>
                  <a:lnTo>
                    <a:pt x="91440" y="384124"/>
                  </a:lnTo>
                  <a:lnTo>
                    <a:pt x="45720" y="371881"/>
                  </a:lnTo>
                  <a:lnTo>
                    <a:pt x="12242" y="338404"/>
                  </a:lnTo>
                  <a:lnTo>
                    <a:pt x="0" y="292684"/>
                  </a:lnTo>
                  <a:lnTo>
                    <a:pt x="0" y="91440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358142" y="2114181"/>
            <a:ext cx="15189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STOPPED</a:t>
            </a:r>
            <a:r>
              <a:rPr dirty="0" sz="1000" spc="-7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C46900"/>
                </a:solidFill>
                <a:latin typeface="Arial"/>
                <a:cs typeface="Arial"/>
              </a:rPr>
              <a:t>(ALLOCATED)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96904" y="2639783"/>
            <a:ext cx="2941955" cy="4013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85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Powered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off,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but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host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capacity</a:t>
            </a:r>
            <a:r>
              <a:rPr dirty="0" sz="1200" spc="7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remains allocated.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96904" y="3480015"/>
            <a:ext cx="17672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961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Compute: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Disk: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Networking: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87095" y="1776060"/>
            <a:ext cx="3507740" cy="3169285"/>
            <a:chOff x="8387095" y="1776060"/>
            <a:chExt cx="3507740" cy="3169285"/>
          </a:xfrm>
        </p:grpSpPr>
        <p:sp>
          <p:nvSpPr>
            <p:cNvPr id="23" name="object 23"/>
            <p:cNvSpPr/>
            <p:nvPr/>
          </p:nvSpPr>
          <p:spPr>
            <a:xfrm>
              <a:off x="8394115" y="1783080"/>
              <a:ext cx="3493135" cy="3154680"/>
            </a:xfrm>
            <a:custGeom>
              <a:avLst/>
              <a:gdLst/>
              <a:ahLst/>
              <a:cxnLst/>
              <a:rect l="l" t="t" r="r" b="b"/>
              <a:pathLst>
                <a:path w="3493134" h="315467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081604"/>
                  </a:lnTo>
                  <a:lnTo>
                    <a:pt x="594" y="3090875"/>
                  </a:lnTo>
                  <a:lnTo>
                    <a:pt x="607" y="3091080"/>
                  </a:lnTo>
                  <a:lnTo>
                    <a:pt x="2395" y="3100276"/>
                  </a:lnTo>
                  <a:lnTo>
                    <a:pt x="2430" y="3100455"/>
                  </a:lnTo>
                  <a:lnTo>
                    <a:pt x="5417" y="3109339"/>
                  </a:lnTo>
                  <a:lnTo>
                    <a:pt x="5470" y="3109495"/>
                  </a:lnTo>
                  <a:lnTo>
                    <a:pt x="9728" y="3117964"/>
                  </a:lnTo>
                  <a:lnTo>
                    <a:pt x="44984" y="3149215"/>
                  </a:lnTo>
                  <a:lnTo>
                    <a:pt x="73088" y="3154680"/>
                  </a:lnTo>
                  <a:lnTo>
                    <a:pt x="3420008" y="3154324"/>
                  </a:lnTo>
                  <a:lnTo>
                    <a:pt x="3464378" y="3139220"/>
                  </a:lnTo>
                  <a:lnTo>
                    <a:pt x="3490595" y="3100455"/>
                  </a:lnTo>
                  <a:lnTo>
                    <a:pt x="3490655" y="3100276"/>
                  </a:lnTo>
                  <a:lnTo>
                    <a:pt x="3492437" y="3091080"/>
                  </a:lnTo>
                  <a:lnTo>
                    <a:pt x="3492476" y="3090875"/>
                  </a:lnTo>
                  <a:lnTo>
                    <a:pt x="3493060" y="3081604"/>
                  </a:lnTo>
                  <a:lnTo>
                    <a:pt x="3493084" y="3081235"/>
                  </a:lnTo>
                  <a:lnTo>
                    <a:pt x="3492728" y="73075"/>
                  </a:lnTo>
                  <a:lnTo>
                    <a:pt x="3477624" y="28705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94115" y="1783080"/>
              <a:ext cx="3493135" cy="3154680"/>
            </a:xfrm>
            <a:custGeom>
              <a:avLst/>
              <a:gdLst/>
              <a:ahLst/>
              <a:cxnLst/>
              <a:rect l="l" t="t" r="r" b="b"/>
              <a:pathLst>
                <a:path w="3493134" h="31546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104"/>
                  </a:lnTo>
                  <a:lnTo>
                    <a:pt x="3490298" y="54224"/>
                  </a:lnTo>
                  <a:lnTo>
                    <a:pt x="3492728" y="73075"/>
                  </a:lnTo>
                  <a:lnTo>
                    <a:pt x="3493084" y="3081235"/>
                  </a:lnTo>
                  <a:lnTo>
                    <a:pt x="3492476" y="3090875"/>
                  </a:lnTo>
                  <a:lnTo>
                    <a:pt x="3490655" y="3100276"/>
                  </a:lnTo>
                  <a:lnTo>
                    <a:pt x="3464378" y="3139220"/>
                  </a:lnTo>
                  <a:lnTo>
                    <a:pt x="3420008" y="3154324"/>
                  </a:lnTo>
                  <a:lnTo>
                    <a:pt x="73088" y="3154680"/>
                  </a:lnTo>
                  <a:lnTo>
                    <a:pt x="28555" y="3139575"/>
                  </a:lnTo>
                  <a:lnTo>
                    <a:pt x="2430" y="3100455"/>
                  </a:lnTo>
                  <a:lnTo>
                    <a:pt x="0" y="3081604"/>
                  </a:lnTo>
                  <a:lnTo>
                    <a:pt x="0" y="73075"/>
                  </a:lnTo>
                  <a:close/>
                </a:path>
              </a:pathLst>
            </a:custGeom>
            <a:ln w="140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31719" y="2011680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255996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292684"/>
                  </a:lnTo>
                  <a:lnTo>
                    <a:pt x="12242" y="338404"/>
                  </a:lnTo>
                  <a:lnTo>
                    <a:pt x="45720" y="371881"/>
                  </a:lnTo>
                  <a:lnTo>
                    <a:pt x="91440" y="384124"/>
                  </a:lnTo>
                  <a:lnTo>
                    <a:pt x="2560320" y="383755"/>
                  </a:lnTo>
                  <a:lnTo>
                    <a:pt x="2606040" y="371525"/>
                  </a:lnTo>
                  <a:lnTo>
                    <a:pt x="2639517" y="338035"/>
                  </a:lnTo>
                  <a:lnTo>
                    <a:pt x="2651735" y="292684"/>
                  </a:lnTo>
                  <a:lnTo>
                    <a:pt x="2651759" y="292315"/>
                  </a:lnTo>
                  <a:lnTo>
                    <a:pt x="2651404" y="91440"/>
                  </a:lnTo>
                  <a:lnTo>
                    <a:pt x="2639161" y="45720"/>
                  </a:lnTo>
                  <a:lnTo>
                    <a:pt x="2605684" y="12242"/>
                  </a:lnTo>
                  <a:lnTo>
                    <a:pt x="2571964" y="798"/>
                  </a:lnTo>
                  <a:lnTo>
                    <a:pt x="2559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631719" y="2011680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0" y="91440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559964" y="0"/>
                  </a:lnTo>
                  <a:lnTo>
                    <a:pt x="2605684" y="12242"/>
                  </a:lnTo>
                  <a:lnTo>
                    <a:pt x="2639161" y="45720"/>
                  </a:lnTo>
                  <a:lnTo>
                    <a:pt x="2651404" y="91440"/>
                  </a:lnTo>
                  <a:lnTo>
                    <a:pt x="2651759" y="292315"/>
                  </a:lnTo>
                  <a:lnTo>
                    <a:pt x="2650961" y="304322"/>
                  </a:lnTo>
                  <a:lnTo>
                    <a:pt x="2648610" y="315990"/>
                  </a:lnTo>
                  <a:lnTo>
                    <a:pt x="2625078" y="357076"/>
                  </a:lnTo>
                  <a:lnTo>
                    <a:pt x="2583989" y="380607"/>
                  </a:lnTo>
                  <a:lnTo>
                    <a:pt x="91440" y="384124"/>
                  </a:lnTo>
                  <a:lnTo>
                    <a:pt x="45720" y="371881"/>
                  </a:lnTo>
                  <a:lnTo>
                    <a:pt x="12242" y="338404"/>
                  </a:lnTo>
                  <a:lnTo>
                    <a:pt x="0" y="292684"/>
                  </a:lnTo>
                  <a:lnTo>
                    <a:pt x="0" y="91440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110776" y="2114181"/>
            <a:ext cx="16941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77D3"/>
                </a:solidFill>
                <a:latin typeface="Arial"/>
                <a:cs typeface="Arial"/>
              </a:rPr>
              <a:t>STOPPED</a:t>
            </a:r>
            <a:r>
              <a:rPr dirty="0" sz="1000" spc="-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77D3"/>
                </a:solidFill>
                <a:latin typeface="Arial"/>
                <a:cs typeface="Arial"/>
              </a:rPr>
              <a:t>(DEALLOCATED)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37384" y="2639783"/>
            <a:ext cx="2924810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200" spc="7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has</a:t>
            </a:r>
            <a:r>
              <a:rPr dirty="0" sz="1200" spc="7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released</a:t>
            </a:r>
            <a:r>
              <a:rPr dirty="0" sz="1200" spc="7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200" spc="7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host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allocation.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37384" y="3480015"/>
            <a:ext cx="21812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5026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Compute: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Disk: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still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Some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networking: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billed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1" name="object 31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09904" y="6000381"/>
            <a:ext cx="51803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lab: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run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az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deallocate,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verify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portal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reports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Stopped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(deallocated).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2300" y="6318644"/>
            <a:ext cx="3020060" cy="1276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States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billing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status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for</a:t>
            </a:r>
            <a:r>
              <a:rPr dirty="0" sz="700" spc="-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Azure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Virtual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Machines.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21983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dirty="0" spc="-45"/>
              <a:t> </a:t>
            </a:r>
            <a:r>
              <a:rPr dirty="0"/>
              <a:t>optimization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more</a:t>
            </a:r>
            <a:r>
              <a:rPr dirty="0" spc="-40"/>
              <a:t> </a:t>
            </a:r>
            <a:r>
              <a:rPr dirty="0"/>
              <a:t>than</a:t>
            </a:r>
            <a:r>
              <a:rPr dirty="0" spc="-45"/>
              <a:t> </a:t>
            </a:r>
            <a:r>
              <a:rPr dirty="0"/>
              <a:t>stopping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-25"/>
              <a:t>VM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8774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right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action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depends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on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whether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capacity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needed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now,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later,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or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never.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06500" y="1621255"/>
            <a:ext cx="3505200" cy="1640205"/>
            <a:chOff x="706500" y="1621255"/>
            <a:chExt cx="3505200" cy="1640205"/>
          </a:xfrm>
        </p:grpSpPr>
        <p:sp>
          <p:nvSpPr>
            <p:cNvPr id="7" name="object 7"/>
            <p:cNvSpPr/>
            <p:nvPr/>
          </p:nvSpPr>
          <p:spPr>
            <a:xfrm>
              <a:off x="713155" y="1627555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5" h="162813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554479"/>
                  </a:lnTo>
                  <a:lnTo>
                    <a:pt x="5418" y="1582220"/>
                  </a:lnTo>
                  <a:lnTo>
                    <a:pt x="5470" y="1582376"/>
                  </a:lnTo>
                  <a:lnTo>
                    <a:pt x="36360" y="1617840"/>
                  </a:lnTo>
                  <a:lnTo>
                    <a:pt x="73088" y="1627568"/>
                  </a:lnTo>
                  <a:lnTo>
                    <a:pt x="3420008" y="1627200"/>
                  </a:lnTo>
                  <a:lnTo>
                    <a:pt x="3464378" y="1612108"/>
                  </a:lnTo>
                  <a:lnTo>
                    <a:pt x="3487542" y="1582376"/>
                  </a:lnTo>
                  <a:lnTo>
                    <a:pt x="3487619" y="1582220"/>
                  </a:lnTo>
                  <a:lnTo>
                    <a:pt x="3490595" y="1573336"/>
                  </a:lnTo>
                  <a:lnTo>
                    <a:pt x="3490655" y="1573158"/>
                  </a:lnTo>
                  <a:lnTo>
                    <a:pt x="3492438" y="1563958"/>
                  </a:lnTo>
                  <a:lnTo>
                    <a:pt x="3492476" y="1563758"/>
                  </a:lnTo>
                  <a:lnTo>
                    <a:pt x="3493061" y="1554479"/>
                  </a:lnTo>
                  <a:lnTo>
                    <a:pt x="3493084" y="1554124"/>
                  </a:lnTo>
                  <a:lnTo>
                    <a:pt x="3492728" y="73088"/>
                  </a:lnTo>
                  <a:lnTo>
                    <a:pt x="3477624" y="28710"/>
                  </a:lnTo>
                  <a:lnTo>
                    <a:pt x="3438680" y="2430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3155" y="1627555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5" h="1628139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109"/>
                  </a:lnTo>
                  <a:lnTo>
                    <a:pt x="3490298" y="54232"/>
                  </a:lnTo>
                  <a:lnTo>
                    <a:pt x="3492728" y="73088"/>
                  </a:lnTo>
                  <a:lnTo>
                    <a:pt x="3493084" y="1554124"/>
                  </a:lnTo>
                  <a:lnTo>
                    <a:pt x="3492476" y="1563758"/>
                  </a:lnTo>
                  <a:lnTo>
                    <a:pt x="3490655" y="1573158"/>
                  </a:lnTo>
                  <a:lnTo>
                    <a:pt x="3464378" y="1612108"/>
                  </a:lnTo>
                  <a:lnTo>
                    <a:pt x="3420008" y="1627200"/>
                  </a:lnTo>
                  <a:lnTo>
                    <a:pt x="73088" y="1627568"/>
                  </a:lnTo>
                  <a:lnTo>
                    <a:pt x="28555" y="1612458"/>
                  </a:lnTo>
                  <a:lnTo>
                    <a:pt x="2430" y="1573336"/>
                  </a:lnTo>
                  <a:lnTo>
                    <a:pt x="0" y="1554479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2800" y="1627555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63715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32042" y="1627200"/>
                  </a:lnTo>
                  <a:lnTo>
                    <a:pt x="63715" y="162720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2800" y="1627555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3204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627200"/>
                  </a:lnTo>
                  <a:lnTo>
                    <a:pt x="32042" y="162720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01344" y="1803857"/>
            <a:ext cx="925194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Deallocate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211416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985" y="2136139"/>
            <a:ext cx="2622550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idle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compute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that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needed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during the lab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window.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19624" y="1621255"/>
            <a:ext cx="3505200" cy="1640205"/>
            <a:chOff x="4519624" y="1621255"/>
            <a:chExt cx="3505200" cy="1640205"/>
          </a:xfrm>
        </p:grpSpPr>
        <p:sp>
          <p:nvSpPr>
            <p:cNvPr id="15" name="object 15"/>
            <p:cNvSpPr/>
            <p:nvPr/>
          </p:nvSpPr>
          <p:spPr>
            <a:xfrm>
              <a:off x="4526280" y="1627555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341964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554479"/>
                  </a:lnTo>
                  <a:lnTo>
                    <a:pt x="15098" y="1598857"/>
                  </a:lnTo>
                  <a:lnTo>
                    <a:pt x="54046" y="1625138"/>
                  </a:lnTo>
                  <a:lnTo>
                    <a:pt x="73075" y="1627568"/>
                  </a:lnTo>
                  <a:lnTo>
                    <a:pt x="3419995" y="1627200"/>
                  </a:lnTo>
                  <a:lnTo>
                    <a:pt x="3464373" y="1612108"/>
                  </a:lnTo>
                  <a:lnTo>
                    <a:pt x="3490594" y="1573336"/>
                  </a:lnTo>
                  <a:lnTo>
                    <a:pt x="3492437" y="1563958"/>
                  </a:lnTo>
                  <a:lnTo>
                    <a:pt x="3492476" y="1563758"/>
                  </a:lnTo>
                  <a:lnTo>
                    <a:pt x="3493061" y="1554479"/>
                  </a:lnTo>
                  <a:lnTo>
                    <a:pt x="3493084" y="1554124"/>
                  </a:lnTo>
                  <a:lnTo>
                    <a:pt x="3492715" y="73088"/>
                  </a:lnTo>
                  <a:lnTo>
                    <a:pt x="3477624" y="28710"/>
                  </a:lnTo>
                  <a:lnTo>
                    <a:pt x="3438674" y="2430"/>
                  </a:lnTo>
                  <a:lnTo>
                    <a:pt x="3429273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26280" y="1627555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7" y="15109"/>
                  </a:lnTo>
                  <a:lnTo>
                    <a:pt x="3490287" y="54232"/>
                  </a:lnTo>
                  <a:lnTo>
                    <a:pt x="3492715" y="73088"/>
                  </a:lnTo>
                  <a:lnTo>
                    <a:pt x="3493084" y="1554124"/>
                  </a:lnTo>
                  <a:lnTo>
                    <a:pt x="3492476" y="1563758"/>
                  </a:lnTo>
                  <a:lnTo>
                    <a:pt x="3490653" y="1573158"/>
                  </a:lnTo>
                  <a:lnTo>
                    <a:pt x="3464373" y="1612108"/>
                  </a:lnTo>
                  <a:lnTo>
                    <a:pt x="3419995" y="1627200"/>
                  </a:lnTo>
                  <a:lnTo>
                    <a:pt x="73075" y="1627568"/>
                  </a:lnTo>
                  <a:lnTo>
                    <a:pt x="28555" y="1612458"/>
                  </a:lnTo>
                  <a:lnTo>
                    <a:pt x="2428" y="1573336"/>
                  </a:lnTo>
                  <a:lnTo>
                    <a:pt x="0" y="1554479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25924" y="1627555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5" h="1627504">
                  <a:moveTo>
                    <a:pt x="63715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32029" y="1627200"/>
                  </a:lnTo>
                  <a:lnTo>
                    <a:pt x="63715" y="162720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25924" y="1627555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5" h="1627504">
                  <a:moveTo>
                    <a:pt x="3202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627200"/>
                  </a:lnTo>
                  <a:lnTo>
                    <a:pt x="32029" y="162720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14456" y="1803857"/>
            <a:ext cx="88519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Right-</a:t>
            </a:r>
            <a:r>
              <a:rPr dirty="0" sz="1400" spc="-20" b="1">
                <a:solidFill>
                  <a:srgbClr val="10243F"/>
                </a:solidFill>
                <a:latin typeface="Arial"/>
                <a:cs typeface="Arial"/>
              </a:rPr>
              <a:t>size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14824" y="211416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67097" y="2136139"/>
            <a:ext cx="2893060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Select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CPU,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memory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performance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that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match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workload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demand.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32736" y="1621255"/>
            <a:ext cx="3505200" cy="1640205"/>
            <a:chOff x="8332736" y="1621255"/>
            <a:chExt cx="3505200" cy="1640205"/>
          </a:xfrm>
        </p:grpSpPr>
        <p:sp>
          <p:nvSpPr>
            <p:cNvPr id="23" name="object 23"/>
            <p:cNvSpPr/>
            <p:nvPr/>
          </p:nvSpPr>
          <p:spPr>
            <a:xfrm>
              <a:off x="8339404" y="1627555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34196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554479"/>
                  </a:lnTo>
                  <a:lnTo>
                    <a:pt x="594" y="1563758"/>
                  </a:lnTo>
                  <a:lnTo>
                    <a:pt x="607" y="1563958"/>
                  </a:lnTo>
                  <a:lnTo>
                    <a:pt x="2394" y="1573158"/>
                  </a:lnTo>
                  <a:lnTo>
                    <a:pt x="2428" y="1573336"/>
                  </a:lnTo>
                  <a:lnTo>
                    <a:pt x="5412" y="1582220"/>
                  </a:lnTo>
                  <a:lnTo>
                    <a:pt x="5464" y="1582376"/>
                  </a:lnTo>
                  <a:lnTo>
                    <a:pt x="36360" y="1617840"/>
                  </a:lnTo>
                  <a:lnTo>
                    <a:pt x="73075" y="1627568"/>
                  </a:lnTo>
                  <a:lnTo>
                    <a:pt x="3419995" y="1627200"/>
                  </a:lnTo>
                  <a:lnTo>
                    <a:pt x="3464373" y="1612108"/>
                  </a:lnTo>
                  <a:lnTo>
                    <a:pt x="3490583" y="1573336"/>
                  </a:lnTo>
                  <a:lnTo>
                    <a:pt x="3492425" y="1563958"/>
                  </a:lnTo>
                  <a:lnTo>
                    <a:pt x="3492464" y="1563758"/>
                  </a:lnTo>
                  <a:lnTo>
                    <a:pt x="3493049" y="1554479"/>
                  </a:lnTo>
                  <a:lnTo>
                    <a:pt x="3493071" y="1554124"/>
                  </a:lnTo>
                  <a:lnTo>
                    <a:pt x="3492715" y="73088"/>
                  </a:lnTo>
                  <a:lnTo>
                    <a:pt x="3477617" y="28710"/>
                  </a:lnTo>
                  <a:lnTo>
                    <a:pt x="3438669" y="2430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39404" y="1627555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0" y="15109"/>
                  </a:lnTo>
                  <a:lnTo>
                    <a:pt x="3490287" y="54232"/>
                  </a:lnTo>
                  <a:lnTo>
                    <a:pt x="3492715" y="73088"/>
                  </a:lnTo>
                  <a:lnTo>
                    <a:pt x="3493071" y="1554124"/>
                  </a:lnTo>
                  <a:lnTo>
                    <a:pt x="3492464" y="1563758"/>
                  </a:lnTo>
                  <a:lnTo>
                    <a:pt x="3490642" y="1573158"/>
                  </a:lnTo>
                  <a:lnTo>
                    <a:pt x="3464373" y="1612108"/>
                  </a:lnTo>
                  <a:lnTo>
                    <a:pt x="3419995" y="1627200"/>
                  </a:lnTo>
                  <a:lnTo>
                    <a:pt x="73075" y="1627568"/>
                  </a:lnTo>
                  <a:lnTo>
                    <a:pt x="28548" y="1612458"/>
                  </a:lnTo>
                  <a:lnTo>
                    <a:pt x="2428" y="1573336"/>
                  </a:lnTo>
                  <a:lnTo>
                    <a:pt x="0" y="1554479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39036" y="1627555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63728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32042" y="1627200"/>
                  </a:lnTo>
                  <a:lnTo>
                    <a:pt x="63728" y="162720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339036" y="1627555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3204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627200"/>
                  </a:lnTo>
                  <a:lnTo>
                    <a:pt x="32042" y="1627200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527580" y="1803857"/>
            <a:ext cx="495934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27936" y="211416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80221" y="2136139"/>
            <a:ext cx="2991485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Add/remove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instances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based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real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demand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 scheduled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patterns.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06500" y="3559860"/>
            <a:ext cx="3505200" cy="1640205"/>
            <a:chOff x="706500" y="3559860"/>
            <a:chExt cx="3505200" cy="1640205"/>
          </a:xfrm>
        </p:grpSpPr>
        <p:sp>
          <p:nvSpPr>
            <p:cNvPr id="31" name="object 31"/>
            <p:cNvSpPr/>
            <p:nvPr/>
          </p:nvSpPr>
          <p:spPr>
            <a:xfrm>
              <a:off x="713155" y="3566160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5" h="162813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54479"/>
                  </a:lnTo>
                  <a:lnTo>
                    <a:pt x="594" y="1563756"/>
                  </a:lnTo>
                  <a:lnTo>
                    <a:pt x="607" y="1563958"/>
                  </a:lnTo>
                  <a:lnTo>
                    <a:pt x="2394" y="1573153"/>
                  </a:lnTo>
                  <a:lnTo>
                    <a:pt x="2430" y="1573336"/>
                  </a:lnTo>
                  <a:lnTo>
                    <a:pt x="5416" y="1582215"/>
                  </a:lnTo>
                  <a:lnTo>
                    <a:pt x="36360" y="1617840"/>
                  </a:lnTo>
                  <a:lnTo>
                    <a:pt x="73088" y="1627555"/>
                  </a:lnTo>
                  <a:lnTo>
                    <a:pt x="3420008" y="1627200"/>
                  </a:lnTo>
                  <a:lnTo>
                    <a:pt x="3464378" y="1612101"/>
                  </a:lnTo>
                  <a:lnTo>
                    <a:pt x="3490594" y="1573336"/>
                  </a:lnTo>
                  <a:lnTo>
                    <a:pt x="3490655" y="1573153"/>
                  </a:lnTo>
                  <a:lnTo>
                    <a:pt x="3492437" y="1563958"/>
                  </a:lnTo>
                  <a:lnTo>
                    <a:pt x="3492476" y="1563756"/>
                  </a:lnTo>
                  <a:lnTo>
                    <a:pt x="3493061" y="1554479"/>
                  </a:lnTo>
                  <a:lnTo>
                    <a:pt x="3493084" y="1554124"/>
                  </a:lnTo>
                  <a:lnTo>
                    <a:pt x="3492728" y="73075"/>
                  </a:lnTo>
                  <a:lnTo>
                    <a:pt x="3477624" y="28705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3155" y="3566160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5" h="16281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104"/>
                  </a:lnTo>
                  <a:lnTo>
                    <a:pt x="3490298" y="54224"/>
                  </a:lnTo>
                  <a:lnTo>
                    <a:pt x="3492728" y="73075"/>
                  </a:lnTo>
                  <a:lnTo>
                    <a:pt x="3493084" y="1554124"/>
                  </a:lnTo>
                  <a:lnTo>
                    <a:pt x="3492476" y="1563756"/>
                  </a:lnTo>
                  <a:lnTo>
                    <a:pt x="3490655" y="1573153"/>
                  </a:lnTo>
                  <a:lnTo>
                    <a:pt x="3464378" y="1612101"/>
                  </a:lnTo>
                  <a:lnTo>
                    <a:pt x="3420008" y="1627200"/>
                  </a:lnTo>
                  <a:lnTo>
                    <a:pt x="73088" y="1627555"/>
                  </a:lnTo>
                  <a:lnTo>
                    <a:pt x="28555" y="1612458"/>
                  </a:lnTo>
                  <a:lnTo>
                    <a:pt x="2430" y="1573336"/>
                  </a:lnTo>
                  <a:lnTo>
                    <a:pt x="0" y="1554479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12800" y="3566160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63715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32042" y="1627200"/>
                  </a:lnTo>
                  <a:lnTo>
                    <a:pt x="63715" y="162720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2800" y="3566160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3204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627200"/>
                  </a:lnTo>
                  <a:lnTo>
                    <a:pt x="32042" y="162720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901344" y="3742448"/>
            <a:ext cx="78549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Clean</a:t>
            </a:r>
            <a:r>
              <a:rPr dirty="0" sz="1400" spc="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10243F"/>
                </a:solidFill>
                <a:latin typeface="Arial"/>
                <a:cs typeface="Arial"/>
              </a:rPr>
              <a:t>up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1700" y="4052773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53985" y="4074731"/>
            <a:ext cx="2863215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Delete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unused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IPs,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disks,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snapshots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temporary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resources.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19624" y="3559860"/>
            <a:ext cx="3505200" cy="1640205"/>
            <a:chOff x="4519624" y="3559860"/>
            <a:chExt cx="3505200" cy="1640205"/>
          </a:xfrm>
        </p:grpSpPr>
        <p:sp>
          <p:nvSpPr>
            <p:cNvPr id="39" name="object 39"/>
            <p:cNvSpPr/>
            <p:nvPr/>
          </p:nvSpPr>
          <p:spPr>
            <a:xfrm>
              <a:off x="4526280" y="3566160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341964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54479"/>
                  </a:lnTo>
                  <a:lnTo>
                    <a:pt x="594" y="1563756"/>
                  </a:lnTo>
                  <a:lnTo>
                    <a:pt x="607" y="1563958"/>
                  </a:lnTo>
                  <a:lnTo>
                    <a:pt x="2393" y="1573153"/>
                  </a:lnTo>
                  <a:lnTo>
                    <a:pt x="2428" y="1573336"/>
                  </a:lnTo>
                  <a:lnTo>
                    <a:pt x="5410" y="1582215"/>
                  </a:lnTo>
                  <a:lnTo>
                    <a:pt x="36360" y="1617840"/>
                  </a:lnTo>
                  <a:lnTo>
                    <a:pt x="73075" y="1627555"/>
                  </a:lnTo>
                  <a:lnTo>
                    <a:pt x="3419995" y="1627200"/>
                  </a:lnTo>
                  <a:lnTo>
                    <a:pt x="3464373" y="1612101"/>
                  </a:lnTo>
                  <a:lnTo>
                    <a:pt x="3487534" y="1582376"/>
                  </a:lnTo>
                  <a:lnTo>
                    <a:pt x="3487613" y="1582215"/>
                  </a:lnTo>
                  <a:lnTo>
                    <a:pt x="3490592" y="1573336"/>
                  </a:lnTo>
                  <a:lnTo>
                    <a:pt x="3490653" y="1573153"/>
                  </a:lnTo>
                  <a:lnTo>
                    <a:pt x="3492437" y="1563958"/>
                  </a:lnTo>
                  <a:lnTo>
                    <a:pt x="3492476" y="1563756"/>
                  </a:lnTo>
                  <a:lnTo>
                    <a:pt x="3493061" y="1554479"/>
                  </a:lnTo>
                  <a:lnTo>
                    <a:pt x="3493084" y="1554124"/>
                  </a:lnTo>
                  <a:lnTo>
                    <a:pt x="3492715" y="73075"/>
                  </a:lnTo>
                  <a:lnTo>
                    <a:pt x="3477624" y="28705"/>
                  </a:lnTo>
                  <a:lnTo>
                    <a:pt x="3438674" y="2428"/>
                  </a:lnTo>
                  <a:lnTo>
                    <a:pt x="3429273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26280" y="3566160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7" y="15104"/>
                  </a:lnTo>
                  <a:lnTo>
                    <a:pt x="3490287" y="54224"/>
                  </a:lnTo>
                  <a:lnTo>
                    <a:pt x="3492715" y="73075"/>
                  </a:lnTo>
                  <a:lnTo>
                    <a:pt x="3493084" y="1554124"/>
                  </a:lnTo>
                  <a:lnTo>
                    <a:pt x="3492476" y="1563756"/>
                  </a:lnTo>
                  <a:lnTo>
                    <a:pt x="3490653" y="1573153"/>
                  </a:lnTo>
                  <a:lnTo>
                    <a:pt x="3464373" y="1612101"/>
                  </a:lnTo>
                  <a:lnTo>
                    <a:pt x="3419995" y="1627200"/>
                  </a:lnTo>
                  <a:lnTo>
                    <a:pt x="73075" y="1627555"/>
                  </a:lnTo>
                  <a:lnTo>
                    <a:pt x="28555" y="1612458"/>
                  </a:lnTo>
                  <a:lnTo>
                    <a:pt x="2428" y="1573336"/>
                  </a:lnTo>
                  <a:lnTo>
                    <a:pt x="0" y="1554479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25924" y="3566160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5" h="1627504">
                  <a:moveTo>
                    <a:pt x="63715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32029" y="1627200"/>
                  </a:lnTo>
                  <a:lnTo>
                    <a:pt x="63715" y="162720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25924" y="3566160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5" h="1627504">
                  <a:moveTo>
                    <a:pt x="3202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627200"/>
                  </a:lnTo>
                  <a:lnTo>
                    <a:pt x="32029" y="1627200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714456" y="3742448"/>
            <a:ext cx="77470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Attribute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14824" y="4052773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67097" y="4074731"/>
            <a:ext cx="2592070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Tag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 resources and review spend by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scope,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service,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resource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tag.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332736" y="3559860"/>
            <a:ext cx="3505200" cy="1640205"/>
            <a:chOff x="8332736" y="3559860"/>
            <a:chExt cx="3505200" cy="1640205"/>
          </a:xfrm>
        </p:grpSpPr>
        <p:sp>
          <p:nvSpPr>
            <p:cNvPr id="47" name="object 47"/>
            <p:cNvSpPr/>
            <p:nvPr/>
          </p:nvSpPr>
          <p:spPr>
            <a:xfrm>
              <a:off x="8339404" y="3566160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34196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54479"/>
                  </a:lnTo>
                  <a:lnTo>
                    <a:pt x="594" y="1563756"/>
                  </a:lnTo>
                  <a:lnTo>
                    <a:pt x="607" y="1563958"/>
                  </a:lnTo>
                  <a:lnTo>
                    <a:pt x="2393" y="1573153"/>
                  </a:lnTo>
                  <a:lnTo>
                    <a:pt x="2428" y="1573336"/>
                  </a:lnTo>
                  <a:lnTo>
                    <a:pt x="5410" y="1582215"/>
                  </a:lnTo>
                  <a:lnTo>
                    <a:pt x="36360" y="1617840"/>
                  </a:lnTo>
                  <a:lnTo>
                    <a:pt x="73075" y="1627555"/>
                  </a:lnTo>
                  <a:lnTo>
                    <a:pt x="3419995" y="1627200"/>
                  </a:lnTo>
                  <a:lnTo>
                    <a:pt x="3464373" y="1612101"/>
                  </a:lnTo>
                  <a:lnTo>
                    <a:pt x="3490581" y="1573336"/>
                  </a:lnTo>
                  <a:lnTo>
                    <a:pt x="3490642" y="1573153"/>
                  </a:lnTo>
                  <a:lnTo>
                    <a:pt x="3492425" y="1563958"/>
                  </a:lnTo>
                  <a:lnTo>
                    <a:pt x="3492464" y="1563756"/>
                  </a:lnTo>
                  <a:lnTo>
                    <a:pt x="3493049" y="1554479"/>
                  </a:lnTo>
                  <a:lnTo>
                    <a:pt x="3492715" y="73075"/>
                  </a:lnTo>
                  <a:lnTo>
                    <a:pt x="3477617" y="28705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39404" y="3566160"/>
              <a:ext cx="3493135" cy="1628139"/>
            </a:xfrm>
            <a:custGeom>
              <a:avLst/>
              <a:gdLst/>
              <a:ahLst/>
              <a:cxnLst/>
              <a:rect l="l" t="t" r="r" b="b"/>
              <a:pathLst>
                <a:path w="3493134" h="16281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0" y="15104"/>
                  </a:lnTo>
                  <a:lnTo>
                    <a:pt x="3490287" y="54224"/>
                  </a:lnTo>
                  <a:lnTo>
                    <a:pt x="3492715" y="73075"/>
                  </a:lnTo>
                  <a:lnTo>
                    <a:pt x="3493071" y="1554124"/>
                  </a:lnTo>
                  <a:lnTo>
                    <a:pt x="3492464" y="1563756"/>
                  </a:lnTo>
                  <a:lnTo>
                    <a:pt x="3490642" y="1573153"/>
                  </a:lnTo>
                  <a:lnTo>
                    <a:pt x="3464373" y="1612101"/>
                  </a:lnTo>
                  <a:lnTo>
                    <a:pt x="3419995" y="1627200"/>
                  </a:lnTo>
                  <a:lnTo>
                    <a:pt x="73075" y="1627555"/>
                  </a:lnTo>
                  <a:lnTo>
                    <a:pt x="28548" y="1612458"/>
                  </a:lnTo>
                  <a:lnTo>
                    <a:pt x="2428" y="1573336"/>
                  </a:lnTo>
                  <a:lnTo>
                    <a:pt x="0" y="1554479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39036" y="3566160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63728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32042" y="1627200"/>
                  </a:lnTo>
                  <a:lnTo>
                    <a:pt x="63728" y="162720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39036" y="3566160"/>
              <a:ext cx="64135" cy="1627505"/>
            </a:xfrm>
            <a:custGeom>
              <a:avLst/>
              <a:gdLst/>
              <a:ahLst/>
              <a:cxnLst/>
              <a:rect l="l" t="t" r="r" b="b"/>
              <a:pathLst>
                <a:path w="64134" h="1627504">
                  <a:moveTo>
                    <a:pt x="3204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627200"/>
                  </a:lnTo>
                  <a:lnTo>
                    <a:pt x="32042" y="1627200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8527580" y="3742448"/>
            <a:ext cx="70548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Validate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527936" y="4052773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80221" y="4074731"/>
            <a:ext cx="2950845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Check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effect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avoid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assuming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view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updates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instantly.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55" name="object 5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FF2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572300" y="6000381"/>
            <a:ext cx="676084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C46900"/>
                </a:solidFill>
                <a:latin typeface="Arial"/>
                <a:cs typeface="Arial"/>
              </a:rPr>
              <a:t>Important: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deallocation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stops</a:t>
            </a:r>
            <a:r>
              <a:rPr dirty="0" sz="100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VM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compute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charges;</a:t>
            </a:r>
            <a:r>
              <a:rPr dirty="0" sz="100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attached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managed</a:t>
            </a:r>
            <a:r>
              <a:rPr dirty="0" sz="100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disks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can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continue</a:t>
            </a:r>
            <a:r>
              <a:rPr dirty="0" sz="100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to</a:t>
            </a:r>
            <a:r>
              <a:rPr dirty="0" sz="10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C46900"/>
                </a:solidFill>
                <a:latin typeface="Arial"/>
                <a:cs typeface="Arial"/>
              </a:rPr>
              <a:t>incur</a:t>
            </a:r>
            <a:r>
              <a:rPr dirty="0" sz="100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C46900"/>
                </a:solidFill>
                <a:latin typeface="Arial"/>
                <a:cs typeface="Arial"/>
              </a:rPr>
              <a:t>charges.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VM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state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billing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•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Cost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Management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overview.</a:t>
            </a:r>
            <a:endParaRPr sz="70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1690896" y="6579872"/>
            <a:ext cx="81915" cy="139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800" spc="-50">
                <a:solidFill>
                  <a:srgbClr val="728199"/>
                </a:solidFill>
                <a:latin typeface="Arial"/>
                <a:cs typeface="Arial"/>
              </a:rPr>
              <a:t>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0238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Scale</a:t>
            </a:r>
            <a:r>
              <a:rPr dirty="0" spc="-20"/>
              <a:t> </a:t>
            </a:r>
            <a:r>
              <a:rPr dirty="0"/>
              <a:t>up</a:t>
            </a:r>
            <a:r>
              <a:rPr dirty="0" spc="-15"/>
              <a:t> </a:t>
            </a:r>
            <a:r>
              <a:rPr dirty="0"/>
              <a:t>vs.</a:t>
            </a:r>
            <a:r>
              <a:rPr dirty="0" spc="-20"/>
              <a:t> </a:t>
            </a:r>
            <a:r>
              <a:rPr dirty="0"/>
              <a:t>scale</a:t>
            </a:r>
            <a:r>
              <a:rPr dirty="0" spc="-15"/>
              <a:t> </a:t>
            </a:r>
            <a:r>
              <a:rPr dirty="0" spc="-25"/>
              <a:t>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1937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lab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demonstrates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horizontal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scaling: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increasing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VM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Scale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capacity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from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two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instances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four.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0584" y="1639620"/>
            <a:ext cx="3258185" cy="3441700"/>
            <a:chOff x="770584" y="1639620"/>
            <a:chExt cx="3258185" cy="3441700"/>
          </a:xfrm>
        </p:grpSpPr>
        <p:sp>
          <p:nvSpPr>
            <p:cNvPr id="7" name="object 7"/>
            <p:cNvSpPr/>
            <p:nvPr/>
          </p:nvSpPr>
          <p:spPr>
            <a:xfrm>
              <a:off x="777240" y="1645919"/>
              <a:ext cx="3246120" cy="3429000"/>
            </a:xfrm>
            <a:custGeom>
              <a:avLst/>
              <a:gdLst/>
              <a:ahLst/>
              <a:cxnLst/>
              <a:rect l="l" t="t" r="r" b="b"/>
              <a:pathLst>
                <a:path w="3246120" h="3429000">
                  <a:moveTo>
                    <a:pt x="3172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355924"/>
                  </a:lnTo>
                  <a:lnTo>
                    <a:pt x="15046" y="3400294"/>
                  </a:lnTo>
                  <a:lnTo>
                    <a:pt x="54046" y="3426571"/>
                  </a:lnTo>
                  <a:lnTo>
                    <a:pt x="73075" y="3429000"/>
                  </a:lnTo>
                  <a:lnTo>
                    <a:pt x="3173044" y="3428644"/>
                  </a:lnTo>
                  <a:lnTo>
                    <a:pt x="3217414" y="3413590"/>
                  </a:lnTo>
                  <a:lnTo>
                    <a:pt x="3243675" y="3374642"/>
                  </a:lnTo>
                  <a:lnTo>
                    <a:pt x="3246096" y="3355924"/>
                  </a:lnTo>
                  <a:lnTo>
                    <a:pt x="3246120" y="3355555"/>
                  </a:lnTo>
                  <a:lnTo>
                    <a:pt x="3245764" y="73075"/>
                  </a:lnTo>
                  <a:lnTo>
                    <a:pt x="3230710" y="28705"/>
                  </a:lnTo>
                  <a:lnTo>
                    <a:pt x="3191716" y="2428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40" y="1645919"/>
              <a:ext cx="3246120" cy="3429000"/>
            </a:xfrm>
            <a:custGeom>
              <a:avLst/>
              <a:gdLst/>
              <a:ahLst/>
              <a:cxnLst/>
              <a:rect l="l" t="t" r="r" b="b"/>
              <a:pathLst>
                <a:path w="3246120" h="34290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358" y="15104"/>
                  </a:lnTo>
                  <a:lnTo>
                    <a:pt x="3243333" y="54357"/>
                  </a:lnTo>
                  <a:lnTo>
                    <a:pt x="3245764" y="73075"/>
                  </a:lnTo>
                  <a:lnTo>
                    <a:pt x="3246120" y="3355555"/>
                  </a:lnTo>
                  <a:lnTo>
                    <a:pt x="3245512" y="3365195"/>
                  </a:lnTo>
                  <a:lnTo>
                    <a:pt x="3243691" y="3374596"/>
                  </a:lnTo>
                  <a:lnTo>
                    <a:pt x="3217414" y="3413590"/>
                  </a:lnTo>
                  <a:lnTo>
                    <a:pt x="3173044" y="3428644"/>
                  </a:lnTo>
                  <a:lnTo>
                    <a:pt x="73075" y="3429000"/>
                  </a:lnTo>
                  <a:lnTo>
                    <a:pt x="28399" y="3413895"/>
                  </a:lnTo>
                  <a:lnTo>
                    <a:pt x="2428" y="3374642"/>
                  </a:lnTo>
                  <a:lnTo>
                    <a:pt x="0" y="335592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1645919"/>
              <a:ext cx="64135" cy="3429000"/>
            </a:xfrm>
            <a:custGeom>
              <a:avLst/>
              <a:gdLst/>
              <a:ahLst/>
              <a:cxnLst/>
              <a:rect l="l" t="t" r="r" b="b"/>
              <a:pathLst>
                <a:path w="64134" h="3429000">
                  <a:moveTo>
                    <a:pt x="63715" y="0"/>
                  </a:moveTo>
                  <a:lnTo>
                    <a:pt x="0" y="0"/>
                  </a:lnTo>
                  <a:lnTo>
                    <a:pt x="0" y="3428644"/>
                  </a:lnTo>
                  <a:lnTo>
                    <a:pt x="32029" y="3428644"/>
                  </a:lnTo>
                  <a:lnTo>
                    <a:pt x="63715" y="342864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1645919"/>
              <a:ext cx="64135" cy="3429000"/>
            </a:xfrm>
            <a:custGeom>
              <a:avLst/>
              <a:gdLst/>
              <a:ahLst/>
              <a:cxnLst/>
              <a:rect l="l" t="t" r="r" b="b"/>
              <a:pathLst>
                <a:path w="64134" h="3429000">
                  <a:moveTo>
                    <a:pt x="32029" y="3428644"/>
                  </a:moveTo>
                  <a:lnTo>
                    <a:pt x="0" y="342864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428644"/>
                  </a:lnTo>
                  <a:lnTo>
                    <a:pt x="32029" y="342864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415" y="1808543"/>
            <a:ext cx="15557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6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up</a:t>
            </a:r>
            <a:r>
              <a:rPr dirty="0" sz="16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6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10243F"/>
                </a:solidFill>
                <a:latin typeface="Arial"/>
                <a:cs typeface="Arial"/>
              </a:rPr>
              <a:t>down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784" y="2129663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057" y="2154504"/>
            <a:ext cx="19227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size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of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one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VM.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784" y="2499740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057" y="2524582"/>
            <a:ext cx="2632075" cy="394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Example: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move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smaller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SKU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to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one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more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CPU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memory.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5784" y="3054858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8057" y="3079699"/>
            <a:ext cx="2559685" cy="394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Trade-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off: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require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restart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or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downtime;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limited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by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SKU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availability.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9325" y="1639570"/>
            <a:ext cx="3258185" cy="3441700"/>
            <a:chOff x="4309325" y="1639570"/>
            <a:chExt cx="3258185" cy="3441700"/>
          </a:xfrm>
        </p:grpSpPr>
        <p:sp>
          <p:nvSpPr>
            <p:cNvPr id="19" name="object 19"/>
            <p:cNvSpPr/>
            <p:nvPr/>
          </p:nvSpPr>
          <p:spPr>
            <a:xfrm>
              <a:off x="4316044" y="1645920"/>
              <a:ext cx="3246120" cy="3429000"/>
            </a:xfrm>
            <a:custGeom>
              <a:avLst/>
              <a:gdLst/>
              <a:ahLst/>
              <a:cxnLst/>
              <a:rect l="l" t="t" r="r" b="b"/>
              <a:pathLst>
                <a:path w="3246120" h="3429000">
                  <a:moveTo>
                    <a:pt x="3172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355924"/>
                  </a:lnTo>
                  <a:lnTo>
                    <a:pt x="597" y="3365195"/>
                  </a:lnTo>
                  <a:lnTo>
                    <a:pt x="607" y="3365350"/>
                  </a:lnTo>
                  <a:lnTo>
                    <a:pt x="21280" y="3407532"/>
                  </a:lnTo>
                  <a:lnTo>
                    <a:pt x="63442" y="3428392"/>
                  </a:lnTo>
                  <a:lnTo>
                    <a:pt x="73075" y="3429000"/>
                  </a:lnTo>
                  <a:lnTo>
                    <a:pt x="3173031" y="3428644"/>
                  </a:lnTo>
                  <a:lnTo>
                    <a:pt x="3217409" y="3413590"/>
                  </a:lnTo>
                  <a:lnTo>
                    <a:pt x="3243674" y="3374642"/>
                  </a:lnTo>
                  <a:lnTo>
                    <a:pt x="3246096" y="3355924"/>
                  </a:lnTo>
                  <a:lnTo>
                    <a:pt x="3246120" y="3355555"/>
                  </a:lnTo>
                  <a:lnTo>
                    <a:pt x="3245751" y="73075"/>
                  </a:lnTo>
                  <a:lnTo>
                    <a:pt x="3230710" y="28705"/>
                  </a:lnTo>
                  <a:lnTo>
                    <a:pt x="3191710" y="2428"/>
                  </a:lnTo>
                  <a:lnTo>
                    <a:pt x="3182309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16044" y="1645920"/>
              <a:ext cx="3246120" cy="3429000"/>
            </a:xfrm>
            <a:custGeom>
              <a:avLst/>
              <a:gdLst/>
              <a:ahLst/>
              <a:cxnLst/>
              <a:rect l="l" t="t" r="r" b="b"/>
              <a:pathLst>
                <a:path w="3246120" h="34290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353" y="15104"/>
                  </a:lnTo>
                  <a:lnTo>
                    <a:pt x="3243322" y="54357"/>
                  </a:lnTo>
                  <a:lnTo>
                    <a:pt x="3245751" y="73075"/>
                  </a:lnTo>
                  <a:lnTo>
                    <a:pt x="3246120" y="3355555"/>
                  </a:lnTo>
                  <a:lnTo>
                    <a:pt x="3245512" y="3365195"/>
                  </a:lnTo>
                  <a:lnTo>
                    <a:pt x="3243689" y="3374596"/>
                  </a:lnTo>
                  <a:lnTo>
                    <a:pt x="3217409" y="3413590"/>
                  </a:lnTo>
                  <a:lnTo>
                    <a:pt x="3173031" y="3428644"/>
                  </a:lnTo>
                  <a:lnTo>
                    <a:pt x="73075" y="3429000"/>
                  </a:lnTo>
                  <a:lnTo>
                    <a:pt x="28398" y="3413895"/>
                  </a:lnTo>
                  <a:lnTo>
                    <a:pt x="2428" y="3374642"/>
                  </a:lnTo>
                  <a:lnTo>
                    <a:pt x="0" y="335592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15675" y="1645920"/>
              <a:ext cx="64135" cy="3429000"/>
            </a:xfrm>
            <a:custGeom>
              <a:avLst/>
              <a:gdLst/>
              <a:ahLst/>
              <a:cxnLst/>
              <a:rect l="l" t="t" r="r" b="b"/>
              <a:pathLst>
                <a:path w="64135" h="3429000">
                  <a:moveTo>
                    <a:pt x="63728" y="0"/>
                  </a:moveTo>
                  <a:lnTo>
                    <a:pt x="0" y="0"/>
                  </a:lnTo>
                  <a:lnTo>
                    <a:pt x="0" y="3428644"/>
                  </a:lnTo>
                  <a:lnTo>
                    <a:pt x="32042" y="3428644"/>
                  </a:lnTo>
                  <a:lnTo>
                    <a:pt x="63728" y="342864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15675" y="1645920"/>
              <a:ext cx="64135" cy="3429000"/>
            </a:xfrm>
            <a:custGeom>
              <a:avLst/>
              <a:gdLst/>
              <a:ahLst/>
              <a:cxnLst/>
              <a:rect l="l" t="t" r="r" b="b"/>
              <a:pathLst>
                <a:path w="64135" h="3429000">
                  <a:moveTo>
                    <a:pt x="32042" y="3428644"/>
                  </a:moveTo>
                  <a:lnTo>
                    <a:pt x="0" y="342864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3428644"/>
                  </a:lnTo>
                  <a:lnTo>
                    <a:pt x="32042" y="342864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504220" y="1808543"/>
            <a:ext cx="12744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6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out</a:t>
            </a:r>
            <a:r>
              <a:rPr dirty="0" sz="16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600" spc="-25" b="1">
                <a:solidFill>
                  <a:srgbClr val="10243F"/>
                </a:solidFill>
                <a:latin typeface="Arial"/>
                <a:cs typeface="Arial"/>
              </a:rPr>
              <a:t> 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4575" y="2129663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6861" y="2154504"/>
            <a:ext cx="22910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number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of</a:t>
            </a:r>
            <a:r>
              <a:rPr dirty="0" sz="120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instances.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4575" y="2499740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56861" y="2524582"/>
            <a:ext cx="2136775" cy="580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Example: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2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web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instances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4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instances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spread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concurrent requests.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04575" y="3239896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56861" y="3264738"/>
            <a:ext cx="2486660" cy="580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Trade-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off: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app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must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tolerate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multiple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instances;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state/session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handling matters.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838819" y="1639620"/>
            <a:ext cx="3532504" cy="3441700"/>
            <a:chOff x="7838819" y="1639620"/>
            <a:chExt cx="3532504" cy="3441700"/>
          </a:xfrm>
        </p:grpSpPr>
        <p:sp>
          <p:nvSpPr>
            <p:cNvPr id="31" name="object 31"/>
            <p:cNvSpPr/>
            <p:nvPr/>
          </p:nvSpPr>
          <p:spPr>
            <a:xfrm>
              <a:off x="7845475" y="1645919"/>
              <a:ext cx="3520440" cy="3429000"/>
            </a:xfrm>
            <a:custGeom>
              <a:avLst/>
              <a:gdLst/>
              <a:ahLst/>
              <a:cxnLst/>
              <a:rect l="l" t="t" r="r" b="b"/>
              <a:pathLst>
                <a:path w="3520440" h="3429000">
                  <a:moveTo>
                    <a:pt x="344700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355924"/>
                  </a:lnTo>
                  <a:lnTo>
                    <a:pt x="5417" y="3383659"/>
                  </a:lnTo>
                  <a:lnTo>
                    <a:pt x="5470" y="3383815"/>
                  </a:lnTo>
                  <a:lnTo>
                    <a:pt x="36360" y="3419284"/>
                  </a:lnTo>
                  <a:lnTo>
                    <a:pt x="73088" y="3429000"/>
                  </a:lnTo>
                  <a:lnTo>
                    <a:pt x="3447364" y="3428644"/>
                  </a:lnTo>
                  <a:lnTo>
                    <a:pt x="3491741" y="3413540"/>
                  </a:lnTo>
                  <a:lnTo>
                    <a:pt x="3514898" y="3383815"/>
                  </a:lnTo>
                  <a:lnTo>
                    <a:pt x="3514975" y="3383659"/>
                  </a:lnTo>
                  <a:lnTo>
                    <a:pt x="3517951" y="3374775"/>
                  </a:lnTo>
                  <a:lnTo>
                    <a:pt x="3518011" y="3374596"/>
                  </a:lnTo>
                  <a:lnTo>
                    <a:pt x="3519792" y="3365400"/>
                  </a:lnTo>
                  <a:lnTo>
                    <a:pt x="3519832" y="3365195"/>
                  </a:lnTo>
                  <a:lnTo>
                    <a:pt x="3520416" y="3355924"/>
                  </a:lnTo>
                  <a:lnTo>
                    <a:pt x="3520439" y="3355555"/>
                  </a:lnTo>
                  <a:lnTo>
                    <a:pt x="3520084" y="73075"/>
                  </a:lnTo>
                  <a:lnTo>
                    <a:pt x="3504985" y="28705"/>
                  </a:lnTo>
                  <a:lnTo>
                    <a:pt x="3466037" y="2428"/>
                  </a:lnTo>
                  <a:lnTo>
                    <a:pt x="3456640" y="607"/>
                  </a:lnTo>
                  <a:lnTo>
                    <a:pt x="3447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45475" y="1645919"/>
              <a:ext cx="3520440" cy="3429000"/>
            </a:xfrm>
            <a:custGeom>
              <a:avLst/>
              <a:gdLst/>
              <a:ahLst/>
              <a:cxnLst/>
              <a:rect l="l" t="t" r="r" b="b"/>
              <a:pathLst>
                <a:path w="3520440" h="342900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47008" y="0"/>
                  </a:lnTo>
                  <a:lnTo>
                    <a:pt x="3491529" y="15104"/>
                  </a:lnTo>
                  <a:lnTo>
                    <a:pt x="3517655" y="54224"/>
                  </a:lnTo>
                  <a:lnTo>
                    <a:pt x="3520084" y="73075"/>
                  </a:lnTo>
                  <a:lnTo>
                    <a:pt x="3520439" y="3355555"/>
                  </a:lnTo>
                  <a:lnTo>
                    <a:pt x="3519832" y="3365195"/>
                  </a:lnTo>
                  <a:lnTo>
                    <a:pt x="3518011" y="3374596"/>
                  </a:lnTo>
                  <a:lnTo>
                    <a:pt x="3491741" y="3413540"/>
                  </a:lnTo>
                  <a:lnTo>
                    <a:pt x="3447364" y="3428644"/>
                  </a:lnTo>
                  <a:lnTo>
                    <a:pt x="73088" y="3429000"/>
                  </a:lnTo>
                  <a:lnTo>
                    <a:pt x="28555" y="3413895"/>
                  </a:lnTo>
                  <a:lnTo>
                    <a:pt x="2430" y="3374775"/>
                  </a:lnTo>
                  <a:lnTo>
                    <a:pt x="0" y="335592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45119" y="1645919"/>
              <a:ext cx="64135" cy="3429000"/>
            </a:xfrm>
            <a:custGeom>
              <a:avLst/>
              <a:gdLst/>
              <a:ahLst/>
              <a:cxnLst/>
              <a:rect l="l" t="t" r="r" b="b"/>
              <a:pathLst>
                <a:path w="64134" h="3429000">
                  <a:moveTo>
                    <a:pt x="63715" y="0"/>
                  </a:moveTo>
                  <a:lnTo>
                    <a:pt x="0" y="0"/>
                  </a:lnTo>
                  <a:lnTo>
                    <a:pt x="0" y="3428644"/>
                  </a:lnTo>
                  <a:lnTo>
                    <a:pt x="32042" y="3428644"/>
                  </a:lnTo>
                  <a:lnTo>
                    <a:pt x="63715" y="342864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845119" y="1645919"/>
              <a:ext cx="64135" cy="3429000"/>
            </a:xfrm>
            <a:custGeom>
              <a:avLst/>
              <a:gdLst/>
              <a:ahLst/>
              <a:cxnLst/>
              <a:rect l="l" t="t" r="r" b="b"/>
              <a:pathLst>
                <a:path w="64134" h="3429000">
                  <a:moveTo>
                    <a:pt x="32042" y="3428644"/>
                  </a:moveTo>
                  <a:lnTo>
                    <a:pt x="0" y="342864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428644"/>
                  </a:lnTo>
                  <a:lnTo>
                    <a:pt x="32042" y="342864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033664" y="1808543"/>
            <a:ext cx="9931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Autoscale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34019" y="2129663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86305" y="2154504"/>
            <a:ext cx="202628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Let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rules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respond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demand.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034019" y="2499740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86305" y="2524582"/>
            <a:ext cx="2993390" cy="580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Trigger with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metric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thresholds or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schedules.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Define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minimum,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default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maximum capacity.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34019" y="3239896"/>
            <a:ext cx="806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86305" y="3264738"/>
            <a:ext cx="2794635" cy="394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Must</a:t>
            </a:r>
            <a:r>
              <a:rPr dirty="0" sz="12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verify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instances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become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healthy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user</a:t>
            </a:r>
            <a:r>
              <a:rPr dirty="0" sz="12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symptom</a:t>
            </a:r>
            <a:r>
              <a:rPr dirty="0" sz="12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improves.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68151" y="4247743"/>
            <a:ext cx="574675" cy="336550"/>
            <a:chOff x="4568151" y="4247743"/>
            <a:chExt cx="574675" cy="336550"/>
          </a:xfrm>
        </p:grpSpPr>
        <p:sp>
          <p:nvSpPr>
            <p:cNvPr id="43" name="object 43"/>
            <p:cNvSpPr/>
            <p:nvPr/>
          </p:nvSpPr>
          <p:spPr>
            <a:xfrm>
              <a:off x="4571644" y="4251235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89" h="329564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37959"/>
                  </a:lnTo>
                  <a:lnTo>
                    <a:pt x="798" y="249966"/>
                  </a:lnTo>
                  <a:lnTo>
                    <a:pt x="18830" y="293724"/>
                  </a:lnTo>
                  <a:lnTo>
                    <a:pt x="56505" y="322418"/>
                  </a:lnTo>
                  <a:lnTo>
                    <a:pt x="91440" y="329399"/>
                  </a:lnTo>
                  <a:lnTo>
                    <a:pt x="475919" y="329399"/>
                  </a:lnTo>
                  <a:lnTo>
                    <a:pt x="521639" y="317169"/>
                  </a:lnTo>
                  <a:lnTo>
                    <a:pt x="555117" y="283679"/>
                  </a:lnTo>
                  <a:lnTo>
                    <a:pt x="567359" y="237959"/>
                  </a:lnTo>
                  <a:lnTo>
                    <a:pt x="567335" y="91440"/>
                  </a:lnTo>
                  <a:lnTo>
                    <a:pt x="555117" y="46088"/>
                  </a:lnTo>
                  <a:lnTo>
                    <a:pt x="521639" y="12598"/>
                  </a:lnTo>
                  <a:lnTo>
                    <a:pt x="475919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571644" y="4251235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89" h="329564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475919" y="368"/>
                  </a:lnTo>
                  <a:lnTo>
                    <a:pt x="521639" y="12598"/>
                  </a:lnTo>
                  <a:lnTo>
                    <a:pt x="555117" y="46088"/>
                  </a:lnTo>
                  <a:lnTo>
                    <a:pt x="567359" y="91808"/>
                  </a:lnTo>
                  <a:lnTo>
                    <a:pt x="567359" y="237959"/>
                  </a:lnTo>
                  <a:lnTo>
                    <a:pt x="566561" y="249966"/>
                  </a:lnTo>
                  <a:lnTo>
                    <a:pt x="564210" y="261634"/>
                  </a:lnTo>
                  <a:lnTo>
                    <a:pt x="540669" y="302720"/>
                  </a:lnTo>
                  <a:lnTo>
                    <a:pt x="499584" y="326251"/>
                  </a:lnTo>
                  <a:lnTo>
                    <a:pt x="475919" y="329399"/>
                  </a:lnTo>
                  <a:lnTo>
                    <a:pt x="91440" y="329399"/>
                  </a:lnTo>
                  <a:lnTo>
                    <a:pt x="45720" y="317169"/>
                  </a:lnTo>
                  <a:lnTo>
                    <a:pt x="12230" y="283679"/>
                  </a:lnTo>
                  <a:lnTo>
                    <a:pt x="0" y="237959"/>
                  </a:lnTo>
                  <a:lnTo>
                    <a:pt x="355" y="91440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709414" y="4334662"/>
            <a:ext cx="2927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77D3"/>
                </a:solidFill>
                <a:latin typeface="Arial"/>
                <a:cs typeface="Arial"/>
              </a:rPr>
              <a:t>VM</a:t>
            </a:r>
            <a:r>
              <a:rPr dirty="0" sz="900" spc="-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0077D3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226583" y="4247743"/>
            <a:ext cx="574675" cy="336550"/>
            <a:chOff x="5226583" y="4247743"/>
            <a:chExt cx="574675" cy="336550"/>
          </a:xfrm>
        </p:grpSpPr>
        <p:sp>
          <p:nvSpPr>
            <p:cNvPr id="47" name="object 47"/>
            <p:cNvSpPr/>
            <p:nvPr/>
          </p:nvSpPr>
          <p:spPr>
            <a:xfrm>
              <a:off x="5230075" y="4251235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89" h="329564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40"/>
                  </a:lnTo>
                  <a:lnTo>
                    <a:pt x="0" y="237959"/>
                  </a:lnTo>
                  <a:lnTo>
                    <a:pt x="798" y="249966"/>
                  </a:lnTo>
                  <a:lnTo>
                    <a:pt x="18843" y="293724"/>
                  </a:lnTo>
                  <a:lnTo>
                    <a:pt x="56512" y="322418"/>
                  </a:lnTo>
                  <a:lnTo>
                    <a:pt x="91439" y="329399"/>
                  </a:lnTo>
                  <a:lnTo>
                    <a:pt x="475919" y="329399"/>
                  </a:lnTo>
                  <a:lnTo>
                    <a:pt x="521639" y="317169"/>
                  </a:lnTo>
                  <a:lnTo>
                    <a:pt x="555129" y="283679"/>
                  </a:lnTo>
                  <a:lnTo>
                    <a:pt x="567359" y="237959"/>
                  </a:lnTo>
                  <a:lnTo>
                    <a:pt x="567335" y="91440"/>
                  </a:lnTo>
                  <a:lnTo>
                    <a:pt x="555129" y="46088"/>
                  </a:lnTo>
                  <a:lnTo>
                    <a:pt x="521639" y="12598"/>
                  </a:lnTo>
                  <a:lnTo>
                    <a:pt x="47591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30075" y="4251235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89" h="329564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75919" y="368"/>
                  </a:lnTo>
                  <a:lnTo>
                    <a:pt x="521639" y="12598"/>
                  </a:lnTo>
                  <a:lnTo>
                    <a:pt x="555129" y="46088"/>
                  </a:lnTo>
                  <a:lnTo>
                    <a:pt x="567359" y="91808"/>
                  </a:lnTo>
                  <a:lnTo>
                    <a:pt x="567359" y="237959"/>
                  </a:lnTo>
                  <a:lnTo>
                    <a:pt x="566561" y="249966"/>
                  </a:lnTo>
                  <a:lnTo>
                    <a:pt x="564211" y="261634"/>
                  </a:lnTo>
                  <a:lnTo>
                    <a:pt x="540680" y="302720"/>
                  </a:lnTo>
                  <a:lnTo>
                    <a:pt x="499594" y="326251"/>
                  </a:lnTo>
                  <a:lnTo>
                    <a:pt x="475919" y="329399"/>
                  </a:lnTo>
                  <a:lnTo>
                    <a:pt x="91439" y="329399"/>
                  </a:lnTo>
                  <a:lnTo>
                    <a:pt x="45719" y="317169"/>
                  </a:lnTo>
                  <a:lnTo>
                    <a:pt x="12242" y="283679"/>
                  </a:lnTo>
                  <a:lnTo>
                    <a:pt x="0" y="237959"/>
                  </a:lnTo>
                  <a:lnTo>
                    <a:pt x="368" y="91440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5367858" y="4334662"/>
            <a:ext cx="2927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77D3"/>
                </a:solidFill>
                <a:latin typeface="Arial"/>
                <a:cs typeface="Arial"/>
              </a:rPr>
              <a:t>VM</a:t>
            </a:r>
            <a:r>
              <a:rPr dirty="0" sz="900" spc="-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0077D3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899581" y="4247743"/>
            <a:ext cx="907415" cy="336550"/>
            <a:chOff x="5899581" y="4247743"/>
            <a:chExt cx="907415" cy="336550"/>
          </a:xfrm>
        </p:grpSpPr>
        <p:sp>
          <p:nvSpPr>
            <p:cNvPr id="51" name="object 51"/>
            <p:cNvSpPr/>
            <p:nvPr/>
          </p:nvSpPr>
          <p:spPr>
            <a:xfrm>
              <a:off x="5906884" y="4425479"/>
              <a:ext cx="194945" cy="635"/>
            </a:xfrm>
            <a:custGeom>
              <a:avLst/>
              <a:gdLst/>
              <a:ahLst/>
              <a:cxnLst/>
              <a:rect l="l" t="t" r="r" b="b"/>
              <a:pathLst>
                <a:path w="194945" h="635">
                  <a:moveTo>
                    <a:pt x="0" y="0"/>
                  </a:moveTo>
                  <a:lnTo>
                    <a:pt x="194754" y="355"/>
                  </a:lnTo>
                </a:path>
              </a:pathLst>
            </a:custGeom>
            <a:ln w="140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096596" y="43880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235915" y="4251235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90" h="329564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40"/>
                  </a:lnTo>
                  <a:lnTo>
                    <a:pt x="0" y="237959"/>
                  </a:lnTo>
                  <a:lnTo>
                    <a:pt x="798" y="249966"/>
                  </a:lnTo>
                  <a:lnTo>
                    <a:pt x="18843" y="293724"/>
                  </a:lnTo>
                  <a:lnTo>
                    <a:pt x="56512" y="322418"/>
                  </a:lnTo>
                  <a:lnTo>
                    <a:pt x="91439" y="329399"/>
                  </a:lnTo>
                  <a:lnTo>
                    <a:pt x="475919" y="329399"/>
                  </a:lnTo>
                  <a:lnTo>
                    <a:pt x="521639" y="317169"/>
                  </a:lnTo>
                  <a:lnTo>
                    <a:pt x="555129" y="283679"/>
                  </a:lnTo>
                  <a:lnTo>
                    <a:pt x="567359" y="237959"/>
                  </a:lnTo>
                  <a:lnTo>
                    <a:pt x="567335" y="91440"/>
                  </a:lnTo>
                  <a:lnTo>
                    <a:pt x="555129" y="46088"/>
                  </a:lnTo>
                  <a:lnTo>
                    <a:pt x="521639" y="12598"/>
                  </a:lnTo>
                  <a:lnTo>
                    <a:pt x="47591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7F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235915" y="4251235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90" h="329564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75919" y="368"/>
                  </a:lnTo>
                  <a:lnTo>
                    <a:pt x="521639" y="12598"/>
                  </a:lnTo>
                  <a:lnTo>
                    <a:pt x="555129" y="46088"/>
                  </a:lnTo>
                  <a:lnTo>
                    <a:pt x="567359" y="91808"/>
                  </a:lnTo>
                  <a:lnTo>
                    <a:pt x="567359" y="237959"/>
                  </a:lnTo>
                  <a:lnTo>
                    <a:pt x="566561" y="249966"/>
                  </a:lnTo>
                  <a:lnTo>
                    <a:pt x="564211" y="261634"/>
                  </a:lnTo>
                  <a:lnTo>
                    <a:pt x="540680" y="302720"/>
                  </a:lnTo>
                  <a:lnTo>
                    <a:pt x="499594" y="326251"/>
                  </a:lnTo>
                  <a:lnTo>
                    <a:pt x="475919" y="329399"/>
                  </a:lnTo>
                  <a:lnTo>
                    <a:pt x="91439" y="329399"/>
                  </a:lnTo>
                  <a:lnTo>
                    <a:pt x="45720" y="317169"/>
                  </a:lnTo>
                  <a:lnTo>
                    <a:pt x="12242" y="283679"/>
                  </a:lnTo>
                  <a:lnTo>
                    <a:pt x="0" y="237959"/>
                  </a:lnTo>
                  <a:lnTo>
                    <a:pt x="368" y="91440"/>
                  </a:lnTo>
                  <a:close/>
                </a:path>
              </a:pathLst>
            </a:custGeom>
            <a:ln w="6479">
              <a:solidFill>
                <a:srgbClr val="E7F4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373698" y="4334662"/>
            <a:ext cx="2927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F7B0F"/>
                </a:solidFill>
                <a:latin typeface="Arial"/>
                <a:cs typeface="Arial"/>
              </a:rPr>
              <a:t>VM</a:t>
            </a:r>
            <a:r>
              <a:rPr dirty="0" sz="900" spc="-5" b="1">
                <a:solidFill>
                  <a:srgbClr val="0F7B0F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0F7B0F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872755" y="4247996"/>
            <a:ext cx="574040" cy="335915"/>
            <a:chOff x="6872755" y="4247996"/>
            <a:chExt cx="574040" cy="335915"/>
          </a:xfrm>
        </p:grpSpPr>
        <p:sp>
          <p:nvSpPr>
            <p:cNvPr id="57" name="object 57"/>
            <p:cNvSpPr/>
            <p:nvPr/>
          </p:nvSpPr>
          <p:spPr>
            <a:xfrm>
              <a:off x="6875995" y="4251236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90" h="329564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40"/>
                  </a:lnTo>
                  <a:lnTo>
                    <a:pt x="0" y="237959"/>
                  </a:lnTo>
                  <a:lnTo>
                    <a:pt x="798" y="249966"/>
                  </a:lnTo>
                  <a:lnTo>
                    <a:pt x="18843" y="293724"/>
                  </a:lnTo>
                  <a:lnTo>
                    <a:pt x="56512" y="322418"/>
                  </a:lnTo>
                  <a:lnTo>
                    <a:pt x="91439" y="329399"/>
                  </a:lnTo>
                  <a:lnTo>
                    <a:pt x="475919" y="329399"/>
                  </a:lnTo>
                  <a:lnTo>
                    <a:pt x="521639" y="317169"/>
                  </a:lnTo>
                  <a:lnTo>
                    <a:pt x="555129" y="283679"/>
                  </a:lnTo>
                  <a:lnTo>
                    <a:pt x="567359" y="237959"/>
                  </a:lnTo>
                  <a:lnTo>
                    <a:pt x="567335" y="91440"/>
                  </a:lnTo>
                  <a:lnTo>
                    <a:pt x="555129" y="46088"/>
                  </a:lnTo>
                  <a:lnTo>
                    <a:pt x="521639" y="12598"/>
                  </a:lnTo>
                  <a:lnTo>
                    <a:pt x="47591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7F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875995" y="4251236"/>
              <a:ext cx="567690" cy="329565"/>
            </a:xfrm>
            <a:custGeom>
              <a:avLst/>
              <a:gdLst/>
              <a:ahLst/>
              <a:cxnLst/>
              <a:rect l="l" t="t" r="r" b="b"/>
              <a:pathLst>
                <a:path w="567690" h="329564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75919" y="368"/>
                  </a:lnTo>
                  <a:lnTo>
                    <a:pt x="521639" y="12598"/>
                  </a:lnTo>
                  <a:lnTo>
                    <a:pt x="555129" y="46088"/>
                  </a:lnTo>
                  <a:lnTo>
                    <a:pt x="567359" y="91808"/>
                  </a:lnTo>
                  <a:lnTo>
                    <a:pt x="567359" y="237959"/>
                  </a:lnTo>
                  <a:lnTo>
                    <a:pt x="566561" y="249966"/>
                  </a:lnTo>
                  <a:lnTo>
                    <a:pt x="564211" y="261634"/>
                  </a:lnTo>
                  <a:lnTo>
                    <a:pt x="540680" y="302720"/>
                  </a:lnTo>
                  <a:lnTo>
                    <a:pt x="499594" y="326251"/>
                  </a:lnTo>
                  <a:lnTo>
                    <a:pt x="475919" y="329399"/>
                  </a:lnTo>
                  <a:lnTo>
                    <a:pt x="91439" y="329399"/>
                  </a:lnTo>
                  <a:lnTo>
                    <a:pt x="45720" y="317169"/>
                  </a:lnTo>
                  <a:lnTo>
                    <a:pt x="12242" y="283679"/>
                  </a:lnTo>
                  <a:lnTo>
                    <a:pt x="0" y="237959"/>
                  </a:lnTo>
                  <a:lnTo>
                    <a:pt x="368" y="91440"/>
                  </a:lnTo>
                  <a:close/>
                </a:path>
              </a:pathLst>
            </a:custGeom>
            <a:ln w="6479">
              <a:solidFill>
                <a:srgbClr val="E7F4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7013778" y="4334662"/>
            <a:ext cx="2927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F7B0F"/>
                </a:solidFill>
                <a:latin typeface="Arial"/>
                <a:cs typeface="Arial"/>
              </a:rPr>
              <a:t>VM</a:t>
            </a:r>
            <a:r>
              <a:rPr dirty="0" sz="900" spc="-5" b="1">
                <a:solidFill>
                  <a:srgbClr val="0F7B0F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0F7B0F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61" name="object 61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572300" y="6000381"/>
            <a:ext cx="547497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Scaling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successful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only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when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capacity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healthy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application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timeout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clears.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VM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Scale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Sets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overview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autoscale.</a:t>
            </a:r>
            <a:endParaRPr sz="700">
              <a:latin typeface="Arial"/>
              <a:cs typeface="Arial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0238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VM</a:t>
            </a:r>
            <a:r>
              <a:rPr dirty="0" spc="-10"/>
              <a:t> </a:t>
            </a:r>
            <a:r>
              <a:rPr dirty="0"/>
              <a:t>Scale</a:t>
            </a:r>
            <a:r>
              <a:rPr dirty="0" spc="-15"/>
              <a:t> </a:t>
            </a:r>
            <a:r>
              <a:rPr dirty="0"/>
              <a:t>Set</a:t>
            </a:r>
            <a:r>
              <a:rPr dirty="0" spc="-15"/>
              <a:t> </a:t>
            </a:r>
            <a:r>
              <a:rPr dirty="0"/>
              <a:t>actually</a:t>
            </a:r>
            <a:r>
              <a:rPr dirty="0" spc="-15"/>
              <a:t> </a:t>
            </a:r>
            <a:r>
              <a:rPr dirty="0" spc="-10"/>
              <a:t>manages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6515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scale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keeps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group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of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instances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aligned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common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model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desired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capacity.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3600" y="1869084"/>
            <a:ext cx="1976120" cy="924560"/>
            <a:chOff x="863600" y="1869084"/>
            <a:chExt cx="1976120" cy="924560"/>
          </a:xfrm>
        </p:grpSpPr>
        <p:sp>
          <p:nvSpPr>
            <p:cNvPr id="7" name="object 7"/>
            <p:cNvSpPr/>
            <p:nvPr/>
          </p:nvSpPr>
          <p:spPr>
            <a:xfrm>
              <a:off x="868680" y="1874164"/>
              <a:ext cx="1965960" cy="914400"/>
            </a:xfrm>
            <a:custGeom>
              <a:avLst/>
              <a:gdLst/>
              <a:ahLst/>
              <a:cxnLst/>
              <a:rect l="l" t="t" r="r" b="b"/>
              <a:pathLst>
                <a:path w="1965960" h="914400">
                  <a:moveTo>
                    <a:pt x="191088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859675"/>
                  </a:lnTo>
                  <a:lnTo>
                    <a:pt x="452" y="866528"/>
                  </a:lnTo>
                  <a:lnTo>
                    <a:pt x="466" y="866734"/>
                  </a:lnTo>
                  <a:lnTo>
                    <a:pt x="1799" y="873536"/>
                  </a:lnTo>
                  <a:lnTo>
                    <a:pt x="1843" y="873758"/>
                  </a:lnTo>
                  <a:lnTo>
                    <a:pt x="3997" y="880274"/>
                  </a:lnTo>
                  <a:lnTo>
                    <a:pt x="33757" y="910295"/>
                  </a:lnTo>
                  <a:lnTo>
                    <a:pt x="48014" y="914031"/>
                  </a:lnTo>
                  <a:lnTo>
                    <a:pt x="49044" y="914031"/>
                  </a:lnTo>
                  <a:lnTo>
                    <a:pt x="54724" y="914400"/>
                  </a:lnTo>
                  <a:lnTo>
                    <a:pt x="1911235" y="914031"/>
                  </a:lnTo>
                  <a:lnTo>
                    <a:pt x="1949896" y="898105"/>
                  </a:lnTo>
                  <a:lnTo>
                    <a:pt x="1965453" y="866734"/>
                  </a:lnTo>
                  <a:lnTo>
                    <a:pt x="1965493" y="866528"/>
                  </a:lnTo>
                  <a:lnTo>
                    <a:pt x="1965937" y="859675"/>
                  </a:lnTo>
                  <a:lnTo>
                    <a:pt x="1965959" y="859320"/>
                  </a:lnTo>
                  <a:lnTo>
                    <a:pt x="1965604" y="54711"/>
                  </a:lnTo>
                  <a:lnTo>
                    <a:pt x="1949667" y="16059"/>
                  </a:lnTo>
                  <a:lnTo>
                    <a:pt x="1918088" y="466"/>
                  </a:lnTo>
                  <a:lnTo>
                    <a:pt x="191088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680" y="1874164"/>
              <a:ext cx="1965960" cy="914400"/>
            </a:xfrm>
            <a:custGeom>
              <a:avLst/>
              <a:gdLst/>
              <a:ahLst/>
              <a:cxnLst/>
              <a:rect l="l" t="t" r="r" b="b"/>
              <a:pathLst>
                <a:path w="1965960" h="91440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10880" y="0"/>
                  </a:lnTo>
                  <a:lnTo>
                    <a:pt x="1949667" y="16059"/>
                  </a:lnTo>
                  <a:lnTo>
                    <a:pt x="1965604" y="54711"/>
                  </a:lnTo>
                  <a:lnTo>
                    <a:pt x="1965959" y="859320"/>
                  </a:lnTo>
                  <a:lnTo>
                    <a:pt x="1965493" y="866528"/>
                  </a:lnTo>
                  <a:lnTo>
                    <a:pt x="1964116" y="873536"/>
                  </a:lnTo>
                  <a:lnTo>
                    <a:pt x="1938604" y="906830"/>
                  </a:lnTo>
                  <a:lnTo>
                    <a:pt x="54724" y="914400"/>
                  </a:lnTo>
                  <a:lnTo>
                    <a:pt x="15925" y="898329"/>
                  </a:lnTo>
                  <a:lnTo>
                    <a:pt x="0" y="859675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9BC8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00061" y="2135771"/>
            <a:ext cx="14998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161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Image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size</a:t>
            </a:r>
            <a:r>
              <a:rPr dirty="0" sz="12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 OS</a:t>
            </a:r>
            <a:r>
              <a:rPr dirty="0" sz="12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2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network</a:t>
            </a:r>
            <a:r>
              <a:rPr dirty="0" sz="12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config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69560" y="2294280"/>
            <a:ext cx="559435" cy="76200"/>
            <a:chOff x="2869560" y="2294280"/>
            <a:chExt cx="559435" cy="76200"/>
          </a:xfrm>
        </p:grpSpPr>
        <p:sp>
          <p:nvSpPr>
            <p:cNvPr id="11" name="object 11"/>
            <p:cNvSpPr/>
            <p:nvPr/>
          </p:nvSpPr>
          <p:spPr>
            <a:xfrm>
              <a:off x="2880359" y="2331719"/>
              <a:ext cx="478155" cy="635"/>
            </a:xfrm>
            <a:custGeom>
              <a:avLst/>
              <a:gdLst/>
              <a:ahLst/>
              <a:cxnLst/>
              <a:rect l="l" t="t" r="r" b="b"/>
              <a:pathLst>
                <a:path w="478154" h="635">
                  <a:moveTo>
                    <a:pt x="0" y="0"/>
                  </a:moveTo>
                  <a:lnTo>
                    <a:pt x="478078" y="355"/>
                  </a:lnTo>
                </a:path>
              </a:pathLst>
            </a:custGeom>
            <a:ln w="21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53396" y="2294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487635" y="1869084"/>
            <a:ext cx="1930400" cy="924560"/>
            <a:chOff x="3487635" y="1869084"/>
            <a:chExt cx="1930400" cy="924560"/>
          </a:xfrm>
        </p:grpSpPr>
        <p:sp>
          <p:nvSpPr>
            <p:cNvPr id="14" name="object 14"/>
            <p:cNvSpPr/>
            <p:nvPr/>
          </p:nvSpPr>
          <p:spPr>
            <a:xfrm>
              <a:off x="3492715" y="1874164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39" h="914400">
                  <a:moveTo>
                    <a:pt x="186516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859675"/>
                  </a:lnTo>
                  <a:lnTo>
                    <a:pt x="454" y="866528"/>
                  </a:lnTo>
                  <a:lnTo>
                    <a:pt x="467" y="866734"/>
                  </a:lnTo>
                  <a:lnTo>
                    <a:pt x="1804" y="873536"/>
                  </a:lnTo>
                  <a:lnTo>
                    <a:pt x="1847" y="873758"/>
                  </a:lnTo>
                  <a:lnTo>
                    <a:pt x="4003" y="880274"/>
                  </a:lnTo>
                  <a:lnTo>
                    <a:pt x="33769" y="910295"/>
                  </a:lnTo>
                  <a:lnTo>
                    <a:pt x="48021" y="914031"/>
                  </a:lnTo>
                  <a:lnTo>
                    <a:pt x="49050" y="914031"/>
                  </a:lnTo>
                  <a:lnTo>
                    <a:pt x="54724" y="914400"/>
                  </a:lnTo>
                  <a:lnTo>
                    <a:pt x="1865528" y="914031"/>
                  </a:lnTo>
                  <a:lnTo>
                    <a:pt x="1904180" y="898105"/>
                  </a:lnTo>
                  <a:lnTo>
                    <a:pt x="1919733" y="866734"/>
                  </a:lnTo>
                  <a:lnTo>
                    <a:pt x="1919773" y="866528"/>
                  </a:lnTo>
                  <a:lnTo>
                    <a:pt x="1920217" y="859675"/>
                  </a:lnTo>
                  <a:lnTo>
                    <a:pt x="1920239" y="859320"/>
                  </a:lnTo>
                  <a:lnTo>
                    <a:pt x="1919884" y="54711"/>
                  </a:lnTo>
                  <a:lnTo>
                    <a:pt x="1903958" y="16059"/>
                  </a:lnTo>
                  <a:lnTo>
                    <a:pt x="1872376" y="466"/>
                  </a:lnTo>
                  <a:lnTo>
                    <a:pt x="1865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92715" y="1874164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39" h="914400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865160" y="0"/>
                  </a:lnTo>
                  <a:lnTo>
                    <a:pt x="1903958" y="16059"/>
                  </a:lnTo>
                  <a:lnTo>
                    <a:pt x="1919884" y="54711"/>
                  </a:lnTo>
                  <a:lnTo>
                    <a:pt x="1920239" y="859320"/>
                  </a:lnTo>
                  <a:lnTo>
                    <a:pt x="1919773" y="866528"/>
                  </a:lnTo>
                  <a:lnTo>
                    <a:pt x="1918396" y="873536"/>
                  </a:lnTo>
                  <a:lnTo>
                    <a:pt x="1892884" y="906830"/>
                  </a:lnTo>
                  <a:lnTo>
                    <a:pt x="54724" y="914400"/>
                  </a:lnTo>
                  <a:lnTo>
                    <a:pt x="15936" y="898329"/>
                  </a:lnTo>
                  <a:lnTo>
                    <a:pt x="0" y="859675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6075324" y="1622120"/>
            <a:ext cx="1318260" cy="705485"/>
            <a:chOff x="6075324" y="1622120"/>
            <a:chExt cx="1318260" cy="705485"/>
          </a:xfrm>
        </p:grpSpPr>
        <p:sp>
          <p:nvSpPr>
            <p:cNvPr id="21" name="object 21"/>
            <p:cNvSpPr/>
            <p:nvPr/>
          </p:nvSpPr>
          <p:spPr>
            <a:xfrm>
              <a:off x="6080404" y="1627200"/>
              <a:ext cx="1308100" cy="695325"/>
            </a:xfrm>
            <a:custGeom>
              <a:avLst/>
              <a:gdLst/>
              <a:ahLst/>
              <a:cxnLst/>
              <a:rect l="l" t="t" r="r" b="b"/>
              <a:pathLst>
                <a:path w="1308100" h="695325">
                  <a:moveTo>
                    <a:pt x="125243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40080"/>
                  </a:lnTo>
                  <a:lnTo>
                    <a:pt x="452" y="646933"/>
                  </a:lnTo>
                  <a:lnTo>
                    <a:pt x="466" y="647138"/>
                  </a:lnTo>
                  <a:lnTo>
                    <a:pt x="1799" y="653940"/>
                  </a:lnTo>
                  <a:lnTo>
                    <a:pt x="1843" y="654162"/>
                  </a:lnTo>
                  <a:lnTo>
                    <a:pt x="27355" y="687603"/>
                  </a:lnTo>
                  <a:lnTo>
                    <a:pt x="48008" y="694436"/>
                  </a:lnTo>
                  <a:lnTo>
                    <a:pt x="49037" y="694436"/>
                  </a:lnTo>
                  <a:lnTo>
                    <a:pt x="54711" y="694804"/>
                  </a:lnTo>
                  <a:lnTo>
                    <a:pt x="1252791" y="694436"/>
                  </a:lnTo>
                  <a:lnTo>
                    <a:pt x="1291451" y="678510"/>
                  </a:lnTo>
                  <a:lnTo>
                    <a:pt x="1305598" y="654162"/>
                  </a:lnTo>
                  <a:lnTo>
                    <a:pt x="1305672" y="653940"/>
                  </a:lnTo>
                  <a:lnTo>
                    <a:pt x="1307009" y="647138"/>
                  </a:lnTo>
                  <a:lnTo>
                    <a:pt x="1307049" y="646933"/>
                  </a:lnTo>
                  <a:lnTo>
                    <a:pt x="1307492" y="640080"/>
                  </a:lnTo>
                  <a:lnTo>
                    <a:pt x="1307515" y="639724"/>
                  </a:lnTo>
                  <a:lnTo>
                    <a:pt x="1307160" y="54724"/>
                  </a:lnTo>
                  <a:lnTo>
                    <a:pt x="1291223" y="16063"/>
                  </a:lnTo>
                  <a:lnTo>
                    <a:pt x="1259644" y="466"/>
                  </a:lnTo>
                  <a:lnTo>
                    <a:pt x="1252435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80404" y="1627200"/>
              <a:ext cx="1308100" cy="695325"/>
            </a:xfrm>
            <a:custGeom>
              <a:avLst/>
              <a:gdLst/>
              <a:ahLst/>
              <a:cxnLst/>
              <a:rect l="l" t="t" r="r" b="b"/>
              <a:pathLst>
                <a:path w="1308100" h="69532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252435" y="0"/>
                  </a:lnTo>
                  <a:lnTo>
                    <a:pt x="1291223" y="16063"/>
                  </a:lnTo>
                  <a:lnTo>
                    <a:pt x="1307160" y="54724"/>
                  </a:lnTo>
                  <a:lnTo>
                    <a:pt x="1307515" y="639724"/>
                  </a:lnTo>
                  <a:lnTo>
                    <a:pt x="1307049" y="646933"/>
                  </a:lnTo>
                  <a:lnTo>
                    <a:pt x="1305672" y="653940"/>
                  </a:lnTo>
                  <a:lnTo>
                    <a:pt x="1280160" y="687235"/>
                  </a:lnTo>
                  <a:lnTo>
                    <a:pt x="54711" y="694804"/>
                  </a:lnTo>
                  <a:lnTo>
                    <a:pt x="15925" y="678734"/>
                  </a:lnTo>
                  <a:lnTo>
                    <a:pt x="0" y="640080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4DC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78740" y="1878380"/>
            <a:ext cx="709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Instance</a:t>
            </a:r>
            <a:r>
              <a:rPr dirty="0" sz="11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10243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5377" y="2135771"/>
            <a:ext cx="1492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035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2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Set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Desired</a:t>
            </a:r>
            <a:r>
              <a:rPr dirty="0" sz="12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capacity</a:t>
            </a:r>
            <a:r>
              <a:rPr dirty="0" sz="12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=</a:t>
            </a:r>
            <a:r>
              <a:rPr dirty="0" sz="12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10243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57235" y="2294280"/>
            <a:ext cx="559435" cy="76200"/>
            <a:chOff x="5457235" y="2294280"/>
            <a:chExt cx="559435" cy="76200"/>
          </a:xfrm>
        </p:grpSpPr>
        <p:sp>
          <p:nvSpPr>
            <p:cNvPr id="18" name="object 18"/>
            <p:cNvSpPr/>
            <p:nvPr/>
          </p:nvSpPr>
          <p:spPr>
            <a:xfrm>
              <a:off x="5468035" y="2331719"/>
              <a:ext cx="478155" cy="635"/>
            </a:xfrm>
            <a:custGeom>
              <a:avLst/>
              <a:gdLst/>
              <a:ahLst/>
              <a:cxnLst/>
              <a:rect l="l" t="t" r="r" b="b"/>
              <a:pathLst>
                <a:path w="478154" h="635">
                  <a:moveTo>
                    <a:pt x="0" y="0"/>
                  </a:moveTo>
                  <a:lnTo>
                    <a:pt x="478078" y="355"/>
                  </a:lnTo>
                </a:path>
              </a:pathLst>
            </a:custGeom>
            <a:ln w="21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41085" y="2294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7721244" y="1869084"/>
            <a:ext cx="1564640" cy="924560"/>
            <a:chOff x="7721244" y="1869084"/>
            <a:chExt cx="1564640" cy="924560"/>
          </a:xfrm>
        </p:grpSpPr>
        <p:sp>
          <p:nvSpPr>
            <p:cNvPr id="29" name="object 29"/>
            <p:cNvSpPr/>
            <p:nvPr/>
          </p:nvSpPr>
          <p:spPr>
            <a:xfrm>
              <a:off x="7726324" y="1874164"/>
              <a:ext cx="1554480" cy="914400"/>
            </a:xfrm>
            <a:custGeom>
              <a:avLst/>
              <a:gdLst/>
              <a:ahLst/>
              <a:cxnLst/>
              <a:rect l="l" t="t" r="r" b="b"/>
              <a:pathLst>
                <a:path w="1554479" h="914400">
                  <a:moveTo>
                    <a:pt x="14994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859675"/>
                  </a:lnTo>
                  <a:lnTo>
                    <a:pt x="452" y="866528"/>
                  </a:lnTo>
                  <a:lnTo>
                    <a:pt x="466" y="866734"/>
                  </a:lnTo>
                  <a:lnTo>
                    <a:pt x="1799" y="873536"/>
                  </a:lnTo>
                  <a:lnTo>
                    <a:pt x="1843" y="873758"/>
                  </a:lnTo>
                  <a:lnTo>
                    <a:pt x="3997" y="880274"/>
                  </a:lnTo>
                  <a:lnTo>
                    <a:pt x="4098" y="880580"/>
                  </a:lnTo>
                  <a:lnTo>
                    <a:pt x="33757" y="910295"/>
                  </a:lnTo>
                  <a:lnTo>
                    <a:pt x="48008" y="914031"/>
                  </a:lnTo>
                  <a:lnTo>
                    <a:pt x="49037" y="914031"/>
                  </a:lnTo>
                  <a:lnTo>
                    <a:pt x="54711" y="914400"/>
                  </a:lnTo>
                  <a:lnTo>
                    <a:pt x="1499755" y="914031"/>
                  </a:lnTo>
                  <a:lnTo>
                    <a:pt x="1538409" y="898105"/>
                  </a:lnTo>
                  <a:lnTo>
                    <a:pt x="1553971" y="866734"/>
                  </a:lnTo>
                  <a:lnTo>
                    <a:pt x="1554012" y="866528"/>
                  </a:lnTo>
                  <a:lnTo>
                    <a:pt x="1554456" y="859675"/>
                  </a:lnTo>
                  <a:lnTo>
                    <a:pt x="1554480" y="859320"/>
                  </a:lnTo>
                  <a:lnTo>
                    <a:pt x="1554111" y="54711"/>
                  </a:lnTo>
                  <a:lnTo>
                    <a:pt x="1538185" y="16059"/>
                  </a:lnTo>
                  <a:lnTo>
                    <a:pt x="1506608" y="466"/>
                  </a:lnTo>
                  <a:lnTo>
                    <a:pt x="149940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726324" y="1874164"/>
              <a:ext cx="1554480" cy="914400"/>
            </a:xfrm>
            <a:custGeom>
              <a:avLst/>
              <a:gdLst/>
              <a:ahLst/>
              <a:cxnLst/>
              <a:rect l="l" t="t" r="r" b="b"/>
              <a:pathLst>
                <a:path w="1554479" h="91440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99400" y="0"/>
                  </a:lnTo>
                  <a:lnTo>
                    <a:pt x="1538185" y="16059"/>
                  </a:lnTo>
                  <a:lnTo>
                    <a:pt x="1554111" y="54711"/>
                  </a:lnTo>
                  <a:lnTo>
                    <a:pt x="1554480" y="859320"/>
                  </a:lnTo>
                  <a:lnTo>
                    <a:pt x="1554012" y="866528"/>
                  </a:lnTo>
                  <a:lnTo>
                    <a:pt x="1552632" y="873536"/>
                  </a:lnTo>
                  <a:lnTo>
                    <a:pt x="1527111" y="906830"/>
                  </a:lnTo>
                  <a:lnTo>
                    <a:pt x="54711" y="914400"/>
                  </a:lnTo>
                  <a:lnTo>
                    <a:pt x="15925" y="898329"/>
                  </a:lnTo>
                  <a:lnTo>
                    <a:pt x="0" y="859675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D7C8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008099" y="2158822"/>
            <a:ext cx="989330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115" marR="5080" indent="-1905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5B2C90"/>
                </a:solidFill>
                <a:latin typeface="Arial"/>
                <a:cs typeface="Arial"/>
              </a:rPr>
              <a:t>Health</a:t>
            </a:r>
            <a:r>
              <a:rPr dirty="0" sz="1050" spc="-6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5B2C90"/>
                </a:solidFill>
                <a:latin typeface="Arial"/>
                <a:cs typeface="Arial"/>
              </a:rPr>
              <a:t>checks</a:t>
            </a:r>
            <a:r>
              <a:rPr dirty="0" sz="1050" spc="-6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50" spc="-50" b="1">
                <a:solidFill>
                  <a:srgbClr val="5B2C90"/>
                </a:solidFill>
                <a:latin typeface="Arial"/>
                <a:cs typeface="Arial"/>
              </a:rPr>
              <a:t>/ </a:t>
            </a:r>
            <a:r>
              <a:rPr dirty="0" sz="1050" b="1">
                <a:solidFill>
                  <a:srgbClr val="5B2C90"/>
                </a:solidFill>
                <a:latin typeface="Arial"/>
                <a:cs typeface="Arial"/>
              </a:rPr>
              <a:t>load</a:t>
            </a:r>
            <a:r>
              <a:rPr dirty="0" sz="1050" spc="-3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5B2C90"/>
                </a:solidFill>
                <a:latin typeface="Arial"/>
                <a:cs typeface="Arial"/>
              </a:rPr>
              <a:t>balancing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17333" y="1869084"/>
            <a:ext cx="3881120" cy="924560"/>
            <a:chOff x="7417333" y="1869084"/>
            <a:chExt cx="3881120" cy="924560"/>
          </a:xfrm>
        </p:grpSpPr>
        <p:sp>
          <p:nvSpPr>
            <p:cNvPr id="33" name="object 33"/>
            <p:cNvSpPr/>
            <p:nvPr/>
          </p:nvSpPr>
          <p:spPr>
            <a:xfrm>
              <a:off x="7424635" y="1974964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0" y="0"/>
                  </a:moveTo>
                  <a:lnTo>
                    <a:pt x="221767" y="199796"/>
                  </a:lnTo>
                </a:path>
              </a:pathLst>
            </a:custGeom>
            <a:ln w="1403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617599" y="2143074"/>
              <a:ext cx="81915" cy="79375"/>
            </a:xfrm>
            <a:custGeom>
              <a:avLst/>
              <a:gdLst/>
              <a:ahLst/>
              <a:cxnLst/>
              <a:rect l="l" t="t" r="r" b="b"/>
              <a:pathLst>
                <a:path w="81915" h="79375">
                  <a:moveTo>
                    <a:pt x="50406" y="0"/>
                  </a:moveTo>
                  <a:lnTo>
                    <a:pt x="0" y="56527"/>
                  </a:lnTo>
                  <a:lnTo>
                    <a:pt x="81356" y="78841"/>
                  </a:lnTo>
                  <a:lnTo>
                    <a:pt x="50406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424635" y="2494800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0" y="266395"/>
                  </a:moveTo>
                  <a:lnTo>
                    <a:pt x="228244" y="0"/>
                  </a:lnTo>
                </a:path>
              </a:pathLst>
            </a:custGeom>
            <a:ln w="1403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621193" y="2441155"/>
              <a:ext cx="78105" cy="82550"/>
            </a:xfrm>
            <a:custGeom>
              <a:avLst/>
              <a:gdLst/>
              <a:ahLst/>
              <a:cxnLst/>
              <a:rect l="l" t="t" r="r" b="b"/>
              <a:pathLst>
                <a:path w="78104" h="82550">
                  <a:moveTo>
                    <a:pt x="77762" y="0"/>
                  </a:moveTo>
                  <a:lnTo>
                    <a:pt x="0" y="32766"/>
                  </a:lnTo>
                  <a:lnTo>
                    <a:pt x="57251" y="82080"/>
                  </a:lnTo>
                  <a:lnTo>
                    <a:pt x="77762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537115" y="1874164"/>
              <a:ext cx="1755775" cy="914400"/>
            </a:xfrm>
            <a:custGeom>
              <a:avLst/>
              <a:gdLst/>
              <a:ahLst/>
              <a:cxnLst/>
              <a:rect l="l" t="t" r="r" b="b"/>
              <a:pathLst>
                <a:path w="1755775" h="914400">
                  <a:moveTo>
                    <a:pt x="1700644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859675"/>
                  </a:lnTo>
                  <a:lnTo>
                    <a:pt x="454" y="866528"/>
                  </a:lnTo>
                  <a:lnTo>
                    <a:pt x="467" y="866734"/>
                  </a:lnTo>
                  <a:lnTo>
                    <a:pt x="1804" y="873536"/>
                  </a:lnTo>
                  <a:lnTo>
                    <a:pt x="1847" y="873758"/>
                  </a:lnTo>
                  <a:lnTo>
                    <a:pt x="4003" y="880274"/>
                  </a:lnTo>
                  <a:lnTo>
                    <a:pt x="33769" y="910295"/>
                  </a:lnTo>
                  <a:lnTo>
                    <a:pt x="48021" y="914031"/>
                  </a:lnTo>
                  <a:lnTo>
                    <a:pt x="49050" y="914031"/>
                  </a:lnTo>
                  <a:lnTo>
                    <a:pt x="54724" y="914400"/>
                  </a:lnTo>
                  <a:lnTo>
                    <a:pt x="1700999" y="914031"/>
                  </a:lnTo>
                  <a:lnTo>
                    <a:pt x="1739660" y="898105"/>
                  </a:lnTo>
                  <a:lnTo>
                    <a:pt x="1753806" y="873758"/>
                  </a:lnTo>
                  <a:lnTo>
                    <a:pt x="1753881" y="873536"/>
                  </a:lnTo>
                  <a:lnTo>
                    <a:pt x="1755217" y="866734"/>
                  </a:lnTo>
                  <a:lnTo>
                    <a:pt x="1755258" y="866528"/>
                  </a:lnTo>
                  <a:lnTo>
                    <a:pt x="1755701" y="859675"/>
                  </a:lnTo>
                  <a:lnTo>
                    <a:pt x="1755724" y="859320"/>
                  </a:lnTo>
                  <a:lnTo>
                    <a:pt x="1755368" y="54711"/>
                  </a:lnTo>
                  <a:lnTo>
                    <a:pt x="1739431" y="16059"/>
                  </a:lnTo>
                  <a:lnTo>
                    <a:pt x="1707852" y="466"/>
                  </a:lnTo>
                  <a:lnTo>
                    <a:pt x="1700644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537115" y="1874164"/>
              <a:ext cx="1755775" cy="914400"/>
            </a:xfrm>
            <a:custGeom>
              <a:avLst/>
              <a:gdLst/>
              <a:ahLst/>
              <a:cxnLst/>
              <a:rect l="l" t="t" r="r" b="b"/>
              <a:pathLst>
                <a:path w="1755775" h="914400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700644" y="0"/>
                  </a:lnTo>
                  <a:lnTo>
                    <a:pt x="1739431" y="16059"/>
                  </a:lnTo>
                  <a:lnTo>
                    <a:pt x="1755368" y="54711"/>
                  </a:lnTo>
                  <a:lnTo>
                    <a:pt x="1755724" y="859320"/>
                  </a:lnTo>
                  <a:lnTo>
                    <a:pt x="1755258" y="866528"/>
                  </a:lnTo>
                  <a:lnTo>
                    <a:pt x="1753881" y="873536"/>
                  </a:lnTo>
                  <a:lnTo>
                    <a:pt x="1728368" y="906830"/>
                  </a:lnTo>
                  <a:lnTo>
                    <a:pt x="54724" y="914400"/>
                  </a:lnTo>
                  <a:lnTo>
                    <a:pt x="15936" y="898329"/>
                  </a:lnTo>
                  <a:lnTo>
                    <a:pt x="0" y="859675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F0CE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9289076" y="2294280"/>
            <a:ext cx="211454" cy="76200"/>
            <a:chOff x="9289076" y="2294280"/>
            <a:chExt cx="211454" cy="76200"/>
          </a:xfrm>
        </p:grpSpPr>
        <p:sp>
          <p:nvSpPr>
            <p:cNvPr id="41" name="object 41"/>
            <p:cNvSpPr/>
            <p:nvPr/>
          </p:nvSpPr>
          <p:spPr>
            <a:xfrm>
              <a:off x="9299156" y="2331719"/>
              <a:ext cx="130810" cy="635"/>
            </a:xfrm>
            <a:custGeom>
              <a:avLst/>
              <a:gdLst/>
              <a:ahLst/>
              <a:cxnLst/>
              <a:rect l="l" t="t" r="r" b="b"/>
              <a:pathLst>
                <a:path w="130809" h="635">
                  <a:moveTo>
                    <a:pt x="0" y="0"/>
                  </a:moveTo>
                  <a:lnTo>
                    <a:pt x="130682" y="355"/>
                  </a:lnTo>
                </a:path>
              </a:pathLst>
            </a:custGeom>
            <a:ln w="2015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424797" y="2294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938422" y="2143340"/>
            <a:ext cx="95123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6515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C46900"/>
                </a:solidFill>
                <a:latin typeface="Arial"/>
                <a:cs typeface="Arial"/>
              </a:rPr>
              <a:t>Scale</a:t>
            </a:r>
            <a:r>
              <a:rPr dirty="0" sz="1150" spc="-1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C46900"/>
                </a:solidFill>
                <a:latin typeface="Arial"/>
                <a:cs typeface="Arial"/>
              </a:rPr>
              <a:t>2</a:t>
            </a:r>
            <a:r>
              <a:rPr dirty="0" sz="1150" spc="-1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C46900"/>
                </a:solidFill>
                <a:latin typeface="Arial"/>
                <a:cs typeface="Arial"/>
              </a:rPr>
              <a:t>→</a:t>
            </a:r>
            <a:r>
              <a:rPr dirty="0" sz="1150" spc="-1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150" spc="-50" b="1">
                <a:solidFill>
                  <a:srgbClr val="C46900"/>
                </a:solidFill>
                <a:latin typeface="Arial"/>
                <a:cs typeface="Arial"/>
              </a:rPr>
              <a:t>4 </a:t>
            </a:r>
            <a:r>
              <a:rPr dirty="0" sz="1150" b="1">
                <a:solidFill>
                  <a:srgbClr val="C46900"/>
                </a:solidFill>
                <a:latin typeface="Arial"/>
                <a:cs typeface="Arial"/>
              </a:rPr>
              <a:t>when</a:t>
            </a:r>
            <a:r>
              <a:rPr dirty="0" sz="115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C46900"/>
                </a:solidFill>
                <a:latin typeface="Arial"/>
                <a:cs typeface="Arial"/>
              </a:rPr>
              <a:t>needed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75324" y="2426716"/>
            <a:ext cx="1318260" cy="705485"/>
            <a:chOff x="6075324" y="2426716"/>
            <a:chExt cx="1318260" cy="705485"/>
          </a:xfrm>
        </p:grpSpPr>
        <p:sp>
          <p:nvSpPr>
            <p:cNvPr id="25" name="object 25"/>
            <p:cNvSpPr/>
            <p:nvPr/>
          </p:nvSpPr>
          <p:spPr>
            <a:xfrm>
              <a:off x="6080404" y="2431796"/>
              <a:ext cx="1308100" cy="695325"/>
            </a:xfrm>
            <a:custGeom>
              <a:avLst/>
              <a:gdLst/>
              <a:ahLst/>
              <a:cxnLst/>
              <a:rect l="l" t="t" r="r" b="b"/>
              <a:pathLst>
                <a:path w="1308100" h="695325">
                  <a:moveTo>
                    <a:pt x="1252435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640079"/>
                  </a:lnTo>
                  <a:lnTo>
                    <a:pt x="452" y="646933"/>
                  </a:lnTo>
                  <a:lnTo>
                    <a:pt x="466" y="647140"/>
                  </a:lnTo>
                  <a:lnTo>
                    <a:pt x="1798" y="653940"/>
                  </a:lnTo>
                  <a:lnTo>
                    <a:pt x="1843" y="654169"/>
                  </a:lnTo>
                  <a:lnTo>
                    <a:pt x="27355" y="687603"/>
                  </a:lnTo>
                  <a:lnTo>
                    <a:pt x="48065" y="694448"/>
                  </a:lnTo>
                  <a:lnTo>
                    <a:pt x="49212" y="694448"/>
                  </a:lnTo>
                  <a:lnTo>
                    <a:pt x="54711" y="694804"/>
                  </a:lnTo>
                  <a:lnTo>
                    <a:pt x="1252791" y="694448"/>
                  </a:lnTo>
                  <a:lnTo>
                    <a:pt x="1291451" y="678511"/>
                  </a:lnTo>
                  <a:lnTo>
                    <a:pt x="1305596" y="654169"/>
                  </a:lnTo>
                  <a:lnTo>
                    <a:pt x="1305672" y="653940"/>
                  </a:lnTo>
                  <a:lnTo>
                    <a:pt x="1307008" y="647140"/>
                  </a:lnTo>
                  <a:lnTo>
                    <a:pt x="1307049" y="646933"/>
                  </a:lnTo>
                  <a:lnTo>
                    <a:pt x="1307492" y="640079"/>
                  </a:lnTo>
                  <a:lnTo>
                    <a:pt x="1307160" y="54724"/>
                  </a:lnTo>
                  <a:lnTo>
                    <a:pt x="1291223" y="16070"/>
                  </a:lnTo>
                  <a:lnTo>
                    <a:pt x="1259644" y="467"/>
                  </a:lnTo>
                  <a:lnTo>
                    <a:pt x="1252435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80404" y="2431796"/>
              <a:ext cx="1308100" cy="695325"/>
            </a:xfrm>
            <a:custGeom>
              <a:avLst/>
              <a:gdLst/>
              <a:ahLst/>
              <a:cxnLst/>
              <a:rect l="l" t="t" r="r" b="b"/>
              <a:pathLst>
                <a:path w="1308100" h="69532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252435" y="0"/>
                  </a:lnTo>
                  <a:lnTo>
                    <a:pt x="1291223" y="16070"/>
                  </a:lnTo>
                  <a:lnTo>
                    <a:pt x="1307160" y="54724"/>
                  </a:lnTo>
                  <a:lnTo>
                    <a:pt x="1307515" y="639724"/>
                  </a:lnTo>
                  <a:lnTo>
                    <a:pt x="1307049" y="646933"/>
                  </a:lnTo>
                  <a:lnTo>
                    <a:pt x="1305672" y="653940"/>
                  </a:lnTo>
                  <a:lnTo>
                    <a:pt x="1280160" y="687247"/>
                  </a:lnTo>
                  <a:lnTo>
                    <a:pt x="54711" y="694804"/>
                  </a:lnTo>
                  <a:lnTo>
                    <a:pt x="15925" y="678740"/>
                  </a:lnTo>
                  <a:lnTo>
                    <a:pt x="0" y="64007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4DC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378740" y="2682989"/>
            <a:ext cx="709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Instance</a:t>
            </a:r>
            <a:r>
              <a:rPr dirty="0" sz="11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10243F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71016" y="3815815"/>
            <a:ext cx="3258185" cy="1247140"/>
            <a:chOff x="871016" y="3815815"/>
            <a:chExt cx="3258185" cy="1247140"/>
          </a:xfrm>
        </p:grpSpPr>
        <p:sp>
          <p:nvSpPr>
            <p:cNvPr id="44" name="object 44"/>
            <p:cNvSpPr/>
            <p:nvPr/>
          </p:nvSpPr>
          <p:spPr>
            <a:xfrm>
              <a:off x="877684" y="3822115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172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161364"/>
                  </a:lnTo>
                  <a:lnTo>
                    <a:pt x="15091" y="1205741"/>
                  </a:lnTo>
                  <a:lnTo>
                    <a:pt x="54041" y="1232011"/>
                  </a:lnTo>
                  <a:lnTo>
                    <a:pt x="73075" y="1234439"/>
                  </a:lnTo>
                  <a:lnTo>
                    <a:pt x="3173031" y="1234084"/>
                  </a:lnTo>
                  <a:lnTo>
                    <a:pt x="3217409" y="1218985"/>
                  </a:lnTo>
                  <a:lnTo>
                    <a:pt x="3243628" y="1180220"/>
                  </a:lnTo>
                  <a:lnTo>
                    <a:pt x="3243689" y="1180037"/>
                  </a:lnTo>
                  <a:lnTo>
                    <a:pt x="3245473" y="1170842"/>
                  </a:lnTo>
                  <a:lnTo>
                    <a:pt x="3245512" y="1170640"/>
                  </a:lnTo>
                  <a:lnTo>
                    <a:pt x="3246097" y="1161364"/>
                  </a:lnTo>
                  <a:lnTo>
                    <a:pt x="3245751" y="73088"/>
                  </a:lnTo>
                  <a:lnTo>
                    <a:pt x="3230660" y="28710"/>
                  </a:lnTo>
                  <a:lnTo>
                    <a:pt x="3191710" y="2430"/>
                  </a:lnTo>
                  <a:lnTo>
                    <a:pt x="3182309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77684" y="3822115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3" y="15109"/>
                  </a:lnTo>
                  <a:lnTo>
                    <a:pt x="3243322" y="54232"/>
                  </a:lnTo>
                  <a:lnTo>
                    <a:pt x="3245751" y="73088"/>
                  </a:lnTo>
                  <a:lnTo>
                    <a:pt x="3246120" y="1161008"/>
                  </a:lnTo>
                  <a:lnTo>
                    <a:pt x="3245512" y="1170640"/>
                  </a:lnTo>
                  <a:lnTo>
                    <a:pt x="3243689" y="1180037"/>
                  </a:lnTo>
                  <a:lnTo>
                    <a:pt x="3217409" y="1218985"/>
                  </a:lnTo>
                  <a:lnTo>
                    <a:pt x="3173031" y="1234084"/>
                  </a:lnTo>
                  <a:lnTo>
                    <a:pt x="73075" y="1234439"/>
                  </a:lnTo>
                  <a:lnTo>
                    <a:pt x="28548" y="1219343"/>
                  </a:lnTo>
                  <a:lnTo>
                    <a:pt x="2428" y="1180220"/>
                  </a:lnTo>
                  <a:lnTo>
                    <a:pt x="0" y="116136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77316" y="3822115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28" y="12340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77316" y="3822115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065860" y="4007421"/>
            <a:ext cx="11607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Before</a:t>
            </a:r>
            <a:r>
              <a:rPr dirty="0" sz="13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scaling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66215" y="4309821"/>
            <a:ext cx="7239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18501" y="4330700"/>
            <a:ext cx="2387600" cy="339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0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Check</a:t>
            </a:r>
            <a:r>
              <a:rPr dirty="0" sz="10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existing</a:t>
            </a:r>
            <a:r>
              <a:rPr dirty="0" sz="10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instances,</a:t>
            </a:r>
            <a:r>
              <a:rPr dirty="0" sz="10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model</a:t>
            </a:r>
            <a:r>
              <a:rPr dirty="0" sz="10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version,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network</a:t>
            </a:r>
            <a:r>
              <a:rPr dirty="0" sz="10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application</a:t>
            </a:r>
            <a:r>
              <a:rPr dirty="0" sz="10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response.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428184" y="3815815"/>
            <a:ext cx="3258185" cy="1247140"/>
            <a:chOff x="4428184" y="3815815"/>
            <a:chExt cx="3258185" cy="1247140"/>
          </a:xfrm>
        </p:grpSpPr>
        <p:sp>
          <p:nvSpPr>
            <p:cNvPr id="52" name="object 52"/>
            <p:cNvSpPr/>
            <p:nvPr/>
          </p:nvSpPr>
          <p:spPr>
            <a:xfrm>
              <a:off x="4434839" y="3822115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172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161364"/>
                  </a:lnTo>
                  <a:lnTo>
                    <a:pt x="594" y="1170640"/>
                  </a:lnTo>
                  <a:lnTo>
                    <a:pt x="607" y="1170842"/>
                  </a:lnTo>
                  <a:lnTo>
                    <a:pt x="2393" y="1180037"/>
                  </a:lnTo>
                  <a:lnTo>
                    <a:pt x="2428" y="1180220"/>
                  </a:lnTo>
                  <a:lnTo>
                    <a:pt x="5410" y="1189099"/>
                  </a:lnTo>
                  <a:lnTo>
                    <a:pt x="36360" y="1224724"/>
                  </a:lnTo>
                  <a:lnTo>
                    <a:pt x="73075" y="1234439"/>
                  </a:lnTo>
                  <a:lnTo>
                    <a:pt x="3173044" y="1234084"/>
                  </a:lnTo>
                  <a:lnTo>
                    <a:pt x="3217414" y="1218985"/>
                  </a:lnTo>
                  <a:lnTo>
                    <a:pt x="3243629" y="1180220"/>
                  </a:lnTo>
                  <a:lnTo>
                    <a:pt x="3243691" y="1180037"/>
                  </a:lnTo>
                  <a:lnTo>
                    <a:pt x="3245473" y="1170842"/>
                  </a:lnTo>
                  <a:lnTo>
                    <a:pt x="3245512" y="1170640"/>
                  </a:lnTo>
                  <a:lnTo>
                    <a:pt x="3246097" y="1161364"/>
                  </a:lnTo>
                  <a:lnTo>
                    <a:pt x="3245764" y="73088"/>
                  </a:lnTo>
                  <a:lnTo>
                    <a:pt x="3230660" y="28710"/>
                  </a:lnTo>
                  <a:lnTo>
                    <a:pt x="3191716" y="2430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434839" y="3822115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8" y="15109"/>
                  </a:lnTo>
                  <a:lnTo>
                    <a:pt x="3243333" y="54232"/>
                  </a:lnTo>
                  <a:lnTo>
                    <a:pt x="3245764" y="73088"/>
                  </a:lnTo>
                  <a:lnTo>
                    <a:pt x="3246119" y="1161008"/>
                  </a:lnTo>
                  <a:lnTo>
                    <a:pt x="3245512" y="1170640"/>
                  </a:lnTo>
                  <a:lnTo>
                    <a:pt x="3243691" y="1180037"/>
                  </a:lnTo>
                  <a:lnTo>
                    <a:pt x="3217414" y="1218985"/>
                  </a:lnTo>
                  <a:lnTo>
                    <a:pt x="3173044" y="1234084"/>
                  </a:lnTo>
                  <a:lnTo>
                    <a:pt x="73075" y="1234439"/>
                  </a:lnTo>
                  <a:lnTo>
                    <a:pt x="28555" y="1219343"/>
                  </a:lnTo>
                  <a:lnTo>
                    <a:pt x="2428" y="1180220"/>
                  </a:lnTo>
                  <a:lnTo>
                    <a:pt x="0" y="116136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434484" y="3822115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434484" y="3822115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623015" y="4007421"/>
            <a:ext cx="11696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During</a:t>
            </a:r>
            <a:r>
              <a:rPr dirty="0" sz="13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scaling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23384" y="4309821"/>
            <a:ext cx="7239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75657" y="4330700"/>
            <a:ext cx="2707640" cy="497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0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Wait</a:t>
            </a:r>
            <a:r>
              <a:rPr dirty="0" sz="10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provisioning;</a:t>
            </a:r>
            <a:r>
              <a:rPr dirty="0" sz="10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“Running”</a:t>
            </a:r>
            <a:r>
              <a:rPr dirty="0" sz="10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00" spc="5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infrastructure</a:t>
            </a:r>
            <a:r>
              <a:rPr dirty="0" sz="10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state,</a:t>
            </a:r>
            <a:r>
              <a:rPr dirty="0" sz="10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0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proof</a:t>
            </a:r>
            <a:r>
              <a:rPr dirty="0" sz="10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application</a:t>
            </a:r>
            <a:r>
              <a:rPr dirty="0" sz="10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is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healthy.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985340" y="3815815"/>
            <a:ext cx="3258185" cy="1247140"/>
            <a:chOff x="7985340" y="3815815"/>
            <a:chExt cx="3258185" cy="1247140"/>
          </a:xfrm>
        </p:grpSpPr>
        <p:sp>
          <p:nvSpPr>
            <p:cNvPr id="60" name="object 60"/>
            <p:cNvSpPr/>
            <p:nvPr/>
          </p:nvSpPr>
          <p:spPr>
            <a:xfrm>
              <a:off x="7991995" y="3822115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1726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161364"/>
                  </a:lnTo>
                  <a:lnTo>
                    <a:pt x="594" y="1170640"/>
                  </a:lnTo>
                  <a:lnTo>
                    <a:pt x="607" y="1170842"/>
                  </a:lnTo>
                  <a:lnTo>
                    <a:pt x="2394" y="1180037"/>
                  </a:lnTo>
                  <a:lnTo>
                    <a:pt x="2430" y="1180220"/>
                  </a:lnTo>
                  <a:lnTo>
                    <a:pt x="5416" y="1189099"/>
                  </a:lnTo>
                  <a:lnTo>
                    <a:pt x="5470" y="1189260"/>
                  </a:lnTo>
                  <a:lnTo>
                    <a:pt x="36360" y="1224724"/>
                  </a:lnTo>
                  <a:lnTo>
                    <a:pt x="73088" y="1234439"/>
                  </a:lnTo>
                  <a:lnTo>
                    <a:pt x="3173044" y="1234084"/>
                  </a:lnTo>
                  <a:lnTo>
                    <a:pt x="3217421" y="1218985"/>
                  </a:lnTo>
                  <a:lnTo>
                    <a:pt x="3243629" y="1180220"/>
                  </a:lnTo>
                  <a:lnTo>
                    <a:pt x="3243691" y="1180037"/>
                  </a:lnTo>
                  <a:lnTo>
                    <a:pt x="3245473" y="1170842"/>
                  </a:lnTo>
                  <a:lnTo>
                    <a:pt x="3245512" y="1170640"/>
                  </a:lnTo>
                  <a:lnTo>
                    <a:pt x="3246097" y="1161364"/>
                  </a:lnTo>
                  <a:lnTo>
                    <a:pt x="3245764" y="73088"/>
                  </a:lnTo>
                  <a:lnTo>
                    <a:pt x="3230665" y="28710"/>
                  </a:lnTo>
                  <a:lnTo>
                    <a:pt x="3191717" y="2430"/>
                  </a:lnTo>
                  <a:lnTo>
                    <a:pt x="3182320" y="607"/>
                  </a:lnTo>
                  <a:lnTo>
                    <a:pt x="3172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991995" y="3822115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172688" y="0"/>
                  </a:lnTo>
                  <a:lnTo>
                    <a:pt x="3217209" y="15109"/>
                  </a:lnTo>
                  <a:lnTo>
                    <a:pt x="3243335" y="54232"/>
                  </a:lnTo>
                  <a:lnTo>
                    <a:pt x="3245764" y="73088"/>
                  </a:lnTo>
                  <a:lnTo>
                    <a:pt x="3246119" y="1161008"/>
                  </a:lnTo>
                  <a:lnTo>
                    <a:pt x="3245512" y="1170640"/>
                  </a:lnTo>
                  <a:lnTo>
                    <a:pt x="3243691" y="1180037"/>
                  </a:lnTo>
                  <a:lnTo>
                    <a:pt x="3217421" y="1218985"/>
                  </a:lnTo>
                  <a:lnTo>
                    <a:pt x="3173044" y="1234084"/>
                  </a:lnTo>
                  <a:lnTo>
                    <a:pt x="73088" y="1234439"/>
                  </a:lnTo>
                  <a:lnTo>
                    <a:pt x="28555" y="1219343"/>
                  </a:lnTo>
                  <a:lnTo>
                    <a:pt x="2430" y="1180220"/>
                  </a:lnTo>
                  <a:lnTo>
                    <a:pt x="0" y="116136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991640" y="3822115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991640" y="3822115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8179816" y="4007421"/>
            <a:ext cx="102361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After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scaling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180184" y="4309821"/>
            <a:ext cx="7239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332457" y="4330700"/>
            <a:ext cx="2555875" cy="339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0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capacity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=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4,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instances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are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healthy,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timeout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symptom</a:t>
            </a:r>
            <a:r>
              <a:rPr dirty="0" sz="10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gone.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68" name="object 6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809904" y="6000381"/>
            <a:ext cx="60744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attached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guide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uses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manual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capacity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change;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automatic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autoscale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rules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related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extension.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72" name="object 7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73" name="object 7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06311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VNet,</a:t>
            </a:r>
            <a:r>
              <a:rPr dirty="0" spc="-50"/>
              <a:t> </a:t>
            </a:r>
            <a:r>
              <a:rPr dirty="0"/>
              <a:t>subnet,</a:t>
            </a:r>
            <a:r>
              <a:rPr dirty="0" spc="-45"/>
              <a:t> </a:t>
            </a:r>
            <a:r>
              <a:rPr dirty="0"/>
              <a:t>NIC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IP:</a:t>
            </a:r>
            <a:r>
              <a:rPr dirty="0" spc="-45"/>
              <a:t> </a:t>
            </a:r>
            <a:r>
              <a:rPr dirty="0"/>
              <a:t>four</a:t>
            </a:r>
            <a:r>
              <a:rPr dirty="0" spc="-45"/>
              <a:t> </a:t>
            </a:r>
            <a:r>
              <a:rPr dirty="0"/>
              <a:t>building</a:t>
            </a:r>
            <a:r>
              <a:rPr dirty="0" spc="-40"/>
              <a:t> </a:t>
            </a:r>
            <a:r>
              <a:rPr dirty="0" spc="-10"/>
              <a:t>blocks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1474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VM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does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connect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network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by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magic.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network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interface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placed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into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subnet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VNet.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69619" y="1638300"/>
            <a:ext cx="6736080" cy="3627120"/>
            <a:chOff x="769619" y="1638300"/>
            <a:chExt cx="6736080" cy="3627120"/>
          </a:xfrm>
        </p:grpSpPr>
        <p:sp>
          <p:nvSpPr>
            <p:cNvPr id="7" name="object 7"/>
            <p:cNvSpPr/>
            <p:nvPr/>
          </p:nvSpPr>
          <p:spPr>
            <a:xfrm>
              <a:off x="777239" y="1645920"/>
              <a:ext cx="6720840" cy="3611879"/>
            </a:xfrm>
            <a:custGeom>
              <a:avLst/>
              <a:gdLst/>
              <a:ahLst/>
              <a:cxnLst/>
              <a:rect l="l" t="t" r="r" b="b"/>
              <a:pathLst>
                <a:path w="6720840" h="3611879">
                  <a:moveTo>
                    <a:pt x="66473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538804"/>
                  </a:lnTo>
                  <a:lnTo>
                    <a:pt x="594" y="3548075"/>
                  </a:lnTo>
                  <a:lnTo>
                    <a:pt x="607" y="3548280"/>
                  </a:lnTo>
                  <a:lnTo>
                    <a:pt x="21423" y="3590412"/>
                  </a:lnTo>
                  <a:lnTo>
                    <a:pt x="63443" y="3611272"/>
                  </a:lnTo>
                  <a:lnTo>
                    <a:pt x="73075" y="3611879"/>
                  </a:lnTo>
                  <a:lnTo>
                    <a:pt x="6647764" y="3611524"/>
                  </a:lnTo>
                  <a:lnTo>
                    <a:pt x="6692134" y="3596420"/>
                  </a:lnTo>
                  <a:lnTo>
                    <a:pt x="6715298" y="3566695"/>
                  </a:lnTo>
                  <a:lnTo>
                    <a:pt x="6715375" y="3566539"/>
                  </a:lnTo>
                  <a:lnTo>
                    <a:pt x="6718351" y="3557655"/>
                  </a:lnTo>
                  <a:lnTo>
                    <a:pt x="6718411" y="3557476"/>
                  </a:lnTo>
                  <a:lnTo>
                    <a:pt x="6720192" y="3548280"/>
                  </a:lnTo>
                  <a:lnTo>
                    <a:pt x="6720232" y="3548075"/>
                  </a:lnTo>
                  <a:lnTo>
                    <a:pt x="6720816" y="3538804"/>
                  </a:lnTo>
                  <a:lnTo>
                    <a:pt x="6720839" y="3538435"/>
                  </a:lnTo>
                  <a:lnTo>
                    <a:pt x="6720484" y="73075"/>
                  </a:lnTo>
                  <a:lnTo>
                    <a:pt x="6705380" y="28705"/>
                  </a:lnTo>
                  <a:lnTo>
                    <a:pt x="6666436" y="2428"/>
                  </a:lnTo>
                  <a:lnTo>
                    <a:pt x="6657035" y="607"/>
                  </a:lnTo>
                  <a:lnTo>
                    <a:pt x="6647395" y="0"/>
                  </a:lnTo>
                  <a:close/>
                </a:path>
              </a:pathLst>
            </a:custGeom>
            <a:solidFill>
              <a:srgbClr val="E9F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39" y="1645920"/>
              <a:ext cx="6720840" cy="3611879"/>
            </a:xfrm>
            <a:custGeom>
              <a:avLst/>
              <a:gdLst/>
              <a:ahLst/>
              <a:cxnLst/>
              <a:rect l="l" t="t" r="r" b="b"/>
              <a:pathLst>
                <a:path w="6720840" h="36118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6647395" y="0"/>
                  </a:lnTo>
                  <a:lnTo>
                    <a:pt x="6691928" y="15104"/>
                  </a:lnTo>
                  <a:lnTo>
                    <a:pt x="6718053" y="54224"/>
                  </a:lnTo>
                  <a:lnTo>
                    <a:pt x="6720484" y="73075"/>
                  </a:lnTo>
                  <a:lnTo>
                    <a:pt x="6720839" y="3538435"/>
                  </a:lnTo>
                  <a:lnTo>
                    <a:pt x="6720232" y="3548075"/>
                  </a:lnTo>
                  <a:lnTo>
                    <a:pt x="6718411" y="3557476"/>
                  </a:lnTo>
                  <a:lnTo>
                    <a:pt x="6692134" y="3596420"/>
                  </a:lnTo>
                  <a:lnTo>
                    <a:pt x="6647764" y="3611524"/>
                  </a:lnTo>
                  <a:lnTo>
                    <a:pt x="73075" y="3611879"/>
                  </a:lnTo>
                  <a:lnTo>
                    <a:pt x="28555" y="3596775"/>
                  </a:lnTo>
                  <a:lnTo>
                    <a:pt x="2428" y="3557655"/>
                  </a:lnTo>
                  <a:lnTo>
                    <a:pt x="0" y="3538804"/>
                  </a:lnTo>
                  <a:lnTo>
                    <a:pt x="0" y="73075"/>
                  </a:lnTo>
                  <a:close/>
                </a:path>
              </a:pathLst>
            </a:custGeom>
            <a:ln w="15119">
              <a:solidFill>
                <a:srgbClr val="8ABB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11135" y="1805305"/>
            <a:ext cx="22078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077D3"/>
                </a:solidFill>
                <a:latin typeface="Arial"/>
                <a:cs typeface="Arial"/>
              </a:rPr>
              <a:t>VIRTUAL</a:t>
            </a:r>
            <a:r>
              <a:rPr dirty="0" sz="1100" spc="-3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077D3"/>
                </a:solidFill>
                <a:latin typeface="Arial"/>
                <a:cs typeface="Arial"/>
              </a:rPr>
              <a:t>NETWORK</a:t>
            </a:r>
            <a:r>
              <a:rPr dirty="0" sz="1100" spc="-2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077D3"/>
                </a:solidFill>
                <a:latin typeface="Arial"/>
                <a:cs typeface="Arial"/>
              </a:rPr>
              <a:t>10.20.0.0/16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44854" y="2233929"/>
            <a:ext cx="2755900" cy="2527300"/>
            <a:chOff x="1044854" y="2233929"/>
            <a:chExt cx="2755900" cy="2527300"/>
          </a:xfrm>
        </p:grpSpPr>
        <p:sp>
          <p:nvSpPr>
            <p:cNvPr id="11" name="object 11"/>
            <p:cNvSpPr/>
            <p:nvPr/>
          </p:nvSpPr>
          <p:spPr>
            <a:xfrm>
              <a:off x="1051204" y="2240279"/>
              <a:ext cx="2743200" cy="2514600"/>
            </a:xfrm>
            <a:custGeom>
              <a:avLst/>
              <a:gdLst/>
              <a:ahLst/>
              <a:cxnLst/>
              <a:rect l="l" t="t" r="r" b="b"/>
              <a:pathLst>
                <a:path w="2743200" h="2514600">
                  <a:moveTo>
                    <a:pt x="2688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2459875"/>
                  </a:lnTo>
                  <a:lnTo>
                    <a:pt x="3994" y="2480474"/>
                  </a:lnTo>
                  <a:lnTo>
                    <a:pt x="4098" y="2480790"/>
                  </a:lnTo>
                  <a:lnTo>
                    <a:pt x="33757" y="2510501"/>
                  </a:lnTo>
                  <a:lnTo>
                    <a:pt x="48065" y="2514244"/>
                  </a:lnTo>
                  <a:lnTo>
                    <a:pt x="49212" y="2514244"/>
                  </a:lnTo>
                  <a:lnTo>
                    <a:pt x="54711" y="2514600"/>
                  </a:lnTo>
                  <a:lnTo>
                    <a:pt x="2688475" y="2514244"/>
                  </a:lnTo>
                  <a:lnTo>
                    <a:pt x="2727129" y="2498307"/>
                  </a:lnTo>
                  <a:lnTo>
                    <a:pt x="2741275" y="2473964"/>
                  </a:lnTo>
                  <a:lnTo>
                    <a:pt x="2741352" y="2473736"/>
                  </a:lnTo>
                  <a:lnTo>
                    <a:pt x="2742691" y="2466936"/>
                  </a:lnTo>
                  <a:lnTo>
                    <a:pt x="2742732" y="2466728"/>
                  </a:lnTo>
                  <a:lnTo>
                    <a:pt x="2743176" y="2459875"/>
                  </a:lnTo>
                  <a:lnTo>
                    <a:pt x="2743200" y="2459520"/>
                  </a:lnTo>
                  <a:lnTo>
                    <a:pt x="2742831" y="54724"/>
                  </a:lnTo>
                  <a:lnTo>
                    <a:pt x="2726905" y="16063"/>
                  </a:lnTo>
                  <a:lnTo>
                    <a:pt x="2695328" y="466"/>
                  </a:lnTo>
                  <a:lnTo>
                    <a:pt x="2688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51204" y="2240279"/>
              <a:ext cx="2743200" cy="2514600"/>
            </a:xfrm>
            <a:custGeom>
              <a:avLst/>
              <a:gdLst/>
              <a:ahLst/>
              <a:cxnLst/>
              <a:rect l="l" t="t" r="r" b="b"/>
              <a:pathLst>
                <a:path w="2743200" h="25146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688120" y="0"/>
                  </a:lnTo>
                  <a:lnTo>
                    <a:pt x="2726905" y="16063"/>
                  </a:lnTo>
                  <a:lnTo>
                    <a:pt x="2742831" y="54724"/>
                  </a:lnTo>
                  <a:lnTo>
                    <a:pt x="2743200" y="2459520"/>
                  </a:lnTo>
                  <a:lnTo>
                    <a:pt x="2742732" y="2466728"/>
                  </a:lnTo>
                  <a:lnTo>
                    <a:pt x="2741352" y="2473736"/>
                  </a:lnTo>
                  <a:lnTo>
                    <a:pt x="2715831" y="2507043"/>
                  </a:lnTo>
                  <a:lnTo>
                    <a:pt x="54711" y="2514600"/>
                  </a:lnTo>
                  <a:lnTo>
                    <a:pt x="15925" y="2498536"/>
                  </a:lnTo>
                  <a:lnTo>
                    <a:pt x="0" y="245987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A4CA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702346" y="2397861"/>
            <a:ext cx="14516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Subnet</a:t>
            </a:r>
            <a:r>
              <a:rPr dirty="0" sz="10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2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|</a:t>
            </a:r>
            <a:r>
              <a:rPr dirty="0" sz="1000" spc="27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10.20.1.0/24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85315" y="2856915"/>
            <a:ext cx="1857375" cy="632460"/>
            <a:chOff x="1485315" y="2856915"/>
            <a:chExt cx="1857375" cy="632460"/>
          </a:xfrm>
        </p:grpSpPr>
        <p:sp>
          <p:nvSpPr>
            <p:cNvPr id="15" name="object 15"/>
            <p:cNvSpPr/>
            <p:nvPr/>
          </p:nvSpPr>
          <p:spPr>
            <a:xfrm>
              <a:off x="1490395" y="2861995"/>
              <a:ext cx="1847214" cy="622300"/>
            </a:xfrm>
            <a:custGeom>
              <a:avLst/>
              <a:gdLst/>
              <a:ahLst/>
              <a:cxnLst/>
              <a:rect l="l" t="t" r="r" b="b"/>
              <a:pathLst>
                <a:path w="1847214" h="622300">
                  <a:moveTo>
                    <a:pt x="1792084" y="0"/>
                  </a:moveTo>
                  <a:lnTo>
                    <a:pt x="54724" y="0"/>
                  </a:lnTo>
                  <a:lnTo>
                    <a:pt x="47665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567004"/>
                  </a:lnTo>
                  <a:lnTo>
                    <a:pt x="4003" y="587603"/>
                  </a:lnTo>
                  <a:lnTo>
                    <a:pt x="4104" y="587908"/>
                  </a:lnTo>
                  <a:lnTo>
                    <a:pt x="33769" y="617624"/>
                  </a:lnTo>
                  <a:lnTo>
                    <a:pt x="48021" y="621360"/>
                  </a:lnTo>
                  <a:lnTo>
                    <a:pt x="49050" y="621360"/>
                  </a:lnTo>
                  <a:lnTo>
                    <a:pt x="54724" y="621728"/>
                  </a:lnTo>
                  <a:lnTo>
                    <a:pt x="1792439" y="621360"/>
                  </a:lnTo>
                  <a:lnTo>
                    <a:pt x="1831100" y="605434"/>
                  </a:lnTo>
                  <a:lnTo>
                    <a:pt x="1845246" y="581086"/>
                  </a:lnTo>
                  <a:lnTo>
                    <a:pt x="1845321" y="580864"/>
                  </a:lnTo>
                  <a:lnTo>
                    <a:pt x="1846657" y="574062"/>
                  </a:lnTo>
                  <a:lnTo>
                    <a:pt x="1846698" y="573857"/>
                  </a:lnTo>
                  <a:lnTo>
                    <a:pt x="1847141" y="567004"/>
                  </a:lnTo>
                  <a:lnTo>
                    <a:pt x="1847164" y="566648"/>
                  </a:lnTo>
                  <a:lnTo>
                    <a:pt x="1846808" y="54724"/>
                  </a:lnTo>
                  <a:lnTo>
                    <a:pt x="1830871" y="16070"/>
                  </a:lnTo>
                  <a:lnTo>
                    <a:pt x="1799292" y="467"/>
                  </a:lnTo>
                  <a:lnTo>
                    <a:pt x="1792084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90395" y="2861995"/>
              <a:ext cx="1847214" cy="622300"/>
            </a:xfrm>
            <a:custGeom>
              <a:avLst/>
              <a:gdLst/>
              <a:ahLst/>
              <a:cxnLst/>
              <a:rect l="l" t="t" r="r" b="b"/>
              <a:pathLst>
                <a:path w="1847214" h="622300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792084" y="0"/>
                  </a:lnTo>
                  <a:lnTo>
                    <a:pt x="1830871" y="16070"/>
                  </a:lnTo>
                  <a:lnTo>
                    <a:pt x="1846808" y="54724"/>
                  </a:lnTo>
                  <a:lnTo>
                    <a:pt x="1847164" y="566648"/>
                  </a:lnTo>
                  <a:lnTo>
                    <a:pt x="1846698" y="573857"/>
                  </a:lnTo>
                  <a:lnTo>
                    <a:pt x="1845321" y="580864"/>
                  </a:lnTo>
                  <a:lnTo>
                    <a:pt x="1819808" y="614159"/>
                  </a:lnTo>
                  <a:lnTo>
                    <a:pt x="54724" y="621728"/>
                  </a:lnTo>
                  <a:lnTo>
                    <a:pt x="15936" y="605658"/>
                  </a:lnTo>
                  <a:lnTo>
                    <a:pt x="0" y="567004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BAD5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884502" y="3076460"/>
            <a:ext cx="1055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077D3"/>
                </a:solidFill>
                <a:latin typeface="Arial"/>
                <a:cs typeface="Arial"/>
              </a:rPr>
              <a:t>NIC</a:t>
            </a:r>
            <a:r>
              <a:rPr dirty="0" sz="1100" spc="-2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077D3"/>
                </a:solidFill>
                <a:latin typeface="Arial"/>
                <a:cs typeface="Arial"/>
              </a:rPr>
              <a:t>+</a:t>
            </a:r>
            <a:r>
              <a:rPr dirty="0" sz="1100" spc="-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077D3"/>
                </a:solidFill>
                <a:latin typeface="Arial"/>
                <a:cs typeface="Arial"/>
              </a:rPr>
              <a:t>private</a:t>
            </a:r>
            <a:r>
              <a:rPr dirty="0" sz="1100" spc="-1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0077D3"/>
                </a:solidFill>
                <a:latin typeface="Arial"/>
                <a:cs typeface="Arial"/>
              </a:rPr>
              <a:t>IP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85315" y="3670884"/>
            <a:ext cx="1857375" cy="632460"/>
            <a:chOff x="1485315" y="3670884"/>
            <a:chExt cx="1857375" cy="632460"/>
          </a:xfrm>
        </p:grpSpPr>
        <p:sp>
          <p:nvSpPr>
            <p:cNvPr id="19" name="object 19"/>
            <p:cNvSpPr/>
            <p:nvPr/>
          </p:nvSpPr>
          <p:spPr>
            <a:xfrm>
              <a:off x="1490395" y="3675964"/>
              <a:ext cx="1847214" cy="622300"/>
            </a:xfrm>
            <a:custGeom>
              <a:avLst/>
              <a:gdLst/>
              <a:ahLst/>
              <a:cxnLst/>
              <a:rect l="l" t="t" r="r" b="b"/>
              <a:pathLst>
                <a:path w="1847214" h="622300">
                  <a:moveTo>
                    <a:pt x="1792084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566991"/>
                  </a:lnTo>
                  <a:lnTo>
                    <a:pt x="454" y="573844"/>
                  </a:lnTo>
                  <a:lnTo>
                    <a:pt x="467" y="574052"/>
                  </a:lnTo>
                  <a:lnTo>
                    <a:pt x="21383" y="610403"/>
                  </a:lnTo>
                  <a:lnTo>
                    <a:pt x="48078" y="621360"/>
                  </a:lnTo>
                  <a:lnTo>
                    <a:pt x="49224" y="621360"/>
                  </a:lnTo>
                  <a:lnTo>
                    <a:pt x="54724" y="621715"/>
                  </a:lnTo>
                  <a:lnTo>
                    <a:pt x="1792439" y="621360"/>
                  </a:lnTo>
                  <a:lnTo>
                    <a:pt x="1831100" y="605423"/>
                  </a:lnTo>
                  <a:lnTo>
                    <a:pt x="1845244" y="581080"/>
                  </a:lnTo>
                  <a:lnTo>
                    <a:pt x="1845321" y="580851"/>
                  </a:lnTo>
                  <a:lnTo>
                    <a:pt x="1846657" y="574052"/>
                  </a:lnTo>
                  <a:lnTo>
                    <a:pt x="1846698" y="573844"/>
                  </a:lnTo>
                  <a:lnTo>
                    <a:pt x="1847141" y="566991"/>
                  </a:lnTo>
                  <a:lnTo>
                    <a:pt x="1846808" y="54711"/>
                  </a:lnTo>
                  <a:lnTo>
                    <a:pt x="1830871" y="16059"/>
                  </a:lnTo>
                  <a:lnTo>
                    <a:pt x="1799292" y="466"/>
                  </a:lnTo>
                  <a:lnTo>
                    <a:pt x="1792084" y="0"/>
                  </a:lnTo>
                  <a:close/>
                </a:path>
              </a:pathLst>
            </a:custGeom>
            <a:solidFill>
              <a:srgbClr val="ED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90395" y="3675964"/>
              <a:ext cx="1847214" cy="622300"/>
            </a:xfrm>
            <a:custGeom>
              <a:avLst/>
              <a:gdLst/>
              <a:ahLst/>
              <a:cxnLst/>
              <a:rect l="l" t="t" r="r" b="b"/>
              <a:pathLst>
                <a:path w="1847214" h="622300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792084" y="0"/>
                  </a:lnTo>
                  <a:lnTo>
                    <a:pt x="1830871" y="16059"/>
                  </a:lnTo>
                  <a:lnTo>
                    <a:pt x="1846808" y="54711"/>
                  </a:lnTo>
                  <a:lnTo>
                    <a:pt x="1847164" y="566635"/>
                  </a:lnTo>
                  <a:lnTo>
                    <a:pt x="1846698" y="573844"/>
                  </a:lnTo>
                  <a:lnTo>
                    <a:pt x="1845321" y="580851"/>
                  </a:lnTo>
                  <a:lnTo>
                    <a:pt x="1819808" y="614159"/>
                  </a:lnTo>
                  <a:lnTo>
                    <a:pt x="54724" y="621715"/>
                  </a:lnTo>
                  <a:lnTo>
                    <a:pt x="15936" y="605651"/>
                  </a:lnTo>
                  <a:lnTo>
                    <a:pt x="0" y="566991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796656" y="3890429"/>
            <a:ext cx="12306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1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1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OS /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services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76360" y="2233929"/>
            <a:ext cx="4817110" cy="2527300"/>
            <a:chOff x="2376360" y="2233929"/>
            <a:chExt cx="4817110" cy="2527300"/>
          </a:xfrm>
        </p:grpSpPr>
        <p:sp>
          <p:nvSpPr>
            <p:cNvPr id="23" name="object 23"/>
            <p:cNvSpPr/>
            <p:nvPr/>
          </p:nvSpPr>
          <p:spPr>
            <a:xfrm>
              <a:off x="2413800" y="3502075"/>
              <a:ext cx="635" cy="85090"/>
            </a:xfrm>
            <a:custGeom>
              <a:avLst/>
              <a:gdLst/>
              <a:ahLst/>
              <a:cxnLst/>
              <a:rect l="l" t="t" r="r" b="b"/>
              <a:pathLst>
                <a:path w="635" h="85089">
                  <a:moveTo>
                    <a:pt x="0" y="0"/>
                  </a:moveTo>
                  <a:lnTo>
                    <a:pt x="355" y="84962"/>
                  </a:lnTo>
                </a:path>
              </a:pathLst>
            </a:custGeom>
            <a:ln w="1511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376360" y="35819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096435" y="2240279"/>
              <a:ext cx="3091180" cy="2514600"/>
            </a:xfrm>
            <a:custGeom>
              <a:avLst/>
              <a:gdLst/>
              <a:ahLst/>
              <a:cxnLst/>
              <a:rect l="l" t="t" r="r" b="b"/>
              <a:pathLst>
                <a:path w="3091179" h="2514600">
                  <a:moveTo>
                    <a:pt x="3035528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79" y="21422"/>
                  </a:lnTo>
                  <a:lnTo>
                    <a:pt x="0" y="54724"/>
                  </a:lnTo>
                  <a:lnTo>
                    <a:pt x="0" y="2459875"/>
                  </a:lnTo>
                  <a:lnTo>
                    <a:pt x="3999" y="2480474"/>
                  </a:lnTo>
                  <a:lnTo>
                    <a:pt x="4104" y="2480790"/>
                  </a:lnTo>
                  <a:lnTo>
                    <a:pt x="33769" y="2510501"/>
                  </a:lnTo>
                  <a:lnTo>
                    <a:pt x="48078" y="2514244"/>
                  </a:lnTo>
                  <a:lnTo>
                    <a:pt x="49224" y="2514244"/>
                  </a:lnTo>
                  <a:lnTo>
                    <a:pt x="54724" y="2514600"/>
                  </a:lnTo>
                  <a:lnTo>
                    <a:pt x="3035884" y="2514244"/>
                  </a:lnTo>
                  <a:lnTo>
                    <a:pt x="3074538" y="2498307"/>
                  </a:lnTo>
                  <a:lnTo>
                    <a:pt x="3088684" y="2473964"/>
                  </a:lnTo>
                  <a:lnTo>
                    <a:pt x="3088760" y="2473736"/>
                  </a:lnTo>
                  <a:lnTo>
                    <a:pt x="3090099" y="2466936"/>
                  </a:lnTo>
                  <a:lnTo>
                    <a:pt x="3090140" y="2466728"/>
                  </a:lnTo>
                  <a:lnTo>
                    <a:pt x="3090585" y="2459875"/>
                  </a:lnTo>
                  <a:lnTo>
                    <a:pt x="3090608" y="2459520"/>
                  </a:lnTo>
                  <a:lnTo>
                    <a:pt x="3090240" y="54724"/>
                  </a:lnTo>
                  <a:lnTo>
                    <a:pt x="3074314" y="16063"/>
                  </a:lnTo>
                  <a:lnTo>
                    <a:pt x="3042737" y="466"/>
                  </a:lnTo>
                  <a:lnTo>
                    <a:pt x="303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96435" y="2240279"/>
              <a:ext cx="3091180" cy="2514600"/>
            </a:xfrm>
            <a:custGeom>
              <a:avLst/>
              <a:gdLst/>
              <a:ahLst/>
              <a:cxnLst/>
              <a:rect l="l" t="t" r="r" b="b"/>
              <a:pathLst>
                <a:path w="3091179" h="2514600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3035528" y="0"/>
                  </a:lnTo>
                  <a:lnTo>
                    <a:pt x="3074314" y="16063"/>
                  </a:lnTo>
                  <a:lnTo>
                    <a:pt x="3090240" y="54724"/>
                  </a:lnTo>
                  <a:lnTo>
                    <a:pt x="3090608" y="2459520"/>
                  </a:lnTo>
                  <a:lnTo>
                    <a:pt x="3090140" y="2466728"/>
                  </a:lnTo>
                  <a:lnTo>
                    <a:pt x="3088760" y="2473736"/>
                  </a:lnTo>
                  <a:lnTo>
                    <a:pt x="3063240" y="2507043"/>
                  </a:lnTo>
                  <a:lnTo>
                    <a:pt x="54724" y="2514600"/>
                  </a:lnTo>
                  <a:lnTo>
                    <a:pt x="15936" y="2498536"/>
                  </a:lnTo>
                  <a:lnTo>
                    <a:pt x="0" y="245987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9ED5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911737" y="2397861"/>
            <a:ext cx="14611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A5A5"/>
                </a:solidFill>
                <a:latin typeface="Arial"/>
                <a:cs typeface="Arial"/>
              </a:rPr>
              <a:t>Subnet</a:t>
            </a:r>
            <a:r>
              <a:rPr dirty="0" sz="1000" spc="-1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A5A5"/>
                </a:solidFill>
                <a:latin typeface="Arial"/>
                <a:cs typeface="Arial"/>
              </a:rPr>
              <a:t>B</a:t>
            </a:r>
            <a:r>
              <a:rPr dirty="0" sz="1000" spc="2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A5A5"/>
                </a:solidFill>
                <a:latin typeface="Arial"/>
                <a:cs typeface="Arial"/>
              </a:rPr>
              <a:t>|</a:t>
            </a:r>
            <a:r>
              <a:rPr dirty="0" sz="1000" spc="2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A5A5"/>
                </a:solidFill>
                <a:latin typeface="Arial"/>
                <a:cs typeface="Arial"/>
              </a:rPr>
              <a:t>10.20.2.0/24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48624" y="1776780"/>
            <a:ext cx="3441065" cy="1000125"/>
            <a:chOff x="7948624" y="1776780"/>
            <a:chExt cx="3441065" cy="1000125"/>
          </a:xfrm>
        </p:grpSpPr>
        <p:sp>
          <p:nvSpPr>
            <p:cNvPr id="40" name="object 40"/>
            <p:cNvSpPr/>
            <p:nvPr/>
          </p:nvSpPr>
          <p:spPr>
            <a:xfrm>
              <a:off x="7955279" y="1783080"/>
              <a:ext cx="3429000" cy="988060"/>
            </a:xfrm>
            <a:custGeom>
              <a:avLst/>
              <a:gdLst/>
              <a:ahLst/>
              <a:cxnLst/>
              <a:rect l="l" t="t" r="r" b="b"/>
              <a:pathLst>
                <a:path w="3429000" h="9880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3" y="933073"/>
                  </a:lnTo>
                  <a:lnTo>
                    <a:pt x="2428" y="933256"/>
                  </a:lnTo>
                  <a:lnTo>
                    <a:pt x="5410" y="942135"/>
                  </a:lnTo>
                  <a:lnTo>
                    <a:pt x="36360" y="977760"/>
                  </a:lnTo>
                  <a:lnTo>
                    <a:pt x="73075" y="987475"/>
                  </a:lnTo>
                  <a:lnTo>
                    <a:pt x="3355924" y="987120"/>
                  </a:lnTo>
                  <a:lnTo>
                    <a:pt x="3400294" y="972021"/>
                  </a:lnTo>
                  <a:lnTo>
                    <a:pt x="3426509" y="933256"/>
                  </a:lnTo>
                  <a:lnTo>
                    <a:pt x="3426571" y="933073"/>
                  </a:lnTo>
                  <a:lnTo>
                    <a:pt x="3428353" y="923878"/>
                  </a:lnTo>
                  <a:lnTo>
                    <a:pt x="3428392" y="923676"/>
                  </a:lnTo>
                  <a:lnTo>
                    <a:pt x="3428977" y="914400"/>
                  </a:lnTo>
                  <a:lnTo>
                    <a:pt x="3429000" y="914044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955279" y="1783080"/>
              <a:ext cx="3429000" cy="988060"/>
            </a:xfrm>
            <a:custGeom>
              <a:avLst/>
              <a:gdLst/>
              <a:ahLst/>
              <a:cxnLst/>
              <a:rect l="l" t="t" r="r" b="b"/>
              <a:pathLst>
                <a:path w="3429000" h="9880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914044"/>
                  </a:lnTo>
                  <a:lnTo>
                    <a:pt x="3428392" y="923676"/>
                  </a:lnTo>
                  <a:lnTo>
                    <a:pt x="3426571" y="933073"/>
                  </a:lnTo>
                  <a:lnTo>
                    <a:pt x="3400294" y="972021"/>
                  </a:lnTo>
                  <a:lnTo>
                    <a:pt x="3355924" y="987120"/>
                  </a:lnTo>
                  <a:lnTo>
                    <a:pt x="73075" y="987475"/>
                  </a:lnTo>
                  <a:lnTo>
                    <a:pt x="28555" y="972378"/>
                  </a:lnTo>
                  <a:lnTo>
                    <a:pt x="2428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954924" y="1783080"/>
              <a:ext cx="64135" cy="987425"/>
            </a:xfrm>
            <a:custGeom>
              <a:avLst/>
              <a:gdLst/>
              <a:ahLst/>
              <a:cxnLst/>
              <a:rect l="l" t="t" r="r" b="b"/>
              <a:pathLst>
                <a:path w="64134" h="987425">
                  <a:moveTo>
                    <a:pt x="63715" y="0"/>
                  </a:moveTo>
                  <a:lnTo>
                    <a:pt x="0" y="0"/>
                  </a:lnTo>
                  <a:lnTo>
                    <a:pt x="0" y="987120"/>
                  </a:lnTo>
                  <a:lnTo>
                    <a:pt x="32029" y="987120"/>
                  </a:lnTo>
                  <a:lnTo>
                    <a:pt x="63715" y="9871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954924" y="1783080"/>
              <a:ext cx="64135" cy="987425"/>
            </a:xfrm>
            <a:custGeom>
              <a:avLst/>
              <a:gdLst/>
              <a:ahLst/>
              <a:cxnLst/>
              <a:rect l="l" t="t" r="r" b="b"/>
              <a:pathLst>
                <a:path w="64134" h="987425">
                  <a:moveTo>
                    <a:pt x="32029" y="987120"/>
                  </a:moveTo>
                  <a:lnTo>
                    <a:pt x="0" y="9871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87120"/>
                  </a:lnTo>
                  <a:lnTo>
                    <a:pt x="32029" y="98712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8143455" y="1968385"/>
            <a:ext cx="4013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VNet</a:t>
            </a:r>
            <a:endParaRPr sz="13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43823" y="2271141"/>
            <a:ext cx="72390" cy="1822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96097" y="2292019"/>
            <a:ext cx="2602865" cy="339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0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IP</a:t>
            </a:r>
            <a:r>
              <a:rPr dirty="0" sz="10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communication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space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its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own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address</a:t>
            </a:r>
            <a:r>
              <a:rPr dirty="0" sz="10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ranges.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93844" y="2856915"/>
            <a:ext cx="2278380" cy="632460"/>
            <a:chOff x="4493844" y="2856915"/>
            <a:chExt cx="2278380" cy="632460"/>
          </a:xfrm>
        </p:grpSpPr>
        <p:sp>
          <p:nvSpPr>
            <p:cNvPr id="29" name="object 29"/>
            <p:cNvSpPr/>
            <p:nvPr/>
          </p:nvSpPr>
          <p:spPr>
            <a:xfrm>
              <a:off x="4498924" y="2861995"/>
              <a:ext cx="2268220" cy="622300"/>
            </a:xfrm>
            <a:custGeom>
              <a:avLst/>
              <a:gdLst/>
              <a:ahLst/>
              <a:cxnLst/>
              <a:rect l="l" t="t" r="r" b="b"/>
              <a:pathLst>
                <a:path w="2268220" h="622300">
                  <a:moveTo>
                    <a:pt x="2212555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567004"/>
                  </a:lnTo>
                  <a:lnTo>
                    <a:pt x="452" y="573857"/>
                  </a:lnTo>
                  <a:lnTo>
                    <a:pt x="466" y="574062"/>
                  </a:lnTo>
                  <a:lnTo>
                    <a:pt x="1799" y="580864"/>
                  </a:lnTo>
                  <a:lnTo>
                    <a:pt x="1843" y="581086"/>
                  </a:lnTo>
                  <a:lnTo>
                    <a:pt x="27355" y="614527"/>
                  </a:lnTo>
                  <a:lnTo>
                    <a:pt x="48008" y="621360"/>
                  </a:lnTo>
                  <a:lnTo>
                    <a:pt x="49037" y="621360"/>
                  </a:lnTo>
                  <a:lnTo>
                    <a:pt x="54711" y="621728"/>
                  </a:lnTo>
                  <a:lnTo>
                    <a:pt x="2212911" y="621360"/>
                  </a:lnTo>
                  <a:lnTo>
                    <a:pt x="2251571" y="605434"/>
                  </a:lnTo>
                  <a:lnTo>
                    <a:pt x="2265718" y="581086"/>
                  </a:lnTo>
                  <a:lnTo>
                    <a:pt x="2265792" y="580864"/>
                  </a:lnTo>
                  <a:lnTo>
                    <a:pt x="2267129" y="574062"/>
                  </a:lnTo>
                  <a:lnTo>
                    <a:pt x="2267169" y="573857"/>
                  </a:lnTo>
                  <a:lnTo>
                    <a:pt x="2267612" y="567004"/>
                  </a:lnTo>
                  <a:lnTo>
                    <a:pt x="2267280" y="54724"/>
                  </a:lnTo>
                  <a:lnTo>
                    <a:pt x="2251343" y="16070"/>
                  </a:lnTo>
                  <a:lnTo>
                    <a:pt x="2219764" y="467"/>
                  </a:lnTo>
                  <a:lnTo>
                    <a:pt x="2212555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98924" y="2861995"/>
              <a:ext cx="2268220" cy="622300"/>
            </a:xfrm>
            <a:custGeom>
              <a:avLst/>
              <a:gdLst/>
              <a:ahLst/>
              <a:cxnLst/>
              <a:rect l="l" t="t" r="r" b="b"/>
              <a:pathLst>
                <a:path w="2268220" h="62230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212555" y="0"/>
                  </a:lnTo>
                  <a:lnTo>
                    <a:pt x="2251343" y="16070"/>
                  </a:lnTo>
                  <a:lnTo>
                    <a:pt x="2267280" y="54724"/>
                  </a:lnTo>
                  <a:lnTo>
                    <a:pt x="2267635" y="566648"/>
                  </a:lnTo>
                  <a:lnTo>
                    <a:pt x="2267169" y="573857"/>
                  </a:lnTo>
                  <a:lnTo>
                    <a:pt x="2265792" y="580864"/>
                  </a:lnTo>
                  <a:lnTo>
                    <a:pt x="2240279" y="614159"/>
                  </a:lnTo>
                  <a:lnTo>
                    <a:pt x="54711" y="621728"/>
                  </a:lnTo>
                  <a:lnTo>
                    <a:pt x="15925" y="605658"/>
                  </a:lnTo>
                  <a:lnTo>
                    <a:pt x="0" y="567004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B7E4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918938" y="3076460"/>
            <a:ext cx="14249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0A5A5"/>
                </a:solidFill>
                <a:latin typeface="Arial"/>
                <a:cs typeface="Arial"/>
              </a:rPr>
              <a:t>Private</a:t>
            </a:r>
            <a:r>
              <a:rPr dirty="0" sz="1100" spc="-3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0A5A5"/>
                </a:solidFill>
                <a:latin typeface="Arial"/>
                <a:cs typeface="Arial"/>
              </a:rPr>
              <a:t>workload</a:t>
            </a:r>
            <a:r>
              <a:rPr dirty="0" sz="1100" spc="-3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00A5A5"/>
                </a:solidFill>
                <a:latin typeface="Arial"/>
                <a:cs typeface="Arial"/>
              </a:rPr>
              <a:t>NIC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595124" y="3494515"/>
            <a:ext cx="76200" cy="163195"/>
            <a:chOff x="5595124" y="3494515"/>
            <a:chExt cx="76200" cy="163195"/>
          </a:xfrm>
        </p:grpSpPr>
        <p:sp>
          <p:nvSpPr>
            <p:cNvPr id="37" name="object 37"/>
            <p:cNvSpPr/>
            <p:nvPr/>
          </p:nvSpPr>
          <p:spPr>
            <a:xfrm>
              <a:off x="5632564" y="3502075"/>
              <a:ext cx="635" cy="85090"/>
            </a:xfrm>
            <a:custGeom>
              <a:avLst/>
              <a:gdLst/>
              <a:ahLst/>
              <a:cxnLst/>
              <a:rect l="l" t="t" r="r" b="b"/>
              <a:pathLst>
                <a:path w="635" h="85089">
                  <a:moveTo>
                    <a:pt x="0" y="0"/>
                  </a:moveTo>
                  <a:lnTo>
                    <a:pt x="355" y="84962"/>
                  </a:lnTo>
                </a:path>
              </a:pathLst>
            </a:custGeom>
            <a:ln w="1511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95124" y="35819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7948624" y="2965500"/>
            <a:ext cx="3441065" cy="1000125"/>
            <a:chOff x="7948624" y="2965500"/>
            <a:chExt cx="3441065" cy="1000125"/>
          </a:xfrm>
        </p:grpSpPr>
        <p:sp>
          <p:nvSpPr>
            <p:cNvPr id="48" name="object 48"/>
            <p:cNvSpPr/>
            <p:nvPr/>
          </p:nvSpPr>
          <p:spPr>
            <a:xfrm>
              <a:off x="7955279" y="2971800"/>
              <a:ext cx="3429000" cy="988060"/>
            </a:xfrm>
            <a:custGeom>
              <a:avLst/>
              <a:gdLst/>
              <a:ahLst/>
              <a:cxnLst/>
              <a:rect l="l" t="t" r="r" b="b"/>
              <a:pathLst>
                <a:path w="3429000" h="9880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400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3" y="933073"/>
                  </a:lnTo>
                  <a:lnTo>
                    <a:pt x="2428" y="933256"/>
                  </a:lnTo>
                  <a:lnTo>
                    <a:pt x="5410" y="942135"/>
                  </a:lnTo>
                  <a:lnTo>
                    <a:pt x="36360" y="977760"/>
                  </a:lnTo>
                  <a:lnTo>
                    <a:pt x="73075" y="987475"/>
                  </a:lnTo>
                  <a:lnTo>
                    <a:pt x="3355924" y="987120"/>
                  </a:lnTo>
                  <a:lnTo>
                    <a:pt x="3400294" y="972021"/>
                  </a:lnTo>
                  <a:lnTo>
                    <a:pt x="3426509" y="933256"/>
                  </a:lnTo>
                  <a:lnTo>
                    <a:pt x="3426571" y="933073"/>
                  </a:lnTo>
                  <a:lnTo>
                    <a:pt x="3428353" y="923878"/>
                  </a:lnTo>
                  <a:lnTo>
                    <a:pt x="3428392" y="923676"/>
                  </a:lnTo>
                  <a:lnTo>
                    <a:pt x="3428977" y="914400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955279" y="2971800"/>
              <a:ext cx="3429000" cy="988060"/>
            </a:xfrm>
            <a:custGeom>
              <a:avLst/>
              <a:gdLst/>
              <a:ahLst/>
              <a:cxnLst/>
              <a:rect l="l" t="t" r="r" b="b"/>
              <a:pathLst>
                <a:path w="3429000" h="9880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914044"/>
                  </a:lnTo>
                  <a:lnTo>
                    <a:pt x="3428392" y="923676"/>
                  </a:lnTo>
                  <a:lnTo>
                    <a:pt x="3426571" y="933073"/>
                  </a:lnTo>
                  <a:lnTo>
                    <a:pt x="3400294" y="972021"/>
                  </a:lnTo>
                  <a:lnTo>
                    <a:pt x="3355924" y="987120"/>
                  </a:lnTo>
                  <a:lnTo>
                    <a:pt x="73075" y="987475"/>
                  </a:lnTo>
                  <a:lnTo>
                    <a:pt x="28555" y="972378"/>
                  </a:lnTo>
                  <a:lnTo>
                    <a:pt x="2428" y="933256"/>
                  </a:lnTo>
                  <a:lnTo>
                    <a:pt x="0" y="914400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954924" y="2971800"/>
              <a:ext cx="64135" cy="987425"/>
            </a:xfrm>
            <a:custGeom>
              <a:avLst/>
              <a:gdLst/>
              <a:ahLst/>
              <a:cxnLst/>
              <a:rect l="l" t="t" r="r" b="b"/>
              <a:pathLst>
                <a:path w="64134" h="987425">
                  <a:moveTo>
                    <a:pt x="63715" y="0"/>
                  </a:moveTo>
                  <a:lnTo>
                    <a:pt x="0" y="0"/>
                  </a:lnTo>
                  <a:lnTo>
                    <a:pt x="0" y="987120"/>
                  </a:lnTo>
                  <a:lnTo>
                    <a:pt x="32029" y="987120"/>
                  </a:lnTo>
                  <a:lnTo>
                    <a:pt x="63715" y="9871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954924" y="2971800"/>
              <a:ext cx="64135" cy="987425"/>
            </a:xfrm>
            <a:custGeom>
              <a:avLst/>
              <a:gdLst/>
              <a:ahLst/>
              <a:cxnLst/>
              <a:rect l="l" t="t" r="r" b="b"/>
              <a:pathLst>
                <a:path w="64134" h="987425">
                  <a:moveTo>
                    <a:pt x="32029" y="987120"/>
                  </a:moveTo>
                  <a:lnTo>
                    <a:pt x="0" y="9871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87120"/>
                  </a:lnTo>
                  <a:lnTo>
                    <a:pt x="32029" y="98712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8143455" y="3157105"/>
            <a:ext cx="58420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Subnet</a:t>
            </a:r>
            <a:endParaRPr sz="13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43823" y="3459860"/>
            <a:ext cx="72390" cy="1822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296097" y="3480739"/>
            <a:ext cx="2816225" cy="339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0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logical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segment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of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VNet.</a:t>
            </a:r>
            <a:r>
              <a:rPr dirty="0" sz="10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NSGs</a:t>
            </a:r>
            <a:r>
              <a:rPr dirty="0" sz="10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routes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0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10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associated</a:t>
            </a:r>
            <a:r>
              <a:rPr dirty="0" sz="10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here.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493844" y="3670884"/>
            <a:ext cx="2278380" cy="632460"/>
            <a:chOff x="4493844" y="3670884"/>
            <a:chExt cx="2278380" cy="632460"/>
          </a:xfrm>
        </p:grpSpPr>
        <p:sp>
          <p:nvSpPr>
            <p:cNvPr id="33" name="object 33"/>
            <p:cNvSpPr/>
            <p:nvPr/>
          </p:nvSpPr>
          <p:spPr>
            <a:xfrm>
              <a:off x="4498924" y="3675964"/>
              <a:ext cx="2268220" cy="622300"/>
            </a:xfrm>
            <a:custGeom>
              <a:avLst/>
              <a:gdLst/>
              <a:ahLst/>
              <a:cxnLst/>
              <a:rect l="l" t="t" r="r" b="b"/>
              <a:pathLst>
                <a:path w="2268220" h="622300">
                  <a:moveTo>
                    <a:pt x="2212555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566991"/>
                  </a:lnTo>
                  <a:lnTo>
                    <a:pt x="3994" y="587590"/>
                  </a:lnTo>
                  <a:lnTo>
                    <a:pt x="4098" y="587906"/>
                  </a:lnTo>
                  <a:lnTo>
                    <a:pt x="33757" y="617617"/>
                  </a:lnTo>
                  <a:lnTo>
                    <a:pt x="48065" y="621360"/>
                  </a:lnTo>
                  <a:lnTo>
                    <a:pt x="49212" y="621360"/>
                  </a:lnTo>
                  <a:lnTo>
                    <a:pt x="54711" y="621715"/>
                  </a:lnTo>
                  <a:lnTo>
                    <a:pt x="2212911" y="621360"/>
                  </a:lnTo>
                  <a:lnTo>
                    <a:pt x="2251571" y="605423"/>
                  </a:lnTo>
                  <a:lnTo>
                    <a:pt x="2265716" y="581080"/>
                  </a:lnTo>
                  <a:lnTo>
                    <a:pt x="2265792" y="580851"/>
                  </a:lnTo>
                  <a:lnTo>
                    <a:pt x="2267128" y="574052"/>
                  </a:lnTo>
                  <a:lnTo>
                    <a:pt x="2267169" y="573844"/>
                  </a:lnTo>
                  <a:lnTo>
                    <a:pt x="2267612" y="566991"/>
                  </a:lnTo>
                  <a:lnTo>
                    <a:pt x="2267280" y="54711"/>
                  </a:lnTo>
                  <a:lnTo>
                    <a:pt x="2251343" y="16059"/>
                  </a:lnTo>
                  <a:lnTo>
                    <a:pt x="2219764" y="466"/>
                  </a:lnTo>
                  <a:lnTo>
                    <a:pt x="2212555" y="0"/>
                  </a:lnTo>
                  <a:close/>
                </a:path>
              </a:pathLst>
            </a:custGeom>
            <a:solidFill>
              <a:srgbClr val="EDF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498924" y="3675964"/>
              <a:ext cx="2268220" cy="622300"/>
            </a:xfrm>
            <a:custGeom>
              <a:avLst/>
              <a:gdLst/>
              <a:ahLst/>
              <a:cxnLst/>
              <a:rect l="l" t="t" r="r" b="b"/>
              <a:pathLst>
                <a:path w="2268220" h="62230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212555" y="0"/>
                  </a:lnTo>
                  <a:lnTo>
                    <a:pt x="2251343" y="16059"/>
                  </a:lnTo>
                  <a:lnTo>
                    <a:pt x="2267280" y="54711"/>
                  </a:lnTo>
                  <a:lnTo>
                    <a:pt x="2267635" y="566635"/>
                  </a:lnTo>
                  <a:lnTo>
                    <a:pt x="2267169" y="573844"/>
                  </a:lnTo>
                  <a:lnTo>
                    <a:pt x="2265792" y="580851"/>
                  </a:lnTo>
                  <a:lnTo>
                    <a:pt x="2240279" y="614159"/>
                  </a:lnTo>
                  <a:lnTo>
                    <a:pt x="54711" y="621715"/>
                  </a:lnTo>
                  <a:lnTo>
                    <a:pt x="15925" y="605651"/>
                  </a:lnTo>
                  <a:lnTo>
                    <a:pt x="0" y="566991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930457" y="3890429"/>
            <a:ext cx="14014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1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1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data</a:t>
            </a:r>
            <a:r>
              <a:rPr dirty="0" sz="11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10243F"/>
                </a:solidFill>
                <a:latin typeface="Arial"/>
                <a:cs typeface="Arial"/>
              </a:rPr>
              <a:t>tier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948624" y="4154220"/>
            <a:ext cx="3441065" cy="1000125"/>
            <a:chOff x="7948624" y="4154220"/>
            <a:chExt cx="3441065" cy="1000125"/>
          </a:xfrm>
        </p:grpSpPr>
        <p:sp>
          <p:nvSpPr>
            <p:cNvPr id="56" name="object 56"/>
            <p:cNvSpPr/>
            <p:nvPr/>
          </p:nvSpPr>
          <p:spPr>
            <a:xfrm>
              <a:off x="7955279" y="4160519"/>
              <a:ext cx="3429000" cy="988060"/>
            </a:xfrm>
            <a:custGeom>
              <a:avLst/>
              <a:gdLst/>
              <a:ahLst/>
              <a:cxnLst/>
              <a:rect l="l" t="t" r="r" b="b"/>
              <a:pathLst>
                <a:path w="3429000" h="9880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14399"/>
                  </a:lnTo>
                  <a:lnTo>
                    <a:pt x="594" y="923676"/>
                  </a:lnTo>
                  <a:lnTo>
                    <a:pt x="607" y="923878"/>
                  </a:lnTo>
                  <a:lnTo>
                    <a:pt x="2393" y="933073"/>
                  </a:lnTo>
                  <a:lnTo>
                    <a:pt x="2428" y="933256"/>
                  </a:lnTo>
                  <a:lnTo>
                    <a:pt x="5410" y="942135"/>
                  </a:lnTo>
                  <a:lnTo>
                    <a:pt x="36360" y="977760"/>
                  </a:lnTo>
                  <a:lnTo>
                    <a:pt x="73075" y="987475"/>
                  </a:lnTo>
                  <a:lnTo>
                    <a:pt x="3355924" y="987120"/>
                  </a:lnTo>
                  <a:lnTo>
                    <a:pt x="3400294" y="972021"/>
                  </a:lnTo>
                  <a:lnTo>
                    <a:pt x="3426509" y="933256"/>
                  </a:lnTo>
                  <a:lnTo>
                    <a:pt x="3426571" y="933073"/>
                  </a:lnTo>
                  <a:lnTo>
                    <a:pt x="3428353" y="923878"/>
                  </a:lnTo>
                  <a:lnTo>
                    <a:pt x="3428392" y="923676"/>
                  </a:lnTo>
                  <a:lnTo>
                    <a:pt x="3428977" y="914399"/>
                  </a:lnTo>
                  <a:lnTo>
                    <a:pt x="3428644" y="73075"/>
                  </a:lnTo>
                  <a:lnTo>
                    <a:pt x="3413540" y="28705"/>
                  </a:lnTo>
                  <a:lnTo>
                    <a:pt x="3374596" y="2428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955279" y="4160519"/>
              <a:ext cx="3429000" cy="988060"/>
            </a:xfrm>
            <a:custGeom>
              <a:avLst/>
              <a:gdLst/>
              <a:ahLst/>
              <a:cxnLst/>
              <a:rect l="l" t="t" r="r" b="b"/>
              <a:pathLst>
                <a:path w="3429000" h="9880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4"/>
                  </a:lnTo>
                  <a:lnTo>
                    <a:pt x="3426213" y="54224"/>
                  </a:lnTo>
                  <a:lnTo>
                    <a:pt x="3428644" y="73075"/>
                  </a:lnTo>
                  <a:lnTo>
                    <a:pt x="3429000" y="914044"/>
                  </a:lnTo>
                  <a:lnTo>
                    <a:pt x="3428392" y="923676"/>
                  </a:lnTo>
                  <a:lnTo>
                    <a:pt x="3426571" y="933073"/>
                  </a:lnTo>
                  <a:lnTo>
                    <a:pt x="3400294" y="972021"/>
                  </a:lnTo>
                  <a:lnTo>
                    <a:pt x="3355924" y="987120"/>
                  </a:lnTo>
                  <a:lnTo>
                    <a:pt x="73075" y="987475"/>
                  </a:lnTo>
                  <a:lnTo>
                    <a:pt x="28555" y="972378"/>
                  </a:lnTo>
                  <a:lnTo>
                    <a:pt x="2428" y="933256"/>
                  </a:lnTo>
                  <a:lnTo>
                    <a:pt x="0" y="914399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954924" y="4160519"/>
              <a:ext cx="64135" cy="987425"/>
            </a:xfrm>
            <a:custGeom>
              <a:avLst/>
              <a:gdLst/>
              <a:ahLst/>
              <a:cxnLst/>
              <a:rect l="l" t="t" r="r" b="b"/>
              <a:pathLst>
                <a:path w="64134" h="987425">
                  <a:moveTo>
                    <a:pt x="63715" y="0"/>
                  </a:moveTo>
                  <a:lnTo>
                    <a:pt x="0" y="0"/>
                  </a:lnTo>
                  <a:lnTo>
                    <a:pt x="0" y="987120"/>
                  </a:lnTo>
                  <a:lnTo>
                    <a:pt x="32029" y="987120"/>
                  </a:lnTo>
                  <a:lnTo>
                    <a:pt x="63715" y="9871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954924" y="4160519"/>
              <a:ext cx="64135" cy="987425"/>
            </a:xfrm>
            <a:custGeom>
              <a:avLst/>
              <a:gdLst/>
              <a:ahLst/>
              <a:cxnLst/>
              <a:rect l="l" t="t" r="r" b="b"/>
              <a:pathLst>
                <a:path w="64134" h="987425">
                  <a:moveTo>
                    <a:pt x="32029" y="987120"/>
                  </a:moveTo>
                  <a:lnTo>
                    <a:pt x="0" y="9871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87120"/>
                  </a:lnTo>
                  <a:lnTo>
                    <a:pt x="32029" y="98712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8143455" y="4345825"/>
            <a:ext cx="6026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NIC</a:t>
            </a:r>
            <a:r>
              <a:rPr dirty="0" sz="13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10243F"/>
                </a:solidFill>
                <a:latin typeface="Arial"/>
                <a:cs typeface="Arial"/>
              </a:rPr>
              <a:t>IP</a:t>
            </a:r>
            <a:endParaRPr sz="13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43823" y="4648580"/>
            <a:ext cx="7239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96097" y="4669459"/>
            <a:ext cx="2908300" cy="339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0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NIC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connects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0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subnet;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IP</a:t>
            </a:r>
            <a:r>
              <a:rPr dirty="0" sz="10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39495F"/>
                </a:solidFill>
                <a:latin typeface="Arial"/>
                <a:cs typeface="Arial"/>
              </a:rPr>
              <a:t>a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separate</a:t>
            </a:r>
            <a:r>
              <a:rPr dirty="0" sz="1000" spc="1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reachability</a:t>
            </a:r>
            <a:r>
              <a:rPr dirty="0" sz="1000" spc="114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choice.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64" name="object 6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572300" y="6000381"/>
            <a:ext cx="664337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“private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subnet”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design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routing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choice;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does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automatically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mean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all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egress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configured.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4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Virtual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networks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virtual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machines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in</a:t>
            </a:r>
            <a:r>
              <a:rPr dirty="0" sz="700" spc="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Azure.</a:t>
            </a:r>
            <a:endParaRPr sz="70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06311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Trace</a:t>
            </a:r>
            <a:r>
              <a:rPr dirty="0" spc="-40"/>
              <a:t> </a:t>
            </a:r>
            <a:r>
              <a:rPr dirty="0"/>
              <a:t>traffic</a:t>
            </a:r>
            <a:r>
              <a:rPr dirty="0" spc="-40"/>
              <a:t> </a:t>
            </a:r>
            <a:r>
              <a:rPr dirty="0"/>
              <a:t>one</a:t>
            </a:r>
            <a:r>
              <a:rPr dirty="0" spc="-35"/>
              <a:t> </a:t>
            </a:r>
            <a:r>
              <a:rPr dirty="0"/>
              <a:t>layer</a:t>
            </a:r>
            <a:r>
              <a:rPr dirty="0" spc="-45"/>
              <a:t> </a:t>
            </a:r>
            <a:r>
              <a:rPr dirty="0"/>
              <a:t>at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2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8012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each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failed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connection,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draw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intended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path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test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each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gate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order.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91540" y="1625307"/>
            <a:ext cx="19507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0077D3"/>
                </a:solidFill>
                <a:latin typeface="Arial"/>
                <a:cs typeface="Arial"/>
              </a:rPr>
              <a:t>INBOUND:</a:t>
            </a:r>
            <a:r>
              <a:rPr dirty="0" sz="1000" spc="1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00" spc="60" b="1">
                <a:solidFill>
                  <a:srgbClr val="0077D3"/>
                </a:solidFill>
                <a:latin typeface="Arial"/>
                <a:cs typeface="Arial"/>
              </a:rPr>
              <a:t>ENGINEER</a:t>
            </a:r>
            <a:r>
              <a:rPr dirty="0" sz="1000" spc="1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77D3"/>
                </a:solidFill>
                <a:latin typeface="Arial"/>
                <a:cs typeface="Arial"/>
              </a:rPr>
              <a:t>→</a:t>
            </a:r>
            <a:r>
              <a:rPr dirty="0" sz="1000" spc="1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077D3"/>
                </a:solidFill>
                <a:latin typeface="Arial"/>
                <a:cs typeface="Arial"/>
              </a:rPr>
              <a:t>VM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9515" y="1960879"/>
            <a:ext cx="1427480" cy="942975"/>
            <a:chOff x="799515" y="1960879"/>
            <a:chExt cx="1427480" cy="942975"/>
          </a:xfrm>
        </p:grpSpPr>
        <p:sp>
          <p:nvSpPr>
            <p:cNvPr id="8" name="object 8"/>
            <p:cNvSpPr/>
            <p:nvPr/>
          </p:nvSpPr>
          <p:spPr>
            <a:xfrm>
              <a:off x="804595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79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4" y="884892"/>
                  </a:lnTo>
                  <a:lnTo>
                    <a:pt x="467" y="885098"/>
                  </a:lnTo>
                  <a:lnTo>
                    <a:pt x="1804" y="891900"/>
                  </a:lnTo>
                  <a:lnTo>
                    <a:pt x="1847" y="892122"/>
                  </a:lnTo>
                  <a:lnTo>
                    <a:pt x="4003" y="898638"/>
                  </a:lnTo>
                  <a:lnTo>
                    <a:pt x="33769" y="928660"/>
                  </a:lnTo>
                  <a:lnTo>
                    <a:pt x="48021" y="932395"/>
                  </a:lnTo>
                  <a:lnTo>
                    <a:pt x="49050" y="932395"/>
                  </a:lnTo>
                  <a:lnTo>
                    <a:pt x="54724" y="932764"/>
                  </a:lnTo>
                  <a:lnTo>
                    <a:pt x="1362608" y="932395"/>
                  </a:lnTo>
                  <a:lnTo>
                    <a:pt x="1401260" y="916470"/>
                  </a:lnTo>
                  <a:lnTo>
                    <a:pt x="1417297" y="878039"/>
                  </a:lnTo>
                  <a:lnTo>
                    <a:pt x="1417320" y="877684"/>
                  </a:lnTo>
                  <a:lnTo>
                    <a:pt x="1416964" y="54724"/>
                  </a:lnTo>
                  <a:lnTo>
                    <a:pt x="1401038" y="16063"/>
                  </a:lnTo>
                  <a:lnTo>
                    <a:pt x="1369456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04595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362240" y="0"/>
                  </a:lnTo>
                  <a:lnTo>
                    <a:pt x="1401038" y="16063"/>
                  </a:lnTo>
                  <a:lnTo>
                    <a:pt x="1416964" y="54724"/>
                  </a:lnTo>
                  <a:lnTo>
                    <a:pt x="1417320" y="877684"/>
                  </a:lnTo>
                  <a:lnTo>
                    <a:pt x="1416853" y="884892"/>
                  </a:lnTo>
                  <a:lnTo>
                    <a:pt x="1415476" y="891900"/>
                  </a:lnTo>
                  <a:lnTo>
                    <a:pt x="1389964" y="925194"/>
                  </a:lnTo>
                  <a:lnTo>
                    <a:pt x="54724" y="932764"/>
                  </a:lnTo>
                  <a:lnTo>
                    <a:pt x="15936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26985" y="2257094"/>
            <a:ext cx="970915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5115">
              <a:lnSpc>
                <a:spcPct val="101699"/>
              </a:lnSpc>
              <a:spcBef>
                <a:spcPts val="95"/>
              </a:spcBef>
            </a:pP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Client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Your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source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 IP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30437" y="1960879"/>
            <a:ext cx="1771014" cy="942975"/>
            <a:chOff x="2230437" y="1960879"/>
            <a:chExt cx="1771014" cy="942975"/>
          </a:xfrm>
        </p:grpSpPr>
        <p:sp>
          <p:nvSpPr>
            <p:cNvPr id="12" name="object 12"/>
            <p:cNvSpPr/>
            <p:nvPr/>
          </p:nvSpPr>
          <p:spPr>
            <a:xfrm>
              <a:off x="2240279" y="2432164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1754" y="355"/>
                  </a:lnTo>
                </a:path>
              </a:pathLst>
            </a:custGeom>
            <a:ln w="19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57005" y="239472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78684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3997" y="898638"/>
                  </a:lnTo>
                  <a:lnTo>
                    <a:pt x="4098" y="898944"/>
                  </a:lnTo>
                  <a:lnTo>
                    <a:pt x="7200" y="905395"/>
                  </a:lnTo>
                  <a:lnTo>
                    <a:pt x="40495" y="930916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1362595" y="932395"/>
                  </a:lnTo>
                  <a:lnTo>
                    <a:pt x="1401249" y="916470"/>
                  </a:lnTo>
                  <a:lnTo>
                    <a:pt x="1415397" y="892122"/>
                  </a:lnTo>
                  <a:lnTo>
                    <a:pt x="1415472" y="891900"/>
                  </a:lnTo>
                  <a:lnTo>
                    <a:pt x="1416811" y="885098"/>
                  </a:lnTo>
                  <a:lnTo>
                    <a:pt x="1416852" y="884892"/>
                  </a:lnTo>
                  <a:lnTo>
                    <a:pt x="1417296" y="878039"/>
                  </a:lnTo>
                  <a:lnTo>
                    <a:pt x="1416951" y="54724"/>
                  </a:lnTo>
                  <a:lnTo>
                    <a:pt x="1401025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78684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362240" y="0"/>
                  </a:lnTo>
                  <a:lnTo>
                    <a:pt x="1401025" y="16063"/>
                  </a:lnTo>
                  <a:lnTo>
                    <a:pt x="1416951" y="54724"/>
                  </a:lnTo>
                  <a:lnTo>
                    <a:pt x="1417320" y="877684"/>
                  </a:lnTo>
                  <a:lnTo>
                    <a:pt x="1416852" y="884892"/>
                  </a:lnTo>
                  <a:lnTo>
                    <a:pt x="1415472" y="891900"/>
                  </a:lnTo>
                  <a:lnTo>
                    <a:pt x="1389951" y="925194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35693" y="2175738"/>
            <a:ext cx="702945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1270">
              <a:lnSpc>
                <a:spcPct val="101699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50" spc="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IP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Reachable endpoint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04157" y="1960879"/>
            <a:ext cx="1771014" cy="942975"/>
            <a:chOff x="4004157" y="1960879"/>
            <a:chExt cx="1771014" cy="942975"/>
          </a:xfrm>
        </p:grpSpPr>
        <p:sp>
          <p:nvSpPr>
            <p:cNvPr id="18" name="object 18"/>
            <p:cNvSpPr/>
            <p:nvPr/>
          </p:nvSpPr>
          <p:spPr>
            <a:xfrm>
              <a:off x="4014000" y="2432164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23" y="355"/>
                  </a:lnTo>
                </a:path>
              </a:pathLst>
            </a:custGeom>
            <a:ln w="19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31081" y="239472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52404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27355" y="925563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1362595" y="932395"/>
                  </a:lnTo>
                  <a:lnTo>
                    <a:pt x="1401249" y="916470"/>
                  </a:lnTo>
                  <a:lnTo>
                    <a:pt x="1415397" y="892122"/>
                  </a:lnTo>
                  <a:lnTo>
                    <a:pt x="1415472" y="891900"/>
                  </a:lnTo>
                  <a:lnTo>
                    <a:pt x="1416811" y="885098"/>
                  </a:lnTo>
                  <a:lnTo>
                    <a:pt x="1416852" y="884892"/>
                  </a:lnTo>
                  <a:lnTo>
                    <a:pt x="1417296" y="878039"/>
                  </a:lnTo>
                  <a:lnTo>
                    <a:pt x="1416951" y="54724"/>
                  </a:lnTo>
                  <a:lnTo>
                    <a:pt x="1401025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52404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362240" y="0"/>
                  </a:lnTo>
                  <a:lnTo>
                    <a:pt x="1401025" y="16063"/>
                  </a:lnTo>
                  <a:lnTo>
                    <a:pt x="1416951" y="54724"/>
                  </a:lnTo>
                  <a:lnTo>
                    <a:pt x="1417320" y="877684"/>
                  </a:lnTo>
                  <a:lnTo>
                    <a:pt x="1416852" y="884892"/>
                  </a:lnTo>
                  <a:lnTo>
                    <a:pt x="1415472" y="891900"/>
                  </a:lnTo>
                  <a:lnTo>
                    <a:pt x="1389951" y="925194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426826" y="2257094"/>
            <a:ext cx="126746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14"/>
              </a:spcBef>
            </a:pP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NSG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Rule</a:t>
            </a:r>
            <a:r>
              <a:rPr dirty="0" sz="1050" spc="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allows</a:t>
            </a:r>
            <a:r>
              <a:rPr dirty="0" sz="1050" spc="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TCP/22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78536" y="1960920"/>
            <a:ext cx="1770380" cy="942975"/>
            <a:chOff x="5778536" y="1960920"/>
            <a:chExt cx="1770380" cy="942975"/>
          </a:xfrm>
        </p:grpSpPr>
        <p:sp>
          <p:nvSpPr>
            <p:cNvPr id="24" name="object 24"/>
            <p:cNvSpPr/>
            <p:nvPr/>
          </p:nvSpPr>
          <p:spPr>
            <a:xfrm>
              <a:off x="5788075" y="2432164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23" y="355"/>
                  </a:lnTo>
                </a:path>
              </a:pathLst>
            </a:custGeom>
            <a:ln w="19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05156" y="239472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26480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27355" y="925563"/>
                  </a:lnTo>
                  <a:lnTo>
                    <a:pt x="48014" y="932395"/>
                  </a:lnTo>
                  <a:lnTo>
                    <a:pt x="49044" y="932395"/>
                  </a:lnTo>
                  <a:lnTo>
                    <a:pt x="54724" y="932764"/>
                  </a:lnTo>
                  <a:lnTo>
                    <a:pt x="1362595" y="932395"/>
                  </a:lnTo>
                  <a:lnTo>
                    <a:pt x="1401256" y="916470"/>
                  </a:lnTo>
                  <a:lnTo>
                    <a:pt x="1415402" y="892122"/>
                  </a:lnTo>
                  <a:lnTo>
                    <a:pt x="1415476" y="891900"/>
                  </a:lnTo>
                  <a:lnTo>
                    <a:pt x="1416813" y="885098"/>
                  </a:lnTo>
                  <a:lnTo>
                    <a:pt x="1416853" y="884892"/>
                  </a:lnTo>
                  <a:lnTo>
                    <a:pt x="1417297" y="878039"/>
                  </a:lnTo>
                  <a:lnTo>
                    <a:pt x="1417320" y="877684"/>
                  </a:lnTo>
                  <a:lnTo>
                    <a:pt x="1416964" y="54724"/>
                  </a:lnTo>
                  <a:lnTo>
                    <a:pt x="1401027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26480" y="1965959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362240" y="0"/>
                  </a:lnTo>
                  <a:lnTo>
                    <a:pt x="1401027" y="16063"/>
                  </a:lnTo>
                  <a:lnTo>
                    <a:pt x="1416964" y="54724"/>
                  </a:lnTo>
                  <a:lnTo>
                    <a:pt x="1417320" y="877684"/>
                  </a:lnTo>
                  <a:lnTo>
                    <a:pt x="1416853" y="884892"/>
                  </a:lnTo>
                  <a:lnTo>
                    <a:pt x="1415476" y="891900"/>
                  </a:lnTo>
                  <a:lnTo>
                    <a:pt x="1389964" y="925194"/>
                  </a:lnTo>
                  <a:lnTo>
                    <a:pt x="54724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387020" y="2257094"/>
            <a:ext cx="89535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50" spc="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050" spc="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050" spc="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050" spc="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service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1540" y="3499827"/>
            <a:ext cx="27171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 b="1">
                <a:solidFill>
                  <a:srgbClr val="00A5A5"/>
                </a:solidFill>
                <a:latin typeface="Arial"/>
                <a:cs typeface="Arial"/>
              </a:rPr>
              <a:t>OUTBOUND:</a:t>
            </a:r>
            <a:r>
              <a:rPr dirty="0" sz="1000" spc="2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A5A5"/>
                </a:solidFill>
                <a:latin typeface="Arial"/>
                <a:cs typeface="Arial"/>
              </a:rPr>
              <a:t>PRIVATE</a:t>
            </a:r>
            <a:r>
              <a:rPr dirty="0" sz="1000" spc="2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A5A5"/>
                </a:solidFill>
                <a:latin typeface="Arial"/>
                <a:cs typeface="Arial"/>
              </a:rPr>
              <a:t>VM</a:t>
            </a:r>
            <a:r>
              <a:rPr dirty="0" sz="1000" spc="24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A5A5"/>
                </a:solidFill>
                <a:latin typeface="Arial"/>
                <a:cs typeface="Arial"/>
              </a:rPr>
              <a:t>→</a:t>
            </a:r>
            <a:r>
              <a:rPr dirty="0" sz="1000" spc="23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000" spc="50" b="1">
                <a:solidFill>
                  <a:srgbClr val="00A5A5"/>
                </a:solidFill>
                <a:latin typeface="Arial"/>
                <a:cs typeface="Arial"/>
              </a:rPr>
              <a:t>INTERNET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99515" y="3835400"/>
            <a:ext cx="1427480" cy="942975"/>
            <a:chOff x="799515" y="3835400"/>
            <a:chExt cx="1427480" cy="942975"/>
          </a:xfrm>
        </p:grpSpPr>
        <p:sp>
          <p:nvSpPr>
            <p:cNvPr id="31" name="object 31"/>
            <p:cNvSpPr/>
            <p:nvPr/>
          </p:nvSpPr>
          <p:spPr>
            <a:xfrm>
              <a:off x="804595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79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4" y="884892"/>
                  </a:lnTo>
                  <a:lnTo>
                    <a:pt x="467" y="885098"/>
                  </a:lnTo>
                  <a:lnTo>
                    <a:pt x="1804" y="891900"/>
                  </a:lnTo>
                  <a:lnTo>
                    <a:pt x="1847" y="892122"/>
                  </a:lnTo>
                  <a:lnTo>
                    <a:pt x="4003" y="898638"/>
                  </a:lnTo>
                  <a:lnTo>
                    <a:pt x="33769" y="928660"/>
                  </a:lnTo>
                  <a:lnTo>
                    <a:pt x="48021" y="932395"/>
                  </a:lnTo>
                  <a:lnTo>
                    <a:pt x="49050" y="932395"/>
                  </a:lnTo>
                  <a:lnTo>
                    <a:pt x="54724" y="932764"/>
                  </a:lnTo>
                  <a:lnTo>
                    <a:pt x="1362608" y="932395"/>
                  </a:lnTo>
                  <a:lnTo>
                    <a:pt x="1401260" y="916470"/>
                  </a:lnTo>
                  <a:lnTo>
                    <a:pt x="1417297" y="878039"/>
                  </a:lnTo>
                  <a:lnTo>
                    <a:pt x="1417320" y="877684"/>
                  </a:lnTo>
                  <a:lnTo>
                    <a:pt x="1416964" y="54724"/>
                  </a:lnTo>
                  <a:lnTo>
                    <a:pt x="1401038" y="16063"/>
                  </a:lnTo>
                  <a:lnTo>
                    <a:pt x="1369456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4595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362240" y="0"/>
                  </a:lnTo>
                  <a:lnTo>
                    <a:pt x="1401038" y="16063"/>
                  </a:lnTo>
                  <a:lnTo>
                    <a:pt x="1416964" y="54724"/>
                  </a:lnTo>
                  <a:lnTo>
                    <a:pt x="1417320" y="877684"/>
                  </a:lnTo>
                  <a:lnTo>
                    <a:pt x="1416853" y="884892"/>
                  </a:lnTo>
                  <a:lnTo>
                    <a:pt x="1415476" y="891900"/>
                  </a:lnTo>
                  <a:lnTo>
                    <a:pt x="1389964" y="925195"/>
                  </a:lnTo>
                  <a:lnTo>
                    <a:pt x="54724" y="932764"/>
                  </a:lnTo>
                  <a:lnTo>
                    <a:pt x="15936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17701" y="4134497"/>
            <a:ext cx="79057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3815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05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VM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No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IP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30437" y="3835400"/>
            <a:ext cx="1771014" cy="942975"/>
            <a:chOff x="2230437" y="3835400"/>
            <a:chExt cx="1771014" cy="942975"/>
          </a:xfrm>
        </p:grpSpPr>
        <p:sp>
          <p:nvSpPr>
            <p:cNvPr id="35" name="object 35"/>
            <p:cNvSpPr/>
            <p:nvPr/>
          </p:nvSpPr>
          <p:spPr>
            <a:xfrm>
              <a:off x="2240279" y="4306684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1754" y="355"/>
                  </a:lnTo>
                </a:path>
              </a:pathLst>
            </a:custGeom>
            <a:ln w="1907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57005" y="426924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578684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27355" y="925563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1362595" y="932395"/>
                  </a:lnTo>
                  <a:lnTo>
                    <a:pt x="1401249" y="916470"/>
                  </a:lnTo>
                  <a:lnTo>
                    <a:pt x="1415397" y="892122"/>
                  </a:lnTo>
                  <a:lnTo>
                    <a:pt x="1415472" y="891900"/>
                  </a:lnTo>
                  <a:lnTo>
                    <a:pt x="1416811" y="885098"/>
                  </a:lnTo>
                  <a:lnTo>
                    <a:pt x="1416852" y="884892"/>
                  </a:lnTo>
                  <a:lnTo>
                    <a:pt x="1417296" y="878039"/>
                  </a:lnTo>
                  <a:lnTo>
                    <a:pt x="1416951" y="54724"/>
                  </a:lnTo>
                  <a:lnTo>
                    <a:pt x="1401025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578684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362240" y="0"/>
                  </a:lnTo>
                  <a:lnTo>
                    <a:pt x="1401025" y="16063"/>
                  </a:lnTo>
                  <a:lnTo>
                    <a:pt x="1416951" y="54724"/>
                  </a:lnTo>
                  <a:lnTo>
                    <a:pt x="1417320" y="877684"/>
                  </a:lnTo>
                  <a:lnTo>
                    <a:pt x="1416852" y="884892"/>
                  </a:lnTo>
                  <a:lnTo>
                    <a:pt x="1415472" y="891900"/>
                  </a:lnTo>
                  <a:lnTo>
                    <a:pt x="1389951" y="925195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2696654" y="4134497"/>
            <a:ext cx="118046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91135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Subnet</a:t>
            </a:r>
            <a:r>
              <a:rPr dirty="0" sz="105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NSG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Outbound</a:t>
            </a:r>
            <a:r>
              <a:rPr dirty="0" sz="10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allowed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004157" y="3835400"/>
            <a:ext cx="1771014" cy="942975"/>
            <a:chOff x="4004157" y="3835400"/>
            <a:chExt cx="1771014" cy="942975"/>
          </a:xfrm>
        </p:grpSpPr>
        <p:sp>
          <p:nvSpPr>
            <p:cNvPr id="41" name="object 41"/>
            <p:cNvSpPr/>
            <p:nvPr/>
          </p:nvSpPr>
          <p:spPr>
            <a:xfrm>
              <a:off x="4014000" y="4306684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23" y="355"/>
                  </a:lnTo>
                </a:path>
              </a:pathLst>
            </a:custGeom>
            <a:ln w="1907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231081" y="426924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352404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3997" y="898638"/>
                  </a:lnTo>
                  <a:lnTo>
                    <a:pt x="4098" y="898944"/>
                  </a:lnTo>
                  <a:lnTo>
                    <a:pt x="7200" y="905395"/>
                  </a:lnTo>
                  <a:lnTo>
                    <a:pt x="40495" y="930916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1362595" y="932395"/>
                  </a:lnTo>
                  <a:lnTo>
                    <a:pt x="1401249" y="916470"/>
                  </a:lnTo>
                  <a:lnTo>
                    <a:pt x="1415397" y="892122"/>
                  </a:lnTo>
                  <a:lnTo>
                    <a:pt x="1415472" y="891900"/>
                  </a:lnTo>
                  <a:lnTo>
                    <a:pt x="1416811" y="885098"/>
                  </a:lnTo>
                  <a:lnTo>
                    <a:pt x="1416852" y="884892"/>
                  </a:lnTo>
                  <a:lnTo>
                    <a:pt x="1417296" y="878039"/>
                  </a:lnTo>
                  <a:lnTo>
                    <a:pt x="1416951" y="54724"/>
                  </a:lnTo>
                  <a:lnTo>
                    <a:pt x="1401025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352404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362240" y="0"/>
                  </a:lnTo>
                  <a:lnTo>
                    <a:pt x="1401025" y="16063"/>
                  </a:lnTo>
                  <a:lnTo>
                    <a:pt x="1416951" y="54724"/>
                  </a:lnTo>
                  <a:lnTo>
                    <a:pt x="1417320" y="877684"/>
                  </a:lnTo>
                  <a:lnTo>
                    <a:pt x="1416852" y="884892"/>
                  </a:lnTo>
                  <a:lnTo>
                    <a:pt x="1415472" y="891900"/>
                  </a:lnTo>
                  <a:lnTo>
                    <a:pt x="1389951" y="925195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578743" y="4134497"/>
            <a:ext cx="96456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6990">
              <a:lnSpc>
                <a:spcPct val="100000"/>
              </a:lnSpc>
              <a:spcBef>
                <a:spcPts val="95"/>
              </a:spcBef>
            </a:pP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NAT</a:t>
            </a:r>
            <a:r>
              <a:rPr dirty="0" sz="105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Gateway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SNAT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IP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778536" y="3835440"/>
            <a:ext cx="1770380" cy="942975"/>
            <a:chOff x="5778536" y="3835440"/>
            <a:chExt cx="1770380" cy="942975"/>
          </a:xfrm>
        </p:grpSpPr>
        <p:sp>
          <p:nvSpPr>
            <p:cNvPr id="47" name="object 47"/>
            <p:cNvSpPr/>
            <p:nvPr/>
          </p:nvSpPr>
          <p:spPr>
            <a:xfrm>
              <a:off x="5788075" y="4306684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23" y="355"/>
                  </a:lnTo>
                </a:path>
              </a:pathLst>
            </a:custGeom>
            <a:ln w="1907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005156" y="426924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126480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136224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3997" y="898638"/>
                  </a:lnTo>
                  <a:lnTo>
                    <a:pt x="4098" y="898944"/>
                  </a:lnTo>
                  <a:lnTo>
                    <a:pt x="7200" y="905395"/>
                  </a:lnTo>
                  <a:lnTo>
                    <a:pt x="40497" y="930916"/>
                  </a:lnTo>
                  <a:lnTo>
                    <a:pt x="48014" y="932395"/>
                  </a:lnTo>
                  <a:lnTo>
                    <a:pt x="49044" y="932395"/>
                  </a:lnTo>
                  <a:lnTo>
                    <a:pt x="54724" y="932764"/>
                  </a:lnTo>
                  <a:lnTo>
                    <a:pt x="1362595" y="932395"/>
                  </a:lnTo>
                  <a:lnTo>
                    <a:pt x="1401256" y="916470"/>
                  </a:lnTo>
                  <a:lnTo>
                    <a:pt x="1415402" y="892122"/>
                  </a:lnTo>
                  <a:lnTo>
                    <a:pt x="1415476" y="891900"/>
                  </a:lnTo>
                  <a:lnTo>
                    <a:pt x="1416813" y="885098"/>
                  </a:lnTo>
                  <a:lnTo>
                    <a:pt x="1416853" y="884892"/>
                  </a:lnTo>
                  <a:lnTo>
                    <a:pt x="1417297" y="878039"/>
                  </a:lnTo>
                  <a:lnTo>
                    <a:pt x="1416964" y="54724"/>
                  </a:lnTo>
                  <a:lnTo>
                    <a:pt x="1401027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126480" y="3840480"/>
              <a:ext cx="1417320" cy="932815"/>
            </a:xfrm>
            <a:custGeom>
              <a:avLst/>
              <a:gdLst/>
              <a:ahLst/>
              <a:cxnLst/>
              <a:rect l="l" t="t" r="r" b="b"/>
              <a:pathLst>
                <a:path w="141732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362240" y="0"/>
                  </a:lnTo>
                  <a:lnTo>
                    <a:pt x="1401027" y="16063"/>
                  </a:lnTo>
                  <a:lnTo>
                    <a:pt x="1416964" y="54724"/>
                  </a:lnTo>
                  <a:lnTo>
                    <a:pt x="1417320" y="877684"/>
                  </a:lnTo>
                  <a:lnTo>
                    <a:pt x="1416853" y="884892"/>
                  </a:lnTo>
                  <a:lnTo>
                    <a:pt x="1415476" y="891900"/>
                  </a:lnTo>
                  <a:lnTo>
                    <a:pt x="1389964" y="925195"/>
                  </a:lnTo>
                  <a:lnTo>
                    <a:pt x="54724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291973" y="4134497"/>
            <a:ext cx="108521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302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5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endpoint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HTTPS</a:t>
            </a:r>
            <a:r>
              <a:rPr dirty="0" sz="10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response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53" name="object 53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FE9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809904" y="6000381"/>
            <a:ext cx="66122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Routes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choose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the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path;</a:t>
            </a:r>
            <a:r>
              <a:rPr dirty="0" sz="1000" spc="-3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NSGs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filter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traffic.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5B2C90"/>
                </a:solidFill>
                <a:latin typeface="Arial"/>
                <a:cs typeface="Arial"/>
              </a:rPr>
              <a:t>NAT</a:t>
            </a:r>
            <a:r>
              <a:rPr dirty="0" sz="1000" spc="-3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Gateway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provides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B2C90"/>
                </a:solidFill>
                <a:latin typeface="Arial"/>
                <a:cs typeface="Arial"/>
              </a:rPr>
              <a:t>outbound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translation,</a:t>
            </a:r>
            <a:r>
              <a:rPr dirty="0" sz="1000" spc="-3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not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B2C90"/>
                </a:solidFill>
                <a:latin typeface="Arial"/>
                <a:cs typeface="Arial"/>
              </a:rPr>
              <a:t>inbound</a:t>
            </a:r>
            <a:r>
              <a:rPr dirty="0" sz="1000" spc="-3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B2C90"/>
                </a:solidFill>
                <a:latin typeface="Arial"/>
                <a:cs typeface="Arial"/>
              </a:rPr>
              <a:t>access.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06311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dirty="0" spc="-30"/>
              <a:t> </a:t>
            </a:r>
            <a:r>
              <a:rPr dirty="0"/>
              <a:t>NSG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25"/>
              <a:t> </a:t>
            </a:r>
            <a:r>
              <a:rPr dirty="0"/>
              <a:t>rule</a:t>
            </a:r>
            <a:r>
              <a:rPr dirty="0" spc="-20"/>
              <a:t> </a:t>
            </a:r>
            <a:r>
              <a:rPr dirty="0"/>
              <a:t>list,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magic</a:t>
            </a:r>
            <a:r>
              <a:rPr dirty="0" spc="-25"/>
              <a:t> </a:t>
            </a:r>
            <a:r>
              <a:rPr dirty="0" spc="-10"/>
              <a:t>firewall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8496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Rules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are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evaluated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direction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priority.</a:t>
            </a:r>
            <a:r>
              <a:rPr dirty="0" sz="10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broad</a:t>
            </a:r>
            <a:r>
              <a:rPr dirty="0" sz="10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Allow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rule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expose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more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than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intended.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24864" y="1566544"/>
            <a:ext cx="3505200" cy="1311275"/>
            <a:chOff x="724864" y="1566544"/>
            <a:chExt cx="3505200" cy="1311275"/>
          </a:xfrm>
        </p:grpSpPr>
        <p:sp>
          <p:nvSpPr>
            <p:cNvPr id="7" name="object 7"/>
            <p:cNvSpPr/>
            <p:nvPr/>
          </p:nvSpPr>
          <p:spPr>
            <a:xfrm>
              <a:off x="731520" y="157284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5" h="1298575">
                  <a:moveTo>
                    <a:pt x="341964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15046" y="1269813"/>
                  </a:lnTo>
                  <a:lnTo>
                    <a:pt x="54046" y="1296082"/>
                  </a:lnTo>
                  <a:lnTo>
                    <a:pt x="73075" y="1298511"/>
                  </a:lnTo>
                  <a:lnTo>
                    <a:pt x="3419995" y="1298155"/>
                  </a:lnTo>
                  <a:lnTo>
                    <a:pt x="3464373" y="1283109"/>
                  </a:lnTo>
                  <a:lnTo>
                    <a:pt x="3490638" y="1244153"/>
                  </a:lnTo>
                  <a:lnTo>
                    <a:pt x="3493061" y="1225435"/>
                  </a:lnTo>
                  <a:lnTo>
                    <a:pt x="3493084" y="1225080"/>
                  </a:lnTo>
                  <a:lnTo>
                    <a:pt x="3492715" y="73075"/>
                  </a:lnTo>
                  <a:lnTo>
                    <a:pt x="3477674" y="28698"/>
                  </a:lnTo>
                  <a:lnTo>
                    <a:pt x="3438674" y="2428"/>
                  </a:lnTo>
                  <a:lnTo>
                    <a:pt x="3429273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520" y="157284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5" h="129857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317" y="15096"/>
                  </a:lnTo>
                  <a:lnTo>
                    <a:pt x="3490287" y="54357"/>
                  </a:lnTo>
                  <a:lnTo>
                    <a:pt x="3492715" y="73075"/>
                  </a:lnTo>
                  <a:lnTo>
                    <a:pt x="3493084" y="1225080"/>
                  </a:lnTo>
                  <a:lnTo>
                    <a:pt x="3492476" y="1234712"/>
                  </a:lnTo>
                  <a:lnTo>
                    <a:pt x="3490653" y="1244109"/>
                  </a:lnTo>
                  <a:lnTo>
                    <a:pt x="3464373" y="1283109"/>
                  </a:lnTo>
                  <a:lnTo>
                    <a:pt x="3419995" y="1298155"/>
                  </a:lnTo>
                  <a:lnTo>
                    <a:pt x="73075" y="1298511"/>
                  </a:lnTo>
                  <a:lnTo>
                    <a:pt x="28399" y="1283414"/>
                  </a:lnTo>
                  <a:lnTo>
                    <a:pt x="2428" y="1244153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1164" y="157284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31164" y="157284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19695" y="1756346"/>
            <a:ext cx="75755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Direction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0064" y="205908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2337" y="2081059"/>
            <a:ext cx="127571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Inbound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46980" y="1566544"/>
            <a:ext cx="3505200" cy="1311275"/>
            <a:chOff x="4546980" y="1566544"/>
            <a:chExt cx="3505200" cy="1311275"/>
          </a:xfrm>
        </p:grpSpPr>
        <p:sp>
          <p:nvSpPr>
            <p:cNvPr id="15" name="object 15"/>
            <p:cNvSpPr/>
            <p:nvPr/>
          </p:nvSpPr>
          <p:spPr>
            <a:xfrm>
              <a:off x="4553635" y="157284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3419640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15053" y="1269813"/>
                  </a:lnTo>
                  <a:lnTo>
                    <a:pt x="54048" y="1296082"/>
                  </a:lnTo>
                  <a:lnTo>
                    <a:pt x="73088" y="1298511"/>
                  </a:lnTo>
                  <a:lnTo>
                    <a:pt x="3420008" y="1298155"/>
                  </a:lnTo>
                  <a:lnTo>
                    <a:pt x="3464378" y="1283109"/>
                  </a:lnTo>
                  <a:lnTo>
                    <a:pt x="3490640" y="1244153"/>
                  </a:lnTo>
                  <a:lnTo>
                    <a:pt x="3493061" y="1225435"/>
                  </a:lnTo>
                  <a:lnTo>
                    <a:pt x="3493084" y="1225080"/>
                  </a:lnTo>
                  <a:lnTo>
                    <a:pt x="3492728" y="73075"/>
                  </a:lnTo>
                  <a:lnTo>
                    <a:pt x="3477674" y="28698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53635" y="157284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323" y="15096"/>
                  </a:lnTo>
                  <a:lnTo>
                    <a:pt x="3490298" y="54357"/>
                  </a:lnTo>
                  <a:lnTo>
                    <a:pt x="3492728" y="73075"/>
                  </a:lnTo>
                  <a:lnTo>
                    <a:pt x="3493084" y="1225080"/>
                  </a:lnTo>
                  <a:lnTo>
                    <a:pt x="3492476" y="1234712"/>
                  </a:lnTo>
                  <a:lnTo>
                    <a:pt x="3490655" y="1244109"/>
                  </a:lnTo>
                  <a:lnTo>
                    <a:pt x="3464378" y="1283109"/>
                  </a:lnTo>
                  <a:lnTo>
                    <a:pt x="3420008" y="1298155"/>
                  </a:lnTo>
                  <a:lnTo>
                    <a:pt x="73088" y="1298511"/>
                  </a:lnTo>
                  <a:lnTo>
                    <a:pt x="28405" y="1283414"/>
                  </a:lnTo>
                  <a:lnTo>
                    <a:pt x="2430" y="1244153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53280" y="157284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42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53280" y="157284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32042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42" y="1298155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41824" y="1756346"/>
            <a:ext cx="59817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Source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2179" y="205908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4465" y="2081059"/>
            <a:ext cx="277749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Who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sending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traffic?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IP/CIDR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tag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69096" y="1566544"/>
            <a:ext cx="3505200" cy="1311275"/>
            <a:chOff x="8369096" y="1566544"/>
            <a:chExt cx="3505200" cy="1311275"/>
          </a:xfrm>
        </p:grpSpPr>
        <p:sp>
          <p:nvSpPr>
            <p:cNvPr id="23" name="object 23"/>
            <p:cNvSpPr/>
            <p:nvPr/>
          </p:nvSpPr>
          <p:spPr>
            <a:xfrm>
              <a:off x="8375764" y="157284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341964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597" y="1234712"/>
                  </a:lnTo>
                  <a:lnTo>
                    <a:pt x="607" y="1234862"/>
                  </a:lnTo>
                  <a:lnTo>
                    <a:pt x="21280" y="1277053"/>
                  </a:lnTo>
                  <a:lnTo>
                    <a:pt x="63442" y="1297904"/>
                  </a:lnTo>
                  <a:lnTo>
                    <a:pt x="73075" y="1298511"/>
                  </a:lnTo>
                  <a:lnTo>
                    <a:pt x="3419995" y="1298155"/>
                  </a:lnTo>
                  <a:lnTo>
                    <a:pt x="3464373" y="1283109"/>
                  </a:lnTo>
                  <a:lnTo>
                    <a:pt x="3490627" y="1244153"/>
                  </a:lnTo>
                  <a:lnTo>
                    <a:pt x="3493049" y="1225435"/>
                  </a:lnTo>
                  <a:lnTo>
                    <a:pt x="3493071" y="1225080"/>
                  </a:lnTo>
                  <a:lnTo>
                    <a:pt x="3492715" y="73075"/>
                  </a:lnTo>
                  <a:lnTo>
                    <a:pt x="3477669" y="28698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75764" y="157284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315" y="15096"/>
                  </a:lnTo>
                  <a:lnTo>
                    <a:pt x="3490287" y="54357"/>
                  </a:lnTo>
                  <a:lnTo>
                    <a:pt x="3492715" y="73075"/>
                  </a:lnTo>
                  <a:lnTo>
                    <a:pt x="3493071" y="1225080"/>
                  </a:lnTo>
                  <a:lnTo>
                    <a:pt x="3492464" y="1234712"/>
                  </a:lnTo>
                  <a:lnTo>
                    <a:pt x="3490642" y="1244109"/>
                  </a:lnTo>
                  <a:lnTo>
                    <a:pt x="3464373" y="1283109"/>
                  </a:lnTo>
                  <a:lnTo>
                    <a:pt x="3419995" y="1298155"/>
                  </a:lnTo>
                  <a:lnTo>
                    <a:pt x="73075" y="1298511"/>
                  </a:lnTo>
                  <a:lnTo>
                    <a:pt x="28398" y="1283414"/>
                  </a:lnTo>
                  <a:lnTo>
                    <a:pt x="2428" y="1244153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75396" y="157284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28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42" y="1298155"/>
                  </a:lnTo>
                  <a:lnTo>
                    <a:pt x="63728" y="1298155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375396" y="157284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42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98155"/>
                  </a:lnTo>
                  <a:lnTo>
                    <a:pt x="32042" y="1298155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563940" y="1756346"/>
            <a:ext cx="94488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Destination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295" y="205908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16581" y="2081059"/>
            <a:ext cx="153543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Which 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IP,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NIC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subnet?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24864" y="3157384"/>
            <a:ext cx="3505200" cy="1311275"/>
            <a:chOff x="724864" y="3157384"/>
            <a:chExt cx="3505200" cy="1311275"/>
          </a:xfrm>
        </p:grpSpPr>
        <p:sp>
          <p:nvSpPr>
            <p:cNvPr id="31" name="object 31"/>
            <p:cNvSpPr/>
            <p:nvPr/>
          </p:nvSpPr>
          <p:spPr>
            <a:xfrm>
              <a:off x="731520" y="316368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5" h="1298575">
                  <a:moveTo>
                    <a:pt x="341964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597" y="1234712"/>
                  </a:lnTo>
                  <a:lnTo>
                    <a:pt x="607" y="1234862"/>
                  </a:lnTo>
                  <a:lnTo>
                    <a:pt x="21285" y="1277053"/>
                  </a:lnTo>
                  <a:lnTo>
                    <a:pt x="63443" y="1297904"/>
                  </a:lnTo>
                  <a:lnTo>
                    <a:pt x="73075" y="1298511"/>
                  </a:lnTo>
                  <a:lnTo>
                    <a:pt x="3419995" y="1298155"/>
                  </a:lnTo>
                  <a:lnTo>
                    <a:pt x="3464373" y="1283109"/>
                  </a:lnTo>
                  <a:lnTo>
                    <a:pt x="3490638" y="1244153"/>
                  </a:lnTo>
                  <a:lnTo>
                    <a:pt x="3493061" y="1225435"/>
                  </a:lnTo>
                  <a:lnTo>
                    <a:pt x="3493084" y="1225080"/>
                  </a:lnTo>
                  <a:lnTo>
                    <a:pt x="3492715" y="73075"/>
                  </a:lnTo>
                  <a:lnTo>
                    <a:pt x="3477674" y="28698"/>
                  </a:lnTo>
                  <a:lnTo>
                    <a:pt x="3438674" y="2428"/>
                  </a:lnTo>
                  <a:lnTo>
                    <a:pt x="3429273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1520" y="316368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5" h="129857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317" y="15096"/>
                  </a:lnTo>
                  <a:lnTo>
                    <a:pt x="3490287" y="54357"/>
                  </a:lnTo>
                  <a:lnTo>
                    <a:pt x="3492715" y="73075"/>
                  </a:lnTo>
                  <a:lnTo>
                    <a:pt x="3493084" y="1225080"/>
                  </a:lnTo>
                  <a:lnTo>
                    <a:pt x="3492476" y="1234712"/>
                  </a:lnTo>
                  <a:lnTo>
                    <a:pt x="3490653" y="1244109"/>
                  </a:lnTo>
                  <a:lnTo>
                    <a:pt x="3464373" y="1283109"/>
                  </a:lnTo>
                  <a:lnTo>
                    <a:pt x="3419995" y="1298155"/>
                  </a:lnTo>
                  <a:lnTo>
                    <a:pt x="73075" y="1298511"/>
                  </a:lnTo>
                  <a:lnTo>
                    <a:pt x="28399" y="1283414"/>
                  </a:lnTo>
                  <a:lnTo>
                    <a:pt x="2428" y="1244153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31164" y="316368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31164" y="316368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919695" y="3347186"/>
            <a:ext cx="117919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Protocol</a:t>
            </a:r>
            <a:r>
              <a:rPr dirty="0" sz="1300" spc="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300" spc="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port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0064" y="36499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72337" y="3671900"/>
            <a:ext cx="2700020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TCP/22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SSH;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ICMP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ping;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TCP/443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for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HTTPS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46980" y="3157384"/>
            <a:ext cx="3505200" cy="1311275"/>
            <a:chOff x="4546980" y="3157384"/>
            <a:chExt cx="3505200" cy="1311275"/>
          </a:xfrm>
        </p:grpSpPr>
        <p:sp>
          <p:nvSpPr>
            <p:cNvPr id="39" name="object 39"/>
            <p:cNvSpPr/>
            <p:nvPr/>
          </p:nvSpPr>
          <p:spPr>
            <a:xfrm>
              <a:off x="4553635" y="316368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3419640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15053" y="1269813"/>
                  </a:lnTo>
                  <a:lnTo>
                    <a:pt x="54048" y="1296082"/>
                  </a:lnTo>
                  <a:lnTo>
                    <a:pt x="73088" y="1298511"/>
                  </a:lnTo>
                  <a:lnTo>
                    <a:pt x="3420008" y="1298155"/>
                  </a:lnTo>
                  <a:lnTo>
                    <a:pt x="3464378" y="1283109"/>
                  </a:lnTo>
                  <a:lnTo>
                    <a:pt x="3490640" y="1244153"/>
                  </a:lnTo>
                  <a:lnTo>
                    <a:pt x="3493061" y="1225435"/>
                  </a:lnTo>
                  <a:lnTo>
                    <a:pt x="3493084" y="1225080"/>
                  </a:lnTo>
                  <a:lnTo>
                    <a:pt x="3492728" y="73075"/>
                  </a:lnTo>
                  <a:lnTo>
                    <a:pt x="3477674" y="28698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53635" y="316368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323" y="15096"/>
                  </a:lnTo>
                  <a:lnTo>
                    <a:pt x="3490298" y="54357"/>
                  </a:lnTo>
                  <a:lnTo>
                    <a:pt x="3492728" y="73075"/>
                  </a:lnTo>
                  <a:lnTo>
                    <a:pt x="3493084" y="1225080"/>
                  </a:lnTo>
                  <a:lnTo>
                    <a:pt x="3492476" y="1234712"/>
                  </a:lnTo>
                  <a:lnTo>
                    <a:pt x="3490655" y="1244109"/>
                  </a:lnTo>
                  <a:lnTo>
                    <a:pt x="3464378" y="1283109"/>
                  </a:lnTo>
                  <a:lnTo>
                    <a:pt x="3420008" y="1298155"/>
                  </a:lnTo>
                  <a:lnTo>
                    <a:pt x="73088" y="1298511"/>
                  </a:lnTo>
                  <a:lnTo>
                    <a:pt x="28405" y="1283414"/>
                  </a:lnTo>
                  <a:lnTo>
                    <a:pt x="2430" y="1244153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53280" y="316368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42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53280" y="316368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32042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42" y="1298155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741824" y="3347186"/>
            <a:ext cx="61595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Priority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42179" y="36499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94465" y="3671900"/>
            <a:ext cx="190690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Lower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number is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evaluated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first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369096" y="3157384"/>
            <a:ext cx="3505200" cy="1311275"/>
            <a:chOff x="8369096" y="3157384"/>
            <a:chExt cx="3505200" cy="1311275"/>
          </a:xfrm>
        </p:grpSpPr>
        <p:sp>
          <p:nvSpPr>
            <p:cNvPr id="47" name="object 47"/>
            <p:cNvSpPr/>
            <p:nvPr/>
          </p:nvSpPr>
          <p:spPr>
            <a:xfrm>
              <a:off x="8375764" y="316368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3419640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597" y="1234712"/>
                  </a:lnTo>
                  <a:lnTo>
                    <a:pt x="607" y="1234862"/>
                  </a:lnTo>
                  <a:lnTo>
                    <a:pt x="21280" y="1277053"/>
                  </a:lnTo>
                  <a:lnTo>
                    <a:pt x="63442" y="1297904"/>
                  </a:lnTo>
                  <a:lnTo>
                    <a:pt x="73075" y="1298511"/>
                  </a:lnTo>
                  <a:lnTo>
                    <a:pt x="3419995" y="1298155"/>
                  </a:lnTo>
                  <a:lnTo>
                    <a:pt x="3464373" y="1283109"/>
                  </a:lnTo>
                  <a:lnTo>
                    <a:pt x="3490627" y="1244153"/>
                  </a:lnTo>
                  <a:lnTo>
                    <a:pt x="3493049" y="1225435"/>
                  </a:lnTo>
                  <a:lnTo>
                    <a:pt x="3493071" y="1225080"/>
                  </a:lnTo>
                  <a:lnTo>
                    <a:pt x="3492715" y="73075"/>
                  </a:lnTo>
                  <a:lnTo>
                    <a:pt x="3477669" y="28698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75764" y="3163684"/>
              <a:ext cx="3493135" cy="1298575"/>
            </a:xfrm>
            <a:custGeom>
              <a:avLst/>
              <a:gdLst/>
              <a:ahLst/>
              <a:cxnLst/>
              <a:rect l="l" t="t" r="r" b="b"/>
              <a:pathLst>
                <a:path w="3493134" h="1298575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315" y="15096"/>
                  </a:lnTo>
                  <a:lnTo>
                    <a:pt x="3490287" y="54357"/>
                  </a:lnTo>
                  <a:lnTo>
                    <a:pt x="3492715" y="73075"/>
                  </a:lnTo>
                  <a:lnTo>
                    <a:pt x="3493071" y="1225080"/>
                  </a:lnTo>
                  <a:lnTo>
                    <a:pt x="3492464" y="1234712"/>
                  </a:lnTo>
                  <a:lnTo>
                    <a:pt x="3490642" y="1244109"/>
                  </a:lnTo>
                  <a:lnTo>
                    <a:pt x="3464373" y="1283109"/>
                  </a:lnTo>
                  <a:lnTo>
                    <a:pt x="3419995" y="1298155"/>
                  </a:lnTo>
                  <a:lnTo>
                    <a:pt x="73075" y="1298511"/>
                  </a:lnTo>
                  <a:lnTo>
                    <a:pt x="28398" y="1283414"/>
                  </a:lnTo>
                  <a:lnTo>
                    <a:pt x="2428" y="1244153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75396" y="316368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28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42" y="1298155"/>
                  </a:lnTo>
                  <a:lnTo>
                    <a:pt x="63728" y="1298155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75396" y="3163684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42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98155"/>
                  </a:lnTo>
                  <a:lnTo>
                    <a:pt x="32042" y="1298155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8563940" y="3347186"/>
            <a:ext cx="551180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564295" y="36499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16581" y="3671900"/>
            <a:ext cx="86106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Allow or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Deny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55" name="object 5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572300" y="6000381"/>
            <a:ext cx="561975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Safer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SSH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example: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allow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TCP/22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from</a:t>
            </a:r>
            <a:r>
              <a:rPr dirty="0" sz="1000" spc="-4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YOUR_PUBLIC_IP/32,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not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from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entire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Internet.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4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Network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security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groups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overview.</a:t>
            </a:r>
            <a:endParaRPr sz="70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40411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V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Y</a:t>
            </a:r>
            <a:r>
              <a:rPr dirty="0" sz="850" spc="25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B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SSH</a:t>
            </a:r>
            <a:r>
              <a:rPr dirty="0" spc="-40"/>
              <a:t> </a:t>
            </a:r>
            <a:r>
              <a:rPr dirty="0"/>
              <a:t>fails?</a:t>
            </a:r>
            <a:r>
              <a:rPr dirty="0" spc="-40"/>
              <a:t> </a:t>
            </a:r>
            <a:r>
              <a:rPr dirty="0"/>
              <a:t>Follow</a:t>
            </a:r>
            <a:r>
              <a:rPr dirty="0" spc="-40"/>
              <a:t> </a:t>
            </a:r>
            <a:r>
              <a:rPr dirty="0"/>
              <a:t>this</a:t>
            </a:r>
            <a:r>
              <a:rPr dirty="0" spc="-40"/>
              <a:t> </a:t>
            </a:r>
            <a:r>
              <a:rPr dirty="0" spc="-10"/>
              <a:t>order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87997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Fix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first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failed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check.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widen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firewall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before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confirming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reachability.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292244" y="1531035"/>
            <a:ext cx="3484879" cy="577215"/>
            <a:chOff x="4292244" y="1531035"/>
            <a:chExt cx="3484879" cy="577215"/>
          </a:xfrm>
        </p:grpSpPr>
        <p:sp>
          <p:nvSpPr>
            <p:cNvPr id="7" name="object 7"/>
            <p:cNvSpPr/>
            <p:nvPr/>
          </p:nvSpPr>
          <p:spPr>
            <a:xfrm>
              <a:off x="4297324" y="1536115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5">
                  <a:moveTo>
                    <a:pt x="341964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40"/>
                  </a:lnTo>
                  <a:lnTo>
                    <a:pt x="1798" y="526140"/>
                  </a:lnTo>
                  <a:lnTo>
                    <a:pt x="1843" y="526368"/>
                  </a:lnTo>
                  <a:lnTo>
                    <a:pt x="27355" y="559803"/>
                  </a:lnTo>
                  <a:lnTo>
                    <a:pt x="48065" y="566648"/>
                  </a:lnTo>
                  <a:lnTo>
                    <a:pt x="49212" y="566648"/>
                  </a:lnTo>
                  <a:lnTo>
                    <a:pt x="54711" y="567004"/>
                  </a:lnTo>
                  <a:lnTo>
                    <a:pt x="3419995" y="566648"/>
                  </a:lnTo>
                  <a:lnTo>
                    <a:pt x="3458649" y="550711"/>
                  </a:lnTo>
                  <a:lnTo>
                    <a:pt x="3474696" y="512279"/>
                  </a:lnTo>
                  <a:lnTo>
                    <a:pt x="3474719" y="511924"/>
                  </a:lnTo>
                  <a:lnTo>
                    <a:pt x="3474351" y="54724"/>
                  </a:lnTo>
                  <a:lnTo>
                    <a:pt x="3458425" y="16070"/>
                  </a:lnTo>
                  <a:lnTo>
                    <a:pt x="3426848" y="46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102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97324" y="1536115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5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419640" y="0"/>
                  </a:lnTo>
                  <a:lnTo>
                    <a:pt x="3458425" y="16070"/>
                  </a:lnTo>
                  <a:lnTo>
                    <a:pt x="3474351" y="54724"/>
                  </a:lnTo>
                  <a:lnTo>
                    <a:pt x="3474719" y="511924"/>
                  </a:lnTo>
                  <a:lnTo>
                    <a:pt x="3474252" y="519132"/>
                  </a:lnTo>
                  <a:lnTo>
                    <a:pt x="3472872" y="526140"/>
                  </a:lnTo>
                  <a:lnTo>
                    <a:pt x="3447351" y="559447"/>
                  </a:lnTo>
                  <a:lnTo>
                    <a:pt x="54711" y="567004"/>
                  </a:lnTo>
                  <a:lnTo>
                    <a:pt x="15925" y="550940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1024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522939" y="1715655"/>
            <a:ext cx="3017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200" spc="3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VM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1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reachable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IP/path?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34656" y="2050744"/>
            <a:ext cx="2571750" cy="1932939"/>
            <a:chOff x="834656" y="2050744"/>
            <a:chExt cx="2571750" cy="1932939"/>
          </a:xfrm>
        </p:grpSpPr>
        <p:sp>
          <p:nvSpPr>
            <p:cNvPr id="29" name="object 29"/>
            <p:cNvSpPr/>
            <p:nvPr/>
          </p:nvSpPr>
          <p:spPr>
            <a:xfrm>
              <a:off x="840955" y="2057044"/>
              <a:ext cx="2560320" cy="1920239"/>
            </a:xfrm>
            <a:custGeom>
              <a:avLst/>
              <a:gdLst/>
              <a:ahLst/>
              <a:cxnLst/>
              <a:rect l="l" t="t" r="r" b="b"/>
              <a:pathLst>
                <a:path w="2560320" h="1920239">
                  <a:moveTo>
                    <a:pt x="248688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847151"/>
                  </a:lnTo>
                  <a:lnTo>
                    <a:pt x="597" y="1856429"/>
                  </a:lnTo>
                  <a:lnTo>
                    <a:pt x="607" y="1856579"/>
                  </a:lnTo>
                  <a:lnTo>
                    <a:pt x="21291" y="1898769"/>
                  </a:lnTo>
                  <a:lnTo>
                    <a:pt x="63449" y="1919632"/>
                  </a:lnTo>
                  <a:lnTo>
                    <a:pt x="73088" y="1920240"/>
                  </a:lnTo>
                  <a:lnTo>
                    <a:pt x="2487244" y="1919871"/>
                  </a:lnTo>
                  <a:lnTo>
                    <a:pt x="2531621" y="1904830"/>
                  </a:lnTo>
                  <a:lnTo>
                    <a:pt x="2557876" y="1865874"/>
                  </a:lnTo>
                  <a:lnTo>
                    <a:pt x="2560297" y="1847151"/>
                  </a:lnTo>
                  <a:lnTo>
                    <a:pt x="2560320" y="1846795"/>
                  </a:lnTo>
                  <a:lnTo>
                    <a:pt x="2559964" y="73075"/>
                  </a:lnTo>
                  <a:lnTo>
                    <a:pt x="2544917" y="28698"/>
                  </a:lnTo>
                  <a:lnTo>
                    <a:pt x="2505917" y="2428"/>
                  </a:lnTo>
                  <a:lnTo>
                    <a:pt x="2496520" y="607"/>
                  </a:lnTo>
                  <a:lnTo>
                    <a:pt x="2486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40955" y="2057044"/>
              <a:ext cx="2560320" cy="1920239"/>
            </a:xfrm>
            <a:custGeom>
              <a:avLst/>
              <a:gdLst/>
              <a:ahLst/>
              <a:cxnLst/>
              <a:rect l="l" t="t" r="r" b="b"/>
              <a:pathLst>
                <a:path w="2560320" h="192023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41"/>
                  </a:lnTo>
                  <a:lnTo>
                    <a:pt x="73088" y="0"/>
                  </a:lnTo>
                  <a:lnTo>
                    <a:pt x="2486888" y="0"/>
                  </a:lnTo>
                  <a:lnTo>
                    <a:pt x="2531564" y="15096"/>
                  </a:lnTo>
                  <a:lnTo>
                    <a:pt x="2557535" y="54357"/>
                  </a:lnTo>
                  <a:lnTo>
                    <a:pt x="2559964" y="73075"/>
                  </a:lnTo>
                  <a:lnTo>
                    <a:pt x="2560320" y="1846795"/>
                  </a:lnTo>
                  <a:lnTo>
                    <a:pt x="2559712" y="1856429"/>
                  </a:lnTo>
                  <a:lnTo>
                    <a:pt x="2557891" y="1865830"/>
                  </a:lnTo>
                  <a:lnTo>
                    <a:pt x="2531621" y="1904830"/>
                  </a:lnTo>
                  <a:lnTo>
                    <a:pt x="2487244" y="1919871"/>
                  </a:lnTo>
                  <a:lnTo>
                    <a:pt x="73088" y="1920240"/>
                  </a:lnTo>
                  <a:lnTo>
                    <a:pt x="28405" y="1905130"/>
                  </a:lnTo>
                  <a:lnTo>
                    <a:pt x="2430" y="1865874"/>
                  </a:lnTo>
                  <a:lnTo>
                    <a:pt x="0" y="184715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40955" y="2057044"/>
              <a:ext cx="64135" cy="1920239"/>
            </a:xfrm>
            <a:custGeom>
              <a:avLst/>
              <a:gdLst/>
              <a:ahLst/>
              <a:cxnLst/>
              <a:rect l="l" t="t" r="r" b="b"/>
              <a:pathLst>
                <a:path w="64134" h="1920239">
                  <a:moveTo>
                    <a:pt x="63728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32042" y="1919871"/>
                  </a:lnTo>
                  <a:lnTo>
                    <a:pt x="63728" y="1919871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40955" y="2057044"/>
              <a:ext cx="64135" cy="1920239"/>
            </a:xfrm>
            <a:custGeom>
              <a:avLst/>
              <a:gdLst/>
              <a:ahLst/>
              <a:cxnLst/>
              <a:rect l="l" t="t" r="r" b="b"/>
              <a:pathLst>
                <a:path w="64134" h="1920239">
                  <a:moveTo>
                    <a:pt x="32042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919871"/>
                  </a:lnTo>
                  <a:lnTo>
                    <a:pt x="32042" y="191987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29855" y="2235504"/>
            <a:ext cx="11918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If</a:t>
            </a:r>
            <a:r>
              <a:rPr dirty="0" sz="14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no</a:t>
            </a:r>
            <a:r>
              <a:rPr dirty="0" sz="14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4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10243F"/>
                </a:solidFill>
                <a:latin typeface="Arial"/>
                <a:cs typeface="Arial"/>
              </a:rPr>
              <a:t>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9500" y="2543670"/>
            <a:ext cx="755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92244" y="2112225"/>
            <a:ext cx="3484879" cy="855980"/>
            <a:chOff x="4292244" y="2112225"/>
            <a:chExt cx="3484879" cy="855980"/>
          </a:xfrm>
        </p:grpSpPr>
        <p:sp>
          <p:nvSpPr>
            <p:cNvPr id="11" name="object 11"/>
            <p:cNvSpPr/>
            <p:nvPr/>
          </p:nvSpPr>
          <p:spPr>
            <a:xfrm>
              <a:off x="6035039" y="2121115"/>
              <a:ext cx="635" cy="167640"/>
            </a:xfrm>
            <a:custGeom>
              <a:avLst/>
              <a:gdLst/>
              <a:ahLst/>
              <a:cxnLst/>
              <a:rect l="l" t="t" r="r" b="b"/>
              <a:pathLst>
                <a:path w="635" h="167639">
                  <a:moveTo>
                    <a:pt x="0" y="0"/>
                  </a:moveTo>
                  <a:lnTo>
                    <a:pt x="355" y="167398"/>
                  </a:lnTo>
                </a:path>
              </a:pathLst>
            </a:custGeom>
            <a:ln w="176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97600" y="22834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97324" y="2395804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5">
                  <a:moveTo>
                    <a:pt x="34196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512279"/>
                  </a:lnTo>
                  <a:lnTo>
                    <a:pt x="452" y="519127"/>
                  </a:lnTo>
                  <a:lnTo>
                    <a:pt x="466" y="519338"/>
                  </a:lnTo>
                  <a:lnTo>
                    <a:pt x="1799" y="526138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33757" y="562892"/>
                  </a:lnTo>
                  <a:lnTo>
                    <a:pt x="48065" y="566635"/>
                  </a:lnTo>
                  <a:lnTo>
                    <a:pt x="49212" y="566635"/>
                  </a:lnTo>
                  <a:lnTo>
                    <a:pt x="54711" y="566991"/>
                  </a:lnTo>
                  <a:lnTo>
                    <a:pt x="3419995" y="566635"/>
                  </a:lnTo>
                  <a:lnTo>
                    <a:pt x="3458649" y="550710"/>
                  </a:lnTo>
                  <a:lnTo>
                    <a:pt x="3472797" y="526362"/>
                  </a:lnTo>
                  <a:lnTo>
                    <a:pt x="3472872" y="526138"/>
                  </a:lnTo>
                  <a:lnTo>
                    <a:pt x="3474210" y="519338"/>
                  </a:lnTo>
                  <a:lnTo>
                    <a:pt x="3474252" y="519127"/>
                  </a:lnTo>
                  <a:lnTo>
                    <a:pt x="3474696" y="512279"/>
                  </a:lnTo>
                  <a:lnTo>
                    <a:pt x="3474351" y="54711"/>
                  </a:lnTo>
                  <a:lnTo>
                    <a:pt x="3458425" y="16059"/>
                  </a:lnTo>
                  <a:lnTo>
                    <a:pt x="3426848" y="466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97324" y="2395804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419640" y="0"/>
                  </a:lnTo>
                  <a:lnTo>
                    <a:pt x="3458425" y="16059"/>
                  </a:lnTo>
                  <a:lnTo>
                    <a:pt x="3474351" y="54711"/>
                  </a:lnTo>
                  <a:lnTo>
                    <a:pt x="3474719" y="511911"/>
                  </a:lnTo>
                  <a:lnTo>
                    <a:pt x="3474252" y="519127"/>
                  </a:lnTo>
                  <a:lnTo>
                    <a:pt x="3472872" y="526138"/>
                  </a:lnTo>
                  <a:lnTo>
                    <a:pt x="3447351" y="559435"/>
                  </a:lnTo>
                  <a:lnTo>
                    <a:pt x="54711" y="566991"/>
                  </a:lnTo>
                  <a:lnTo>
                    <a:pt x="15925" y="550932"/>
                  </a:lnTo>
                  <a:lnTo>
                    <a:pt x="0" y="512279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A7CC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181785" y="2566339"/>
            <a:ext cx="2023745" cy="697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approved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Bastion/jump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access,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assign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lab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IP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when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exercise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requires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7104" y="2575331"/>
            <a:ext cx="2509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2</a:t>
            </a:r>
            <a:r>
              <a:rPr dirty="0" sz="1200" spc="29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subnet/NIC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route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correct?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92244" y="2971914"/>
            <a:ext cx="3484879" cy="855344"/>
            <a:chOff x="4292244" y="2971914"/>
            <a:chExt cx="3484879" cy="855344"/>
          </a:xfrm>
        </p:grpSpPr>
        <p:sp>
          <p:nvSpPr>
            <p:cNvPr id="17" name="object 17"/>
            <p:cNvSpPr/>
            <p:nvPr/>
          </p:nvSpPr>
          <p:spPr>
            <a:xfrm>
              <a:off x="6035039" y="2980804"/>
              <a:ext cx="635" cy="167640"/>
            </a:xfrm>
            <a:custGeom>
              <a:avLst/>
              <a:gdLst/>
              <a:ahLst/>
              <a:cxnLst/>
              <a:rect l="l" t="t" r="r" b="b"/>
              <a:pathLst>
                <a:path w="635" h="167639">
                  <a:moveTo>
                    <a:pt x="0" y="0"/>
                  </a:moveTo>
                  <a:lnTo>
                    <a:pt x="355" y="167030"/>
                  </a:lnTo>
                </a:path>
              </a:pathLst>
            </a:custGeom>
            <a:ln w="176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97600" y="31428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97324" y="3255124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4">
                  <a:moveTo>
                    <a:pt x="34196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512279"/>
                  </a:lnTo>
                  <a:lnTo>
                    <a:pt x="452" y="519127"/>
                  </a:lnTo>
                  <a:lnTo>
                    <a:pt x="466" y="519338"/>
                  </a:lnTo>
                  <a:lnTo>
                    <a:pt x="1799" y="526138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33757" y="562892"/>
                  </a:lnTo>
                  <a:lnTo>
                    <a:pt x="48065" y="566635"/>
                  </a:lnTo>
                  <a:lnTo>
                    <a:pt x="49212" y="566635"/>
                  </a:lnTo>
                  <a:lnTo>
                    <a:pt x="54711" y="566991"/>
                  </a:lnTo>
                  <a:lnTo>
                    <a:pt x="3419995" y="566635"/>
                  </a:lnTo>
                  <a:lnTo>
                    <a:pt x="3458649" y="550710"/>
                  </a:lnTo>
                  <a:lnTo>
                    <a:pt x="3472797" y="526362"/>
                  </a:lnTo>
                  <a:lnTo>
                    <a:pt x="3472872" y="526138"/>
                  </a:lnTo>
                  <a:lnTo>
                    <a:pt x="3474210" y="519338"/>
                  </a:lnTo>
                  <a:lnTo>
                    <a:pt x="3474252" y="519127"/>
                  </a:lnTo>
                  <a:lnTo>
                    <a:pt x="3474696" y="512279"/>
                  </a:lnTo>
                  <a:lnTo>
                    <a:pt x="3474351" y="54711"/>
                  </a:lnTo>
                  <a:lnTo>
                    <a:pt x="3458425" y="16059"/>
                  </a:lnTo>
                  <a:lnTo>
                    <a:pt x="3426848" y="466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97324" y="3255124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4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419640" y="0"/>
                  </a:lnTo>
                  <a:lnTo>
                    <a:pt x="3458425" y="16059"/>
                  </a:lnTo>
                  <a:lnTo>
                    <a:pt x="3474351" y="54711"/>
                  </a:lnTo>
                  <a:lnTo>
                    <a:pt x="3474719" y="511911"/>
                  </a:lnTo>
                  <a:lnTo>
                    <a:pt x="3474252" y="519127"/>
                  </a:lnTo>
                  <a:lnTo>
                    <a:pt x="3472872" y="526138"/>
                  </a:lnTo>
                  <a:lnTo>
                    <a:pt x="3447351" y="559434"/>
                  </a:lnTo>
                  <a:lnTo>
                    <a:pt x="54711" y="566991"/>
                  </a:lnTo>
                  <a:lnTo>
                    <a:pt x="15925" y="550932"/>
                  </a:lnTo>
                  <a:lnTo>
                    <a:pt x="0" y="512279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D4C5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489462" y="3438258"/>
            <a:ext cx="30873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3</a:t>
            </a:r>
            <a:r>
              <a:rPr dirty="0" sz="1150" spc="28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Does</a:t>
            </a:r>
            <a:r>
              <a:rPr dirty="0" sz="115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an</a:t>
            </a:r>
            <a:r>
              <a:rPr dirty="0" sz="115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effective</a:t>
            </a:r>
            <a:r>
              <a:rPr dirty="0" sz="115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NSG</a:t>
            </a:r>
            <a:r>
              <a:rPr dirty="0" sz="115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rule</a:t>
            </a:r>
            <a:r>
              <a:rPr dirty="0" sz="115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5B2C90"/>
                </a:solidFill>
                <a:latin typeface="Arial"/>
                <a:cs typeface="Arial"/>
              </a:rPr>
              <a:t>allow</a:t>
            </a:r>
            <a:r>
              <a:rPr dirty="0" sz="115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5B2C90"/>
                </a:solidFill>
                <a:latin typeface="Arial"/>
                <a:cs typeface="Arial"/>
              </a:rPr>
              <a:t>TCP/22?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542984" y="2050744"/>
            <a:ext cx="2571750" cy="1932939"/>
            <a:chOff x="8542984" y="2050744"/>
            <a:chExt cx="2571750" cy="1932939"/>
          </a:xfrm>
        </p:grpSpPr>
        <p:sp>
          <p:nvSpPr>
            <p:cNvPr id="37" name="object 37"/>
            <p:cNvSpPr/>
            <p:nvPr/>
          </p:nvSpPr>
          <p:spPr>
            <a:xfrm>
              <a:off x="8549284" y="2057044"/>
              <a:ext cx="2560320" cy="1920239"/>
            </a:xfrm>
            <a:custGeom>
              <a:avLst/>
              <a:gdLst/>
              <a:ahLst/>
              <a:cxnLst/>
              <a:rect l="l" t="t" r="r" b="b"/>
              <a:pathLst>
                <a:path w="2560320" h="1920239">
                  <a:moveTo>
                    <a:pt x="24868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847151"/>
                  </a:lnTo>
                  <a:lnTo>
                    <a:pt x="597" y="1856429"/>
                  </a:lnTo>
                  <a:lnTo>
                    <a:pt x="607" y="1856579"/>
                  </a:lnTo>
                  <a:lnTo>
                    <a:pt x="21280" y="1898769"/>
                  </a:lnTo>
                  <a:lnTo>
                    <a:pt x="63442" y="1919632"/>
                  </a:lnTo>
                  <a:lnTo>
                    <a:pt x="73075" y="1920240"/>
                  </a:lnTo>
                  <a:lnTo>
                    <a:pt x="2487231" y="1919871"/>
                  </a:lnTo>
                  <a:lnTo>
                    <a:pt x="2531609" y="1904830"/>
                  </a:lnTo>
                  <a:lnTo>
                    <a:pt x="2557874" y="1865874"/>
                  </a:lnTo>
                  <a:lnTo>
                    <a:pt x="2560297" y="1847151"/>
                  </a:lnTo>
                  <a:lnTo>
                    <a:pt x="2560320" y="1846795"/>
                  </a:lnTo>
                  <a:lnTo>
                    <a:pt x="2559951" y="73075"/>
                  </a:lnTo>
                  <a:lnTo>
                    <a:pt x="2544910" y="28698"/>
                  </a:lnTo>
                  <a:lnTo>
                    <a:pt x="2505910" y="2428"/>
                  </a:lnTo>
                  <a:lnTo>
                    <a:pt x="2496509" y="607"/>
                  </a:lnTo>
                  <a:lnTo>
                    <a:pt x="2486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549284" y="2057044"/>
              <a:ext cx="2560320" cy="1920239"/>
            </a:xfrm>
            <a:custGeom>
              <a:avLst/>
              <a:gdLst/>
              <a:ahLst/>
              <a:cxnLst/>
              <a:rect l="l" t="t" r="r" b="b"/>
              <a:pathLst>
                <a:path w="2560320" h="19202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2486875" y="0"/>
                  </a:lnTo>
                  <a:lnTo>
                    <a:pt x="2531553" y="15096"/>
                  </a:lnTo>
                  <a:lnTo>
                    <a:pt x="2557522" y="54357"/>
                  </a:lnTo>
                  <a:lnTo>
                    <a:pt x="2559951" y="73075"/>
                  </a:lnTo>
                  <a:lnTo>
                    <a:pt x="2560320" y="1846795"/>
                  </a:lnTo>
                  <a:lnTo>
                    <a:pt x="2559712" y="1856429"/>
                  </a:lnTo>
                  <a:lnTo>
                    <a:pt x="2557889" y="1865830"/>
                  </a:lnTo>
                  <a:lnTo>
                    <a:pt x="2531609" y="1904830"/>
                  </a:lnTo>
                  <a:lnTo>
                    <a:pt x="2487231" y="1919871"/>
                  </a:lnTo>
                  <a:lnTo>
                    <a:pt x="73075" y="1920240"/>
                  </a:lnTo>
                  <a:lnTo>
                    <a:pt x="28398" y="1905130"/>
                  </a:lnTo>
                  <a:lnTo>
                    <a:pt x="2428" y="1865874"/>
                  </a:lnTo>
                  <a:lnTo>
                    <a:pt x="0" y="184715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549284" y="2057044"/>
              <a:ext cx="64135" cy="1920239"/>
            </a:xfrm>
            <a:custGeom>
              <a:avLst/>
              <a:gdLst/>
              <a:ahLst/>
              <a:cxnLst/>
              <a:rect l="l" t="t" r="r" b="b"/>
              <a:pathLst>
                <a:path w="64134" h="1920239">
                  <a:moveTo>
                    <a:pt x="63715" y="0"/>
                  </a:moveTo>
                  <a:lnTo>
                    <a:pt x="0" y="0"/>
                  </a:lnTo>
                  <a:lnTo>
                    <a:pt x="0" y="1919871"/>
                  </a:lnTo>
                  <a:lnTo>
                    <a:pt x="32029" y="1919871"/>
                  </a:lnTo>
                  <a:lnTo>
                    <a:pt x="63715" y="191987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549284" y="2057044"/>
              <a:ext cx="64135" cy="1920239"/>
            </a:xfrm>
            <a:custGeom>
              <a:avLst/>
              <a:gdLst/>
              <a:ahLst/>
              <a:cxnLst/>
              <a:rect l="l" t="t" r="r" b="b"/>
              <a:pathLst>
                <a:path w="64134" h="1920239">
                  <a:moveTo>
                    <a:pt x="32029" y="1919871"/>
                  </a:moveTo>
                  <a:lnTo>
                    <a:pt x="0" y="191987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919871"/>
                  </a:lnTo>
                  <a:lnTo>
                    <a:pt x="32029" y="1919871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738184" y="2235504"/>
            <a:ext cx="11823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If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NSG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 blocks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37816" y="2543670"/>
            <a:ext cx="755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90101" y="2566339"/>
            <a:ext cx="2054860" cy="52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Add</a:t>
            </a:r>
            <a:r>
              <a:rPr dirty="0" sz="11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smallest</a:t>
            </a:r>
            <a:r>
              <a:rPr dirty="0" sz="11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rule</a:t>
            </a:r>
            <a:r>
              <a:rPr dirty="0" sz="11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that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fits</a:t>
            </a:r>
            <a:r>
              <a:rPr dirty="0" sz="11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test: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TCP/22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 single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trusted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source</a:t>
            </a:r>
            <a:r>
              <a:rPr dirty="0" sz="11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IP.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292284" y="3831660"/>
            <a:ext cx="3484879" cy="855344"/>
            <a:chOff x="4292284" y="3831660"/>
            <a:chExt cx="3484879" cy="855344"/>
          </a:xfrm>
        </p:grpSpPr>
        <p:sp>
          <p:nvSpPr>
            <p:cNvPr id="23" name="object 23"/>
            <p:cNvSpPr/>
            <p:nvPr/>
          </p:nvSpPr>
          <p:spPr>
            <a:xfrm>
              <a:off x="6035039" y="3840480"/>
              <a:ext cx="635" cy="167640"/>
            </a:xfrm>
            <a:custGeom>
              <a:avLst/>
              <a:gdLst/>
              <a:ahLst/>
              <a:cxnLst/>
              <a:rect l="l" t="t" r="r" b="b"/>
              <a:pathLst>
                <a:path w="635" h="167639">
                  <a:moveTo>
                    <a:pt x="0" y="0"/>
                  </a:moveTo>
                  <a:lnTo>
                    <a:pt x="355" y="167043"/>
                  </a:lnTo>
                </a:path>
              </a:pathLst>
            </a:custGeom>
            <a:ln w="176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997600" y="400248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97324" y="4114800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4">
                  <a:moveTo>
                    <a:pt x="34196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7200" y="539635"/>
                  </a:lnTo>
                  <a:lnTo>
                    <a:pt x="40495" y="565156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3419995" y="566635"/>
                  </a:lnTo>
                  <a:lnTo>
                    <a:pt x="3458649" y="550710"/>
                  </a:lnTo>
                  <a:lnTo>
                    <a:pt x="3474211" y="519338"/>
                  </a:lnTo>
                  <a:lnTo>
                    <a:pt x="3474252" y="519132"/>
                  </a:lnTo>
                  <a:lnTo>
                    <a:pt x="3474696" y="512279"/>
                  </a:lnTo>
                  <a:lnTo>
                    <a:pt x="3474719" y="511924"/>
                  </a:lnTo>
                  <a:lnTo>
                    <a:pt x="3474351" y="54724"/>
                  </a:lnTo>
                  <a:lnTo>
                    <a:pt x="3458425" y="16063"/>
                  </a:lnTo>
                  <a:lnTo>
                    <a:pt x="3426848" y="466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97324" y="4114800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3419640" y="0"/>
                  </a:lnTo>
                  <a:lnTo>
                    <a:pt x="3458425" y="16063"/>
                  </a:lnTo>
                  <a:lnTo>
                    <a:pt x="3474351" y="54724"/>
                  </a:lnTo>
                  <a:lnTo>
                    <a:pt x="3474719" y="511924"/>
                  </a:lnTo>
                  <a:lnTo>
                    <a:pt x="3474252" y="519132"/>
                  </a:lnTo>
                  <a:lnTo>
                    <a:pt x="3472872" y="526140"/>
                  </a:lnTo>
                  <a:lnTo>
                    <a:pt x="344735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8DE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638497" y="4297934"/>
            <a:ext cx="27895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4</a:t>
            </a:r>
            <a:r>
              <a:rPr dirty="0" sz="1150" spc="2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Are</a:t>
            </a:r>
            <a:r>
              <a:rPr dirty="0" sz="1150" spc="-1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username,</a:t>
            </a:r>
            <a:r>
              <a:rPr dirty="0" sz="1150" spc="-1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key</a:t>
            </a:r>
            <a:r>
              <a:rPr dirty="0" sz="1150" spc="-1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and</a:t>
            </a:r>
            <a:r>
              <a:rPr dirty="0" sz="1150" spc="-2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sshd</a:t>
            </a:r>
            <a:r>
              <a:rPr dirty="0" sz="1150" spc="-1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0A5A5"/>
                </a:solidFill>
                <a:latin typeface="Arial"/>
                <a:cs typeface="Arial"/>
              </a:rPr>
              <a:t>correct?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45" name="object 4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09904" y="6000381"/>
            <a:ext cx="7139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exact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source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lab’s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“Internet”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SSH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rule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too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broad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for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good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practice.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Use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/32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source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or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private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access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pattern.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7284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B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125"/>
              <a:t> </a:t>
            </a:r>
            <a:r>
              <a:rPr dirty="0"/>
              <a:t>private</a:t>
            </a:r>
            <a:r>
              <a:rPr dirty="0" spc="-30"/>
              <a:t> </a:t>
            </a:r>
            <a:r>
              <a:rPr dirty="0"/>
              <a:t>VM</a:t>
            </a:r>
            <a:r>
              <a:rPr dirty="0" spc="-30"/>
              <a:t> </a:t>
            </a:r>
            <a:r>
              <a:rPr dirty="0"/>
              <a:t>can</a:t>
            </a:r>
            <a:r>
              <a:rPr dirty="0" spc="-35"/>
              <a:t> </a:t>
            </a:r>
            <a:r>
              <a:rPr dirty="0"/>
              <a:t>need</a:t>
            </a:r>
            <a:r>
              <a:rPr dirty="0" spc="-30"/>
              <a:t> </a:t>
            </a:r>
            <a:r>
              <a:rPr dirty="0"/>
              <a:t>outbound</a:t>
            </a:r>
            <a:r>
              <a:rPr dirty="0" spc="-35"/>
              <a:t> </a:t>
            </a:r>
            <a:r>
              <a:rPr dirty="0"/>
              <a:t>internet</a:t>
            </a:r>
            <a:r>
              <a:rPr dirty="0" spc="-30"/>
              <a:t> </a:t>
            </a:r>
            <a:r>
              <a:rPr dirty="0" spc="-10"/>
              <a:t>access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00075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public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IP</a:t>
            </a:r>
            <a:r>
              <a:rPr dirty="0" sz="1050" spc="1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compatible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with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outbound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connections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when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explicit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egress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path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exists.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0584" y="1685340"/>
            <a:ext cx="3258185" cy="3258820"/>
            <a:chOff x="770584" y="1685340"/>
            <a:chExt cx="3258185" cy="3258820"/>
          </a:xfrm>
        </p:grpSpPr>
        <p:sp>
          <p:nvSpPr>
            <p:cNvPr id="7" name="object 7"/>
            <p:cNvSpPr/>
            <p:nvPr/>
          </p:nvSpPr>
          <p:spPr>
            <a:xfrm>
              <a:off x="777240" y="1691640"/>
              <a:ext cx="3246120" cy="3246120"/>
            </a:xfrm>
            <a:custGeom>
              <a:avLst/>
              <a:gdLst/>
              <a:ahLst/>
              <a:cxnLst/>
              <a:rect l="l" t="t" r="r" b="b"/>
              <a:pathLst>
                <a:path w="3246120" h="3246120">
                  <a:moveTo>
                    <a:pt x="3172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73044"/>
                  </a:lnTo>
                  <a:lnTo>
                    <a:pt x="15046" y="3217414"/>
                  </a:lnTo>
                  <a:lnTo>
                    <a:pt x="54046" y="3243691"/>
                  </a:lnTo>
                  <a:lnTo>
                    <a:pt x="73075" y="3246120"/>
                  </a:lnTo>
                  <a:lnTo>
                    <a:pt x="3173044" y="3245764"/>
                  </a:lnTo>
                  <a:lnTo>
                    <a:pt x="3217414" y="3230710"/>
                  </a:lnTo>
                  <a:lnTo>
                    <a:pt x="3243675" y="3191762"/>
                  </a:lnTo>
                  <a:lnTo>
                    <a:pt x="3246096" y="3173044"/>
                  </a:lnTo>
                  <a:lnTo>
                    <a:pt x="3246120" y="3172675"/>
                  </a:lnTo>
                  <a:lnTo>
                    <a:pt x="3245764" y="73075"/>
                  </a:lnTo>
                  <a:lnTo>
                    <a:pt x="3230710" y="28705"/>
                  </a:lnTo>
                  <a:lnTo>
                    <a:pt x="3191716" y="2428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40" y="1691640"/>
              <a:ext cx="3246120" cy="3246120"/>
            </a:xfrm>
            <a:custGeom>
              <a:avLst/>
              <a:gdLst/>
              <a:ahLst/>
              <a:cxnLst/>
              <a:rect l="l" t="t" r="r" b="b"/>
              <a:pathLst>
                <a:path w="3246120" h="3246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358" y="15104"/>
                  </a:lnTo>
                  <a:lnTo>
                    <a:pt x="3243333" y="54357"/>
                  </a:lnTo>
                  <a:lnTo>
                    <a:pt x="3245764" y="73075"/>
                  </a:lnTo>
                  <a:lnTo>
                    <a:pt x="3246120" y="3172675"/>
                  </a:lnTo>
                  <a:lnTo>
                    <a:pt x="3245512" y="3182315"/>
                  </a:lnTo>
                  <a:lnTo>
                    <a:pt x="3243691" y="3191716"/>
                  </a:lnTo>
                  <a:lnTo>
                    <a:pt x="3217414" y="3230710"/>
                  </a:lnTo>
                  <a:lnTo>
                    <a:pt x="3173044" y="3245764"/>
                  </a:lnTo>
                  <a:lnTo>
                    <a:pt x="73075" y="3246120"/>
                  </a:lnTo>
                  <a:lnTo>
                    <a:pt x="28399" y="3231015"/>
                  </a:lnTo>
                  <a:lnTo>
                    <a:pt x="2428" y="3191762"/>
                  </a:lnTo>
                  <a:lnTo>
                    <a:pt x="0" y="3173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1691640"/>
              <a:ext cx="64135" cy="3246120"/>
            </a:xfrm>
            <a:custGeom>
              <a:avLst/>
              <a:gdLst/>
              <a:ahLst/>
              <a:cxnLst/>
              <a:rect l="l" t="t" r="r" b="b"/>
              <a:pathLst>
                <a:path w="64134" h="3246120">
                  <a:moveTo>
                    <a:pt x="63715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32029" y="3245764"/>
                  </a:lnTo>
                  <a:lnTo>
                    <a:pt x="63715" y="32457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1691640"/>
              <a:ext cx="64135" cy="3246120"/>
            </a:xfrm>
            <a:custGeom>
              <a:avLst/>
              <a:gdLst/>
              <a:ahLst/>
              <a:cxnLst/>
              <a:rect l="l" t="t" r="r" b="b"/>
              <a:pathLst>
                <a:path w="64134" h="3246120">
                  <a:moveTo>
                    <a:pt x="32029" y="3245764"/>
                  </a:moveTo>
                  <a:lnTo>
                    <a:pt x="0" y="32457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245764"/>
                  </a:lnTo>
                  <a:lnTo>
                    <a:pt x="32029" y="324576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415" y="1861820"/>
            <a:ext cx="19926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5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subnet</a:t>
            </a:r>
            <a:r>
              <a:rPr dirty="0" sz="15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0243F"/>
                </a:solidFill>
                <a:latin typeface="Arial"/>
                <a:cs typeface="Arial"/>
              </a:rPr>
              <a:t>means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784" y="2175370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5784" y="2541130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784" y="3089770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057" y="2199856"/>
            <a:ext cx="267970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No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direct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inbound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reachability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through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IP</a:t>
            </a:r>
            <a:endParaRPr sz="1200">
              <a:latin typeface="Arial"/>
              <a:cs typeface="Arial"/>
            </a:endParaRPr>
          </a:p>
          <a:p>
            <a:pPr algn="just" marL="12700" marR="303530" indent="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Workloads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still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need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package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updates,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external</a:t>
            </a:r>
            <a:r>
              <a:rPr dirty="0" sz="1200" spc="-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APIs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 software downloads</a:t>
            </a:r>
            <a:endParaRPr sz="1200">
              <a:latin typeface="Arial"/>
              <a:cs typeface="Arial"/>
            </a:endParaRPr>
          </a:p>
          <a:p>
            <a:pPr algn="just" marL="12700" marR="494665" indent="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separate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design decision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09376" y="1685340"/>
            <a:ext cx="3258185" cy="3258820"/>
            <a:chOff x="4309376" y="1685340"/>
            <a:chExt cx="3258185" cy="3258820"/>
          </a:xfrm>
        </p:grpSpPr>
        <p:sp>
          <p:nvSpPr>
            <p:cNvPr id="17" name="object 17"/>
            <p:cNvSpPr/>
            <p:nvPr/>
          </p:nvSpPr>
          <p:spPr>
            <a:xfrm>
              <a:off x="4316044" y="1691640"/>
              <a:ext cx="3246120" cy="3246120"/>
            </a:xfrm>
            <a:custGeom>
              <a:avLst/>
              <a:gdLst/>
              <a:ahLst/>
              <a:cxnLst/>
              <a:rect l="l" t="t" r="r" b="b"/>
              <a:pathLst>
                <a:path w="3246120" h="3246120">
                  <a:moveTo>
                    <a:pt x="31726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73044"/>
                  </a:lnTo>
                  <a:lnTo>
                    <a:pt x="597" y="3182315"/>
                  </a:lnTo>
                  <a:lnTo>
                    <a:pt x="607" y="3182470"/>
                  </a:lnTo>
                  <a:lnTo>
                    <a:pt x="21280" y="3224652"/>
                  </a:lnTo>
                  <a:lnTo>
                    <a:pt x="63442" y="3245512"/>
                  </a:lnTo>
                  <a:lnTo>
                    <a:pt x="73075" y="3246120"/>
                  </a:lnTo>
                  <a:lnTo>
                    <a:pt x="3173031" y="3245764"/>
                  </a:lnTo>
                  <a:lnTo>
                    <a:pt x="3217409" y="3230710"/>
                  </a:lnTo>
                  <a:lnTo>
                    <a:pt x="3243674" y="3191762"/>
                  </a:lnTo>
                  <a:lnTo>
                    <a:pt x="3246096" y="3173044"/>
                  </a:lnTo>
                  <a:lnTo>
                    <a:pt x="3246120" y="3172675"/>
                  </a:lnTo>
                  <a:lnTo>
                    <a:pt x="3245751" y="73075"/>
                  </a:lnTo>
                  <a:lnTo>
                    <a:pt x="3230710" y="28705"/>
                  </a:lnTo>
                  <a:lnTo>
                    <a:pt x="3191710" y="2428"/>
                  </a:lnTo>
                  <a:lnTo>
                    <a:pt x="3182309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16044" y="1691640"/>
              <a:ext cx="3246120" cy="3246120"/>
            </a:xfrm>
            <a:custGeom>
              <a:avLst/>
              <a:gdLst/>
              <a:ahLst/>
              <a:cxnLst/>
              <a:rect l="l" t="t" r="r" b="b"/>
              <a:pathLst>
                <a:path w="3246120" h="3246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353" y="15104"/>
                  </a:lnTo>
                  <a:lnTo>
                    <a:pt x="3243322" y="54357"/>
                  </a:lnTo>
                  <a:lnTo>
                    <a:pt x="3245751" y="73075"/>
                  </a:lnTo>
                  <a:lnTo>
                    <a:pt x="3246120" y="3172675"/>
                  </a:lnTo>
                  <a:lnTo>
                    <a:pt x="3245512" y="3182315"/>
                  </a:lnTo>
                  <a:lnTo>
                    <a:pt x="3243689" y="3191716"/>
                  </a:lnTo>
                  <a:lnTo>
                    <a:pt x="3217409" y="3230710"/>
                  </a:lnTo>
                  <a:lnTo>
                    <a:pt x="3173031" y="3245764"/>
                  </a:lnTo>
                  <a:lnTo>
                    <a:pt x="73075" y="3246120"/>
                  </a:lnTo>
                  <a:lnTo>
                    <a:pt x="28398" y="3231015"/>
                  </a:lnTo>
                  <a:lnTo>
                    <a:pt x="2428" y="3191762"/>
                  </a:lnTo>
                  <a:lnTo>
                    <a:pt x="0" y="3173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15676" y="1691640"/>
              <a:ext cx="64135" cy="3246120"/>
            </a:xfrm>
            <a:custGeom>
              <a:avLst/>
              <a:gdLst/>
              <a:ahLst/>
              <a:cxnLst/>
              <a:rect l="l" t="t" r="r" b="b"/>
              <a:pathLst>
                <a:path w="64135" h="3246120">
                  <a:moveTo>
                    <a:pt x="63728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32042" y="3245764"/>
                  </a:lnTo>
                  <a:lnTo>
                    <a:pt x="63728" y="324576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15676" y="1691640"/>
              <a:ext cx="64135" cy="3246120"/>
            </a:xfrm>
            <a:custGeom>
              <a:avLst/>
              <a:gdLst/>
              <a:ahLst/>
              <a:cxnLst/>
              <a:rect l="l" t="t" r="r" b="b"/>
              <a:pathLst>
                <a:path w="64135" h="3246120">
                  <a:moveTo>
                    <a:pt x="32042" y="3245764"/>
                  </a:moveTo>
                  <a:lnTo>
                    <a:pt x="0" y="324576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3245764"/>
                  </a:lnTo>
                  <a:lnTo>
                    <a:pt x="32042" y="324576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504220" y="1861820"/>
            <a:ext cx="17494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Check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in</a:t>
            </a:r>
            <a:r>
              <a:rPr dirty="0" sz="15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this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10243F"/>
                </a:solidFill>
                <a:latin typeface="Arial"/>
                <a:cs typeface="Arial"/>
              </a:rPr>
              <a:t>order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4575" y="2175370"/>
            <a:ext cx="80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04575" y="2724010"/>
            <a:ext cx="80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6861" y="2199856"/>
            <a:ext cx="261239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8097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subnet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intentionally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private?</a:t>
            </a:r>
            <a:endParaRPr sz="1200">
              <a:latin typeface="Arial"/>
              <a:cs typeface="Arial"/>
            </a:endParaRPr>
          </a:p>
          <a:p>
            <a:pPr marL="12700" marR="360045" indent="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explicit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method configured?</a:t>
            </a:r>
            <a:endParaRPr sz="1200">
              <a:latin typeface="Arial"/>
              <a:cs typeface="Arial"/>
            </a:endParaRPr>
          </a:p>
          <a:p>
            <a:pPr marL="180975" indent="-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Does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allow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traffic?</a:t>
            </a:r>
            <a:endParaRPr sz="1200">
              <a:latin typeface="Arial"/>
              <a:cs typeface="Arial"/>
            </a:endParaRPr>
          </a:p>
          <a:p>
            <a:pPr marL="12700" marR="5080" indent="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resolve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DNS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reach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target?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838819" y="1685340"/>
            <a:ext cx="3532504" cy="3258820"/>
            <a:chOff x="7838819" y="1685340"/>
            <a:chExt cx="3532504" cy="3258820"/>
          </a:xfrm>
        </p:grpSpPr>
        <p:sp>
          <p:nvSpPr>
            <p:cNvPr id="26" name="object 26"/>
            <p:cNvSpPr/>
            <p:nvPr/>
          </p:nvSpPr>
          <p:spPr>
            <a:xfrm>
              <a:off x="7845475" y="1691640"/>
              <a:ext cx="3520440" cy="3246120"/>
            </a:xfrm>
            <a:custGeom>
              <a:avLst/>
              <a:gdLst/>
              <a:ahLst/>
              <a:cxnLst/>
              <a:rect l="l" t="t" r="r" b="b"/>
              <a:pathLst>
                <a:path w="3520440" h="3246120">
                  <a:moveTo>
                    <a:pt x="344700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173044"/>
                  </a:lnTo>
                  <a:lnTo>
                    <a:pt x="15053" y="3217414"/>
                  </a:lnTo>
                  <a:lnTo>
                    <a:pt x="54048" y="3243691"/>
                  </a:lnTo>
                  <a:lnTo>
                    <a:pt x="73088" y="3246120"/>
                  </a:lnTo>
                  <a:lnTo>
                    <a:pt x="3447364" y="3245764"/>
                  </a:lnTo>
                  <a:lnTo>
                    <a:pt x="3491741" y="3230710"/>
                  </a:lnTo>
                  <a:lnTo>
                    <a:pt x="3517995" y="3191762"/>
                  </a:lnTo>
                  <a:lnTo>
                    <a:pt x="3520416" y="3173044"/>
                  </a:lnTo>
                  <a:lnTo>
                    <a:pt x="3520439" y="3172675"/>
                  </a:lnTo>
                  <a:lnTo>
                    <a:pt x="3520084" y="73075"/>
                  </a:lnTo>
                  <a:lnTo>
                    <a:pt x="3505037" y="28705"/>
                  </a:lnTo>
                  <a:lnTo>
                    <a:pt x="3466037" y="2428"/>
                  </a:lnTo>
                  <a:lnTo>
                    <a:pt x="3456640" y="607"/>
                  </a:lnTo>
                  <a:lnTo>
                    <a:pt x="34470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845475" y="1691640"/>
              <a:ext cx="3520440" cy="3246120"/>
            </a:xfrm>
            <a:custGeom>
              <a:avLst/>
              <a:gdLst/>
              <a:ahLst/>
              <a:cxnLst/>
              <a:rect l="l" t="t" r="r" b="b"/>
              <a:pathLst>
                <a:path w="3520440" h="32461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46"/>
                  </a:lnTo>
                  <a:lnTo>
                    <a:pt x="73088" y="0"/>
                  </a:lnTo>
                  <a:lnTo>
                    <a:pt x="3447008" y="0"/>
                  </a:lnTo>
                  <a:lnTo>
                    <a:pt x="3491684" y="15104"/>
                  </a:lnTo>
                  <a:lnTo>
                    <a:pt x="3517655" y="54357"/>
                  </a:lnTo>
                  <a:lnTo>
                    <a:pt x="3520084" y="73075"/>
                  </a:lnTo>
                  <a:lnTo>
                    <a:pt x="3520439" y="3172675"/>
                  </a:lnTo>
                  <a:lnTo>
                    <a:pt x="3519832" y="3182315"/>
                  </a:lnTo>
                  <a:lnTo>
                    <a:pt x="3518011" y="3191716"/>
                  </a:lnTo>
                  <a:lnTo>
                    <a:pt x="3491741" y="3230710"/>
                  </a:lnTo>
                  <a:lnTo>
                    <a:pt x="3447364" y="3245764"/>
                  </a:lnTo>
                  <a:lnTo>
                    <a:pt x="73088" y="3246120"/>
                  </a:lnTo>
                  <a:lnTo>
                    <a:pt x="28405" y="3231015"/>
                  </a:lnTo>
                  <a:lnTo>
                    <a:pt x="2430" y="3191762"/>
                  </a:lnTo>
                  <a:lnTo>
                    <a:pt x="0" y="3173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845119" y="1691640"/>
              <a:ext cx="64135" cy="3246120"/>
            </a:xfrm>
            <a:custGeom>
              <a:avLst/>
              <a:gdLst/>
              <a:ahLst/>
              <a:cxnLst/>
              <a:rect l="l" t="t" r="r" b="b"/>
              <a:pathLst>
                <a:path w="64134" h="3246120">
                  <a:moveTo>
                    <a:pt x="63715" y="0"/>
                  </a:moveTo>
                  <a:lnTo>
                    <a:pt x="0" y="0"/>
                  </a:lnTo>
                  <a:lnTo>
                    <a:pt x="0" y="3245764"/>
                  </a:lnTo>
                  <a:lnTo>
                    <a:pt x="32042" y="3245764"/>
                  </a:lnTo>
                  <a:lnTo>
                    <a:pt x="63715" y="32457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45119" y="1691640"/>
              <a:ext cx="64135" cy="3246120"/>
            </a:xfrm>
            <a:custGeom>
              <a:avLst/>
              <a:gdLst/>
              <a:ahLst/>
              <a:cxnLst/>
              <a:rect l="l" t="t" r="r" b="b"/>
              <a:pathLst>
                <a:path w="64134" h="3246120">
                  <a:moveTo>
                    <a:pt x="32042" y="3245764"/>
                  </a:moveTo>
                  <a:lnTo>
                    <a:pt x="0" y="32457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245764"/>
                  </a:lnTo>
                  <a:lnTo>
                    <a:pt x="32042" y="324576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033664" y="1861820"/>
            <a:ext cx="19824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5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context</a:t>
            </a:r>
            <a:r>
              <a:rPr dirty="0" sz="15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in</a:t>
            </a:r>
            <a:r>
              <a:rPr dirty="0" sz="15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10243F"/>
                </a:solidFill>
                <a:latin typeface="Arial"/>
                <a:cs typeface="Arial"/>
              </a:rPr>
              <a:t>2026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34019" y="2175027"/>
            <a:ext cx="78740" cy="20510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86305" y="2199500"/>
            <a:ext cx="2826385" cy="74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VNets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default</a:t>
            </a:r>
            <a:r>
              <a:rPr dirty="0" sz="11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subnets</a:t>
            </a:r>
            <a:r>
              <a:rPr dirty="0" sz="11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from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March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31,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2026.</a:t>
            </a:r>
            <a:r>
              <a:rPr dirty="0" sz="11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Plan</a:t>
            </a:r>
            <a:r>
              <a:rPr dirty="0" sz="11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explicit</a:t>
            </a:r>
            <a:r>
              <a:rPr dirty="0" sz="11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outbound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connectivity,</a:t>
            </a:r>
            <a:r>
              <a:rPr dirty="0" sz="11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such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as NAT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Gateway,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where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internet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egress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1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required.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4" name="object 3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72300" y="6000381"/>
            <a:ext cx="418528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Do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not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“fix”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private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subnet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egress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by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giving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every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VM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public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IP.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NAT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Gateway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overview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design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guidance.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72847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B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NAT</a:t>
            </a:r>
            <a:r>
              <a:rPr dirty="0" spc="-50"/>
              <a:t> </a:t>
            </a:r>
            <a:r>
              <a:rPr dirty="0"/>
              <a:t>Gateway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associated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10"/>
              <a:t>subnet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985634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supplies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source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network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address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translation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outbound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flows.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user-defined-route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next-hop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appliance.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3284" y="2052360"/>
            <a:ext cx="1930400" cy="1061720"/>
            <a:chOff x="863284" y="2052360"/>
            <a:chExt cx="1930400" cy="1061720"/>
          </a:xfrm>
        </p:grpSpPr>
        <p:sp>
          <p:nvSpPr>
            <p:cNvPr id="7" name="object 7"/>
            <p:cNvSpPr/>
            <p:nvPr/>
          </p:nvSpPr>
          <p:spPr>
            <a:xfrm>
              <a:off x="868324" y="2057400"/>
              <a:ext cx="1920239" cy="1051560"/>
            </a:xfrm>
            <a:custGeom>
              <a:avLst/>
              <a:gdLst/>
              <a:ahLst/>
              <a:cxnLst/>
              <a:rect l="l" t="t" r="r" b="b"/>
              <a:pathLst>
                <a:path w="1920239" h="1051560">
                  <a:moveTo>
                    <a:pt x="18651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996835"/>
                  </a:lnTo>
                  <a:lnTo>
                    <a:pt x="452" y="1003688"/>
                  </a:lnTo>
                  <a:lnTo>
                    <a:pt x="466" y="1003896"/>
                  </a:lnTo>
                  <a:lnTo>
                    <a:pt x="1798" y="1010696"/>
                  </a:lnTo>
                  <a:lnTo>
                    <a:pt x="1843" y="1010924"/>
                  </a:lnTo>
                  <a:lnTo>
                    <a:pt x="3994" y="1017434"/>
                  </a:lnTo>
                  <a:lnTo>
                    <a:pt x="4098" y="1017750"/>
                  </a:lnTo>
                  <a:lnTo>
                    <a:pt x="7200" y="1024204"/>
                  </a:lnTo>
                  <a:lnTo>
                    <a:pt x="40495" y="1049716"/>
                  </a:lnTo>
                  <a:lnTo>
                    <a:pt x="48065" y="1051204"/>
                  </a:lnTo>
                  <a:lnTo>
                    <a:pt x="49212" y="1051204"/>
                  </a:lnTo>
                  <a:lnTo>
                    <a:pt x="54711" y="1051560"/>
                  </a:lnTo>
                  <a:lnTo>
                    <a:pt x="1865515" y="1051204"/>
                  </a:lnTo>
                  <a:lnTo>
                    <a:pt x="1904169" y="1035267"/>
                  </a:lnTo>
                  <a:lnTo>
                    <a:pt x="1919731" y="1003896"/>
                  </a:lnTo>
                  <a:lnTo>
                    <a:pt x="1919772" y="1003688"/>
                  </a:lnTo>
                  <a:lnTo>
                    <a:pt x="1920216" y="996835"/>
                  </a:lnTo>
                  <a:lnTo>
                    <a:pt x="1920239" y="996480"/>
                  </a:lnTo>
                  <a:lnTo>
                    <a:pt x="1919871" y="54724"/>
                  </a:lnTo>
                  <a:lnTo>
                    <a:pt x="1903945" y="16063"/>
                  </a:lnTo>
                  <a:lnTo>
                    <a:pt x="1872368" y="466"/>
                  </a:lnTo>
                  <a:lnTo>
                    <a:pt x="186516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324" y="2057400"/>
              <a:ext cx="1920239" cy="1051560"/>
            </a:xfrm>
            <a:custGeom>
              <a:avLst/>
              <a:gdLst/>
              <a:ahLst/>
              <a:cxnLst/>
              <a:rect l="l" t="t" r="r" b="b"/>
              <a:pathLst>
                <a:path w="1920239" h="10515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865160" y="0"/>
                  </a:lnTo>
                  <a:lnTo>
                    <a:pt x="1903945" y="16063"/>
                  </a:lnTo>
                  <a:lnTo>
                    <a:pt x="1919871" y="54724"/>
                  </a:lnTo>
                  <a:lnTo>
                    <a:pt x="1920239" y="996480"/>
                  </a:lnTo>
                  <a:lnTo>
                    <a:pt x="1919772" y="1003688"/>
                  </a:lnTo>
                  <a:lnTo>
                    <a:pt x="1918392" y="1010696"/>
                  </a:lnTo>
                  <a:lnTo>
                    <a:pt x="1892871" y="1044003"/>
                  </a:lnTo>
                  <a:lnTo>
                    <a:pt x="54711" y="1051560"/>
                  </a:lnTo>
                  <a:lnTo>
                    <a:pt x="15925" y="1035496"/>
                  </a:lnTo>
                  <a:lnTo>
                    <a:pt x="0" y="99683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9ED8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94904" y="2372664"/>
            <a:ext cx="868044" cy="42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170" marR="5080" indent="-78105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3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10243F"/>
                </a:solidFill>
                <a:latin typeface="Arial"/>
                <a:cs typeface="Arial"/>
              </a:rPr>
              <a:t>VM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10.20.2.4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69560" y="1778040"/>
            <a:ext cx="3079115" cy="1610360"/>
            <a:chOff x="2869560" y="1778040"/>
            <a:chExt cx="3079115" cy="1610360"/>
          </a:xfrm>
        </p:grpSpPr>
        <p:sp>
          <p:nvSpPr>
            <p:cNvPr id="11" name="object 11"/>
            <p:cNvSpPr/>
            <p:nvPr/>
          </p:nvSpPr>
          <p:spPr>
            <a:xfrm>
              <a:off x="2880359" y="2578315"/>
              <a:ext cx="752475" cy="635"/>
            </a:xfrm>
            <a:custGeom>
              <a:avLst/>
              <a:gdLst/>
              <a:ahLst/>
              <a:cxnLst/>
              <a:rect l="l" t="t" r="r" b="b"/>
              <a:pathLst>
                <a:path w="752475" h="635">
                  <a:moveTo>
                    <a:pt x="0" y="0"/>
                  </a:moveTo>
                  <a:lnTo>
                    <a:pt x="752398" y="368"/>
                  </a:lnTo>
                </a:path>
              </a:pathLst>
            </a:custGeom>
            <a:ln w="21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27716" y="25408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48684" y="1783079"/>
              <a:ext cx="2194560" cy="1600200"/>
            </a:xfrm>
            <a:custGeom>
              <a:avLst/>
              <a:gdLst/>
              <a:ahLst/>
              <a:cxnLst/>
              <a:rect l="l" t="t" r="r" b="b"/>
              <a:pathLst>
                <a:path w="2194560" h="1600200">
                  <a:moveTo>
                    <a:pt x="21394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1545475"/>
                  </a:lnTo>
                  <a:lnTo>
                    <a:pt x="3994" y="1566074"/>
                  </a:lnTo>
                  <a:lnTo>
                    <a:pt x="4098" y="1566390"/>
                  </a:lnTo>
                  <a:lnTo>
                    <a:pt x="33757" y="1596101"/>
                  </a:lnTo>
                  <a:lnTo>
                    <a:pt x="48065" y="1599844"/>
                  </a:lnTo>
                  <a:lnTo>
                    <a:pt x="49212" y="1599844"/>
                  </a:lnTo>
                  <a:lnTo>
                    <a:pt x="54711" y="1600200"/>
                  </a:lnTo>
                  <a:lnTo>
                    <a:pt x="2139835" y="1599844"/>
                  </a:lnTo>
                  <a:lnTo>
                    <a:pt x="2178489" y="1583907"/>
                  </a:lnTo>
                  <a:lnTo>
                    <a:pt x="2194051" y="1552536"/>
                  </a:lnTo>
                  <a:lnTo>
                    <a:pt x="2194092" y="1552328"/>
                  </a:lnTo>
                  <a:lnTo>
                    <a:pt x="2194536" y="1545475"/>
                  </a:lnTo>
                  <a:lnTo>
                    <a:pt x="2194559" y="1545120"/>
                  </a:lnTo>
                  <a:lnTo>
                    <a:pt x="2194191" y="54724"/>
                  </a:lnTo>
                  <a:lnTo>
                    <a:pt x="2178265" y="16063"/>
                  </a:lnTo>
                  <a:lnTo>
                    <a:pt x="2146688" y="466"/>
                  </a:lnTo>
                  <a:lnTo>
                    <a:pt x="213948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48684" y="1783079"/>
              <a:ext cx="2194560" cy="1600200"/>
            </a:xfrm>
            <a:custGeom>
              <a:avLst/>
              <a:gdLst/>
              <a:ahLst/>
              <a:cxnLst/>
              <a:rect l="l" t="t" r="r" b="b"/>
              <a:pathLst>
                <a:path w="2194560" h="160020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139480" y="0"/>
                  </a:lnTo>
                  <a:lnTo>
                    <a:pt x="2178265" y="16063"/>
                  </a:lnTo>
                  <a:lnTo>
                    <a:pt x="2194191" y="54724"/>
                  </a:lnTo>
                  <a:lnTo>
                    <a:pt x="2194559" y="1545120"/>
                  </a:lnTo>
                  <a:lnTo>
                    <a:pt x="2194092" y="1552328"/>
                  </a:lnTo>
                  <a:lnTo>
                    <a:pt x="2192712" y="1559336"/>
                  </a:lnTo>
                  <a:lnTo>
                    <a:pt x="2167191" y="1592643"/>
                  </a:lnTo>
                  <a:lnTo>
                    <a:pt x="54711" y="1600200"/>
                  </a:lnTo>
                  <a:lnTo>
                    <a:pt x="15925" y="1584136"/>
                  </a:lnTo>
                  <a:lnTo>
                    <a:pt x="0" y="154547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AC3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013174" y="2296337"/>
            <a:ext cx="166306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46900"/>
                </a:solidFill>
                <a:latin typeface="Arial"/>
                <a:cs typeface="Arial"/>
              </a:rPr>
              <a:t>Subnet</a:t>
            </a:r>
            <a:endParaRPr sz="12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200" spc="-20" b="1">
                <a:solidFill>
                  <a:srgbClr val="C46900"/>
                </a:solidFill>
                <a:latin typeface="Arial"/>
                <a:cs typeface="Arial"/>
              </a:rPr>
              <a:t>NAT</a:t>
            </a:r>
            <a:r>
              <a:rPr dirty="0" sz="1200" spc="-4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Gateway</a:t>
            </a:r>
            <a:r>
              <a:rPr dirty="0" sz="1200" spc="-4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46900"/>
                </a:solidFill>
                <a:latin typeface="Arial"/>
                <a:cs typeface="Arial"/>
              </a:rPr>
              <a:t>attached </a:t>
            </a: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Public</a:t>
            </a:r>
            <a:r>
              <a:rPr dirty="0" sz="1200" spc="-3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IP</a:t>
            </a:r>
            <a:r>
              <a:rPr dirty="0" sz="1200" spc="-4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/</a:t>
            </a:r>
            <a:r>
              <a:rPr dirty="0" sz="1200" spc="-2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46900"/>
                </a:solidFill>
                <a:latin typeface="Arial"/>
                <a:cs typeface="Arial"/>
              </a:rPr>
              <a:t>prefix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05876" y="2052360"/>
            <a:ext cx="2594610" cy="1061720"/>
            <a:chOff x="6005876" y="2052360"/>
            <a:chExt cx="2594610" cy="1061720"/>
          </a:xfrm>
        </p:grpSpPr>
        <p:sp>
          <p:nvSpPr>
            <p:cNvPr id="17" name="object 17"/>
            <p:cNvSpPr/>
            <p:nvPr/>
          </p:nvSpPr>
          <p:spPr>
            <a:xfrm>
              <a:off x="6016675" y="2578315"/>
              <a:ext cx="725170" cy="635"/>
            </a:xfrm>
            <a:custGeom>
              <a:avLst/>
              <a:gdLst/>
              <a:ahLst/>
              <a:cxnLst/>
              <a:rect l="l" t="t" r="r" b="b"/>
              <a:pathLst>
                <a:path w="725170" h="635">
                  <a:moveTo>
                    <a:pt x="0" y="0"/>
                  </a:moveTo>
                  <a:lnTo>
                    <a:pt x="725043" y="368"/>
                  </a:lnTo>
                </a:path>
              </a:pathLst>
            </a:custGeom>
            <a:ln w="21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736676" y="25408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57644" y="2057400"/>
              <a:ext cx="1737360" cy="1051560"/>
            </a:xfrm>
            <a:custGeom>
              <a:avLst/>
              <a:gdLst/>
              <a:ahLst/>
              <a:cxnLst/>
              <a:rect l="l" t="t" r="r" b="b"/>
              <a:pathLst>
                <a:path w="1737359" h="1051560">
                  <a:moveTo>
                    <a:pt x="16822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996835"/>
                  </a:lnTo>
                  <a:lnTo>
                    <a:pt x="452" y="1003688"/>
                  </a:lnTo>
                  <a:lnTo>
                    <a:pt x="466" y="1003896"/>
                  </a:lnTo>
                  <a:lnTo>
                    <a:pt x="1798" y="1010696"/>
                  </a:lnTo>
                  <a:lnTo>
                    <a:pt x="1843" y="1010924"/>
                  </a:lnTo>
                  <a:lnTo>
                    <a:pt x="3994" y="1017434"/>
                  </a:lnTo>
                  <a:lnTo>
                    <a:pt x="4098" y="1017750"/>
                  </a:lnTo>
                  <a:lnTo>
                    <a:pt x="33757" y="1047461"/>
                  </a:lnTo>
                  <a:lnTo>
                    <a:pt x="48065" y="1051204"/>
                  </a:lnTo>
                  <a:lnTo>
                    <a:pt x="49212" y="1051204"/>
                  </a:lnTo>
                  <a:lnTo>
                    <a:pt x="54711" y="1051560"/>
                  </a:lnTo>
                  <a:lnTo>
                    <a:pt x="1682635" y="1051204"/>
                  </a:lnTo>
                  <a:lnTo>
                    <a:pt x="1721289" y="1035267"/>
                  </a:lnTo>
                  <a:lnTo>
                    <a:pt x="1737336" y="996835"/>
                  </a:lnTo>
                  <a:lnTo>
                    <a:pt x="1737360" y="996480"/>
                  </a:lnTo>
                  <a:lnTo>
                    <a:pt x="1736991" y="54724"/>
                  </a:lnTo>
                  <a:lnTo>
                    <a:pt x="1721065" y="16063"/>
                  </a:lnTo>
                  <a:lnTo>
                    <a:pt x="1689488" y="466"/>
                  </a:lnTo>
                  <a:lnTo>
                    <a:pt x="168228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57644" y="2057400"/>
              <a:ext cx="1737360" cy="1051560"/>
            </a:xfrm>
            <a:custGeom>
              <a:avLst/>
              <a:gdLst/>
              <a:ahLst/>
              <a:cxnLst/>
              <a:rect l="l" t="t" r="r" b="b"/>
              <a:pathLst>
                <a:path w="1737359" h="10515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682280" y="0"/>
                  </a:lnTo>
                  <a:lnTo>
                    <a:pt x="1721065" y="16063"/>
                  </a:lnTo>
                  <a:lnTo>
                    <a:pt x="1736991" y="54724"/>
                  </a:lnTo>
                  <a:lnTo>
                    <a:pt x="1737360" y="996480"/>
                  </a:lnTo>
                  <a:lnTo>
                    <a:pt x="1736892" y="1003688"/>
                  </a:lnTo>
                  <a:lnTo>
                    <a:pt x="1735512" y="1010696"/>
                  </a:lnTo>
                  <a:lnTo>
                    <a:pt x="1709991" y="1044003"/>
                  </a:lnTo>
                  <a:lnTo>
                    <a:pt x="54711" y="1051560"/>
                  </a:lnTo>
                  <a:lnTo>
                    <a:pt x="15925" y="1035496"/>
                  </a:lnTo>
                  <a:lnTo>
                    <a:pt x="0" y="99683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8C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231215" y="2387777"/>
            <a:ext cx="989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256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77D3"/>
                </a:solidFill>
                <a:latin typeface="Arial"/>
                <a:cs typeface="Arial"/>
              </a:rPr>
              <a:t>Internet </a:t>
            </a:r>
            <a:r>
              <a:rPr dirty="0" sz="1200" b="1">
                <a:solidFill>
                  <a:srgbClr val="0077D3"/>
                </a:solidFill>
                <a:latin typeface="Arial"/>
                <a:cs typeface="Arial"/>
              </a:rPr>
              <a:t>HTTPS</a:t>
            </a:r>
            <a:r>
              <a:rPr dirty="0" sz="1200" spc="-3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7D3"/>
                </a:solidFill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657635" y="2052360"/>
            <a:ext cx="2594610" cy="1061720"/>
            <a:chOff x="8657635" y="2052360"/>
            <a:chExt cx="2594610" cy="1061720"/>
          </a:xfrm>
        </p:grpSpPr>
        <p:sp>
          <p:nvSpPr>
            <p:cNvPr id="23" name="object 23"/>
            <p:cNvSpPr/>
            <p:nvPr/>
          </p:nvSpPr>
          <p:spPr>
            <a:xfrm>
              <a:off x="8668435" y="2578315"/>
              <a:ext cx="542290" cy="635"/>
            </a:xfrm>
            <a:custGeom>
              <a:avLst/>
              <a:gdLst/>
              <a:ahLst/>
              <a:cxnLst/>
              <a:rect l="l" t="t" r="r" b="b"/>
              <a:pathLst>
                <a:path w="542290" h="635">
                  <a:moveTo>
                    <a:pt x="0" y="0"/>
                  </a:moveTo>
                  <a:lnTo>
                    <a:pt x="542163" y="368"/>
                  </a:lnTo>
                </a:path>
              </a:pathLst>
            </a:custGeom>
            <a:ln w="21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205556" y="25408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326524" y="2057400"/>
              <a:ext cx="1920239" cy="1051560"/>
            </a:xfrm>
            <a:custGeom>
              <a:avLst/>
              <a:gdLst/>
              <a:ahLst/>
              <a:cxnLst/>
              <a:rect l="l" t="t" r="r" b="b"/>
              <a:pathLst>
                <a:path w="1920240" h="1051560">
                  <a:moveTo>
                    <a:pt x="18651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996835"/>
                  </a:lnTo>
                  <a:lnTo>
                    <a:pt x="3994" y="1017434"/>
                  </a:lnTo>
                  <a:lnTo>
                    <a:pt x="4098" y="1017750"/>
                  </a:lnTo>
                  <a:lnTo>
                    <a:pt x="33757" y="1047461"/>
                  </a:lnTo>
                  <a:lnTo>
                    <a:pt x="48065" y="1051204"/>
                  </a:lnTo>
                  <a:lnTo>
                    <a:pt x="49212" y="1051204"/>
                  </a:lnTo>
                  <a:lnTo>
                    <a:pt x="54711" y="1051560"/>
                  </a:lnTo>
                  <a:lnTo>
                    <a:pt x="1865515" y="1051204"/>
                  </a:lnTo>
                  <a:lnTo>
                    <a:pt x="1904169" y="1035267"/>
                  </a:lnTo>
                  <a:lnTo>
                    <a:pt x="1920216" y="996835"/>
                  </a:lnTo>
                  <a:lnTo>
                    <a:pt x="1920240" y="996480"/>
                  </a:lnTo>
                  <a:lnTo>
                    <a:pt x="1919871" y="54724"/>
                  </a:lnTo>
                  <a:lnTo>
                    <a:pt x="1903945" y="16063"/>
                  </a:lnTo>
                  <a:lnTo>
                    <a:pt x="1872368" y="466"/>
                  </a:lnTo>
                  <a:lnTo>
                    <a:pt x="1865160" y="0"/>
                  </a:lnTo>
                  <a:close/>
                </a:path>
              </a:pathLst>
            </a:custGeom>
            <a:solidFill>
              <a:srgbClr val="E9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326524" y="2057400"/>
              <a:ext cx="1920239" cy="1051560"/>
            </a:xfrm>
            <a:custGeom>
              <a:avLst/>
              <a:gdLst/>
              <a:ahLst/>
              <a:cxnLst/>
              <a:rect l="l" t="t" r="r" b="b"/>
              <a:pathLst>
                <a:path w="1920240" h="10515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865160" y="0"/>
                  </a:lnTo>
                  <a:lnTo>
                    <a:pt x="1903945" y="16063"/>
                  </a:lnTo>
                  <a:lnTo>
                    <a:pt x="1919871" y="54724"/>
                  </a:lnTo>
                  <a:lnTo>
                    <a:pt x="1920240" y="996480"/>
                  </a:lnTo>
                  <a:lnTo>
                    <a:pt x="1919772" y="1003688"/>
                  </a:lnTo>
                  <a:lnTo>
                    <a:pt x="1918392" y="1010696"/>
                  </a:lnTo>
                  <a:lnTo>
                    <a:pt x="1892871" y="1044003"/>
                  </a:lnTo>
                  <a:lnTo>
                    <a:pt x="54711" y="1051560"/>
                  </a:lnTo>
                  <a:lnTo>
                    <a:pt x="15925" y="1035496"/>
                  </a:lnTo>
                  <a:lnTo>
                    <a:pt x="0" y="99683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B8C5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795497" y="2387777"/>
            <a:ext cx="979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 marR="5080" indent="-7683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Return</a:t>
            </a:r>
            <a:r>
              <a:rPr dirty="0" sz="12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traffic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back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to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 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07744" y="3925620"/>
            <a:ext cx="3166745" cy="1064260"/>
            <a:chOff x="907744" y="3925620"/>
            <a:chExt cx="3166745" cy="1064260"/>
          </a:xfrm>
        </p:grpSpPr>
        <p:sp>
          <p:nvSpPr>
            <p:cNvPr id="29" name="object 29"/>
            <p:cNvSpPr/>
            <p:nvPr/>
          </p:nvSpPr>
          <p:spPr>
            <a:xfrm>
              <a:off x="914399" y="3931919"/>
              <a:ext cx="3154680" cy="1051560"/>
            </a:xfrm>
            <a:custGeom>
              <a:avLst/>
              <a:gdLst/>
              <a:ahLst/>
              <a:cxnLst/>
              <a:rect l="l" t="t" r="r" b="b"/>
              <a:pathLst>
                <a:path w="3154679" h="1051560">
                  <a:moveTo>
                    <a:pt x="30812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94" y="987755"/>
                  </a:lnTo>
                  <a:lnTo>
                    <a:pt x="607" y="987960"/>
                  </a:lnTo>
                  <a:lnTo>
                    <a:pt x="2394" y="997156"/>
                  </a:lnTo>
                  <a:lnTo>
                    <a:pt x="2428" y="997335"/>
                  </a:lnTo>
                  <a:lnTo>
                    <a:pt x="5412" y="1006219"/>
                  </a:lnTo>
                  <a:lnTo>
                    <a:pt x="36360" y="1041844"/>
                  </a:lnTo>
                  <a:lnTo>
                    <a:pt x="73075" y="1051559"/>
                  </a:lnTo>
                  <a:lnTo>
                    <a:pt x="3081604" y="1051204"/>
                  </a:lnTo>
                  <a:lnTo>
                    <a:pt x="3125974" y="1036100"/>
                  </a:lnTo>
                  <a:lnTo>
                    <a:pt x="3149138" y="1006375"/>
                  </a:lnTo>
                  <a:lnTo>
                    <a:pt x="3149215" y="1006219"/>
                  </a:lnTo>
                  <a:lnTo>
                    <a:pt x="3152191" y="997335"/>
                  </a:lnTo>
                  <a:lnTo>
                    <a:pt x="3152251" y="997156"/>
                  </a:lnTo>
                  <a:lnTo>
                    <a:pt x="3154032" y="987960"/>
                  </a:lnTo>
                  <a:lnTo>
                    <a:pt x="3154072" y="987755"/>
                  </a:lnTo>
                  <a:lnTo>
                    <a:pt x="3154656" y="978484"/>
                  </a:lnTo>
                  <a:lnTo>
                    <a:pt x="3154679" y="978115"/>
                  </a:lnTo>
                  <a:lnTo>
                    <a:pt x="3154324" y="73075"/>
                  </a:lnTo>
                  <a:lnTo>
                    <a:pt x="3139220" y="28705"/>
                  </a:lnTo>
                  <a:lnTo>
                    <a:pt x="3100276" y="2428"/>
                  </a:lnTo>
                  <a:lnTo>
                    <a:pt x="3090875" y="607"/>
                  </a:lnTo>
                  <a:lnTo>
                    <a:pt x="3081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14399" y="3931919"/>
              <a:ext cx="3154680" cy="1051560"/>
            </a:xfrm>
            <a:custGeom>
              <a:avLst/>
              <a:gdLst/>
              <a:ahLst/>
              <a:cxnLst/>
              <a:rect l="l" t="t" r="r" b="b"/>
              <a:pathLst>
                <a:path w="3154679" h="10515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081235" y="0"/>
                  </a:lnTo>
                  <a:lnTo>
                    <a:pt x="3125768" y="15104"/>
                  </a:lnTo>
                  <a:lnTo>
                    <a:pt x="3151893" y="54224"/>
                  </a:lnTo>
                  <a:lnTo>
                    <a:pt x="3154324" y="73075"/>
                  </a:lnTo>
                  <a:lnTo>
                    <a:pt x="3154679" y="978115"/>
                  </a:lnTo>
                  <a:lnTo>
                    <a:pt x="3154072" y="987755"/>
                  </a:lnTo>
                  <a:lnTo>
                    <a:pt x="3152251" y="997156"/>
                  </a:lnTo>
                  <a:lnTo>
                    <a:pt x="3125974" y="1036100"/>
                  </a:lnTo>
                  <a:lnTo>
                    <a:pt x="3081604" y="1051204"/>
                  </a:lnTo>
                  <a:lnTo>
                    <a:pt x="73075" y="1051559"/>
                  </a:lnTo>
                  <a:lnTo>
                    <a:pt x="28555" y="1036455"/>
                  </a:lnTo>
                  <a:lnTo>
                    <a:pt x="2428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14044" y="3931919"/>
              <a:ext cx="64135" cy="1051560"/>
            </a:xfrm>
            <a:custGeom>
              <a:avLst/>
              <a:gdLst/>
              <a:ahLst/>
              <a:cxnLst/>
              <a:rect l="l" t="t" r="r" b="b"/>
              <a:pathLst>
                <a:path w="64134" h="1051560">
                  <a:moveTo>
                    <a:pt x="63715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32029" y="1051204"/>
                  </a:lnTo>
                  <a:lnTo>
                    <a:pt x="63715" y="105120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14044" y="3931919"/>
              <a:ext cx="64135" cy="1051560"/>
            </a:xfrm>
            <a:custGeom>
              <a:avLst/>
              <a:gdLst/>
              <a:ahLst/>
              <a:cxnLst/>
              <a:rect l="l" t="t" r="r" b="b"/>
              <a:pathLst>
                <a:path w="64134" h="1051560">
                  <a:moveTo>
                    <a:pt x="32029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051204"/>
                  </a:lnTo>
                  <a:lnTo>
                    <a:pt x="32029" y="105120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02575" y="4117225"/>
            <a:ext cx="10699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Prerequisites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02944" y="441780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55217" y="4439780"/>
            <a:ext cx="1995805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Gateway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+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IP/prefix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+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associated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subnet.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92256" y="3925620"/>
            <a:ext cx="3166745" cy="1064260"/>
            <a:chOff x="4492256" y="3925620"/>
            <a:chExt cx="3166745" cy="1064260"/>
          </a:xfrm>
        </p:grpSpPr>
        <p:sp>
          <p:nvSpPr>
            <p:cNvPr id="37" name="object 37"/>
            <p:cNvSpPr/>
            <p:nvPr/>
          </p:nvSpPr>
          <p:spPr>
            <a:xfrm>
              <a:off x="4498924" y="3931919"/>
              <a:ext cx="3154680" cy="1051560"/>
            </a:xfrm>
            <a:custGeom>
              <a:avLst/>
              <a:gdLst/>
              <a:ahLst/>
              <a:cxnLst/>
              <a:rect l="l" t="t" r="r" b="b"/>
              <a:pathLst>
                <a:path w="3154679" h="1051560">
                  <a:moveTo>
                    <a:pt x="30812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412" y="1006219"/>
                  </a:lnTo>
                  <a:lnTo>
                    <a:pt x="5464" y="1006375"/>
                  </a:lnTo>
                  <a:lnTo>
                    <a:pt x="36360" y="1041844"/>
                  </a:lnTo>
                  <a:lnTo>
                    <a:pt x="73075" y="1051559"/>
                  </a:lnTo>
                  <a:lnTo>
                    <a:pt x="3081591" y="1051204"/>
                  </a:lnTo>
                  <a:lnTo>
                    <a:pt x="3125969" y="1036100"/>
                  </a:lnTo>
                  <a:lnTo>
                    <a:pt x="3149132" y="1006375"/>
                  </a:lnTo>
                  <a:lnTo>
                    <a:pt x="3149209" y="1006219"/>
                  </a:lnTo>
                  <a:lnTo>
                    <a:pt x="3154656" y="978484"/>
                  </a:lnTo>
                  <a:lnTo>
                    <a:pt x="3154679" y="978115"/>
                  </a:lnTo>
                  <a:lnTo>
                    <a:pt x="3154311" y="73075"/>
                  </a:lnTo>
                  <a:lnTo>
                    <a:pt x="3139220" y="28705"/>
                  </a:lnTo>
                  <a:lnTo>
                    <a:pt x="3100270" y="2428"/>
                  </a:lnTo>
                  <a:lnTo>
                    <a:pt x="3090869" y="607"/>
                  </a:lnTo>
                  <a:lnTo>
                    <a:pt x="3081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98924" y="3931919"/>
              <a:ext cx="3154680" cy="1051560"/>
            </a:xfrm>
            <a:custGeom>
              <a:avLst/>
              <a:gdLst/>
              <a:ahLst/>
              <a:cxnLst/>
              <a:rect l="l" t="t" r="r" b="b"/>
              <a:pathLst>
                <a:path w="3154679" h="10515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081235" y="0"/>
                  </a:lnTo>
                  <a:lnTo>
                    <a:pt x="3125763" y="15104"/>
                  </a:lnTo>
                  <a:lnTo>
                    <a:pt x="3151882" y="54224"/>
                  </a:lnTo>
                  <a:lnTo>
                    <a:pt x="3154311" y="73075"/>
                  </a:lnTo>
                  <a:lnTo>
                    <a:pt x="3154679" y="978115"/>
                  </a:lnTo>
                  <a:lnTo>
                    <a:pt x="3154072" y="987755"/>
                  </a:lnTo>
                  <a:lnTo>
                    <a:pt x="3152249" y="997156"/>
                  </a:lnTo>
                  <a:lnTo>
                    <a:pt x="3125969" y="1036100"/>
                  </a:lnTo>
                  <a:lnTo>
                    <a:pt x="3081591" y="1051204"/>
                  </a:lnTo>
                  <a:lnTo>
                    <a:pt x="73075" y="1051559"/>
                  </a:lnTo>
                  <a:lnTo>
                    <a:pt x="28548" y="1036455"/>
                  </a:lnTo>
                  <a:lnTo>
                    <a:pt x="2428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498555" y="3931919"/>
              <a:ext cx="64135" cy="1051560"/>
            </a:xfrm>
            <a:custGeom>
              <a:avLst/>
              <a:gdLst/>
              <a:ahLst/>
              <a:cxnLst/>
              <a:rect l="l" t="t" r="r" b="b"/>
              <a:pathLst>
                <a:path w="64135" h="1051560">
                  <a:moveTo>
                    <a:pt x="63728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32042" y="1051204"/>
                  </a:lnTo>
                  <a:lnTo>
                    <a:pt x="63728" y="105120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498555" y="3931919"/>
              <a:ext cx="64135" cy="1051560"/>
            </a:xfrm>
            <a:custGeom>
              <a:avLst/>
              <a:gdLst/>
              <a:ahLst/>
              <a:cxnLst/>
              <a:rect l="l" t="t" r="r" b="b"/>
              <a:pathLst>
                <a:path w="64135" h="1051560">
                  <a:moveTo>
                    <a:pt x="3204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51204"/>
                  </a:lnTo>
                  <a:lnTo>
                    <a:pt x="32042" y="105120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687099" y="4117225"/>
            <a:ext cx="100520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What</a:t>
            </a:r>
            <a:r>
              <a:rPr dirty="0" sz="13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it</a:t>
            </a:r>
            <a:r>
              <a:rPr dirty="0" sz="13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does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87455" y="441780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39741" y="4439780"/>
            <a:ext cx="2637790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Provides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SNAT;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response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traffic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is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mapped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back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originating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flow.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058415" y="3925620"/>
            <a:ext cx="3166745" cy="1064260"/>
            <a:chOff x="8058415" y="3925620"/>
            <a:chExt cx="3166745" cy="1064260"/>
          </a:xfrm>
        </p:grpSpPr>
        <p:sp>
          <p:nvSpPr>
            <p:cNvPr id="45" name="object 45"/>
            <p:cNvSpPr/>
            <p:nvPr/>
          </p:nvSpPr>
          <p:spPr>
            <a:xfrm>
              <a:off x="8065084" y="3931919"/>
              <a:ext cx="3154680" cy="1051560"/>
            </a:xfrm>
            <a:custGeom>
              <a:avLst/>
              <a:gdLst/>
              <a:ahLst/>
              <a:cxnLst/>
              <a:rect l="l" t="t" r="r" b="b"/>
              <a:pathLst>
                <a:path w="3154679" h="1051560">
                  <a:moveTo>
                    <a:pt x="30812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94" y="987755"/>
                  </a:lnTo>
                  <a:lnTo>
                    <a:pt x="607" y="987960"/>
                  </a:lnTo>
                  <a:lnTo>
                    <a:pt x="2394" y="997156"/>
                  </a:lnTo>
                  <a:lnTo>
                    <a:pt x="2428" y="997335"/>
                  </a:lnTo>
                  <a:lnTo>
                    <a:pt x="5412" y="1006219"/>
                  </a:lnTo>
                  <a:lnTo>
                    <a:pt x="36360" y="1041844"/>
                  </a:lnTo>
                  <a:lnTo>
                    <a:pt x="73075" y="1051559"/>
                  </a:lnTo>
                  <a:lnTo>
                    <a:pt x="3081591" y="1051204"/>
                  </a:lnTo>
                  <a:lnTo>
                    <a:pt x="3125969" y="1036100"/>
                  </a:lnTo>
                  <a:lnTo>
                    <a:pt x="3149132" y="1006375"/>
                  </a:lnTo>
                  <a:lnTo>
                    <a:pt x="3149209" y="1006219"/>
                  </a:lnTo>
                  <a:lnTo>
                    <a:pt x="3154656" y="978484"/>
                  </a:lnTo>
                  <a:lnTo>
                    <a:pt x="3154679" y="978115"/>
                  </a:lnTo>
                  <a:lnTo>
                    <a:pt x="3154311" y="73075"/>
                  </a:lnTo>
                  <a:lnTo>
                    <a:pt x="3139220" y="28705"/>
                  </a:lnTo>
                  <a:lnTo>
                    <a:pt x="3100270" y="2428"/>
                  </a:lnTo>
                  <a:lnTo>
                    <a:pt x="3090869" y="607"/>
                  </a:lnTo>
                  <a:lnTo>
                    <a:pt x="3081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065084" y="3931919"/>
              <a:ext cx="3154680" cy="1051560"/>
            </a:xfrm>
            <a:custGeom>
              <a:avLst/>
              <a:gdLst/>
              <a:ahLst/>
              <a:cxnLst/>
              <a:rect l="l" t="t" r="r" b="b"/>
              <a:pathLst>
                <a:path w="3154679" h="10515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081235" y="0"/>
                  </a:lnTo>
                  <a:lnTo>
                    <a:pt x="3125763" y="15104"/>
                  </a:lnTo>
                  <a:lnTo>
                    <a:pt x="3151882" y="54224"/>
                  </a:lnTo>
                  <a:lnTo>
                    <a:pt x="3154311" y="73075"/>
                  </a:lnTo>
                  <a:lnTo>
                    <a:pt x="3154679" y="978115"/>
                  </a:lnTo>
                  <a:lnTo>
                    <a:pt x="3154072" y="987755"/>
                  </a:lnTo>
                  <a:lnTo>
                    <a:pt x="3152249" y="997156"/>
                  </a:lnTo>
                  <a:lnTo>
                    <a:pt x="3125969" y="1036100"/>
                  </a:lnTo>
                  <a:lnTo>
                    <a:pt x="3081591" y="1051204"/>
                  </a:lnTo>
                  <a:lnTo>
                    <a:pt x="73075" y="1051559"/>
                  </a:lnTo>
                  <a:lnTo>
                    <a:pt x="28548" y="1036455"/>
                  </a:lnTo>
                  <a:lnTo>
                    <a:pt x="2428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064715" y="3931919"/>
              <a:ext cx="64135" cy="1051560"/>
            </a:xfrm>
            <a:custGeom>
              <a:avLst/>
              <a:gdLst/>
              <a:ahLst/>
              <a:cxnLst/>
              <a:rect l="l" t="t" r="r" b="b"/>
              <a:pathLst>
                <a:path w="64134" h="1051560">
                  <a:moveTo>
                    <a:pt x="63728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32042" y="1051204"/>
                  </a:lnTo>
                  <a:lnTo>
                    <a:pt x="63728" y="105120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064715" y="3931919"/>
              <a:ext cx="64135" cy="1051560"/>
            </a:xfrm>
            <a:custGeom>
              <a:avLst/>
              <a:gdLst/>
              <a:ahLst/>
              <a:cxnLst/>
              <a:rect l="l" t="t" r="r" b="b"/>
              <a:pathLst>
                <a:path w="64134" h="1051560">
                  <a:moveTo>
                    <a:pt x="3204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051204"/>
                  </a:lnTo>
                  <a:lnTo>
                    <a:pt x="32042" y="105120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253259" y="4117225"/>
            <a:ext cx="15538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What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it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does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10243F"/>
                </a:solidFill>
                <a:latin typeface="Arial"/>
                <a:cs typeface="Arial"/>
              </a:rPr>
              <a:t>do</a:t>
            </a:r>
            <a:endParaRPr sz="13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53615" y="441780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05901" y="4439780"/>
            <a:ext cx="2597785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does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grant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inbound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replace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NSG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review.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53" name="object 53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FE9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572300" y="6000381"/>
            <a:ext cx="686308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Correct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source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example</a:t>
            </a:r>
            <a:r>
              <a:rPr dirty="0" sz="100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if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it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routes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0.0.0.0/0</a:t>
            </a:r>
            <a:r>
              <a:rPr dirty="0" sz="100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to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B2C90"/>
                </a:solidFill>
                <a:latin typeface="Arial"/>
                <a:cs typeface="Arial"/>
              </a:rPr>
              <a:t>“VirtualAppliance”: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30" b="1">
                <a:solidFill>
                  <a:srgbClr val="5B2C90"/>
                </a:solidFill>
                <a:latin typeface="Arial"/>
                <a:cs typeface="Arial"/>
              </a:rPr>
              <a:t>NAT</a:t>
            </a:r>
            <a:r>
              <a:rPr dirty="0" sz="100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Gateway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attached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to</a:t>
            </a:r>
            <a:r>
              <a:rPr dirty="0" sz="1000" spc="-1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5B2C90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5B2C90"/>
                </a:solidFill>
                <a:latin typeface="Arial"/>
                <a:cs typeface="Arial"/>
              </a:rPr>
              <a:t>subnet.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NAT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Gateway</a:t>
            </a:r>
            <a:r>
              <a:rPr dirty="0" sz="700" spc="2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design.</a:t>
            </a:r>
            <a:endParaRPr sz="70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0585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2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-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2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Connectivity</a:t>
            </a:r>
            <a:r>
              <a:rPr dirty="0" spc="-50"/>
              <a:t> </a:t>
            </a:r>
            <a:r>
              <a:rPr dirty="0"/>
              <a:t>failures</a:t>
            </a:r>
            <a:r>
              <a:rPr dirty="0" spc="-45"/>
              <a:t> </a:t>
            </a:r>
            <a:r>
              <a:rPr dirty="0"/>
              <a:t>look</a:t>
            </a:r>
            <a:r>
              <a:rPr dirty="0" spc="-45"/>
              <a:t> </a:t>
            </a:r>
            <a:r>
              <a:rPr dirty="0"/>
              <a:t>similar</a:t>
            </a:r>
            <a:r>
              <a:rPr dirty="0" spc="-50"/>
              <a:t> </a:t>
            </a:r>
            <a:r>
              <a:rPr dirty="0"/>
              <a:t>but</a:t>
            </a:r>
            <a:r>
              <a:rPr dirty="0" spc="-45"/>
              <a:t> </a:t>
            </a:r>
            <a:r>
              <a:rPr dirty="0"/>
              <a:t>have</a:t>
            </a:r>
            <a:r>
              <a:rPr dirty="0" spc="-45"/>
              <a:t> </a:t>
            </a:r>
            <a:r>
              <a:rPr dirty="0"/>
              <a:t>different</a:t>
            </a:r>
            <a:r>
              <a:rPr dirty="0" spc="-55"/>
              <a:t> </a:t>
            </a:r>
            <a:r>
              <a:rPr dirty="0" spc="-10"/>
              <a:t>causes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33140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symptom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select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right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investigation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6A798F"/>
                </a:solidFill>
                <a:latin typeface="Arial"/>
                <a:cs typeface="Arial"/>
              </a:rPr>
              <a:t>path.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6815" y="1564106"/>
            <a:ext cx="6019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77D3"/>
                </a:solidFill>
                <a:latin typeface="Arial"/>
                <a:cs typeface="Arial"/>
              </a:rPr>
              <a:t>SYMPTOM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9935" y="1564106"/>
            <a:ext cx="82867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0077D3"/>
                </a:solidFill>
                <a:latin typeface="Arial"/>
                <a:cs typeface="Arial"/>
              </a:rPr>
              <a:t>LIKELY</a:t>
            </a:r>
            <a:r>
              <a:rPr dirty="0" sz="900" spc="-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77D3"/>
                </a:solidFill>
                <a:latin typeface="Arial"/>
                <a:cs typeface="Arial"/>
              </a:rPr>
              <a:t>LAYER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6184" y="1564106"/>
            <a:ext cx="135191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77D3"/>
                </a:solidFill>
                <a:latin typeface="Arial"/>
                <a:cs typeface="Arial"/>
              </a:rPr>
              <a:t>INVESTIGATION</a:t>
            </a:r>
            <a:r>
              <a:rPr dirty="0" sz="900" spc="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0077D3"/>
                </a:solidFill>
                <a:latin typeface="Arial"/>
                <a:cs typeface="Arial"/>
              </a:rPr>
              <a:t>ORDER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264" y="1564106"/>
            <a:ext cx="432434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77D3"/>
                </a:solidFill>
                <a:latin typeface="Arial"/>
                <a:cs typeface="Arial"/>
              </a:rPr>
              <a:t>PROOF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9204" y="1843200"/>
            <a:ext cx="10796905" cy="701675"/>
            <a:chOff x="709204" y="1843200"/>
            <a:chExt cx="10796905" cy="701675"/>
          </a:xfrm>
        </p:grpSpPr>
        <p:sp>
          <p:nvSpPr>
            <p:cNvPr id="11" name="object 11"/>
            <p:cNvSpPr/>
            <p:nvPr/>
          </p:nvSpPr>
          <p:spPr>
            <a:xfrm>
              <a:off x="712444" y="1846440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4" y="8280"/>
                  </a:lnTo>
                  <a:lnTo>
                    <a:pt x="0" y="664921"/>
                  </a:lnTo>
                  <a:lnTo>
                    <a:pt x="1692" y="671042"/>
                  </a:lnTo>
                  <a:lnTo>
                    <a:pt x="1790" y="671398"/>
                  </a:lnTo>
                  <a:lnTo>
                    <a:pt x="5029" y="676795"/>
                  </a:lnTo>
                  <a:lnTo>
                    <a:pt x="8280" y="682561"/>
                  </a:lnTo>
                  <a:lnTo>
                    <a:pt x="12954" y="686879"/>
                  </a:lnTo>
                  <a:lnTo>
                    <a:pt x="18351" y="690117"/>
                  </a:lnTo>
                  <a:lnTo>
                    <a:pt x="24117" y="693356"/>
                  </a:lnTo>
                  <a:lnTo>
                    <a:pt x="30238" y="695159"/>
                  </a:lnTo>
                  <a:lnTo>
                    <a:pt x="10760036" y="695159"/>
                  </a:lnTo>
                  <a:lnTo>
                    <a:pt x="10766513" y="693356"/>
                  </a:lnTo>
                  <a:lnTo>
                    <a:pt x="10771911" y="690117"/>
                  </a:lnTo>
                  <a:lnTo>
                    <a:pt x="10777677" y="686879"/>
                  </a:lnTo>
                  <a:lnTo>
                    <a:pt x="10781995" y="682205"/>
                  </a:lnTo>
                  <a:lnTo>
                    <a:pt x="10785233" y="676795"/>
                  </a:lnTo>
                  <a:lnTo>
                    <a:pt x="10788472" y="671042"/>
                  </a:lnTo>
                  <a:lnTo>
                    <a:pt x="10790275" y="664921"/>
                  </a:lnTo>
                  <a:lnTo>
                    <a:pt x="10790176" y="30238"/>
                  </a:lnTo>
                  <a:lnTo>
                    <a:pt x="10788472" y="24117"/>
                  </a:lnTo>
                  <a:lnTo>
                    <a:pt x="10785233" y="18719"/>
                  </a:lnTo>
                  <a:lnTo>
                    <a:pt x="10781995" y="12953"/>
                  </a:lnTo>
                  <a:lnTo>
                    <a:pt x="10777321" y="8636"/>
                  </a:lnTo>
                  <a:lnTo>
                    <a:pt x="10771911" y="5397"/>
                  </a:lnTo>
                  <a:lnTo>
                    <a:pt x="10766158" y="2159"/>
                  </a:lnTo>
                  <a:lnTo>
                    <a:pt x="1076003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2444" y="1846440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64"/>
                  </a:lnTo>
                  <a:lnTo>
                    <a:pt x="8635" y="12953"/>
                  </a:lnTo>
                  <a:lnTo>
                    <a:pt x="12954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53559" y="355"/>
                  </a:lnTo>
                  <a:lnTo>
                    <a:pt x="10760036" y="355"/>
                  </a:lnTo>
                  <a:lnTo>
                    <a:pt x="10766158" y="2159"/>
                  </a:lnTo>
                  <a:lnTo>
                    <a:pt x="10771911" y="5397"/>
                  </a:lnTo>
                  <a:lnTo>
                    <a:pt x="10777321" y="8636"/>
                  </a:lnTo>
                  <a:lnTo>
                    <a:pt x="10781995" y="12953"/>
                  </a:lnTo>
                  <a:lnTo>
                    <a:pt x="10785233" y="18719"/>
                  </a:lnTo>
                  <a:lnTo>
                    <a:pt x="10788472" y="24117"/>
                  </a:lnTo>
                  <a:lnTo>
                    <a:pt x="10790275" y="30594"/>
                  </a:lnTo>
                  <a:lnTo>
                    <a:pt x="10790275" y="37084"/>
                  </a:lnTo>
                  <a:lnTo>
                    <a:pt x="10790275" y="658444"/>
                  </a:lnTo>
                  <a:lnTo>
                    <a:pt x="10790275" y="664921"/>
                  </a:lnTo>
                  <a:lnTo>
                    <a:pt x="10788472" y="671042"/>
                  </a:lnTo>
                  <a:lnTo>
                    <a:pt x="10785233" y="676795"/>
                  </a:lnTo>
                  <a:lnTo>
                    <a:pt x="10781995" y="682205"/>
                  </a:lnTo>
                  <a:lnTo>
                    <a:pt x="10777677" y="686879"/>
                  </a:lnTo>
                  <a:lnTo>
                    <a:pt x="10771911" y="690117"/>
                  </a:lnTo>
                  <a:lnTo>
                    <a:pt x="10766513" y="693356"/>
                  </a:lnTo>
                  <a:lnTo>
                    <a:pt x="10760036" y="695159"/>
                  </a:lnTo>
                  <a:lnTo>
                    <a:pt x="10753559" y="695159"/>
                  </a:lnTo>
                  <a:lnTo>
                    <a:pt x="36715" y="695159"/>
                  </a:lnTo>
                  <a:lnTo>
                    <a:pt x="30238" y="695159"/>
                  </a:lnTo>
                  <a:lnTo>
                    <a:pt x="24117" y="693356"/>
                  </a:lnTo>
                  <a:lnTo>
                    <a:pt x="18351" y="690117"/>
                  </a:lnTo>
                  <a:lnTo>
                    <a:pt x="12954" y="686879"/>
                  </a:lnTo>
                  <a:lnTo>
                    <a:pt x="8280" y="682561"/>
                  </a:lnTo>
                  <a:lnTo>
                    <a:pt x="5029" y="676795"/>
                  </a:lnTo>
                  <a:lnTo>
                    <a:pt x="1790" y="671398"/>
                  </a:lnTo>
                  <a:lnTo>
                    <a:pt x="0" y="664921"/>
                  </a:lnTo>
                  <a:lnTo>
                    <a:pt x="0" y="65844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55980" y="2093658"/>
            <a:ext cx="142303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hangs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/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times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10243F"/>
                </a:solidFill>
                <a:latin typeface="Arial"/>
                <a:cs typeface="Arial"/>
              </a:rPr>
              <a:t>out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40304" y="2024900"/>
            <a:ext cx="223583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IP</a:t>
            </a:r>
            <a:r>
              <a:rPr dirty="0" sz="9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path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missing;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route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block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6540" y="2099068"/>
            <a:ext cx="1983739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IP/path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key/user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39495F"/>
                </a:solidFill>
                <a:latin typeface="Arial"/>
                <a:cs typeface="Arial"/>
              </a:rPr>
              <a:t>sshd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62264" y="2099068"/>
            <a:ext cx="210693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SSH</a:t>
            </a:r>
            <a:r>
              <a:rPr dirty="0" sz="950" spc="5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connects</a:t>
            </a:r>
            <a:r>
              <a:rPr dirty="0" sz="950" spc="5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from</a:t>
            </a:r>
            <a:r>
              <a:rPr dirty="0" sz="950" spc="5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approved</a:t>
            </a:r>
            <a:r>
              <a:rPr dirty="0" sz="950" spc="4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0A5A5"/>
                </a:solidFill>
                <a:latin typeface="Arial"/>
                <a:cs typeface="Arial"/>
              </a:rPr>
              <a:t>client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9204" y="2684524"/>
            <a:ext cx="10796905" cy="701675"/>
            <a:chOff x="709204" y="2684524"/>
            <a:chExt cx="10796905" cy="701675"/>
          </a:xfrm>
        </p:grpSpPr>
        <p:sp>
          <p:nvSpPr>
            <p:cNvPr id="18" name="object 18"/>
            <p:cNvSpPr/>
            <p:nvPr/>
          </p:nvSpPr>
          <p:spPr>
            <a:xfrm>
              <a:off x="712444" y="2687764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0594" y="0"/>
                  </a:moveTo>
                  <a:lnTo>
                    <a:pt x="24117" y="1790"/>
                  </a:lnTo>
                  <a:lnTo>
                    <a:pt x="18719" y="5029"/>
                  </a:lnTo>
                  <a:lnTo>
                    <a:pt x="12954" y="8280"/>
                  </a:lnTo>
                  <a:lnTo>
                    <a:pt x="0" y="664921"/>
                  </a:lnTo>
                  <a:lnTo>
                    <a:pt x="1688" y="671029"/>
                  </a:lnTo>
                  <a:lnTo>
                    <a:pt x="1790" y="671398"/>
                  </a:lnTo>
                  <a:lnTo>
                    <a:pt x="5029" y="676795"/>
                  </a:lnTo>
                  <a:lnTo>
                    <a:pt x="8280" y="682561"/>
                  </a:lnTo>
                  <a:lnTo>
                    <a:pt x="12954" y="686879"/>
                  </a:lnTo>
                  <a:lnTo>
                    <a:pt x="18351" y="690118"/>
                  </a:lnTo>
                  <a:lnTo>
                    <a:pt x="24117" y="693356"/>
                  </a:lnTo>
                  <a:lnTo>
                    <a:pt x="30238" y="695159"/>
                  </a:lnTo>
                  <a:lnTo>
                    <a:pt x="10760036" y="695159"/>
                  </a:lnTo>
                  <a:lnTo>
                    <a:pt x="10766513" y="693356"/>
                  </a:lnTo>
                  <a:lnTo>
                    <a:pt x="10771911" y="690118"/>
                  </a:lnTo>
                  <a:lnTo>
                    <a:pt x="10777677" y="686879"/>
                  </a:lnTo>
                  <a:lnTo>
                    <a:pt x="10781995" y="682193"/>
                  </a:lnTo>
                  <a:lnTo>
                    <a:pt x="10785233" y="676795"/>
                  </a:lnTo>
                  <a:lnTo>
                    <a:pt x="10788472" y="671029"/>
                  </a:lnTo>
                  <a:lnTo>
                    <a:pt x="10790275" y="664921"/>
                  </a:lnTo>
                  <a:lnTo>
                    <a:pt x="10790176" y="30238"/>
                  </a:lnTo>
                  <a:lnTo>
                    <a:pt x="10788472" y="24117"/>
                  </a:lnTo>
                  <a:lnTo>
                    <a:pt x="10785233" y="18719"/>
                  </a:lnTo>
                  <a:lnTo>
                    <a:pt x="10781995" y="12953"/>
                  </a:lnTo>
                  <a:lnTo>
                    <a:pt x="10777321" y="8636"/>
                  </a:lnTo>
                  <a:lnTo>
                    <a:pt x="10771911" y="5397"/>
                  </a:lnTo>
                  <a:lnTo>
                    <a:pt x="10766158" y="2159"/>
                  </a:lnTo>
                  <a:lnTo>
                    <a:pt x="1076003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12444" y="2687764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51"/>
                  </a:lnTo>
                  <a:lnTo>
                    <a:pt x="8635" y="12953"/>
                  </a:lnTo>
                  <a:lnTo>
                    <a:pt x="12954" y="8280"/>
                  </a:lnTo>
                  <a:lnTo>
                    <a:pt x="18719" y="5029"/>
                  </a:lnTo>
                  <a:lnTo>
                    <a:pt x="24117" y="1790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53559" y="355"/>
                  </a:lnTo>
                  <a:lnTo>
                    <a:pt x="10760036" y="355"/>
                  </a:lnTo>
                  <a:lnTo>
                    <a:pt x="10766158" y="2159"/>
                  </a:lnTo>
                  <a:lnTo>
                    <a:pt x="10771911" y="5397"/>
                  </a:lnTo>
                  <a:lnTo>
                    <a:pt x="10777321" y="8636"/>
                  </a:lnTo>
                  <a:lnTo>
                    <a:pt x="10781995" y="12953"/>
                  </a:lnTo>
                  <a:lnTo>
                    <a:pt x="10785233" y="18719"/>
                  </a:lnTo>
                  <a:lnTo>
                    <a:pt x="10788472" y="24117"/>
                  </a:lnTo>
                  <a:lnTo>
                    <a:pt x="10790275" y="30594"/>
                  </a:lnTo>
                  <a:lnTo>
                    <a:pt x="10790275" y="37071"/>
                  </a:lnTo>
                  <a:lnTo>
                    <a:pt x="10790275" y="658431"/>
                  </a:lnTo>
                  <a:lnTo>
                    <a:pt x="10790275" y="664921"/>
                  </a:lnTo>
                  <a:lnTo>
                    <a:pt x="10788472" y="671029"/>
                  </a:lnTo>
                  <a:lnTo>
                    <a:pt x="10785233" y="676795"/>
                  </a:lnTo>
                  <a:lnTo>
                    <a:pt x="10781995" y="682193"/>
                  </a:lnTo>
                  <a:lnTo>
                    <a:pt x="10777677" y="686879"/>
                  </a:lnTo>
                  <a:lnTo>
                    <a:pt x="10771911" y="690118"/>
                  </a:lnTo>
                  <a:lnTo>
                    <a:pt x="10766513" y="693356"/>
                  </a:lnTo>
                  <a:lnTo>
                    <a:pt x="10760036" y="695159"/>
                  </a:lnTo>
                  <a:lnTo>
                    <a:pt x="10753559" y="695159"/>
                  </a:lnTo>
                  <a:lnTo>
                    <a:pt x="36715" y="695159"/>
                  </a:lnTo>
                  <a:lnTo>
                    <a:pt x="30238" y="695159"/>
                  </a:lnTo>
                  <a:lnTo>
                    <a:pt x="24117" y="693356"/>
                  </a:lnTo>
                  <a:lnTo>
                    <a:pt x="18351" y="690118"/>
                  </a:lnTo>
                  <a:lnTo>
                    <a:pt x="12954" y="686879"/>
                  </a:lnTo>
                  <a:lnTo>
                    <a:pt x="8280" y="682561"/>
                  </a:lnTo>
                  <a:lnTo>
                    <a:pt x="5029" y="676795"/>
                  </a:lnTo>
                  <a:lnTo>
                    <a:pt x="1790" y="671398"/>
                  </a:lnTo>
                  <a:lnTo>
                    <a:pt x="0" y="664921"/>
                  </a:lnTo>
                  <a:lnTo>
                    <a:pt x="0" y="658431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55980" y="2934982"/>
            <a:ext cx="161480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05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immediately</a:t>
            </a:r>
            <a:r>
              <a:rPr dirty="0" sz="105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refused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40304" y="2866225"/>
            <a:ext cx="197040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Network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path</a:t>
            </a:r>
            <a:r>
              <a:rPr dirty="0" sz="9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9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work;</a:t>
            </a:r>
            <a:r>
              <a:rPr dirty="0" sz="9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9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39495F"/>
                </a:solidFill>
                <a:latin typeface="Arial"/>
                <a:cs typeface="Arial"/>
              </a:rPr>
              <a:t>SSH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9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listening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6540" y="2940380"/>
            <a:ext cx="197358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+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reachability</a:t>
            </a:r>
            <a:r>
              <a:rPr dirty="0" sz="9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62264" y="2940380"/>
            <a:ext cx="1717039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TCP/22</a:t>
            </a:r>
            <a:r>
              <a:rPr dirty="0" sz="950" spc="6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handshake</a:t>
            </a:r>
            <a:r>
              <a:rPr dirty="0" sz="950" spc="6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0A5A5"/>
                </a:solidFill>
                <a:latin typeface="Arial"/>
                <a:cs typeface="Arial"/>
              </a:rPr>
              <a:t>succeeds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9204" y="3525480"/>
            <a:ext cx="10796905" cy="701675"/>
            <a:chOff x="709204" y="3525480"/>
            <a:chExt cx="10796905" cy="701675"/>
          </a:xfrm>
        </p:grpSpPr>
        <p:sp>
          <p:nvSpPr>
            <p:cNvPr id="25" name="object 25"/>
            <p:cNvSpPr/>
            <p:nvPr/>
          </p:nvSpPr>
          <p:spPr>
            <a:xfrm>
              <a:off x="712444" y="3528720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0594" y="0"/>
                  </a:moveTo>
                  <a:lnTo>
                    <a:pt x="24117" y="1803"/>
                  </a:lnTo>
                  <a:lnTo>
                    <a:pt x="18719" y="5041"/>
                  </a:lnTo>
                  <a:lnTo>
                    <a:pt x="12954" y="8280"/>
                  </a:lnTo>
                  <a:lnTo>
                    <a:pt x="0" y="664921"/>
                  </a:lnTo>
                  <a:lnTo>
                    <a:pt x="1692" y="671042"/>
                  </a:lnTo>
                  <a:lnTo>
                    <a:pt x="1790" y="671398"/>
                  </a:lnTo>
                  <a:lnTo>
                    <a:pt x="5029" y="676795"/>
                  </a:lnTo>
                  <a:lnTo>
                    <a:pt x="8280" y="682561"/>
                  </a:lnTo>
                  <a:lnTo>
                    <a:pt x="12954" y="686879"/>
                  </a:lnTo>
                  <a:lnTo>
                    <a:pt x="18351" y="690118"/>
                  </a:lnTo>
                  <a:lnTo>
                    <a:pt x="24117" y="693356"/>
                  </a:lnTo>
                  <a:lnTo>
                    <a:pt x="30238" y="695159"/>
                  </a:lnTo>
                  <a:lnTo>
                    <a:pt x="10760036" y="695159"/>
                  </a:lnTo>
                  <a:lnTo>
                    <a:pt x="10766513" y="693356"/>
                  </a:lnTo>
                  <a:lnTo>
                    <a:pt x="10771911" y="690118"/>
                  </a:lnTo>
                  <a:lnTo>
                    <a:pt x="10777677" y="686879"/>
                  </a:lnTo>
                  <a:lnTo>
                    <a:pt x="10781995" y="682205"/>
                  </a:lnTo>
                  <a:lnTo>
                    <a:pt x="10785233" y="676795"/>
                  </a:lnTo>
                  <a:lnTo>
                    <a:pt x="10788472" y="671042"/>
                  </a:lnTo>
                  <a:lnTo>
                    <a:pt x="10790275" y="664921"/>
                  </a:lnTo>
                  <a:lnTo>
                    <a:pt x="10790176" y="30238"/>
                  </a:lnTo>
                  <a:lnTo>
                    <a:pt x="10788472" y="24117"/>
                  </a:lnTo>
                  <a:lnTo>
                    <a:pt x="10785233" y="18719"/>
                  </a:lnTo>
                  <a:lnTo>
                    <a:pt x="10781995" y="12954"/>
                  </a:lnTo>
                  <a:lnTo>
                    <a:pt x="10777321" y="8636"/>
                  </a:lnTo>
                  <a:lnTo>
                    <a:pt x="10771911" y="5397"/>
                  </a:lnTo>
                  <a:lnTo>
                    <a:pt x="10766158" y="2159"/>
                  </a:lnTo>
                  <a:lnTo>
                    <a:pt x="1076003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2444" y="3528720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64"/>
                  </a:lnTo>
                  <a:lnTo>
                    <a:pt x="8635" y="12954"/>
                  </a:lnTo>
                  <a:lnTo>
                    <a:pt x="12954" y="8280"/>
                  </a:lnTo>
                  <a:lnTo>
                    <a:pt x="18719" y="5041"/>
                  </a:lnTo>
                  <a:lnTo>
                    <a:pt x="24117" y="1803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53559" y="355"/>
                  </a:lnTo>
                  <a:lnTo>
                    <a:pt x="10760036" y="355"/>
                  </a:lnTo>
                  <a:lnTo>
                    <a:pt x="10766158" y="2159"/>
                  </a:lnTo>
                  <a:lnTo>
                    <a:pt x="10771911" y="5397"/>
                  </a:lnTo>
                  <a:lnTo>
                    <a:pt x="10777321" y="8636"/>
                  </a:lnTo>
                  <a:lnTo>
                    <a:pt x="10781995" y="12954"/>
                  </a:lnTo>
                  <a:lnTo>
                    <a:pt x="10785233" y="18719"/>
                  </a:lnTo>
                  <a:lnTo>
                    <a:pt x="10788472" y="24117"/>
                  </a:lnTo>
                  <a:lnTo>
                    <a:pt x="10790275" y="30594"/>
                  </a:lnTo>
                  <a:lnTo>
                    <a:pt x="10790275" y="37084"/>
                  </a:lnTo>
                  <a:lnTo>
                    <a:pt x="10790275" y="658444"/>
                  </a:lnTo>
                  <a:lnTo>
                    <a:pt x="10790275" y="664921"/>
                  </a:lnTo>
                  <a:lnTo>
                    <a:pt x="10788472" y="671042"/>
                  </a:lnTo>
                  <a:lnTo>
                    <a:pt x="10785233" y="676795"/>
                  </a:lnTo>
                  <a:lnTo>
                    <a:pt x="10781995" y="682205"/>
                  </a:lnTo>
                  <a:lnTo>
                    <a:pt x="10777677" y="686879"/>
                  </a:lnTo>
                  <a:lnTo>
                    <a:pt x="10771911" y="690118"/>
                  </a:lnTo>
                  <a:lnTo>
                    <a:pt x="10766513" y="693356"/>
                  </a:lnTo>
                  <a:lnTo>
                    <a:pt x="10760036" y="695159"/>
                  </a:lnTo>
                  <a:lnTo>
                    <a:pt x="10753559" y="695159"/>
                  </a:lnTo>
                  <a:lnTo>
                    <a:pt x="36715" y="695159"/>
                  </a:lnTo>
                  <a:lnTo>
                    <a:pt x="30238" y="695159"/>
                  </a:lnTo>
                  <a:lnTo>
                    <a:pt x="24117" y="693356"/>
                  </a:lnTo>
                  <a:lnTo>
                    <a:pt x="18351" y="690118"/>
                  </a:lnTo>
                  <a:lnTo>
                    <a:pt x="12954" y="686879"/>
                  </a:lnTo>
                  <a:lnTo>
                    <a:pt x="8280" y="682561"/>
                  </a:lnTo>
                  <a:lnTo>
                    <a:pt x="5029" y="676795"/>
                  </a:lnTo>
                  <a:lnTo>
                    <a:pt x="1790" y="671398"/>
                  </a:lnTo>
                  <a:lnTo>
                    <a:pt x="0" y="664921"/>
                  </a:lnTo>
                  <a:lnTo>
                    <a:pt x="0" y="658444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55980" y="3696741"/>
            <a:ext cx="1452880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05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cannot</a:t>
            </a:r>
            <a:r>
              <a:rPr dirty="0" sz="105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0243F"/>
                </a:solidFill>
                <a:latin typeface="Arial"/>
                <a:cs typeface="Arial"/>
              </a:rPr>
              <a:t>curl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internet</a:t>
            </a:r>
            <a:endParaRPr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40304" y="3707549"/>
            <a:ext cx="211709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Missing</a:t>
            </a:r>
            <a:r>
              <a:rPr dirty="0" sz="9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Gateway/egress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method,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9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39495F"/>
                </a:solidFill>
                <a:latin typeface="Arial"/>
                <a:cs typeface="Arial"/>
              </a:rPr>
              <a:t>DNS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36540" y="3707549"/>
            <a:ext cx="2075814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9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association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9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39495F"/>
                </a:solidFill>
                <a:latin typeface="Arial"/>
                <a:cs typeface="Arial"/>
              </a:rPr>
              <a:t>→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DNS/target</a:t>
            </a:r>
            <a:endParaRPr sz="9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62264" y="3781704"/>
            <a:ext cx="257937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curl</a:t>
            </a:r>
            <a:r>
              <a:rPr dirty="0" sz="950" spc="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to</a:t>
            </a:r>
            <a:r>
              <a:rPr dirty="0" sz="950" spc="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approved</a:t>
            </a:r>
            <a:r>
              <a:rPr dirty="0" sz="950" spc="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HTTPS</a:t>
            </a:r>
            <a:r>
              <a:rPr dirty="0" sz="950" spc="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endpoint</a:t>
            </a:r>
            <a:r>
              <a:rPr dirty="0" sz="950" spc="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0A5A5"/>
                </a:solidFill>
                <a:latin typeface="Arial"/>
                <a:cs typeface="Arial"/>
              </a:rPr>
              <a:t>succeeds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9204" y="4366804"/>
            <a:ext cx="10796905" cy="701675"/>
            <a:chOff x="709204" y="4366804"/>
            <a:chExt cx="10796905" cy="701675"/>
          </a:xfrm>
        </p:grpSpPr>
        <p:sp>
          <p:nvSpPr>
            <p:cNvPr id="32" name="object 32"/>
            <p:cNvSpPr/>
            <p:nvPr/>
          </p:nvSpPr>
          <p:spPr>
            <a:xfrm>
              <a:off x="712444" y="4370044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0594" y="0"/>
                  </a:moveTo>
                  <a:lnTo>
                    <a:pt x="24117" y="1790"/>
                  </a:lnTo>
                  <a:lnTo>
                    <a:pt x="18719" y="5029"/>
                  </a:lnTo>
                  <a:lnTo>
                    <a:pt x="12954" y="8280"/>
                  </a:lnTo>
                  <a:lnTo>
                    <a:pt x="0" y="664921"/>
                  </a:lnTo>
                  <a:lnTo>
                    <a:pt x="1688" y="671029"/>
                  </a:lnTo>
                  <a:lnTo>
                    <a:pt x="1790" y="671398"/>
                  </a:lnTo>
                  <a:lnTo>
                    <a:pt x="5029" y="676795"/>
                  </a:lnTo>
                  <a:lnTo>
                    <a:pt x="8280" y="682561"/>
                  </a:lnTo>
                  <a:lnTo>
                    <a:pt x="12954" y="686879"/>
                  </a:lnTo>
                  <a:lnTo>
                    <a:pt x="18351" y="690117"/>
                  </a:lnTo>
                  <a:lnTo>
                    <a:pt x="24117" y="693356"/>
                  </a:lnTo>
                  <a:lnTo>
                    <a:pt x="30238" y="695159"/>
                  </a:lnTo>
                  <a:lnTo>
                    <a:pt x="10760036" y="695159"/>
                  </a:lnTo>
                  <a:lnTo>
                    <a:pt x="10766513" y="693356"/>
                  </a:lnTo>
                  <a:lnTo>
                    <a:pt x="10771911" y="690117"/>
                  </a:lnTo>
                  <a:lnTo>
                    <a:pt x="10777677" y="686879"/>
                  </a:lnTo>
                  <a:lnTo>
                    <a:pt x="10781995" y="682193"/>
                  </a:lnTo>
                  <a:lnTo>
                    <a:pt x="10785233" y="676795"/>
                  </a:lnTo>
                  <a:lnTo>
                    <a:pt x="10788472" y="671029"/>
                  </a:lnTo>
                  <a:lnTo>
                    <a:pt x="10790275" y="664921"/>
                  </a:lnTo>
                  <a:lnTo>
                    <a:pt x="10790176" y="30238"/>
                  </a:lnTo>
                  <a:lnTo>
                    <a:pt x="10788472" y="24117"/>
                  </a:lnTo>
                  <a:lnTo>
                    <a:pt x="10785233" y="18719"/>
                  </a:lnTo>
                  <a:lnTo>
                    <a:pt x="10781995" y="12953"/>
                  </a:lnTo>
                  <a:lnTo>
                    <a:pt x="10777321" y="8635"/>
                  </a:lnTo>
                  <a:lnTo>
                    <a:pt x="10771911" y="5397"/>
                  </a:lnTo>
                  <a:lnTo>
                    <a:pt x="10766158" y="2158"/>
                  </a:lnTo>
                  <a:lnTo>
                    <a:pt x="10760036" y="355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EF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12444" y="4370044"/>
              <a:ext cx="10790555" cy="695325"/>
            </a:xfrm>
            <a:custGeom>
              <a:avLst/>
              <a:gdLst/>
              <a:ahLst/>
              <a:cxnLst/>
              <a:rect l="l" t="t" r="r" b="b"/>
              <a:pathLst>
                <a:path w="10790555" h="695325">
                  <a:moveTo>
                    <a:pt x="355" y="36715"/>
                  </a:moveTo>
                  <a:lnTo>
                    <a:pt x="355" y="30238"/>
                  </a:lnTo>
                  <a:lnTo>
                    <a:pt x="2159" y="24117"/>
                  </a:lnTo>
                  <a:lnTo>
                    <a:pt x="5397" y="18351"/>
                  </a:lnTo>
                  <a:lnTo>
                    <a:pt x="8635" y="12953"/>
                  </a:lnTo>
                  <a:lnTo>
                    <a:pt x="12954" y="8280"/>
                  </a:lnTo>
                  <a:lnTo>
                    <a:pt x="18719" y="5029"/>
                  </a:lnTo>
                  <a:lnTo>
                    <a:pt x="24117" y="1790"/>
                  </a:lnTo>
                  <a:lnTo>
                    <a:pt x="30594" y="0"/>
                  </a:lnTo>
                  <a:lnTo>
                    <a:pt x="37071" y="0"/>
                  </a:lnTo>
                  <a:lnTo>
                    <a:pt x="10753559" y="355"/>
                  </a:lnTo>
                  <a:lnTo>
                    <a:pt x="10760036" y="355"/>
                  </a:lnTo>
                  <a:lnTo>
                    <a:pt x="10766158" y="2158"/>
                  </a:lnTo>
                  <a:lnTo>
                    <a:pt x="10771911" y="5397"/>
                  </a:lnTo>
                  <a:lnTo>
                    <a:pt x="10777321" y="8635"/>
                  </a:lnTo>
                  <a:lnTo>
                    <a:pt x="10781995" y="12953"/>
                  </a:lnTo>
                  <a:lnTo>
                    <a:pt x="10785233" y="18719"/>
                  </a:lnTo>
                  <a:lnTo>
                    <a:pt x="10788472" y="24117"/>
                  </a:lnTo>
                  <a:lnTo>
                    <a:pt x="10790275" y="30594"/>
                  </a:lnTo>
                  <a:lnTo>
                    <a:pt x="10790275" y="37071"/>
                  </a:lnTo>
                  <a:lnTo>
                    <a:pt x="10790275" y="658431"/>
                  </a:lnTo>
                  <a:lnTo>
                    <a:pt x="10790275" y="664921"/>
                  </a:lnTo>
                  <a:lnTo>
                    <a:pt x="10788472" y="671029"/>
                  </a:lnTo>
                  <a:lnTo>
                    <a:pt x="10785233" y="676795"/>
                  </a:lnTo>
                  <a:lnTo>
                    <a:pt x="10781995" y="682193"/>
                  </a:lnTo>
                  <a:lnTo>
                    <a:pt x="10777677" y="686879"/>
                  </a:lnTo>
                  <a:lnTo>
                    <a:pt x="10771911" y="690117"/>
                  </a:lnTo>
                  <a:lnTo>
                    <a:pt x="10766513" y="693356"/>
                  </a:lnTo>
                  <a:lnTo>
                    <a:pt x="10760036" y="695159"/>
                  </a:lnTo>
                  <a:lnTo>
                    <a:pt x="10753559" y="695159"/>
                  </a:lnTo>
                  <a:lnTo>
                    <a:pt x="36715" y="695159"/>
                  </a:lnTo>
                  <a:lnTo>
                    <a:pt x="30238" y="695159"/>
                  </a:lnTo>
                  <a:lnTo>
                    <a:pt x="24117" y="693356"/>
                  </a:lnTo>
                  <a:lnTo>
                    <a:pt x="18351" y="690117"/>
                  </a:lnTo>
                  <a:lnTo>
                    <a:pt x="12954" y="686879"/>
                  </a:lnTo>
                  <a:lnTo>
                    <a:pt x="8280" y="682561"/>
                  </a:lnTo>
                  <a:lnTo>
                    <a:pt x="5029" y="676795"/>
                  </a:lnTo>
                  <a:lnTo>
                    <a:pt x="1790" y="671398"/>
                  </a:lnTo>
                  <a:lnTo>
                    <a:pt x="0" y="664921"/>
                  </a:lnTo>
                  <a:lnTo>
                    <a:pt x="0" y="658431"/>
                  </a:lnTo>
                  <a:lnTo>
                    <a:pt x="355" y="36715"/>
                  </a:lnTo>
                  <a:close/>
                </a:path>
              </a:pathLst>
            </a:custGeom>
            <a:ln w="64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55980" y="4617262"/>
            <a:ext cx="61404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Ping</a:t>
            </a:r>
            <a:r>
              <a:rPr dirty="0" sz="10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fails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40304" y="4548504"/>
            <a:ext cx="213296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ICMP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9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95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blocked</a:t>
            </a:r>
            <a:r>
              <a:rPr dirty="0" sz="9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independently</a:t>
            </a:r>
            <a:r>
              <a:rPr dirty="0" sz="9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39495F"/>
                </a:solidFill>
                <a:latin typeface="Arial"/>
                <a:cs typeface="Arial"/>
              </a:rPr>
              <a:t>of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SSH/HTTPS</a:t>
            </a:r>
            <a:endParaRPr sz="9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6540" y="4622660"/>
            <a:ext cx="249936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effective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routes/NVA</a:t>
            </a:r>
            <a:r>
              <a:rPr dirty="0" sz="9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9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9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9495F"/>
                </a:solidFill>
                <a:latin typeface="Arial"/>
                <a:cs typeface="Arial"/>
              </a:rPr>
              <a:t>firewall</a:t>
            </a:r>
            <a:endParaRPr sz="9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62264" y="4622660"/>
            <a:ext cx="183324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Ping</a:t>
            </a:r>
            <a:r>
              <a:rPr dirty="0" sz="950" spc="3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reply</a:t>
            </a:r>
            <a:r>
              <a:rPr dirty="0" sz="950" spc="4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from</a:t>
            </a:r>
            <a:r>
              <a:rPr dirty="0" sz="950" spc="4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A5A5"/>
                </a:solidFill>
                <a:latin typeface="Arial"/>
                <a:cs typeface="Arial"/>
              </a:rPr>
              <a:t>scoped</a:t>
            </a:r>
            <a:r>
              <a:rPr dirty="0" sz="950" spc="4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0A5A5"/>
                </a:solidFill>
                <a:latin typeface="Arial"/>
                <a:cs typeface="Arial"/>
              </a:rPr>
              <a:t>source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9" name="object 39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09904" y="6000381"/>
            <a:ext cx="53816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Do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diagnose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connectivity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fault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using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single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test.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Test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exact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path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protocol.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79578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8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120"/>
              <a:t> </a:t>
            </a:r>
            <a:r>
              <a:rPr dirty="0"/>
              <a:t>disk</a:t>
            </a:r>
            <a:r>
              <a:rPr dirty="0" spc="-30"/>
              <a:t> </a:t>
            </a:r>
            <a:r>
              <a:rPr dirty="0"/>
              <a:t>has</a:t>
            </a:r>
            <a:r>
              <a:rPr dirty="0" spc="-25"/>
              <a:t> </a:t>
            </a:r>
            <a:r>
              <a:rPr dirty="0"/>
              <a:t>two</a:t>
            </a:r>
            <a:r>
              <a:rPr dirty="0" spc="-25"/>
              <a:t> </a:t>
            </a:r>
            <a:r>
              <a:rPr dirty="0"/>
              <a:t>sizes:</a:t>
            </a:r>
            <a:r>
              <a:rPr dirty="0" spc="-35"/>
              <a:t> </a:t>
            </a:r>
            <a:r>
              <a:rPr dirty="0"/>
              <a:t>cloud</a:t>
            </a:r>
            <a:r>
              <a:rPr dirty="0" spc="-25"/>
              <a:t> </a:t>
            </a:r>
            <a:r>
              <a:rPr dirty="0"/>
              <a:t>capacity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usable</a:t>
            </a:r>
            <a:r>
              <a:rPr dirty="0" spc="-25"/>
              <a:t> </a:t>
            </a:r>
            <a:r>
              <a:rPr dirty="0"/>
              <a:t>filesystem</a:t>
            </a:r>
            <a:r>
              <a:rPr dirty="0" spc="-25"/>
              <a:t> </a:t>
            </a:r>
            <a:r>
              <a:rPr dirty="0" spc="-10"/>
              <a:t>capacity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5460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Expanding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</a:t>
            </a:r>
            <a:r>
              <a:rPr dirty="0" sz="10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Azure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managed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disk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only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infrastructure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half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of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Linux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storage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change.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0534" y="1822450"/>
            <a:ext cx="2544445" cy="2252980"/>
            <a:chOff x="770534" y="1822450"/>
            <a:chExt cx="2544445" cy="2252980"/>
          </a:xfrm>
        </p:grpSpPr>
        <p:sp>
          <p:nvSpPr>
            <p:cNvPr id="7" name="object 7"/>
            <p:cNvSpPr/>
            <p:nvPr/>
          </p:nvSpPr>
          <p:spPr>
            <a:xfrm>
              <a:off x="776884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245952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167204"/>
                  </a:lnTo>
                  <a:lnTo>
                    <a:pt x="594" y="2176475"/>
                  </a:lnTo>
                  <a:lnTo>
                    <a:pt x="607" y="2176680"/>
                  </a:lnTo>
                  <a:lnTo>
                    <a:pt x="2394" y="2185876"/>
                  </a:lnTo>
                  <a:lnTo>
                    <a:pt x="2428" y="2186055"/>
                  </a:lnTo>
                  <a:lnTo>
                    <a:pt x="5412" y="2194939"/>
                  </a:lnTo>
                  <a:lnTo>
                    <a:pt x="5464" y="2195095"/>
                  </a:lnTo>
                  <a:lnTo>
                    <a:pt x="9715" y="2203564"/>
                  </a:lnTo>
                  <a:lnTo>
                    <a:pt x="44979" y="2234815"/>
                  </a:lnTo>
                  <a:lnTo>
                    <a:pt x="73075" y="2240280"/>
                  </a:lnTo>
                  <a:lnTo>
                    <a:pt x="2459875" y="2239924"/>
                  </a:lnTo>
                  <a:lnTo>
                    <a:pt x="2504253" y="2224820"/>
                  </a:lnTo>
                  <a:lnTo>
                    <a:pt x="2527409" y="2195095"/>
                  </a:lnTo>
                  <a:lnTo>
                    <a:pt x="2527486" y="2194939"/>
                  </a:lnTo>
                  <a:lnTo>
                    <a:pt x="2530462" y="2186055"/>
                  </a:lnTo>
                  <a:lnTo>
                    <a:pt x="2530522" y="2185876"/>
                  </a:lnTo>
                  <a:lnTo>
                    <a:pt x="2532304" y="2176680"/>
                  </a:lnTo>
                  <a:lnTo>
                    <a:pt x="2532344" y="2176475"/>
                  </a:lnTo>
                  <a:lnTo>
                    <a:pt x="2532928" y="2167204"/>
                  </a:lnTo>
                  <a:lnTo>
                    <a:pt x="2532951" y="2166835"/>
                  </a:lnTo>
                  <a:lnTo>
                    <a:pt x="2532595" y="73075"/>
                  </a:lnTo>
                  <a:lnTo>
                    <a:pt x="2517497" y="28705"/>
                  </a:lnTo>
                  <a:lnTo>
                    <a:pt x="2478549" y="2428"/>
                  </a:lnTo>
                  <a:lnTo>
                    <a:pt x="2469152" y="607"/>
                  </a:lnTo>
                  <a:lnTo>
                    <a:pt x="2459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6884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459520" y="0"/>
                  </a:lnTo>
                  <a:lnTo>
                    <a:pt x="2504040" y="15104"/>
                  </a:lnTo>
                  <a:lnTo>
                    <a:pt x="2530167" y="54224"/>
                  </a:lnTo>
                  <a:lnTo>
                    <a:pt x="2532595" y="73075"/>
                  </a:lnTo>
                  <a:lnTo>
                    <a:pt x="2532951" y="2166835"/>
                  </a:lnTo>
                  <a:lnTo>
                    <a:pt x="2532344" y="2176475"/>
                  </a:lnTo>
                  <a:lnTo>
                    <a:pt x="2530522" y="2185876"/>
                  </a:lnTo>
                  <a:lnTo>
                    <a:pt x="2504253" y="2224820"/>
                  </a:lnTo>
                  <a:lnTo>
                    <a:pt x="2459875" y="2239924"/>
                  </a:lnTo>
                  <a:lnTo>
                    <a:pt x="73075" y="2240280"/>
                  </a:lnTo>
                  <a:lnTo>
                    <a:pt x="28548" y="2225175"/>
                  </a:lnTo>
                  <a:lnTo>
                    <a:pt x="2428" y="2186055"/>
                  </a:lnTo>
                  <a:lnTo>
                    <a:pt x="0" y="21672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4" h="2240279">
                  <a:moveTo>
                    <a:pt x="63715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2029" y="2239924"/>
                  </a:lnTo>
                  <a:lnTo>
                    <a:pt x="63715" y="22399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4" h="2240279">
                  <a:moveTo>
                    <a:pt x="32029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239924"/>
                  </a:lnTo>
                  <a:lnTo>
                    <a:pt x="32029" y="223992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784" y="2010143"/>
            <a:ext cx="16846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35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managed</a:t>
            </a:r>
            <a:r>
              <a:rPr dirty="0" sz="135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415" y="2312898"/>
            <a:ext cx="7683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7701" y="2336660"/>
            <a:ext cx="1832610" cy="370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Cloud-side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capacity: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e.g.,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40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GiB</a:t>
            </a:r>
            <a:r>
              <a:rPr dirty="0" sz="110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1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80</a:t>
            </a:r>
            <a:r>
              <a:rPr dirty="0" sz="110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GiB.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10305" y="1822450"/>
            <a:ext cx="2867025" cy="2252980"/>
            <a:chOff x="3310305" y="1822450"/>
            <a:chExt cx="2867025" cy="2252980"/>
          </a:xfrm>
        </p:grpSpPr>
        <p:sp>
          <p:nvSpPr>
            <p:cNvPr id="15" name="object 15"/>
            <p:cNvSpPr/>
            <p:nvPr/>
          </p:nvSpPr>
          <p:spPr>
            <a:xfrm>
              <a:off x="3319195" y="2926080"/>
              <a:ext cx="203835" cy="635"/>
            </a:xfrm>
            <a:custGeom>
              <a:avLst/>
              <a:gdLst/>
              <a:ahLst/>
              <a:cxnLst/>
              <a:rect l="l" t="t" r="r" b="b"/>
              <a:pathLst>
                <a:path w="203835" h="635">
                  <a:moveTo>
                    <a:pt x="0" y="0"/>
                  </a:moveTo>
                  <a:lnTo>
                    <a:pt x="203758" y="355"/>
                  </a:lnTo>
                </a:path>
              </a:pathLst>
            </a:custGeom>
            <a:ln w="176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17925" y="28886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38880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245952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167204"/>
                  </a:lnTo>
                  <a:lnTo>
                    <a:pt x="5412" y="2194939"/>
                  </a:lnTo>
                  <a:lnTo>
                    <a:pt x="5464" y="2195095"/>
                  </a:lnTo>
                  <a:lnTo>
                    <a:pt x="36360" y="2230564"/>
                  </a:lnTo>
                  <a:lnTo>
                    <a:pt x="73075" y="2240280"/>
                  </a:lnTo>
                  <a:lnTo>
                    <a:pt x="2459875" y="2239924"/>
                  </a:lnTo>
                  <a:lnTo>
                    <a:pt x="2504253" y="2224820"/>
                  </a:lnTo>
                  <a:lnTo>
                    <a:pt x="2530473" y="2186055"/>
                  </a:lnTo>
                  <a:lnTo>
                    <a:pt x="2532964" y="2166835"/>
                  </a:lnTo>
                  <a:lnTo>
                    <a:pt x="2532595" y="73075"/>
                  </a:lnTo>
                  <a:lnTo>
                    <a:pt x="2517504" y="28705"/>
                  </a:lnTo>
                  <a:lnTo>
                    <a:pt x="2478554" y="2428"/>
                  </a:lnTo>
                  <a:lnTo>
                    <a:pt x="2469153" y="607"/>
                  </a:lnTo>
                  <a:lnTo>
                    <a:pt x="2459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38880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59520" y="0"/>
                  </a:lnTo>
                  <a:lnTo>
                    <a:pt x="2504047" y="15104"/>
                  </a:lnTo>
                  <a:lnTo>
                    <a:pt x="2530167" y="54224"/>
                  </a:lnTo>
                  <a:lnTo>
                    <a:pt x="2532595" y="73075"/>
                  </a:lnTo>
                  <a:lnTo>
                    <a:pt x="2532964" y="2166835"/>
                  </a:lnTo>
                  <a:lnTo>
                    <a:pt x="2532356" y="2176475"/>
                  </a:lnTo>
                  <a:lnTo>
                    <a:pt x="2530533" y="2185876"/>
                  </a:lnTo>
                  <a:lnTo>
                    <a:pt x="2504253" y="2224820"/>
                  </a:lnTo>
                  <a:lnTo>
                    <a:pt x="2459875" y="2239924"/>
                  </a:lnTo>
                  <a:lnTo>
                    <a:pt x="73075" y="2240280"/>
                  </a:lnTo>
                  <a:lnTo>
                    <a:pt x="28555" y="2225175"/>
                  </a:lnTo>
                  <a:lnTo>
                    <a:pt x="2428" y="2186055"/>
                  </a:lnTo>
                  <a:lnTo>
                    <a:pt x="0" y="21672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638880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5" h="2240279">
                  <a:moveTo>
                    <a:pt x="63715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2042" y="2239924"/>
                  </a:lnTo>
                  <a:lnTo>
                    <a:pt x="63715" y="22399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38880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5" h="2240279">
                  <a:moveTo>
                    <a:pt x="32042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239924"/>
                  </a:lnTo>
                  <a:lnTo>
                    <a:pt x="32042" y="223992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827779" y="2010143"/>
            <a:ext cx="15519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Linux</a:t>
            </a:r>
            <a:r>
              <a:rPr dirty="0" sz="13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block</a:t>
            </a:r>
            <a:r>
              <a:rPr dirty="0" sz="13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device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27424" y="2312898"/>
            <a:ext cx="7683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79697" y="2336660"/>
            <a:ext cx="2024380" cy="370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kernel</a:t>
            </a:r>
            <a:r>
              <a:rPr dirty="0" sz="11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sees</a:t>
            </a:r>
            <a:r>
              <a:rPr dirty="0" sz="11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larger</a:t>
            </a:r>
            <a:r>
              <a:rPr dirty="0" sz="11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device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after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platform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change.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72314" y="1822450"/>
            <a:ext cx="2867025" cy="2252980"/>
            <a:chOff x="6172314" y="1822450"/>
            <a:chExt cx="2867025" cy="2252980"/>
          </a:xfrm>
        </p:grpSpPr>
        <p:sp>
          <p:nvSpPr>
            <p:cNvPr id="25" name="object 25"/>
            <p:cNvSpPr/>
            <p:nvPr/>
          </p:nvSpPr>
          <p:spPr>
            <a:xfrm>
              <a:off x="6181204" y="2926080"/>
              <a:ext cx="203835" cy="635"/>
            </a:xfrm>
            <a:custGeom>
              <a:avLst/>
              <a:gdLst/>
              <a:ahLst/>
              <a:cxnLst/>
              <a:rect l="l" t="t" r="r" b="b"/>
              <a:pathLst>
                <a:path w="203835" h="635">
                  <a:moveTo>
                    <a:pt x="0" y="0"/>
                  </a:moveTo>
                  <a:lnTo>
                    <a:pt x="203758" y="355"/>
                  </a:lnTo>
                </a:path>
              </a:pathLst>
            </a:custGeom>
            <a:ln w="176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79921" y="28886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500876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245952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167204"/>
                  </a:lnTo>
                  <a:lnTo>
                    <a:pt x="594" y="2176475"/>
                  </a:lnTo>
                  <a:lnTo>
                    <a:pt x="607" y="2176680"/>
                  </a:lnTo>
                  <a:lnTo>
                    <a:pt x="2395" y="2185876"/>
                  </a:lnTo>
                  <a:lnTo>
                    <a:pt x="2430" y="2186055"/>
                  </a:lnTo>
                  <a:lnTo>
                    <a:pt x="5417" y="2194939"/>
                  </a:lnTo>
                  <a:lnTo>
                    <a:pt x="5470" y="2195095"/>
                  </a:lnTo>
                  <a:lnTo>
                    <a:pt x="9728" y="2203564"/>
                  </a:lnTo>
                  <a:lnTo>
                    <a:pt x="44984" y="2234815"/>
                  </a:lnTo>
                  <a:lnTo>
                    <a:pt x="73088" y="2240280"/>
                  </a:lnTo>
                  <a:lnTo>
                    <a:pt x="2459888" y="2239924"/>
                  </a:lnTo>
                  <a:lnTo>
                    <a:pt x="2504258" y="2224820"/>
                  </a:lnTo>
                  <a:lnTo>
                    <a:pt x="2530475" y="2186055"/>
                  </a:lnTo>
                  <a:lnTo>
                    <a:pt x="2530535" y="2185876"/>
                  </a:lnTo>
                  <a:lnTo>
                    <a:pt x="2532317" y="2176680"/>
                  </a:lnTo>
                  <a:lnTo>
                    <a:pt x="2532356" y="2176475"/>
                  </a:lnTo>
                  <a:lnTo>
                    <a:pt x="2532940" y="2167204"/>
                  </a:lnTo>
                  <a:lnTo>
                    <a:pt x="2532964" y="2166835"/>
                  </a:lnTo>
                  <a:lnTo>
                    <a:pt x="2532608" y="73075"/>
                  </a:lnTo>
                  <a:lnTo>
                    <a:pt x="2517504" y="28705"/>
                  </a:lnTo>
                  <a:lnTo>
                    <a:pt x="2478560" y="2428"/>
                  </a:lnTo>
                  <a:lnTo>
                    <a:pt x="2469159" y="607"/>
                  </a:lnTo>
                  <a:lnTo>
                    <a:pt x="2459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00876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59520" y="0"/>
                  </a:lnTo>
                  <a:lnTo>
                    <a:pt x="2504053" y="15104"/>
                  </a:lnTo>
                  <a:lnTo>
                    <a:pt x="2530178" y="54224"/>
                  </a:lnTo>
                  <a:lnTo>
                    <a:pt x="2532608" y="73075"/>
                  </a:lnTo>
                  <a:lnTo>
                    <a:pt x="2532964" y="2166835"/>
                  </a:lnTo>
                  <a:lnTo>
                    <a:pt x="2532356" y="2176475"/>
                  </a:lnTo>
                  <a:lnTo>
                    <a:pt x="2530535" y="2185876"/>
                  </a:lnTo>
                  <a:lnTo>
                    <a:pt x="2504258" y="2224820"/>
                  </a:lnTo>
                  <a:lnTo>
                    <a:pt x="2459888" y="2239924"/>
                  </a:lnTo>
                  <a:lnTo>
                    <a:pt x="73088" y="2240280"/>
                  </a:lnTo>
                  <a:lnTo>
                    <a:pt x="28555" y="2225175"/>
                  </a:lnTo>
                  <a:lnTo>
                    <a:pt x="2430" y="2186055"/>
                  </a:lnTo>
                  <a:lnTo>
                    <a:pt x="0" y="21672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500876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4" h="2240279">
                  <a:moveTo>
                    <a:pt x="63728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2042" y="2239924"/>
                  </a:lnTo>
                  <a:lnTo>
                    <a:pt x="63728" y="223992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00876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4" h="2240279">
                  <a:moveTo>
                    <a:pt x="32042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239924"/>
                  </a:lnTo>
                  <a:lnTo>
                    <a:pt x="32042" y="223992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689776" y="2010143"/>
            <a:ext cx="11633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Partition</a:t>
            </a:r>
            <a:r>
              <a:rPr dirty="0" sz="1350" spc="-8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table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89420" y="2312898"/>
            <a:ext cx="7683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41705" y="2336660"/>
            <a:ext cx="1999614" cy="370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9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partition</a:t>
            </a:r>
            <a:r>
              <a:rPr dirty="0" sz="11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11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need</a:t>
            </a:r>
            <a:r>
              <a:rPr dirty="0" sz="11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10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grow</a:t>
            </a:r>
            <a:r>
              <a:rPr dirty="0" sz="11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to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occupy</a:t>
            </a:r>
            <a:r>
              <a:rPr dirty="0" sz="110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10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034380" y="1822500"/>
            <a:ext cx="2867025" cy="2252980"/>
            <a:chOff x="9034380" y="1822500"/>
            <a:chExt cx="2867025" cy="2252980"/>
          </a:xfrm>
        </p:grpSpPr>
        <p:sp>
          <p:nvSpPr>
            <p:cNvPr id="35" name="object 35"/>
            <p:cNvSpPr/>
            <p:nvPr/>
          </p:nvSpPr>
          <p:spPr>
            <a:xfrm>
              <a:off x="9043200" y="2926080"/>
              <a:ext cx="203835" cy="635"/>
            </a:xfrm>
            <a:custGeom>
              <a:avLst/>
              <a:gdLst/>
              <a:ahLst/>
              <a:cxnLst/>
              <a:rect l="l" t="t" r="r" b="b"/>
              <a:pathLst>
                <a:path w="203834" h="635">
                  <a:moveTo>
                    <a:pt x="0" y="0"/>
                  </a:moveTo>
                  <a:lnTo>
                    <a:pt x="203758" y="355"/>
                  </a:lnTo>
                </a:path>
              </a:pathLst>
            </a:custGeom>
            <a:ln w="176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241917" y="28886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363240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245952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167204"/>
                  </a:lnTo>
                  <a:lnTo>
                    <a:pt x="594" y="2176475"/>
                  </a:lnTo>
                  <a:lnTo>
                    <a:pt x="607" y="2176680"/>
                  </a:lnTo>
                  <a:lnTo>
                    <a:pt x="2394" y="2185876"/>
                  </a:lnTo>
                  <a:lnTo>
                    <a:pt x="2428" y="2186055"/>
                  </a:lnTo>
                  <a:lnTo>
                    <a:pt x="5412" y="2194939"/>
                  </a:lnTo>
                  <a:lnTo>
                    <a:pt x="36360" y="2230564"/>
                  </a:lnTo>
                  <a:lnTo>
                    <a:pt x="73075" y="2240280"/>
                  </a:lnTo>
                  <a:lnTo>
                    <a:pt x="2459875" y="2239924"/>
                  </a:lnTo>
                  <a:lnTo>
                    <a:pt x="2504253" y="2224820"/>
                  </a:lnTo>
                  <a:lnTo>
                    <a:pt x="2527416" y="2195095"/>
                  </a:lnTo>
                  <a:lnTo>
                    <a:pt x="2527493" y="2194939"/>
                  </a:lnTo>
                  <a:lnTo>
                    <a:pt x="2532940" y="2167204"/>
                  </a:lnTo>
                  <a:lnTo>
                    <a:pt x="2532964" y="2166835"/>
                  </a:lnTo>
                  <a:lnTo>
                    <a:pt x="2532595" y="73075"/>
                  </a:lnTo>
                  <a:lnTo>
                    <a:pt x="2517504" y="28705"/>
                  </a:lnTo>
                  <a:lnTo>
                    <a:pt x="2478554" y="2428"/>
                  </a:lnTo>
                  <a:lnTo>
                    <a:pt x="2469153" y="607"/>
                  </a:lnTo>
                  <a:lnTo>
                    <a:pt x="2459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363240" y="1828800"/>
              <a:ext cx="2533015" cy="2240280"/>
            </a:xfrm>
            <a:custGeom>
              <a:avLst/>
              <a:gdLst/>
              <a:ahLst/>
              <a:cxnLst/>
              <a:rect l="l" t="t" r="r" b="b"/>
              <a:pathLst>
                <a:path w="2533015" h="22402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59520" y="0"/>
                  </a:lnTo>
                  <a:lnTo>
                    <a:pt x="2504047" y="15104"/>
                  </a:lnTo>
                  <a:lnTo>
                    <a:pt x="2530167" y="54224"/>
                  </a:lnTo>
                  <a:lnTo>
                    <a:pt x="2532595" y="73075"/>
                  </a:lnTo>
                  <a:lnTo>
                    <a:pt x="2532964" y="2166835"/>
                  </a:lnTo>
                  <a:lnTo>
                    <a:pt x="2532356" y="2176475"/>
                  </a:lnTo>
                  <a:lnTo>
                    <a:pt x="2530533" y="2185876"/>
                  </a:lnTo>
                  <a:lnTo>
                    <a:pt x="2504253" y="2224820"/>
                  </a:lnTo>
                  <a:lnTo>
                    <a:pt x="2459875" y="2239924"/>
                  </a:lnTo>
                  <a:lnTo>
                    <a:pt x="73075" y="2240280"/>
                  </a:lnTo>
                  <a:lnTo>
                    <a:pt x="28555" y="2225175"/>
                  </a:lnTo>
                  <a:lnTo>
                    <a:pt x="2428" y="2186055"/>
                  </a:lnTo>
                  <a:lnTo>
                    <a:pt x="0" y="21672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363240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4" h="2240279">
                  <a:moveTo>
                    <a:pt x="63715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32042" y="2239924"/>
                  </a:lnTo>
                  <a:lnTo>
                    <a:pt x="63715" y="22399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363240" y="1828800"/>
              <a:ext cx="64135" cy="2240280"/>
            </a:xfrm>
            <a:custGeom>
              <a:avLst/>
              <a:gdLst/>
              <a:ahLst/>
              <a:cxnLst/>
              <a:rect l="l" t="t" r="r" b="b"/>
              <a:pathLst>
                <a:path w="64134" h="2240279">
                  <a:moveTo>
                    <a:pt x="32042" y="2239924"/>
                  </a:moveTo>
                  <a:lnTo>
                    <a:pt x="0" y="22399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239924"/>
                  </a:lnTo>
                  <a:lnTo>
                    <a:pt x="32042" y="223992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551784" y="2010143"/>
            <a:ext cx="162306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Filesystem</a:t>
            </a:r>
            <a:r>
              <a:rPr dirty="0" sz="135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3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mount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551416" y="2312898"/>
            <a:ext cx="7683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703701" y="2336660"/>
            <a:ext cx="1809750" cy="542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9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ext4/XFS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must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expand;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mount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point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exposes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usable space.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8976" y="4852695"/>
            <a:ext cx="101053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Example:</a:t>
            </a:r>
            <a:r>
              <a:rPr dirty="0" sz="1300" spc="-8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Portal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shows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an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80-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GiB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disk,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but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`df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-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h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/data`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may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still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show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40G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until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guest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partition/filesystem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expanded.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46" name="object 4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72300" y="6000381"/>
            <a:ext cx="493268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Never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format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disk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to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“make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it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bigger”.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Formatting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can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destroy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existing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Expand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virtual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hard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disks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on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Linux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VM;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Managed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disks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overview.</a:t>
            </a:r>
            <a:endParaRPr sz="7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79578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8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Online</a:t>
            </a:r>
            <a:r>
              <a:rPr dirty="0" spc="-30"/>
              <a:t> </a:t>
            </a:r>
            <a:r>
              <a:rPr dirty="0"/>
              <a:t>disk</a:t>
            </a:r>
            <a:r>
              <a:rPr dirty="0" spc="-30"/>
              <a:t> </a:t>
            </a:r>
            <a:r>
              <a:rPr dirty="0"/>
              <a:t>resize: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"/>
              <a:t>four-</a:t>
            </a:r>
            <a:r>
              <a:rPr dirty="0"/>
              <a:t>step</a:t>
            </a:r>
            <a:r>
              <a:rPr dirty="0" spc="-30"/>
              <a:t> </a:t>
            </a:r>
            <a:r>
              <a:rPr dirty="0" spc="-10"/>
              <a:t>sequence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79971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remain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running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supported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disk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resize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operations,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but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verify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actual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disk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filesystem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before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changing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anything.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639264" y="1639264"/>
            <a:ext cx="469900" cy="469900"/>
            <a:chOff x="1639264" y="1639264"/>
            <a:chExt cx="469900" cy="469900"/>
          </a:xfrm>
        </p:grpSpPr>
        <p:sp>
          <p:nvSpPr>
            <p:cNvPr id="7" name="object 7"/>
            <p:cNvSpPr/>
            <p:nvPr/>
          </p:nvSpPr>
          <p:spPr>
            <a:xfrm>
              <a:off x="1645564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45564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2" y="67002"/>
                  </a:lnTo>
                  <a:lnTo>
                    <a:pt x="114477" y="30594"/>
                  </a:lnTo>
                  <a:lnTo>
                    <a:pt x="169510" y="7739"/>
                  </a:lnTo>
                  <a:lnTo>
                    <a:pt x="228600" y="0"/>
                  </a:lnTo>
                  <a:lnTo>
                    <a:pt x="287724" y="7739"/>
                  </a:lnTo>
                  <a:lnTo>
                    <a:pt x="343077" y="30594"/>
                  </a:lnTo>
                  <a:lnTo>
                    <a:pt x="390236" y="67002"/>
                  </a:lnTo>
                  <a:lnTo>
                    <a:pt x="426593" y="114477"/>
                  </a:lnTo>
                  <a:lnTo>
                    <a:pt x="449459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59" y="287724"/>
                  </a:lnTo>
                  <a:lnTo>
                    <a:pt x="426593" y="343077"/>
                  </a:lnTo>
                  <a:lnTo>
                    <a:pt x="390236" y="390236"/>
                  </a:lnTo>
                  <a:lnTo>
                    <a:pt x="343077" y="426592"/>
                  </a:lnTo>
                  <a:lnTo>
                    <a:pt x="287724" y="449459"/>
                  </a:lnTo>
                  <a:lnTo>
                    <a:pt x="228600" y="457200"/>
                  </a:lnTo>
                  <a:lnTo>
                    <a:pt x="169510" y="449459"/>
                  </a:lnTo>
                  <a:lnTo>
                    <a:pt x="114477" y="426592"/>
                  </a:lnTo>
                  <a:lnTo>
                    <a:pt x="67002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19338" y="177037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01260" y="1639264"/>
            <a:ext cx="469900" cy="469900"/>
            <a:chOff x="4501260" y="1639264"/>
            <a:chExt cx="469900" cy="469900"/>
          </a:xfrm>
        </p:grpSpPr>
        <p:sp>
          <p:nvSpPr>
            <p:cNvPr id="26" name="object 26"/>
            <p:cNvSpPr/>
            <p:nvPr/>
          </p:nvSpPr>
          <p:spPr>
            <a:xfrm>
              <a:off x="4507560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07560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6" y="67002"/>
                  </a:lnTo>
                  <a:lnTo>
                    <a:pt x="114477" y="30594"/>
                  </a:lnTo>
                  <a:lnTo>
                    <a:pt x="169514" y="7739"/>
                  </a:lnTo>
                  <a:lnTo>
                    <a:pt x="228600" y="0"/>
                  </a:lnTo>
                  <a:lnTo>
                    <a:pt x="287729" y="7739"/>
                  </a:lnTo>
                  <a:lnTo>
                    <a:pt x="343077" y="30594"/>
                  </a:lnTo>
                  <a:lnTo>
                    <a:pt x="390237" y="67002"/>
                  </a:lnTo>
                  <a:lnTo>
                    <a:pt x="426605" y="114477"/>
                  </a:lnTo>
                  <a:lnTo>
                    <a:pt x="449460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60" y="287724"/>
                  </a:lnTo>
                  <a:lnTo>
                    <a:pt x="426605" y="343077"/>
                  </a:lnTo>
                  <a:lnTo>
                    <a:pt x="390237" y="390236"/>
                  </a:lnTo>
                  <a:lnTo>
                    <a:pt x="343077" y="426592"/>
                  </a:lnTo>
                  <a:lnTo>
                    <a:pt x="287729" y="449459"/>
                  </a:lnTo>
                  <a:lnTo>
                    <a:pt x="228600" y="457200"/>
                  </a:lnTo>
                  <a:lnTo>
                    <a:pt x="169514" y="449459"/>
                  </a:lnTo>
                  <a:lnTo>
                    <a:pt x="114477" y="426592"/>
                  </a:lnTo>
                  <a:lnTo>
                    <a:pt x="67006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681334" y="177037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363255" y="1639264"/>
            <a:ext cx="469900" cy="469900"/>
            <a:chOff x="7363255" y="1639264"/>
            <a:chExt cx="469900" cy="469900"/>
          </a:xfrm>
        </p:grpSpPr>
        <p:sp>
          <p:nvSpPr>
            <p:cNvPr id="45" name="object 45"/>
            <p:cNvSpPr/>
            <p:nvPr/>
          </p:nvSpPr>
          <p:spPr>
            <a:xfrm>
              <a:off x="7369555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39"/>
                  </a:lnTo>
                  <a:lnTo>
                    <a:pt x="114477" y="30594"/>
                  </a:lnTo>
                  <a:lnTo>
                    <a:pt x="67008" y="67002"/>
                  </a:lnTo>
                  <a:lnTo>
                    <a:pt x="30607" y="114477"/>
                  </a:lnTo>
                  <a:lnTo>
                    <a:pt x="7740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6" y="316075"/>
                  </a:lnTo>
                  <a:lnTo>
                    <a:pt x="47305" y="367871"/>
                  </a:lnTo>
                  <a:lnTo>
                    <a:pt x="89478" y="409900"/>
                  </a:lnTo>
                  <a:lnTo>
                    <a:pt x="141274" y="439883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3"/>
                  </a:lnTo>
                  <a:lnTo>
                    <a:pt x="367876" y="409900"/>
                  </a:lnTo>
                  <a:lnTo>
                    <a:pt x="409907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7" y="89473"/>
                  </a:lnTo>
                  <a:lnTo>
                    <a:pt x="367876" y="47297"/>
                  </a:lnTo>
                  <a:lnTo>
                    <a:pt x="316082" y="17311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369555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40" y="169510"/>
                  </a:lnTo>
                  <a:lnTo>
                    <a:pt x="30607" y="114477"/>
                  </a:lnTo>
                  <a:lnTo>
                    <a:pt x="67008" y="67002"/>
                  </a:lnTo>
                  <a:lnTo>
                    <a:pt x="114477" y="30594"/>
                  </a:lnTo>
                  <a:lnTo>
                    <a:pt x="169519" y="7739"/>
                  </a:lnTo>
                  <a:lnTo>
                    <a:pt x="228600" y="0"/>
                  </a:lnTo>
                  <a:lnTo>
                    <a:pt x="287734" y="7739"/>
                  </a:lnTo>
                  <a:lnTo>
                    <a:pt x="343077" y="30594"/>
                  </a:lnTo>
                  <a:lnTo>
                    <a:pt x="390242" y="67002"/>
                  </a:lnTo>
                  <a:lnTo>
                    <a:pt x="426605" y="114477"/>
                  </a:lnTo>
                  <a:lnTo>
                    <a:pt x="449460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60" y="287724"/>
                  </a:lnTo>
                  <a:lnTo>
                    <a:pt x="426605" y="343077"/>
                  </a:lnTo>
                  <a:lnTo>
                    <a:pt x="390242" y="390236"/>
                  </a:lnTo>
                  <a:lnTo>
                    <a:pt x="343077" y="426592"/>
                  </a:lnTo>
                  <a:lnTo>
                    <a:pt x="287734" y="449459"/>
                  </a:lnTo>
                  <a:lnTo>
                    <a:pt x="228600" y="457200"/>
                  </a:lnTo>
                  <a:lnTo>
                    <a:pt x="169519" y="449459"/>
                  </a:lnTo>
                  <a:lnTo>
                    <a:pt x="114477" y="426592"/>
                  </a:lnTo>
                  <a:lnTo>
                    <a:pt x="67008" y="390236"/>
                  </a:lnTo>
                  <a:lnTo>
                    <a:pt x="30607" y="343077"/>
                  </a:lnTo>
                  <a:lnTo>
                    <a:pt x="7740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7543342" y="177037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225620" y="1639264"/>
            <a:ext cx="469900" cy="469900"/>
            <a:chOff x="10225620" y="1639264"/>
            <a:chExt cx="469900" cy="469900"/>
          </a:xfrm>
        </p:grpSpPr>
        <p:sp>
          <p:nvSpPr>
            <p:cNvPr id="62" name="object 62"/>
            <p:cNvSpPr/>
            <p:nvPr/>
          </p:nvSpPr>
          <p:spPr>
            <a:xfrm>
              <a:off x="10231919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4" y="7739"/>
                  </a:lnTo>
                  <a:lnTo>
                    <a:pt x="114477" y="30594"/>
                  </a:lnTo>
                  <a:lnTo>
                    <a:pt x="67006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9" y="367871"/>
                  </a:lnTo>
                  <a:lnTo>
                    <a:pt x="89478" y="409900"/>
                  </a:lnTo>
                  <a:lnTo>
                    <a:pt x="141269" y="439883"/>
                  </a:lnTo>
                  <a:lnTo>
                    <a:pt x="198772" y="455253"/>
                  </a:lnTo>
                  <a:lnTo>
                    <a:pt x="228600" y="457200"/>
                  </a:lnTo>
                  <a:lnTo>
                    <a:pt x="258433" y="455253"/>
                  </a:lnTo>
                  <a:lnTo>
                    <a:pt x="316080" y="439883"/>
                  </a:lnTo>
                  <a:lnTo>
                    <a:pt x="367871" y="409900"/>
                  </a:lnTo>
                  <a:lnTo>
                    <a:pt x="409905" y="367871"/>
                  </a:lnTo>
                  <a:lnTo>
                    <a:pt x="439888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8" y="141267"/>
                  </a:lnTo>
                  <a:lnTo>
                    <a:pt x="409905" y="89473"/>
                  </a:lnTo>
                  <a:lnTo>
                    <a:pt x="367871" y="47297"/>
                  </a:lnTo>
                  <a:lnTo>
                    <a:pt x="316080" y="17311"/>
                  </a:lnTo>
                  <a:lnTo>
                    <a:pt x="258433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0231919" y="16455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6" y="67002"/>
                  </a:lnTo>
                  <a:lnTo>
                    <a:pt x="114477" y="30594"/>
                  </a:lnTo>
                  <a:lnTo>
                    <a:pt x="169514" y="7739"/>
                  </a:lnTo>
                  <a:lnTo>
                    <a:pt x="228600" y="0"/>
                  </a:lnTo>
                  <a:lnTo>
                    <a:pt x="287729" y="7739"/>
                  </a:lnTo>
                  <a:lnTo>
                    <a:pt x="343077" y="30594"/>
                  </a:lnTo>
                  <a:lnTo>
                    <a:pt x="390237" y="67002"/>
                  </a:lnTo>
                  <a:lnTo>
                    <a:pt x="426605" y="114477"/>
                  </a:lnTo>
                  <a:lnTo>
                    <a:pt x="449460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60" y="287724"/>
                  </a:lnTo>
                  <a:lnTo>
                    <a:pt x="426605" y="343077"/>
                  </a:lnTo>
                  <a:lnTo>
                    <a:pt x="390237" y="390236"/>
                  </a:lnTo>
                  <a:lnTo>
                    <a:pt x="343077" y="426592"/>
                  </a:lnTo>
                  <a:lnTo>
                    <a:pt x="287729" y="449459"/>
                  </a:lnTo>
                  <a:lnTo>
                    <a:pt x="228600" y="457200"/>
                  </a:lnTo>
                  <a:lnTo>
                    <a:pt x="169514" y="449459"/>
                  </a:lnTo>
                  <a:lnTo>
                    <a:pt x="114477" y="426592"/>
                  </a:lnTo>
                  <a:lnTo>
                    <a:pt x="67006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10405694" y="177037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4814" y="2261285"/>
            <a:ext cx="2553970" cy="2828925"/>
            <a:chOff x="724814" y="2261285"/>
            <a:chExt cx="2553970" cy="2828925"/>
          </a:xfrm>
        </p:grpSpPr>
        <p:sp>
          <p:nvSpPr>
            <p:cNvPr id="11" name="object 11"/>
            <p:cNvSpPr/>
            <p:nvPr/>
          </p:nvSpPr>
          <p:spPr>
            <a:xfrm>
              <a:off x="731519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2468524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743200"/>
                  </a:lnTo>
                  <a:lnTo>
                    <a:pt x="15046" y="2787577"/>
                  </a:lnTo>
                  <a:lnTo>
                    <a:pt x="54046" y="2813858"/>
                  </a:lnTo>
                  <a:lnTo>
                    <a:pt x="73075" y="2816288"/>
                  </a:lnTo>
                  <a:lnTo>
                    <a:pt x="2468880" y="2815920"/>
                  </a:lnTo>
                  <a:lnTo>
                    <a:pt x="2513257" y="2800878"/>
                  </a:lnTo>
                  <a:lnTo>
                    <a:pt x="2539512" y="2761922"/>
                  </a:lnTo>
                  <a:lnTo>
                    <a:pt x="2541933" y="2743200"/>
                  </a:lnTo>
                  <a:lnTo>
                    <a:pt x="2541955" y="2742844"/>
                  </a:lnTo>
                  <a:lnTo>
                    <a:pt x="2541600" y="73088"/>
                  </a:lnTo>
                  <a:lnTo>
                    <a:pt x="2526553" y="28710"/>
                  </a:lnTo>
                  <a:lnTo>
                    <a:pt x="2487553" y="2430"/>
                  </a:lnTo>
                  <a:lnTo>
                    <a:pt x="2478156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31519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053"/>
                  </a:lnTo>
                  <a:lnTo>
                    <a:pt x="73075" y="0"/>
                  </a:lnTo>
                  <a:lnTo>
                    <a:pt x="2468524" y="0"/>
                  </a:lnTo>
                  <a:lnTo>
                    <a:pt x="2513200" y="15109"/>
                  </a:lnTo>
                  <a:lnTo>
                    <a:pt x="2539171" y="54365"/>
                  </a:lnTo>
                  <a:lnTo>
                    <a:pt x="2541600" y="73088"/>
                  </a:lnTo>
                  <a:lnTo>
                    <a:pt x="2541955" y="2742844"/>
                  </a:lnTo>
                  <a:lnTo>
                    <a:pt x="2541348" y="2752478"/>
                  </a:lnTo>
                  <a:lnTo>
                    <a:pt x="2539526" y="2761878"/>
                  </a:lnTo>
                  <a:lnTo>
                    <a:pt x="2513257" y="2800878"/>
                  </a:lnTo>
                  <a:lnTo>
                    <a:pt x="2468880" y="2815920"/>
                  </a:lnTo>
                  <a:lnTo>
                    <a:pt x="73075" y="2816288"/>
                  </a:lnTo>
                  <a:lnTo>
                    <a:pt x="28399" y="2801178"/>
                  </a:lnTo>
                  <a:lnTo>
                    <a:pt x="2428" y="2761922"/>
                  </a:lnTo>
                  <a:lnTo>
                    <a:pt x="0" y="27432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31164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4" h="2816225">
                  <a:moveTo>
                    <a:pt x="63715" y="0"/>
                  </a:moveTo>
                  <a:lnTo>
                    <a:pt x="0" y="0"/>
                  </a:lnTo>
                  <a:lnTo>
                    <a:pt x="0" y="2815920"/>
                  </a:lnTo>
                  <a:lnTo>
                    <a:pt x="32029" y="2815920"/>
                  </a:lnTo>
                  <a:lnTo>
                    <a:pt x="63715" y="2815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1164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4" h="2816225">
                  <a:moveTo>
                    <a:pt x="32029" y="2815920"/>
                  </a:moveTo>
                  <a:lnTo>
                    <a:pt x="0" y="28159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815920"/>
                  </a:lnTo>
                  <a:lnTo>
                    <a:pt x="32029" y="281592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19695" y="2448979"/>
            <a:ext cx="8724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1</a:t>
            </a:r>
            <a:r>
              <a:rPr dirty="0" sz="135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•</a:t>
            </a:r>
            <a:r>
              <a:rPr dirty="0" sz="135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Inspect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0064" y="27538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72337" y="2775851"/>
            <a:ext cx="1613535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Run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read-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checks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first.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0064" y="3076460"/>
            <a:ext cx="73660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2337" y="3098418"/>
            <a:ext cx="800735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lsblk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f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df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/data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findmnt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/data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65556" y="3620160"/>
            <a:ext cx="227329" cy="76200"/>
            <a:chOff x="3265556" y="3620160"/>
            <a:chExt cx="227329" cy="76200"/>
          </a:xfrm>
        </p:grpSpPr>
        <p:sp>
          <p:nvSpPr>
            <p:cNvPr id="23" name="object 23"/>
            <p:cNvSpPr/>
            <p:nvPr/>
          </p:nvSpPr>
          <p:spPr>
            <a:xfrm>
              <a:off x="3273475" y="3657600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8678" y="355"/>
                  </a:lnTo>
                </a:path>
              </a:pathLst>
            </a:custGeom>
            <a:ln w="158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17125" y="36201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20064" y="3721570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2337" y="3743540"/>
            <a:ext cx="1894205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Record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device,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partition,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current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capacity.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86810" y="2261285"/>
            <a:ext cx="2553970" cy="2828925"/>
            <a:chOff x="3586810" y="2261285"/>
            <a:chExt cx="2553970" cy="2828925"/>
          </a:xfrm>
        </p:grpSpPr>
        <p:sp>
          <p:nvSpPr>
            <p:cNvPr id="30" name="object 30"/>
            <p:cNvSpPr/>
            <p:nvPr/>
          </p:nvSpPr>
          <p:spPr>
            <a:xfrm>
              <a:off x="3593515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2468524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743200"/>
                  </a:lnTo>
                  <a:lnTo>
                    <a:pt x="15053" y="2787577"/>
                  </a:lnTo>
                  <a:lnTo>
                    <a:pt x="54048" y="2813858"/>
                  </a:lnTo>
                  <a:lnTo>
                    <a:pt x="73088" y="2816288"/>
                  </a:lnTo>
                  <a:lnTo>
                    <a:pt x="2468879" y="2815920"/>
                  </a:lnTo>
                  <a:lnTo>
                    <a:pt x="2513257" y="2800878"/>
                  </a:lnTo>
                  <a:lnTo>
                    <a:pt x="2539523" y="2761922"/>
                  </a:lnTo>
                  <a:lnTo>
                    <a:pt x="2541946" y="2743200"/>
                  </a:lnTo>
                  <a:lnTo>
                    <a:pt x="2541968" y="2742844"/>
                  </a:lnTo>
                  <a:lnTo>
                    <a:pt x="2541600" y="73088"/>
                  </a:lnTo>
                  <a:lnTo>
                    <a:pt x="2526558" y="28710"/>
                  </a:lnTo>
                  <a:lnTo>
                    <a:pt x="2487558" y="2430"/>
                  </a:lnTo>
                  <a:lnTo>
                    <a:pt x="2478158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593515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2468524" y="0"/>
                  </a:lnTo>
                  <a:lnTo>
                    <a:pt x="2513202" y="15109"/>
                  </a:lnTo>
                  <a:lnTo>
                    <a:pt x="2539171" y="54365"/>
                  </a:lnTo>
                  <a:lnTo>
                    <a:pt x="2541600" y="73088"/>
                  </a:lnTo>
                  <a:lnTo>
                    <a:pt x="2541968" y="2742844"/>
                  </a:lnTo>
                  <a:lnTo>
                    <a:pt x="2541361" y="2752478"/>
                  </a:lnTo>
                  <a:lnTo>
                    <a:pt x="2539538" y="2761878"/>
                  </a:lnTo>
                  <a:lnTo>
                    <a:pt x="2513257" y="2800878"/>
                  </a:lnTo>
                  <a:lnTo>
                    <a:pt x="2468879" y="2815920"/>
                  </a:lnTo>
                  <a:lnTo>
                    <a:pt x="73088" y="2816288"/>
                  </a:lnTo>
                  <a:lnTo>
                    <a:pt x="28405" y="2801178"/>
                  </a:lnTo>
                  <a:lnTo>
                    <a:pt x="2430" y="2761922"/>
                  </a:lnTo>
                  <a:lnTo>
                    <a:pt x="0" y="27432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593160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5" h="2816225">
                  <a:moveTo>
                    <a:pt x="63715" y="0"/>
                  </a:moveTo>
                  <a:lnTo>
                    <a:pt x="0" y="0"/>
                  </a:lnTo>
                  <a:lnTo>
                    <a:pt x="0" y="2815920"/>
                  </a:lnTo>
                  <a:lnTo>
                    <a:pt x="32042" y="2815920"/>
                  </a:lnTo>
                  <a:lnTo>
                    <a:pt x="63715" y="2815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593160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5" h="2816225">
                  <a:moveTo>
                    <a:pt x="32042" y="2815920"/>
                  </a:moveTo>
                  <a:lnTo>
                    <a:pt x="0" y="28159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815920"/>
                  </a:lnTo>
                  <a:lnTo>
                    <a:pt x="32042" y="281592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781704" y="2448979"/>
            <a:ext cx="17195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2</a:t>
            </a:r>
            <a:r>
              <a:rPr dirty="0" sz="13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•</a:t>
            </a:r>
            <a:r>
              <a:rPr dirty="0" sz="135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Resize</a:t>
            </a:r>
            <a:r>
              <a:rPr dirty="0" sz="1350" spc="-7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3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endParaRPr sz="13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82059" y="27538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34345" y="2775851"/>
            <a:ext cx="2016760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Increase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Azure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managed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disk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size.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2059" y="3237737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34345" y="3259696"/>
            <a:ext cx="1598930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az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update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&lt;RG&gt;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&lt;DISK&gt;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--size-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gb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80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27564" y="3620160"/>
            <a:ext cx="227965" cy="76200"/>
            <a:chOff x="6127564" y="3620160"/>
            <a:chExt cx="227965" cy="76200"/>
          </a:xfrm>
        </p:grpSpPr>
        <p:sp>
          <p:nvSpPr>
            <p:cNvPr id="42" name="object 42"/>
            <p:cNvSpPr/>
            <p:nvPr/>
          </p:nvSpPr>
          <p:spPr>
            <a:xfrm>
              <a:off x="6135484" y="3657600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9034" y="355"/>
                  </a:lnTo>
                </a:path>
              </a:pathLst>
            </a:custGeom>
            <a:ln w="158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279476" y="36201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3782059" y="3721570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34345" y="3743540"/>
            <a:ext cx="1974214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Wait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platform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operation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to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complete.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448805" y="2261285"/>
            <a:ext cx="2553970" cy="2828925"/>
            <a:chOff x="6448805" y="2261285"/>
            <a:chExt cx="2553970" cy="2828925"/>
          </a:xfrm>
        </p:grpSpPr>
        <p:sp>
          <p:nvSpPr>
            <p:cNvPr id="49" name="object 49"/>
            <p:cNvSpPr/>
            <p:nvPr/>
          </p:nvSpPr>
          <p:spPr>
            <a:xfrm>
              <a:off x="6455524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2468511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743200"/>
                  </a:lnTo>
                  <a:lnTo>
                    <a:pt x="15041" y="2787577"/>
                  </a:lnTo>
                  <a:lnTo>
                    <a:pt x="54041" y="2813858"/>
                  </a:lnTo>
                  <a:lnTo>
                    <a:pt x="73075" y="2816288"/>
                  </a:lnTo>
                  <a:lnTo>
                    <a:pt x="2468879" y="2815920"/>
                  </a:lnTo>
                  <a:lnTo>
                    <a:pt x="2513250" y="2800878"/>
                  </a:lnTo>
                  <a:lnTo>
                    <a:pt x="2539512" y="2761922"/>
                  </a:lnTo>
                  <a:lnTo>
                    <a:pt x="2541933" y="2743200"/>
                  </a:lnTo>
                  <a:lnTo>
                    <a:pt x="2541955" y="2742844"/>
                  </a:lnTo>
                  <a:lnTo>
                    <a:pt x="2541600" y="73088"/>
                  </a:lnTo>
                  <a:lnTo>
                    <a:pt x="2526546" y="28710"/>
                  </a:lnTo>
                  <a:lnTo>
                    <a:pt x="2487552" y="2430"/>
                  </a:lnTo>
                  <a:lnTo>
                    <a:pt x="2478150" y="607"/>
                  </a:lnTo>
                  <a:lnTo>
                    <a:pt x="24685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455524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2468511" y="0"/>
                  </a:lnTo>
                  <a:lnTo>
                    <a:pt x="2513194" y="15109"/>
                  </a:lnTo>
                  <a:lnTo>
                    <a:pt x="2539169" y="54365"/>
                  </a:lnTo>
                  <a:lnTo>
                    <a:pt x="2541600" y="73088"/>
                  </a:lnTo>
                  <a:lnTo>
                    <a:pt x="2541955" y="2742844"/>
                  </a:lnTo>
                  <a:lnTo>
                    <a:pt x="2541348" y="2752478"/>
                  </a:lnTo>
                  <a:lnTo>
                    <a:pt x="2539526" y="2761878"/>
                  </a:lnTo>
                  <a:lnTo>
                    <a:pt x="2513250" y="2800878"/>
                  </a:lnTo>
                  <a:lnTo>
                    <a:pt x="2468879" y="2815920"/>
                  </a:lnTo>
                  <a:lnTo>
                    <a:pt x="73075" y="2816288"/>
                  </a:lnTo>
                  <a:lnTo>
                    <a:pt x="28398" y="2801178"/>
                  </a:lnTo>
                  <a:lnTo>
                    <a:pt x="2428" y="2761922"/>
                  </a:lnTo>
                  <a:lnTo>
                    <a:pt x="0" y="27432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455155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4" h="2816225">
                  <a:moveTo>
                    <a:pt x="63728" y="0"/>
                  </a:moveTo>
                  <a:lnTo>
                    <a:pt x="0" y="0"/>
                  </a:lnTo>
                  <a:lnTo>
                    <a:pt x="0" y="2815920"/>
                  </a:lnTo>
                  <a:lnTo>
                    <a:pt x="32042" y="2815920"/>
                  </a:lnTo>
                  <a:lnTo>
                    <a:pt x="63728" y="2815920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455155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4" h="2816225">
                  <a:moveTo>
                    <a:pt x="32042" y="2815920"/>
                  </a:moveTo>
                  <a:lnTo>
                    <a:pt x="0" y="2815920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815920"/>
                  </a:lnTo>
                  <a:lnTo>
                    <a:pt x="32042" y="281592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6643699" y="2448979"/>
            <a:ext cx="13462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3</a:t>
            </a:r>
            <a:r>
              <a:rPr dirty="0" sz="13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•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Extend</a:t>
            </a:r>
            <a:r>
              <a:rPr dirty="0" sz="13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guest</a:t>
            </a:r>
            <a:endParaRPr sz="13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44055" y="27538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96341" y="2775851"/>
            <a:ext cx="1799589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If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partitioned,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grow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correct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partition,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then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extend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the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filesystem.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44055" y="3399015"/>
            <a:ext cx="73660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96341" y="3420973"/>
            <a:ext cx="1576070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growpart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/dev/sdX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1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resize2fs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/dev/sdX1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(ext4)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xfs_growfs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/data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(XFS)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989560" y="3620160"/>
            <a:ext cx="227965" cy="76200"/>
            <a:chOff x="8989560" y="3620160"/>
            <a:chExt cx="227965" cy="76200"/>
          </a:xfrm>
        </p:grpSpPr>
        <p:sp>
          <p:nvSpPr>
            <p:cNvPr id="59" name="object 59"/>
            <p:cNvSpPr/>
            <p:nvPr/>
          </p:nvSpPr>
          <p:spPr>
            <a:xfrm>
              <a:off x="8997480" y="3657600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9034" y="355"/>
                  </a:lnTo>
                </a:path>
              </a:pathLst>
            </a:custGeom>
            <a:ln w="158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141485" y="36201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9311220" y="2261335"/>
            <a:ext cx="2553970" cy="2828925"/>
            <a:chOff x="9311220" y="2261335"/>
            <a:chExt cx="2553970" cy="2828925"/>
          </a:xfrm>
        </p:grpSpPr>
        <p:sp>
          <p:nvSpPr>
            <p:cNvPr id="66" name="object 66"/>
            <p:cNvSpPr/>
            <p:nvPr/>
          </p:nvSpPr>
          <p:spPr>
            <a:xfrm>
              <a:off x="9317875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2468524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743200"/>
                  </a:lnTo>
                  <a:lnTo>
                    <a:pt x="597" y="2752478"/>
                  </a:lnTo>
                  <a:lnTo>
                    <a:pt x="607" y="2752628"/>
                  </a:lnTo>
                  <a:lnTo>
                    <a:pt x="21291" y="2794817"/>
                  </a:lnTo>
                  <a:lnTo>
                    <a:pt x="63449" y="2815681"/>
                  </a:lnTo>
                  <a:lnTo>
                    <a:pt x="73088" y="2816288"/>
                  </a:lnTo>
                  <a:lnTo>
                    <a:pt x="2468879" y="2815920"/>
                  </a:lnTo>
                  <a:lnTo>
                    <a:pt x="2513257" y="2800878"/>
                  </a:lnTo>
                  <a:lnTo>
                    <a:pt x="2539523" y="2761922"/>
                  </a:lnTo>
                  <a:lnTo>
                    <a:pt x="2541946" y="2743200"/>
                  </a:lnTo>
                  <a:lnTo>
                    <a:pt x="2541968" y="2742844"/>
                  </a:lnTo>
                  <a:lnTo>
                    <a:pt x="2541600" y="73088"/>
                  </a:lnTo>
                  <a:lnTo>
                    <a:pt x="2526558" y="28710"/>
                  </a:lnTo>
                  <a:lnTo>
                    <a:pt x="2487558" y="2430"/>
                  </a:lnTo>
                  <a:lnTo>
                    <a:pt x="2478158" y="607"/>
                  </a:lnTo>
                  <a:lnTo>
                    <a:pt x="246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317875" y="2267635"/>
              <a:ext cx="2542540" cy="2816860"/>
            </a:xfrm>
            <a:custGeom>
              <a:avLst/>
              <a:gdLst/>
              <a:ahLst/>
              <a:cxnLst/>
              <a:rect l="l" t="t" r="r" b="b"/>
              <a:pathLst>
                <a:path w="2542540" h="281686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2468524" y="0"/>
                  </a:lnTo>
                  <a:lnTo>
                    <a:pt x="2513202" y="15109"/>
                  </a:lnTo>
                  <a:lnTo>
                    <a:pt x="2539171" y="54365"/>
                  </a:lnTo>
                  <a:lnTo>
                    <a:pt x="2541600" y="73088"/>
                  </a:lnTo>
                  <a:lnTo>
                    <a:pt x="2541968" y="2742844"/>
                  </a:lnTo>
                  <a:lnTo>
                    <a:pt x="2541361" y="2752478"/>
                  </a:lnTo>
                  <a:lnTo>
                    <a:pt x="2539538" y="2761878"/>
                  </a:lnTo>
                  <a:lnTo>
                    <a:pt x="2513257" y="2800878"/>
                  </a:lnTo>
                  <a:lnTo>
                    <a:pt x="2468879" y="2815920"/>
                  </a:lnTo>
                  <a:lnTo>
                    <a:pt x="73088" y="2816288"/>
                  </a:lnTo>
                  <a:lnTo>
                    <a:pt x="28405" y="2801178"/>
                  </a:lnTo>
                  <a:lnTo>
                    <a:pt x="2430" y="2761922"/>
                  </a:lnTo>
                  <a:lnTo>
                    <a:pt x="0" y="27432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317519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4" h="2816225">
                  <a:moveTo>
                    <a:pt x="63715" y="0"/>
                  </a:moveTo>
                  <a:lnTo>
                    <a:pt x="0" y="0"/>
                  </a:lnTo>
                  <a:lnTo>
                    <a:pt x="0" y="2815920"/>
                  </a:lnTo>
                  <a:lnTo>
                    <a:pt x="32042" y="2815920"/>
                  </a:lnTo>
                  <a:lnTo>
                    <a:pt x="63715" y="28159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317519" y="2267635"/>
              <a:ext cx="64135" cy="2816225"/>
            </a:xfrm>
            <a:custGeom>
              <a:avLst/>
              <a:gdLst/>
              <a:ahLst/>
              <a:cxnLst/>
              <a:rect l="l" t="t" r="r" b="b"/>
              <a:pathLst>
                <a:path w="64134" h="2816225">
                  <a:moveTo>
                    <a:pt x="32042" y="2815920"/>
                  </a:moveTo>
                  <a:lnTo>
                    <a:pt x="0" y="28159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815920"/>
                  </a:lnTo>
                  <a:lnTo>
                    <a:pt x="32042" y="2815920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9505695" y="2448979"/>
            <a:ext cx="90106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4</a:t>
            </a:r>
            <a:r>
              <a:rPr dirty="0" sz="135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•</a:t>
            </a:r>
            <a:r>
              <a:rPr dirty="0" sz="135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Prove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0243F"/>
                </a:solidFill>
                <a:latin typeface="Arial"/>
                <a:cs typeface="Arial"/>
              </a:rPr>
              <a:t>it</a:t>
            </a:r>
            <a:endParaRPr sz="13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506063" y="27538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658337" y="2775851"/>
            <a:ext cx="1799589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check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filesystem.</a:t>
            </a:r>
            <a:endParaRPr sz="10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506063" y="3076460"/>
            <a:ext cx="73660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658337" y="3098418"/>
            <a:ext cx="709295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lsblk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f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df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/data</a:t>
            </a:r>
            <a:endParaRPr sz="10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506063" y="3560292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658337" y="3582251"/>
            <a:ext cx="1904364" cy="509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Perform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safe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application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write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test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capture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before/after evidence.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78" name="object 7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572300" y="6000381"/>
            <a:ext cx="614934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Replace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/dev/sdX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/data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with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values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confirmed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your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VM.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Never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format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existing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data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disk.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Expand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virtual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hard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disks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on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Linux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7E8B9F"/>
                </a:solidFill>
                <a:latin typeface="Arial"/>
                <a:cs typeface="Arial"/>
              </a:rPr>
              <a:t>VM.</a:t>
            </a:r>
            <a:endParaRPr sz="700">
              <a:latin typeface="Arial"/>
              <a:cs typeface="Arial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2299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Y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Identify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exact</a:t>
            </a:r>
            <a:r>
              <a:rPr dirty="0" spc="-30"/>
              <a:t> </a:t>
            </a:r>
            <a:r>
              <a:rPr dirty="0"/>
              <a:t>disk</a:t>
            </a:r>
            <a:r>
              <a:rPr dirty="0" spc="-25"/>
              <a:t> </a:t>
            </a:r>
            <a:r>
              <a:rPr dirty="0"/>
              <a:t>before</a:t>
            </a:r>
            <a:r>
              <a:rPr dirty="0" spc="-30"/>
              <a:t> </a:t>
            </a:r>
            <a:r>
              <a:rPr dirty="0"/>
              <a:t>any</a:t>
            </a:r>
            <a:r>
              <a:rPr dirty="0" spc="-25"/>
              <a:t> </a:t>
            </a:r>
            <a:r>
              <a:rPr dirty="0"/>
              <a:t>destructive</a:t>
            </a:r>
            <a:r>
              <a:rPr dirty="0" spc="-25"/>
              <a:t> </a:t>
            </a:r>
            <a:r>
              <a:rPr dirty="0" spc="-10"/>
              <a:t>command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8941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Device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paths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vary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size,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image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attachment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order.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Never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assume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/dev/sdb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new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data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disk.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9720" y="1660675"/>
            <a:ext cx="5081905" cy="1835785"/>
            <a:chOff x="819720" y="1660675"/>
            <a:chExt cx="5081905" cy="1835785"/>
          </a:xfrm>
        </p:grpSpPr>
        <p:sp>
          <p:nvSpPr>
            <p:cNvPr id="7" name="object 7"/>
            <p:cNvSpPr/>
            <p:nvPr/>
          </p:nvSpPr>
          <p:spPr>
            <a:xfrm>
              <a:off x="822960" y="1663915"/>
              <a:ext cx="5074920" cy="1828800"/>
            </a:xfrm>
            <a:custGeom>
              <a:avLst/>
              <a:gdLst/>
              <a:ahLst/>
              <a:cxnLst/>
              <a:rect l="l" t="t" r="r" b="b"/>
              <a:pathLst>
                <a:path w="5074920" h="1828800">
                  <a:moveTo>
                    <a:pt x="5019840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1774088"/>
                  </a:lnTo>
                  <a:lnTo>
                    <a:pt x="15925" y="1812740"/>
                  </a:lnTo>
                  <a:lnTo>
                    <a:pt x="48071" y="1828444"/>
                  </a:lnTo>
                  <a:lnTo>
                    <a:pt x="49219" y="1828444"/>
                  </a:lnTo>
                  <a:lnTo>
                    <a:pt x="54724" y="1828800"/>
                  </a:lnTo>
                  <a:lnTo>
                    <a:pt x="5020195" y="1828444"/>
                  </a:lnTo>
                  <a:lnTo>
                    <a:pt x="5058856" y="1812518"/>
                  </a:lnTo>
                  <a:lnTo>
                    <a:pt x="5074896" y="1774088"/>
                  </a:lnTo>
                  <a:lnTo>
                    <a:pt x="5074920" y="1773720"/>
                  </a:lnTo>
                  <a:lnTo>
                    <a:pt x="5074564" y="54724"/>
                  </a:lnTo>
                  <a:lnTo>
                    <a:pt x="5058627" y="16070"/>
                  </a:lnTo>
                  <a:lnTo>
                    <a:pt x="5027048" y="467"/>
                  </a:lnTo>
                  <a:lnTo>
                    <a:pt x="5019840" y="0"/>
                  </a:lnTo>
                  <a:close/>
                </a:path>
              </a:pathLst>
            </a:custGeom>
            <a:solidFill>
              <a:srgbClr val="0F23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1663915"/>
              <a:ext cx="5074920" cy="1828800"/>
            </a:xfrm>
            <a:custGeom>
              <a:avLst/>
              <a:gdLst/>
              <a:ahLst/>
              <a:cxnLst/>
              <a:rect l="l" t="t" r="r" b="b"/>
              <a:pathLst>
                <a:path w="5074920" h="182880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5019840" y="0"/>
                  </a:lnTo>
                  <a:lnTo>
                    <a:pt x="5058627" y="16070"/>
                  </a:lnTo>
                  <a:lnTo>
                    <a:pt x="5074564" y="54724"/>
                  </a:lnTo>
                  <a:lnTo>
                    <a:pt x="5074920" y="1773720"/>
                  </a:lnTo>
                  <a:lnTo>
                    <a:pt x="5074453" y="1780936"/>
                  </a:lnTo>
                  <a:lnTo>
                    <a:pt x="5073076" y="1787947"/>
                  </a:lnTo>
                  <a:lnTo>
                    <a:pt x="5047564" y="1821243"/>
                  </a:lnTo>
                  <a:lnTo>
                    <a:pt x="54724" y="1828800"/>
                  </a:lnTo>
                  <a:lnTo>
                    <a:pt x="15925" y="1812740"/>
                  </a:lnTo>
                  <a:lnTo>
                    <a:pt x="0" y="1774088"/>
                  </a:lnTo>
                  <a:lnTo>
                    <a:pt x="0" y="54724"/>
                  </a:lnTo>
                  <a:close/>
                </a:path>
              </a:pathLst>
            </a:custGeom>
            <a:ln w="6479">
              <a:solidFill>
                <a:srgbClr val="0F23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74775" y="1770011"/>
            <a:ext cx="344677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10">
                <a:solidFill>
                  <a:srgbClr val="D6F6F3"/>
                </a:solidFill>
                <a:latin typeface="Courier New"/>
                <a:cs typeface="Courier New"/>
              </a:rPr>
              <a:t>lsblk</a:t>
            </a:r>
            <a:r>
              <a:rPr dirty="0" sz="1200" spc="-465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345">
                <a:solidFill>
                  <a:srgbClr val="D6F6F3"/>
                </a:solidFill>
                <a:latin typeface="Courier New"/>
                <a:cs typeface="Courier New"/>
              </a:rPr>
              <a:t>-</a:t>
            </a:r>
            <a:r>
              <a:rPr dirty="0" sz="1200" spc="-10">
                <a:solidFill>
                  <a:srgbClr val="D6F6F3"/>
                </a:solidFill>
                <a:latin typeface="Courier New"/>
                <a:cs typeface="Courier New"/>
              </a:rPr>
              <a:t>o</a:t>
            </a:r>
            <a:r>
              <a:rPr dirty="0" sz="1200" spc="-380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D6F6F3"/>
                </a:solidFill>
                <a:latin typeface="Courier New"/>
                <a:cs typeface="Courier New"/>
              </a:rPr>
              <a:t>N</a:t>
            </a:r>
            <a:r>
              <a:rPr dirty="0" sz="1200" spc="-515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D6F6F3"/>
                </a:solidFill>
                <a:latin typeface="Courier New"/>
                <a:cs typeface="Courier New"/>
              </a:rPr>
              <a:t>AM</a:t>
            </a:r>
            <a:r>
              <a:rPr dirty="0" sz="1200" spc="-320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50">
                <a:solidFill>
                  <a:srgbClr val="D6F6F3"/>
                </a:solidFill>
                <a:latin typeface="Courier New"/>
                <a:cs typeface="Courier New"/>
              </a:rPr>
              <a:t>E,SIZE,FSTYPE,TYPE,M</a:t>
            </a:r>
            <a:r>
              <a:rPr dirty="0" sz="1200" spc="-320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D6F6F3"/>
                </a:solidFill>
                <a:latin typeface="Courier New"/>
                <a:cs typeface="Courier New"/>
              </a:rPr>
              <a:t>O</a:t>
            </a:r>
            <a:r>
              <a:rPr dirty="0" sz="1200" spc="-490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D6F6F3"/>
                </a:solidFill>
                <a:latin typeface="Courier New"/>
                <a:cs typeface="Courier New"/>
              </a:rPr>
              <a:t>U</a:t>
            </a:r>
            <a:r>
              <a:rPr dirty="0" sz="1200" spc="-550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D6F6F3"/>
                </a:solidFill>
                <a:latin typeface="Courier New"/>
                <a:cs typeface="Courier New"/>
              </a:rPr>
              <a:t>N</a:t>
            </a:r>
            <a:r>
              <a:rPr dirty="0" sz="1200" spc="-515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35">
                <a:solidFill>
                  <a:srgbClr val="D6F6F3"/>
                </a:solidFill>
                <a:latin typeface="Courier New"/>
                <a:cs typeface="Courier New"/>
              </a:rPr>
              <a:t>TPO</a:t>
            </a:r>
            <a:r>
              <a:rPr dirty="0" sz="1200" spc="-490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75">
                <a:solidFill>
                  <a:srgbClr val="D6F6F3"/>
                </a:solidFill>
                <a:latin typeface="Courier New"/>
                <a:cs typeface="Courier New"/>
              </a:rPr>
              <a:t>IN</a:t>
            </a:r>
            <a:r>
              <a:rPr dirty="0" sz="1200" spc="-515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D6F6F3"/>
                </a:solidFill>
                <a:latin typeface="Courier New"/>
                <a:cs typeface="Courier New"/>
              </a:rPr>
              <a:t>TS</a:t>
            </a:r>
            <a:endParaRPr sz="1200">
              <a:latin typeface="Courier New"/>
              <a:cs typeface="Courier New"/>
            </a:endParaRPr>
          </a:p>
          <a:p>
            <a:pPr marL="12700" marR="2689225">
              <a:lnSpc>
                <a:spcPct val="100000"/>
              </a:lnSpc>
            </a:pPr>
            <a:r>
              <a:rPr dirty="0" sz="1200" spc="-45">
                <a:solidFill>
                  <a:srgbClr val="D6F6F3"/>
                </a:solidFill>
                <a:latin typeface="Courier New"/>
                <a:cs typeface="Courier New"/>
              </a:rPr>
              <a:t>sudo</a:t>
            </a:r>
            <a:r>
              <a:rPr dirty="0" sz="1200" spc="-385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90">
                <a:solidFill>
                  <a:srgbClr val="D6F6F3"/>
                </a:solidFill>
                <a:latin typeface="Courier New"/>
                <a:cs typeface="Courier New"/>
              </a:rPr>
              <a:t>blkid </a:t>
            </a:r>
            <a:r>
              <a:rPr dirty="0" sz="1200" spc="-125">
                <a:solidFill>
                  <a:srgbClr val="D6F6F3"/>
                </a:solidFill>
                <a:latin typeface="Courier New"/>
                <a:cs typeface="Courier New"/>
              </a:rPr>
              <a:t>df-</a:t>
            </a:r>
            <a:r>
              <a:rPr dirty="0" sz="1200" spc="-25">
                <a:solidFill>
                  <a:srgbClr val="D6F6F3"/>
                </a:solidFill>
                <a:latin typeface="Courier New"/>
                <a:cs typeface="Courier New"/>
              </a:rPr>
              <a:t>hT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 spc="-155">
                <a:solidFill>
                  <a:srgbClr val="D6F6F3"/>
                </a:solidFill>
                <a:latin typeface="Courier New"/>
                <a:cs typeface="Courier New"/>
              </a:rPr>
              <a:t>findm</a:t>
            </a:r>
            <a:r>
              <a:rPr dirty="0" sz="1200" spc="-295">
                <a:solidFill>
                  <a:srgbClr val="D6F6F3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D6F6F3"/>
                </a:solidFill>
                <a:latin typeface="Courier New"/>
                <a:cs typeface="Courier New"/>
              </a:rPr>
              <a:t>nt/data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4340" y="1657616"/>
            <a:ext cx="2343785" cy="1841500"/>
            <a:chOff x="6284340" y="1657616"/>
            <a:chExt cx="2343785" cy="1841500"/>
          </a:xfrm>
        </p:grpSpPr>
        <p:sp>
          <p:nvSpPr>
            <p:cNvPr id="11" name="object 11"/>
            <p:cNvSpPr/>
            <p:nvPr/>
          </p:nvSpPr>
          <p:spPr>
            <a:xfrm>
              <a:off x="6290995" y="1663915"/>
              <a:ext cx="2331720" cy="1828800"/>
            </a:xfrm>
            <a:custGeom>
              <a:avLst/>
              <a:gdLst/>
              <a:ahLst/>
              <a:cxnLst/>
              <a:rect l="l" t="t" r="r" b="b"/>
              <a:pathLst>
                <a:path w="2331720" h="1828800">
                  <a:moveTo>
                    <a:pt x="22582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755724"/>
                  </a:lnTo>
                  <a:lnTo>
                    <a:pt x="594" y="1765000"/>
                  </a:lnTo>
                  <a:lnTo>
                    <a:pt x="607" y="1765202"/>
                  </a:lnTo>
                  <a:lnTo>
                    <a:pt x="2394" y="1774397"/>
                  </a:lnTo>
                  <a:lnTo>
                    <a:pt x="2430" y="1774580"/>
                  </a:lnTo>
                  <a:lnTo>
                    <a:pt x="5416" y="1783459"/>
                  </a:lnTo>
                  <a:lnTo>
                    <a:pt x="5470" y="1783620"/>
                  </a:lnTo>
                  <a:lnTo>
                    <a:pt x="9728" y="1792084"/>
                  </a:lnTo>
                  <a:lnTo>
                    <a:pt x="44984" y="1823335"/>
                  </a:lnTo>
                  <a:lnTo>
                    <a:pt x="73088" y="1828800"/>
                  </a:lnTo>
                  <a:lnTo>
                    <a:pt x="2258644" y="1828444"/>
                  </a:lnTo>
                  <a:lnTo>
                    <a:pt x="2303021" y="1813345"/>
                  </a:lnTo>
                  <a:lnTo>
                    <a:pt x="2329229" y="1774580"/>
                  </a:lnTo>
                  <a:lnTo>
                    <a:pt x="2329291" y="1774397"/>
                  </a:lnTo>
                  <a:lnTo>
                    <a:pt x="2331073" y="1765202"/>
                  </a:lnTo>
                  <a:lnTo>
                    <a:pt x="2331112" y="1765000"/>
                  </a:lnTo>
                  <a:lnTo>
                    <a:pt x="2331697" y="1755724"/>
                  </a:lnTo>
                  <a:lnTo>
                    <a:pt x="2331719" y="1755368"/>
                  </a:lnTo>
                  <a:lnTo>
                    <a:pt x="2331364" y="73088"/>
                  </a:lnTo>
                  <a:lnTo>
                    <a:pt x="2316265" y="28710"/>
                  </a:lnTo>
                  <a:lnTo>
                    <a:pt x="2277317" y="2430"/>
                  </a:lnTo>
                  <a:lnTo>
                    <a:pt x="2267920" y="607"/>
                  </a:lnTo>
                  <a:lnTo>
                    <a:pt x="2258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90995" y="1663915"/>
              <a:ext cx="2331720" cy="1828800"/>
            </a:xfrm>
            <a:custGeom>
              <a:avLst/>
              <a:gdLst/>
              <a:ahLst/>
              <a:cxnLst/>
              <a:rect l="l" t="t" r="r" b="b"/>
              <a:pathLst>
                <a:path w="2331720" h="182880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2258288" y="0"/>
                  </a:lnTo>
                  <a:lnTo>
                    <a:pt x="2302809" y="15109"/>
                  </a:lnTo>
                  <a:lnTo>
                    <a:pt x="2328935" y="54232"/>
                  </a:lnTo>
                  <a:lnTo>
                    <a:pt x="2331364" y="73088"/>
                  </a:lnTo>
                  <a:lnTo>
                    <a:pt x="2331719" y="1755368"/>
                  </a:lnTo>
                  <a:lnTo>
                    <a:pt x="2331112" y="1765000"/>
                  </a:lnTo>
                  <a:lnTo>
                    <a:pt x="2329291" y="1774397"/>
                  </a:lnTo>
                  <a:lnTo>
                    <a:pt x="2303021" y="1813345"/>
                  </a:lnTo>
                  <a:lnTo>
                    <a:pt x="2258644" y="1828444"/>
                  </a:lnTo>
                  <a:lnTo>
                    <a:pt x="73088" y="1828800"/>
                  </a:lnTo>
                  <a:lnTo>
                    <a:pt x="28555" y="1813703"/>
                  </a:lnTo>
                  <a:lnTo>
                    <a:pt x="2430" y="1774580"/>
                  </a:lnTo>
                  <a:lnTo>
                    <a:pt x="0" y="175572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90640" y="1663915"/>
              <a:ext cx="64135" cy="1828800"/>
            </a:xfrm>
            <a:custGeom>
              <a:avLst/>
              <a:gdLst/>
              <a:ahLst/>
              <a:cxnLst/>
              <a:rect l="l" t="t" r="r" b="b"/>
              <a:pathLst>
                <a:path w="64135" h="1828800">
                  <a:moveTo>
                    <a:pt x="63715" y="0"/>
                  </a:moveTo>
                  <a:lnTo>
                    <a:pt x="0" y="0"/>
                  </a:lnTo>
                  <a:lnTo>
                    <a:pt x="0" y="1828444"/>
                  </a:lnTo>
                  <a:lnTo>
                    <a:pt x="32042" y="1828444"/>
                  </a:lnTo>
                  <a:lnTo>
                    <a:pt x="63715" y="182844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90640" y="1663915"/>
              <a:ext cx="64135" cy="1828800"/>
            </a:xfrm>
            <a:custGeom>
              <a:avLst/>
              <a:gdLst/>
              <a:ahLst/>
              <a:cxnLst/>
              <a:rect l="l" t="t" r="r" b="b"/>
              <a:pathLst>
                <a:path w="64135" h="1828800">
                  <a:moveTo>
                    <a:pt x="32042" y="1828444"/>
                  </a:moveTo>
                  <a:lnTo>
                    <a:pt x="0" y="182844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828444"/>
                  </a:lnTo>
                  <a:lnTo>
                    <a:pt x="32042" y="182844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479184" y="1842376"/>
            <a:ext cx="13404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Safe</a:t>
            </a:r>
            <a:r>
              <a:rPr dirty="0" sz="14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inspection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9540" y="2150541"/>
            <a:ext cx="75565" cy="52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1825" y="2173224"/>
            <a:ext cx="1736725" cy="529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 indent="-83820">
              <a:lnSpc>
                <a:spcPct val="100000"/>
              </a:lnSpc>
              <a:spcBef>
                <a:spcPts val="100"/>
              </a:spcBef>
              <a:buChar char="-"/>
              <a:tabLst>
                <a:tab pos="96520" algn="l"/>
              </a:tabLst>
            </a:pP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Read-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commands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first</a:t>
            </a:r>
            <a:endParaRPr sz="1100">
              <a:latin typeface="Arial"/>
              <a:cs typeface="Arial"/>
            </a:endParaRPr>
          </a:p>
          <a:p>
            <a:pPr marL="96520" indent="-83820">
              <a:lnSpc>
                <a:spcPct val="100000"/>
              </a:lnSpc>
              <a:buChar char="-"/>
              <a:tabLst>
                <a:tab pos="9652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Match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size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endParaRPr sz="1100">
              <a:latin typeface="Arial"/>
              <a:cs typeface="Arial"/>
            </a:endParaRPr>
          </a:p>
          <a:p>
            <a:pPr marL="96520" indent="-83820">
              <a:lnSpc>
                <a:spcPct val="100000"/>
              </a:lnSpc>
              <a:spcBef>
                <a:spcPts val="5"/>
              </a:spcBef>
              <a:buChar char="-"/>
              <a:tabLst>
                <a:tab pos="9652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mount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point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863024" y="1657616"/>
            <a:ext cx="2388870" cy="1841500"/>
            <a:chOff x="8863024" y="1657616"/>
            <a:chExt cx="2388870" cy="1841500"/>
          </a:xfrm>
        </p:grpSpPr>
        <p:sp>
          <p:nvSpPr>
            <p:cNvPr id="19" name="object 19"/>
            <p:cNvSpPr/>
            <p:nvPr/>
          </p:nvSpPr>
          <p:spPr>
            <a:xfrm>
              <a:off x="8869324" y="1663915"/>
              <a:ext cx="2377440" cy="1828800"/>
            </a:xfrm>
            <a:custGeom>
              <a:avLst/>
              <a:gdLst/>
              <a:ahLst/>
              <a:cxnLst/>
              <a:rect l="l" t="t" r="r" b="b"/>
              <a:pathLst>
                <a:path w="2377440" h="182880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755724"/>
                  </a:lnTo>
                  <a:lnTo>
                    <a:pt x="594" y="1765000"/>
                  </a:lnTo>
                  <a:lnTo>
                    <a:pt x="607" y="1765202"/>
                  </a:lnTo>
                  <a:lnTo>
                    <a:pt x="2393" y="1774397"/>
                  </a:lnTo>
                  <a:lnTo>
                    <a:pt x="2428" y="1774580"/>
                  </a:lnTo>
                  <a:lnTo>
                    <a:pt x="5410" y="1783459"/>
                  </a:lnTo>
                  <a:lnTo>
                    <a:pt x="36360" y="1819084"/>
                  </a:lnTo>
                  <a:lnTo>
                    <a:pt x="73075" y="1828800"/>
                  </a:lnTo>
                  <a:lnTo>
                    <a:pt x="2304351" y="1828444"/>
                  </a:lnTo>
                  <a:lnTo>
                    <a:pt x="2348729" y="1813345"/>
                  </a:lnTo>
                  <a:lnTo>
                    <a:pt x="2374948" y="1774580"/>
                  </a:lnTo>
                  <a:lnTo>
                    <a:pt x="2375009" y="1774397"/>
                  </a:lnTo>
                  <a:lnTo>
                    <a:pt x="2376793" y="1765202"/>
                  </a:lnTo>
                  <a:lnTo>
                    <a:pt x="2376832" y="1765000"/>
                  </a:lnTo>
                  <a:lnTo>
                    <a:pt x="2377417" y="1755724"/>
                  </a:lnTo>
                  <a:lnTo>
                    <a:pt x="2377440" y="1755368"/>
                  </a:lnTo>
                  <a:lnTo>
                    <a:pt x="2377071" y="73088"/>
                  </a:lnTo>
                  <a:lnTo>
                    <a:pt x="2361980" y="28710"/>
                  </a:lnTo>
                  <a:lnTo>
                    <a:pt x="2323030" y="2430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869324" y="1663915"/>
              <a:ext cx="2377440" cy="1828800"/>
            </a:xfrm>
            <a:custGeom>
              <a:avLst/>
              <a:gdLst/>
              <a:ahLst/>
              <a:cxnLst/>
              <a:rect l="l" t="t" r="r" b="b"/>
              <a:pathLst>
                <a:path w="2377440" h="18288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109"/>
                  </a:lnTo>
                  <a:lnTo>
                    <a:pt x="2374642" y="54232"/>
                  </a:lnTo>
                  <a:lnTo>
                    <a:pt x="2377071" y="73088"/>
                  </a:lnTo>
                  <a:lnTo>
                    <a:pt x="2377440" y="1755368"/>
                  </a:lnTo>
                  <a:lnTo>
                    <a:pt x="2376832" y="1765000"/>
                  </a:lnTo>
                  <a:lnTo>
                    <a:pt x="2375009" y="1774397"/>
                  </a:lnTo>
                  <a:lnTo>
                    <a:pt x="2348729" y="1813345"/>
                  </a:lnTo>
                  <a:lnTo>
                    <a:pt x="2304351" y="1828444"/>
                  </a:lnTo>
                  <a:lnTo>
                    <a:pt x="73075" y="1828800"/>
                  </a:lnTo>
                  <a:lnTo>
                    <a:pt x="28548" y="1813703"/>
                  </a:lnTo>
                  <a:lnTo>
                    <a:pt x="2428" y="1774580"/>
                  </a:lnTo>
                  <a:lnTo>
                    <a:pt x="0" y="175572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869324" y="1663915"/>
              <a:ext cx="64135" cy="1828800"/>
            </a:xfrm>
            <a:custGeom>
              <a:avLst/>
              <a:gdLst/>
              <a:ahLst/>
              <a:cxnLst/>
              <a:rect l="l" t="t" r="r" b="b"/>
              <a:pathLst>
                <a:path w="64134" h="1828800">
                  <a:moveTo>
                    <a:pt x="63715" y="0"/>
                  </a:moveTo>
                  <a:lnTo>
                    <a:pt x="0" y="0"/>
                  </a:lnTo>
                  <a:lnTo>
                    <a:pt x="0" y="1828444"/>
                  </a:lnTo>
                  <a:lnTo>
                    <a:pt x="32029" y="1828444"/>
                  </a:lnTo>
                  <a:lnTo>
                    <a:pt x="63715" y="182844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869324" y="1663915"/>
              <a:ext cx="64135" cy="1828800"/>
            </a:xfrm>
            <a:custGeom>
              <a:avLst/>
              <a:gdLst/>
              <a:ahLst/>
              <a:cxnLst/>
              <a:rect l="l" t="t" r="r" b="b"/>
              <a:pathLst>
                <a:path w="64134" h="1828800">
                  <a:moveTo>
                    <a:pt x="32029" y="1828444"/>
                  </a:moveTo>
                  <a:lnTo>
                    <a:pt x="0" y="182844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828444"/>
                  </a:lnTo>
                  <a:lnTo>
                    <a:pt x="32029" y="1828444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032455" y="1842376"/>
            <a:ext cx="2010410" cy="10013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Destructive</a:t>
            </a:r>
            <a:r>
              <a:rPr dirty="0" sz="14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operation</a:t>
            </a:r>
            <a:endParaRPr sz="1400">
              <a:latin typeface="Arial"/>
              <a:cs typeface="Arial"/>
            </a:endParaRPr>
          </a:p>
          <a:p>
            <a:pPr marL="187325" marR="30480" indent="-149860">
              <a:lnSpc>
                <a:spcPct val="100000"/>
              </a:lnSpc>
              <a:spcBef>
                <a:spcPts val="930"/>
              </a:spcBef>
              <a:buChar char="•"/>
              <a:tabLst>
                <a:tab pos="189865" algn="l"/>
              </a:tabLst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mkfs.*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creates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new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	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destroy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	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existing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contents.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on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	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confirmed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blank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lab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volume.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34656" y="3879899"/>
            <a:ext cx="5059680" cy="1247140"/>
            <a:chOff x="834656" y="3879899"/>
            <a:chExt cx="5059680" cy="1247140"/>
          </a:xfrm>
        </p:grpSpPr>
        <p:sp>
          <p:nvSpPr>
            <p:cNvPr id="25" name="object 25"/>
            <p:cNvSpPr/>
            <p:nvPr/>
          </p:nvSpPr>
          <p:spPr>
            <a:xfrm>
              <a:off x="841324" y="3886199"/>
              <a:ext cx="5047615" cy="1234440"/>
            </a:xfrm>
            <a:custGeom>
              <a:avLst/>
              <a:gdLst/>
              <a:ahLst/>
              <a:cxnLst/>
              <a:rect l="l" t="t" r="r" b="b"/>
              <a:pathLst>
                <a:path w="5047615" h="1234439">
                  <a:moveTo>
                    <a:pt x="497412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412" y="1189099"/>
                  </a:lnTo>
                  <a:lnTo>
                    <a:pt x="5464" y="1189255"/>
                  </a:lnTo>
                  <a:lnTo>
                    <a:pt x="36360" y="1224724"/>
                  </a:lnTo>
                  <a:lnTo>
                    <a:pt x="73075" y="1234439"/>
                  </a:lnTo>
                  <a:lnTo>
                    <a:pt x="4974475" y="1234084"/>
                  </a:lnTo>
                  <a:lnTo>
                    <a:pt x="5018853" y="1218980"/>
                  </a:lnTo>
                  <a:lnTo>
                    <a:pt x="5045062" y="1180215"/>
                  </a:lnTo>
                  <a:lnTo>
                    <a:pt x="5045122" y="1180036"/>
                  </a:lnTo>
                  <a:lnTo>
                    <a:pt x="5046904" y="1170840"/>
                  </a:lnTo>
                  <a:lnTo>
                    <a:pt x="5046944" y="1170635"/>
                  </a:lnTo>
                  <a:lnTo>
                    <a:pt x="5047528" y="1161364"/>
                  </a:lnTo>
                  <a:lnTo>
                    <a:pt x="5047551" y="1160995"/>
                  </a:lnTo>
                  <a:lnTo>
                    <a:pt x="5047195" y="73075"/>
                  </a:lnTo>
                  <a:lnTo>
                    <a:pt x="5032097" y="28705"/>
                  </a:lnTo>
                  <a:lnTo>
                    <a:pt x="4993149" y="2428"/>
                  </a:lnTo>
                  <a:lnTo>
                    <a:pt x="4983752" y="607"/>
                  </a:lnTo>
                  <a:lnTo>
                    <a:pt x="4974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41324" y="3886199"/>
              <a:ext cx="5047615" cy="1234440"/>
            </a:xfrm>
            <a:custGeom>
              <a:avLst/>
              <a:gdLst/>
              <a:ahLst/>
              <a:cxnLst/>
              <a:rect l="l" t="t" r="r" b="b"/>
              <a:pathLst>
                <a:path w="5047615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4974120" y="0"/>
                  </a:lnTo>
                  <a:lnTo>
                    <a:pt x="5018640" y="15104"/>
                  </a:lnTo>
                  <a:lnTo>
                    <a:pt x="5044767" y="54224"/>
                  </a:lnTo>
                  <a:lnTo>
                    <a:pt x="5047195" y="73075"/>
                  </a:lnTo>
                  <a:lnTo>
                    <a:pt x="5047551" y="1160995"/>
                  </a:lnTo>
                  <a:lnTo>
                    <a:pt x="5046944" y="1170635"/>
                  </a:lnTo>
                  <a:lnTo>
                    <a:pt x="5045122" y="1180036"/>
                  </a:lnTo>
                  <a:lnTo>
                    <a:pt x="5018853" y="1218980"/>
                  </a:lnTo>
                  <a:lnTo>
                    <a:pt x="4974475" y="1234084"/>
                  </a:lnTo>
                  <a:lnTo>
                    <a:pt x="73075" y="1234439"/>
                  </a:lnTo>
                  <a:lnTo>
                    <a:pt x="28548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40955" y="3886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28" y="12340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40955" y="3886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29500" y="4067543"/>
            <a:ext cx="14478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If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 partitioned</a:t>
            </a:r>
            <a:r>
              <a:rPr dirty="0" sz="135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10243F"/>
                </a:solidFill>
                <a:latin typeface="Arial"/>
                <a:cs typeface="Arial"/>
              </a:rPr>
              <a:t>ext4</a:t>
            </a:r>
            <a:endParaRPr sz="1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9855" y="437208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82141" y="4394060"/>
            <a:ext cx="3924300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device/partition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grow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partition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(e.g.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growpart)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resize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(e.g.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resize2fs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partition).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84340" y="3879899"/>
            <a:ext cx="4968240" cy="1247140"/>
            <a:chOff x="6284340" y="3879899"/>
            <a:chExt cx="4968240" cy="1247140"/>
          </a:xfrm>
        </p:grpSpPr>
        <p:sp>
          <p:nvSpPr>
            <p:cNvPr id="33" name="object 33"/>
            <p:cNvSpPr/>
            <p:nvPr/>
          </p:nvSpPr>
          <p:spPr>
            <a:xfrm>
              <a:off x="6290995" y="3886199"/>
              <a:ext cx="4956175" cy="1234440"/>
            </a:xfrm>
            <a:custGeom>
              <a:avLst/>
              <a:gdLst/>
              <a:ahLst/>
              <a:cxnLst/>
              <a:rect l="l" t="t" r="r" b="b"/>
              <a:pathLst>
                <a:path w="4956175" h="1234439">
                  <a:moveTo>
                    <a:pt x="488268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5" y="1180036"/>
                  </a:lnTo>
                  <a:lnTo>
                    <a:pt x="2430" y="1180215"/>
                  </a:lnTo>
                  <a:lnTo>
                    <a:pt x="28555" y="1219335"/>
                  </a:lnTo>
                  <a:lnTo>
                    <a:pt x="73088" y="1234439"/>
                  </a:lnTo>
                  <a:lnTo>
                    <a:pt x="4883048" y="1234084"/>
                  </a:lnTo>
                  <a:lnTo>
                    <a:pt x="4927418" y="1218980"/>
                  </a:lnTo>
                  <a:lnTo>
                    <a:pt x="4950582" y="1189255"/>
                  </a:lnTo>
                  <a:lnTo>
                    <a:pt x="4950659" y="1189099"/>
                  </a:lnTo>
                  <a:lnTo>
                    <a:pt x="4953635" y="1180215"/>
                  </a:lnTo>
                  <a:lnTo>
                    <a:pt x="4953695" y="1180036"/>
                  </a:lnTo>
                  <a:lnTo>
                    <a:pt x="4955477" y="1170840"/>
                  </a:lnTo>
                  <a:lnTo>
                    <a:pt x="4955516" y="1170635"/>
                  </a:lnTo>
                  <a:lnTo>
                    <a:pt x="4956100" y="1161364"/>
                  </a:lnTo>
                  <a:lnTo>
                    <a:pt x="4956124" y="1160995"/>
                  </a:lnTo>
                  <a:lnTo>
                    <a:pt x="4955768" y="73075"/>
                  </a:lnTo>
                  <a:lnTo>
                    <a:pt x="4940664" y="28705"/>
                  </a:lnTo>
                  <a:lnTo>
                    <a:pt x="4901720" y="2428"/>
                  </a:lnTo>
                  <a:lnTo>
                    <a:pt x="4892319" y="607"/>
                  </a:lnTo>
                  <a:lnTo>
                    <a:pt x="48826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90995" y="3886199"/>
              <a:ext cx="4956175" cy="1234440"/>
            </a:xfrm>
            <a:custGeom>
              <a:avLst/>
              <a:gdLst/>
              <a:ahLst/>
              <a:cxnLst/>
              <a:rect l="l" t="t" r="r" b="b"/>
              <a:pathLst>
                <a:path w="4956175" h="12344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4882680" y="0"/>
                  </a:lnTo>
                  <a:lnTo>
                    <a:pt x="4927213" y="15104"/>
                  </a:lnTo>
                  <a:lnTo>
                    <a:pt x="4953338" y="54224"/>
                  </a:lnTo>
                  <a:lnTo>
                    <a:pt x="4955768" y="73075"/>
                  </a:lnTo>
                  <a:lnTo>
                    <a:pt x="4956124" y="1160995"/>
                  </a:lnTo>
                  <a:lnTo>
                    <a:pt x="4955516" y="1170635"/>
                  </a:lnTo>
                  <a:lnTo>
                    <a:pt x="4953695" y="1180036"/>
                  </a:lnTo>
                  <a:lnTo>
                    <a:pt x="4927418" y="1218980"/>
                  </a:lnTo>
                  <a:lnTo>
                    <a:pt x="4883048" y="1234084"/>
                  </a:lnTo>
                  <a:lnTo>
                    <a:pt x="73088" y="1234439"/>
                  </a:lnTo>
                  <a:lnTo>
                    <a:pt x="28555" y="1219335"/>
                  </a:lnTo>
                  <a:lnTo>
                    <a:pt x="2430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90640" y="3886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290640" y="3886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479184" y="4067543"/>
            <a:ext cx="50990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If</a:t>
            </a:r>
            <a:r>
              <a:rPr dirty="0" sz="135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0243F"/>
                </a:solidFill>
                <a:latin typeface="Arial"/>
                <a:cs typeface="Arial"/>
              </a:rPr>
              <a:t>XFS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9540" y="437208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31825" y="4394060"/>
            <a:ext cx="4356735" cy="348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mount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point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type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extend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partition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if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needed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xfs_growfs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mounted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filesystem.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41" name="object 41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09904" y="6000381"/>
            <a:ext cx="96526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Lab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correction: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attached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Terraform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config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creates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data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disk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80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GiB,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while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resize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task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assumes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40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→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80.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Start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at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40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GiB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to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demonstrate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change.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6446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V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Azure</a:t>
            </a:r>
            <a:r>
              <a:rPr dirty="0" spc="-30"/>
              <a:t> </a:t>
            </a:r>
            <a:r>
              <a:rPr dirty="0"/>
              <a:t>Blob</a:t>
            </a:r>
            <a:r>
              <a:rPr dirty="0" spc="-30"/>
              <a:t> </a:t>
            </a:r>
            <a:r>
              <a:rPr dirty="0"/>
              <a:t>Storage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object</a:t>
            </a:r>
            <a:r>
              <a:rPr dirty="0" spc="-25"/>
              <a:t> </a:t>
            </a:r>
            <a:r>
              <a:rPr dirty="0" spc="-10"/>
              <a:t>storage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2395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unstructured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objects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such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reports,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images,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logs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exports—not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Linux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block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device.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520844" y="1594764"/>
            <a:ext cx="2936240" cy="678180"/>
            <a:chOff x="4520844" y="1594764"/>
            <a:chExt cx="2936240" cy="678180"/>
          </a:xfrm>
        </p:grpSpPr>
        <p:sp>
          <p:nvSpPr>
            <p:cNvPr id="7" name="object 7"/>
            <p:cNvSpPr/>
            <p:nvPr/>
          </p:nvSpPr>
          <p:spPr>
            <a:xfrm>
              <a:off x="4525924" y="1599844"/>
              <a:ext cx="2926080" cy="668020"/>
            </a:xfrm>
            <a:custGeom>
              <a:avLst/>
              <a:gdLst/>
              <a:ahLst/>
              <a:cxnLst/>
              <a:rect l="l" t="t" r="r" b="b"/>
              <a:pathLst>
                <a:path w="2926079" h="668019">
                  <a:moveTo>
                    <a:pt x="2871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612711"/>
                  </a:lnTo>
                  <a:lnTo>
                    <a:pt x="452" y="619564"/>
                  </a:lnTo>
                  <a:lnTo>
                    <a:pt x="466" y="619772"/>
                  </a:lnTo>
                  <a:lnTo>
                    <a:pt x="1798" y="626571"/>
                  </a:lnTo>
                  <a:lnTo>
                    <a:pt x="1843" y="626800"/>
                  </a:lnTo>
                  <a:lnTo>
                    <a:pt x="27355" y="660234"/>
                  </a:lnTo>
                  <a:lnTo>
                    <a:pt x="48065" y="667080"/>
                  </a:lnTo>
                  <a:lnTo>
                    <a:pt x="49212" y="667080"/>
                  </a:lnTo>
                  <a:lnTo>
                    <a:pt x="54711" y="667435"/>
                  </a:lnTo>
                  <a:lnTo>
                    <a:pt x="2871355" y="667080"/>
                  </a:lnTo>
                  <a:lnTo>
                    <a:pt x="2910009" y="651143"/>
                  </a:lnTo>
                  <a:lnTo>
                    <a:pt x="2926056" y="612711"/>
                  </a:lnTo>
                  <a:lnTo>
                    <a:pt x="2926080" y="612355"/>
                  </a:lnTo>
                  <a:lnTo>
                    <a:pt x="2925711" y="54711"/>
                  </a:lnTo>
                  <a:lnTo>
                    <a:pt x="2909785" y="16059"/>
                  </a:lnTo>
                  <a:lnTo>
                    <a:pt x="2878208" y="466"/>
                  </a:lnTo>
                  <a:lnTo>
                    <a:pt x="2871000" y="0"/>
                  </a:lnTo>
                  <a:close/>
                </a:path>
              </a:pathLst>
            </a:custGeom>
            <a:solidFill>
              <a:srgbClr val="102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5924" y="1599844"/>
              <a:ext cx="2926080" cy="668020"/>
            </a:xfrm>
            <a:custGeom>
              <a:avLst/>
              <a:gdLst/>
              <a:ahLst/>
              <a:cxnLst/>
              <a:rect l="l" t="t" r="r" b="b"/>
              <a:pathLst>
                <a:path w="2926079" h="668019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871000" y="0"/>
                  </a:lnTo>
                  <a:lnTo>
                    <a:pt x="2909785" y="16059"/>
                  </a:lnTo>
                  <a:lnTo>
                    <a:pt x="2925711" y="54711"/>
                  </a:lnTo>
                  <a:lnTo>
                    <a:pt x="2926080" y="612355"/>
                  </a:lnTo>
                  <a:lnTo>
                    <a:pt x="2925612" y="619564"/>
                  </a:lnTo>
                  <a:lnTo>
                    <a:pt x="2924232" y="626571"/>
                  </a:lnTo>
                  <a:lnTo>
                    <a:pt x="2898711" y="659879"/>
                  </a:lnTo>
                  <a:lnTo>
                    <a:pt x="54711" y="667435"/>
                  </a:lnTo>
                  <a:lnTo>
                    <a:pt x="15925" y="651371"/>
                  </a:lnTo>
                  <a:lnTo>
                    <a:pt x="0" y="612711"/>
                  </a:lnTo>
                  <a:lnTo>
                    <a:pt x="0" y="54711"/>
                  </a:lnTo>
                  <a:close/>
                </a:path>
              </a:pathLst>
            </a:custGeom>
            <a:ln w="10079">
              <a:solidFill>
                <a:srgbClr val="1024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217744" y="1806740"/>
            <a:ext cx="15417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Storage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Account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86204" y="2277110"/>
            <a:ext cx="7138034" cy="1312545"/>
            <a:chOff x="1686204" y="2277110"/>
            <a:chExt cx="7138034" cy="1312545"/>
          </a:xfrm>
        </p:grpSpPr>
        <p:sp>
          <p:nvSpPr>
            <p:cNvPr id="11" name="object 11"/>
            <p:cNvSpPr/>
            <p:nvPr/>
          </p:nvSpPr>
          <p:spPr>
            <a:xfrm>
              <a:off x="3224161" y="2286000"/>
              <a:ext cx="2765425" cy="490855"/>
            </a:xfrm>
            <a:custGeom>
              <a:avLst/>
              <a:gdLst/>
              <a:ahLst/>
              <a:cxnLst/>
              <a:rect l="l" t="t" r="r" b="b"/>
              <a:pathLst>
                <a:path w="2765425" h="490855">
                  <a:moveTo>
                    <a:pt x="2765158" y="0"/>
                  </a:moveTo>
                  <a:lnTo>
                    <a:pt x="0" y="490677"/>
                  </a:lnTo>
                </a:path>
              </a:pathLst>
            </a:custGeom>
            <a:ln w="176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54680" y="2738513"/>
              <a:ext cx="81280" cy="74930"/>
            </a:xfrm>
            <a:custGeom>
              <a:avLst/>
              <a:gdLst/>
              <a:ahLst/>
              <a:cxnLst/>
              <a:rect l="l" t="t" r="r" b="b"/>
              <a:pathLst>
                <a:path w="81280" h="74930">
                  <a:moveTo>
                    <a:pt x="67678" y="0"/>
                  </a:moveTo>
                  <a:lnTo>
                    <a:pt x="0" y="50406"/>
                  </a:lnTo>
                  <a:lnTo>
                    <a:pt x="81000" y="74523"/>
                  </a:lnTo>
                  <a:lnTo>
                    <a:pt x="6767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989320" y="2286000"/>
              <a:ext cx="635" cy="432434"/>
            </a:xfrm>
            <a:custGeom>
              <a:avLst/>
              <a:gdLst/>
              <a:ahLst/>
              <a:cxnLst/>
              <a:rect l="l" t="t" r="r" b="b"/>
              <a:pathLst>
                <a:path w="635" h="432435">
                  <a:moveTo>
                    <a:pt x="0" y="0"/>
                  </a:moveTo>
                  <a:lnTo>
                    <a:pt x="355" y="432358"/>
                  </a:lnTo>
                </a:path>
              </a:pathLst>
            </a:custGeom>
            <a:ln w="176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51880" y="27133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795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989320" y="2286000"/>
              <a:ext cx="2765425" cy="490855"/>
            </a:xfrm>
            <a:custGeom>
              <a:avLst/>
              <a:gdLst/>
              <a:ahLst/>
              <a:cxnLst/>
              <a:rect l="l" t="t" r="r" b="b"/>
              <a:pathLst>
                <a:path w="2765425" h="490855">
                  <a:moveTo>
                    <a:pt x="0" y="0"/>
                  </a:moveTo>
                  <a:lnTo>
                    <a:pt x="2765158" y="490677"/>
                  </a:lnTo>
                </a:path>
              </a:pathLst>
            </a:custGeom>
            <a:ln w="1763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742959" y="2738513"/>
              <a:ext cx="81280" cy="74930"/>
            </a:xfrm>
            <a:custGeom>
              <a:avLst/>
              <a:gdLst/>
              <a:ahLst/>
              <a:cxnLst/>
              <a:rect l="l" t="t" r="r" b="b"/>
              <a:pathLst>
                <a:path w="81279" h="74930">
                  <a:moveTo>
                    <a:pt x="13322" y="0"/>
                  </a:moveTo>
                  <a:lnTo>
                    <a:pt x="0" y="74523"/>
                  </a:lnTo>
                  <a:lnTo>
                    <a:pt x="81000" y="50406"/>
                  </a:lnTo>
                  <a:lnTo>
                    <a:pt x="13322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691284" y="2834640"/>
              <a:ext cx="2651760" cy="749935"/>
            </a:xfrm>
            <a:custGeom>
              <a:avLst/>
              <a:gdLst/>
              <a:ahLst/>
              <a:cxnLst/>
              <a:rect l="l" t="t" r="r" b="b"/>
              <a:pathLst>
                <a:path w="2651760" h="749935">
                  <a:moveTo>
                    <a:pt x="25966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452" y="702012"/>
                  </a:lnTo>
                  <a:lnTo>
                    <a:pt x="466" y="702218"/>
                  </a:lnTo>
                  <a:lnTo>
                    <a:pt x="1799" y="709020"/>
                  </a:lnTo>
                  <a:lnTo>
                    <a:pt x="1843" y="709242"/>
                  </a:lnTo>
                  <a:lnTo>
                    <a:pt x="3997" y="715758"/>
                  </a:lnTo>
                  <a:lnTo>
                    <a:pt x="4098" y="716064"/>
                  </a:lnTo>
                  <a:lnTo>
                    <a:pt x="7200" y="722515"/>
                  </a:lnTo>
                  <a:lnTo>
                    <a:pt x="40495" y="748036"/>
                  </a:lnTo>
                  <a:lnTo>
                    <a:pt x="48008" y="749515"/>
                  </a:lnTo>
                  <a:lnTo>
                    <a:pt x="49037" y="749515"/>
                  </a:lnTo>
                  <a:lnTo>
                    <a:pt x="54711" y="749884"/>
                  </a:lnTo>
                  <a:lnTo>
                    <a:pt x="2597035" y="749515"/>
                  </a:lnTo>
                  <a:lnTo>
                    <a:pt x="2635689" y="733590"/>
                  </a:lnTo>
                  <a:lnTo>
                    <a:pt x="2649837" y="709242"/>
                  </a:lnTo>
                  <a:lnTo>
                    <a:pt x="2649912" y="709020"/>
                  </a:lnTo>
                  <a:lnTo>
                    <a:pt x="2651251" y="702218"/>
                  </a:lnTo>
                  <a:lnTo>
                    <a:pt x="2651292" y="702012"/>
                  </a:lnTo>
                  <a:lnTo>
                    <a:pt x="2651736" y="695159"/>
                  </a:lnTo>
                  <a:lnTo>
                    <a:pt x="2651391" y="54724"/>
                  </a:lnTo>
                  <a:lnTo>
                    <a:pt x="2635465" y="16063"/>
                  </a:lnTo>
                  <a:lnTo>
                    <a:pt x="2603888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91284" y="2834640"/>
              <a:ext cx="2651760" cy="749935"/>
            </a:xfrm>
            <a:custGeom>
              <a:avLst/>
              <a:gdLst/>
              <a:ahLst/>
              <a:cxnLst/>
              <a:rect l="l" t="t" r="r" b="b"/>
              <a:pathLst>
                <a:path w="2651760" h="74993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596680" y="0"/>
                  </a:lnTo>
                  <a:lnTo>
                    <a:pt x="2635465" y="16063"/>
                  </a:lnTo>
                  <a:lnTo>
                    <a:pt x="2651391" y="54724"/>
                  </a:lnTo>
                  <a:lnTo>
                    <a:pt x="2651760" y="694804"/>
                  </a:lnTo>
                  <a:lnTo>
                    <a:pt x="2651292" y="702012"/>
                  </a:lnTo>
                  <a:lnTo>
                    <a:pt x="2649912" y="709020"/>
                  </a:lnTo>
                  <a:lnTo>
                    <a:pt x="2624391" y="742314"/>
                  </a:lnTo>
                  <a:lnTo>
                    <a:pt x="54711" y="749884"/>
                  </a:lnTo>
                  <a:lnTo>
                    <a:pt x="15925" y="733813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6CC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039302" y="3105620"/>
            <a:ext cx="1952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Container: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internal-reports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58004" y="2829560"/>
            <a:ext cx="2661920" cy="760095"/>
            <a:chOff x="4658004" y="2829560"/>
            <a:chExt cx="2661920" cy="760095"/>
          </a:xfrm>
        </p:grpSpPr>
        <p:sp>
          <p:nvSpPr>
            <p:cNvPr id="21" name="object 21"/>
            <p:cNvSpPr/>
            <p:nvPr/>
          </p:nvSpPr>
          <p:spPr>
            <a:xfrm>
              <a:off x="4663084" y="2834640"/>
              <a:ext cx="2651760" cy="749935"/>
            </a:xfrm>
            <a:custGeom>
              <a:avLst/>
              <a:gdLst/>
              <a:ahLst/>
              <a:cxnLst/>
              <a:rect l="l" t="t" r="r" b="b"/>
              <a:pathLst>
                <a:path w="2651759" h="749935">
                  <a:moveTo>
                    <a:pt x="25966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452" y="702012"/>
                  </a:lnTo>
                  <a:lnTo>
                    <a:pt x="466" y="702218"/>
                  </a:lnTo>
                  <a:lnTo>
                    <a:pt x="1799" y="709020"/>
                  </a:lnTo>
                  <a:lnTo>
                    <a:pt x="1843" y="709242"/>
                  </a:lnTo>
                  <a:lnTo>
                    <a:pt x="27355" y="742683"/>
                  </a:lnTo>
                  <a:lnTo>
                    <a:pt x="48008" y="749515"/>
                  </a:lnTo>
                  <a:lnTo>
                    <a:pt x="49037" y="749515"/>
                  </a:lnTo>
                  <a:lnTo>
                    <a:pt x="54711" y="749884"/>
                  </a:lnTo>
                  <a:lnTo>
                    <a:pt x="2597035" y="749515"/>
                  </a:lnTo>
                  <a:lnTo>
                    <a:pt x="2635689" y="733590"/>
                  </a:lnTo>
                  <a:lnTo>
                    <a:pt x="2651251" y="702218"/>
                  </a:lnTo>
                  <a:lnTo>
                    <a:pt x="2651292" y="702012"/>
                  </a:lnTo>
                  <a:lnTo>
                    <a:pt x="2651736" y="695159"/>
                  </a:lnTo>
                  <a:lnTo>
                    <a:pt x="2651759" y="694804"/>
                  </a:lnTo>
                  <a:lnTo>
                    <a:pt x="2651391" y="54724"/>
                  </a:lnTo>
                  <a:lnTo>
                    <a:pt x="2635465" y="16063"/>
                  </a:lnTo>
                  <a:lnTo>
                    <a:pt x="2603888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63084" y="2834640"/>
              <a:ext cx="2651760" cy="749935"/>
            </a:xfrm>
            <a:custGeom>
              <a:avLst/>
              <a:gdLst/>
              <a:ahLst/>
              <a:cxnLst/>
              <a:rect l="l" t="t" r="r" b="b"/>
              <a:pathLst>
                <a:path w="2651759" h="74993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596680" y="0"/>
                  </a:lnTo>
                  <a:lnTo>
                    <a:pt x="2635465" y="16063"/>
                  </a:lnTo>
                  <a:lnTo>
                    <a:pt x="2651391" y="54724"/>
                  </a:lnTo>
                  <a:lnTo>
                    <a:pt x="2651759" y="694804"/>
                  </a:lnTo>
                  <a:lnTo>
                    <a:pt x="2651292" y="702012"/>
                  </a:lnTo>
                  <a:lnTo>
                    <a:pt x="2649912" y="709020"/>
                  </a:lnTo>
                  <a:lnTo>
                    <a:pt x="2624391" y="742314"/>
                  </a:lnTo>
                  <a:lnTo>
                    <a:pt x="54711" y="749884"/>
                  </a:lnTo>
                  <a:lnTo>
                    <a:pt x="15925" y="733813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5DC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138178" y="3105620"/>
            <a:ext cx="1698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Container:</a:t>
            </a:r>
            <a:r>
              <a:rPr dirty="0" sz="120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app-exports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629844" y="2829600"/>
            <a:ext cx="2661920" cy="760095"/>
            <a:chOff x="7629844" y="2829600"/>
            <a:chExt cx="2661920" cy="760095"/>
          </a:xfrm>
        </p:grpSpPr>
        <p:sp>
          <p:nvSpPr>
            <p:cNvPr id="25" name="object 25"/>
            <p:cNvSpPr/>
            <p:nvPr/>
          </p:nvSpPr>
          <p:spPr>
            <a:xfrm>
              <a:off x="7634884" y="2834640"/>
              <a:ext cx="2651760" cy="749935"/>
            </a:xfrm>
            <a:custGeom>
              <a:avLst/>
              <a:gdLst/>
              <a:ahLst/>
              <a:cxnLst/>
              <a:rect l="l" t="t" r="r" b="b"/>
              <a:pathLst>
                <a:path w="2651759" h="749935">
                  <a:moveTo>
                    <a:pt x="25966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695159"/>
                  </a:lnTo>
                  <a:lnTo>
                    <a:pt x="452" y="702012"/>
                  </a:lnTo>
                  <a:lnTo>
                    <a:pt x="466" y="702218"/>
                  </a:lnTo>
                  <a:lnTo>
                    <a:pt x="1799" y="709020"/>
                  </a:lnTo>
                  <a:lnTo>
                    <a:pt x="1843" y="709242"/>
                  </a:lnTo>
                  <a:lnTo>
                    <a:pt x="3997" y="715758"/>
                  </a:lnTo>
                  <a:lnTo>
                    <a:pt x="33757" y="745780"/>
                  </a:lnTo>
                  <a:lnTo>
                    <a:pt x="48008" y="749515"/>
                  </a:lnTo>
                  <a:lnTo>
                    <a:pt x="49037" y="749515"/>
                  </a:lnTo>
                  <a:lnTo>
                    <a:pt x="54711" y="749884"/>
                  </a:lnTo>
                  <a:lnTo>
                    <a:pt x="2597035" y="749515"/>
                  </a:lnTo>
                  <a:lnTo>
                    <a:pt x="2635689" y="733590"/>
                  </a:lnTo>
                  <a:lnTo>
                    <a:pt x="2651251" y="702218"/>
                  </a:lnTo>
                  <a:lnTo>
                    <a:pt x="2651292" y="702012"/>
                  </a:lnTo>
                  <a:lnTo>
                    <a:pt x="2651736" y="695159"/>
                  </a:lnTo>
                  <a:lnTo>
                    <a:pt x="2651759" y="694804"/>
                  </a:lnTo>
                  <a:lnTo>
                    <a:pt x="2651391" y="54724"/>
                  </a:lnTo>
                  <a:lnTo>
                    <a:pt x="2635465" y="16063"/>
                  </a:lnTo>
                  <a:lnTo>
                    <a:pt x="2603888" y="466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634884" y="2834640"/>
              <a:ext cx="2651760" cy="749935"/>
            </a:xfrm>
            <a:custGeom>
              <a:avLst/>
              <a:gdLst/>
              <a:ahLst/>
              <a:cxnLst/>
              <a:rect l="l" t="t" r="r" b="b"/>
              <a:pathLst>
                <a:path w="2651759" h="74993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596680" y="0"/>
                  </a:lnTo>
                  <a:lnTo>
                    <a:pt x="2635465" y="16063"/>
                  </a:lnTo>
                  <a:lnTo>
                    <a:pt x="2651391" y="54724"/>
                  </a:lnTo>
                  <a:lnTo>
                    <a:pt x="2651759" y="694804"/>
                  </a:lnTo>
                  <a:lnTo>
                    <a:pt x="2651292" y="702012"/>
                  </a:lnTo>
                  <a:lnTo>
                    <a:pt x="2649912" y="709020"/>
                  </a:lnTo>
                  <a:lnTo>
                    <a:pt x="2624391" y="742314"/>
                  </a:lnTo>
                  <a:lnTo>
                    <a:pt x="54711" y="749884"/>
                  </a:lnTo>
                  <a:lnTo>
                    <a:pt x="15925" y="733813"/>
                  </a:lnTo>
                  <a:lnTo>
                    <a:pt x="0" y="69515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ECA9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279180" y="3105620"/>
            <a:ext cx="13608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Container:</a:t>
            </a:r>
            <a:r>
              <a:rPr dirty="0" sz="120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archive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14844" y="3926880"/>
            <a:ext cx="2204720" cy="604520"/>
            <a:chOff x="1914844" y="3926880"/>
            <a:chExt cx="2204720" cy="604520"/>
          </a:xfrm>
        </p:grpSpPr>
        <p:sp>
          <p:nvSpPr>
            <p:cNvPr id="29" name="object 29"/>
            <p:cNvSpPr/>
            <p:nvPr/>
          </p:nvSpPr>
          <p:spPr>
            <a:xfrm>
              <a:off x="1919884" y="3931919"/>
              <a:ext cx="2194560" cy="594360"/>
            </a:xfrm>
            <a:custGeom>
              <a:avLst/>
              <a:gdLst/>
              <a:ahLst/>
              <a:cxnLst/>
              <a:rect l="l" t="t" r="r" b="b"/>
              <a:pathLst>
                <a:path w="2194560" h="594360">
                  <a:moveTo>
                    <a:pt x="21394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15925" y="578296"/>
                  </a:lnTo>
                  <a:lnTo>
                    <a:pt x="48065" y="594004"/>
                  </a:lnTo>
                  <a:lnTo>
                    <a:pt x="49212" y="594004"/>
                  </a:lnTo>
                  <a:lnTo>
                    <a:pt x="54711" y="594359"/>
                  </a:lnTo>
                  <a:lnTo>
                    <a:pt x="2139835" y="594004"/>
                  </a:lnTo>
                  <a:lnTo>
                    <a:pt x="2178489" y="578067"/>
                  </a:lnTo>
                  <a:lnTo>
                    <a:pt x="2192635" y="553724"/>
                  </a:lnTo>
                  <a:lnTo>
                    <a:pt x="2192712" y="553496"/>
                  </a:lnTo>
                  <a:lnTo>
                    <a:pt x="2194051" y="546696"/>
                  </a:lnTo>
                  <a:lnTo>
                    <a:pt x="2194092" y="546488"/>
                  </a:lnTo>
                  <a:lnTo>
                    <a:pt x="2194536" y="539635"/>
                  </a:lnTo>
                  <a:lnTo>
                    <a:pt x="2194191" y="54724"/>
                  </a:lnTo>
                  <a:lnTo>
                    <a:pt x="2178265" y="16063"/>
                  </a:lnTo>
                  <a:lnTo>
                    <a:pt x="2146688" y="466"/>
                  </a:lnTo>
                  <a:lnTo>
                    <a:pt x="2139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19884" y="3931919"/>
              <a:ext cx="2194560" cy="594360"/>
            </a:xfrm>
            <a:custGeom>
              <a:avLst/>
              <a:gdLst/>
              <a:ahLst/>
              <a:cxnLst/>
              <a:rect l="l" t="t" r="r" b="b"/>
              <a:pathLst>
                <a:path w="2194560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139480" y="0"/>
                  </a:lnTo>
                  <a:lnTo>
                    <a:pt x="2178265" y="16063"/>
                  </a:lnTo>
                  <a:lnTo>
                    <a:pt x="2194191" y="54724"/>
                  </a:lnTo>
                  <a:lnTo>
                    <a:pt x="2194560" y="539280"/>
                  </a:lnTo>
                  <a:lnTo>
                    <a:pt x="2194092" y="546488"/>
                  </a:lnTo>
                  <a:lnTo>
                    <a:pt x="2192712" y="553496"/>
                  </a:lnTo>
                  <a:lnTo>
                    <a:pt x="2167191" y="586803"/>
                  </a:lnTo>
                  <a:lnTo>
                    <a:pt x="54711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2661742" y="4130903"/>
            <a:ext cx="71056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10" b="1">
                <a:solidFill>
                  <a:srgbClr val="39495F"/>
                </a:solidFill>
                <a:latin typeface="Arial"/>
                <a:cs typeface="Arial"/>
              </a:rPr>
              <a:t>report.csv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86644" y="3926880"/>
            <a:ext cx="2204720" cy="604520"/>
            <a:chOff x="4886644" y="3926880"/>
            <a:chExt cx="2204720" cy="604520"/>
          </a:xfrm>
        </p:grpSpPr>
        <p:sp>
          <p:nvSpPr>
            <p:cNvPr id="33" name="object 33"/>
            <p:cNvSpPr/>
            <p:nvPr/>
          </p:nvSpPr>
          <p:spPr>
            <a:xfrm>
              <a:off x="4891684" y="3931919"/>
              <a:ext cx="2194560" cy="594360"/>
            </a:xfrm>
            <a:custGeom>
              <a:avLst/>
              <a:gdLst/>
              <a:ahLst/>
              <a:cxnLst/>
              <a:rect l="l" t="t" r="r" b="b"/>
              <a:pathLst>
                <a:path w="2194559" h="594360">
                  <a:moveTo>
                    <a:pt x="21394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65" y="594004"/>
                  </a:lnTo>
                  <a:lnTo>
                    <a:pt x="49212" y="594004"/>
                  </a:lnTo>
                  <a:lnTo>
                    <a:pt x="54711" y="594359"/>
                  </a:lnTo>
                  <a:lnTo>
                    <a:pt x="2139835" y="594004"/>
                  </a:lnTo>
                  <a:lnTo>
                    <a:pt x="2178489" y="578067"/>
                  </a:lnTo>
                  <a:lnTo>
                    <a:pt x="2192635" y="553724"/>
                  </a:lnTo>
                  <a:lnTo>
                    <a:pt x="2192712" y="553496"/>
                  </a:lnTo>
                  <a:lnTo>
                    <a:pt x="2194051" y="546696"/>
                  </a:lnTo>
                  <a:lnTo>
                    <a:pt x="2194092" y="546488"/>
                  </a:lnTo>
                  <a:lnTo>
                    <a:pt x="2194536" y="539635"/>
                  </a:lnTo>
                  <a:lnTo>
                    <a:pt x="2194559" y="539280"/>
                  </a:lnTo>
                  <a:lnTo>
                    <a:pt x="2194191" y="54724"/>
                  </a:lnTo>
                  <a:lnTo>
                    <a:pt x="2178265" y="16063"/>
                  </a:lnTo>
                  <a:lnTo>
                    <a:pt x="2146688" y="466"/>
                  </a:lnTo>
                  <a:lnTo>
                    <a:pt x="2139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91684" y="3931919"/>
              <a:ext cx="2194560" cy="594360"/>
            </a:xfrm>
            <a:custGeom>
              <a:avLst/>
              <a:gdLst/>
              <a:ahLst/>
              <a:cxnLst/>
              <a:rect l="l" t="t" r="r" b="b"/>
              <a:pathLst>
                <a:path w="2194559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139480" y="0"/>
                  </a:lnTo>
                  <a:lnTo>
                    <a:pt x="2178265" y="16063"/>
                  </a:lnTo>
                  <a:lnTo>
                    <a:pt x="2194191" y="54724"/>
                  </a:lnTo>
                  <a:lnTo>
                    <a:pt x="2194559" y="539280"/>
                  </a:lnTo>
                  <a:lnTo>
                    <a:pt x="2194092" y="546488"/>
                  </a:lnTo>
                  <a:lnTo>
                    <a:pt x="2192712" y="553496"/>
                  </a:lnTo>
                  <a:lnTo>
                    <a:pt x="2167191" y="586803"/>
                  </a:lnTo>
                  <a:lnTo>
                    <a:pt x="54711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555056" y="4130903"/>
            <a:ext cx="86741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b="1">
                <a:solidFill>
                  <a:srgbClr val="39495F"/>
                </a:solidFill>
                <a:latin typeface="Arial"/>
                <a:cs typeface="Arial"/>
              </a:rPr>
              <a:t>app-</a:t>
            </a:r>
            <a:r>
              <a:rPr dirty="0" sz="1100" spc="-10" b="1">
                <a:solidFill>
                  <a:srgbClr val="39495F"/>
                </a:solidFill>
                <a:latin typeface="Arial"/>
                <a:cs typeface="Arial"/>
              </a:rPr>
              <a:t>log.json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858444" y="3926880"/>
            <a:ext cx="2204720" cy="604520"/>
            <a:chOff x="7858444" y="3926880"/>
            <a:chExt cx="2204720" cy="604520"/>
          </a:xfrm>
        </p:grpSpPr>
        <p:sp>
          <p:nvSpPr>
            <p:cNvPr id="37" name="object 37"/>
            <p:cNvSpPr/>
            <p:nvPr/>
          </p:nvSpPr>
          <p:spPr>
            <a:xfrm>
              <a:off x="7863484" y="3931919"/>
              <a:ext cx="2194560" cy="594360"/>
            </a:xfrm>
            <a:custGeom>
              <a:avLst/>
              <a:gdLst/>
              <a:ahLst/>
              <a:cxnLst/>
              <a:rect l="l" t="t" r="r" b="b"/>
              <a:pathLst>
                <a:path w="2194559" h="594360">
                  <a:moveTo>
                    <a:pt x="213948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6"/>
                  </a:lnTo>
                  <a:lnTo>
                    <a:pt x="1798" y="553496"/>
                  </a:lnTo>
                  <a:lnTo>
                    <a:pt x="1843" y="553724"/>
                  </a:lnTo>
                  <a:lnTo>
                    <a:pt x="3994" y="560234"/>
                  </a:lnTo>
                  <a:lnTo>
                    <a:pt x="33757" y="590261"/>
                  </a:lnTo>
                  <a:lnTo>
                    <a:pt x="48065" y="594004"/>
                  </a:lnTo>
                  <a:lnTo>
                    <a:pt x="49212" y="594004"/>
                  </a:lnTo>
                  <a:lnTo>
                    <a:pt x="54711" y="594359"/>
                  </a:lnTo>
                  <a:lnTo>
                    <a:pt x="2139835" y="594004"/>
                  </a:lnTo>
                  <a:lnTo>
                    <a:pt x="2178489" y="578067"/>
                  </a:lnTo>
                  <a:lnTo>
                    <a:pt x="2192635" y="553724"/>
                  </a:lnTo>
                  <a:lnTo>
                    <a:pt x="2192712" y="553496"/>
                  </a:lnTo>
                  <a:lnTo>
                    <a:pt x="2194051" y="546696"/>
                  </a:lnTo>
                  <a:lnTo>
                    <a:pt x="2194092" y="546488"/>
                  </a:lnTo>
                  <a:lnTo>
                    <a:pt x="2194536" y="539635"/>
                  </a:lnTo>
                  <a:lnTo>
                    <a:pt x="2194559" y="539280"/>
                  </a:lnTo>
                  <a:lnTo>
                    <a:pt x="2194191" y="54724"/>
                  </a:lnTo>
                  <a:lnTo>
                    <a:pt x="2178265" y="16063"/>
                  </a:lnTo>
                  <a:lnTo>
                    <a:pt x="2146688" y="466"/>
                  </a:lnTo>
                  <a:lnTo>
                    <a:pt x="21394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863484" y="3931919"/>
              <a:ext cx="2194560" cy="594360"/>
            </a:xfrm>
            <a:custGeom>
              <a:avLst/>
              <a:gdLst/>
              <a:ahLst/>
              <a:cxnLst/>
              <a:rect l="l" t="t" r="r" b="b"/>
              <a:pathLst>
                <a:path w="2194559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139480" y="0"/>
                  </a:lnTo>
                  <a:lnTo>
                    <a:pt x="2178265" y="16063"/>
                  </a:lnTo>
                  <a:lnTo>
                    <a:pt x="2194191" y="54724"/>
                  </a:lnTo>
                  <a:lnTo>
                    <a:pt x="2194559" y="539280"/>
                  </a:lnTo>
                  <a:lnTo>
                    <a:pt x="2194092" y="546488"/>
                  </a:lnTo>
                  <a:lnTo>
                    <a:pt x="2192712" y="553496"/>
                  </a:lnTo>
                  <a:lnTo>
                    <a:pt x="2167191" y="586803"/>
                  </a:lnTo>
                  <a:lnTo>
                    <a:pt x="54711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630539" y="4130903"/>
            <a:ext cx="66103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10" b="1">
                <a:solidFill>
                  <a:srgbClr val="39495F"/>
                </a:solidFill>
                <a:latin typeface="Arial"/>
                <a:cs typeface="Arial"/>
              </a:rPr>
              <a:t>yearly.zip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62024" y="4885740"/>
            <a:ext cx="3349625" cy="854075"/>
            <a:chOff x="862024" y="4885740"/>
            <a:chExt cx="3349625" cy="854075"/>
          </a:xfrm>
        </p:grpSpPr>
        <p:sp>
          <p:nvSpPr>
            <p:cNvPr id="41" name="object 41"/>
            <p:cNvSpPr/>
            <p:nvPr/>
          </p:nvSpPr>
          <p:spPr>
            <a:xfrm>
              <a:off x="868680" y="4892040"/>
              <a:ext cx="3337560" cy="841375"/>
            </a:xfrm>
            <a:custGeom>
              <a:avLst/>
              <a:gdLst/>
              <a:ahLst/>
              <a:cxnLst/>
              <a:rect l="l" t="t" r="r" b="b"/>
              <a:pathLst>
                <a:path w="3337560" h="841375">
                  <a:moveTo>
                    <a:pt x="32641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68235"/>
                  </a:lnTo>
                  <a:lnTo>
                    <a:pt x="597" y="777513"/>
                  </a:lnTo>
                  <a:lnTo>
                    <a:pt x="607" y="777663"/>
                  </a:lnTo>
                  <a:lnTo>
                    <a:pt x="21285" y="819853"/>
                  </a:lnTo>
                  <a:lnTo>
                    <a:pt x="63443" y="840716"/>
                  </a:lnTo>
                  <a:lnTo>
                    <a:pt x="73075" y="841324"/>
                  </a:lnTo>
                  <a:lnTo>
                    <a:pt x="3264484" y="840955"/>
                  </a:lnTo>
                  <a:lnTo>
                    <a:pt x="3308854" y="825914"/>
                  </a:lnTo>
                  <a:lnTo>
                    <a:pt x="3335116" y="786958"/>
                  </a:lnTo>
                  <a:lnTo>
                    <a:pt x="3337537" y="768235"/>
                  </a:lnTo>
                  <a:lnTo>
                    <a:pt x="3337559" y="767880"/>
                  </a:lnTo>
                  <a:lnTo>
                    <a:pt x="3337204" y="73075"/>
                  </a:lnTo>
                  <a:lnTo>
                    <a:pt x="3322150" y="28705"/>
                  </a:lnTo>
                  <a:lnTo>
                    <a:pt x="3283156" y="2428"/>
                  </a:lnTo>
                  <a:lnTo>
                    <a:pt x="3273755" y="607"/>
                  </a:lnTo>
                  <a:lnTo>
                    <a:pt x="32641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68680" y="4892040"/>
              <a:ext cx="3337560" cy="841375"/>
            </a:xfrm>
            <a:custGeom>
              <a:avLst/>
              <a:gdLst/>
              <a:ahLst/>
              <a:cxnLst/>
              <a:rect l="l" t="t" r="r" b="b"/>
              <a:pathLst>
                <a:path w="3337560" h="84137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3264115" y="0"/>
                  </a:lnTo>
                  <a:lnTo>
                    <a:pt x="3308798" y="15104"/>
                  </a:lnTo>
                  <a:lnTo>
                    <a:pt x="3334773" y="54357"/>
                  </a:lnTo>
                  <a:lnTo>
                    <a:pt x="3337204" y="73075"/>
                  </a:lnTo>
                  <a:lnTo>
                    <a:pt x="3337559" y="767880"/>
                  </a:lnTo>
                  <a:lnTo>
                    <a:pt x="3336952" y="777513"/>
                  </a:lnTo>
                  <a:lnTo>
                    <a:pt x="3335131" y="786914"/>
                  </a:lnTo>
                  <a:lnTo>
                    <a:pt x="3308854" y="825914"/>
                  </a:lnTo>
                  <a:lnTo>
                    <a:pt x="3264484" y="840955"/>
                  </a:lnTo>
                  <a:lnTo>
                    <a:pt x="73075" y="841324"/>
                  </a:lnTo>
                  <a:lnTo>
                    <a:pt x="28399" y="826214"/>
                  </a:lnTo>
                  <a:lnTo>
                    <a:pt x="2428" y="786958"/>
                  </a:lnTo>
                  <a:lnTo>
                    <a:pt x="0" y="7682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68324" y="4892040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4" h="841375">
                  <a:moveTo>
                    <a:pt x="63715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32029" y="840955"/>
                  </a:lnTo>
                  <a:lnTo>
                    <a:pt x="63715" y="8409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68324" y="4892040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4" h="841375">
                  <a:moveTo>
                    <a:pt x="32029" y="840955"/>
                  </a:moveTo>
                  <a:lnTo>
                    <a:pt x="0" y="8409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40955"/>
                  </a:lnTo>
                  <a:lnTo>
                    <a:pt x="32029" y="840955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056855" y="5079860"/>
            <a:ext cx="106489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10" b="1">
                <a:solidFill>
                  <a:srgbClr val="10243F"/>
                </a:solidFill>
                <a:latin typeface="Arial"/>
                <a:cs typeface="Arial"/>
              </a:rPr>
              <a:t>Authorization</a:t>
            </a:r>
            <a:endParaRPr sz="12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57224" y="5376138"/>
            <a:ext cx="6032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09497" y="5395938"/>
            <a:ext cx="2794000" cy="24447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ct val="79700"/>
              </a:lnSpc>
              <a:spcBef>
                <a:spcPts val="295"/>
              </a:spcBef>
            </a:pP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Entra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ID/RBAC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8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supported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8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key/SAS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 patterns; public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separate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 risk.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428184" y="4885740"/>
            <a:ext cx="3349625" cy="854075"/>
            <a:chOff x="4428184" y="4885740"/>
            <a:chExt cx="3349625" cy="854075"/>
          </a:xfrm>
        </p:grpSpPr>
        <p:sp>
          <p:nvSpPr>
            <p:cNvPr id="49" name="object 49"/>
            <p:cNvSpPr/>
            <p:nvPr/>
          </p:nvSpPr>
          <p:spPr>
            <a:xfrm>
              <a:off x="4434839" y="4892040"/>
              <a:ext cx="3337560" cy="841375"/>
            </a:xfrm>
            <a:custGeom>
              <a:avLst/>
              <a:gdLst/>
              <a:ahLst/>
              <a:cxnLst/>
              <a:rect l="l" t="t" r="r" b="b"/>
              <a:pathLst>
                <a:path w="3337559" h="841375">
                  <a:moveTo>
                    <a:pt x="32641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68235"/>
                  </a:lnTo>
                  <a:lnTo>
                    <a:pt x="15046" y="812613"/>
                  </a:lnTo>
                  <a:lnTo>
                    <a:pt x="54046" y="838893"/>
                  </a:lnTo>
                  <a:lnTo>
                    <a:pt x="73075" y="841324"/>
                  </a:lnTo>
                  <a:lnTo>
                    <a:pt x="3264484" y="840955"/>
                  </a:lnTo>
                  <a:lnTo>
                    <a:pt x="3308854" y="825914"/>
                  </a:lnTo>
                  <a:lnTo>
                    <a:pt x="3335116" y="786958"/>
                  </a:lnTo>
                  <a:lnTo>
                    <a:pt x="3337537" y="768235"/>
                  </a:lnTo>
                  <a:lnTo>
                    <a:pt x="3337560" y="767880"/>
                  </a:lnTo>
                  <a:lnTo>
                    <a:pt x="3337204" y="73075"/>
                  </a:lnTo>
                  <a:lnTo>
                    <a:pt x="3322150" y="28705"/>
                  </a:lnTo>
                  <a:lnTo>
                    <a:pt x="3283156" y="2428"/>
                  </a:lnTo>
                  <a:lnTo>
                    <a:pt x="3273755" y="607"/>
                  </a:lnTo>
                  <a:lnTo>
                    <a:pt x="32641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434839" y="4892040"/>
              <a:ext cx="3337560" cy="841375"/>
            </a:xfrm>
            <a:custGeom>
              <a:avLst/>
              <a:gdLst/>
              <a:ahLst/>
              <a:cxnLst/>
              <a:rect l="l" t="t" r="r" b="b"/>
              <a:pathLst>
                <a:path w="3337559" h="84137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3264115" y="0"/>
                  </a:lnTo>
                  <a:lnTo>
                    <a:pt x="3308798" y="15104"/>
                  </a:lnTo>
                  <a:lnTo>
                    <a:pt x="3334773" y="54357"/>
                  </a:lnTo>
                  <a:lnTo>
                    <a:pt x="3337204" y="73075"/>
                  </a:lnTo>
                  <a:lnTo>
                    <a:pt x="3337560" y="767880"/>
                  </a:lnTo>
                  <a:lnTo>
                    <a:pt x="3336952" y="777513"/>
                  </a:lnTo>
                  <a:lnTo>
                    <a:pt x="3335131" y="786914"/>
                  </a:lnTo>
                  <a:lnTo>
                    <a:pt x="3308854" y="825914"/>
                  </a:lnTo>
                  <a:lnTo>
                    <a:pt x="3264484" y="840955"/>
                  </a:lnTo>
                  <a:lnTo>
                    <a:pt x="73075" y="841324"/>
                  </a:lnTo>
                  <a:lnTo>
                    <a:pt x="28399" y="826214"/>
                  </a:lnTo>
                  <a:lnTo>
                    <a:pt x="2428" y="786958"/>
                  </a:lnTo>
                  <a:lnTo>
                    <a:pt x="0" y="7682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434484" y="4892040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5" h="841375">
                  <a:moveTo>
                    <a:pt x="63715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32029" y="840955"/>
                  </a:lnTo>
                  <a:lnTo>
                    <a:pt x="63715" y="8409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434484" y="4892040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5" h="841375">
                  <a:moveTo>
                    <a:pt x="32029" y="840955"/>
                  </a:moveTo>
                  <a:lnTo>
                    <a:pt x="0" y="8409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40955"/>
                  </a:lnTo>
                  <a:lnTo>
                    <a:pt x="32029" y="840955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4623015" y="5079860"/>
            <a:ext cx="1065530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b="1">
                <a:solidFill>
                  <a:srgbClr val="10243F"/>
                </a:solidFill>
                <a:latin typeface="Arial"/>
                <a:cs typeface="Arial"/>
              </a:rPr>
              <a:t>Cost</a:t>
            </a:r>
            <a:r>
              <a:rPr dirty="0" sz="1250" spc="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10243F"/>
                </a:solidFill>
                <a:latin typeface="Arial"/>
                <a:cs typeface="Arial"/>
              </a:rPr>
              <a:t>controls</a:t>
            </a:r>
            <a:endParaRPr sz="12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623384" y="5376138"/>
            <a:ext cx="6032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75657" y="5395938"/>
            <a:ext cx="2599690" cy="24447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ct val="79700"/>
              </a:lnSpc>
              <a:spcBef>
                <a:spcPts val="295"/>
              </a:spcBef>
            </a:pP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Redundancy,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8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tier,</a:t>
            </a:r>
            <a:r>
              <a:rPr dirty="0" sz="8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transactions,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data</a:t>
            </a:r>
            <a:r>
              <a:rPr dirty="0" sz="8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retrieval</a:t>
            </a:r>
            <a:r>
              <a:rPr dirty="0" sz="8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 retention</a:t>
            </a:r>
            <a:r>
              <a:rPr dirty="0" sz="8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all</a:t>
            </a:r>
            <a:r>
              <a:rPr dirty="0" sz="8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affect</a:t>
            </a:r>
            <a:r>
              <a:rPr dirty="0" sz="8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cost.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975980" y="4885740"/>
            <a:ext cx="3349625" cy="854075"/>
            <a:chOff x="7975980" y="4885740"/>
            <a:chExt cx="3349625" cy="854075"/>
          </a:xfrm>
        </p:grpSpPr>
        <p:sp>
          <p:nvSpPr>
            <p:cNvPr id="57" name="object 57"/>
            <p:cNvSpPr/>
            <p:nvPr/>
          </p:nvSpPr>
          <p:spPr>
            <a:xfrm>
              <a:off x="7982636" y="4892040"/>
              <a:ext cx="3337560" cy="841375"/>
            </a:xfrm>
            <a:custGeom>
              <a:avLst/>
              <a:gdLst/>
              <a:ahLst/>
              <a:cxnLst/>
              <a:rect l="l" t="t" r="r" b="b"/>
              <a:pathLst>
                <a:path w="3337559" h="841375">
                  <a:moveTo>
                    <a:pt x="326412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68235"/>
                  </a:lnTo>
                  <a:lnTo>
                    <a:pt x="597" y="777513"/>
                  </a:lnTo>
                  <a:lnTo>
                    <a:pt x="607" y="777663"/>
                  </a:lnTo>
                  <a:lnTo>
                    <a:pt x="21291" y="819853"/>
                  </a:lnTo>
                  <a:lnTo>
                    <a:pt x="63449" y="840716"/>
                  </a:lnTo>
                  <a:lnTo>
                    <a:pt x="73088" y="841324"/>
                  </a:lnTo>
                  <a:lnTo>
                    <a:pt x="3264484" y="840955"/>
                  </a:lnTo>
                  <a:lnTo>
                    <a:pt x="3308861" y="825914"/>
                  </a:lnTo>
                  <a:lnTo>
                    <a:pt x="3335116" y="786958"/>
                  </a:lnTo>
                  <a:lnTo>
                    <a:pt x="3337537" y="768235"/>
                  </a:lnTo>
                  <a:lnTo>
                    <a:pt x="3337560" y="767880"/>
                  </a:lnTo>
                  <a:lnTo>
                    <a:pt x="3337204" y="73075"/>
                  </a:lnTo>
                  <a:lnTo>
                    <a:pt x="3322157" y="28705"/>
                  </a:lnTo>
                  <a:lnTo>
                    <a:pt x="3283157" y="2428"/>
                  </a:lnTo>
                  <a:lnTo>
                    <a:pt x="3273760" y="607"/>
                  </a:lnTo>
                  <a:lnTo>
                    <a:pt x="32641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982636" y="4892040"/>
              <a:ext cx="3337560" cy="841375"/>
            </a:xfrm>
            <a:custGeom>
              <a:avLst/>
              <a:gdLst/>
              <a:ahLst/>
              <a:cxnLst/>
              <a:rect l="l" t="t" r="r" b="b"/>
              <a:pathLst>
                <a:path w="3337559" h="84137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46"/>
                  </a:lnTo>
                  <a:lnTo>
                    <a:pt x="73088" y="0"/>
                  </a:lnTo>
                  <a:lnTo>
                    <a:pt x="3264128" y="0"/>
                  </a:lnTo>
                  <a:lnTo>
                    <a:pt x="3308804" y="15104"/>
                  </a:lnTo>
                  <a:lnTo>
                    <a:pt x="3334775" y="54357"/>
                  </a:lnTo>
                  <a:lnTo>
                    <a:pt x="3337204" y="73075"/>
                  </a:lnTo>
                  <a:lnTo>
                    <a:pt x="3337560" y="767880"/>
                  </a:lnTo>
                  <a:lnTo>
                    <a:pt x="3336952" y="777513"/>
                  </a:lnTo>
                  <a:lnTo>
                    <a:pt x="3335131" y="786914"/>
                  </a:lnTo>
                  <a:lnTo>
                    <a:pt x="3308861" y="825914"/>
                  </a:lnTo>
                  <a:lnTo>
                    <a:pt x="3264484" y="840955"/>
                  </a:lnTo>
                  <a:lnTo>
                    <a:pt x="73088" y="841324"/>
                  </a:lnTo>
                  <a:lnTo>
                    <a:pt x="28405" y="826214"/>
                  </a:lnTo>
                  <a:lnTo>
                    <a:pt x="2430" y="786958"/>
                  </a:lnTo>
                  <a:lnTo>
                    <a:pt x="0" y="7682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982280" y="4892040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4" h="841375">
                  <a:moveTo>
                    <a:pt x="63715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32042" y="840955"/>
                  </a:lnTo>
                  <a:lnTo>
                    <a:pt x="63715" y="8409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982280" y="4892040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4" h="841375">
                  <a:moveTo>
                    <a:pt x="32042" y="840955"/>
                  </a:moveTo>
                  <a:lnTo>
                    <a:pt x="0" y="8409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40955"/>
                  </a:lnTo>
                  <a:lnTo>
                    <a:pt x="32042" y="840955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8170824" y="5079860"/>
            <a:ext cx="66230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10" b="1">
                <a:solidFill>
                  <a:srgbClr val="10243F"/>
                </a:solidFill>
                <a:latin typeface="Arial"/>
                <a:cs typeface="Arial"/>
              </a:rPr>
              <a:t>Security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71180" y="5376138"/>
            <a:ext cx="6032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323465" y="5395938"/>
            <a:ext cx="2788285" cy="24447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ct val="79700"/>
              </a:lnSpc>
              <a:spcBef>
                <a:spcPts val="295"/>
              </a:spcBef>
            </a:pP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Default</a:t>
            </a:r>
            <a:r>
              <a:rPr dirty="0" sz="8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should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private.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Enable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anonymous</a:t>
            </a:r>
            <a:r>
              <a:rPr dirty="0" sz="8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800" spc="-25">
                <a:solidFill>
                  <a:srgbClr val="39495F"/>
                </a:solidFill>
                <a:latin typeface="Arial"/>
                <a:cs typeface="Arial"/>
              </a:rPr>
              <a:t> for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 a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deliberate</a:t>
            </a:r>
            <a:r>
              <a:rPr dirty="0" sz="8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39495F"/>
                </a:solidFill>
                <a:latin typeface="Arial"/>
                <a:cs typeface="Arial"/>
              </a:rPr>
              <a:t>approved</a:t>
            </a:r>
            <a:r>
              <a:rPr dirty="0" sz="8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8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39495F"/>
                </a:solidFill>
                <a:latin typeface="Arial"/>
                <a:cs typeface="Arial"/>
              </a:rPr>
              <a:t>case.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2300" y="6309982"/>
            <a:ext cx="337121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6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Storage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account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overview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Blob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Storage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documentation.</a:t>
            </a:r>
            <a:endParaRPr sz="700">
              <a:latin typeface="Arial"/>
              <a:cs typeface="Arial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6446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V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Blob</a:t>
            </a:r>
            <a:r>
              <a:rPr dirty="0" spc="-45"/>
              <a:t> </a:t>
            </a:r>
            <a:r>
              <a:rPr dirty="0"/>
              <a:t>public</a:t>
            </a:r>
            <a:r>
              <a:rPr dirty="0" spc="-45"/>
              <a:t> </a:t>
            </a:r>
            <a:r>
              <a:rPr dirty="0"/>
              <a:t>access</a:t>
            </a:r>
            <a:r>
              <a:rPr dirty="0" spc="-45"/>
              <a:t> </a:t>
            </a:r>
            <a:r>
              <a:rPr dirty="0"/>
              <a:t>has</a:t>
            </a:r>
            <a:r>
              <a:rPr dirty="0" spc="-45"/>
              <a:t> </a:t>
            </a:r>
            <a:r>
              <a:rPr dirty="0"/>
              <a:t>two</a:t>
            </a:r>
            <a:r>
              <a:rPr dirty="0" spc="-45"/>
              <a:t> </a:t>
            </a:r>
            <a:r>
              <a:rPr dirty="0"/>
              <a:t>important</a:t>
            </a:r>
            <a:r>
              <a:rPr dirty="0" spc="-45"/>
              <a:t> </a:t>
            </a:r>
            <a:r>
              <a:rPr dirty="0" spc="-10"/>
              <a:t>controls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3004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account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prohibit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anonymous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access,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container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also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configured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public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reads.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09004" y="1732320"/>
            <a:ext cx="2753360" cy="942975"/>
            <a:chOff x="909004" y="1732320"/>
            <a:chExt cx="2753360" cy="942975"/>
          </a:xfrm>
        </p:grpSpPr>
        <p:sp>
          <p:nvSpPr>
            <p:cNvPr id="7" name="object 7"/>
            <p:cNvSpPr/>
            <p:nvPr/>
          </p:nvSpPr>
          <p:spPr>
            <a:xfrm>
              <a:off x="914044" y="1737359"/>
              <a:ext cx="2743200" cy="932815"/>
            </a:xfrm>
            <a:custGeom>
              <a:avLst/>
              <a:gdLst/>
              <a:ahLst/>
              <a:cxnLst/>
              <a:rect l="l" t="t" r="r" b="b"/>
              <a:pathLst>
                <a:path w="2743200" h="932814">
                  <a:moveTo>
                    <a:pt x="2688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3997" y="898638"/>
                  </a:lnTo>
                  <a:lnTo>
                    <a:pt x="33757" y="928660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2688475" y="932395"/>
                  </a:lnTo>
                  <a:lnTo>
                    <a:pt x="2727129" y="916470"/>
                  </a:lnTo>
                  <a:lnTo>
                    <a:pt x="2741277" y="892122"/>
                  </a:lnTo>
                  <a:lnTo>
                    <a:pt x="2741352" y="891900"/>
                  </a:lnTo>
                  <a:lnTo>
                    <a:pt x="2742691" y="885098"/>
                  </a:lnTo>
                  <a:lnTo>
                    <a:pt x="2742732" y="884892"/>
                  </a:lnTo>
                  <a:lnTo>
                    <a:pt x="2743176" y="878039"/>
                  </a:lnTo>
                  <a:lnTo>
                    <a:pt x="2742831" y="54724"/>
                  </a:lnTo>
                  <a:lnTo>
                    <a:pt x="2726905" y="16063"/>
                  </a:lnTo>
                  <a:lnTo>
                    <a:pt x="2695328" y="466"/>
                  </a:lnTo>
                  <a:lnTo>
                    <a:pt x="268812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044" y="1737359"/>
              <a:ext cx="2743200" cy="932815"/>
            </a:xfrm>
            <a:custGeom>
              <a:avLst/>
              <a:gdLst/>
              <a:ahLst/>
              <a:cxnLst/>
              <a:rect l="l" t="t" r="r" b="b"/>
              <a:pathLst>
                <a:path w="274320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688120" y="0"/>
                  </a:lnTo>
                  <a:lnTo>
                    <a:pt x="2726905" y="16063"/>
                  </a:lnTo>
                  <a:lnTo>
                    <a:pt x="2742831" y="54724"/>
                  </a:lnTo>
                  <a:lnTo>
                    <a:pt x="2743200" y="877684"/>
                  </a:lnTo>
                  <a:lnTo>
                    <a:pt x="2742732" y="884892"/>
                  </a:lnTo>
                  <a:lnTo>
                    <a:pt x="2741352" y="891900"/>
                  </a:lnTo>
                  <a:lnTo>
                    <a:pt x="2715831" y="925194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5CC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58544" y="2008339"/>
            <a:ext cx="1851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845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Account</a:t>
            </a:r>
            <a:r>
              <a:rPr dirty="0" sz="12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setting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Allow</a:t>
            </a:r>
            <a:r>
              <a:rPr dirty="0" sz="12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Blob</a:t>
            </a:r>
            <a:r>
              <a:rPr dirty="0" sz="12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2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21136" y="2175116"/>
            <a:ext cx="686435" cy="76200"/>
            <a:chOff x="3721136" y="2175116"/>
            <a:chExt cx="686435" cy="76200"/>
          </a:xfrm>
        </p:grpSpPr>
        <p:sp>
          <p:nvSpPr>
            <p:cNvPr id="11" name="object 11"/>
            <p:cNvSpPr/>
            <p:nvPr/>
          </p:nvSpPr>
          <p:spPr>
            <a:xfrm>
              <a:off x="3730675" y="2212555"/>
              <a:ext cx="606425" cy="635"/>
            </a:xfrm>
            <a:custGeom>
              <a:avLst/>
              <a:gdLst/>
              <a:ahLst/>
              <a:cxnLst/>
              <a:rect l="l" t="t" r="r" b="b"/>
              <a:pathLst>
                <a:path w="606425" h="635">
                  <a:moveTo>
                    <a:pt x="0" y="0"/>
                  </a:moveTo>
                  <a:lnTo>
                    <a:pt x="605878" y="368"/>
                  </a:lnTo>
                </a:path>
              </a:pathLst>
            </a:custGeom>
            <a:ln w="19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31525" y="21751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475164" y="1732320"/>
            <a:ext cx="2753360" cy="942975"/>
            <a:chOff x="4475164" y="1732320"/>
            <a:chExt cx="2753360" cy="942975"/>
          </a:xfrm>
        </p:grpSpPr>
        <p:sp>
          <p:nvSpPr>
            <p:cNvPr id="14" name="object 14"/>
            <p:cNvSpPr/>
            <p:nvPr/>
          </p:nvSpPr>
          <p:spPr>
            <a:xfrm>
              <a:off x="4480204" y="1737359"/>
              <a:ext cx="2743200" cy="932815"/>
            </a:xfrm>
            <a:custGeom>
              <a:avLst/>
              <a:gdLst/>
              <a:ahLst/>
              <a:cxnLst/>
              <a:rect l="l" t="t" r="r" b="b"/>
              <a:pathLst>
                <a:path w="2743200" h="932814">
                  <a:moveTo>
                    <a:pt x="268812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27355" y="925563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2688475" y="932395"/>
                  </a:lnTo>
                  <a:lnTo>
                    <a:pt x="2727129" y="916470"/>
                  </a:lnTo>
                  <a:lnTo>
                    <a:pt x="2742691" y="885098"/>
                  </a:lnTo>
                  <a:lnTo>
                    <a:pt x="2742732" y="884892"/>
                  </a:lnTo>
                  <a:lnTo>
                    <a:pt x="2743176" y="878039"/>
                  </a:lnTo>
                  <a:lnTo>
                    <a:pt x="2743200" y="877684"/>
                  </a:lnTo>
                  <a:lnTo>
                    <a:pt x="2742831" y="54724"/>
                  </a:lnTo>
                  <a:lnTo>
                    <a:pt x="2726905" y="16063"/>
                  </a:lnTo>
                  <a:lnTo>
                    <a:pt x="2695328" y="466"/>
                  </a:lnTo>
                  <a:lnTo>
                    <a:pt x="268812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80204" y="1737359"/>
              <a:ext cx="2743200" cy="932815"/>
            </a:xfrm>
            <a:custGeom>
              <a:avLst/>
              <a:gdLst/>
              <a:ahLst/>
              <a:cxnLst/>
              <a:rect l="l" t="t" r="r" b="b"/>
              <a:pathLst>
                <a:path w="274320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688120" y="0"/>
                  </a:lnTo>
                  <a:lnTo>
                    <a:pt x="2726905" y="16063"/>
                  </a:lnTo>
                  <a:lnTo>
                    <a:pt x="2742831" y="54724"/>
                  </a:lnTo>
                  <a:lnTo>
                    <a:pt x="2743200" y="877684"/>
                  </a:lnTo>
                  <a:lnTo>
                    <a:pt x="2742732" y="884892"/>
                  </a:lnTo>
                  <a:lnTo>
                    <a:pt x="2741352" y="891900"/>
                  </a:lnTo>
                  <a:lnTo>
                    <a:pt x="2715831" y="925194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5C6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144299" y="2008339"/>
            <a:ext cx="1412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79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B2C90"/>
                </a:solidFill>
                <a:latin typeface="Arial"/>
                <a:cs typeface="Arial"/>
              </a:rPr>
              <a:t>Container</a:t>
            </a:r>
            <a:r>
              <a:rPr dirty="0" sz="1200" spc="-60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B2C90"/>
                </a:solidFill>
                <a:latin typeface="Arial"/>
                <a:cs typeface="Arial"/>
              </a:rPr>
              <a:t>setting </a:t>
            </a:r>
            <a:r>
              <a:rPr dirty="0" sz="1200" b="1">
                <a:solidFill>
                  <a:srgbClr val="5B2C90"/>
                </a:solidFill>
                <a:latin typeface="Arial"/>
                <a:cs typeface="Arial"/>
              </a:rPr>
              <a:t>Public</a:t>
            </a:r>
            <a:r>
              <a:rPr dirty="0" sz="1200" spc="-4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B2C90"/>
                </a:solidFill>
                <a:latin typeface="Arial"/>
                <a:cs typeface="Arial"/>
              </a:rPr>
              <a:t>access</a:t>
            </a:r>
            <a:r>
              <a:rPr dirty="0" sz="1200" spc="-4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5B2C90"/>
                </a:solidFill>
                <a:latin typeface="Arial"/>
                <a:cs typeface="Arial"/>
              </a:rPr>
              <a:t>level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87296" y="2175116"/>
            <a:ext cx="686435" cy="76200"/>
            <a:chOff x="7287296" y="2175116"/>
            <a:chExt cx="686435" cy="76200"/>
          </a:xfrm>
        </p:grpSpPr>
        <p:sp>
          <p:nvSpPr>
            <p:cNvPr id="18" name="object 18"/>
            <p:cNvSpPr/>
            <p:nvPr/>
          </p:nvSpPr>
          <p:spPr>
            <a:xfrm>
              <a:off x="7296836" y="2212555"/>
              <a:ext cx="606425" cy="635"/>
            </a:xfrm>
            <a:custGeom>
              <a:avLst/>
              <a:gdLst/>
              <a:ahLst/>
              <a:cxnLst/>
              <a:rect l="l" t="t" r="r" b="b"/>
              <a:pathLst>
                <a:path w="606425" h="635">
                  <a:moveTo>
                    <a:pt x="0" y="0"/>
                  </a:moveTo>
                  <a:lnTo>
                    <a:pt x="605878" y="368"/>
                  </a:lnTo>
                </a:path>
              </a:pathLst>
            </a:custGeom>
            <a:ln w="1907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897685" y="21751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8041324" y="1732320"/>
            <a:ext cx="2844800" cy="942975"/>
            <a:chOff x="8041324" y="1732320"/>
            <a:chExt cx="2844800" cy="942975"/>
          </a:xfrm>
        </p:grpSpPr>
        <p:sp>
          <p:nvSpPr>
            <p:cNvPr id="21" name="object 21"/>
            <p:cNvSpPr/>
            <p:nvPr/>
          </p:nvSpPr>
          <p:spPr>
            <a:xfrm>
              <a:off x="8046364" y="1737359"/>
              <a:ext cx="2834640" cy="932815"/>
            </a:xfrm>
            <a:custGeom>
              <a:avLst/>
              <a:gdLst/>
              <a:ahLst/>
              <a:cxnLst/>
              <a:rect l="l" t="t" r="r" b="b"/>
              <a:pathLst>
                <a:path w="2834640" h="932814">
                  <a:moveTo>
                    <a:pt x="27795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878039"/>
                  </a:lnTo>
                  <a:lnTo>
                    <a:pt x="452" y="884892"/>
                  </a:lnTo>
                  <a:lnTo>
                    <a:pt x="466" y="885098"/>
                  </a:lnTo>
                  <a:lnTo>
                    <a:pt x="1799" y="891900"/>
                  </a:lnTo>
                  <a:lnTo>
                    <a:pt x="1843" y="892122"/>
                  </a:lnTo>
                  <a:lnTo>
                    <a:pt x="3997" y="898638"/>
                  </a:lnTo>
                  <a:lnTo>
                    <a:pt x="33757" y="928660"/>
                  </a:lnTo>
                  <a:lnTo>
                    <a:pt x="48008" y="932395"/>
                  </a:lnTo>
                  <a:lnTo>
                    <a:pt x="49037" y="932395"/>
                  </a:lnTo>
                  <a:lnTo>
                    <a:pt x="54711" y="932764"/>
                  </a:lnTo>
                  <a:lnTo>
                    <a:pt x="2779915" y="932395"/>
                  </a:lnTo>
                  <a:lnTo>
                    <a:pt x="2818569" y="916470"/>
                  </a:lnTo>
                  <a:lnTo>
                    <a:pt x="2834131" y="885098"/>
                  </a:lnTo>
                  <a:lnTo>
                    <a:pt x="2834172" y="884892"/>
                  </a:lnTo>
                  <a:lnTo>
                    <a:pt x="2834616" y="878039"/>
                  </a:lnTo>
                  <a:lnTo>
                    <a:pt x="2834640" y="877684"/>
                  </a:lnTo>
                  <a:lnTo>
                    <a:pt x="2834271" y="54724"/>
                  </a:lnTo>
                  <a:lnTo>
                    <a:pt x="2818345" y="16063"/>
                  </a:lnTo>
                  <a:lnTo>
                    <a:pt x="2786768" y="466"/>
                  </a:lnTo>
                  <a:lnTo>
                    <a:pt x="277956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46364" y="1737359"/>
              <a:ext cx="2834640" cy="932815"/>
            </a:xfrm>
            <a:custGeom>
              <a:avLst/>
              <a:gdLst/>
              <a:ahLst/>
              <a:cxnLst/>
              <a:rect l="l" t="t" r="r" b="b"/>
              <a:pathLst>
                <a:path w="2834640" h="932814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779560" y="0"/>
                  </a:lnTo>
                  <a:lnTo>
                    <a:pt x="2818345" y="16063"/>
                  </a:lnTo>
                  <a:lnTo>
                    <a:pt x="2834271" y="54724"/>
                  </a:lnTo>
                  <a:lnTo>
                    <a:pt x="2834640" y="877684"/>
                  </a:lnTo>
                  <a:lnTo>
                    <a:pt x="2834172" y="884892"/>
                  </a:lnTo>
                  <a:lnTo>
                    <a:pt x="2832792" y="891900"/>
                  </a:lnTo>
                  <a:lnTo>
                    <a:pt x="2807271" y="925194"/>
                  </a:lnTo>
                  <a:lnTo>
                    <a:pt x="54711" y="932764"/>
                  </a:lnTo>
                  <a:lnTo>
                    <a:pt x="15925" y="916693"/>
                  </a:lnTo>
                  <a:lnTo>
                    <a:pt x="0" y="878039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ECA9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714422" y="2008339"/>
            <a:ext cx="1496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355" marR="5080" indent="-3429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Anonymous</a:t>
            </a:r>
            <a:r>
              <a:rPr dirty="0" sz="1200" spc="-6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46900"/>
                </a:solidFill>
                <a:latin typeface="Arial"/>
                <a:cs typeface="Arial"/>
              </a:rPr>
              <a:t>request </a:t>
            </a: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Allowed</a:t>
            </a:r>
            <a:r>
              <a:rPr dirty="0" sz="1200" spc="-4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46900"/>
                </a:solidFill>
                <a:latin typeface="Arial"/>
                <a:cs typeface="Arial"/>
              </a:rPr>
              <a:t>or</a:t>
            </a:r>
            <a:r>
              <a:rPr dirty="0" sz="1200" spc="-40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46900"/>
                </a:solidFill>
                <a:latin typeface="Arial"/>
                <a:cs typeface="Arial"/>
              </a:rPr>
              <a:t>denied?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07744" y="3239820"/>
            <a:ext cx="4812665" cy="1365885"/>
            <a:chOff x="907744" y="3239820"/>
            <a:chExt cx="4812665" cy="1365885"/>
          </a:xfrm>
        </p:grpSpPr>
        <p:sp>
          <p:nvSpPr>
            <p:cNvPr id="25" name="object 25"/>
            <p:cNvSpPr/>
            <p:nvPr/>
          </p:nvSpPr>
          <p:spPr>
            <a:xfrm>
              <a:off x="914399" y="3246119"/>
              <a:ext cx="4800600" cy="1353820"/>
            </a:xfrm>
            <a:custGeom>
              <a:avLst/>
              <a:gdLst/>
              <a:ahLst/>
              <a:cxnLst/>
              <a:rect l="l" t="t" r="r" b="b"/>
              <a:pathLst>
                <a:path w="4800600" h="1353820">
                  <a:moveTo>
                    <a:pt x="47271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80159"/>
                  </a:lnTo>
                  <a:lnTo>
                    <a:pt x="15098" y="1324537"/>
                  </a:lnTo>
                  <a:lnTo>
                    <a:pt x="54046" y="1350806"/>
                  </a:lnTo>
                  <a:lnTo>
                    <a:pt x="73075" y="1353235"/>
                  </a:lnTo>
                  <a:lnTo>
                    <a:pt x="4727524" y="1352880"/>
                  </a:lnTo>
                  <a:lnTo>
                    <a:pt x="4771894" y="1337781"/>
                  </a:lnTo>
                  <a:lnTo>
                    <a:pt x="4798109" y="1299016"/>
                  </a:lnTo>
                  <a:lnTo>
                    <a:pt x="4798171" y="1298833"/>
                  </a:lnTo>
                  <a:lnTo>
                    <a:pt x="4799953" y="1289638"/>
                  </a:lnTo>
                  <a:lnTo>
                    <a:pt x="4799992" y="1289436"/>
                  </a:lnTo>
                  <a:lnTo>
                    <a:pt x="4800577" y="1280159"/>
                  </a:lnTo>
                  <a:lnTo>
                    <a:pt x="4800600" y="1279804"/>
                  </a:lnTo>
                  <a:lnTo>
                    <a:pt x="4800244" y="73075"/>
                  </a:lnTo>
                  <a:lnTo>
                    <a:pt x="4785140" y="28705"/>
                  </a:lnTo>
                  <a:lnTo>
                    <a:pt x="4746196" y="2428"/>
                  </a:lnTo>
                  <a:lnTo>
                    <a:pt x="4736795" y="607"/>
                  </a:lnTo>
                  <a:lnTo>
                    <a:pt x="4727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4399" y="3246119"/>
              <a:ext cx="4800600" cy="1353820"/>
            </a:xfrm>
            <a:custGeom>
              <a:avLst/>
              <a:gdLst/>
              <a:ahLst/>
              <a:cxnLst/>
              <a:rect l="l" t="t" r="r" b="b"/>
              <a:pathLst>
                <a:path w="4800600" h="13538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727155" y="0"/>
                  </a:lnTo>
                  <a:lnTo>
                    <a:pt x="4771688" y="15104"/>
                  </a:lnTo>
                  <a:lnTo>
                    <a:pt x="4797813" y="54224"/>
                  </a:lnTo>
                  <a:lnTo>
                    <a:pt x="4800244" y="73075"/>
                  </a:lnTo>
                  <a:lnTo>
                    <a:pt x="4800600" y="1279804"/>
                  </a:lnTo>
                  <a:lnTo>
                    <a:pt x="4799992" y="1289436"/>
                  </a:lnTo>
                  <a:lnTo>
                    <a:pt x="4798171" y="1298833"/>
                  </a:lnTo>
                  <a:lnTo>
                    <a:pt x="4771894" y="1337781"/>
                  </a:lnTo>
                  <a:lnTo>
                    <a:pt x="4727524" y="1352880"/>
                  </a:lnTo>
                  <a:lnTo>
                    <a:pt x="73075" y="1353235"/>
                  </a:lnTo>
                  <a:lnTo>
                    <a:pt x="28555" y="1338138"/>
                  </a:lnTo>
                  <a:lnTo>
                    <a:pt x="2428" y="1299016"/>
                  </a:lnTo>
                  <a:lnTo>
                    <a:pt x="0" y="1280159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4044" y="3246119"/>
              <a:ext cx="64135" cy="1353185"/>
            </a:xfrm>
            <a:custGeom>
              <a:avLst/>
              <a:gdLst/>
              <a:ahLst/>
              <a:cxnLst/>
              <a:rect l="l" t="t" r="r" b="b"/>
              <a:pathLst>
                <a:path w="64134" h="1353185">
                  <a:moveTo>
                    <a:pt x="63715" y="0"/>
                  </a:moveTo>
                  <a:lnTo>
                    <a:pt x="0" y="0"/>
                  </a:lnTo>
                  <a:lnTo>
                    <a:pt x="0" y="1352880"/>
                  </a:lnTo>
                  <a:lnTo>
                    <a:pt x="32029" y="1352880"/>
                  </a:lnTo>
                  <a:lnTo>
                    <a:pt x="63715" y="135288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14044" y="3246119"/>
              <a:ext cx="64135" cy="1353185"/>
            </a:xfrm>
            <a:custGeom>
              <a:avLst/>
              <a:gdLst/>
              <a:ahLst/>
              <a:cxnLst/>
              <a:rect l="l" t="t" r="r" b="b"/>
              <a:pathLst>
                <a:path w="64134" h="1353185">
                  <a:moveTo>
                    <a:pt x="32029" y="1352880"/>
                  </a:moveTo>
                  <a:lnTo>
                    <a:pt x="0" y="135288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52880"/>
                  </a:lnTo>
                  <a:lnTo>
                    <a:pt x="32029" y="135288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102575" y="3424224"/>
            <a:ext cx="14782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Lockdown</a:t>
            </a:r>
            <a:r>
              <a:rPr dirty="0" sz="14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2944" y="3732390"/>
            <a:ext cx="755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55217" y="3755059"/>
            <a:ext cx="398399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Set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account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property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disallow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Blob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access;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verify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account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container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configuration.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84340" y="3239820"/>
            <a:ext cx="4583430" cy="1365885"/>
            <a:chOff x="6284340" y="3239820"/>
            <a:chExt cx="4583430" cy="1365885"/>
          </a:xfrm>
        </p:grpSpPr>
        <p:sp>
          <p:nvSpPr>
            <p:cNvPr id="33" name="object 33"/>
            <p:cNvSpPr/>
            <p:nvPr/>
          </p:nvSpPr>
          <p:spPr>
            <a:xfrm>
              <a:off x="6290640" y="3246119"/>
              <a:ext cx="4572000" cy="1353820"/>
            </a:xfrm>
            <a:custGeom>
              <a:avLst/>
              <a:gdLst/>
              <a:ahLst/>
              <a:cxnLst/>
              <a:rect l="l" t="t" r="r" b="b"/>
              <a:pathLst>
                <a:path w="4572000" h="1353820">
                  <a:moveTo>
                    <a:pt x="4498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80159"/>
                  </a:lnTo>
                  <a:lnTo>
                    <a:pt x="594" y="1289436"/>
                  </a:lnTo>
                  <a:lnTo>
                    <a:pt x="607" y="1289638"/>
                  </a:lnTo>
                  <a:lnTo>
                    <a:pt x="2393" y="1298833"/>
                  </a:lnTo>
                  <a:lnTo>
                    <a:pt x="2428" y="1299016"/>
                  </a:lnTo>
                  <a:lnTo>
                    <a:pt x="5410" y="1307895"/>
                  </a:lnTo>
                  <a:lnTo>
                    <a:pt x="36360" y="1343520"/>
                  </a:lnTo>
                  <a:lnTo>
                    <a:pt x="73075" y="1353235"/>
                  </a:lnTo>
                  <a:lnTo>
                    <a:pt x="4498924" y="1352880"/>
                  </a:lnTo>
                  <a:lnTo>
                    <a:pt x="4543294" y="1337781"/>
                  </a:lnTo>
                  <a:lnTo>
                    <a:pt x="4569509" y="1299016"/>
                  </a:lnTo>
                  <a:lnTo>
                    <a:pt x="4569571" y="1298833"/>
                  </a:lnTo>
                  <a:lnTo>
                    <a:pt x="4571353" y="1289638"/>
                  </a:lnTo>
                  <a:lnTo>
                    <a:pt x="4571392" y="1289436"/>
                  </a:lnTo>
                  <a:lnTo>
                    <a:pt x="4571977" y="1280159"/>
                  </a:lnTo>
                  <a:lnTo>
                    <a:pt x="4571644" y="73075"/>
                  </a:lnTo>
                  <a:lnTo>
                    <a:pt x="4556540" y="28705"/>
                  </a:lnTo>
                  <a:lnTo>
                    <a:pt x="4517596" y="2428"/>
                  </a:lnTo>
                  <a:lnTo>
                    <a:pt x="4508195" y="607"/>
                  </a:lnTo>
                  <a:lnTo>
                    <a:pt x="4498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90640" y="3246119"/>
              <a:ext cx="4572000" cy="1353820"/>
            </a:xfrm>
            <a:custGeom>
              <a:avLst/>
              <a:gdLst/>
              <a:ahLst/>
              <a:cxnLst/>
              <a:rect l="l" t="t" r="r" b="b"/>
              <a:pathLst>
                <a:path w="4572000" h="13538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498555" y="0"/>
                  </a:lnTo>
                  <a:lnTo>
                    <a:pt x="4543088" y="15104"/>
                  </a:lnTo>
                  <a:lnTo>
                    <a:pt x="4569213" y="54224"/>
                  </a:lnTo>
                  <a:lnTo>
                    <a:pt x="4571644" y="73075"/>
                  </a:lnTo>
                  <a:lnTo>
                    <a:pt x="4572000" y="1279804"/>
                  </a:lnTo>
                  <a:lnTo>
                    <a:pt x="4571392" y="1289436"/>
                  </a:lnTo>
                  <a:lnTo>
                    <a:pt x="4569571" y="1298833"/>
                  </a:lnTo>
                  <a:lnTo>
                    <a:pt x="4543294" y="1337781"/>
                  </a:lnTo>
                  <a:lnTo>
                    <a:pt x="4498924" y="1352880"/>
                  </a:lnTo>
                  <a:lnTo>
                    <a:pt x="73075" y="1353235"/>
                  </a:lnTo>
                  <a:lnTo>
                    <a:pt x="28555" y="1338138"/>
                  </a:lnTo>
                  <a:lnTo>
                    <a:pt x="2428" y="1299016"/>
                  </a:lnTo>
                  <a:lnTo>
                    <a:pt x="0" y="1280159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90640" y="3246119"/>
              <a:ext cx="64135" cy="1353185"/>
            </a:xfrm>
            <a:custGeom>
              <a:avLst/>
              <a:gdLst/>
              <a:ahLst/>
              <a:cxnLst/>
              <a:rect l="l" t="t" r="r" b="b"/>
              <a:pathLst>
                <a:path w="64135" h="1353185">
                  <a:moveTo>
                    <a:pt x="63715" y="0"/>
                  </a:moveTo>
                  <a:lnTo>
                    <a:pt x="0" y="0"/>
                  </a:lnTo>
                  <a:lnTo>
                    <a:pt x="0" y="1352880"/>
                  </a:lnTo>
                  <a:lnTo>
                    <a:pt x="32042" y="1352880"/>
                  </a:lnTo>
                  <a:lnTo>
                    <a:pt x="63715" y="135288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290640" y="3246119"/>
              <a:ext cx="64135" cy="1353185"/>
            </a:xfrm>
            <a:custGeom>
              <a:avLst/>
              <a:gdLst/>
              <a:ahLst/>
              <a:cxnLst/>
              <a:rect l="l" t="t" r="r" b="b"/>
              <a:pathLst>
                <a:path w="64135" h="1353185">
                  <a:moveTo>
                    <a:pt x="32042" y="1352880"/>
                  </a:moveTo>
                  <a:lnTo>
                    <a:pt x="0" y="135288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52880"/>
                  </a:lnTo>
                  <a:lnTo>
                    <a:pt x="32042" y="1352880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479540" y="3424224"/>
            <a:ext cx="1379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Evidence</a:t>
            </a:r>
            <a:r>
              <a:rPr dirty="0" sz="14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9184" y="3732390"/>
            <a:ext cx="74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31457" y="3754704"/>
            <a:ext cx="3970654" cy="5245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ts val="1310"/>
              </a:lnSpc>
              <a:spcBef>
                <a:spcPts val="140"/>
              </a:spcBef>
            </a:pP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Request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synthetic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blob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anonymously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curl.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must</a:t>
            </a:r>
            <a:r>
              <a:rPr dirty="0" sz="11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not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return</a:t>
            </a:r>
            <a:r>
              <a:rPr dirty="0" sz="11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file</a:t>
            </a:r>
            <a:r>
              <a:rPr dirty="0" sz="11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contents;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response</a:t>
            </a:r>
            <a:r>
              <a:rPr dirty="0" sz="11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status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vary</a:t>
            </a:r>
            <a:r>
              <a:rPr dirty="0" sz="11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by</a:t>
            </a:r>
            <a:r>
              <a:rPr dirty="0" sz="11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request</a:t>
            </a:r>
            <a:r>
              <a:rPr dirty="0" sz="11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configuration.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41" name="object 41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09904" y="6000381"/>
            <a:ext cx="820483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attached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guide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shows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409-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style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denial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account-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level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disabled;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validate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actual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endpoint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response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your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lab.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2300" y="6318644"/>
            <a:ext cx="3376295" cy="1276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6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Configure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anonymous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read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access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for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containers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blobs.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6446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V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Lifecycle</a:t>
            </a:r>
            <a:r>
              <a:rPr dirty="0" spc="-30"/>
              <a:t> </a:t>
            </a:r>
            <a:r>
              <a:rPr dirty="0"/>
              <a:t>management</a:t>
            </a:r>
            <a:r>
              <a:rPr dirty="0" spc="-25"/>
              <a:t> </a:t>
            </a:r>
            <a:r>
              <a:rPr dirty="0"/>
              <a:t>trades</a:t>
            </a:r>
            <a:r>
              <a:rPr dirty="0" spc="-30"/>
              <a:t> </a:t>
            </a:r>
            <a:r>
              <a:rPr dirty="0"/>
              <a:t>access</a:t>
            </a:r>
            <a:r>
              <a:rPr dirty="0" spc="-25"/>
              <a:t> </a:t>
            </a:r>
            <a:r>
              <a:rPr dirty="0"/>
              <a:t>cost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/>
              <a:t>storage</a:t>
            </a:r>
            <a:r>
              <a:rPr dirty="0" spc="-30"/>
              <a:t> </a:t>
            </a:r>
            <a:r>
              <a:rPr dirty="0" spc="-20"/>
              <a:t>cost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871334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lifecycle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policy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transition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objects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based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age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or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last-modified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time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optionally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delete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expired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data.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24864" y="1822144"/>
            <a:ext cx="2527935" cy="2162175"/>
            <a:chOff x="724864" y="1822144"/>
            <a:chExt cx="2527935" cy="2162175"/>
          </a:xfrm>
        </p:grpSpPr>
        <p:sp>
          <p:nvSpPr>
            <p:cNvPr id="7" name="object 7"/>
            <p:cNvSpPr/>
            <p:nvPr/>
          </p:nvSpPr>
          <p:spPr>
            <a:xfrm>
              <a:off x="73116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5" h="2149475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2085111"/>
                  </a:lnTo>
                  <a:lnTo>
                    <a:pt x="538" y="2093461"/>
                  </a:lnTo>
                  <a:lnTo>
                    <a:pt x="18735" y="2130342"/>
                  </a:lnTo>
                  <a:lnTo>
                    <a:pt x="18851" y="2130475"/>
                  </a:lnTo>
                  <a:lnTo>
                    <a:pt x="55728" y="2148655"/>
                  </a:lnTo>
                  <a:lnTo>
                    <a:pt x="64071" y="2149195"/>
                  </a:lnTo>
                  <a:lnTo>
                    <a:pt x="2450871" y="2149195"/>
                  </a:lnTo>
                  <a:lnTo>
                    <a:pt x="2489913" y="2135837"/>
                  </a:lnTo>
                  <a:lnTo>
                    <a:pt x="2512795" y="2101675"/>
                  </a:lnTo>
                  <a:lnTo>
                    <a:pt x="2514955" y="2085111"/>
                  </a:lnTo>
                  <a:lnTo>
                    <a:pt x="2514931" y="64071"/>
                  </a:lnTo>
                  <a:lnTo>
                    <a:pt x="2501597" y="25397"/>
                  </a:lnTo>
                  <a:lnTo>
                    <a:pt x="2467435" y="2516"/>
                  </a:lnTo>
                  <a:lnTo>
                    <a:pt x="2450871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16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5" h="2149475">
                  <a:moveTo>
                    <a:pt x="355" y="64071"/>
                  </a:moveTo>
                  <a:lnTo>
                    <a:pt x="895" y="55728"/>
                  </a:lnTo>
                  <a:lnTo>
                    <a:pt x="2516" y="47517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2450871" y="355"/>
                  </a:lnTo>
                  <a:lnTo>
                    <a:pt x="2489863" y="13563"/>
                  </a:lnTo>
                  <a:lnTo>
                    <a:pt x="2512795" y="47875"/>
                  </a:lnTo>
                  <a:lnTo>
                    <a:pt x="2514955" y="64439"/>
                  </a:lnTo>
                  <a:lnTo>
                    <a:pt x="2514955" y="2085111"/>
                  </a:lnTo>
                  <a:lnTo>
                    <a:pt x="2514415" y="2093461"/>
                  </a:lnTo>
                  <a:lnTo>
                    <a:pt x="2512795" y="2101675"/>
                  </a:lnTo>
                  <a:lnTo>
                    <a:pt x="2489913" y="2135837"/>
                  </a:lnTo>
                  <a:lnTo>
                    <a:pt x="2450871" y="2149195"/>
                  </a:lnTo>
                  <a:lnTo>
                    <a:pt x="64071" y="2149195"/>
                  </a:lnTo>
                  <a:lnTo>
                    <a:pt x="25086" y="2135987"/>
                  </a:lnTo>
                  <a:lnTo>
                    <a:pt x="2155" y="2101675"/>
                  </a:lnTo>
                  <a:lnTo>
                    <a:pt x="0" y="2085111"/>
                  </a:lnTo>
                  <a:lnTo>
                    <a:pt x="355" y="64071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789823" y="2053335"/>
            <a:ext cx="40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B32217"/>
                </a:solidFill>
                <a:latin typeface="Arial"/>
                <a:cs typeface="Arial"/>
              </a:rPr>
              <a:t>Hot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8938" y="2652382"/>
            <a:ext cx="1166495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Frequent</a:t>
            </a:r>
            <a:r>
              <a:rPr dirty="0" sz="1100" spc="1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1621" y="3189147"/>
            <a:ext cx="2012950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11530" marR="5080" indent="-799465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Higher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cost;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lower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access friction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05224" y="1822144"/>
            <a:ext cx="2527935" cy="2162175"/>
            <a:chOff x="3605224" y="1822144"/>
            <a:chExt cx="2527935" cy="2162175"/>
          </a:xfrm>
        </p:grpSpPr>
        <p:sp>
          <p:nvSpPr>
            <p:cNvPr id="13" name="object 13"/>
            <p:cNvSpPr/>
            <p:nvPr/>
          </p:nvSpPr>
          <p:spPr>
            <a:xfrm>
              <a:off x="361152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5" h="2149475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2085111"/>
                  </a:lnTo>
                  <a:lnTo>
                    <a:pt x="538" y="2093461"/>
                  </a:lnTo>
                  <a:lnTo>
                    <a:pt x="18735" y="2130342"/>
                  </a:lnTo>
                  <a:lnTo>
                    <a:pt x="18851" y="2130475"/>
                  </a:lnTo>
                  <a:lnTo>
                    <a:pt x="55728" y="2148655"/>
                  </a:lnTo>
                  <a:lnTo>
                    <a:pt x="64071" y="2149195"/>
                  </a:lnTo>
                  <a:lnTo>
                    <a:pt x="2450871" y="2149195"/>
                  </a:lnTo>
                  <a:lnTo>
                    <a:pt x="2489913" y="2135837"/>
                  </a:lnTo>
                  <a:lnTo>
                    <a:pt x="2512795" y="2101675"/>
                  </a:lnTo>
                  <a:lnTo>
                    <a:pt x="2514955" y="2085111"/>
                  </a:lnTo>
                  <a:lnTo>
                    <a:pt x="2514931" y="64071"/>
                  </a:lnTo>
                  <a:lnTo>
                    <a:pt x="2501597" y="25397"/>
                  </a:lnTo>
                  <a:lnTo>
                    <a:pt x="2467435" y="2516"/>
                  </a:lnTo>
                  <a:lnTo>
                    <a:pt x="2450871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1152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5" h="2149475">
                  <a:moveTo>
                    <a:pt x="355" y="64071"/>
                  </a:moveTo>
                  <a:lnTo>
                    <a:pt x="895" y="55728"/>
                  </a:lnTo>
                  <a:lnTo>
                    <a:pt x="2516" y="47517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2450871" y="355"/>
                  </a:lnTo>
                  <a:lnTo>
                    <a:pt x="2489863" y="13563"/>
                  </a:lnTo>
                  <a:lnTo>
                    <a:pt x="2512795" y="47875"/>
                  </a:lnTo>
                  <a:lnTo>
                    <a:pt x="2514955" y="64439"/>
                  </a:lnTo>
                  <a:lnTo>
                    <a:pt x="2514955" y="2085111"/>
                  </a:lnTo>
                  <a:lnTo>
                    <a:pt x="2514415" y="2093461"/>
                  </a:lnTo>
                  <a:lnTo>
                    <a:pt x="2512795" y="2101675"/>
                  </a:lnTo>
                  <a:lnTo>
                    <a:pt x="2489913" y="2135837"/>
                  </a:lnTo>
                  <a:lnTo>
                    <a:pt x="2450871" y="2149195"/>
                  </a:lnTo>
                  <a:lnTo>
                    <a:pt x="64071" y="2149195"/>
                  </a:lnTo>
                  <a:lnTo>
                    <a:pt x="25086" y="2135987"/>
                  </a:lnTo>
                  <a:lnTo>
                    <a:pt x="2155" y="2101675"/>
                  </a:lnTo>
                  <a:lnTo>
                    <a:pt x="0" y="2085111"/>
                  </a:lnTo>
                  <a:lnTo>
                    <a:pt x="355" y="64071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606823" y="2053335"/>
            <a:ext cx="532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00A5A5"/>
                </a:solidFill>
                <a:latin typeface="Arial"/>
                <a:cs typeface="Arial"/>
              </a:rPr>
              <a:t>Cool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5025" y="2652382"/>
            <a:ext cx="125476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Infrequent</a:t>
            </a:r>
            <a:r>
              <a:rPr dirty="0" sz="1100" spc="1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94734" y="3189147"/>
            <a:ext cx="1946910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2395" marR="5080" indent="-10033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Lower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cost;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retrieval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minimum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retention conditions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85584" y="1822144"/>
            <a:ext cx="2527935" cy="2162175"/>
            <a:chOff x="6485584" y="1822144"/>
            <a:chExt cx="2527935" cy="2162175"/>
          </a:xfrm>
        </p:grpSpPr>
        <p:sp>
          <p:nvSpPr>
            <p:cNvPr id="19" name="object 19"/>
            <p:cNvSpPr/>
            <p:nvPr/>
          </p:nvSpPr>
          <p:spPr>
            <a:xfrm>
              <a:off x="649188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4" h="2149475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2085111"/>
                  </a:lnTo>
                  <a:lnTo>
                    <a:pt x="538" y="2093461"/>
                  </a:lnTo>
                  <a:lnTo>
                    <a:pt x="18735" y="2130342"/>
                  </a:lnTo>
                  <a:lnTo>
                    <a:pt x="55728" y="2148655"/>
                  </a:lnTo>
                  <a:lnTo>
                    <a:pt x="64071" y="2149195"/>
                  </a:lnTo>
                  <a:lnTo>
                    <a:pt x="2450871" y="2149195"/>
                  </a:lnTo>
                  <a:lnTo>
                    <a:pt x="2489913" y="2135837"/>
                  </a:lnTo>
                  <a:lnTo>
                    <a:pt x="2512795" y="2101675"/>
                  </a:lnTo>
                  <a:lnTo>
                    <a:pt x="2514955" y="2085111"/>
                  </a:lnTo>
                  <a:lnTo>
                    <a:pt x="2514931" y="64071"/>
                  </a:lnTo>
                  <a:lnTo>
                    <a:pt x="2501597" y="25397"/>
                  </a:lnTo>
                  <a:lnTo>
                    <a:pt x="2467435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49188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4" h="2149475">
                  <a:moveTo>
                    <a:pt x="355" y="64071"/>
                  </a:moveTo>
                  <a:lnTo>
                    <a:pt x="895" y="55728"/>
                  </a:lnTo>
                  <a:lnTo>
                    <a:pt x="2516" y="47517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2450871" y="355"/>
                  </a:lnTo>
                  <a:lnTo>
                    <a:pt x="2489863" y="13563"/>
                  </a:lnTo>
                  <a:lnTo>
                    <a:pt x="2512795" y="47875"/>
                  </a:lnTo>
                  <a:lnTo>
                    <a:pt x="2514955" y="64439"/>
                  </a:lnTo>
                  <a:lnTo>
                    <a:pt x="2514955" y="2085111"/>
                  </a:lnTo>
                  <a:lnTo>
                    <a:pt x="2514415" y="2093461"/>
                  </a:lnTo>
                  <a:lnTo>
                    <a:pt x="2512795" y="2101675"/>
                  </a:lnTo>
                  <a:lnTo>
                    <a:pt x="2489913" y="2135837"/>
                  </a:lnTo>
                  <a:lnTo>
                    <a:pt x="2450871" y="2149195"/>
                  </a:lnTo>
                  <a:lnTo>
                    <a:pt x="64071" y="2149195"/>
                  </a:lnTo>
                  <a:lnTo>
                    <a:pt x="25086" y="2135987"/>
                  </a:lnTo>
                  <a:lnTo>
                    <a:pt x="2155" y="2101675"/>
                  </a:lnTo>
                  <a:lnTo>
                    <a:pt x="0" y="2085111"/>
                  </a:lnTo>
                  <a:lnTo>
                    <a:pt x="355" y="64071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487183" y="2053335"/>
            <a:ext cx="532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0077D3"/>
                </a:solidFill>
                <a:latin typeface="Arial"/>
                <a:cs typeface="Arial"/>
              </a:rPr>
              <a:t>Cold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18337" y="2652382"/>
            <a:ext cx="869315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Rare</a:t>
            </a:r>
            <a:r>
              <a:rPr dirty="0" sz="1100" spc="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31177" y="3189147"/>
            <a:ext cx="2034539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74700" marR="5080" indent="-76263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Lower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cost;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less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frequent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365944" y="1822144"/>
            <a:ext cx="2527935" cy="2162175"/>
            <a:chOff x="9365944" y="1822144"/>
            <a:chExt cx="2527935" cy="2162175"/>
          </a:xfrm>
        </p:grpSpPr>
        <p:sp>
          <p:nvSpPr>
            <p:cNvPr id="25" name="object 25"/>
            <p:cNvSpPr/>
            <p:nvPr/>
          </p:nvSpPr>
          <p:spPr>
            <a:xfrm>
              <a:off x="937224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4" h="2149475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2085111"/>
                  </a:lnTo>
                  <a:lnTo>
                    <a:pt x="538" y="2093461"/>
                  </a:lnTo>
                  <a:lnTo>
                    <a:pt x="18735" y="2130342"/>
                  </a:lnTo>
                  <a:lnTo>
                    <a:pt x="55728" y="2148655"/>
                  </a:lnTo>
                  <a:lnTo>
                    <a:pt x="64071" y="2149195"/>
                  </a:lnTo>
                  <a:lnTo>
                    <a:pt x="2450871" y="2149195"/>
                  </a:lnTo>
                  <a:lnTo>
                    <a:pt x="2489913" y="2135837"/>
                  </a:lnTo>
                  <a:lnTo>
                    <a:pt x="2512795" y="2101675"/>
                  </a:lnTo>
                  <a:lnTo>
                    <a:pt x="2514955" y="2085111"/>
                  </a:lnTo>
                  <a:lnTo>
                    <a:pt x="2514931" y="64071"/>
                  </a:lnTo>
                  <a:lnTo>
                    <a:pt x="2501597" y="25397"/>
                  </a:lnTo>
                  <a:lnTo>
                    <a:pt x="2467435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372244" y="1828444"/>
              <a:ext cx="2515235" cy="2149475"/>
            </a:xfrm>
            <a:custGeom>
              <a:avLst/>
              <a:gdLst/>
              <a:ahLst/>
              <a:cxnLst/>
              <a:rect l="l" t="t" r="r" b="b"/>
              <a:pathLst>
                <a:path w="2515234" h="2149475">
                  <a:moveTo>
                    <a:pt x="355" y="64071"/>
                  </a:moveTo>
                  <a:lnTo>
                    <a:pt x="895" y="55728"/>
                  </a:lnTo>
                  <a:lnTo>
                    <a:pt x="2516" y="47517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2450871" y="355"/>
                  </a:lnTo>
                  <a:lnTo>
                    <a:pt x="2489863" y="13563"/>
                  </a:lnTo>
                  <a:lnTo>
                    <a:pt x="2512795" y="47875"/>
                  </a:lnTo>
                  <a:lnTo>
                    <a:pt x="2514955" y="64439"/>
                  </a:lnTo>
                  <a:lnTo>
                    <a:pt x="2514955" y="2085111"/>
                  </a:lnTo>
                  <a:lnTo>
                    <a:pt x="2514415" y="2093461"/>
                  </a:lnTo>
                  <a:lnTo>
                    <a:pt x="2512795" y="2101675"/>
                  </a:lnTo>
                  <a:lnTo>
                    <a:pt x="2489913" y="2135837"/>
                  </a:lnTo>
                  <a:lnTo>
                    <a:pt x="2450871" y="2149195"/>
                  </a:lnTo>
                  <a:lnTo>
                    <a:pt x="64071" y="2149195"/>
                  </a:lnTo>
                  <a:lnTo>
                    <a:pt x="25086" y="2135987"/>
                  </a:lnTo>
                  <a:lnTo>
                    <a:pt x="2155" y="2101675"/>
                  </a:lnTo>
                  <a:lnTo>
                    <a:pt x="0" y="2085111"/>
                  </a:lnTo>
                  <a:lnTo>
                    <a:pt x="355" y="64071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0202303" y="2053335"/>
            <a:ext cx="863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B2C90"/>
                </a:solidFill>
                <a:latin typeface="Arial"/>
                <a:cs typeface="Arial"/>
              </a:rPr>
              <a:t>Archive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33737" y="2652382"/>
            <a:ext cx="139827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Long-term</a:t>
            </a:r>
            <a:r>
              <a:rPr dirty="0" sz="1100" spc="1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retention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59416" y="3189147"/>
            <a:ext cx="1939289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0670" marR="5080" indent="-26860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Lowest</a:t>
            </a:r>
            <a:r>
              <a:rPr dirty="0" sz="1050" spc="-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cost;</a:t>
            </a:r>
            <a:r>
              <a:rPr dirty="0" sz="1050" spc="-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rehydration required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before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reading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07744" y="4428184"/>
            <a:ext cx="4766310" cy="927100"/>
            <a:chOff x="907744" y="4428184"/>
            <a:chExt cx="4766310" cy="927100"/>
          </a:xfrm>
        </p:grpSpPr>
        <p:sp>
          <p:nvSpPr>
            <p:cNvPr id="31" name="object 31"/>
            <p:cNvSpPr/>
            <p:nvPr/>
          </p:nvSpPr>
          <p:spPr>
            <a:xfrm>
              <a:off x="914044" y="4434484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46814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841311"/>
                  </a:lnTo>
                  <a:lnTo>
                    <a:pt x="594" y="850589"/>
                  </a:lnTo>
                  <a:lnTo>
                    <a:pt x="607" y="850789"/>
                  </a:lnTo>
                  <a:lnTo>
                    <a:pt x="21413" y="892929"/>
                  </a:lnTo>
                  <a:lnTo>
                    <a:pt x="63442" y="913792"/>
                  </a:lnTo>
                  <a:lnTo>
                    <a:pt x="73075" y="914399"/>
                  </a:lnTo>
                  <a:lnTo>
                    <a:pt x="4681791" y="914031"/>
                  </a:lnTo>
                  <a:lnTo>
                    <a:pt x="4726169" y="898940"/>
                  </a:lnTo>
                  <a:lnTo>
                    <a:pt x="4752389" y="860167"/>
                  </a:lnTo>
                  <a:lnTo>
                    <a:pt x="4754233" y="850789"/>
                  </a:lnTo>
                  <a:lnTo>
                    <a:pt x="4754272" y="850589"/>
                  </a:lnTo>
                  <a:lnTo>
                    <a:pt x="4754857" y="841311"/>
                  </a:lnTo>
                  <a:lnTo>
                    <a:pt x="4754880" y="840955"/>
                  </a:lnTo>
                  <a:lnTo>
                    <a:pt x="4754511" y="73075"/>
                  </a:lnTo>
                  <a:lnTo>
                    <a:pt x="4739420" y="28698"/>
                  </a:lnTo>
                  <a:lnTo>
                    <a:pt x="4700470" y="2428"/>
                  </a:lnTo>
                  <a:lnTo>
                    <a:pt x="4691069" y="607"/>
                  </a:lnTo>
                  <a:lnTo>
                    <a:pt x="4681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14044" y="4434484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681435" y="0"/>
                  </a:lnTo>
                  <a:lnTo>
                    <a:pt x="4725963" y="15096"/>
                  </a:lnTo>
                  <a:lnTo>
                    <a:pt x="4752082" y="54219"/>
                  </a:lnTo>
                  <a:lnTo>
                    <a:pt x="4754511" y="73075"/>
                  </a:lnTo>
                  <a:lnTo>
                    <a:pt x="4754880" y="840955"/>
                  </a:lnTo>
                  <a:lnTo>
                    <a:pt x="4754272" y="850589"/>
                  </a:lnTo>
                  <a:lnTo>
                    <a:pt x="4752449" y="859990"/>
                  </a:lnTo>
                  <a:lnTo>
                    <a:pt x="4726169" y="898940"/>
                  </a:lnTo>
                  <a:lnTo>
                    <a:pt x="4681791" y="914031"/>
                  </a:lnTo>
                  <a:lnTo>
                    <a:pt x="73075" y="914399"/>
                  </a:lnTo>
                  <a:lnTo>
                    <a:pt x="28548" y="899290"/>
                  </a:lnTo>
                  <a:lnTo>
                    <a:pt x="2428" y="860167"/>
                  </a:lnTo>
                  <a:lnTo>
                    <a:pt x="0" y="84131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14044" y="44344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4" h="914400">
                  <a:moveTo>
                    <a:pt x="63715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32029" y="914031"/>
                  </a:lnTo>
                  <a:lnTo>
                    <a:pt x="63715" y="91403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14044" y="44344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4" h="914400">
                  <a:moveTo>
                    <a:pt x="32029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14031"/>
                  </a:lnTo>
                  <a:lnTo>
                    <a:pt x="32029" y="914031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102944" y="4620145"/>
            <a:ext cx="17843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Lifecycle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rule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example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02575" y="4921097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4861" y="4943056"/>
            <a:ext cx="3707765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“If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object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has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changed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days,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transition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Cool.”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48424" y="4428184"/>
            <a:ext cx="4766310" cy="927100"/>
            <a:chOff x="6348424" y="4428184"/>
            <a:chExt cx="4766310" cy="927100"/>
          </a:xfrm>
        </p:grpSpPr>
        <p:sp>
          <p:nvSpPr>
            <p:cNvPr id="39" name="object 39"/>
            <p:cNvSpPr/>
            <p:nvPr/>
          </p:nvSpPr>
          <p:spPr>
            <a:xfrm>
              <a:off x="6354724" y="4434484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46814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841311"/>
                  </a:lnTo>
                  <a:lnTo>
                    <a:pt x="5412" y="869052"/>
                  </a:lnTo>
                  <a:lnTo>
                    <a:pt x="5464" y="869207"/>
                  </a:lnTo>
                  <a:lnTo>
                    <a:pt x="36360" y="904671"/>
                  </a:lnTo>
                  <a:lnTo>
                    <a:pt x="73075" y="914399"/>
                  </a:lnTo>
                  <a:lnTo>
                    <a:pt x="4681791" y="914031"/>
                  </a:lnTo>
                  <a:lnTo>
                    <a:pt x="4726169" y="898940"/>
                  </a:lnTo>
                  <a:lnTo>
                    <a:pt x="4752389" y="860167"/>
                  </a:lnTo>
                  <a:lnTo>
                    <a:pt x="4754233" y="850789"/>
                  </a:lnTo>
                  <a:lnTo>
                    <a:pt x="4754272" y="850589"/>
                  </a:lnTo>
                  <a:lnTo>
                    <a:pt x="4754857" y="841311"/>
                  </a:lnTo>
                  <a:lnTo>
                    <a:pt x="4754880" y="840955"/>
                  </a:lnTo>
                  <a:lnTo>
                    <a:pt x="4754511" y="73075"/>
                  </a:lnTo>
                  <a:lnTo>
                    <a:pt x="4739420" y="28698"/>
                  </a:lnTo>
                  <a:lnTo>
                    <a:pt x="4700470" y="2428"/>
                  </a:lnTo>
                  <a:lnTo>
                    <a:pt x="4691069" y="607"/>
                  </a:lnTo>
                  <a:lnTo>
                    <a:pt x="4681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354724" y="4434484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681435" y="0"/>
                  </a:lnTo>
                  <a:lnTo>
                    <a:pt x="4725963" y="15096"/>
                  </a:lnTo>
                  <a:lnTo>
                    <a:pt x="4752082" y="54219"/>
                  </a:lnTo>
                  <a:lnTo>
                    <a:pt x="4754511" y="73075"/>
                  </a:lnTo>
                  <a:lnTo>
                    <a:pt x="4754880" y="840955"/>
                  </a:lnTo>
                  <a:lnTo>
                    <a:pt x="4754272" y="850589"/>
                  </a:lnTo>
                  <a:lnTo>
                    <a:pt x="4752449" y="859990"/>
                  </a:lnTo>
                  <a:lnTo>
                    <a:pt x="4726169" y="898940"/>
                  </a:lnTo>
                  <a:lnTo>
                    <a:pt x="4681791" y="914031"/>
                  </a:lnTo>
                  <a:lnTo>
                    <a:pt x="73075" y="914399"/>
                  </a:lnTo>
                  <a:lnTo>
                    <a:pt x="28548" y="899290"/>
                  </a:lnTo>
                  <a:lnTo>
                    <a:pt x="2428" y="860167"/>
                  </a:lnTo>
                  <a:lnTo>
                    <a:pt x="0" y="84131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354724" y="44344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5" h="914400">
                  <a:moveTo>
                    <a:pt x="63715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32029" y="914031"/>
                  </a:lnTo>
                  <a:lnTo>
                    <a:pt x="63715" y="91403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354724" y="44344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5" h="914400">
                  <a:moveTo>
                    <a:pt x="32029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14031"/>
                  </a:lnTo>
                  <a:lnTo>
                    <a:pt x="32029" y="91403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6543623" y="4620145"/>
            <a:ext cx="17919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Important</a:t>
            </a:r>
            <a:r>
              <a:rPr dirty="0" sz="13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cost</a:t>
            </a:r>
            <a:r>
              <a:rPr dirty="0" sz="13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nuance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43255" y="4913896"/>
            <a:ext cx="6985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695541" y="4943424"/>
            <a:ext cx="3966210" cy="3155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235"/>
              </a:spcBef>
            </a:pP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Policy</a:t>
            </a:r>
            <a:r>
              <a:rPr dirty="0" sz="10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execution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asynchronous.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price,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retrieval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charges</a:t>
            </a:r>
            <a:r>
              <a:rPr dirty="0" sz="1000" spc="-25">
                <a:solidFill>
                  <a:srgbClr val="39495F"/>
                </a:solidFill>
                <a:latin typeface="Arial"/>
                <a:cs typeface="Arial"/>
              </a:rPr>
              <a:t> and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early-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deletion</a:t>
            </a:r>
            <a:r>
              <a:rPr dirty="0" sz="10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rules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affect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9495F"/>
                </a:solidFill>
                <a:latin typeface="Arial"/>
                <a:cs typeface="Arial"/>
              </a:rPr>
              <a:t>actual</a:t>
            </a:r>
            <a:r>
              <a:rPr dirty="0" sz="10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9495F"/>
                </a:solidFill>
                <a:latin typeface="Arial"/>
                <a:cs typeface="Arial"/>
              </a:rPr>
              <a:t>savings.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2300" y="6309982"/>
            <a:ext cx="304228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7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1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Azure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Blob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Storage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lifecycle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management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overview.</a:t>
            </a:r>
            <a:endParaRPr sz="7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1634381" y="6579872"/>
            <a:ext cx="138430" cy="139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800" spc="-25">
                <a:solidFill>
                  <a:srgbClr val="728199"/>
                </a:solidFill>
                <a:latin typeface="Arial"/>
                <a:cs typeface="Arial"/>
              </a:rPr>
              <a:t>23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6935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45" b="1">
                <a:solidFill>
                  <a:srgbClr val="0077D3"/>
                </a:solidFill>
                <a:latin typeface="Arial"/>
                <a:cs typeface="Arial"/>
              </a:rPr>
              <a:t>RY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50"/>
              <a:t> </a:t>
            </a:r>
            <a:r>
              <a:rPr dirty="0" spc="-10"/>
              <a:t>Vault</a:t>
            </a:r>
            <a:r>
              <a:rPr dirty="0" spc="-50"/>
              <a:t> </a:t>
            </a:r>
            <a:r>
              <a:rPr dirty="0"/>
              <a:t>stores</a:t>
            </a:r>
            <a:r>
              <a:rPr dirty="0" spc="-45"/>
              <a:t> </a:t>
            </a:r>
            <a:r>
              <a:rPr dirty="0"/>
              <a:t>three</a:t>
            </a:r>
            <a:r>
              <a:rPr dirty="0" spc="-50"/>
              <a:t> </a:t>
            </a:r>
            <a:r>
              <a:rPr dirty="0"/>
              <a:t>different</a:t>
            </a:r>
            <a:r>
              <a:rPr dirty="0" spc="-45"/>
              <a:t> </a:t>
            </a:r>
            <a:r>
              <a:rPr dirty="0"/>
              <a:t>kinds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sensitive</a:t>
            </a:r>
            <a:r>
              <a:rPr dirty="0" spc="-45"/>
              <a:t> </a:t>
            </a:r>
            <a:r>
              <a:rPr dirty="0" spc="-10"/>
              <a:t>objects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35433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Choose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correct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object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for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problem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you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are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solving.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97940" y="1758415"/>
            <a:ext cx="3468370" cy="3075940"/>
            <a:chOff x="797940" y="1758415"/>
            <a:chExt cx="3468370" cy="3075940"/>
          </a:xfrm>
        </p:grpSpPr>
        <p:sp>
          <p:nvSpPr>
            <p:cNvPr id="7" name="object 7"/>
            <p:cNvSpPr/>
            <p:nvPr/>
          </p:nvSpPr>
          <p:spPr>
            <a:xfrm>
              <a:off x="804595" y="1764715"/>
              <a:ext cx="3456940" cy="3063240"/>
            </a:xfrm>
            <a:custGeom>
              <a:avLst/>
              <a:gdLst/>
              <a:ahLst/>
              <a:cxnLst/>
              <a:rect l="l" t="t" r="r" b="b"/>
              <a:pathLst>
                <a:path w="3456940" h="3063240">
                  <a:moveTo>
                    <a:pt x="338292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990164"/>
                  </a:lnTo>
                  <a:lnTo>
                    <a:pt x="594" y="2999440"/>
                  </a:lnTo>
                  <a:lnTo>
                    <a:pt x="607" y="2999642"/>
                  </a:lnTo>
                  <a:lnTo>
                    <a:pt x="2394" y="3008837"/>
                  </a:lnTo>
                  <a:lnTo>
                    <a:pt x="2430" y="3009020"/>
                  </a:lnTo>
                  <a:lnTo>
                    <a:pt x="5416" y="3017899"/>
                  </a:lnTo>
                  <a:lnTo>
                    <a:pt x="5470" y="3018060"/>
                  </a:lnTo>
                  <a:lnTo>
                    <a:pt x="9728" y="3026524"/>
                  </a:lnTo>
                  <a:lnTo>
                    <a:pt x="44984" y="3057775"/>
                  </a:lnTo>
                  <a:lnTo>
                    <a:pt x="73088" y="3063240"/>
                  </a:lnTo>
                  <a:lnTo>
                    <a:pt x="3383280" y="3062884"/>
                  </a:lnTo>
                  <a:lnTo>
                    <a:pt x="3427657" y="3047785"/>
                  </a:lnTo>
                  <a:lnTo>
                    <a:pt x="3453876" y="3009020"/>
                  </a:lnTo>
                  <a:lnTo>
                    <a:pt x="3453938" y="3008837"/>
                  </a:lnTo>
                  <a:lnTo>
                    <a:pt x="3455721" y="2999642"/>
                  </a:lnTo>
                  <a:lnTo>
                    <a:pt x="3455761" y="2999440"/>
                  </a:lnTo>
                  <a:lnTo>
                    <a:pt x="3456346" y="2990164"/>
                  </a:lnTo>
                  <a:lnTo>
                    <a:pt x="3456000" y="73088"/>
                  </a:lnTo>
                  <a:lnTo>
                    <a:pt x="3440908" y="28710"/>
                  </a:lnTo>
                  <a:lnTo>
                    <a:pt x="3401958" y="2430"/>
                  </a:lnTo>
                  <a:lnTo>
                    <a:pt x="3392558" y="607"/>
                  </a:lnTo>
                  <a:lnTo>
                    <a:pt x="3382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04595" y="1764715"/>
              <a:ext cx="3456940" cy="3063240"/>
            </a:xfrm>
            <a:custGeom>
              <a:avLst/>
              <a:gdLst/>
              <a:ahLst/>
              <a:cxnLst/>
              <a:rect l="l" t="t" r="r" b="b"/>
              <a:pathLst>
                <a:path w="3456940" h="306324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382924" y="0"/>
                  </a:lnTo>
                  <a:lnTo>
                    <a:pt x="3427451" y="15109"/>
                  </a:lnTo>
                  <a:lnTo>
                    <a:pt x="3453571" y="54232"/>
                  </a:lnTo>
                  <a:lnTo>
                    <a:pt x="3456000" y="73088"/>
                  </a:lnTo>
                  <a:lnTo>
                    <a:pt x="3456368" y="2989808"/>
                  </a:lnTo>
                  <a:lnTo>
                    <a:pt x="3455761" y="2999440"/>
                  </a:lnTo>
                  <a:lnTo>
                    <a:pt x="3453938" y="3008837"/>
                  </a:lnTo>
                  <a:lnTo>
                    <a:pt x="3427657" y="3047785"/>
                  </a:lnTo>
                  <a:lnTo>
                    <a:pt x="3383280" y="3062884"/>
                  </a:lnTo>
                  <a:lnTo>
                    <a:pt x="73088" y="3063240"/>
                  </a:lnTo>
                  <a:lnTo>
                    <a:pt x="28555" y="3048143"/>
                  </a:lnTo>
                  <a:lnTo>
                    <a:pt x="2430" y="3009020"/>
                  </a:lnTo>
                  <a:lnTo>
                    <a:pt x="0" y="299016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04240" y="1764715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63715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42" y="3062884"/>
                  </a:lnTo>
                  <a:lnTo>
                    <a:pt x="63715" y="30628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04240" y="1764715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32042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62884"/>
                  </a:lnTo>
                  <a:lnTo>
                    <a:pt x="32042" y="306288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92784" y="1919782"/>
            <a:ext cx="8070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10243F"/>
                </a:solidFill>
                <a:latin typeface="Arial"/>
                <a:cs typeface="Arial"/>
              </a:rPr>
              <a:t>Secrets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3139" y="224845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425" y="2272931"/>
            <a:ext cx="27895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Passwords,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tokens,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connection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strings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or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API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keys.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3139" y="279709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5425" y="2821571"/>
            <a:ext cx="24853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avoid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hardcoding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credentials.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92700" y="1758415"/>
            <a:ext cx="3468370" cy="3075940"/>
            <a:chOff x="4592700" y="1758415"/>
            <a:chExt cx="3468370" cy="3075940"/>
          </a:xfrm>
        </p:grpSpPr>
        <p:sp>
          <p:nvSpPr>
            <p:cNvPr id="17" name="object 17"/>
            <p:cNvSpPr/>
            <p:nvPr/>
          </p:nvSpPr>
          <p:spPr>
            <a:xfrm>
              <a:off x="4599355" y="1764715"/>
              <a:ext cx="3456940" cy="3063240"/>
            </a:xfrm>
            <a:custGeom>
              <a:avLst/>
              <a:gdLst/>
              <a:ahLst/>
              <a:cxnLst/>
              <a:rect l="l" t="t" r="r" b="b"/>
              <a:pathLst>
                <a:path w="3456940" h="3063240">
                  <a:moveTo>
                    <a:pt x="338292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990164"/>
                  </a:lnTo>
                  <a:lnTo>
                    <a:pt x="594" y="2999440"/>
                  </a:lnTo>
                  <a:lnTo>
                    <a:pt x="607" y="2999642"/>
                  </a:lnTo>
                  <a:lnTo>
                    <a:pt x="2394" y="3008837"/>
                  </a:lnTo>
                  <a:lnTo>
                    <a:pt x="2430" y="3009020"/>
                  </a:lnTo>
                  <a:lnTo>
                    <a:pt x="5416" y="3017899"/>
                  </a:lnTo>
                  <a:lnTo>
                    <a:pt x="36360" y="3053524"/>
                  </a:lnTo>
                  <a:lnTo>
                    <a:pt x="73088" y="3063240"/>
                  </a:lnTo>
                  <a:lnTo>
                    <a:pt x="3383279" y="3062884"/>
                  </a:lnTo>
                  <a:lnTo>
                    <a:pt x="3427657" y="3047785"/>
                  </a:lnTo>
                  <a:lnTo>
                    <a:pt x="3450818" y="3018060"/>
                  </a:lnTo>
                  <a:lnTo>
                    <a:pt x="3450898" y="3017899"/>
                  </a:lnTo>
                  <a:lnTo>
                    <a:pt x="3453876" y="3009020"/>
                  </a:lnTo>
                  <a:lnTo>
                    <a:pt x="3453938" y="3008837"/>
                  </a:lnTo>
                  <a:lnTo>
                    <a:pt x="3455721" y="2999642"/>
                  </a:lnTo>
                  <a:lnTo>
                    <a:pt x="3455761" y="2999440"/>
                  </a:lnTo>
                  <a:lnTo>
                    <a:pt x="3456346" y="2990164"/>
                  </a:lnTo>
                  <a:lnTo>
                    <a:pt x="3456368" y="2989808"/>
                  </a:lnTo>
                  <a:lnTo>
                    <a:pt x="3456000" y="73088"/>
                  </a:lnTo>
                  <a:lnTo>
                    <a:pt x="3440908" y="28710"/>
                  </a:lnTo>
                  <a:lnTo>
                    <a:pt x="3401958" y="2430"/>
                  </a:lnTo>
                  <a:lnTo>
                    <a:pt x="3392558" y="607"/>
                  </a:lnTo>
                  <a:lnTo>
                    <a:pt x="3382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99355" y="1764715"/>
              <a:ext cx="3456940" cy="3063240"/>
            </a:xfrm>
            <a:custGeom>
              <a:avLst/>
              <a:gdLst/>
              <a:ahLst/>
              <a:cxnLst/>
              <a:rect l="l" t="t" r="r" b="b"/>
              <a:pathLst>
                <a:path w="3456940" h="306324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382924" y="0"/>
                  </a:lnTo>
                  <a:lnTo>
                    <a:pt x="3427451" y="15109"/>
                  </a:lnTo>
                  <a:lnTo>
                    <a:pt x="3453571" y="54232"/>
                  </a:lnTo>
                  <a:lnTo>
                    <a:pt x="3456000" y="73088"/>
                  </a:lnTo>
                  <a:lnTo>
                    <a:pt x="3456368" y="2989808"/>
                  </a:lnTo>
                  <a:lnTo>
                    <a:pt x="3455761" y="2999440"/>
                  </a:lnTo>
                  <a:lnTo>
                    <a:pt x="3453938" y="3008837"/>
                  </a:lnTo>
                  <a:lnTo>
                    <a:pt x="3427657" y="3047785"/>
                  </a:lnTo>
                  <a:lnTo>
                    <a:pt x="3383279" y="3062884"/>
                  </a:lnTo>
                  <a:lnTo>
                    <a:pt x="73088" y="3063240"/>
                  </a:lnTo>
                  <a:lnTo>
                    <a:pt x="28555" y="3048143"/>
                  </a:lnTo>
                  <a:lnTo>
                    <a:pt x="2430" y="3009020"/>
                  </a:lnTo>
                  <a:lnTo>
                    <a:pt x="0" y="299016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599000" y="1764715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5" h="3063240">
                  <a:moveTo>
                    <a:pt x="63715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42" y="3062884"/>
                  </a:lnTo>
                  <a:lnTo>
                    <a:pt x="63715" y="30628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99000" y="1764715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5" h="3063240">
                  <a:moveTo>
                    <a:pt x="32042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62884"/>
                  </a:lnTo>
                  <a:lnTo>
                    <a:pt x="32042" y="306288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787544" y="1919782"/>
            <a:ext cx="54229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 b="1">
                <a:solidFill>
                  <a:srgbClr val="10243F"/>
                </a:solidFill>
                <a:latin typeface="Arial"/>
                <a:cs typeface="Arial"/>
              </a:rPr>
              <a:t>Keys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7900" y="224845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0185" y="2272931"/>
            <a:ext cx="22910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Cryptographic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keys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used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for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encrypt/decrypt,</a:t>
            </a:r>
            <a:r>
              <a:rPr dirty="0" sz="12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sign/verify or</a:t>
            </a:r>
            <a:r>
              <a:rPr dirty="0" sz="12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key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wrapping.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87900" y="297997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40185" y="3004451"/>
            <a:ext cx="2722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controlled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management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and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CMK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scenarios.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387460" y="1758415"/>
            <a:ext cx="3468370" cy="3075940"/>
            <a:chOff x="8387460" y="1758415"/>
            <a:chExt cx="3468370" cy="3075940"/>
          </a:xfrm>
        </p:grpSpPr>
        <p:sp>
          <p:nvSpPr>
            <p:cNvPr id="27" name="object 27"/>
            <p:cNvSpPr/>
            <p:nvPr/>
          </p:nvSpPr>
          <p:spPr>
            <a:xfrm>
              <a:off x="8394115" y="1764715"/>
              <a:ext cx="3456940" cy="3063240"/>
            </a:xfrm>
            <a:custGeom>
              <a:avLst/>
              <a:gdLst/>
              <a:ahLst/>
              <a:cxnLst/>
              <a:rect l="l" t="t" r="r" b="b"/>
              <a:pathLst>
                <a:path w="3456940" h="3063240">
                  <a:moveTo>
                    <a:pt x="338292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990164"/>
                  </a:lnTo>
                  <a:lnTo>
                    <a:pt x="594" y="2999440"/>
                  </a:lnTo>
                  <a:lnTo>
                    <a:pt x="607" y="2999642"/>
                  </a:lnTo>
                  <a:lnTo>
                    <a:pt x="2394" y="3008837"/>
                  </a:lnTo>
                  <a:lnTo>
                    <a:pt x="2430" y="3009020"/>
                  </a:lnTo>
                  <a:lnTo>
                    <a:pt x="5416" y="3017899"/>
                  </a:lnTo>
                  <a:lnTo>
                    <a:pt x="5470" y="3018060"/>
                  </a:lnTo>
                  <a:lnTo>
                    <a:pt x="36360" y="3053524"/>
                  </a:lnTo>
                  <a:lnTo>
                    <a:pt x="73088" y="3063240"/>
                  </a:lnTo>
                  <a:lnTo>
                    <a:pt x="3383280" y="3062884"/>
                  </a:lnTo>
                  <a:lnTo>
                    <a:pt x="3427657" y="3047785"/>
                  </a:lnTo>
                  <a:lnTo>
                    <a:pt x="3450818" y="3018060"/>
                  </a:lnTo>
                  <a:lnTo>
                    <a:pt x="3450898" y="3017899"/>
                  </a:lnTo>
                  <a:lnTo>
                    <a:pt x="3453876" y="3009020"/>
                  </a:lnTo>
                  <a:lnTo>
                    <a:pt x="3453938" y="3008837"/>
                  </a:lnTo>
                  <a:lnTo>
                    <a:pt x="3455721" y="2999642"/>
                  </a:lnTo>
                  <a:lnTo>
                    <a:pt x="3455761" y="2999440"/>
                  </a:lnTo>
                  <a:lnTo>
                    <a:pt x="3456346" y="2990164"/>
                  </a:lnTo>
                  <a:lnTo>
                    <a:pt x="3456368" y="2989808"/>
                  </a:lnTo>
                  <a:lnTo>
                    <a:pt x="3456000" y="73088"/>
                  </a:lnTo>
                  <a:lnTo>
                    <a:pt x="3440908" y="28710"/>
                  </a:lnTo>
                  <a:lnTo>
                    <a:pt x="3401958" y="2430"/>
                  </a:lnTo>
                  <a:lnTo>
                    <a:pt x="3392558" y="607"/>
                  </a:lnTo>
                  <a:lnTo>
                    <a:pt x="3382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394115" y="1764715"/>
              <a:ext cx="3456940" cy="3063240"/>
            </a:xfrm>
            <a:custGeom>
              <a:avLst/>
              <a:gdLst/>
              <a:ahLst/>
              <a:cxnLst/>
              <a:rect l="l" t="t" r="r" b="b"/>
              <a:pathLst>
                <a:path w="3456940" h="306324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382924" y="0"/>
                  </a:lnTo>
                  <a:lnTo>
                    <a:pt x="3427451" y="15109"/>
                  </a:lnTo>
                  <a:lnTo>
                    <a:pt x="3453571" y="54232"/>
                  </a:lnTo>
                  <a:lnTo>
                    <a:pt x="3456000" y="73088"/>
                  </a:lnTo>
                  <a:lnTo>
                    <a:pt x="3456368" y="2989808"/>
                  </a:lnTo>
                  <a:lnTo>
                    <a:pt x="3455761" y="2999440"/>
                  </a:lnTo>
                  <a:lnTo>
                    <a:pt x="3453938" y="3008837"/>
                  </a:lnTo>
                  <a:lnTo>
                    <a:pt x="3427657" y="3047785"/>
                  </a:lnTo>
                  <a:lnTo>
                    <a:pt x="3383280" y="3062884"/>
                  </a:lnTo>
                  <a:lnTo>
                    <a:pt x="73088" y="3063240"/>
                  </a:lnTo>
                  <a:lnTo>
                    <a:pt x="28555" y="3048143"/>
                  </a:lnTo>
                  <a:lnTo>
                    <a:pt x="2430" y="3009020"/>
                  </a:lnTo>
                  <a:lnTo>
                    <a:pt x="0" y="299016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393760" y="1764715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63715" y="0"/>
                  </a:moveTo>
                  <a:lnTo>
                    <a:pt x="0" y="0"/>
                  </a:lnTo>
                  <a:lnTo>
                    <a:pt x="0" y="3062884"/>
                  </a:lnTo>
                  <a:lnTo>
                    <a:pt x="32042" y="3062884"/>
                  </a:lnTo>
                  <a:lnTo>
                    <a:pt x="63715" y="30628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393760" y="1764715"/>
              <a:ext cx="64135" cy="3063240"/>
            </a:xfrm>
            <a:custGeom>
              <a:avLst/>
              <a:gdLst/>
              <a:ahLst/>
              <a:cxnLst/>
              <a:rect l="l" t="t" r="r" b="b"/>
              <a:pathLst>
                <a:path w="64134" h="3063240">
                  <a:moveTo>
                    <a:pt x="32042" y="3062884"/>
                  </a:moveTo>
                  <a:lnTo>
                    <a:pt x="0" y="30628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62884"/>
                  </a:lnTo>
                  <a:lnTo>
                    <a:pt x="32042" y="306288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582304" y="1919782"/>
            <a:ext cx="120269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10243F"/>
                </a:solidFill>
                <a:latin typeface="Arial"/>
                <a:cs typeface="Arial"/>
              </a:rPr>
              <a:t>Certificates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82659" y="224845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34945" y="2272931"/>
            <a:ext cx="2924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Certificate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lifecycle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objects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that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include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associated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secret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material.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2659" y="279709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34945" y="2821571"/>
            <a:ext cx="2713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TLS/SSL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identity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scenarios.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7" name="object 3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72300" y="6000381"/>
            <a:ext cx="846518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Prefer</a:t>
            </a:r>
            <a:r>
              <a:rPr dirty="0" sz="100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RBAC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Vault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where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sandbox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supports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it;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lab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may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constrain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which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permission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model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you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can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change.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Key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Vault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keys,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secrets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certificates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overview.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6935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45" b="1">
                <a:solidFill>
                  <a:srgbClr val="0077D3"/>
                </a:solidFill>
                <a:latin typeface="Arial"/>
                <a:cs typeface="Arial"/>
              </a:rPr>
              <a:t>RY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Moving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password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same</a:t>
            </a:r>
            <a:r>
              <a:rPr dirty="0" spc="-25"/>
              <a:t> </a:t>
            </a:r>
            <a:r>
              <a:rPr dirty="0"/>
              <a:t>as</a:t>
            </a:r>
            <a:r>
              <a:rPr dirty="0" spc="-30"/>
              <a:t> </a:t>
            </a:r>
            <a:r>
              <a:rPr dirty="0"/>
              <a:t>rotating</a:t>
            </a:r>
            <a:r>
              <a:rPr dirty="0" spc="-30"/>
              <a:t> </a:t>
            </a:r>
            <a:r>
              <a:rPr dirty="0" spc="-25"/>
              <a:t>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7220584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If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credential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was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exposed,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consider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compromised.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Store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replacement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securely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invalidate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old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credential.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612264" y="1868220"/>
            <a:ext cx="488315" cy="488315"/>
            <a:chOff x="1612264" y="1868220"/>
            <a:chExt cx="488315" cy="488315"/>
          </a:xfrm>
        </p:grpSpPr>
        <p:sp>
          <p:nvSpPr>
            <p:cNvPr id="7" name="object 7"/>
            <p:cNvSpPr/>
            <p:nvPr/>
          </p:nvSpPr>
          <p:spPr>
            <a:xfrm>
              <a:off x="1618564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591" y="0"/>
                  </a:moveTo>
                  <a:lnTo>
                    <a:pt x="176302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74" y="457336"/>
                  </a:lnTo>
                  <a:lnTo>
                    <a:pt x="206676" y="473493"/>
                  </a:lnTo>
                  <a:lnTo>
                    <a:pt x="237591" y="475564"/>
                  </a:lnTo>
                  <a:lnTo>
                    <a:pt x="268719" y="473493"/>
                  </a:lnTo>
                  <a:lnTo>
                    <a:pt x="328670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0" y="17916"/>
                  </a:lnTo>
                  <a:lnTo>
                    <a:pt x="268719" y="2012"/>
                  </a:lnTo>
                  <a:lnTo>
                    <a:pt x="237591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18564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604"/>
                  </a:moveTo>
                  <a:lnTo>
                    <a:pt x="2062" y="206481"/>
                  </a:lnTo>
                  <a:lnTo>
                    <a:pt x="8140" y="176037"/>
                  </a:lnTo>
                  <a:lnTo>
                    <a:pt x="31673" y="118795"/>
                  </a:lnTo>
                  <a:lnTo>
                    <a:pt x="69562" y="69434"/>
                  </a:lnTo>
                  <a:lnTo>
                    <a:pt x="118795" y="31673"/>
                  </a:lnTo>
                  <a:lnTo>
                    <a:pt x="176302" y="8007"/>
                  </a:lnTo>
                  <a:lnTo>
                    <a:pt x="237591" y="0"/>
                  </a:lnTo>
                  <a:lnTo>
                    <a:pt x="299202" y="8007"/>
                  </a:lnTo>
                  <a:lnTo>
                    <a:pt x="356755" y="31673"/>
                  </a:lnTo>
                  <a:lnTo>
                    <a:pt x="405988" y="69434"/>
                  </a:lnTo>
                  <a:lnTo>
                    <a:pt x="443877" y="118795"/>
                  </a:lnTo>
                  <a:lnTo>
                    <a:pt x="467410" y="176037"/>
                  </a:lnTo>
                  <a:lnTo>
                    <a:pt x="475551" y="237604"/>
                  </a:lnTo>
                  <a:lnTo>
                    <a:pt x="473488" y="268719"/>
                  </a:lnTo>
                  <a:lnTo>
                    <a:pt x="467410" y="299159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02" y="467372"/>
                  </a:lnTo>
                  <a:lnTo>
                    <a:pt x="237591" y="475564"/>
                  </a:lnTo>
                  <a:lnTo>
                    <a:pt x="176302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59"/>
                  </a:lnTo>
                  <a:lnTo>
                    <a:pt x="2062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798104" y="1999703"/>
            <a:ext cx="1174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65255" y="1868220"/>
            <a:ext cx="488315" cy="488315"/>
            <a:chOff x="4465255" y="1868220"/>
            <a:chExt cx="488315" cy="488315"/>
          </a:xfrm>
        </p:grpSpPr>
        <p:sp>
          <p:nvSpPr>
            <p:cNvPr id="22" name="object 22"/>
            <p:cNvSpPr/>
            <p:nvPr/>
          </p:nvSpPr>
          <p:spPr>
            <a:xfrm>
              <a:off x="4471555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71555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604"/>
                  </a:moveTo>
                  <a:lnTo>
                    <a:pt x="2064" y="206481"/>
                  </a:lnTo>
                  <a:lnTo>
                    <a:pt x="8147" y="176037"/>
                  </a:lnTo>
                  <a:lnTo>
                    <a:pt x="31686" y="118795"/>
                  </a:lnTo>
                  <a:lnTo>
                    <a:pt x="69575" y="69434"/>
                  </a:lnTo>
                  <a:lnTo>
                    <a:pt x="118808" y="31673"/>
                  </a:lnTo>
                  <a:lnTo>
                    <a:pt x="176360" y="8007"/>
                  </a:lnTo>
                  <a:lnTo>
                    <a:pt x="237959" y="0"/>
                  </a:lnTo>
                  <a:lnTo>
                    <a:pt x="299254" y="8007"/>
                  </a:lnTo>
                  <a:lnTo>
                    <a:pt x="356768" y="31673"/>
                  </a:lnTo>
                  <a:lnTo>
                    <a:pt x="405992" y="69434"/>
                  </a:lnTo>
                  <a:lnTo>
                    <a:pt x="443890" y="118795"/>
                  </a:lnTo>
                  <a:lnTo>
                    <a:pt x="467418" y="176037"/>
                  </a:lnTo>
                  <a:lnTo>
                    <a:pt x="475564" y="237604"/>
                  </a:lnTo>
                  <a:lnTo>
                    <a:pt x="473499" y="268719"/>
                  </a:lnTo>
                  <a:lnTo>
                    <a:pt x="467418" y="299159"/>
                  </a:lnTo>
                  <a:lnTo>
                    <a:pt x="443890" y="356400"/>
                  </a:lnTo>
                  <a:lnTo>
                    <a:pt x="405992" y="405766"/>
                  </a:lnTo>
                  <a:lnTo>
                    <a:pt x="356768" y="443522"/>
                  </a:lnTo>
                  <a:lnTo>
                    <a:pt x="299254" y="467372"/>
                  </a:lnTo>
                  <a:lnTo>
                    <a:pt x="237959" y="475564"/>
                  </a:lnTo>
                  <a:lnTo>
                    <a:pt x="176360" y="467372"/>
                  </a:lnTo>
                  <a:lnTo>
                    <a:pt x="118808" y="443522"/>
                  </a:lnTo>
                  <a:lnTo>
                    <a:pt x="69575" y="405766"/>
                  </a:lnTo>
                  <a:lnTo>
                    <a:pt x="31686" y="356400"/>
                  </a:lnTo>
                  <a:lnTo>
                    <a:pt x="8147" y="299159"/>
                  </a:lnTo>
                  <a:lnTo>
                    <a:pt x="2064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51095" y="1999703"/>
            <a:ext cx="1174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317904" y="1868220"/>
            <a:ext cx="488315" cy="488315"/>
            <a:chOff x="7317904" y="1868220"/>
            <a:chExt cx="488315" cy="488315"/>
          </a:xfrm>
        </p:grpSpPr>
        <p:sp>
          <p:nvSpPr>
            <p:cNvPr id="37" name="object 37"/>
            <p:cNvSpPr/>
            <p:nvPr/>
          </p:nvSpPr>
          <p:spPr>
            <a:xfrm>
              <a:off x="7324204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324204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604"/>
                  </a:moveTo>
                  <a:lnTo>
                    <a:pt x="2062" y="206481"/>
                  </a:lnTo>
                  <a:lnTo>
                    <a:pt x="8140" y="176037"/>
                  </a:lnTo>
                  <a:lnTo>
                    <a:pt x="31673" y="118795"/>
                  </a:lnTo>
                  <a:lnTo>
                    <a:pt x="69562" y="69434"/>
                  </a:lnTo>
                  <a:lnTo>
                    <a:pt x="118795" y="31673"/>
                  </a:lnTo>
                  <a:lnTo>
                    <a:pt x="176349" y="8007"/>
                  </a:lnTo>
                  <a:lnTo>
                    <a:pt x="237959" y="0"/>
                  </a:lnTo>
                  <a:lnTo>
                    <a:pt x="299248" y="8007"/>
                  </a:lnTo>
                  <a:lnTo>
                    <a:pt x="356755" y="31673"/>
                  </a:lnTo>
                  <a:lnTo>
                    <a:pt x="405988" y="69434"/>
                  </a:lnTo>
                  <a:lnTo>
                    <a:pt x="443877" y="118795"/>
                  </a:lnTo>
                  <a:lnTo>
                    <a:pt x="467410" y="176037"/>
                  </a:lnTo>
                  <a:lnTo>
                    <a:pt x="475551" y="237604"/>
                  </a:lnTo>
                  <a:lnTo>
                    <a:pt x="473488" y="268719"/>
                  </a:lnTo>
                  <a:lnTo>
                    <a:pt x="467410" y="299159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59"/>
                  </a:lnTo>
                  <a:lnTo>
                    <a:pt x="2062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503744" y="1999703"/>
            <a:ext cx="1174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170896" y="1868220"/>
            <a:ext cx="488315" cy="488315"/>
            <a:chOff x="10170896" y="1868220"/>
            <a:chExt cx="488315" cy="488315"/>
          </a:xfrm>
        </p:grpSpPr>
        <p:sp>
          <p:nvSpPr>
            <p:cNvPr id="52" name="object 52"/>
            <p:cNvSpPr/>
            <p:nvPr/>
          </p:nvSpPr>
          <p:spPr>
            <a:xfrm>
              <a:off x="10177196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007"/>
                  </a:lnTo>
                  <a:lnTo>
                    <a:pt x="118808" y="31673"/>
                  </a:lnTo>
                  <a:lnTo>
                    <a:pt x="69575" y="69434"/>
                  </a:lnTo>
                  <a:lnTo>
                    <a:pt x="31686" y="118795"/>
                  </a:lnTo>
                  <a:lnTo>
                    <a:pt x="8147" y="176037"/>
                  </a:lnTo>
                  <a:lnTo>
                    <a:pt x="0" y="237604"/>
                  </a:lnTo>
                  <a:lnTo>
                    <a:pt x="2064" y="268719"/>
                  </a:lnTo>
                  <a:lnTo>
                    <a:pt x="18077" y="328521"/>
                  </a:lnTo>
                  <a:lnTo>
                    <a:pt x="49044" y="382416"/>
                  </a:lnTo>
                  <a:lnTo>
                    <a:pt x="92942" y="426214"/>
                  </a:lnTo>
                  <a:lnTo>
                    <a:pt x="146893" y="457336"/>
                  </a:lnTo>
                  <a:lnTo>
                    <a:pt x="206839" y="473493"/>
                  </a:lnTo>
                  <a:lnTo>
                    <a:pt x="237959" y="475564"/>
                  </a:lnTo>
                  <a:lnTo>
                    <a:pt x="268877" y="473493"/>
                  </a:lnTo>
                  <a:lnTo>
                    <a:pt x="328687" y="457336"/>
                  </a:lnTo>
                  <a:lnTo>
                    <a:pt x="382627" y="426214"/>
                  </a:lnTo>
                  <a:lnTo>
                    <a:pt x="426525" y="382416"/>
                  </a:lnTo>
                  <a:lnTo>
                    <a:pt x="457492" y="328521"/>
                  </a:lnTo>
                  <a:lnTo>
                    <a:pt x="473499" y="268719"/>
                  </a:lnTo>
                  <a:lnTo>
                    <a:pt x="475564" y="237604"/>
                  </a:lnTo>
                  <a:lnTo>
                    <a:pt x="473499" y="206481"/>
                  </a:lnTo>
                  <a:lnTo>
                    <a:pt x="457492" y="146675"/>
                  </a:lnTo>
                  <a:lnTo>
                    <a:pt x="426525" y="92781"/>
                  </a:lnTo>
                  <a:lnTo>
                    <a:pt x="382627" y="48987"/>
                  </a:lnTo>
                  <a:lnTo>
                    <a:pt x="328687" y="17916"/>
                  </a:lnTo>
                  <a:lnTo>
                    <a:pt x="268877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0177196" y="1874519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604"/>
                  </a:moveTo>
                  <a:lnTo>
                    <a:pt x="2064" y="206481"/>
                  </a:lnTo>
                  <a:lnTo>
                    <a:pt x="8147" y="176037"/>
                  </a:lnTo>
                  <a:lnTo>
                    <a:pt x="31686" y="118795"/>
                  </a:lnTo>
                  <a:lnTo>
                    <a:pt x="69575" y="69434"/>
                  </a:lnTo>
                  <a:lnTo>
                    <a:pt x="118808" y="31673"/>
                  </a:lnTo>
                  <a:lnTo>
                    <a:pt x="176360" y="8007"/>
                  </a:lnTo>
                  <a:lnTo>
                    <a:pt x="237959" y="0"/>
                  </a:lnTo>
                  <a:lnTo>
                    <a:pt x="299254" y="8007"/>
                  </a:lnTo>
                  <a:lnTo>
                    <a:pt x="356768" y="31673"/>
                  </a:lnTo>
                  <a:lnTo>
                    <a:pt x="405992" y="69434"/>
                  </a:lnTo>
                  <a:lnTo>
                    <a:pt x="443890" y="118795"/>
                  </a:lnTo>
                  <a:lnTo>
                    <a:pt x="467418" y="176037"/>
                  </a:lnTo>
                  <a:lnTo>
                    <a:pt x="475564" y="237604"/>
                  </a:lnTo>
                  <a:lnTo>
                    <a:pt x="473499" y="268719"/>
                  </a:lnTo>
                  <a:lnTo>
                    <a:pt x="467418" y="299159"/>
                  </a:lnTo>
                  <a:lnTo>
                    <a:pt x="443890" y="356400"/>
                  </a:lnTo>
                  <a:lnTo>
                    <a:pt x="405992" y="405766"/>
                  </a:lnTo>
                  <a:lnTo>
                    <a:pt x="356768" y="443522"/>
                  </a:lnTo>
                  <a:lnTo>
                    <a:pt x="299254" y="467372"/>
                  </a:lnTo>
                  <a:lnTo>
                    <a:pt x="237959" y="475564"/>
                  </a:lnTo>
                  <a:lnTo>
                    <a:pt x="176360" y="467372"/>
                  </a:lnTo>
                  <a:lnTo>
                    <a:pt x="118808" y="443522"/>
                  </a:lnTo>
                  <a:lnTo>
                    <a:pt x="69575" y="405766"/>
                  </a:lnTo>
                  <a:lnTo>
                    <a:pt x="31686" y="356400"/>
                  </a:lnTo>
                  <a:lnTo>
                    <a:pt x="8147" y="299159"/>
                  </a:lnTo>
                  <a:lnTo>
                    <a:pt x="2064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0356736" y="1999703"/>
            <a:ext cx="1174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0534" y="2535250"/>
            <a:ext cx="2499360" cy="2024380"/>
            <a:chOff x="770534" y="2535250"/>
            <a:chExt cx="2499360" cy="2024380"/>
          </a:xfrm>
        </p:grpSpPr>
        <p:sp>
          <p:nvSpPr>
            <p:cNvPr id="11" name="object 11"/>
            <p:cNvSpPr/>
            <p:nvPr/>
          </p:nvSpPr>
          <p:spPr>
            <a:xfrm>
              <a:off x="777240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241380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938604"/>
                  </a:lnTo>
                  <a:lnTo>
                    <a:pt x="594" y="1947875"/>
                  </a:lnTo>
                  <a:lnTo>
                    <a:pt x="607" y="1948080"/>
                  </a:lnTo>
                  <a:lnTo>
                    <a:pt x="2394" y="1957276"/>
                  </a:lnTo>
                  <a:lnTo>
                    <a:pt x="2428" y="1957455"/>
                  </a:lnTo>
                  <a:lnTo>
                    <a:pt x="5412" y="1966339"/>
                  </a:lnTo>
                  <a:lnTo>
                    <a:pt x="5464" y="1966495"/>
                  </a:lnTo>
                  <a:lnTo>
                    <a:pt x="9715" y="1974964"/>
                  </a:lnTo>
                  <a:lnTo>
                    <a:pt x="44984" y="2006215"/>
                  </a:lnTo>
                  <a:lnTo>
                    <a:pt x="73075" y="2011680"/>
                  </a:lnTo>
                  <a:lnTo>
                    <a:pt x="2414155" y="2011324"/>
                  </a:lnTo>
                  <a:lnTo>
                    <a:pt x="2458533" y="1996220"/>
                  </a:lnTo>
                  <a:lnTo>
                    <a:pt x="2484753" y="1957455"/>
                  </a:lnTo>
                  <a:lnTo>
                    <a:pt x="2487244" y="1938235"/>
                  </a:lnTo>
                  <a:lnTo>
                    <a:pt x="2486875" y="73075"/>
                  </a:lnTo>
                  <a:lnTo>
                    <a:pt x="2471784" y="28705"/>
                  </a:lnTo>
                  <a:lnTo>
                    <a:pt x="2432834" y="2428"/>
                  </a:lnTo>
                  <a:lnTo>
                    <a:pt x="2423433" y="607"/>
                  </a:lnTo>
                  <a:lnTo>
                    <a:pt x="2413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77240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13800" y="0"/>
                  </a:lnTo>
                  <a:lnTo>
                    <a:pt x="2458327" y="15104"/>
                  </a:lnTo>
                  <a:lnTo>
                    <a:pt x="2484447" y="54224"/>
                  </a:lnTo>
                  <a:lnTo>
                    <a:pt x="2486875" y="73075"/>
                  </a:lnTo>
                  <a:lnTo>
                    <a:pt x="2487244" y="1938235"/>
                  </a:lnTo>
                  <a:lnTo>
                    <a:pt x="2486636" y="1947875"/>
                  </a:lnTo>
                  <a:lnTo>
                    <a:pt x="2484813" y="1957276"/>
                  </a:lnTo>
                  <a:lnTo>
                    <a:pt x="2458533" y="1996220"/>
                  </a:lnTo>
                  <a:lnTo>
                    <a:pt x="2414155" y="2011324"/>
                  </a:lnTo>
                  <a:lnTo>
                    <a:pt x="73075" y="2011680"/>
                  </a:lnTo>
                  <a:lnTo>
                    <a:pt x="28555" y="1996575"/>
                  </a:lnTo>
                  <a:lnTo>
                    <a:pt x="2428" y="1957455"/>
                  </a:lnTo>
                  <a:lnTo>
                    <a:pt x="0" y="19386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76884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4" h="2011679">
                  <a:moveTo>
                    <a:pt x="63715" y="0"/>
                  </a:moveTo>
                  <a:lnTo>
                    <a:pt x="0" y="0"/>
                  </a:lnTo>
                  <a:lnTo>
                    <a:pt x="0" y="2011324"/>
                  </a:lnTo>
                  <a:lnTo>
                    <a:pt x="32029" y="2011324"/>
                  </a:lnTo>
                  <a:lnTo>
                    <a:pt x="63715" y="20113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76884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4" h="2011679">
                  <a:moveTo>
                    <a:pt x="32029" y="2011324"/>
                  </a:moveTo>
                  <a:lnTo>
                    <a:pt x="0" y="20113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011324"/>
                  </a:lnTo>
                  <a:lnTo>
                    <a:pt x="32029" y="201132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65415" y="2722219"/>
            <a:ext cx="112585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Create</a:t>
            </a:r>
            <a:r>
              <a:rPr dirty="0" sz="1350" spc="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secret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5784" y="3027502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8057" y="3050539"/>
            <a:ext cx="1875789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Add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secret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value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Key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Vault using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approved identity.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55295" y="3437280"/>
            <a:ext cx="301625" cy="76200"/>
            <a:chOff x="3255295" y="3437280"/>
            <a:chExt cx="301625" cy="76200"/>
          </a:xfrm>
        </p:grpSpPr>
        <p:sp>
          <p:nvSpPr>
            <p:cNvPr id="19" name="object 19"/>
            <p:cNvSpPr/>
            <p:nvPr/>
          </p:nvSpPr>
          <p:spPr>
            <a:xfrm>
              <a:off x="3264115" y="3474720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23" y="355"/>
                  </a:lnTo>
                </a:path>
              </a:pathLst>
            </a:custGeom>
            <a:ln w="176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481196" y="3437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623525" y="2535250"/>
            <a:ext cx="2499360" cy="2024380"/>
            <a:chOff x="3623525" y="2535250"/>
            <a:chExt cx="2499360" cy="2024380"/>
          </a:xfrm>
        </p:grpSpPr>
        <p:sp>
          <p:nvSpPr>
            <p:cNvPr id="26" name="object 26"/>
            <p:cNvSpPr/>
            <p:nvPr/>
          </p:nvSpPr>
          <p:spPr>
            <a:xfrm>
              <a:off x="3630244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24138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938604"/>
                  </a:lnTo>
                  <a:lnTo>
                    <a:pt x="5412" y="1966339"/>
                  </a:lnTo>
                  <a:lnTo>
                    <a:pt x="5464" y="1966495"/>
                  </a:lnTo>
                  <a:lnTo>
                    <a:pt x="36360" y="2001964"/>
                  </a:lnTo>
                  <a:lnTo>
                    <a:pt x="73075" y="2011680"/>
                  </a:lnTo>
                  <a:lnTo>
                    <a:pt x="2414155" y="2011324"/>
                  </a:lnTo>
                  <a:lnTo>
                    <a:pt x="2458533" y="1996220"/>
                  </a:lnTo>
                  <a:lnTo>
                    <a:pt x="2481689" y="1966495"/>
                  </a:lnTo>
                  <a:lnTo>
                    <a:pt x="2481766" y="1966339"/>
                  </a:lnTo>
                  <a:lnTo>
                    <a:pt x="2484742" y="1957455"/>
                  </a:lnTo>
                  <a:lnTo>
                    <a:pt x="2484802" y="1957276"/>
                  </a:lnTo>
                  <a:lnTo>
                    <a:pt x="2486584" y="1948080"/>
                  </a:lnTo>
                  <a:lnTo>
                    <a:pt x="2486624" y="1947875"/>
                  </a:lnTo>
                  <a:lnTo>
                    <a:pt x="2487208" y="1938604"/>
                  </a:lnTo>
                  <a:lnTo>
                    <a:pt x="2487231" y="1938235"/>
                  </a:lnTo>
                  <a:lnTo>
                    <a:pt x="2486875" y="73075"/>
                  </a:lnTo>
                  <a:lnTo>
                    <a:pt x="2471777" y="28705"/>
                  </a:lnTo>
                  <a:lnTo>
                    <a:pt x="2432829" y="2428"/>
                  </a:lnTo>
                  <a:lnTo>
                    <a:pt x="2423432" y="607"/>
                  </a:lnTo>
                  <a:lnTo>
                    <a:pt x="2413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30244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413800" y="0"/>
                  </a:lnTo>
                  <a:lnTo>
                    <a:pt x="2458320" y="15104"/>
                  </a:lnTo>
                  <a:lnTo>
                    <a:pt x="2484447" y="54224"/>
                  </a:lnTo>
                  <a:lnTo>
                    <a:pt x="2486875" y="73075"/>
                  </a:lnTo>
                  <a:lnTo>
                    <a:pt x="2487231" y="1938235"/>
                  </a:lnTo>
                  <a:lnTo>
                    <a:pt x="2486624" y="1947875"/>
                  </a:lnTo>
                  <a:lnTo>
                    <a:pt x="2484802" y="1957276"/>
                  </a:lnTo>
                  <a:lnTo>
                    <a:pt x="2458533" y="1996220"/>
                  </a:lnTo>
                  <a:lnTo>
                    <a:pt x="2414155" y="2011324"/>
                  </a:lnTo>
                  <a:lnTo>
                    <a:pt x="73075" y="2011680"/>
                  </a:lnTo>
                  <a:lnTo>
                    <a:pt x="28548" y="1996575"/>
                  </a:lnTo>
                  <a:lnTo>
                    <a:pt x="2428" y="1957455"/>
                  </a:lnTo>
                  <a:lnTo>
                    <a:pt x="0" y="19386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29875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5" h="2011679">
                  <a:moveTo>
                    <a:pt x="63728" y="0"/>
                  </a:moveTo>
                  <a:lnTo>
                    <a:pt x="0" y="0"/>
                  </a:lnTo>
                  <a:lnTo>
                    <a:pt x="0" y="2011324"/>
                  </a:lnTo>
                  <a:lnTo>
                    <a:pt x="32042" y="2011324"/>
                  </a:lnTo>
                  <a:lnTo>
                    <a:pt x="63728" y="201132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29875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5" h="2011679">
                  <a:moveTo>
                    <a:pt x="32042" y="2011324"/>
                  </a:moveTo>
                  <a:lnTo>
                    <a:pt x="0" y="201132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011324"/>
                  </a:lnTo>
                  <a:lnTo>
                    <a:pt x="32042" y="201132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818420" y="2722219"/>
            <a:ext cx="141541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Update</a:t>
            </a:r>
            <a:r>
              <a:rPr dirty="0" sz="1350" spc="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database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18775" y="3027502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71061" y="3050539"/>
            <a:ext cx="1739900" cy="354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actual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database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password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value.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08300" y="3437280"/>
            <a:ext cx="301625" cy="76200"/>
            <a:chOff x="6108300" y="3437280"/>
            <a:chExt cx="301625" cy="76200"/>
          </a:xfrm>
        </p:grpSpPr>
        <p:sp>
          <p:nvSpPr>
            <p:cNvPr id="34" name="object 34"/>
            <p:cNvSpPr/>
            <p:nvPr/>
          </p:nvSpPr>
          <p:spPr>
            <a:xfrm>
              <a:off x="6117120" y="3474720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23" y="355"/>
                  </a:lnTo>
                </a:path>
              </a:pathLst>
            </a:custGeom>
            <a:ln w="176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334201" y="3437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476530" y="2535250"/>
            <a:ext cx="2499360" cy="2024380"/>
            <a:chOff x="6476530" y="2535250"/>
            <a:chExt cx="2499360" cy="2024380"/>
          </a:xfrm>
        </p:grpSpPr>
        <p:sp>
          <p:nvSpPr>
            <p:cNvPr id="41" name="object 41"/>
            <p:cNvSpPr/>
            <p:nvPr/>
          </p:nvSpPr>
          <p:spPr>
            <a:xfrm>
              <a:off x="6483235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24138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938604"/>
                  </a:lnTo>
                  <a:lnTo>
                    <a:pt x="594" y="1947875"/>
                  </a:lnTo>
                  <a:lnTo>
                    <a:pt x="607" y="1948080"/>
                  </a:lnTo>
                  <a:lnTo>
                    <a:pt x="2395" y="1957276"/>
                  </a:lnTo>
                  <a:lnTo>
                    <a:pt x="2430" y="1957455"/>
                  </a:lnTo>
                  <a:lnTo>
                    <a:pt x="5417" y="1966339"/>
                  </a:lnTo>
                  <a:lnTo>
                    <a:pt x="5470" y="1966495"/>
                  </a:lnTo>
                  <a:lnTo>
                    <a:pt x="9728" y="1974964"/>
                  </a:lnTo>
                  <a:lnTo>
                    <a:pt x="44984" y="2006215"/>
                  </a:lnTo>
                  <a:lnTo>
                    <a:pt x="73088" y="2011680"/>
                  </a:lnTo>
                  <a:lnTo>
                    <a:pt x="2414168" y="2011324"/>
                  </a:lnTo>
                  <a:lnTo>
                    <a:pt x="2458538" y="1996220"/>
                  </a:lnTo>
                  <a:lnTo>
                    <a:pt x="2484755" y="1957455"/>
                  </a:lnTo>
                  <a:lnTo>
                    <a:pt x="2484815" y="1957276"/>
                  </a:lnTo>
                  <a:lnTo>
                    <a:pt x="2486597" y="1948080"/>
                  </a:lnTo>
                  <a:lnTo>
                    <a:pt x="2486636" y="1947875"/>
                  </a:lnTo>
                  <a:lnTo>
                    <a:pt x="2487220" y="1938604"/>
                  </a:lnTo>
                  <a:lnTo>
                    <a:pt x="2487244" y="1938235"/>
                  </a:lnTo>
                  <a:lnTo>
                    <a:pt x="2486888" y="73075"/>
                  </a:lnTo>
                  <a:lnTo>
                    <a:pt x="2471784" y="28705"/>
                  </a:lnTo>
                  <a:lnTo>
                    <a:pt x="2432840" y="2428"/>
                  </a:lnTo>
                  <a:lnTo>
                    <a:pt x="2423439" y="607"/>
                  </a:lnTo>
                  <a:lnTo>
                    <a:pt x="2413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483235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13800" y="0"/>
                  </a:lnTo>
                  <a:lnTo>
                    <a:pt x="2458333" y="15104"/>
                  </a:lnTo>
                  <a:lnTo>
                    <a:pt x="2484458" y="54224"/>
                  </a:lnTo>
                  <a:lnTo>
                    <a:pt x="2486888" y="73075"/>
                  </a:lnTo>
                  <a:lnTo>
                    <a:pt x="2487244" y="1938235"/>
                  </a:lnTo>
                  <a:lnTo>
                    <a:pt x="2486636" y="1947875"/>
                  </a:lnTo>
                  <a:lnTo>
                    <a:pt x="2484815" y="1957276"/>
                  </a:lnTo>
                  <a:lnTo>
                    <a:pt x="2458538" y="1996220"/>
                  </a:lnTo>
                  <a:lnTo>
                    <a:pt x="2414168" y="2011324"/>
                  </a:lnTo>
                  <a:lnTo>
                    <a:pt x="73088" y="2011680"/>
                  </a:lnTo>
                  <a:lnTo>
                    <a:pt x="28555" y="1996575"/>
                  </a:lnTo>
                  <a:lnTo>
                    <a:pt x="2430" y="1957455"/>
                  </a:lnTo>
                  <a:lnTo>
                    <a:pt x="0" y="19386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82880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4" h="2011679">
                  <a:moveTo>
                    <a:pt x="63715" y="0"/>
                  </a:moveTo>
                  <a:lnTo>
                    <a:pt x="0" y="0"/>
                  </a:lnTo>
                  <a:lnTo>
                    <a:pt x="0" y="2011324"/>
                  </a:lnTo>
                  <a:lnTo>
                    <a:pt x="32042" y="2011324"/>
                  </a:lnTo>
                  <a:lnTo>
                    <a:pt x="63715" y="20113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82880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4" h="2011679">
                  <a:moveTo>
                    <a:pt x="32042" y="2011324"/>
                  </a:moveTo>
                  <a:lnTo>
                    <a:pt x="0" y="20113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011324"/>
                  </a:lnTo>
                  <a:lnTo>
                    <a:pt x="32042" y="201132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671056" y="2722219"/>
            <a:ext cx="149161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Update</a:t>
            </a:r>
            <a:r>
              <a:rPr dirty="0" sz="1350" spc="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consumer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71424" y="3027502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823697" y="3050539"/>
            <a:ext cx="1776730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Make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application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retrieve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value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through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its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identity.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961304" y="3437280"/>
            <a:ext cx="301625" cy="76200"/>
            <a:chOff x="8961304" y="3437280"/>
            <a:chExt cx="301625" cy="76200"/>
          </a:xfrm>
        </p:grpSpPr>
        <p:sp>
          <p:nvSpPr>
            <p:cNvPr id="49" name="object 49"/>
            <p:cNvSpPr/>
            <p:nvPr/>
          </p:nvSpPr>
          <p:spPr>
            <a:xfrm>
              <a:off x="8970124" y="3474720"/>
              <a:ext cx="222250" cy="635"/>
            </a:xfrm>
            <a:custGeom>
              <a:avLst/>
              <a:gdLst/>
              <a:ahLst/>
              <a:cxnLst/>
              <a:rect l="l" t="t" r="r" b="b"/>
              <a:pathLst>
                <a:path w="222250" h="635">
                  <a:moveTo>
                    <a:pt x="0" y="0"/>
                  </a:moveTo>
                  <a:lnTo>
                    <a:pt x="222110" y="355"/>
                  </a:lnTo>
                </a:path>
              </a:pathLst>
            </a:custGeom>
            <a:ln w="1763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187205" y="34372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9329215" y="2535300"/>
            <a:ext cx="2499360" cy="2024380"/>
            <a:chOff x="9329215" y="2535300"/>
            <a:chExt cx="2499360" cy="2024380"/>
          </a:xfrm>
        </p:grpSpPr>
        <p:sp>
          <p:nvSpPr>
            <p:cNvPr id="56" name="object 56"/>
            <p:cNvSpPr/>
            <p:nvPr/>
          </p:nvSpPr>
          <p:spPr>
            <a:xfrm>
              <a:off x="9335884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241380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938604"/>
                  </a:lnTo>
                  <a:lnTo>
                    <a:pt x="594" y="1947875"/>
                  </a:lnTo>
                  <a:lnTo>
                    <a:pt x="607" y="1948080"/>
                  </a:lnTo>
                  <a:lnTo>
                    <a:pt x="2394" y="1957276"/>
                  </a:lnTo>
                  <a:lnTo>
                    <a:pt x="2428" y="1957455"/>
                  </a:lnTo>
                  <a:lnTo>
                    <a:pt x="5412" y="1966339"/>
                  </a:lnTo>
                  <a:lnTo>
                    <a:pt x="36360" y="2001964"/>
                  </a:lnTo>
                  <a:lnTo>
                    <a:pt x="73075" y="2011680"/>
                  </a:lnTo>
                  <a:lnTo>
                    <a:pt x="2414155" y="2011324"/>
                  </a:lnTo>
                  <a:lnTo>
                    <a:pt x="2458533" y="1996220"/>
                  </a:lnTo>
                  <a:lnTo>
                    <a:pt x="2484742" y="1957455"/>
                  </a:lnTo>
                  <a:lnTo>
                    <a:pt x="2484802" y="1957276"/>
                  </a:lnTo>
                  <a:lnTo>
                    <a:pt x="2486584" y="1948080"/>
                  </a:lnTo>
                  <a:lnTo>
                    <a:pt x="2486624" y="1947875"/>
                  </a:lnTo>
                  <a:lnTo>
                    <a:pt x="2487208" y="1938604"/>
                  </a:lnTo>
                  <a:lnTo>
                    <a:pt x="2487231" y="1938235"/>
                  </a:lnTo>
                  <a:lnTo>
                    <a:pt x="2486875" y="73075"/>
                  </a:lnTo>
                  <a:lnTo>
                    <a:pt x="2471777" y="28705"/>
                  </a:lnTo>
                  <a:lnTo>
                    <a:pt x="2432829" y="2428"/>
                  </a:lnTo>
                  <a:lnTo>
                    <a:pt x="2423432" y="607"/>
                  </a:lnTo>
                  <a:lnTo>
                    <a:pt x="2413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335884" y="2541600"/>
              <a:ext cx="2487295" cy="2011680"/>
            </a:xfrm>
            <a:custGeom>
              <a:avLst/>
              <a:gdLst/>
              <a:ahLst/>
              <a:cxnLst/>
              <a:rect l="l" t="t" r="r" b="b"/>
              <a:pathLst>
                <a:path w="2487295" h="2011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413800" y="0"/>
                  </a:lnTo>
                  <a:lnTo>
                    <a:pt x="2458320" y="15104"/>
                  </a:lnTo>
                  <a:lnTo>
                    <a:pt x="2484447" y="54224"/>
                  </a:lnTo>
                  <a:lnTo>
                    <a:pt x="2486875" y="73075"/>
                  </a:lnTo>
                  <a:lnTo>
                    <a:pt x="2487231" y="1938235"/>
                  </a:lnTo>
                  <a:lnTo>
                    <a:pt x="2486624" y="1947875"/>
                  </a:lnTo>
                  <a:lnTo>
                    <a:pt x="2484802" y="1957276"/>
                  </a:lnTo>
                  <a:lnTo>
                    <a:pt x="2458533" y="1996220"/>
                  </a:lnTo>
                  <a:lnTo>
                    <a:pt x="2414155" y="2011324"/>
                  </a:lnTo>
                  <a:lnTo>
                    <a:pt x="73075" y="2011680"/>
                  </a:lnTo>
                  <a:lnTo>
                    <a:pt x="28548" y="1996575"/>
                  </a:lnTo>
                  <a:lnTo>
                    <a:pt x="2428" y="1957455"/>
                  </a:lnTo>
                  <a:lnTo>
                    <a:pt x="0" y="19386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335515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4" h="2011679">
                  <a:moveTo>
                    <a:pt x="63728" y="0"/>
                  </a:moveTo>
                  <a:lnTo>
                    <a:pt x="0" y="0"/>
                  </a:lnTo>
                  <a:lnTo>
                    <a:pt x="0" y="2011324"/>
                  </a:lnTo>
                  <a:lnTo>
                    <a:pt x="32042" y="2011324"/>
                  </a:lnTo>
                  <a:lnTo>
                    <a:pt x="63728" y="201132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335515" y="2541600"/>
              <a:ext cx="64135" cy="2011680"/>
            </a:xfrm>
            <a:custGeom>
              <a:avLst/>
              <a:gdLst/>
              <a:ahLst/>
              <a:cxnLst/>
              <a:rect l="l" t="t" r="r" b="b"/>
              <a:pathLst>
                <a:path w="64134" h="2011679">
                  <a:moveTo>
                    <a:pt x="32042" y="2011324"/>
                  </a:moveTo>
                  <a:lnTo>
                    <a:pt x="0" y="201132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011324"/>
                  </a:lnTo>
                  <a:lnTo>
                    <a:pt x="32042" y="201132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9524060" y="2722219"/>
            <a:ext cx="100203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Test</a:t>
            </a:r>
            <a:r>
              <a:rPr dirty="0" sz="13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3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retire</a:t>
            </a:r>
            <a:endParaRPr sz="13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524415" y="3027502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76701" y="3050539"/>
            <a:ext cx="1899285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Verify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successful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connection;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disable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revoke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old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credential.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64" name="object 6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809904" y="6000381"/>
            <a:ext cx="66636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Never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put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real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passwords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in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slides,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source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control,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command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history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or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shared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lab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logs.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Use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synthetic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values.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24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6935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45" b="1">
                <a:solidFill>
                  <a:srgbClr val="0077D3"/>
                </a:solidFill>
                <a:latin typeface="Arial"/>
                <a:cs typeface="Arial"/>
              </a:rPr>
              <a:t>RY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Customer-</a:t>
            </a:r>
            <a:r>
              <a:rPr dirty="0"/>
              <a:t>managed</a:t>
            </a:r>
            <a:r>
              <a:rPr dirty="0" spc="-25"/>
              <a:t> </a:t>
            </a:r>
            <a:r>
              <a:rPr dirty="0"/>
              <a:t>keys</a:t>
            </a:r>
            <a:r>
              <a:rPr dirty="0" spc="-25"/>
              <a:t> </a:t>
            </a:r>
            <a:r>
              <a:rPr dirty="0"/>
              <a:t>add</a:t>
            </a:r>
            <a:r>
              <a:rPr dirty="0" spc="-20"/>
              <a:t> </a:t>
            </a:r>
            <a:r>
              <a:rPr dirty="0" spc="-10"/>
              <a:t>control—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operational</a:t>
            </a:r>
            <a:r>
              <a:rPr dirty="0" spc="-25"/>
              <a:t> </a:t>
            </a:r>
            <a:r>
              <a:rPr dirty="0" spc="-10"/>
              <a:t>responsibility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1220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Azure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Storage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encrypts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data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rest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default.</a:t>
            </a:r>
            <a:r>
              <a:rPr dirty="0" sz="10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CMK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lets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customer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govern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key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Key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Vault.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3284" y="2006640"/>
            <a:ext cx="2113280" cy="970280"/>
            <a:chOff x="863284" y="2006640"/>
            <a:chExt cx="2113280" cy="970280"/>
          </a:xfrm>
        </p:grpSpPr>
        <p:sp>
          <p:nvSpPr>
            <p:cNvPr id="7" name="object 7"/>
            <p:cNvSpPr/>
            <p:nvPr/>
          </p:nvSpPr>
          <p:spPr>
            <a:xfrm>
              <a:off x="868324" y="2011679"/>
              <a:ext cx="2103120" cy="960119"/>
            </a:xfrm>
            <a:custGeom>
              <a:avLst/>
              <a:gdLst/>
              <a:ahLst/>
              <a:cxnLst/>
              <a:rect l="l" t="t" r="r" b="b"/>
              <a:pathLst>
                <a:path w="2103120" h="960119">
                  <a:moveTo>
                    <a:pt x="20480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905395"/>
                  </a:lnTo>
                  <a:lnTo>
                    <a:pt x="452" y="912248"/>
                  </a:lnTo>
                  <a:lnTo>
                    <a:pt x="466" y="912456"/>
                  </a:lnTo>
                  <a:lnTo>
                    <a:pt x="21370" y="948807"/>
                  </a:lnTo>
                  <a:lnTo>
                    <a:pt x="48065" y="959764"/>
                  </a:lnTo>
                  <a:lnTo>
                    <a:pt x="49212" y="959764"/>
                  </a:lnTo>
                  <a:lnTo>
                    <a:pt x="54711" y="960120"/>
                  </a:lnTo>
                  <a:lnTo>
                    <a:pt x="2048395" y="959764"/>
                  </a:lnTo>
                  <a:lnTo>
                    <a:pt x="2087049" y="943827"/>
                  </a:lnTo>
                  <a:lnTo>
                    <a:pt x="2102611" y="912456"/>
                  </a:lnTo>
                  <a:lnTo>
                    <a:pt x="2102652" y="912248"/>
                  </a:lnTo>
                  <a:lnTo>
                    <a:pt x="2103096" y="905395"/>
                  </a:lnTo>
                  <a:lnTo>
                    <a:pt x="2103120" y="905040"/>
                  </a:lnTo>
                  <a:lnTo>
                    <a:pt x="2102751" y="54724"/>
                  </a:lnTo>
                  <a:lnTo>
                    <a:pt x="2086825" y="16063"/>
                  </a:lnTo>
                  <a:lnTo>
                    <a:pt x="2055248" y="466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324" y="2011679"/>
              <a:ext cx="2103120" cy="960119"/>
            </a:xfrm>
            <a:custGeom>
              <a:avLst/>
              <a:gdLst/>
              <a:ahLst/>
              <a:cxnLst/>
              <a:rect l="l" t="t" r="r" b="b"/>
              <a:pathLst>
                <a:path w="2103120" h="960119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2048040" y="0"/>
                  </a:lnTo>
                  <a:lnTo>
                    <a:pt x="2086825" y="16063"/>
                  </a:lnTo>
                  <a:lnTo>
                    <a:pt x="2102751" y="54724"/>
                  </a:lnTo>
                  <a:lnTo>
                    <a:pt x="2103120" y="905040"/>
                  </a:lnTo>
                  <a:lnTo>
                    <a:pt x="2102652" y="912248"/>
                  </a:lnTo>
                  <a:lnTo>
                    <a:pt x="2101272" y="919256"/>
                  </a:lnTo>
                  <a:lnTo>
                    <a:pt x="2075751" y="952563"/>
                  </a:lnTo>
                  <a:lnTo>
                    <a:pt x="54711" y="960120"/>
                  </a:lnTo>
                  <a:lnTo>
                    <a:pt x="15925" y="944056"/>
                  </a:lnTo>
                  <a:lnTo>
                    <a:pt x="0" y="90539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8C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00581" y="2296337"/>
            <a:ext cx="1236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Storage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Account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Encrypted</a:t>
            </a:r>
            <a:r>
              <a:rPr dirty="0" sz="1200" spc="-7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0243F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25436" y="2449436"/>
            <a:ext cx="815340" cy="76200"/>
            <a:chOff x="3025436" y="2449436"/>
            <a:chExt cx="815340" cy="76200"/>
          </a:xfrm>
        </p:grpSpPr>
        <p:sp>
          <p:nvSpPr>
            <p:cNvPr id="11" name="object 11"/>
            <p:cNvSpPr/>
            <p:nvPr/>
          </p:nvSpPr>
          <p:spPr>
            <a:xfrm>
              <a:off x="3035515" y="2486875"/>
              <a:ext cx="734695" cy="635"/>
            </a:xfrm>
            <a:custGeom>
              <a:avLst/>
              <a:gdLst/>
              <a:ahLst/>
              <a:cxnLst/>
              <a:rect l="l" t="t" r="r" b="b"/>
              <a:pathLst>
                <a:path w="734695" h="635">
                  <a:moveTo>
                    <a:pt x="0" y="0"/>
                  </a:moveTo>
                  <a:lnTo>
                    <a:pt x="734402" y="368"/>
                  </a:lnTo>
                </a:path>
              </a:pathLst>
            </a:custGeom>
            <a:ln w="2015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64876" y="24494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908160" y="2006640"/>
            <a:ext cx="2204720" cy="970280"/>
            <a:chOff x="3908160" y="2006640"/>
            <a:chExt cx="2204720" cy="970280"/>
          </a:xfrm>
        </p:grpSpPr>
        <p:sp>
          <p:nvSpPr>
            <p:cNvPr id="14" name="object 14"/>
            <p:cNvSpPr/>
            <p:nvPr/>
          </p:nvSpPr>
          <p:spPr>
            <a:xfrm>
              <a:off x="3913200" y="2011679"/>
              <a:ext cx="2194560" cy="960119"/>
            </a:xfrm>
            <a:custGeom>
              <a:avLst/>
              <a:gdLst/>
              <a:ahLst/>
              <a:cxnLst/>
              <a:rect l="l" t="t" r="r" b="b"/>
              <a:pathLst>
                <a:path w="2194560" h="960119">
                  <a:moveTo>
                    <a:pt x="213948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905395"/>
                  </a:lnTo>
                  <a:lnTo>
                    <a:pt x="3994" y="925994"/>
                  </a:lnTo>
                  <a:lnTo>
                    <a:pt x="4098" y="926310"/>
                  </a:lnTo>
                  <a:lnTo>
                    <a:pt x="33757" y="956021"/>
                  </a:lnTo>
                  <a:lnTo>
                    <a:pt x="48071" y="959764"/>
                  </a:lnTo>
                  <a:lnTo>
                    <a:pt x="49219" y="959764"/>
                  </a:lnTo>
                  <a:lnTo>
                    <a:pt x="54724" y="960120"/>
                  </a:lnTo>
                  <a:lnTo>
                    <a:pt x="2139835" y="959764"/>
                  </a:lnTo>
                  <a:lnTo>
                    <a:pt x="2178496" y="943827"/>
                  </a:lnTo>
                  <a:lnTo>
                    <a:pt x="2194053" y="912456"/>
                  </a:lnTo>
                  <a:lnTo>
                    <a:pt x="2194093" y="912248"/>
                  </a:lnTo>
                  <a:lnTo>
                    <a:pt x="2194537" y="905395"/>
                  </a:lnTo>
                  <a:lnTo>
                    <a:pt x="2194560" y="905040"/>
                  </a:lnTo>
                  <a:lnTo>
                    <a:pt x="2194204" y="54724"/>
                  </a:lnTo>
                  <a:lnTo>
                    <a:pt x="2178267" y="16063"/>
                  </a:lnTo>
                  <a:lnTo>
                    <a:pt x="2146688" y="466"/>
                  </a:lnTo>
                  <a:lnTo>
                    <a:pt x="213948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13200" y="2011679"/>
              <a:ext cx="2194560" cy="960119"/>
            </a:xfrm>
            <a:custGeom>
              <a:avLst/>
              <a:gdLst/>
              <a:ahLst/>
              <a:cxnLst/>
              <a:rect l="l" t="t" r="r" b="b"/>
              <a:pathLst>
                <a:path w="2194560" h="960119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2139480" y="0"/>
                  </a:lnTo>
                  <a:lnTo>
                    <a:pt x="2178267" y="16063"/>
                  </a:lnTo>
                  <a:lnTo>
                    <a:pt x="2194204" y="54724"/>
                  </a:lnTo>
                  <a:lnTo>
                    <a:pt x="2194560" y="905040"/>
                  </a:lnTo>
                  <a:lnTo>
                    <a:pt x="2194093" y="912248"/>
                  </a:lnTo>
                  <a:lnTo>
                    <a:pt x="2192716" y="919256"/>
                  </a:lnTo>
                  <a:lnTo>
                    <a:pt x="2167204" y="952563"/>
                  </a:lnTo>
                  <a:lnTo>
                    <a:pt x="54724" y="960120"/>
                  </a:lnTo>
                  <a:lnTo>
                    <a:pt x="15925" y="944056"/>
                  </a:lnTo>
                  <a:lnTo>
                    <a:pt x="0" y="90539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A4DC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400537" y="2303894"/>
            <a:ext cx="121856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 marR="5080" indent="-5715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Managed</a:t>
            </a:r>
            <a:r>
              <a:rPr dirty="0" sz="1150" spc="-30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0A5A5"/>
                </a:solidFill>
                <a:latin typeface="Arial"/>
                <a:cs typeface="Arial"/>
              </a:rPr>
              <a:t>Identity </a:t>
            </a:r>
            <a:r>
              <a:rPr dirty="0" sz="1150" b="1">
                <a:solidFill>
                  <a:srgbClr val="00A5A5"/>
                </a:solidFill>
                <a:latin typeface="Arial"/>
                <a:cs typeface="Arial"/>
              </a:rPr>
              <a:t>Service</a:t>
            </a:r>
            <a:r>
              <a:rPr dirty="0" sz="1150" spc="-45" b="1">
                <a:solidFill>
                  <a:srgbClr val="00A5A5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0A5A5"/>
                </a:solidFill>
                <a:latin typeface="Arial"/>
                <a:cs typeface="Arial"/>
              </a:rPr>
              <a:t>identity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62120" y="2449436"/>
            <a:ext cx="787400" cy="76200"/>
            <a:chOff x="6162120" y="2449436"/>
            <a:chExt cx="787400" cy="76200"/>
          </a:xfrm>
        </p:grpSpPr>
        <p:sp>
          <p:nvSpPr>
            <p:cNvPr id="18" name="object 18"/>
            <p:cNvSpPr/>
            <p:nvPr/>
          </p:nvSpPr>
          <p:spPr>
            <a:xfrm>
              <a:off x="6172200" y="2486875"/>
              <a:ext cx="706755" cy="635"/>
            </a:xfrm>
            <a:custGeom>
              <a:avLst/>
              <a:gdLst/>
              <a:ahLst/>
              <a:cxnLst/>
              <a:rect l="l" t="t" r="r" b="b"/>
              <a:pathLst>
                <a:path w="706754" h="635">
                  <a:moveTo>
                    <a:pt x="0" y="0"/>
                  </a:moveTo>
                  <a:lnTo>
                    <a:pt x="706678" y="368"/>
                  </a:lnTo>
                </a:path>
              </a:pathLst>
            </a:custGeom>
            <a:ln w="2015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73837" y="24494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7017476" y="2006640"/>
            <a:ext cx="2067560" cy="970280"/>
            <a:chOff x="7017476" y="2006640"/>
            <a:chExt cx="2067560" cy="970280"/>
          </a:xfrm>
        </p:grpSpPr>
        <p:sp>
          <p:nvSpPr>
            <p:cNvPr id="21" name="object 21"/>
            <p:cNvSpPr/>
            <p:nvPr/>
          </p:nvSpPr>
          <p:spPr>
            <a:xfrm>
              <a:off x="7022516" y="2011679"/>
              <a:ext cx="2057400" cy="960119"/>
            </a:xfrm>
            <a:custGeom>
              <a:avLst/>
              <a:gdLst/>
              <a:ahLst/>
              <a:cxnLst/>
              <a:rect l="l" t="t" r="r" b="b"/>
              <a:pathLst>
                <a:path w="2057400" h="960119">
                  <a:moveTo>
                    <a:pt x="200232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79" y="21422"/>
                  </a:lnTo>
                  <a:lnTo>
                    <a:pt x="0" y="54724"/>
                  </a:lnTo>
                  <a:lnTo>
                    <a:pt x="0" y="905395"/>
                  </a:lnTo>
                  <a:lnTo>
                    <a:pt x="3999" y="925994"/>
                  </a:lnTo>
                  <a:lnTo>
                    <a:pt x="4104" y="926310"/>
                  </a:lnTo>
                  <a:lnTo>
                    <a:pt x="33769" y="956021"/>
                  </a:lnTo>
                  <a:lnTo>
                    <a:pt x="48078" y="959764"/>
                  </a:lnTo>
                  <a:lnTo>
                    <a:pt x="49224" y="959764"/>
                  </a:lnTo>
                  <a:lnTo>
                    <a:pt x="54724" y="960120"/>
                  </a:lnTo>
                  <a:lnTo>
                    <a:pt x="2002688" y="959764"/>
                  </a:lnTo>
                  <a:lnTo>
                    <a:pt x="2041340" y="943827"/>
                  </a:lnTo>
                  <a:lnTo>
                    <a:pt x="2055480" y="919484"/>
                  </a:lnTo>
                  <a:lnTo>
                    <a:pt x="2055556" y="919256"/>
                  </a:lnTo>
                  <a:lnTo>
                    <a:pt x="2056893" y="912456"/>
                  </a:lnTo>
                  <a:lnTo>
                    <a:pt x="2056933" y="912248"/>
                  </a:lnTo>
                  <a:lnTo>
                    <a:pt x="2057377" y="905395"/>
                  </a:lnTo>
                  <a:lnTo>
                    <a:pt x="2057044" y="54724"/>
                  </a:lnTo>
                  <a:lnTo>
                    <a:pt x="2041118" y="16063"/>
                  </a:lnTo>
                  <a:lnTo>
                    <a:pt x="2009536" y="466"/>
                  </a:lnTo>
                  <a:lnTo>
                    <a:pt x="2002320" y="0"/>
                  </a:lnTo>
                  <a:close/>
                </a:path>
              </a:pathLst>
            </a:custGeom>
            <a:solidFill>
              <a:srgbClr val="EF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22516" y="2011679"/>
              <a:ext cx="2057400" cy="960119"/>
            </a:xfrm>
            <a:custGeom>
              <a:avLst/>
              <a:gdLst/>
              <a:ahLst/>
              <a:cxnLst/>
              <a:rect l="l" t="t" r="r" b="b"/>
              <a:pathLst>
                <a:path w="2057400" h="960119">
                  <a:moveTo>
                    <a:pt x="0" y="54724"/>
                  </a:moveTo>
                  <a:lnTo>
                    <a:pt x="467" y="47508"/>
                  </a:lnTo>
                  <a:lnTo>
                    <a:pt x="1847" y="40497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2002320" y="0"/>
                  </a:lnTo>
                  <a:lnTo>
                    <a:pt x="2041118" y="16063"/>
                  </a:lnTo>
                  <a:lnTo>
                    <a:pt x="2057044" y="54724"/>
                  </a:lnTo>
                  <a:lnTo>
                    <a:pt x="2057400" y="905040"/>
                  </a:lnTo>
                  <a:lnTo>
                    <a:pt x="2056933" y="912248"/>
                  </a:lnTo>
                  <a:lnTo>
                    <a:pt x="2055556" y="919256"/>
                  </a:lnTo>
                  <a:lnTo>
                    <a:pt x="2030044" y="952563"/>
                  </a:lnTo>
                  <a:lnTo>
                    <a:pt x="54724" y="960120"/>
                  </a:lnTo>
                  <a:lnTo>
                    <a:pt x="15936" y="944056"/>
                  </a:lnTo>
                  <a:lnTo>
                    <a:pt x="0" y="90539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D4C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619657" y="2296337"/>
            <a:ext cx="862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556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B2C90"/>
                </a:solidFill>
                <a:latin typeface="Arial"/>
                <a:cs typeface="Arial"/>
              </a:rPr>
              <a:t>Key</a:t>
            </a:r>
            <a:r>
              <a:rPr dirty="0" sz="1200" spc="-2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B2C90"/>
                </a:solidFill>
                <a:latin typeface="Arial"/>
                <a:cs typeface="Arial"/>
              </a:rPr>
              <a:t>Vault </a:t>
            </a:r>
            <a:r>
              <a:rPr dirty="0" sz="1200" b="1">
                <a:solidFill>
                  <a:srgbClr val="5B2C90"/>
                </a:solidFill>
                <a:latin typeface="Arial"/>
                <a:cs typeface="Arial"/>
              </a:rPr>
              <a:t>CMK</a:t>
            </a:r>
            <a:r>
              <a:rPr dirty="0" sz="1200" spc="-25" b="1">
                <a:solidFill>
                  <a:srgbClr val="5B2C9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B2C90"/>
                </a:solidFill>
                <a:latin typeface="Arial"/>
                <a:cs typeface="Arial"/>
              </a:rPr>
              <a:t>object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133919" y="2449436"/>
            <a:ext cx="760095" cy="76200"/>
            <a:chOff x="9133919" y="2449436"/>
            <a:chExt cx="760095" cy="76200"/>
          </a:xfrm>
        </p:grpSpPr>
        <p:sp>
          <p:nvSpPr>
            <p:cNvPr id="25" name="object 25"/>
            <p:cNvSpPr/>
            <p:nvPr/>
          </p:nvSpPr>
          <p:spPr>
            <a:xfrm>
              <a:off x="9143999" y="2486875"/>
              <a:ext cx="679450" cy="635"/>
            </a:xfrm>
            <a:custGeom>
              <a:avLst/>
              <a:gdLst/>
              <a:ahLst/>
              <a:cxnLst/>
              <a:rect l="l" t="t" r="r" b="b"/>
              <a:pathLst>
                <a:path w="679450" h="635">
                  <a:moveTo>
                    <a:pt x="0" y="0"/>
                  </a:moveTo>
                  <a:lnTo>
                    <a:pt x="678954" y="368"/>
                  </a:lnTo>
                </a:path>
              </a:pathLst>
            </a:custGeom>
            <a:ln w="2015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817925" y="24494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9961919" y="2006640"/>
            <a:ext cx="1427480" cy="970280"/>
            <a:chOff x="9961919" y="2006640"/>
            <a:chExt cx="1427480" cy="970280"/>
          </a:xfrm>
        </p:grpSpPr>
        <p:sp>
          <p:nvSpPr>
            <p:cNvPr id="28" name="object 28"/>
            <p:cNvSpPr/>
            <p:nvPr/>
          </p:nvSpPr>
          <p:spPr>
            <a:xfrm>
              <a:off x="9966959" y="2011679"/>
              <a:ext cx="1417320" cy="960119"/>
            </a:xfrm>
            <a:custGeom>
              <a:avLst/>
              <a:gdLst/>
              <a:ahLst/>
              <a:cxnLst/>
              <a:rect l="l" t="t" r="r" b="b"/>
              <a:pathLst>
                <a:path w="1417320" h="960119">
                  <a:moveTo>
                    <a:pt x="1362240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905395"/>
                  </a:lnTo>
                  <a:lnTo>
                    <a:pt x="452" y="912248"/>
                  </a:lnTo>
                  <a:lnTo>
                    <a:pt x="466" y="912456"/>
                  </a:lnTo>
                  <a:lnTo>
                    <a:pt x="1798" y="919256"/>
                  </a:lnTo>
                  <a:lnTo>
                    <a:pt x="1843" y="919484"/>
                  </a:lnTo>
                  <a:lnTo>
                    <a:pt x="3994" y="925994"/>
                  </a:lnTo>
                  <a:lnTo>
                    <a:pt x="33757" y="956021"/>
                  </a:lnTo>
                  <a:lnTo>
                    <a:pt x="48071" y="959764"/>
                  </a:lnTo>
                  <a:lnTo>
                    <a:pt x="49219" y="959764"/>
                  </a:lnTo>
                  <a:lnTo>
                    <a:pt x="54724" y="960120"/>
                  </a:lnTo>
                  <a:lnTo>
                    <a:pt x="1362595" y="959764"/>
                  </a:lnTo>
                  <a:lnTo>
                    <a:pt x="1401256" y="943827"/>
                  </a:lnTo>
                  <a:lnTo>
                    <a:pt x="1415400" y="919484"/>
                  </a:lnTo>
                  <a:lnTo>
                    <a:pt x="1415476" y="919256"/>
                  </a:lnTo>
                  <a:lnTo>
                    <a:pt x="1416813" y="912456"/>
                  </a:lnTo>
                  <a:lnTo>
                    <a:pt x="1416853" y="912248"/>
                  </a:lnTo>
                  <a:lnTo>
                    <a:pt x="1417297" y="905395"/>
                  </a:lnTo>
                  <a:lnTo>
                    <a:pt x="1416964" y="54724"/>
                  </a:lnTo>
                  <a:lnTo>
                    <a:pt x="1401027" y="16063"/>
                  </a:lnTo>
                  <a:lnTo>
                    <a:pt x="1369448" y="466"/>
                  </a:lnTo>
                  <a:lnTo>
                    <a:pt x="1362240" y="0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966959" y="2011679"/>
              <a:ext cx="1417320" cy="960119"/>
            </a:xfrm>
            <a:custGeom>
              <a:avLst/>
              <a:gdLst/>
              <a:ahLst/>
              <a:cxnLst/>
              <a:rect l="l" t="t" r="r" b="b"/>
              <a:pathLst>
                <a:path w="1417320" h="960119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362240" y="0"/>
                  </a:lnTo>
                  <a:lnTo>
                    <a:pt x="1401027" y="16063"/>
                  </a:lnTo>
                  <a:lnTo>
                    <a:pt x="1416964" y="54724"/>
                  </a:lnTo>
                  <a:lnTo>
                    <a:pt x="1417320" y="905040"/>
                  </a:lnTo>
                  <a:lnTo>
                    <a:pt x="1416853" y="912248"/>
                  </a:lnTo>
                  <a:lnTo>
                    <a:pt x="1415476" y="919256"/>
                  </a:lnTo>
                  <a:lnTo>
                    <a:pt x="1389964" y="952563"/>
                  </a:lnTo>
                  <a:lnTo>
                    <a:pt x="54724" y="960120"/>
                  </a:lnTo>
                  <a:lnTo>
                    <a:pt x="15925" y="944056"/>
                  </a:lnTo>
                  <a:lnTo>
                    <a:pt x="0" y="905395"/>
                  </a:lnTo>
                  <a:lnTo>
                    <a:pt x="0" y="54724"/>
                  </a:lnTo>
                  <a:close/>
                </a:path>
              </a:pathLst>
            </a:custGeom>
            <a:ln w="10079">
              <a:solidFill>
                <a:srgbClr val="EECA9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0361053" y="2319388"/>
            <a:ext cx="629285" cy="344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699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C46900"/>
                </a:solidFill>
                <a:latin typeface="Arial"/>
                <a:cs typeface="Arial"/>
              </a:rPr>
              <a:t>Key</a:t>
            </a:r>
            <a:r>
              <a:rPr dirty="0" sz="1050" spc="-4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1050" spc="-25" b="1">
                <a:solidFill>
                  <a:srgbClr val="C46900"/>
                </a:solidFill>
                <a:latin typeface="Arial"/>
                <a:cs typeface="Arial"/>
              </a:rPr>
              <a:t>use </a:t>
            </a:r>
            <a:r>
              <a:rPr dirty="0" sz="1050" spc="-10" b="1">
                <a:solidFill>
                  <a:srgbClr val="C46900"/>
                </a:solidFill>
                <a:latin typeface="Arial"/>
                <a:cs typeface="Arial"/>
              </a:rPr>
              <a:t>permitted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89380" y="3697020"/>
            <a:ext cx="3120390" cy="1247140"/>
            <a:chOff x="889380" y="3697020"/>
            <a:chExt cx="3120390" cy="1247140"/>
          </a:xfrm>
        </p:grpSpPr>
        <p:sp>
          <p:nvSpPr>
            <p:cNvPr id="32" name="object 32"/>
            <p:cNvSpPr/>
            <p:nvPr/>
          </p:nvSpPr>
          <p:spPr>
            <a:xfrm>
              <a:off x="895680" y="3703319"/>
              <a:ext cx="3108960" cy="1234440"/>
            </a:xfrm>
            <a:custGeom>
              <a:avLst/>
              <a:gdLst/>
              <a:ahLst/>
              <a:cxnLst/>
              <a:rect l="l" t="t" r="r" b="b"/>
              <a:pathLst>
                <a:path w="3108960" h="1234439">
                  <a:moveTo>
                    <a:pt x="303551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39"/>
                  </a:lnTo>
                  <a:lnTo>
                    <a:pt x="3035884" y="1234084"/>
                  </a:lnTo>
                  <a:lnTo>
                    <a:pt x="3080254" y="1218980"/>
                  </a:lnTo>
                  <a:lnTo>
                    <a:pt x="3103418" y="1189255"/>
                  </a:lnTo>
                  <a:lnTo>
                    <a:pt x="3103495" y="1189099"/>
                  </a:lnTo>
                  <a:lnTo>
                    <a:pt x="3106471" y="1180215"/>
                  </a:lnTo>
                  <a:lnTo>
                    <a:pt x="3106531" y="1180036"/>
                  </a:lnTo>
                  <a:lnTo>
                    <a:pt x="3108312" y="1170840"/>
                  </a:lnTo>
                  <a:lnTo>
                    <a:pt x="3108352" y="1170635"/>
                  </a:lnTo>
                  <a:lnTo>
                    <a:pt x="3108936" y="1161364"/>
                  </a:lnTo>
                  <a:lnTo>
                    <a:pt x="3108960" y="1160995"/>
                  </a:lnTo>
                  <a:lnTo>
                    <a:pt x="3108604" y="73075"/>
                  </a:lnTo>
                  <a:lnTo>
                    <a:pt x="3093500" y="28705"/>
                  </a:lnTo>
                  <a:lnTo>
                    <a:pt x="3054556" y="2428"/>
                  </a:lnTo>
                  <a:lnTo>
                    <a:pt x="3045155" y="607"/>
                  </a:lnTo>
                  <a:lnTo>
                    <a:pt x="3035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95680" y="3703319"/>
              <a:ext cx="3108960" cy="1234440"/>
            </a:xfrm>
            <a:custGeom>
              <a:avLst/>
              <a:gdLst/>
              <a:ahLst/>
              <a:cxnLst/>
              <a:rect l="l" t="t" r="r" b="b"/>
              <a:pathLst>
                <a:path w="3108960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035515" y="0"/>
                  </a:lnTo>
                  <a:lnTo>
                    <a:pt x="3080048" y="15104"/>
                  </a:lnTo>
                  <a:lnTo>
                    <a:pt x="3106173" y="54224"/>
                  </a:lnTo>
                  <a:lnTo>
                    <a:pt x="3108604" y="73075"/>
                  </a:lnTo>
                  <a:lnTo>
                    <a:pt x="3108960" y="1160995"/>
                  </a:lnTo>
                  <a:lnTo>
                    <a:pt x="3108352" y="1170635"/>
                  </a:lnTo>
                  <a:lnTo>
                    <a:pt x="3106531" y="1180036"/>
                  </a:lnTo>
                  <a:lnTo>
                    <a:pt x="3080254" y="1218980"/>
                  </a:lnTo>
                  <a:lnTo>
                    <a:pt x="3035884" y="1234084"/>
                  </a:lnTo>
                  <a:lnTo>
                    <a:pt x="73075" y="1234439"/>
                  </a:lnTo>
                  <a:lnTo>
                    <a:pt x="28555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95680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95680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084580" y="3887190"/>
            <a:ext cx="62166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Identity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84224" y="419030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36497" y="4211904"/>
            <a:ext cx="2212340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uses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managed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identity;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avoid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embedded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credentials.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28616" y="3697020"/>
            <a:ext cx="3120390" cy="1247140"/>
            <a:chOff x="4528616" y="3697020"/>
            <a:chExt cx="3120390" cy="1247140"/>
          </a:xfrm>
        </p:grpSpPr>
        <p:sp>
          <p:nvSpPr>
            <p:cNvPr id="40" name="object 40"/>
            <p:cNvSpPr/>
            <p:nvPr/>
          </p:nvSpPr>
          <p:spPr>
            <a:xfrm>
              <a:off x="4534916" y="3703319"/>
              <a:ext cx="3108960" cy="1234440"/>
            </a:xfrm>
            <a:custGeom>
              <a:avLst/>
              <a:gdLst/>
              <a:ahLst/>
              <a:cxnLst/>
              <a:rect l="l" t="t" r="r" b="b"/>
              <a:pathLst>
                <a:path w="3108959" h="1234439">
                  <a:moveTo>
                    <a:pt x="30355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5" y="1180036"/>
                  </a:lnTo>
                  <a:lnTo>
                    <a:pt x="2430" y="1180215"/>
                  </a:lnTo>
                  <a:lnTo>
                    <a:pt x="5417" y="1189099"/>
                  </a:lnTo>
                  <a:lnTo>
                    <a:pt x="5470" y="1189255"/>
                  </a:lnTo>
                  <a:lnTo>
                    <a:pt x="9728" y="1197724"/>
                  </a:lnTo>
                  <a:lnTo>
                    <a:pt x="44984" y="1228975"/>
                  </a:lnTo>
                  <a:lnTo>
                    <a:pt x="73088" y="1234439"/>
                  </a:lnTo>
                  <a:lnTo>
                    <a:pt x="3035884" y="1234084"/>
                  </a:lnTo>
                  <a:lnTo>
                    <a:pt x="3080261" y="1218980"/>
                  </a:lnTo>
                  <a:lnTo>
                    <a:pt x="3106471" y="1180215"/>
                  </a:lnTo>
                  <a:lnTo>
                    <a:pt x="3106531" y="1180036"/>
                  </a:lnTo>
                  <a:lnTo>
                    <a:pt x="3108312" y="1170840"/>
                  </a:lnTo>
                  <a:lnTo>
                    <a:pt x="3108352" y="1170635"/>
                  </a:lnTo>
                  <a:lnTo>
                    <a:pt x="3108936" y="1161364"/>
                  </a:lnTo>
                  <a:lnTo>
                    <a:pt x="3108960" y="1160995"/>
                  </a:lnTo>
                  <a:lnTo>
                    <a:pt x="3108604" y="73075"/>
                  </a:lnTo>
                  <a:lnTo>
                    <a:pt x="3093505" y="28705"/>
                  </a:lnTo>
                  <a:lnTo>
                    <a:pt x="3054557" y="2428"/>
                  </a:lnTo>
                  <a:lnTo>
                    <a:pt x="3045160" y="607"/>
                  </a:lnTo>
                  <a:lnTo>
                    <a:pt x="303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34916" y="3703319"/>
              <a:ext cx="3108960" cy="1234440"/>
            </a:xfrm>
            <a:custGeom>
              <a:avLst/>
              <a:gdLst/>
              <a:ahLst/>
              <a:cxnLst/>
              <a:rect l="l" t="t" r="r" b="b"/>
              <a:pathLst>
                <a:path w="3108959" h="12344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035528" y="0"/>
                  </a:lnTo>
                  <a:lnTo>
                    <a:pt x="3080049" y="15104"/>
                  </a:lnTo>
                  <a:lnTo>
                    <a:pt x="3106175" y="54224"/>
                  </a:lnTo>
                  <a:lnTo>
                    <a:pt x="3108604" y="73075"/>
                  </a:lnTo>
                  <a:lnTo>
                    <a:pt x="3108960" y="1160995"/>
                  </a:lnTo>
                  <a:lnTo>
                    <a:pt x="3108352" y="1170635"/>
                  </a:lnTo>
                  <a:lnTo>
                    <a:pt x="3106531" y="1180036"/>
                  </a:lnTo>
                  <a:lnTo>
                    <a:pt x="3080261" y="1218980"/>
                  </a:lnTo>
                  <a:lnTo>
                    <a:pt x="3035884" y="1234084"/>
                  </a:lnTo>
                  <a:lnTo>
                    <a:pt x="73088" y="1234439"/>
                  </a:lnTo>
                  <a:lnTo>
                    <a:pt x="28555" y="1219335"/>
                  </a:lnTo>
                  <a:lnTo>
                    <a:pt x="2430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534916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28" y="12340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534916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4723815" y="3887190"/>
            <a:ext cx="92900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Permission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23460" y="419030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75745" y="4211904"/>
            <a:ext cx="2159635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Grant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required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Vault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crypto permission/role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at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correct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scope.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149856" y="3697020"/>
            <a:ext cx="3120390" cy="1247140"/>
            <a:chOff x="8149856" y="3697020"/>
            <a:chExt cx="3120390" cy="1247140"/>
          </a:xfrm>
        </p:grpSpPr>
        <p:sp>
          <p:nvSpPr>
            <p:cNvPr id="48" name="object 48"/>
            <p:cNvSpPr/>
            <p:nvPr/>
          </p:nvSpPr>
          <p:spPr>
            <a:xfrm>
              <a:off x="8156155" y="3703319"/>
              <a:ext cx="3108960" cy="1234440"/>
            </a:xfrm>
            <a:custGeom>
              <a:avLst/>
              <a:gdLst/>
              <a:ahLst/>
              <a:cxnLst/>
              <a:rect l="l" t="t" r="r" b="b"/>
              <a:pathLst>
                <a:path w="3108959" h="1234439">
                  <a:moveTo>
                    <a:pt x="30355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5" y="1180036"/>
                  </a:lnTo>
                  <a:lnTo>
                    <a:pt x="2430" y="1180215"/>
                  </a:lnTo>
                  <a:lnTo>
                    <a:pt x="5417" y="1189099"/>
                  </a:lnTo>
                  <a:lnTo>
                    <a:pt x="5470" y="1189255"/>
                  </a:lnTo>
                  <a:lnTo>
                    <a:pt x="9728" y="1197724"/>
                  </a:lnTo>
                  <a:lnTo>
                    <a:pt x="44984" y="1228975"/>
                  </a:lnTo>
                  <a:lnTo>
                    <a:pt x="73088" y="1234439"/>
                  </a:lnTo>
                  <a:lnTo>
                    <a:pt x="3035884" y="1234084"/>
                  </a:lnTo>
                  <a:lnTo>
                    <a:pt x="3080261" y="1218980"/>
                  </a:lnTo>
                  <a:lnTo>
                    <a:pt x="3106471" y="1180215"/>
                  </a:lnTo>
                  <a:lnTo>
                    <a:pt x="3106531" y="1180036"/>
                  </a:lnTo>
                  <a:lnTo>
                    <a:pt x="3108312" y="1170840"/>
                  </a:lnTo>
                  <a:lnTo>
                    <a:pt x="3108352" y="1170635"/>
                  </a:lnTo>
                  <a:lnTo>
                    <a:pt x="3108936" y="1161364"/>
                  </a:lnTo>
                  <a:lnTo>
                    <a:pt x="3108960" y="1160995"/>
                  </a:lnTo>
                  <a:lnTo>
                    <a:pt x="3108604" y="73075"/>
                  </a:lnTo>
                  <a:lnTo>
                    <a:pt x="3093505" y="28705"/>
                  </a:lnTo>
                  <a:lnTo>
                    <a:pt x="3054557" y="2428"/>
                  </a:lnTo>
                  <a:lnTo>
                    <a:pt x="3045160" y="607"/>
                  </a:lnTo>
                  <a:lnTo>
                    <a:pt x="303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156155" y="3703319"/>
              <a:ext cx="3108960" cy="1234440"/>
            </a:xfrm>
            <a:custGeom>
              <a:avLst/>
              <a:gdLst/>
              <a:ahLst/>
              <a:cxnLst/>
              <a:rect l="l" t="t" r="r" b="b"/>
              <a:pathLst>
                <a:path w="3108959" h="12344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035528" y="0"/>
                  </a:lnTo>
                  <a:lnTo>
                    <a:pt x="3080049" y="15104"/>
                  </a:lnTo>
                  <a:lnTo>
                    <a:pt x="3106175" y="54224"/>
                  </a:lnTo>
                  <a:lnTo>
                    <a:pt x="3108604" y="73075"/>
                  </a:lnTo>
                  <a:lnTo>
                    <a:pt x="3108960" y="1160995"/>
                  </a:lnTo>
                  <a:lnTo>
                    <a:pt x="3108352" y="1170635"/>
                  </a:lnTo>
                  <a:lnTo>
                    <a:pt x="3106531" y="1180036"/>
                  </a:lnTo>
                  <a:lnTo>
                    <a:pt x="3080261" y="1218980"/>
                  </a:lnTo>
                  <a:lnTo>
                    <a:pt x="3035884" y="1234084"/>
                  </a:lnTo>
                  <a:lnTo>
                    <a:pt x="73088" y="1234439"/>
                  </a:lnTo>
                  <a:lnTo>
                    <a:pt x="28555" y="1219335"/>
                  </a:lnTo>
                  <a:lnTo>
                    <a:pt x="2430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156155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28" y="12340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156155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8345055" y="3887190"/>
            <a:ext cx="90424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Availability</a:t>
            </a:r>
            <a:endParaRPr sz="13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44699" y="419030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96986" y="4211904"/>
            <a:ext cx="2555240" cy="5022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If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cannot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its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key,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operations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affected.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Protect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monitor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key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access.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56" name="object 5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572300" y="6000381"/>
            <a:ext cx="787336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Microsoft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recommends</a:t>
            </a:r>
            <a:r>
              <a:rPr dirty="0" sz="10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RBAC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Vault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authorization;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role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names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setup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depend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on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vault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identity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model.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6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Configure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customer-managed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keys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for</a:t>
            </a:r>
            <a:r>
              <a:rPr dirty="0" sz="700" spc="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Azure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Storage.</a:t>
            </a:r>
            <a:endParaRPr sz="700">
              <a:latin typeface="Arial"/>
              <a:cs typeface="Arial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24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74371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4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Metrics</a:t>
            </a:r>
            <a:r>
              <a:rPr dirty="0" spc="-45"/>
              <a:t> </a:t>
            </a:r>
            <a:r>
              <a:rPr dirty="0"/>
              <a:t>answer</a:t>
            </a:r>
            <a:r>
              <a:rPr dirty="0" spc="-45"/>
              <a:t> </a:t>
            </a:r>
            <a:r>
              <a:rPr dirty="0"/>
              <a:t>“how</a:t>
            </a:r>
            <a:r>
              <a:rPr dirty="0" spc="-40"/>
              <a:t> </a:t>
            </a:r>
            <a:r>
              <a:rPr dirty="0"/>
              <a:t>much?”</a:t>
            </a:r>
            <a:r>
              <a:rPr dirty="0" spc="-45"/>
              <a:t> </a:t>
            </a:r>
            <a:r>
              <a:rPr dirty="0"/>
              <a:t>Logs</a:t>
            </a:r>
            <a:r>
              <a:rPr dirty="0" spc="-40"/>
              <a:t> </a:t>
            </a:r>
            <a:r>
              <a:rPr dirty="0"/>
              <a:t>answer</a:t>
            </a:r>
            <a:r>
              <a:rPr dirty="0" spc="-45"/>
              <a:t> </a:t>
            </a:r>
            <a:r>
              <a:rPr dirty="0"/>
              <a:t>“what</a:t>
            </a:r>
            <a:r>
              <a:rPr dirty="0" spc="-45"/>
              <a:t> </a:t>
            </a:r>
            <a:r>
              <a:rPr dirty="0" spc="-10"/>
              <a:t>happened?”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9142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Good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incident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response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combines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fast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numeric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signals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with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contextual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evidence.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6304" y="1684984"/>
            <a:ext cx="3258185" cy="3030220"/>
            <a:chOff x="816304" y="1684984"/>
            <a:chExt cx="3258185" cy="3030220"/>
          </a:xfrm>
        </p:grpSpPr>
        <p:sp>
          <p:nvSpPr>
            <p:cNvPr id="7" name="object 7"/>
            <p:cNvSpPr/>
            <p:nvPr/>
          </p:nvSpPr>
          <p:spPr>
            <a:xfrm>
              <a:off x="822960" y="1691284"/>
              <a:ext cx="3246120" cy="3017520"/>
            </a:xfrm>
            <a:custGeom>
              <a:avLst/>
              <a:gdLst/>
              <a:ahLst/>
              <a:cxnLst/>
              <a:rect l="l" t="t" r="r" b="b"/>
              <a:pathLst>
                <a:path w="3246120" h="3017520">
                  <a:moveTo>
                    <a:pt x="3172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944431"/>
                  </a:lnTo>
                  <a:lnTo>
                    <a:pt x="594" y="2953709"/>
                  </a:lnTo>
                  <a:lnTo>
                    <a:pt x="607" y="2953909"/>
                  </a:lnTo>
                  <a:lnTo>
                    <a:pt x="21423" y="2996049"/>
                  </a:lnTo>
                  <a:lnTo>
                    <a:pt x="63443" y="3016912"/>
                  </a:lnTo>
                  <a:lnTo>
                    <a:pt x="73075" y="3017519"/>
                  </a:lnTo>
                  <a:lnTo>
                    <a:pt x="3173044" y="3017151"/>
                  </a:lnTo>
                  <a:lnTo>
                    <a:pt x="3217414" y="3002060"/>
                  </a:lnTo>
                  <a:lnTo>
                    <a:pt x="3243631" y="2963287"/>
                  </a:lnTo>
                  <a:lnTo>
                    <a:pt x="3243691" y="2963110"/>
                  </a:lnTo>
                  <a:lnTo>
                    <a:pt x="3245474" y="2953909"/>
                  </a:lnTo>
                  <a:lnTo>
                    <a:pt x="3245512" y="2953709"/>
                  </a:lnTo>
                  <a:lnTo>
                    <a:pt x="3246097" y="2944431"/>
                  </a:lnTo>
                  <a:lnTo>
                    <a:pt x="3246119" y="2944075"/>
                  </a:lnTo>
                  <a:lnTo>
                    <a:pt x="3245764" y="73075"/>
                  </a:lnTo>
                  <a:lnTo>
                    <a:pt x="3230660" y="28698"/>
                  </a:lnTo>
                  <a:lnTo>
                    <a:pt x="3191716" y="2428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1691284"/>
              <a:ext cx="3246120" cy="3017520"/>
            </a:xfrm>
            <a:custGeom>
              <a:avLst/>
              <a:gdLst/>
              <a:ahLst/>
              <a:cxnLst/>
              <a:rect l="l" t="t" r="r" b="b"/>
              <a:pathLst>
                <a:path w="3246120" h="3017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8" y="15096"/>
                  </a:lnTo>
                  <a:lnTo>
                    <a:pt x="3243333" y="54219"/>
                  </a:lnTo>
                  <a:lnTo>
                    <a:pt x="3245764" y="73075"/>
                  </a:lnTo>
                  <a:lnTo>
                    <a:pt x="3246119" y="2944075"/>
                  </a:lnTo>
                  <a:lnTo>
                    <a:pt x="3245512" y="2953709"/>
                  </a:lnTo>
                  <a:lnTo>
                    <a:pt x="3243691" y="2963110"/>
                  </a:lnTo>
                  <a:lnTo>
                    <a:pt x="3217414" y="3002060"/>
                  </a:lnTo>
                  <a:lnTo>
                    <a:pt x="3173044" y="3017151"/>
                  </a:lnTo>
                  <a:lnTo>
                    <a:pt x="73075" y="3017519"/>
                  </a:lnTo>
                  <a:lnTo>
                    <a:pt x="28555" y="3002410"/>
                  </a:lnTo>
                  <a:lnTo>
                    <a:pt x="2428" y="2963287"/>
                  </a:lnTo>
                  <a:lnTo>
                    <a:pt x="0" y="294443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22604" y="1691284"/>
              <a:ext cx="64135" cy="3017520"/>
            </a:xfrm>
            <a:custGeom>
              <a:avLst/>
              <a:gdLst/>
              <a:ahLst/>
              <a:cxnLst/>
              <a:rect l="l" t="t" r="r" b="b"/>
              <a:pathLst>
                <a:path w="64134" h="3017520">
                  <a:moveTo>
                    <a:pt x="63715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32029" y="3017151"/>
                  </a:lnTo>
                  <a:lnTo>
                    <a:pt x="63715" y="301715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22604" y="1691284"/>
              <a:ext cx="64135" cy="3017520"/>
            </a:xfrm>
            <a:custGeom>
              <a:avLst/>
              <a:gdLst/>
              <a:ahLst/>
              <a:cxnLst/>
              <a:rect l="l" t="t" r="r" b="b"/>
              <a:pathLst>
                <a:path w="64134" h="3017520">
                  <a:moveTo>
                    <a:pt x="32029" y="3017151"/>
                  </a:moveTo>
                  <a:lnTo>
                    <a:pt x="0" y="301715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17151"/>
                  </a:lnTo>
                  <a:lnTo>
                    <a:pt x="32029" y="3017151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11135" y="1854263"/>
            <a:ext cx="735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Metrics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1504" y="217573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3777" y="2200211"/>
            <a:ext cx="25361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Examples: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Percentage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CPU,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network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bytes,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operations.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1504" y="272437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3777" y="2748851"/>
            <a:ext cx="25615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Best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for: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trend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lines,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threshold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checks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quick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alerting.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55096" y="1684984"/>
            <a:ext cx="3258185" cy="3030220"/>
            <a:chOff x="4355096" y="1684984"/>
            <a:chExt cx="3258185" cy="3030220"/>
          </a:xfrm>
        </p:grpSpPr>
        <p:sp>
          <p:nvSpPr>
            <p:cNvPr id="17" name="object 17"/>
            <p:cNvSpPr/>
            <p:nvPr/>
          </p:nvSpPr>
          <p:spPr>
            <a:xfrm>
              <a:off x="4361764" y="1691284"/>
              <a:ext cx="3246120" cy="3017520"/>
            </a:xfrm>
            <a:custGeom>
              <a:avLst/>
              <a:gdLst/>
              <a:ahLst/>
              <a:cxnLst/>
              <a:rect l="l" t="t" r="r" b="b"/>
              <a:pathLst>
                <a:path w="3246120" h="3017520">
                  <a:moveTo>
                    <a:pt x="3172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944431"/>
                  </a:lnTo>
                  <a:lnTo>
                    <a:pt x="5412" y="2972172"/>
                  </a:lnTo>
                  <a:lnTo>
                    <a:pt x="5464" y="2972327"/>
                  </a:lnTo>
                  <a:lnTo>
                    <a:pt x="36360" y="3007791"/>
                  </a:lnTo>
                  <a:lnTo>
                    <a:pt x="73075" y="3017519"/>
                  </a:lnTo>
                  <a:lnTo>
                    <a:pt x="3173031" y="3017151"/>
                  </a:lnTo>
                  <a:lnTo>
                    <a:pt x="3217409" y="3002060"/>
                  </a:lnTo>
                  <a:lnTo>
                    <a:pt x="3243629" y="2963287"/>
                  </a:lnTo>
                  <a:lnTo>
                    <a:pt x="3245473" y="2953909"/>
                  </a:lnTo>
                  <a:lnTo>
                    <a:pt x="3245512" y="2953709"/>
                  </a:lnTo>
                  <a:lnTo>
                    <a:pt x="3246097" y="2944431"/>
                  </a:lnTo>
                  <a:lnTo>
                    <a:pt x="3246120" y="2944075"/>
                  </a:lnTo>
                  <a:lnTo>
                    <a:pt x="3245751" y="73075"/>
                  </a:lnTo>
                  <a:lnTo>
                    <a:pt x="3230660" y="28698"/>
                  </a:lnTo>
                  <a:lnTo>
                    <a:pt x="3191710" y="2428"/>
                  </a:lnTo>
                  <a:lnTo>
                    <a:pt x="3182309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61764" y="1691284"/>
              <a:ext cx="3246120" cy="3017520"/>
            </a:xfrm>
            <a:custGeom>
              <a:avLst/>
              <a:gdLst/>
              <a:ahLst/>
              <a:cxnLst/>
              <a:rect l="l" t="t" r="r" b="b"/>
              <a:pathLst>
                <a:path w="3246120" h="301752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3" y="15096"/>
                  </a:lnTo>
                  <a:lnTo>
                    <a:pt x="3243322" y="54219"/>
                  </a:lnTo>
                  <a:lnTo>
                    <a:pt x="3245751" y="73075"/>
                  </a:lnTo>
                  <a:lnTo>
                    <a:pt x="3246120" y="2944075"/>
                  </a:lnTo>
                  <a:lnTo>
                    <a:pt x="3245512" y="2953709"/>
                  </a:lnTo>
                  <a:lnTo>
                    <a:pt x="3243689" y="2963110"/>
                  </a:lnTo>
                  <a:lnTo>
                    <a:pt x="3217409" y="3002060"/>
                  </a:lnTo>
                  <a:lnTo>
                    <a:pt x="3173031" y="3017151"/>
                  </a:lnTo>
                  <a:lnTo>
                    <a:pt x="73075" y="3017519"/>
                  </a:lnTo>
                  <a:lnTo>
                    <a:pt x="28548" y="3002410"/>
                  </a:lnTo>
                  <a:lnTo>
                    <a:pt x="2428" y="2963287"/>
                  </a:lnTo>
                  <a:lnTo>
                    <a:pt x="0" y="294443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61396" y="1691284"/>
              <a:ext cx="64135" cy="3017520"/>
            </a:xfrm>
            <a:custGeom>
              <a:avLst/>
              <a:gdLst/>
              <a:ahLst/>
              <a:cxnLst/>
              <a:rect l="l" t="t" r="r" b="b"/>
              <a:pathLst>
                <a:path w="64135" h="3017520">
                  <a:moveTo>
                    <a:pt x="63728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32042" y="3017151"/>
                  </a:lnTo>
                  <a:lnTo>
                    <a:pt x="63728" y="3017151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61396" y="1691284"/>
              <a:ext cx="64135" cy="3017520"/>
            </a:xfrm>
            <a:custGeom>
              <a:avLst/>
              <a:gdLst/>
              <a:ahLst/>
              <a:cxnLst/>
              <a:rect l="l" t="t" r="r" b="b"/>
              <a:pathLst>
                <a:path w="64135" h="3017520">
                  <a:moveTo>
                    <a:pt x="32042" y="3017151"/>
                  </a:moveTo>
                  <a:lnTo>
                    <a:pt x="0" y="3017151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3017151"/>
                  </a:lnTo>
                  <a:lnTo>
                    <a:pt x="32042" y="3017151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549940" y="1854263"/>
            <a:ext cx="509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10243F"/>
                </a:solidFill>
                <a:latin typeface="Arial"/>
                <a:cs typeface="Arial"/>
              </a:rPr>
              <a:t>Logs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50295" y="217573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2581" y="2200211"/>
            <a:ext cx="2747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Examples: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activity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records,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syslog,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application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errors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diagnostic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events.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50295" y="2724378"/>
            <a:ext cx="8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02581" y="2748851"/>
            <a:ext cx="2578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Best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for: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root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cause,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event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sequences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query-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based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investigation.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84540" y="1684984"/>
            <a:ext cx="3441065" cy="3030220"/>
            <a:chOff x="7884540" y="1684984"/>
            <a:chExt cx="3441065" cy="3030220"/>
          </a:xfrm>
        </p:grpSpPr>
        <p:sp>
          <p:nvSpPr>
            <p:cNvPr id="27" name="object 27"/>
            <p:cNvSpPr/>
            <p:nvPr/>
          </p:nvSpPr>
          <p:spPr>
            <a:xfrm>
              <a:off x="7891195" y="1691284"/>
              <a:ext cx="3429000" cy="3017520"/>
            </a:xfrm>
            <a:custGeom>
              <a:avLst/>
              <a:gdLst/>
              <a:ahLst/>
              <a:cxnLst/>
              <a:rect l="l" t="t" r="r" b="b"/>
              <a:pathLst>
                <a:path w="3429000" h="3017520">
                  <a:moveTo>
                    <a:pt x="335556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944431"/>
                  </a:lnTo>
                  <a:lnTo>
                    <a:pt x="594" y="2953709"/>
                  </a:lnTo>
                  <a:lnTo>
                    <a:pt x="607" y="2953909"/>
                  </a:lnTo>
                  <a:lnTo>
                    <a:pt x="2395" y="2963110"/>
                  </a:lnTo>
                  <a:lnTo>
                    <a:pt x="2430" y="2963287"/>
                  </a:lnTo>
                  <a:lnTo>
                    <a:pt x="5418" y="2972172"/>
                  </a:lnTo>
                  <a:lnTo>
                    <a:pt x="36360" y="3007791"/>
                  </a:lnTo>
                  <a:lnTo>
                    <a:pt x="73088" y="3017519"/>
                  </a:lnTo>
                  <a:lnTo>
                    <a:pt x="3355924" y="3017151"/>
                  </a:lnTo>
                  <a:lnTo>
                    <a:pt x="3400301" y="3002060"/>
                  </a:lnTo>
                  <a:lnTo>
                    <a:pt x="3426511" y="2963287"/>
                  </a:lnTo>
                  <a:lnTo>
                    <a:pt x="3428977" y="2944431"/>
                  </a:lnTo>
                  <a:lnTo>
                    <a:pt x="3429000" y="2944075"/>
                  </a:lnTo>
                  <a:lnTo>
                    <a:pt x="3428644" y="73075"/>
                  </a:lnTo>
                  <a:lnTo>
                    <a:pt x="3413545" y="28698"/>
                  </a:lnTo>
                  <a:lnTo>
                    <a:pt x="3374597" y="2428"/>
                  </a:lnTo>
                  <a:lnTo>
                    <a:pt x="3365200" y="607"/>
                  </a:lnTo>
                  <a:lnTo>
                    <a:pt x="3355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891195" y="1691284"/>
              <a:ext cx="3429000" cy="3017520"/>
            </a:xfrm>
            <a:custGeom>
              <a:avLst/>
              <a:gdLst/>
              <a:ahLst/>
              <a:cxnLst/>
              <a:rect l="l" t="t" r="r" b="b"/>
              <a:pathLst>
                <a:path w="3429000" h="301752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3355568" y="0"/>
                  </a:lnTo>
                  <a:lnTo>
                    <a:pt x="3400089" y="15096"/>
                  </a:lnTo>
                  <a:lnTo>
                    <a:pt x="3426215" y="54219"/>
                  </a:lnTo>
                  <a:lnTo>
                    <a:pt x="3428644" y="73075"/>
                  </a:lnTo>
                  <a:lnTo>
                    <a:pt x="3429000" y="2944075"/>
                  </a:lnTo>
                  <a:lnTo>
                    <a:pt x="3428392" y="2953709"/>
                  </a:lnTo>
                  <a:lnTo>
                    <a:pt x="3426571" y="2963110"/>
                  </a:lnTo>
                  <a:lnTo>
                    <a:pt x="3400301" y="3002060"/>
                  </a:lnTo>
                  <a:lnTo>
                    <a:pt x="3355924" y="3017151"/>
                  </a:lnTo>
                  <a:lnTo>
                    <a:pt x="73088" y="3017519"/>
                  </a:lnTo>
                  <a:lnTo>
                    <a:pt x="28555" y="3002410"/>
                  </a:lnTo>
                  <a:lnTo>
                    <a:pt x="2430" y="2963287"/>
                  </a:lnTo>
                  <a:lnTo>
                    <a:pt x="0" y="294443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90840" y="1691284"/>
              <a:ext cx="64135" cy="3017520"/>
            </a:xfrm>
            <a:custGeom>
              <a:avLst/>
              <a:gdLst/>
              <a:ahLst/>
              <a:cxnLst/>
              <a:rect l="l" t="t" r="r" b="b"/>
              <a:pathLst>
                <a:path w="64134" h="3017520">
                  <a:moveTo>
                    <a:pt x="63715" y="0"/>
                  </a:moveTo>
                  <a:lnTo>
                    <a:pt x="0" y="0"/>
                  </a:lnTo>
                  <a:lnTo>
                    <a:pt x="0" y="3017151"/>
                  </a:lnTo>
                  <a:lnTo>
                    <a:pt x="32042" y="3017151"/>
                  </a:lnTo>
                  <a:lnTo>
                    <a:pt x="63715" y="301715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890840" y="1691284"/>
              <a:ext cx="64135" cy="3017520"/>
            </a:xfrm>
            <a:custGeom>
              <a:avLst/>
              <a:gdLst/>
              <a:ahLst/>
              <a:cxnLst/>
              <a:rect l="l" t="t" r="r" b="b"/>
              <a:pathLst>
                <a:path w="64134" h="3017520">
                  <a:moveTo>
                    <a:pt x="32042" y="3017151"/>
                  </a:moveTo>
                  <a:lnTo>
                    <a:pt x="0" y="301715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017151"/>
                  </a:lnTo>
                  <a:lnTo>
                    <a:pt x="32042" y="301715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079384" y="1854263"/>
            <a:ext cx="1556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Guest</a:t>
            </a:r>
            <a:r>
              <a:rPr dirty="0" sz="160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telemetry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79740" y="2175382"/>
            <a:ext cx="78740" cy="20510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32025" y="2199855"/>
            <a:ext cx="2894965" cy="74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CPU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platform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metrics</a:t>
            </a:r>
            <a:r>
              <a:rPr dirty="0" sz="11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often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exist</a:t>
            </a:r>
            <a:r>
              <a:rPr dirty="0" sz="11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by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default.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Memory</a:t>
            </a:r>
            <a:r>
              <a:rPr dirty="0" sz="115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5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process-level</a:t>
            </a:r>
            <a:r>
              <a:rPr dirty="0" sz="11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details</a:t>
            </a:r>
            <a:r>
              <a:rPr dirty="0" sz="115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normally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require</a:t>
            </a:r>
            <a:r>
              <a:rPr dirty="0" sz="11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1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monitoring/agent</a:t>
            </a:r>
            <a:r>
              <a:rPr dirty="0" sz="1150" spc="5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configuration.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5" name="object 3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09904" y="6000381"/>
            <a:ext cx="53346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CPU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metric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alert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does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automatically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tell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you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which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process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consuming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memory.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2300" y="6318644"/>
            <a:ext cx="3102610" cy="1276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6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Azure</a:t>
            </a:r>
            <a:r>
              <a:rPr dirty="0" sz="700" spc="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Monitor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overview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metrics/logs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comparison.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74371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4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dirty="0" spc="-25"/>
              <a:t> </a:t>
            </a:r>
            <a:r>
              <a:rPr dirty="0"/>
              <a:t>alert</a:t>
            </a:r>
            <a:r>
              <a:rPr dirty="0" spc="-20"/>
              <a:t> </a:t>
            </a:r>
            <a:r>
              <a:rPr dirty="0"/>
              <a:t>has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able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fire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reach</a:t>
            </a:r>
            <a:r>
              <a:rPr dirty="0" spc="-20"/>
              <a:t> </a:t>
            </a:r>
            <a:r>
              <a:rPr dirty="0" spc="-10"/>
              <a:t>someone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69785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rule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that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exists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but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wrong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scope,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threshold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or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action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group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unfinished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control.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43216" y="1602904"/>
            <a:ext cx="3505200" cy="1247140"/>
            <a:chOff x="743216" y="1602904"/>
            <a:chExt cx="3505200" cy="1247140"/>
          </a:xfrm>
        </p:grpSpPr>
        <p:sp>
          <p:nvSpPr>
            <p:cNvPr id="7" name="object 7"/>
            <p:cNvSpPr/>
            <p:nvPr/>
          </p:nvSpPr>
          <p:spPr>
            <a:xfrm>
              <a:off x="749884" y="1609204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5" h="1234439">
                  <a:moveTo>
                    <a:pt x="34196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61351"/>
                  </a:lnTo>
                  <a:lnTo>
                    <a:pt x="5412" y="1189092"/>
                  </a:lnTo>
                  <a:lnTo>
                    <a:pt x="5464" y="1189247"/>
                  </a:lnTo>
                  <a:lnTo>
                    <a:pt x="36360" y="1224711"/>
                  </a:lnTo>
                  <a:lnTo>
                    <a:pt x="73075" y="1234439"/>
                  </a:lnTo>
                  <a:lnTo>
                    <a:pt x="3419995" y="1234071"/>
                  </a:lnTo>
                  <a:lnTo>
                    <a:pt x="3464373" y="1218980"/>
                  </a:lnTo>
                  <a:lnTo>
                    <a:pt x="3487529" y="1189247"/>
                  </a:lnTo>
                  <a:lnTo>
                    <a:pt x="3487606" y="1189092"/>
                  </a:lnTo>
                  <a:lnTo>
                    <a:pt x="3490583" y="1180207"/>
                  </a:lnTo>
                  <a:lnTo>
                    <a:pt x="3490642" y="1180030"/>
                  </a:lnTo>
                  <a:lnTo>
                    <a:pt x="3492425" y="1170829"/>
                  </a:lnTo>
                  <a:lnTo>
                    <a:pt x="3492464" y="1170629"/>
                  </a:lnTo>
                  <a:lnTo>
                    <a:pt x="3493049" y="1161351"/>
                  </a:lnTo>
                  <a:lnTo>
                    <a:pt x="3493071" y="1160995"/>
                  </a:lnTo>
                  <a:lnTo>
                    <a:pt x="3492715" y="73075"/>
                  </a:lnTo>
                  <a:lnTo>
                    <a:pt x="3477617" y="28698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9884" y="1609204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5" h="12344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0" y="15096"/>
                  </a:lnTo>
                  <a:lnTo>
                    <a:pt x="3490287" y="54219"/>
                  </a:lnTo>
                  <a:lnTo>
                    <a:pt x="3492715" y="73075"/>
                  </a:lnTo>
                  <a:lnTo>
                    <a:pt x="3493071" y="1160995"/>
                  </a:lnTo>
                  <a:lnTo>
                    <a:pt x="3492464" y="1170629"/>
                  </a:lnTo>
                  <a:lnTo>
                    <a:pt x="3490642" y="1180030"/>
                  </a:lnTo>
                  <a:lnTo>
                    <a:pt x="3464373" y="1218980"/>
                  </a:lnTo>
                  <a:lnTo>
                    <a:pt x="3419995" y="1234071"/>
                  </a:lnTo>
                  <a:lnTo>
                    <a:pt x="73075" y="1234439"/>
                  </a:lnTo>
                  <a:lnTo>
                    <a:pt x="28548" y="1219330"/>
                  </a:lnTo>
                  <a:lnTo>
                    <a:pt x="2428" y="1180207"/>
                  </a:lnTo>
                  <a:lnTo>
                    <a:pt x="0" y="116135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9515" y="1609204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71"/>
                  </a:lnTo>
                  <a:lnTo>
                    <a:pt x="32042" y="1234071"/>
                  </a:lnTo>
                  <a:lnTo>
                    <a:pt x="63728" y="1234071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49515" y="1609204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71"/>
                  </a:moveTo>
                  <a:lnTo>
                    <a:pt x="0" y="1234071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71"/>
                  </a:lnTo>
                  <a:lnTo>
                    <a:pt x="32042" y="1234071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38060" y="1791614"/>
            <a:ext cx="53721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Scope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8415" y="20950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0701" y="2117051"/>
            <a:ext cx="142748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Which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resource?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56340" y="1602904"/>
            <a:ext cx="3505200" cy="1247140"/>
            <a:chOff x="4556340" y="1602904"/>
            <a:chExt cx="3505200" cy="1247140"/>
          </a:xfrm>
        </p:grpSpPr>
        <p:sp>
          <p:nvSpPr>
            <p:cNvPr id="15" name="object 15"/>
            <p:cNvSpPr/>
            <p:nvPr/>
          </p:nvSpPr>
          <p:spPr>
            <a:xfrm>
              <a:off x="4562995" y="1609204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61351"/>
                  </a:lnTo>
                  <a:lnTo>
                    <a:pt x="15103" y="1205729"/>
                  </a:lnTo>
                  <a:lnTo>
                    <a:pt x="54048" y="1232009"/>
                  </a:lnTo>
                  <a:lnTo>
                    <a:pt x="73088" y="1234439"/>
                  </a:lnTo>
                  <a:lnTo>
                    <a:pt x="3420008" y="1234071"/>
                  </a:lnTo>
                  <a:lnTo>
                    <a:pt x="3464378" y="1218980"/>
                  </a:lnTo>
                  <a:lnTo>
                    <a:pt x="3487542" y="1189247"/>
                  </a:lnTo>
                  <a:lnTo>
                    <a:pt x="3487619" y="1189092"/>
                  </a:lnTo>
                  <a:lnTo>
                    <a:pt x="3490595" y="1180207"/>
                  </a:lnTo>
                  <a:lnTo>
                    <a:pt x="3490655" y="1180030"/>
                  </a:lnTo>
                  <a:lnTo>
                    <a:pt x="3492438" y="1170829"/>
                  </a:lnTo>
                  <a:lnTo>
                    <a:pt x="3492476" y="1170629"/>
                  </a:lnTo>
                  <a:lnTo>
                    <a:pt x="3493061" y="1161351"/>
                  </a:lnTo>
                  <a:lnTo>
                    <a:pt x="3493084" y="1160995"/>
                  </a:lnTo>
                  <a:lnTo>
                    <a:pt x="3492728" y="73075"/>
                  </a:lnTo>
                  <a:lnTo>
                    <a:pt x="3477624" y="28698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62995" y="1609204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096"/>
                  </a:lnTo>
                  <a:lnTo>
                    <a:pt x="3490298" y="54219"/>
                  </a:lnTo>
                  <a:lnTo>
                    <a:pt x="3492728" y="73075"/>
                  </a:lnTo>
                  <a:lnTo>
                    <a:pt x="3493084" y="1160995"/>
                  </a:lnTo>
                  <a:lnTo>
                    <a:pt x="3492476" y="1170629"/>
                  </a:lnTo>
                  <a:lnTo>
                    <a:pt x="3490655" y="1180030"/>
                  </a:lnTo>
                  <a:lnTo>
                    <a:pt x="3464378" y="1218980"/>
                  </a:lnTo>
                  <a:lnTo>
                    <a:pt x="3420008" y="1234071"/>
                  </a:lnTo>
                  <a:lnTo>
                    <a:pt x="73088" y="1234439"/>
                  </a:lnTo>
                  <a:lnTo>
                    <a:pt x="28555" y="1219330"/>
                  </a:lnTo>
                  <a:lnTo>
                    <a:pt x="2430" y="1180207"/>
                  </a:lnTo>
                  <a:lnTo>
                    <a:pt x="0" y="116135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62640" y="1609204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71"/>
                  </a:lnTo>
                  <a:lnTo>
                    <a:pt x="32042" y="1234071"/>
                  </a:lnTo>
                  <a:lnTo>
                    <a:pt x="63715" y="123407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62640" y="1609204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42" y="1234071"/>
                  </a:moveTo>
                  <a:lnTo>
                    <a:pt x="0" y="123407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71"/>
                  </a:lnTo>
                  <a:lnTo>
                    <a:pt x="32042" y="1234071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50815" y="1791614"/>
            <a:ext cx="536575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Signal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51184" y="20950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03457" y="2117051"/>
            <a:ext cx="87503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Which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metric?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69096" y="1602904"/>
            <a:ext cx="3505200" cy="1247140"/>
            <a:chOff x="8369096" y="1602904"/>
            <a:chExt cx="3505200" cy="1247140"/>
          </a:xfrm>
        </p:grpSpPr>
        <p:sp>
          <p:nvSpPr>
            <p:cNvPr id="23" name="object 23"/>
            <p:cNvSpPr/>
            <p:nvPr/>
          </p:nvSpPr>
          <p:spPr>
            <a:xfrm>
              <a:off x="8375764" y="1609204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34196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161351"/>
                  </a:lnTo>
                  <a:lnTo>
                    <a:pt x="594" y="1170629"/>
                  </a:lnTo>
                  <a:lnTo>
                    <a:pt x="607" y="1170829"/>
                  </a:lnTo>
                  <a:lnTo>
                    <a:pt x="21413" y="1212969"/>
                  </a:lnTo>
                  <a:lnTo>
                    <a:pt x="63442" y="1233832"/>
                  </a:lnTo>
                  <a:lnTo>
                    <a:pt x="73075" y="1234439"/>
                  </a:lnTo>
                  <a:lnTo>
                    <a:pt x="3419995" y="1234071"/>
                  </a:lnTo>
                  <a:lnTo>
                    <a:pt x="3464373" y="1218980"/>
                  </a:lnTo>
                  <a:lnTo>
                    <a:pt x="3487529" y="1189247"/>
                  </a:lnTo>
                  <a:lnTo>
                    <a:pt x="3487606" y="1189092"/>
                  </a:lnTo>
                  <a:lnTo>
                    <a:pt x="3490583" y="1180207"/>
                  </a:lnTo>
                  <a:lnTo>
                    <a:pt x="3490642" y="1180030"/>
                  </a:lnTo>
                  <a:lnTo>
                    <a:pt x="3492425" y="1170829"/>
                  </a:lnTo>
                  <a:lnTo>
                    <a:pt x="3492464" y="1170629"/>
                  </a:lnTo>
                  <a:lnTo>
                    <a:pt x="3493049" y="1161351"/>
                  </a:lnTo>
                  <a:lnTo>
                    <a:pt x="3493071" y="1160995"/>
                  </a:lnTo>
                  <a:lnTo>
                    <a:pt x="3492715" y="73075"/>
                  </a:lnTo>
                  <a:lnTo>
                    <a:pt x="3477617" y="28698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75764" y="1609204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0" y="15096"/>
                  </a:lnTo>
                  <a:lnTo>
                    <a:pt x="3490287" y="54219"/>
                  </a:lnTo>
                  <a:lnTo>
                    <a:pt x="3492715" y="73075"/>
                  </a:lnTo>
                  <a:lnTo>
                    <a:pt x="3493071" y="1160995"/>
                  </a:lnTo>
                  <a:lnTo>
                    <a:pt x="3492464" y="1170629"/>
                  </a:lnTo>
                  <a:lnTo>
                    <a:pt x="3490642" y="1180030"/>
                  </a:lnTo>
                  <a:lnTo>
                    <a:pt x="3464373" y="1218980"/>
                  </a:lnTo>
                  <a:lnTo>
                    <a:pt x="3419995" y="1234071"/>
                  </a:lnTo>
                  <a:lnTo>
                    <a:pt x="73075" y="1234439"/>
                  </a:lnTo>
                  <a:lnTo>
                    <a:pt x="28548" y="1219330"/>
                  </a:lnTo>
                  <a:lnTo>
                    <a:pt x="2428" y="1180207"/>
                  </a:lnTo>
                  <a:lnTo>
                    <a:pt x="0" y="116135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375396" y="1609204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71"/>
                  </a:lnTo>
                  <a:lnTo>
                    <a:pt x="32042" y="1234071"/>
                  </a:lnTo>
                  <a:lnTo>
                    <a:pt x="63728" y="1234071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375396" y="1609204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71"/>
                  </a:moveTo>
                  <a:lnTo>
                    <a:pt x="0" y="1234071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71"/>
                  </a:lnTo>
                  <a:lnTo>
                    <a:pt x="32042" y="123407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563940" y="1791614"/>
            <a:ext cx="820419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Condition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295" y="2095093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16581" y="2117051"/>
            <a:ext cx="151765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value/aggregation?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3216" y="3102660"/>
            <a:ext cx="3505200" cy="1247140"/>
            <a:chOff x="743216" y="3102660"/>
            <a:chExt cx="3505200" cy="1247140"/>
          </a:xfrm>
        </p:grpSpPr>
        <p:sp>
          <p:nvSpPr>
            <p:cNvPr id="31" name="object 31"/>
            <p:cNvSpPr/>
            <p:nvPr/>
          </p:nvSpPr>
          <p:spPr>
            <a:xfrm>
              <a:off x="749884" y="3108959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5" h="1234439">
                  <a:moveTo>
                    <a:pt x="34196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39"/>
                  </a:lnTo>
                  <a:lnTo>
                    <a:pt x="3419995" y="1234084"/>
                  </a:lnTo>
                  <a:lnTo>
                    <a:pt x="3464373" y="1218980"/>
                  </a:lnTo>
                  <a:lnTo>
                    <a:pt x="3490582" y="1180215"/>
                  </a:lnTo>
                  <a:lnTo>
                    <a:pt x="3490642" y="1180036"/>
                  </a:lnTo>
                  <a:lnTo>
                    <a:pt x="3492424" y="1170840"/>
                  </a:lnTo>
                  <a:lnTo>
                    <a:pt x="3492464" y="1170635"/>
                  </a:lnTo>
                  <a:lnTo>
                    <a:pt x="3493048" y="1161364"/>
                  </a:lnTo>
                  <a:lnTo>
                    <a:pt x="3493071" y="1160995"/>
                  </a:lnTo>
                  <a:lnTo>
                    <a:pt x="3492715" y="73075"/>
                  </a:lnTo>
                  <a:lnTo>
                    <a:pt x="3477617" y="28705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9884" y="3108959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5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0" y="15104"/>
                  </a:lnTo>
                  <a:lnTo>
                    <a:pt x="3490287" y="54224"/>
                  </a:lnTo>
                  <a:lnTo>
                    <a:pt x="3492715" y="73075"/>
                  </a:lnTo>
                  <a:lnTo>
                    <a:pt x="3493071" y="1160995"/>
                  </a:lnTo>
                  <a:lnTo>
                    <a:pt x="3492464" y="1170635"/>
                  </a:lnTo>
                  <a:lnTo>
                    <a:pt x="3490642" y="1180036"/>
                  </a:lnTo>
                  <a:lnTo>
                    <a:pt x="3464373" y="1218980"/>
                  </a:lnTo>
                  <a:lnTo>
                    <a:pt x="3419995" y="1234084"/>
                  </a:lnTo>
                  <a:lnTo>
                    <a:pt x="73075" y="1234439"/>
                  </a:lnTo>
                  <a:lnTo>
                    <a:pt x="28548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9515" y="310895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28" y="12340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49515" y="310895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912660" y="3291382"/>
            <a:ext cx="176022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Window</a:t>
            </a:r>
            <a:r>
              <a:rPr dirty="0" sz="13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&amp;</a:t>
            </a:r>
            <a:r>
              <a:rPr dirty="0" sz="13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frequency</a:t>
            </a:r>
            <a:endParaRPr sz="1350">
              <a:latin typeface="Arial"/>
              <a:cs typeface="Arial"/>
            </a:endParaRPr>
          </a:p>
          <a:p>
            <a:pPr marL="187960" indent="-149860">
              <a:lnSpc>
                <a:spcPct val="100000"/>
              </a:lnSpc>
              <a:spcBef>
                <a:spcPts val="960"/>
              </a:spcBef>
              <a:buChar char="•"/>
              <a:tabLst>
                <a:tab pos="187960" algn="l"/>
              </a:tabLst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How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long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how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often?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56340" y="3102660"/>
            <a:ext cx="3505200" cy="1247140"/>
            <a:chOff x="4556340" y="3102660"/>
            <a:chExt cx="3505200" cy="1247140"/>
          </a:xfrm>
        </p:grpSpPr>
        <p:sp>
          <p:nvSpPr>
            <p:cNvPr id="37" name="object 37"/>
            <p:cNvSpPr/>
            <p:nvPr/>
          </p:nvSpPr>
          <p:spPr>
            <a:xfrm>
              <a:off x="4562995" y="3108959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341964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5" y="1180036"/>
                  </a:lnTo>
                  <a:lnTo>
                    <a:pt x="2430" y="1180215"/>
                  </a:lnTo>
                  <a:lnTo>
                    <a:pt x="28555" y="1219335"/>
                  </a:lnTo>
                  <a:lnTo>
                    <a:pt x="73088" y="1234439"/>
                  </a:lnTo>
                  <a:lnTo>
                    <a:pt x="3420008" y="1234084"/>
                  </a:lnTo>
                  <a:lnTo>
                    <a:pt x="3464378" y="1218980"/>
                  </a:lnTo>
                  <a:lnTo>
                    <a:pt x="3487542" y="1189255"/>
                  </a:lnTo>
                  <a:lnTo>
                    <a:pt x="3487619" y="1189099"/>
                  </a:lnTo>
                  <a:lnTo>
                    <a:pt x="3490595" y="1180215"/>
                  </a:lnTo>
                  <a:lnTo>
                    <a:pt x="3490655" y="1180036"/>
                  </a:lnTo>
                  <a:lnTo>
                    <a:pt x="3492437" y="1170840"/>
                  </a:lnTo>
                  <a:lnTo>
                    <a:pt x="3492476" y="1170635"/>
                  </a:lnTo>
                  <a:lnTo>
                    <a:pt x="3493060" y="1161364"/>
                  </a:lnTo>
                  <a:lnTo>
                    <a:pt x="3493084" y="1160995"/>
                  </a:lnTo>
                  <a:lnTo>
                    <a:pt x="3492728" y="73075"/>
                  </a:lnTo>
                  <a:lnTo>
                    <a:pt x="3477624" y="28705"/>
                  </a:lnTo>
                  <a:lnTo>
                    <a:pt x="3438680" y="2428"/>
                  </a:lnTo>
                  <a:lnTo>
                    <a:pt x="3429279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62995" y="3108959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3419640" y="0"/>
                  </a:lnTo>
                  <a:lnTo>
                    <a:pt x="3464173" y="15104"/>
                  </a:lnTo>
                  <a:lnTo>
                    <a:pt x="3490298" y="54224"/>
                  </a:lnTo>
                  <a:lnTo>
                    <a:pt x="3492728" y="73075"/>
                  </a:lnTo>
                  <a:lnTo>
                    <a:pt x="3493084" y="1160995"/>
                  </a:lnTo>
                  <a:lnTo>
                    <a:pt x="3492476" y="1170635"/>
                  </a:lnTo>
                  <a:lnTo>
                    <a:pt x="3490655" y="1180036"/>
                  </a:lnTo>
                  <a:lnTo>
                    <a:pt x="3464378" y="1218980"/>
                  </a:lnTo>
                  <a:lnTo>
                    <a:pt x="3420008" y="1234084"/>
                  </a:lnTo>
                  <a:lnTo>
                    <a:pt x="73088" y="1234439"/>
                  </a:lnTo>
                  <a:lnTo>
                    <a:pt x="28555" y="1219335"/>
                  </a:lnTo>
                  <a:lnTo>
                    <a:pt x="2430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62640" y="310895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62640" y="310895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750815" y="3291382"/>
            <a:ext cx="108585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r>
              <a:rPr dirty="0" sz="13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group</a:t>
            </a:r>
            <a:endParaRPr sz="13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51184" y="359484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03457" y="3616820"/>
            <a:ext cx="130048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Who/what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notified?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369096" y="3102660"/>
            <a:ext cx="3505200" cy="1247140"/>
            <a:chOff x="8369096" y="3102660"/>
            <a:chExt cx="3505200" cy="1247140"/>
          </a:xfrm>
        </p:grpSpPr>
        <p:sp>
          <p:nvSpPr>
            <p:cNvPr id="45" name="object 45"/>
            <p:cNvSpPr/>
            <p:nvPr/>
          </p:nvSpPr>
          <p:spPr>
            <a:xfrm>
              <a:off x="8375764" y="3108959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34196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39"/>
                  </a:lnTo>
                  <a:lnTo>
                    <a:pt x="3419995" y="1234084"/>
                  </a:lnTo>
                  <a:lnTo>
                    <a:pt x="3464373" y="1218980"/>
                  </a:lnTo>
                  <a:lnTo>
                    <a:pt x="3487529" y="1189255"/>
                  </a:lnTo>
                  <a:lnTo>
                    <a:pt x="3487606" y="1189099"/>
                  </a:lnTo>
                  <a:lnTo>
                    <a:pt x="3490582" y="1180215"/>
                  </a:lnTo>
                  <a:lnTo>
                    <a:pt x="3490642" y="1180036"/>
                  </a:lnTo>
                  <a:lnTo>
                    <a:pt x="3492424" y="1170840"/>
                  </a:lnTo>
                  <a:lnTo>
                    <a:pt x="3492464" y="1170635"/>
                  </a:lnTo>
                  <a:lnTo>
                    <a:pt x="3493048" y="1161364"/>
                  </a:lnTo>
                  <a:lnTo>
                    <a:pt x="3493071" y="1160995"/>
                  </a:lnTo>
                  <a:lnTo>
                    <a:pt x="3492715" y="73075"/>
                  </a:lnTo>
                  <a:lnTo>
                    <a:pt x="3477617" y="28705"/>
                  </a:lnTo>
                  <a:lnTo>
                    <a:pt x="3438669" y="2428"/>
                  </a:lnTo>
                  <a:lnTo>
                    <a:pt x="3429272" y="607"/>
                  </a:lnTo>
                  <a:lnTo>
                    <a:pt x="3419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375764" y="3108959"/>
              <a:ext cx="3493135" cy="1234440"/>
            </a:xfrm>
            <a:custGeom>
              <a:avLst/>
              <a:gdLst/>
              <a:ahLst/>
              <a:cxnLst/>
              <a:rect l="l" t="t" r="r" b="b"/>
              <a:pathLst>
                <a:path w="3493134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419640" y="0"/>
                  </a:lnTo>
                  <a:lnTo>
                    <a:pt x="3464160" y="15104"/>
                  </a:lnTo>
                  <a:lnTo>
                    <a:pt x="3490287" y="54224"/>
                  </a:lnTo>
                  <a:lnTo>
                    <a:pt x="3492715" y="73075"/>
                  </a:lnTo>
                  <a:lnTo>
                    <a:pt x="3493071" y="1160995"/>
                  </a:lnTo>
                  <a:lnTo>
                    <a:pt x="3492464" y="1170635"/>
                  </a:lnTo>
                  <a:lnTo>
                    <a:pt x="3490642" y="1180036"/>
                  </a:lnTo>
                  <a:lnTo>
                    <a:pt x="3464373" y="1218980"/>
                  </a:lnTo>
                  <a:lnTo>
                    <a:pt x="3419995" y="1234084"/>
                  </a:lnTo>
                  <a:lnTo>
                    <a:pt x="73075" y="1234439"/>
                  </a:lnTo>
                  <a:lnTo>
                    <a:pt x="28548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375396" y="310895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28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42" y="1234084"/>
                  </a:lnTo>
                  <a:lnTo>
                    <a:pt x="63728" y="123408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75396" y="310895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42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34084"/>
                  </a:lnTo>
                  <a:lnTo>
                    <a:pt x="32042" y="1234084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563940" y="3291382"/>
            <a:ext cx="829944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10243F"/>
                </a:solidFill>
                <a:latin typeface="Arial"/>
                <a:cs typeface="Arial"/>
              </a:rPr>
              <a:t>Validation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64295" y="3594849"/>
            <a:ext cx="7366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16581" y="3616820"/>
            <a:ext cx="135255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Did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notification</a:t>
            </a:r>
            <a:r>
              <a:rPr dirty="0" sz="10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arrive?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53" name="object 53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572300" y="6000381"/>
            <a:ext cx="7726045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lab: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practical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CPU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alert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might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average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Percentage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CPU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&gt;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80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over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defined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window,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with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email</a:t>
            </a:r>
            <a:r>
              <a:rPr dirty="0" sz="10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Group.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4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Create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metric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alert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2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action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groups.</a:t>
            </a:r>
            <a:endParaRPr sz="70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11634381" y="6579872"/>
            <a:ext cx="138430" cy="13906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800" spc="-25">
                <a:solidFill>
                  <a:srgbClr val="728199"/>
                </a:solidFill>
                <a:latin typeface="Arial"/>
                <a:cs typeface="Arial"/>
              </a:rPr>
              <a:t>28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50368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254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54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V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dirty="0" spc="-20"/>
              <a:t> </a:t>
            </a:r>
            <a:r>
              <a:rPr dirty="0"/>
              <a:t>Management</a:t>
            </a:r>
            <a:r>
              <a:rPr dirty="0" spc="-20"/>
              <a:t> </a:t>
            </a:r>
            <a:r>
              <a:rPr dirty="0"/>
              <a:t>tells</a:t>
            </a:r>
            <a:r>
              <a:rPr dirty="0" spc="-20"/>
              <a:t> </a:t>
            </a:r>
            <a:r>
              <a:rPr dirty="0"/>
              <a:t>you</a:t>
            </a:r>
            <a:r>
              <a:rPr dirty="0" spc="-20"/>
              <a:t> </a:t>
            </a:r>
            <a:r>
              <a:rPr dirty="0"/>
              <a:t>where</a:t>
            </a:r>
            <a:r>
              <a:rPr dirty="0" spc="-20"/>
              <a:t> </a:t>
            </a:r>
            <a:r>
              <a:rPr dirty="0"/>
              <a:t>spend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 spc="-10"/>
              <a:t>going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0203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</a:t>
            </a:r>
            <a:r>
              <a:rPr dirty="0" sz="1050" spc="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billing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data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identify</a:t>
            </a:r>
            <a:r>
              <a:rPr dirty="0" sz="1050" spc="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driver,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then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tie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driver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back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technical</a:t>
            </a:r>
            <a:r>
              <a:rPr dirty="0" sz="1050" spc="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change.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392655" y="1822500"/>
            <a:ext cx="451484" cy="451484"/>
            <a:chOff x="1392655" y="1822500"/>
            <a:chExt cx="451484" cy="451484"/>
          </a:xfrm>
        </p:grpSpPr>
        <p:sp>
          <p:nvSpPr>
            <p:cNvPr id="7" name="object 7"/>
            <p:cNvSpPr/>
            <p:nvPr/>
          </p:nvSpPr>
          <p:spPr>
            <a:xfrm>
              <a:off x="1398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19">
                  <a:moveTo>
                    <a:pt x="219608" y="0"/>
                  </a:moveTo>
                  <a:lnTo>
                    <a:pt x="162682" y="7426"/>
                  </a:lnTo>
                  <a:lnTo>
                    <a:pt x="109804" y="29159"/>
                  </a:lnTo>
                  <a:lnTo>
                    <a:pt x="64265" y="64168"/>
                  </a:lnTo>
                  <a:lnTo>
                    <a:pt x="29527" y="109435"/>
                  </a:lnTo>
                  <a:lnTo>
                    <a:pt x="7472" y="162452"/>
                  </a:lnTo>
                  <a:lnTo>
                    <a:pt x="0" y="219240"/>
                  </a:lnTo>
                  <a:lnTo>
                    <a:pt x="1879" y="247937"/>
                  </a:lnTo>
                  <a:lnTo>
                    <a:pt x="16711" y="303175"/>
                  </a:lnTo>
                  <a:lnTo>
                    <a:pt x="45410" y="352826"/>
                  </a:lnTo>
                  <a:lnTo>
                    <a:pt x="85820" y="393232"/>
                  </a:lnTo>
                  <a:lnTo>
                    <a:pt x="135517" y="421980"/>
                  </a:lnTo>
                  <a:lnTo>
                    <a:pt x="190858" y="436906"/>
                  </a:lnTo>
                  <a:lnTo>
                    <a:pt x="219608" y="438835"/>
                  </a:lnTo>
                  <a:lnTo>
                    <a:pt x="248144" y="436906"/>
                  </a:lnTo>
                  <a:lnTo>
                    <a:pt x="303336" y="421980"/>
                  </a:lnTo>
                  <a:lnTo>
                    <a:pt x="353028" y="393232"/>
                  </a:lnTo>
                  <a:lnTo>
                    <a:pt x="393438" y="352826"/>
                  </a:lnTo>
                  <a:lnTo>
                    <a:pt x="422137" y="303175"/>
                  </a:lnTo>
                  <a:lnTo>
                    <a:pt x="436969" y="247937"/>
                  </a:lnTo>
                  <a:lnTo>
                    <a:pt x="438848" y="219240"/>
                  </a:lnTo>
                  <a:lnTo>
                    <a:pt x="436969" y="190542"/>
                  </a:lnTo>
                  <a:lnTo>
                    <a:pt x="422137" y="135304"/>
                  </a:lnTo>
                  <a:lnTo>
                    <a:pt x="393438" y="85653"/>
                  </a:lnTo>
                  <a:lnTo>
                    <a:pt x="353028" y="45247"/>
                  </a:lnTo>
                  <a:lnTo>
                    <a:pt x="303336" y="16555"/>
                  </a:lnTo>
                  <a:lnTo>
                    <a:pt x="248144" y="1873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98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19">
                  <a:moveTo>
                    <a:pt x="0" y="219240"/>
                  </a:moveTo>
                  <a:lnTo>
                    <a:pt x="1879" y="190542"/>
                  </a:lnTo>
                  <a:lnTo>
                    <a:pt x="7472" y="162452"/>
                  </a:lnTo>
                  <a:lnTo>
                    <a:pt x="29527" y="109435"/>
                  </a:lnTo>
                  <a:lnTo>
                    <a:pt x="64265" y="64168"/>
                  </a:lnTo>
                  <a:lnTo>
                    <a:pt x="109804" y="29159"/>
                  </a:lnTo>
                  <a:lnTo>
                    <a:pt x="162682" y="7426"/>
                  </a:lnTo>
                  <a:lnTo>
                    <a:pt x="219608" y="0"/>
                  </a:lnTo>
                  <a:lnTo>
                    <a:pt x="276212" y="7426"/>
                  </a:lnTo>
                  <a:lnTo>
                    <a:pt x="329044" y="29159"/>
                  </a:lnTo>
                  <a:lnTo>
                    <a:pt x="374583" y="64168"/>
                  </a:lnTo>
                  <a:lnTo>
                    <a:pt x="409320" y="109435"/>
                  </a:lnTo>
                  <a:lnTo>
                    <a:pt x="431376" y="162452"/>
                  </a:lnTo>
                  <a:lnTo>
                    <a:pt x="438848" y="219240"/>
                  </a:lnTo>
                  <a:lnTo>
                    <a:pt x="436969" y="247937"/>
                  </a:lnTo>
                  <a:lnTo>
                    <a:pt x="431376" y="276028"/>
                  </a:lnTo>
                  <a:lnTo>
                    <a:pt x="409320" y="329044"/>
                  </a:lnTo>
                  <a:lnTo>
                    <a:pt x="374583" y="374311"/>
                  </a:lnTo>
                  <a:lnTo>
                    <a:pt x="329044" y="409321"/>
                  </a:lnTo>
                  <a:lnTo>
                    <a:pt x="276212" y="431231"/>
                  </a:lnTo>
                  <a:lnTo>
                    <a:pt x="219608" y="438835"/>
                  </a:lnTo>
                  <a:lnTo>
                    <a:pt x="162682" y="431231"/>
                  </a:lnTo>
                  <a:lnTo>
                    <a:pt x="109804" y="409321"/>
                  </a:lnTo>
                  <a:lnTo>
                    <a:pt x="64265" y="374311"/>
                  </a:lnTo>
                  <a:lnTo>
                    <a:pt x="29527" y="329044"/>
                  </a:lnTo>
                  <a:lnTo>
                    <a:pt x="7472" y="276028"/>
                  </a:lnTo>
                  <a:lnTo>
                    <a:pt x="1879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63382" y="1943531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78656" y="1822500"/>
            <a:ext cx="451484" cy="451484"/>
            <a:chOff x="3678656" y="1822500"/>
            <a:chExt cx="451484" cy="451484"/>
          </a:xfrm>
        </p:grpSpPr>
        <p:sp>
          <p:nvSpPr>
            <p:cNvPr id="19" name="object 19"/>
            <p:cNvSpPr/>
            <p:nvPr/>
          </p:nvSpPr>
          <p:spPr>
            <a:xfrm>
              <a:off x="3684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608" y="0"/>
                  </a:moveTo>
                  <a:lnTo>
                    <a:pt x="162682" y="7426"/>
                  </a:lnTo>
                  <a:lnTo>
                    <a:pt x="109804" y="29159"/>
                  </a:lnTo>
                  <a:lnTo>
                    <a:pt x="64265" y="64168"/>
                  </a:lnTo>
                  <a:lnTo>
                    <a:pt x="29527" y="109435"/>
                  </a:lnTo>
                  <a:lnTo>
                    <a:pt x="7472" y="162452"/>
                  </a:lnTo>
                  <a:lnTo>
                    <a:pt x="0" y="219240"/>
                  </a:lnTo>
                  <a:lnTo>
                    <a:pt x="1879" y="247937"/>
                  </a:lnTo>
                  <a:lnTo>
                    <a:pt x="16711" y="303175"/>
                  </a:lnTo>
                  <a:lnTo>
                    <a:pt x="45410" y="352826"/>
                  </a:lnTo>
                  <a:lnTo>
                    <a:pt x="85820" y="393232"/>
                  </a:lnTo>
                  <a:lnTo>
                    <a:pt x="135517" y="421980"/>
                  </a:lnTo>
                  <a:lnTo>
                    <a:pt x="190858" y="436906"/>
                  </a:lnTo>
                  <a:lnTo>
                    <a:pt x="219608" y="438835"/>
                  </a:lnTo>
                  <a:lnTo>
                    <a:pt x="248144" y="436906"/>
                  </a:lnTo>
                  <a:lnTo>
                    <a:pt x="303336" y="421980"/>
                  </a:lnTo>
                  <a:lnTo>
                    <a:pt x="353028" y="393232"/>
                  </a:lnTo>
                  <a:lnTo>
                    <a:pt x="393438" y="352826"/>
                  </a:lnTo>
                  <a:lnTo>
                    <a:pt x="422137" y="303175"/>
                  </a:lnTo>
                  <a:lnTo>
                    <a:pt x="436969" y="247937"/>
                  </a:lnTo>
                  <a:lnTo>
                    <a:pt x="438848" y="219240"/>
                  </a:lnTo>
                  <a:lnTo>
                    <a:pt x="436969" y="190542"/>
                  </a:lnTo>
                  <a:lnTo>
                    <a:pt x="422137" y="135304"/>
                  </a:lnTo>
                  <a:lnTo>
                    <a:pt x="393438" y="85653"/>
                  </a:lnTo>
                  <a:lnTo>
                    <a:pt x="353028" y="45247"/>
                  </a:lnTo>
                  <a:lnTo>
                    <a:pt x="303336" y="16555"/>
                  </a:lnTo>
                  <a:lnTo>
                    <a:pt x="248144" y="1873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84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240"/>
                  </a:moveTo>
                  <a:lnTo>
                    <a:pt x="1879" y="190542"/>
                  </a:lnTo>
                  <a:lnTo>
                    <a:pt x="7472" y="162452"/>
                  </a:lnTo>
                  <a:lnTo>
                    <a:pt x="29527" y="109435"/>
                  </a:lnTo>
                  <a:lnTo>
                    <a:pt x="64265" y="64168"/>
                  </a:lnTo>
                  <a:lnTo>
                    <a:pt x="109804" y="29159"/>
                  </a:lnTo>
                  <a:lnTo>
                    <a:pt x="162682" y="7426"/>
                  </a:lnTo>
                  <a:lnTo>
                    <a:pt x="219608" y="0"/>
                  </a:lnTo>
                  <a:lnTo>
                    <a:pt x="276212" y="7426"/>
                  </a:lnTo>
                  <a:lnTo>
                    <a:pt x="329044" y="29159"/>
                  </a:lnTo>
                  <a:lnTo>
                    <a:pt x="374583" y="64168"/>
                  </a:lnTo>
                  <a:lnTo>
                    <a:pt x="409321" y="109435"/>
                  </a:lnTo>
                  <a:lnTo>
                    <a:pt x="431376" y="162452"/>
                  </a:lnTo>
                  <a:lnTo>
                    <a:pt x="438848" y="219240"/>
                  </a:lnTo>
                  <a:lnTo>
                    <a:pt x="436969" y="247937"/>
                  </a:lnTo>
                  <a:lnTo>
                    <a:pt x="431376" y="276028"/>
                  </a:lnTo>
                  <a:lnTo>
                    <a:pt x="409321" y="329044"/>
                  </a:lnTo>
                  <a:lnTo>
                    <a:pt x="374583" y="374311"/>
                  </a:lnTo>
                  <a:lnTo>
                    <a:pt x="329044" y="409321"/>
                  </a:lnTo>
                  <a:lnTo>
                    <a:pt x="276212" y="431231"/>
                  </a:lnTo>
                  <a:lnTo>
                    <a:pt x="219608" y="438835"/>
                  </a:lnTo>
                  <a:lnTo>
                    <a:pt x="162682" y="431231"/>
                  </a:lnTo>
                  <a:lnTo>
                    <a:pt x="109804" y="409321"/>
                  </a:lnTo>
                  <a:lnTo>
                    <a:pt x="64265" y="374311"/>
                  </a:lnTo>
                  <a:lnTo>
                    <a:pt x="29527" y="329044"/>
                  </a:lnTo>
                  <a:lnTo>
                    <a:pt x="7472" y="276028"/>
                  </a:lnTo>
                  <a:lnTo>
                    <a:pt x="1879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849382" y="1943531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64656" y="1822500"/>
            <a:ext cx="451484" cy="451484"/>
            <a:chOff x="5964656" y="1822500"/>
            <a:chExt cx="451484" cy="451484"/>
          </a:xfrm>
        </p:grpSpPr>
        <p:sp>
          <p:nvSpPr>
            <p:cNvPr id="33" name="object 33"/>
            <p:cNvSpPr/>
            <p:nvPr/>
          </p:nvSpPr>
          <p:spPr>
            <a:xfrm>
              <a:off x="5970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608" y="0"/>
                  </a:moveTo>
                  <a:lnTo>
                    <a:pt x="162682" y="7426"/>
                  </a:lnTo>
                  <a:lnTo>
                    <a:pt x="109804" y="29159"/>
                  </a:lnTo>
                  <a:lnTo>
                    <a:pt x="64265" y="64168"/>
                  </a:lnTo>
                  <a:lnTo>
                    <a:pt x="29527" y="109435"/>
                  </a:lnTo>
                  <a:lnTo>
                    <a:pt x="7472" y="162452"/>
                  </a:lnTo>
                  <a:lnTo>
                    <a:pt x="0" y="219240"/>
                  </a:lnTo>
                  <a:lnTo>
                    <a:pt x="1879" y="247937"/>
                  </a:lnTo>
                  <a:lnTo>
                    <a:pt x="16711" y="303175"/>
                  </a:lnTo>
                  <a:lnTo>
                    <a:pt x="45410" y="352826"/>
                  </a:lnTo>
                  <a:lnTo>
                    <a:pt x="85820" y="393232"/>
                  </a:lnTo>
                  <a:lnTo>
                    <a:pt x="135517" y="421980"/>
                  </a:lnTo>
                  <a:lnTo>
                    <a:pt x="190858" y="436906"/>
                  </a:lnTo>
                  <a:lnTo>
                    <a:pt x="219608" y="438835"/>
                  </a:lnTo>
                  <a:lnTo>
                    <a:pt x="248144" y="436906"/>
                  </a:lnTo>
                  <a:lnTo>
                    <a:pt x="303336" y="421980"/>
                  </a:lnTo>
                  <a:lnTo>
                    <a:pt x="353028" y="393232"/>
                  </a:lnTo>
                  <a:lnTo>
                    <a:pt x="393438" y="352826"/>
                  </a:lnTo>
                  <a:lnTo>
                    <a:pt x="422137" y="303175"/>
                  </a:lnTo>
                  <a:lnTo>
                    <a:pt x="436969" y="247937"/>
                  </a:lnTo>
                  <a:lnTo>
                    <a:pt x="438848" y="219240"/>
                  </a:lnTo>
                  <a:lnTo>
                    <a:pt x="436969" y="190542"/>
                  </a:lnTo>
                  <a:lnTo>
                    <a:pt x="422137" y="135304"/>
                  </a:lnTo>
                  <a:lnTo>
                    <a:pt x="393438" y="85653"/>
                  </a:lnTo>
                  <a:lnTo>
                    <a:pt x="353028" y="45247"/>
                  </a:lnTo>
                  <a:lnTo>
                    <a:pt x="303336" y="16555"/>
                  </a:lnTo>
                  <a:lnTo>
                    <a:pt x="248144" y="1873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70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240"/>
                  </a:moveTo>
                  <a:lnTo>
                    <a:pt x="1879" y="190542"/>
                  </a:lnTo>
                  <a:lnTo>
                    <a:pt x="7472" y="162452"/>
                  </a:lnTo>
                  <a:lnTo>
                    <a:pt x="29527" y="109435"/>
                  </a:lnTo>
                  <a:lnTo>
                    <a:pt x="64265" y="64168"/>
                  </a:lnTo>
                  <a:lnTo>
                    <a:pt x="109804" y="29159"/>
                  </a:lnTo>
                  <a:lnTo>
                    <a:pt x="162682" y="7426"/>
                  </a:lnTo>
                  <a:lnTo>
                    <a:pt x="219608" y="0"/>
                  </a:lnTo>
                  <a:lnTo>
                    <a:pt x="276212" y="7426"/>
                  </a:lnTo>
                  <a:lnTo>
                    <a:pt x="329044" y="29159"/>
                  </a:lnTo>
                  <a:lnTo>
                    <a:pt x="374583" y="64168"/>
                  </a:lnTo>
                  <a:lnTo>
                    <a:pt x="409321" y="109435"/>
                  </a:lnTo>
                  <a:lnTo>
                    <a:pt x="431376" y="162452"/>
                  </a:lnTo>
                  <a:lnTo>
                    <a:pt x="438848" y="219240"/>
                  </a:lnTo>
                  <a:lnTo>
                    <a:pt x="436969" y="247937"/>
                  </a:lnTo>
                  <a:lnTo>
                    <a:pt x="431376" y="276028"/>
                  </a:lnTo>
                  <a:lnTo>
                    <a:pt x="409321" y="329044"/>
                  </a:lnTo>
                  <a:lnTo>
                    <a:pt x="374583" y="374311"/>
                  </a:lnTo>
                  <a:lnTo>
                    <a:pt x="329044" y="409321"/>
                  </a:lnTo>
                  <a:lnTo>
                    <a:pt x="276212" y="431231"/>
                  </a:lnTo>
                  <a:lnTo>
                    <a:pt x="219608" y="438835"/>
                  </a:lnTo>
                  <a:lnTo>
                    <a:pt x="162682" y="431231"/>
                  </a:lnTo>
                  <a:lnTo>
                    <a:pt x="109804" y="409321"/>
                  </a:lnTo>
                  <a:lnTo>
                    <a:pt x="64265" y="374311"/>
                  </a:lnTo>
                  <a:lnTo>
                    <a:pt x="29527" y="329044"/>
                  </a:lnTo>
                  <a:lnTo>
                    <a:pt x="7472" y="276028"/>
                  </a:lnTo>
                  <a:lnTo>
                    <a:pt x="1879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135382" y="1943531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250656" y="1822500"/>
            <a:ext cx="451484" cy="451484"/>
            <a:chOff x="8250656" y="1822500"/>
            <a:chExt cx="451484" cy="451484"/>
          </a:xfrm>
        </p:grpSpPr>
        <p:sp>
          <p:nvSpPr>
            <p:cNvPr id="47" name="object 47"/>
            <p:cNvSpPr/>
            <p:nvPr/>
          </p:nvSpPr>
          <p:spPr>
            <a:xfrm>
              <a:off x="8256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608" y="0"/>
                  </a:moveTo>
                  <a:lnTo>
                    <a:pt x="162682" y="7426"/>
                  </a:lnTo>
                  <a:lnTo>
                    <a:pt x="109804" y="29159"/>
                  </a:lnTo>
                  <a:lnTo>
                    <a:pt x="64265" y="64168"/>
                  </a:lnTo>
                  <a:lnTo>
                    <a:pt x="29527" y="109435"/>
                  </a:lnTo>
                  <a:lnTo>
                    <a:pt x="7472" y="162452"/>
                  </a:lnTo>
                  <a:lnTo>
                    <a:pt x="0" y="219240"/>
                  </a:lnTo>
                  <a:lnTo>
                    <a:pt x="1879" y="247937"/>
                  </a:lnTo>
                  <a:lnTo>
                    <a:pt x="16711" y="303175"/>
                  </a:lnTo>
                  <a:lnTo>
                    <a:pt x="45410" y="352826"/>
                  </a:lnTo>
                  <a:lnTo>
                    <a:pt x="85820" y="393232"/>
                  </a:lnTo>
                  <a:lnTo>
                    <a:pt x="135517" y="421980"/>
                  </a:lnTo>
                  <a:lnTo>
                    <a:pt x="190858" y="436906"/>
                  </a:lnTo>
                  <a:lnTo>
                    <a:pt x="219608" y="438835"/>
                  </a:lnTo>
                  <a:lnTo>
                    <a:pt x="248144" y="436906"/>
                  </a:lnTo>
                  <a:lnTo>
                    <a:pt x="303336" y="421980"/>
                  </a:lnTo>
                  <a:lnTo>
                    <a:pt x="353028" y="393232"/>
                  </a:lnTo>
                  <a:lnTo>
                    <a:pt x="393438" y="352826"/>
                  </a:lnTo>
                  <a:lnTo>
                    <a:pt x="422137" y="303175"/>
                  </a:lnTo>
                  <a:lnTo>
                    <a:pt x="436969" y="247937"/>
                  </a:lnTo>
                  <a:lnTo>
                    <a:pt x="438848" y="219240"/>
                  </a:lnTo>
                  <a:lnTo>
                    <a:pt x="436969" y="190542"/>
                  </a:lnTo>
                  <a:lnTo>
                    <a:pt x="422137" y="135304"/>
                  </a:lnTo>
                  <a:lnTo>
                    <a:pt x="393438" y="85653"/>
                  </a:lnTo>
                  <a:lnTo>
                    <a:pt x="353028" y="45247"/>
                  </a:lnTo>
                  <a:lnTo>
                    <a:pt x="303336" y="16555"/>
                  </a:lnTo>
                  <a:lnTo>
                    <a:pt x="248144" y="1873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256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240"/>
                  </a:moveTo>
                  <a:lnTo>
                    <a:pt x="1879" y="190542"/>
                  </a:lnTo>
                  <a:lnTo>
                    <a:pt x="7472" y="162452"/>
                  </a:lnTo>
                  <a:lnTo>
                    <a:pt x="29527" y="109435"/>
                  </a:lnTo>
                  <a:lnTo>
                    <a:pt x="64265" y="64168"/>
                  </a:lnTo>
                  <a:lnTo>
                    <a:pt x="109804" y="29159"/>
                  </a:lnTo>
                  <a:lnTo>
                    <a:pt x="162682" y="7426"/>
                  </a:lnTo>
                  <a:lnTo>
                    <a:pt x="219608" y="0"/>
                  </a:lnTo>
                  <a:lnTo>
                    <a:pt x="276212" y="7426"/>
                  </a:lnTo>
                  <a:lnTo>
                    <a:pt x="329044" y="29159"/>
                  </a:lnTo>
                  <a:lnTo>
                    <a:pt x="374583" y="64168"/>
                  </a:lnTo>
                  <a:lnTo>
                    <a:pt x="409321" y="109435"/>
                  </a:lnTo>
                  <a:lnTo>
                    <a:pt x="431376" y="162452"/>
                  </a:lnTo>
                  <a:lnTo>
                    <a:pt x="438848" y="219240"/>
                  </a:lnTo>
                  <a:lnTo>
                    <a:pt x="436969" y="247937"/>
                  </a:lnTo>
                  <a:lnTo>
                    <a:pt x="431376" y="276028"/>
                  </a:lnTo>
                  <a:lnTo>
                    <a:pt x="409321" y="329044"/>
                  </a:lnTo>
                  <a:lnTo>
                    <a:pt x="374583" y="374311"/>
                  </a:lnTo>
                  <a:lnTo>
                    <a:pt x="329044" y="409321"/>
                  </a:lnTo>
                  <a:lnTo>
                    <a:pt x="276212" y="431231"/>
                  </a:lnTo>
                  <a:lnTo>
                    <a:pt x="219608" y="438835"/>
                  </a:lnTo>
                  <a:lnTo>
                    <a:pt x="162682" y="431231"/>
                  </a:lnTo>
                  <a:lnTo>
                    <a:pt x="109804" y="409321"/>
                  </a:lnTo>
                  <a:lnTo>
                    <a:pt x="64265" y="374311"/>
                  </a:lnTo>
                  <a:lnTo>
                    <a:pt x="29527" y="329044"/>
                  </a:lnTo>
                  <a:lnTo>
                    <a:pt x="7472" y="276028"/>
                  </a:lnTo>
                  <a:lnTo>
                    <a:pt x="1879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8421382" y="1943531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536656" y="1822500"/>
            <a:ext cx="451484" cy="451484"/>
            <a:chOff x="10536656" y="1822500"/>
            <a:chExt cx="451484" cy="451484"/>
          </a:xfrm>
        </p:grpSpPr>
        <p:sp>
          <p:nvSpPr>
            <p:cNvPr id="61" name="object 61"/>
            <p:cNvSpPr/>
            <p:nvPr/>
          </p:nvSpPr>
          <p:spPr>
            <a:xfrm>
              <a:off x="10542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608" y="0"/>
                  </a:moveTo>
                  <a:lnTo>
                    <a:pt x="162682" y="7426"/>
                  </a:lnTo>
                  <a:lnTo>
                    <a:pt x="109804" y="29159"/>
                  </a:lnTo>
                  <a:lnTo>
                    <a:pt x="64265" y="64168"/>
                  </a:lnTo>
                  <a:lnTo>
                    <a:pt x="29527" y="109435"/>
                  </a:lnTo>
                  <a:lnTo>
                    <a:pt x="7472" y="162452"/>
                  </a:lnTo>
                  <a:lnTo>
                    <a:pt x="0" y="219240"/>
                  </a:lnTo>
                  <a:lnTo>
                    <a:pt x="1879" y="247937"/>
                  </a:lnTo>
                  <a:lnTo>
                    <a:pt x="16711" y="303175"/>
                  </a:lnTo>
                  <a:lnTo>
                    <a:pt x="45410" y="352826"/>
                  </a:lnTo>
                  <a:lnTo>
                    <a:pt x="85820" y="393232"/>
                  </a:lnTo>
                  <a:lnTo>
                    <a:pt x="135517" y="421980"/>
                  </a:lnTo>
                  <a:lnTo>
                    <a:pt x="190858" y="436906"/>
                  </a:lnTo>
                  <a:lnTo>
                    <a:pt x="219608" y="438835"/>
                  </a:lnTo>
                  <a:lnTo>
                    <a:pt x="248144" y="436906"/>
                  </a:lnTo>
                  <a:lnTo>
                    <a:pt x="303336" y="421980"/>
                  </a:lnTo>
                  <a:lnTo>
                    <a:pt x="353028" y="393232"/>
                  </a:lnTo>
                  <a:lnTo>
                    <a:pt x="393438" y="352826"/>
                  </a:lnTo>
                  <a:lnTo>
                    <a:pt x="422137" y="303175"/>
                  </a:lnTo>
                  <a:lnTo>
                    <a:pt x="436969" y="247937"/>
                  </a:lnTo>
                  <a:lnTo>
                    <a:pt x="438848" y="219240"/>
                  </a:lnTo>
                  <a:lnTo>
                    <a:pt x="436969" y="190542"/>
                  </a:lnTo>
                  <a:lnTo>
                    <a:pt x="422137" y="135304"/>
                  </a:lnTo>
                  <a:lnTo>
                    <a:pt x="393438" y="85653"/>
                  </a:lnTo>
                  <a:lnTo>
                    <a:pt x="353028" y="45247"/>
                  </a:lnTo>
                  <a:lnTo>
                    <a:pt x="303336" y="16555"/>
                  </a:lnTo>
                  <a:lnTo>
                    <a:pt x="248144" y="1873"/>
                  </a:lnTo>
                  <a:lnTo>
                    <a:pt x="219608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0542955" y="1828800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240"/>
                  </a:moveTo>
                  <a:lnTo>
                    <a:pt x="1879" y="190542"/>
                  </a:lnTo>
                  <a:lnTo>
                    <a:pt x="7472" y="162452"/>
                  </a:lnTo>
                  <a:lnTo>
                    <a:pt x="29527" y="109435"/>
                  </a:lnTo>
                  <a:lnTo>
                    <a:pt x="64265" y="64168"/>
                  </a:lnTo>
                  <a:lnTo>
                    <a:pt x="109804" y="29159"/>
                  </a:lnTo>
                  <a:lnTo>
                    <a:pt x="162682" y="7426"/>
                  </a:lnTo>
                  <a:lnTo>
                    <a:pt x="219608" y="0"/>
                  </a:lnTo>
                  <a:lnTo>
                    <a:pt x="276212" y="7426"/>
                  </a:lnTo>
                  <a:lnTo>
                    <a:pt x="329044" y="29159"/>
                  </a:lnTo>
                  <a:lnTo>
                    <a:pt x="374583" y="64168"/>
                  </a:lnTo>
                  <a:lnTo>
                    <a:pt x="409321" y="109435"/>
                  </a:lnTo>
                  <a:lnTo>
                    <a:pt x="431376" y="162452"/>
                  </a:lnTo>
                  <a:lnTo>
                    <a:pt x="438848" y="219240"/>
                  </a:lnTo>
                  <a:lnTo>
                    <a:pt x="436969" y="247937"/>
                  </a:lnTo>
                  <a:lnTo>
                    <a:pt x="431376" y="276028"/>
                  </a:lnTo>
                  <a:lnTo>
                    <a:pt x="409321" y="329044"/>
                  </a:lnTo>
                  <a:lnTo>
                    <a:pt x="374583" y="374311"/>
                  </a:lnTo>
                  <a:lnTo>
                    <a:pt x="329044" y="409321"/>
                  </a:lnTo>
                  <a:lnTo>
                    <a:pt x="276212" y="431231"/>
                  </a:lnTo>
                  <a:lnTo>
                    <a:pt x="219608" y="438835"/>
                  </a:lnTo>
                  <a:lnTo>
                    <a:pt x="162682" y="431231"/>
                  </a:lnTo>
                  <a:lnTo>
                    <a:pt x="109804" y="409321"/>
                  </a:lnTo>
                  <a:lnTo>
                    <a:pt x="64265" y="374311"/>
                  </a:lnTo>
                  <a:lnTo>
                    <a:pt x="29527" y="329044"/>
                  </a:lnTo>
                  <a:lnTo>
                    <a:pt x="7472" y="276028"/>
                  </a:lnTo>
                  <a:lnTo>
                    <a:pt x="1879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0707382" y="1943531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6450" y="2462529"/>
            <a:ext cx="2042160" cy="1585595"/>
            <a:chOff x="706450" y="2462529"/>
            <a:chExt cx="2042160" cy="1585595"/>
          </a:xfrm>
        </p:grpSpPr>
        <p:sp>
          <p:nvSpPr>
            <p:cNvPr id="11" name="object 11"/>
            <p:cNvSpPr/>
            <p:nvPr/>
          </p:nvSpPr>
          <p:spPr>
            <a:xfrm>
              <a:off x="713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19566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99755"/>
                  </a:lnTo>
                  <a:lnTo>
                    <a:pt x="594" y="1509033"/>
                  </a:lnTo>
                  <a:lnTo>
                    <a:pt x="607" y="1509233"/>
                  </a:lnTo>
                  <a:lnTo>
                    <a:pt x="2395" y="1518434"/>
                  </a:lnTo>
                  <a:lnTo>
                    <a:pt x="2430" y="1518612"/>
                  </a:lnTo>
                  <a:lnTo>
                    <a:pt x="5418" y="1527496"/>
                  </a:lnTo>
                  <a:lnTo>
                    <a:pt x="5470" y="1527652"/>
                  </a:lnTo>
                  <a:lnTo>
                    <a:pt x="36360" y="1563116"/>
                  </a:lnTo>
                  <a:lnTo>
                    <a:pt x="73088" y="1572844"/>
                  </a:lnTo>
                  <a:lnTo>
                    <a:pt x="1956968" y="1572475"/>
                  </a:lnTo>
                  <a:lnTo>
                    <a:pt x="2001338" y="1557384"/>
                  </a:lnTo>
                  <a:lnTo>
                    <a:pt x="2024502" y="1527652"/>
                  </a:lnTo>
                  <a:lnTo>
                    <a:pt x="2024579" y="1527496"/>
                  </a:lnTo>
                  <a:lnTo>
                    <a:pt x="2030044" y="1499400"/>
                  </a:lnTo>
                  <a:lnTo>
                    <a:pt x="2029688" y="73075"/>
                  </a:lnTo>
                  <a:lnTo>
                    <a:pt x="2014584" y="28705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3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133" y="15104"/>
                  </a:lnTo>
                  <a:lnTo>
                    <a:pt x="2027258" y="54224"/>
                  </a:lnTo>
                  <a:lnTo>
                    <a:pt x="2029688" y="73075"/>
                  </a:lnTo>
                  <a:lnTo>
                    <a:pt x="2030044" y="1499400"/>
                  </a:lnTo>
                  <a:lnTo>
                    <a:pt x="2029436" y="1509033"/>
                  </a:lnTo>
                  <a:lnTo>
                    <a:pt x="2027615" y="1518434"/>
                  </a:lnTo>
                  <a:lnTo>
                    <a:pt x="2001338" y="1557384"/>
                  </a:lnTo>
                  <a:lnTo>
                    <a:pt x="1956968" y="1572475"/>
                  </a:lnTo>
                  <a:lnTo>
                    <a:pt x="73088" y="1572844"/>
                  </a:lnTo>
                  <a:lnTo>
                    <a:pt x="28555" y="1557734"/>
                  </a:lnTo>
                  <a:lnTo>
                    <a:pt x="2430" y="1518612"/>
                  </a:lnTo>
                  <a:lnTo>
                    <a:pt x="0" y="14997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2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4" h="1572895">
                  <a:moveTo>
                    <a:pt x="63715" y="0"/>
                  </a:moveTo>
                  <a:lnTo>
                    <a:pt x="0" y="0"/>
                  </a:lnTo>
                  <a:lnTo>
                    <a:pt x="0" y="1572475"/>
                  </a:lnTo>
                  <a:lnTo>
                    <a:pt x="32042" y="1572475"/>
                  </a:lnTo>
                  <a:lnTo>
                    <a:pt x="63715" y="157247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12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4" h="1572895">
                  <a:moveTo>
                    <a:pt x="32042" y="1572475"/>
                  </a:moveTo>
                  <a:lnTo>
                    <a:pt x="0" y="157247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572475"/>
                  </a:lnTo>
                  <a:lnTo>
                    <a:pt x="32042" y="1572475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01344" y="2658859"/>
            <a:ext cx="109728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Choose</a:t>
            </a:r>
            <a:r>
              <a:rPr dirty="0" sz="1200" spc="8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scope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1700" y="295586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3985" y="2977464"/>
            <a:ext cx="1460500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Subscription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resource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group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44584" y="2462529"/>
            <a:ext cx="2289810" cy="1585595"/>
            <a:chOff x="2744584" y="2462529"/>
            <a:chExt cx="2289810" cy="1585595"/>
          </a:xfrm>
        </p:grpSpPr>
        <p:sp>
          <p:nvSpPr>
            <p:cNvPr id="22" name="object 22"/>
            <p:cNvSpPr/>
            <p:nvPr/>
          </p:nvSpPr>
          <p:spPr>
            <a:xfrm>
              <a:off x="2752204" y="3246119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9034" y="355"/>
                  </a:lnTo>
                </a:path>
              </a:pathLst>
            </a:custGeom>
            <a:ln w="1511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96196" y="32086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99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19566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99755"/>
                  </a:lnTo>
                  <a:lnTo>
                    <a:pt x="594" y="1509033"/>
                  </a:lnTo>
                  <a:lnTo>
                    <a:pt x="607" y="1509233"/>
                  </a:lnTo>
                  <a:lnTo>
                    <a:pt x="2395" y="1518434"/>
                  </a:lnTo>
                  <a:lnTo>
                    <a:pt x="2430" y="1518612"/>
                  </a:lnTo>
                  <a:lnTo>
                    <a:pt x="5418" y="1527496"/>
                  </a:lnTo>
                  <a:lnTo>
                    <a:pt x="36360" y="1563116"/>
                  </a:lnTo>
                  <a:lnTo>
                    <a:pt x="73088" y="1572844"/>
                  </a:lnTo>
                  <a:lnTo>
                    <a:pt x="1956968" y="1572475"/>
                  </a:lnTo>
                  <a:lnTo>
                    <a:pt x="2001338" y="1557384"/>
                  </a:lnTo>
                  <a:lnTo>
                    <a:pt x="2027555" y="1518612"/>
                  </a:lnTo>
                  <a:lnTo>
                    <a:pt x="2027615" y="1518434"/>
                  </a:lnTo>
                  <a:lnTo>
                    <a:pt x="2029398" y="1509233"/>
                  </a:lnTo>
                  <a:lnTo>
                    <a:pt x="2029436" y="1509033"/>
                  </a:lnTo>
                  <a:lnTo>
                    <a:pt x="2030021" y="1499755"/>
                  </a:lnTo>
                  <a:lnTo>
                    <a:pt x="2030044" y="1499400"/>
                  </a:lnTo>
                  <a:lnTo>
                    <a:pt x="2029688" y="73075"/>
                  </a:lnTo>
                  <a:lnTo>
                    <a:pt x="2014584" y="28705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999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133" y="15104"/>
                  </a:lnTo>
                  <a:lnTo>
                    <a:pt x="2027258" y="54224"/>
                  </a:lnTo>
                  <a:lnTo>
                    <a:pt x="2029688" y="73075"/>
                  </a:lnTo>
                  <a:lnTo>
                    <a:pt x="2030044" y="1499400"/>
                  </a:lnTo>
                  <a:lnTo>
                    <a:pt x="2029436" y="1509033"/>
                  </a:lnTo>
                  <a:lnTo>
                    <a:pt x="2027615" y="1518434"/>
                  </a:lnTo>
                  <a:lnTo>
                    <a:pt x="2001338" y="1557384"/>
                  </a:lnTo>
                  <a:lnTo>
                    <a:pt x="1956968" y="1572475"/>
                  </a:lnTo>
                  <a:lnTo>
                    <a:pt x="73088" y="1572844"/>
                  </a:lnTo>
                  <a:lnTo>
                    <a:pt x="28555" y="1557734"/>
                  </a:lnTo>
                  <a:lnTo>
                    <a:pt x="2430" y="1518612"/>
                  </a:lnTo>
                  <a:lnTo>
                    <a:pt x="0" y="14997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998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5" h="1572895">
                  <a:moveTo>
                    <a:pt x="63715" y="0"/>
                  </a:moveTo>
                  <a:lnTo>
                    <a:pt x="0" y="0"/>
                  </a:lnTo>
                  <a:lnTo>
                    <a:pt x="0" y="1572475"/>
                  </a:lnTo>
                  <a:lnTo>
                    <a:pt x="32042" y="1572475"/>
                  </a:lnTo>
                  <a:lnTo>
                    <a:pt x="63715" y="157247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98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5" h="1572895">
                  <a:moveTo>
                    <a:pt x="32042" y="1572475"/>
                  </a:moveTo>
                  <a:lnTo>
                    <a:pt x="0" y="157247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572475"/>
                  </a:lnTo>
                  <a:lnTo>
                    <a:pt x="32042" y="1572475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187344" y="2658859"/>
            <a:ext cx="110617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Set</a:t>
            </a:r>
            <a:r>
              <a:rPr dirty="0" sz="1200" spc="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time</a:t>
            </a:r>
            <a:r>
              <a:rPr dirty="0" sz="1200" spc="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range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87700" y="295586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39985" y="2977464"/>
            <a:ext cx="1158875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Current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month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/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lab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window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30584" y="2462529"/>
            <a:ext cx="2289810" cy="1585595"/>
            <a:chOff x="5030584" y="2462529"/>
            <a:chExt cx="2289810" cy="1585595"/>
          </a:xfrm>
        </p:grpSpPr>
        <p:sp>
          <p:nvSpPr>
            <p:cNvPr id="36" name="object 36"/>
            <p:cNvSpPr/>
            <p:nvPr/>
          </p:nvSpPr>
          <p:spPr>
            <a:xfrm>
              <a:off x="5038204" y="3246119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9034" y="355"/>
                  </a:lnTo>
                </a:path>
              </a:pathLst>
            </a:custGeom>
            <a:ln w="1511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82197" y="32086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285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19566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99755"/>
                  </a:lnTo>
                  <a:lnTo>
                    <a:pt x="594" y="1509033"/>
                  </a:lnTo>
                  <a:lnTo>
                    <a:pt x="607" y="1509233"/>
                  </a:lnTo>
                  <a:lnTo>
                    <a:pt x="2395" y="1518434"/>
                  </a:lnTo>
                  <a:lnTo>
                    <a:pt x="2430" y="1518612"/>
                  </a:lnTo>
                  <a:lnTo>
                    <a:pt x="5418" y="1527496"/>
                  </a:lnTo>
                  <a:lnTo>
                    <a:pt x="36360" y="1563116"/>
                  </a:lnTo>
                  <a:lnTo>
                    <a:pt x="73088" y="1572844"/>
                  </a:lnTo>
                  <a:lnTo>
                    <a:pt x="1956968" y="1572475"/>
                  </a:lnTo>
                  <a:lnTo>
                    <a:pt x="2001338" y="1557384"/>
                  </a:lnTo>
                  <a:lnTo>
                    <a:pt x="2027555" y="1518612"/>
                  </a:lnTo>
                  <a:lnTo>
                    <a:pt x="2030021" y="1499755"/>
                  </a:lnTo>
                  <a:lnTo>
                    <a:pt x="2030044" y="1499400"/>
                  </a:lnTo>
                  <a:lnTo>
                    <a:pt x="2029688" y="73075"/>
                  </a:lnTo>
                  <a:lnTo>
                    <a:pt x="2014584" y="28705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85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133" y="15104"/>
                  </a:lnTo>
                  <a:lnTo>
                    <a:pt x="2027258" y="54224"/>
                  </a:lnTo>
                  <a:lnTo>
                    <a:pt x="2029688" y="73075"/>
                  </a:lnTo>
                  <a:lnTo>
                    <a:pt x="2030044" y="1499400"/>
                  </a:lnTo>
                  <a:lnTo>
                    <a:pt x="2029436" y="1509033"/>
                  </a:lnTo>
                  <a:lnTo>
                    <a:pt x="2027615" y="1518434"/>
                  </a:lnTo>
                  <a:lnTo>
                    <a:pt x="2001338" y="1557384"/>
                  </a:lnTo>
                  <a:lnTo>
                    <a:pt x="1956968" y="1572475"/>
                  </a:lnTo>
                  <a:lnTo>
                    <a:pt x="73088" y="1572844"/>
                  </a:lnTo>
                  <a:lnTo>
                    <a:pt x="28555" y="1557734"/>
                  </a:lnTo>
                  <a:lnTo>
                    <a:pt x="2430" y="1518612"/>
                  </a:lnTo>
                  <a:lnTo>
                    <a:pt x="0" y="14997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84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5" h="1572895">
                  <a:moveTo>
                    <a:pt x="63715" y="0"/>
                  </a:moveTo>
                  <a:lnTo>
                    <a:pt x="0" y="0"/>
                  </a:lnTo>
                  <a:lnTo>
                    <a:pt x="0" y="1572475"/>
                  </a:lnTo>
                  <a:lnTo>
                    <a:pt x="32042" y="1572475"/>
                  </a:lnTo>
                  <a:lnTo>
                    <a:pt x="63715" y="157247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284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5" h="1572895">
                  <a:moveTo>
                    <a:pt x="32042" y="1572475"/>
                  </a:moveTo>
                  <a:lnTo>
                    <a:pt x="0" y="157247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572475"/>
                  </a:lnTo>
                  <a:lnTo>
                    <a:pt x="32042" y="1572475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5473344" y="2658859"/>
            <a:ext cx="72263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10243F"/>
                </a:solidFill>
                <a:latin typeface="Arial"/>
                <a:cs typeface="Arial"/>
              </a:rPr>
              <a:t>Group</a:t>
            </a:r>
            <a:r>
              <a:rPr dirty="0" sz="12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by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73700" y="295586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25985" y="2977464"/>
            <a:ext cx="1092835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Service,</a:t>
            </a:r>
            <a:r>
              <a:rPr dirty="0" sz="105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resource, location</a:t>
            </a:r>
            <a:r>
              <a:rPr dirty="0" sz="10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tag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316584" y="2462529"/>
            <a:ext cx="2289810" cy="1585595"/>
            <a:chOff x="7316584" y="2462529"/>
            <a:chExt cx="2289810" cy="1585595"/>
          </a:xfrm>
        </p:grpSpPr>
        <p:sp>
          <p:nvSpPr>
            <p:cNvPr id="50" name="object 50"/>
            <p:cNvSpPr/>
            <p:nvPr/>
          </p:nvSpPr>
          <p:spPr>
            <a:xfrm>
              <a:off x="7324204" y="3246119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9034" y="355"/>
                  </a:lnTo>
                </a:path>
              </a:pathLst>
            </a:custGeom>
            <a:ln w="1511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468197" y="32086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571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19566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99755"/>
                  </a:lnTo>
                  <a:lnTo>
                    <a:pt x="594" y="1509033"/>
                  </a:lnTo>
                  <a:lnTo>
                    <a:pt x="607" y="1509233"/>
                  </a:lnTo>
                  <a:lnTo>
                    <a:pt x="2395" y="1518434"/>
                  </a:lnTo>
                  <a:lnTo>
                    <a:pt x="2430" y="1518612"/>
                  </a:lnTo>
                  <a:lnTo>
                    <a:pt x="5418" y="1527496"/>
                  </a:lnTo>
                  <a:lnTo>
                    <a:pt x="36360" y="1563116"/>
                  </a:lnTo>
                  <a:lnTo>
                    <a:pt x="73088" y="1572844"/>
                  </a:lnTo>
                  <a:lnTo>
                    <a:pt x="1956968" y="1572475"/>
                  </a:lnTo>
                  <a:lnTo>
                    <a:pt x="2001338" y="1557384"/>
                  </a:lnTo>
                  <a:lnTo>
                    <a:pt x="2027555" y="1518612"/>
                  </a:lnTo>
                  <a:lnTo>
                    <a:pt x="2030021" y="1499755"/>
                  </a:lnTo>
                  <a:lnTo>
                    <a:pt x="2030044" y="1499400"/>
                  </a:lnTo>
                  <a:lnTo>
                    <a:pt x="2029688" y="73075"/>
                  </a:lnTo>
                  <a:lnTo>
                    <a:pt x="2014584" y="28705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571155" y="2468879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133" y="15104"/>
                  </a:lnTo>
                  <a:lnTo>
                    <a:pt x="2027258" y="54224"/>
                  </a:lnTo>
                  <a:lnTo>
                    <a:pt x="2029688" y="73075"/>
                  </a:lnTo>
                  <a:lnTo>
                    <a:pt x="2030044" y="1499400"/>
                  </a:lnTo>
                  <a:lnTo>
                    <a:pt x="2029436" y="1509033"/>
                  </a:lnTo>
                  <a:lnTo>
                    <a:pt x="2027615" y="1518434"/>
                  </a:lnTo>
                  <a:lnTo>
                    <a:pt x="2001338" y="1557384"/>
                  </a:lnTo>
                  <a:lnTo>
                    <a:pt x="1956968" y="1572475"/>
                  </a:lnTo>
                  <a:lnTo>
                    <a:pt x="73088" y="1572844"/>
                  </a:lnTo>
                  <a:lnTo>
                    <a:pt x="28555" y="1557734"/>
                  </a:lnTo>
                  <a:lnTo>
                    <a:pt x="2430" y="1518612"/>
                  </a:lnTo>
                  <a:lnTo>
                    <a:pt x="0" y="14997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570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4" h="1572895">
                  <a:moveTo>
                    <a:pt x="63715" y="0"/>
                  </a:moveTo>
                  <a:lnTo>
                    <a:pt x="0" y="0"/>
                  </a:lnTo>
                  <a:lnTo>
                    <a:pt x="0" y="1572475"/>
                  </a:lnTo>
                  <a:lnTo>
                    <a:pt x="32042" y="1572475"/>
                  </a:lnTo>
                  <a:lnTo>
                    <a:pt x="63715" y="157247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570800" y="2468879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4" h="1572895">
                  <a:moveTo>
                    <a:pt x="32042" y="1572475"/>
                  </a:moveTo>
                  <a:lnTo>
                    <a:pt x="0" y="157247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572475"/>
                  </a:lnTo>
                  <a:lnTo>
                    <a:pt x="32042" y="1572475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7759344" y="2658859"/>
            <a:ext cx="84455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0" b="1">
                <a:solidFill>
                  <a:srgbClr val="10243F"/>
                </a:solidFill>
                <a:latin typeface="Arial"/>
                <a:cs typeface="Arial"/>
              </a:rPr>
              <a:t>Investigate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59700" y="295586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911986" y="2977464"/>
            <a:ext cx="1482725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Find</a:t>
            </a:r>
            <a:r>
              <a:rPr dirty="0" sz="1050" spc="-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idle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compute,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disks, 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other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usage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602644" y="2462580"/>
            <a:ext cx="2289810" cy="1585595"/>
            <a:chOff x="9602644" y="2462580"/>
            <a:chExt cx="2289810" cy="1585595"/>
          </a:xfrm>
        </p:grpSpPr>
        <p:sp>
          <p:nvSpPr>
            <p:cNvPr id="64" name="object 64"/>
            <p:cNvSpPr/>
            <p:nvPr/>
          </p:nvSpPr>
          <p:spPr>
            <a:xfrm>
              <a:off x="9610203" y="3246120"/>
              <a:ext cx="149225" cy="635"/>
            </a:xfrm>
            <a:custGeom>
              <a:avLst/>
              <a:gdLst/>
              <a:ahLst/>
              <a:cxnLst/>
              <a:rect l="l" t="t" r="r" b="b"/>
              <a:pathLst>
                <a:path w="149225" h="635">
                  <a:moveTo>
                    <a:pt x="0" y="0"/>
                  </a:moveTo>
                  <a:lnTo>
                    <a:pt x="149034" y="355"/>
                  </a:lnTo>
                </a:path>
              </a:pathLst>
            </a:custGeom>
            <a:ln w="1511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754196" y="32086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9857155" y="2468880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1956600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499755"/>
                  </a:lnTo>
                  <a:lnTo>
                    <a:pt x="594" y="1509033"/>
                  </a:lnTo>
                  <a:lnTo>
                    <a:pt x="607" y="1509233"/>
                  </a:lnTo>
                  <a:lnTo>
                    <a:pt x="2395" y="1518434"/>
                  </a:lnTo>
                  <a:lnTo>
                    <a:pt x="2430" y="1518612"/>
                  </a:lnTo>
                  <a:lnTo>
                    <a:pt x="5418" y="1527496"/>
                  </a:lnTo>
                  <a:lnTo>
                    <a:pt x="36360" y="1563116"/>
                  </a:lnTo>
                  <a:lnTo>
                    <a:pt x="73088" y="1572844"/>
                  </a:lnTo>
                  <a:lnTo>
                    <a:pt x="1956968" y="1572475"/>
                  </a:lnTo>
                  <a:lnTo>
                    <a:pt x="2001338" y="1557384"/>
                  </a:lnTo>
                  <a:lnTo>
                    <a:pt x="2027555" y="1518612"/>
                  </a:lnTo>
                  <a:lnTo>
                    <a:pt x="2030021" y="1499755"/>
                  </a:lnTo>
                  <a:lnTo>
                    <a:pt x="2030044" y="1499400"/>
                  </a:lnTo>
                  <a:lnTo>
                    <a:pt x="2029688" y="73075"/>
                  </a:lnTo>
                  <a:lnTo>
                    <a:pt x="2014584" y="28705"/>
                  </a:lnTo>
                  <a:lnTo>
                    <a:pt x="1975640" y="2428"/>
                  </a:lnTo>
                  <a:lnTo>
                    <a:pt x="1966239" y="607"/>
                  </a:lnTo>
                  <a:lnTo>
                    <a:pt x="195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857155" y="2468880"/>
              <a:ext cx="2030095" cy="1572895"/>
            </a:xfrm>
            <a:custGeom>
              <a:avLst/>
              <a:gdLst/>
              <a:ahLst/>
              <a:cxnLst/>
              <a:rect l="l" t="t" r="r" b="b"/>
              <a:pathLst>
                <a:path w="2030095" h="1572895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956600" y="0"/>
                  </a:lnTo>
                  <a:lnTo>
                    <a:pt x="2001133" y="15104"/>
                  </a:lnTo>
                  <a:lnTo>
                    <a:pt x="2027258" y="54224"/>
                  </a:lnTo>
                  <a:lnTo>
                    <a:pt x="2029688" y="73075"/>
                  </a:lnTo>
                  <a:lnTo>
                    <a:pt x="2030044" y="1499400"/>
                  </a:lnTo>
                  <a:lnTo>
                    <a:pt x="2029436" y="1509033"/>
                  </a:lnTo>
                  <a:lnTo>
                    <a:pt x="2027615" y="1518434"/>
                  </a:lnTo>
                  <a:lnTo>
                    <a:pt x="2001338" y="1557384"/>
                  </a:lnTo>
                  <a:lnTo>
                    <a:pt x="1956968" y="1572475"/>
                  </a:lnTo>
                  <a:lnTo>
                    <a:pt x="73088" y="1572844"/>
                  </a:lnTo>
                  <a:lnTo>
                    <a:pt x="28555" y="1557734"/>
                  </a:lnTo>
                  <a:lnTo>
                    <a:pt x="2430" y="1518612"/>
                  </a:lnTo>
                  <a:lnTo>
                    <a:pt x="0" y="149975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856799" y="2468880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4" h="1572895">
                  <a:moveTo>
                    <a:pt x="63715" y="0"/>
                  </a:moveTo>
                  <a:lnTo>
                    <a:pt x="0" y="0"/>
                  </a:lnTo>
                  <a:lnTo>
                    <a:pt x="0" y="1572475"/>
                  </a:lnTo>
                  <a:lnTo>
                    <a:pt x="32042" y="1572475"/>
                  </a:lnTo>
                  <a:lnTo>
                    <a:pt x="63715" y="157247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856799" y="2468880"/>
              <a:ext cx="64135" cy="1572895"/>
            </a:xfrm>
            <a:custGeom>
              <a:avLst/>
              <a:gdLst/>
              <a:ahLst/>
              <a:cxnLst/>
              <a:rect l="l" t="t" r="r" b="b"/>
              <a:pathLst>
                <a:path w="64134" h="1572895">
                  <a:moveTo>
                    <a:pt x="32042" y="1572475"/>
                  </a:moveTo>
                  <a:lnTo>
                    <a:pt x="0" y="157247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572475"/>
                  </a:lnTo>
                  <a:lnTo>
                    <a:pt x="32042" y="1572475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10045344" y="2658859"/>
            <a:ext cx="27813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25" b="1">
                <a:solidFill>
                  <a:srgbClr val="10243F"/>
                </a:solidFill>
                <a:latin typeface="Arial"/>
                <a:cs typeface="Arial"/>
              </a:rPr>
              <a:t>Act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045700" y="2955861"/>
            <a:ext cx="7302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197986" y="2977464"/>
            <a:ext cx="1313815" cy="343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Stop/deallocate,</a:t>
            </a:r>
            <a:r>
              <a:rPr dirty="0" sz="105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right-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size,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delete</a:t>
            </a:r>
            <a:r>
              <a:rPr dirty="0" sz="10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retune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953464" y="4519979"/>
            <a:ext cx="4629785" cy="881380"/>
            <a:chOff x="953464" y="4519979"/>
            <a:chExt cx="4629785" cy="881380"/>
          </a:xfrm>
        </p:grpSpPr>
        <p:sp>
          <p:nvSpPr>
            <p:cNvPr id="75" name="object 75"/>
            <p:cNvSpPr/>
            <p:nvPr/>
          </p:nvSpPr>
          <p:spPr>
            <a:xfrm>
              <a:off x="960119" y="4526279"/>
              <a:ext cx="4617720" cy="868680"/>
            </a:xfrm>
            <a:custGeom>
              <a:avLst/>
              <a:gdLst/>
              <a:ahLst/>
              <a:cxnLst/>
              <a:rect l="l" t="t" r="r" b="b"/>
              <a:pathLst>
                <a:path w="4617720" h="868679">
                  <a:moveTo>
                    <a:pt x="45442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412" y="823339"/>
                  </a:lnTo>
                  <a:lnTo>
                    <a:pt x="5464" y="823495"/>
                  </a:lnTo>
                  <a:lnTo>
                    <a:pt x="36360" y="858964"/>
                  </a:lnTo>
                  <a:lnTo>
                    <a:pt x="73075" y="868680"/>
                  </a:lnTo>
                  <a:lnTo>
                    <a:pt x="4544644" y="868324"/>
                  </a:lnTo>
                  <a:lnTo>
                    <a:pt x="4589014" y="853220"/>
                  </a:lnTo>
                  <a:lnTo>
                    <a:pt x="4612178" y="823495"/>
                  </a:lnTo>
                  <a:lnTo>
                    <a:pt x="4612255" y="823339"/>
                  </a:lnTo>
                  <a:lnTo>
                    <a:pt x="4615231" y="814455"/>
                  </a:lnTo>
                  <a:lnTo>
                    <a:pt x="4615291" y="814276"/>
                  </a:lnTo>
                  <a:lnTo>
                    <a:pt x="4617072" y="805080"/>
                  </a:lnTo>
                  <a:lnTo>
                    <a:pt x="4617112" y="804875"/>
                  </a:lnTo>
                  <a:lnTo>
                    <a:pt x="4617696" y="795604"/>
                  </a:lnTo>
                  <a:lnTo>
                    <a:pt x="4617720" y="795235"/>
                  </a:lnTo>
                  <a:lnTo>
                    <a:pt x="4617364" y="73075"/>
                  </a:lnTo>
                  <a:lnTo>
                    <a:pt x="4602260" y="28705"/>
                  </a:lnTo>
                  <a:lnTo>
                    <a:pt x="4563316" y="2428"/>
                  </a:lnTo>
                  <a:lnTo>
                    <a:pt x="4553915" y="607"/>
                  </a:lnTo>
                  <a:lnTo>
                    <a:pt x="4544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60119" y="4526279"/>
              <a:ext cx="4617720" cy="868680"/>
            </a:xfrm>
            <a:custGeom>
              <a:avLst/>
              <a:gdLst/>
              <a:ahLst/>
              <a:cxnLst/>
              <a:rect l="l" t="t" r="r" b="b"/>
              <a:pathLst>
                <a:path w="4617720" h="8686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544275" y="0"/>
                  </a:lnTo>
                  <a:lnTo>
                    <a:pt x="4588808" y="15104"/>
                  </a:lnTo>
                  <a:lnTo>
                    <a:pt x="4614933" y="54224"/>
                  </a:lnTo>
                  <a:lnTo>
                    <a:pt x="4617364" y="73075"/>
                  </a:lnTo>
                  <a:lnTo>
                    <a:pt x="4617720" y="795235"/>
                  </a:lnTo>
                  <a:lnTo>
                    <a:pt x="4617112" y="804875"/>
                  </a:lnTo>
                  <a:lnTo>
                    <a:pt x="4615291" y="814276"/>
                  </a:lnTo>
                  <a:lnTo>
                    <a:pt x="4589014" y="853220"/>
                  </a:lnTo>
                  <a:lnTo>
                    <a:pt x="4544644" y="868324"/>
                  </a:lnTo>
                  <a:lnTo>
                    <a:pt x="73075" y="868680"/>
                  </a:lnTo>
                  <a:lnTo>
                    <a:pt x="28555" y="853575"/>
                  </a:lnTo>
                  <a:lnTo>
                    <a:pt x="2428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59764" y="4526279"/>
              <a:ext cx="64135" cy="868680"/>
            </a:xfrm>
            <a:custGeom>
              <a:avLst/>
              <a:gdLst/>
              <a:ahLst/>
              <a:cxnLst/>
              <a:rect l="l" t="t" r="r" b="b"/>
              <a:pathLst>
                <a:path w="64134" h="868679">
                  <a:moveTo>
                    <a:pt x="63715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32029" y="868324"/>
                  </a:lnTo>
                  <a:lnTo>
                    <a:pt x="63715" y="8683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59764" y="4526279"/>
              <a:ext cx="64135" cy="868680"/>
            </a:xfrm>
            <a:custGeom>
              <a:avLst/>
              <a:gdLst/>
              <a:ahLst/>
              <a:cxnLst/>
              <a:rect l="l" t="t" r="r" b="b"/>
              <a:pathLst>
                <a:path w="64134" h="868679">
                  <a:moveTo>
                    <a:pt x="32029" y="868324"/>
                  </a:moveTo>
                  <a:lnTo>
                    <a:pt x="0" y="8683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68324"/>
                  </a:lnTo>
                  <a:lnTo>
                    <a:pt x="32029" y="86832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>
            <a:off x="1148295" y="4714100"/>
            <a:ext cx="125412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b="1">
                <a:solidFill>
                  <a:srgbClr val="10243F"/>
                </a:solidFill>
                <a:latin typeface="Arial"/>
                <a:cs typeface="Arial"/>
              </a:rPr>
              <a:t>Lab</a:t>
            </a:r>
            <a:r>
              <a:rPr dirty="0" sz="1250" spc="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10243F"/>
                </a:solidFill>
                <a:latin typeface="Arial"/>
                <a:cs typeface="Arial"/>
              </a:rPr>
              <a:t>expectation</a:t>
            </a:r>
            <a:endParaRPr sz="12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148664" y="5002466"/>
            <a:ext cx="6794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00937" y="5034495"/>
            <a:ext cx="3773804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Capture</a:t>
            </a:r>
            <a:r>
              <a:rPr dirty="0" sz="9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top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driver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document</a:t>
            </a:r>
            <a:r>
              <a:rPr dirty="0" sz="9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why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data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yet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available.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375780" y="4519979"/>
            <a:ext cx="4629785" cy="881380"/>
            <a:chOff x="6375780" y="4519979"/>
            <a:chExt cx="4629785" cy="881380"/>
          </a:xfrm>
        </p:grpSpPr>
        <p:sp>
          <p:nvSpPr>
            <p:cNvPr id="83" name="object 83"/>
            <p:cNvSpPr/>
            <p:nvPr/>
          </p:nvSpPr>
          <p:spPr>
            <a:xfrm>
              <a:off x="6382435" y="4526279"/>
              <a:ext cx="4617720" cy="868680"/>
            </a:xfrm>
            <a:custGeom>
              <a:avLst/>
              <a:gdLst/>
              <a:ahLst/>
              <a:cxnLst/>
              <a:rect l="l" t="t" r="r" b="b"/>
              <a:pathLst>
                <a:path w="4617720" h="868679">
                  <a:moveTo>
                    <a:pt x="45442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95604"/>
                  </a:lnTo>
                  <a:lnTo>
                    <a:pt x="594" y="804875"/>
                  </a:lnTo>
                  <a:lnTo>
                    <a:pt x="607" y="805080"/>
                  </a:lnTo>
                  <a:lnTo>
                    <a:pt x="2395" y="814276"/>
                  </a:lnTo>
                  <a:lnTo>
                    <a:pt x="2430" y="814455"/>
                  </a:lnTo>
                  <a:lnTo>
                    <a:pt x="28555" y="853575"/>
                  </a:lnTo>
                  <a:lnTo>
                    <a:pt x="73088" y="868680"/>
                  </a:lnTo>
                  <a:lnTo>
                    <a:pt x="4544644" y="868324"/>
                  </a:lnTo>
                  <a:lnTo>
                    <a:pt x="4589021" y="853220"/>
                  </a:lnTo>
                  <a:lnTo>
                    <a:pt x="4612178" y="823495"/>
                  </a:lnTo>
                  <a:lnTo>
                    <a:pt x="4612255" y="823339"/>
                  </a:lnTo>
                  <a:lnTo>
                    <a:pt x="4615231" y="814455"/>
                  </a:lnTo>
                  <a:lnTo>
                    <a:pt x="4615291" y="814276"/>
                  </a:lnTo>
                  <a:lnTo>
                    <a:pt x="4617072" y="805080"/>
                  </a:lnTo>
                  <a:lnTo>
                    <a:pt x="4617112" y="804875"/>
                  </a:lnTo>
                  <a:lnTo>
                    <a:pt x="4617696" y="795604"/>
                  </a:lnTo>
                  <a:lnTo>
                    <a:pt x="4617720" y="795235"/>
                  </a:lnTo>
                  <a:lnTo>
                    <a:pt x="4617364" y="73075"/>
                  </a:lnTo>
                  <a:lnTo>
                    <a:pt x="4602265" y="28705"/>
                  </a:lnTo>
                  <a:lnTo>
                    <a:pt x="4563317" y="2428"/>
                  </a:lnTo>
                  <a:lnTo>
                    <a:pt x="4553920" y="607"/>
                  </a:lnTo>
                  <a:lnTo>
                    <a:pt x="4544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382435" y="4526279"/>
              <a:ext cx="4617720" cy="868680"/>
            </a:xfrm>
            <a:custGeom>
              <a:avLst/>
              <a:gdLst/>
              <a:ahLst/>
              <a:cxnLst/>
              <a:rect l="l" t="t" r="r" b="b"/>
              <a:pathLst>
                <a:path w="4617720" h="8686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4544288" y="0"/>
                  </a:lnTo>
                  <a:lnTo>
                    <a:pt x="4588809" y="15104"/>
                  </a:lnTo>
                  <a:lnTo>
                    <a:pt x="4614935" y="54224"/>
                  </a:lnTo>
                  <a:lnTo>
                    <a:pt x="4617364" y="73075"/>
                  </a:lnTo>
                  <a:lnTo>
                    <a:pt x="4617720" y="795235"/>
                  </a:lnTo>
                  <a:lnTo>
                    <a:pt x="4617112" y="804875"/>
                  </a:lnTo>
                  <a:lnTo>
                    <a:pt x="4615291" y="814276"/>
                  </a:lnTo>
                  <a:lnTo>
                    <a:pt x="4589021" y="853220"/>
                  </a:lnTo>
                  <a:lnTo>
                    <a:pt x="4544644" y="868324"/>
                  </a:lnTo>
                  <a:lnTo>
                    <a:pt x="73088" y="868680"/>
                  </a:lnTo>
                  <a:lnTo>
                    <a:pt x="28555" y="853575"/>
                  </a:lnTo>
                  <a:lnTo>
                    <a:pt x="2430" y="814455"/>
                  </a:lnTo>
                  <a:lnTo>
                    <a:pt x="0" y="79560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382080" y="4526279"/>
              <a:ext cx="64135" cy="868680"/>
            </a:xfrm>
            <a:custGeom>
              <a:avLst/>
              <a:gdLst/>
              <a:ahLst/>
              <a:cxnLst/>
              <a:rect l="l" t="t" r="r" b="b"/>
              <a:pathLst>
                <a:path w="64135" h="868679">
                  <a:moveTo>
                    <a:pt x="63715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32042" y="868324"/>
                  </a:lnTo>
                  <a:lnTo>
                    <a:pt x="63715" y="8683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382080" y="4526279"/>
              <a:ext cx="64135" cy="868680"/>
            </a:xfrm>
            <a:custGeom>
              <a:avLst/>
              <a:gdLst/>
              <a:ahLst/>
              <a:cxnLst/>
              <a:rect l="l" t="t" r="r" b="b"/>
              <a:pathLst>
                <a:path w="64135" h="868679">
                  <a:moveTo>
                    <a:pt x="32042" y="868324"/>
                  </a:moveTo>
                  <a:lnTo>
                    <a:pt x="0" y="8683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68324"/>
                  </a:lnTo>
                  <a:lnTo>
                    <a:pt x="32042" y="86832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6570624" y="4714100"/>
            <a:ext cx="936625" cy="219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b="1">
                <a:solidFill>
                  <a:srgbClr val="10243F"/>
                </a:solidFill>
                <a:latin typeface="Arial"/>
                <a:cs typeface="Arial"/>
              </a:rPr>
              <a:t>Timing</a:t>
            </a:r>
            <a:r>
              <a:rPr dirty="0" sz="1250" spc="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10243F"/>
                </a:solidFill>
                <a:latin typeface="Arial"/>
                <a:cs typeface="Arial"/>
              </a:rPr>
              <a:t>note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570980" y="4988775"/>
            <a:ext cx="6794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723265" y="5030177"/>
            <a:ext cx="4041140" cy="2730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 marR="5080">
              <a:lnSpc>
                <a:spcPts val="869"/>
              </a:lnSpc>
              <a:spcBef>
                <a:spcPts val="305"/>
              </a:spcBef>
            </a:pP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Usage</a:t>
            </a:r>
            <a:r>
              <a:rPr dirty="0" sz="9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data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delayed;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same-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hour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view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reflect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every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newly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created</a:t>
            </a:r>
            <a:r>
              <a:rPr dirty="0" sz="9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resource.</a:t>
            </a:r>
            <a:endParaRPr sz="9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72300" y="6309982"/>
            <a:ext cx="3020695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4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Cost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Management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overview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cost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data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updates.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13474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2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27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M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Terraform</a:t>
            </a:r>
            <a:r>
              <a:rPr dirty="0" spc="-60"/>
              <a:t> </a:t>
            </a:r>
            <a:r>
              <a:rPr dirty="0"/>
              <a:t>builds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baseline;</a:t>
            </a:r>
            <a:r>
              <a:rPr dirty="0" spc="-140"/>
              <a:t> </a:t>
            </a:r>
            <a:r>
              <a:rPr dirty="0"/>
              <a:t>Azure</a:t>
            </a:r>
            <a:r>
              <a:rPr dirty="0" spc="-55"/>
              <a:t> </a:t>
            </a:r>
            <a:r>
              <a:rPr dirty="0"/>
              <a:t>CLI</a:t>
            </a:r>
            <a:r>
              <a:rPr dirty="0" spc="-55"/>
              <a:t> </a:t>
            </a:r>
            <a:r>
              <a:rPr dirty="0"/>
              <a:t>operates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ticket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89140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Both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tools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useful,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but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team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must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understand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who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owns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each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change.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6304" y="1684984"/>
            <a:ext cx="3303270" cy="3121660"/>
            <a:chOff x="816304" y="1684984"/>
            <a:chExt cx="3303270" cy="3121660"/>
          </a:xfrm>
        </p:grpSpPr>
        <p:sp>
          <p:nvSpPr>
            <p:cNvPr id="7" name="object 7"/>
            <p:cNvSpPr/>
            <p:nvPr/>
          </p:nvSpPr>
          <p:spPr>
            <a:xfrm>
              <a:off x="822604" y="1691284"/>
              <a:ext cx="3291840" cy="3108960"/>
            </a:xfrm>
            <a:custGeom>
              <a:avLst/>
              <a:gdLst/>
              <a:ahLst/>
              <a:cxnLst/>
              <a:rect l="l" t="t" r="r" b="b"/>
              <a:pathLst>
                <a:path w="3291840" h="3108960">
                  <a:moveTo>
                    <a:pt x="32183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035871"/>
                  </a:lnTo>
                  <a:lnTo>
                    <a:pt x="594" y="3045149"/>
                  </a:lnTo>
                  <a:lnTo>
                    <a:pt x="607" y="3045349"/>
                  </a:lnTo>
                  <a:lnTo>
                    <a:pt x="21413" y="3087489"/>
                  </a:lnTo>
                  <a:lnTo>
                    <a:pt x="63442" y="3108352"/>
                  </a:lnTo>
                  <a:lnTo>
                    <a:pt x="73075" y="3108960"/>
                  </a:lnTo>
                  <a:lnTo>
                    <a:pt x="3218751" y="3108591"/>
                  </a:lnTo>
                  <a:lnTo>
                    <a:pt x="3263129" y="3093500"/>
                  </a:lnTo>
                  <a:lnTo>
                    <a:pt x="3289349" y="3054727"/>
                  </a:lnTo>
                  <a:lnTo>
                    <a:pt x="3291193" y="3045349"/>
                  </a:lnTo>
                  <a:lnTo>
                    <a:pt x="3291232" y="3045149"/>
                  </a:lnTo>
                  <a:lnTo>
                    <a:pt x="3291817" y="3035871"/>
                  </a:lnTo>
                  <a:lnTo>
                    <a:pt x="3291840" y="3035515"/>
                  </a:lnTo>
                  <a:lnTo>
                    <a:pt x="3291471" y="73075"/>
                  </a:lnTo>
                  <a:lnTo>
                    <a:pt x="3276380" y="28698"/>
                  </a:lnTo>
                  <a:lnTo>
                    <a:pt x="3237430" y="2428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604" y="1691284"/>
              <a:ext cx="3291840" cy="3108960"/>
            </a:xfrm>
            <a:custGeom>
              <a:avLst/>
              <a:gdLst/>
              <a:ahLst/>
              <a:cxnLst/>
              <a:rect l="l" t="t" r="r" b="b"/>
              <a:pathLst>
                <a:path w="3291840" h="31089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218395" y="0"/>
                  </a:lnTo>
                  <a:lnTo>
                    <a:pt x="3262923" y="15096"/>
                  </a:lnTo>
                  <a:lnTo>
                    <a:pt x="3289042" y="54219"/>
                  </a:lnTo>
                  <a:lnTo>
                    <a:pt x="3291471" y="73075"/>
                  </a:lnTo>
                  <a:lnTo>
                    <a:pt x="3291840" y="3035515"/>
                  </a:lnTo>
                  <a:lnTo>
                    <a:pt x="3291232" y="3045149"/>
                  </a:lnTo>
                  <a:lnTo>
                    <a:pt x="3289409" y="3054550"/>
                  </a:lnTo>
                  <a:lnTo>
                    <a:pt x="3263129" y="3093500"/>
                  </a:lnTo>
                  <a:lnTo>
                    <a:pt x="3218751" y="3108591"/>
                  </a:lnTo>
                  <a:lnTo>
                    <a:pt x="73075" y="3108960"/>
                  </a:lnTo>
                  <a:lnTo>
                    <a:pt x="28548" y="3093850"/>
                  </a:lnTo>
                  <a:lnTo>
                    <a:pt x="2428" y="3054727"/>
                  </a:lnTo>
                  <a:lnTo>
                    <a:pt x="0" y="303587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22604" y="1691284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4" h="3108960">
                  <a:moveTo>
                    <a:pt x="63715" y="0"/>
                  </a:moveTo>
                  <a:lnTo>
                    <a:pt x="0" y="0"/>
                  </a:lnTo>
                  <a:lnTo>
                    <a:pt x="0" y="3108591"/>
                  </a:lnTo>
                  <a:lnTo>
                    <a:pt x="32029" y="3108591"/>
                  </a:lnTo>
                  <a:lnTo>
                    <a:pt x="63715" y="310859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22604" y="1691284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4" h="3108960">
                  <a:moveTo>
                    <a:pt x="32029" y="3108591"/>
                  </a:moveTo>
                  <a:lnTo>
                    <a:pt x="0" y="310859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108591"/>
                  </a:lnTo>
                  <a:lnTo>
                    <a:pt x="32029" y="3108591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11504" y="1854263"/>
            <a:ext cx="967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10243F"/>
                </a:solidFill>
                <a:latin typeface="Arial"/>
                <a:cs typeface="Arial"/>
              </a:rPr>
              <a:t>Terraform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1135" y="2175014"/>
            <a:ext cx="793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3421" y="2199855"/>
            <a:ext cx="174498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Declare</a:t>
            </a:r>
            <a:r>
              <a:rPr dirty="0" sz="1200" spc="-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desired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state.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1135" y="2537168"/>
            <a:ext cx="79375" cy="750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9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5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5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5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3421" y="2562009"/>
            <a:ext cx="2348865" cy="750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435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`init`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loads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providers.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5"/>
              </a:lnSpc>
            </a:pP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`validate`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checks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configuration.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`plan`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previews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changes.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5"/>
              </a:lnSpc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`apply`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creates/updates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resources.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1135" y="3442576"/>
            <a:ext cx="793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3421" y="3467417"/>
            <a:ext cx="257111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tracks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what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Terraform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manages.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28184" y="1684984"/>
            <a:ext cx="3303270" cy="3121660"/>
            <a:chOff x="4428184" y="1684984"/>
            <a:chExt cx="3303270" cy="3121660"/>
          </a:xfrm>
        </p:grpSpPr>
        <p:sp>
          <p:nvSpPr>
            <p:cNvPr id="19" name="object 19"/>
            <p:cNvSpPr/>
            <p:nvPr/>
          </p:nvSpPr>
          <p:spPr>
            <a:xfrm>
              <a:off x="4434484" y="1691284"/>
              <a:ext cx="3291840" cy="3108960"/>
            </a:xfrm>
            <a:custGeom>
              <a:avLst/>
              <a:gdLst/>
              <a:ahLst/>
              <a:cxnLst/>
              <a:rect l="l" t="t" r="r" b="b"/>
              <a:pathLst>
                <a:path w="3291840" h="3108960">
                  <a:moveTo>
                    <a:pt x="32183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035871"/>
                  </a:lnTo>
                  <a:lnTo>
                    <a:pt x="5412" y="3063612"/>
                  </a:lnTo>
                  <a:lnTo>
                    <a:pt x="5464" y="3063767"/>
                  </a:lnTo>
                  <a:lnTo>
                    <a:pt x="36360" y="3099231"/>
                  </a:lnTo>
                  <a:lnTo>
                    <a:pt x="73075" y="3108960"/>
                  </a:lnTo>
                  <a:lnTo>
                    <a:pt x="3218751" y="3108591"/>
                  </a:lnTo>
                  <a:lnTo>
                    <a:pt x="3263129" y="3093500"/>
                  </a:lnTo>
                  <a:lnTo>
                    <a:pt x="3289349" y="3054727"/>
                  </a:lnTo>
                  <a:lnTo>
                    <a:pt x="3291193" y="3045349"/>
                  </a:lnTo>
                  <a:lnTo>
                    <a:pt x="3291232" y="3045149"/>
                  </a:lnTo>
                  <a:lnTo>
                    <a:pt x="3291817" y="3035871"/>
                  </a:lnTo>
                  <a:lnTo>
                    <a:pt x="3291839" y="3035515"/>
                  </a:lnTo>
                  <a:lnTo>
                    <a:pt x="3291471" y="73075"/>
                  </a:lnTo>
                  <a:lnTo>
                    <a:pt x="3276380" y="28698"/>
                  </a:lnTo>
                  <a:lnTo>
                    <a:pt x="3237430" y="2428"/>
                  </a:lnTo>
                  <a:lnTo>
                    <a:pt x="3228029" y="607"/>
                  </a:lnTo>
                  <a:lnTo>
                    <a:pt x="3218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434484" y="1691284"/>
              <a:ext cx="3291840" cy="3108960"/>
            </a:xfrm>
            <a:custGeom>
              <a:avLst/>
              <a:gdLst/>
              <a:ahLst/>
              <a:cxnLst/>
              <a:rect l="l" t="t" r="r" b="b"/>
              <a:pathLst>
                <a:path w="3291840" h="31089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3218395" y="0"/>
                  </a:lnTo>
                  <a:lnTo>
                    <a:pt x="3262923" y="15096"/>
                  </a:lnTo>
                  <a:lnTo>
                    <a:pt x="3289042" y="54219"/>
                  </a:lnTo>
                  <a:lnTo>
                    <a:pt x="3291471" y="73075"/>
                  </a:lnTo>
                  <a:lnTo>
                    <a:pt x="3291839" y="3035515"/>
                  </a:lnTo>
                  <a:lnTo>
                    <a:pt x="3291232" y="3045149"/>
                  </a:lnTo>
                  <a:lnTo>
                    <a:pt x="3289409" y="3054550"/>
                  </a:lnTo>
                  <a:lnTo>
                    <a:pt x="3263129" y="3093500"/>
                  </a:lnTo>
                  <a:lnTo>
                    <a:pt x="3218751" y="3108591"/>
                  </a:lnTo>
                  <a:lnTo>
                    <a:pt x="73075" y="3108960"/>
                  </a:lnTo>
                  <a:lnTo>
                    <a:pt x="28548" y="3093850"/>
                  </a:lnTo>
                  <a:lnTo>
                    <a:pt x="2428" y="3054727"/>
                  </a:lnTo>
                  <a:lnTo>
                    <a:pt x="0" y="303587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34484" y="1691284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5" h="3108960">
                  <a:moveTo>
                    <a:pt x="63715" y="0"/>
                  </a:moveTo>
                  <a:lnTo>
                    <a:pt x="0" y="0"/>
                  </a:lnTo>
                  <a:lnTo>
                    <a:pt x="0" y="3108591"/>
                  </a:lnTo>
                  <a:lnTo>
                    <a:pt x="32029" y="3108591"/>
                  </a:lnTo>
                  <a:lnTo>
                    <a:pt x="63715" y="310859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34484" y="1691284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5" h="3108960">
                  <a:moveTo>
                    <a:pt x="32029" y="3108591"/>
                  </a:moveTo>
                  <a:lnTo>
                    <a:pt x="0" y="310859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108591"/>
                  </a:lnTo>
                  <a:lnTo>
                    <a:pt x="32029" y="3108591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623384" y="1854263"/>
            <a:ext cx="9709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6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10243F"/>
                </a:solidFill>
                <a:latin typeface="Arial"/>
                <a:cs typeface="Arial"/>
              </a:rPr>
              <a:t>CLI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23015" y="2175014"/>
            <a:ext cx="793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75301" y="2199855"/>
            <a:ext cx="2792730" cy="38798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45"/>
              </a:spcBef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Inspect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actual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r>
              <a:rPr dirty="0" sz="12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perform</a:t>
            </a:r>
            <a:r>
              <a:rPr dirty="0" sz="1200" spc="-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scenario actions.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23015" y="2718256"/>
            <a:ext cx="793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75301" y="2743098"/>
            <a:ext cx="2759710" cy="5695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45"/>
              </a:spcBef>
            </a:pP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Examples: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deallocate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VM,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scale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a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VMSS,</a:t>
            </a:r>
            <a:r>
              <a:rPr dirty="0" sz="1200" spc="-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200" spc="-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200" spc="-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size,</a:t>
            </a:r>
            <a:r>
              <a:rPr dirty="0" sz="1200" spc="-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inspect</a:t>
            </a:r>
            <a:r>
              <a:rPr dirty="0" sz="1200" spc="-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storage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policy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create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200" spc="-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metric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alert.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21700" y="1684984"/>
            <a:ext cx="3349625" cy="3121660"/>
            <a:chOff x="8021700" y="1684984"/>
            <a:chExt cx="3349625" cy="3121660"/>
          </a:xfrm>
        </p:grpSpPr>
        <p:sp>
          <p:nvSpPr>
            <p:cNvPr id="29" name="object 29"/>
            <p:cNvSpPr/>
            <p:nvPr/>
          </p:nvSpPr>
          <p:spPr>
            <a:xfrm>
              <a:off x="8028355" y="1691284"/>
              <a:ext cx="3337560" cy="3108960"/>
            </a:xfrm>
            <a:custGeom>
              <a:avLst/>
              <a:gdLst/>
              <a:ahLst/>
              <a:cxnLst/>
              <a:rect l="l" t="t" r="r" b="b"/>
              <a:pathLst>
                <a:path w="3337559" h="3108960">
                  <a:moveTo>
                    <a:pt x="326412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035871"/>
                  </a:lnTo>
                  <a:lnTo>
                    <a:pt x="594" y="3045149"/>
                  </a:lnTo>
                  <a:lnTo>
                    <a:pt x="607" y="3045349"/>
                  </a:lnTo>
                  <a:lnTo>
                    <a:pt x="2395" y="3054550"/>
                  </a:lnTo>
                  <a:lnTo>
                    <a:pt x="2430" y="3054727"/>
                  </a:lnTo>
                  <a:lnTo>
                    <a:pt x="5418" y="3063612"/>
                  </a:lnTo>
                  <a:lnTo>
                    <a:pt x="36360" y="3099231"/>
                  </a:lnTo>
                  <a:lnTo>
                    <a:pt x="73088" y="3108960"/>
                  </a:lnTo>
                  <a:lnTo>
                    <a:pt x="3264484" y="3108591"/>
                  </a:lnTo>
                  <a:lnTo>
                    <a:pt x="3308861" y="3093500"/>
                  </a:lnTo>
                  <a:lnTo>
                    <a:pt x="3335071" y="3054727"/>
                  </a:lnTo>
                  <a:lnTo>
                    <a:pt x="3337537" y="3035871"/>
                  </a:lnTo>
                  <a:lnTo>
                    <a:pt x="3337559" y="3035515"/>
                  </a:lnTo>
                  <a:lnTo>
                    <a:pt x="3337204" y="73075"/>
                  </a:lnTo>
                  <a:lnTo>
                    <a:pt x="3322105" y="28698"/>
                  </a:lnTo>
                  <a:lnTo>
                    <a:pt x="3283157" y="2428"/>
                  </a:lnTo>
                  <a:lnTo>
                    <a:pt x="3273760" y="607"/>
                  </a:lnTo>
                  <a:lnTo>
                    <a:pt x="32641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28355" y="1691284"/>
              <a:ext cx="3337560" cy="3108960"/>
            </a:xfrm>
            <a:custGeom>
              <a:avLst/>
              <a:gdLst/>
              <a:ahLst/>
              <a:cxnLst/>
              <a:rect l="l" t="t" r="r" b="b"/>
              <a:pathLst>
                <a:path w="3337559" h="3108960">
                  <a:moveTo>
                    <a:pt x="0" y="73075"/>
                  </a:moveTo>
                  <a:lnTo>
                    <a:pt x="607" y="63442"/>
                  </a:lnTo>
                  <a:lnTo>
                    <a:pt x="2430" y="54041"/>
                  </a:lnTo>
                  <a:lnTo>
                    <a:pt x="28710" y="15091"/>
                  </a:lnTo>
                  <a:lnTo>
                    <a:pt x="73088" y="0"/>
                  </a:lnTo>
                  <a:lnTo>
                    <a:pt x="3264128" y="0"/>
                  </a:lnTo>
                  <a:lnTo>
                    <a:pt x="3308649" y="15096"/>
                  </a:lnTo>
                  <a:lnTo>
                    <a:pt x="3334775" y="54219"/>
                  </a:lnTo>
                  <a:lnTo>
                    <a:pt x="3337204" y="73075"/>
                  </a:lnTo>
                  <a:lnTo>
                    <a:pt x="3337559" y="3035515"/>
                  </a:lnTo>
                  <a:lnTo>
                    <a:pt x="3336952" y="3045149"/>
                  </a:lnTo>
                  <a:lnTo>
                    <a:pt x="3335131" y="3054550"/>
                  </a:lnTo>
                  <a:lnTo>
                    <a:pt x="3308861" y="3093500"/>
                  </a:lnTo>
                  <a:lnTo>
                    <a:pt x="3264484" y="3108591"/>
                  </a:lnTo>
                  <a:lnTo>
                    <a:pt x="73088" y="3108960"/>
                  </a:lnTo>
                  <a:lnTo>
                    <a:pt x="28555" y="3093850"/>
                  </a:lnTo>
                  <a:lnTo>
                    <a:pt x="2430" y="3054727"/>
                  </a:lnTo>
                  <a:lnTo>
                    <a:pt x="0" y="303587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028000" y="1691284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4" h="3108960">
                  <a:moveTo>
                    <a:pt x="63715" y="0"/>
                  </a:moveTo>
                  <a:lnTo>
                    <a:pt x="0" y="0"/>
                  </a:lnTo>
                  <a:lnTo>
                    <a:pt x="0" y="3108591"/>
                  </a:lnTo>
                  <a:lnTo>
                    <a:pt x="32042" y="3108591"/>
                  </a:lnTo>
                  <a:lnTo>
                    <a:pt x="63715" y="310859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28000" y="1691284"/>
              <a:ext cx="64135" cy="3108960"/>
            </a:xfrm>
            <a:custGeom>
              <a:avLst/>
              <a:gdLst/>
              <a:ahLst/>
              <a:cxnLst/>
              <a:rect l="l" t="t" r="r" b="b"/>
              <a:pathLst>
                <a:path w="64134" h="3108960">
                  <a:moveTo>
                    <a:pt x="32042" y="3108591"/>
                  </a:moveTo>
                  <a:lnTo>
                    <a:pt x="0" y="310859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108591"/>
                  </a:lnTo>
                  <a:lnTo>
                    <a:pt x="32042" y="310859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216544" y="1854263"/>
            <a:ext cx="1534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0243F"/>
                </a:solidFill>
                <a:latin typeface="Arial"/>
                <a:cs typeface="Arial"/>
              </a:rPr>
              <a:t>Drift</a:t>
            </a:r>
            <a:r>
              <a:rPr dirty="0" sz="160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awareness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16900" y="2176817"/>
            <a:ext cx="774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69186" y="2200211"/>
            <a:ext cx="2808605" cy="72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50" spc="-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direct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CLI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differ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from Terraform’s</a:t>
            </a:r>
            <a:r>
              <a:rPr dirty="0" sz="11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recorded</a:t>
            </a:r>
            <a:r>
              <a:rPr dirty="0" sz="11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configuration.</a:t>
            </a:r>
            <a:r>
              <a:rPr dirty="0" sz="11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Review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next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plan;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do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blindly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apply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if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it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proposes undoing a learner’s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change.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7" name="object 3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09904" y="6000381"/>
            <a:ext cx="657923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Before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every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apply: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inspect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plan,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confirm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subscription/resource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group,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and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avoid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 production</a:t>
            </a:r>
            <a:r>
              <a:rPr dirty="0" sz="1000" spc="-1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scopes.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9284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D2-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|</a:t>
            </a:r>
            <a:r>
              <a:rPr dirty="0" spc="-20"/>
              <a:t> </a:t>
            </a:r>
            <a:r>
              <a:rPr dirty="0"/>
              <a:t>Idle</a:t>
            </a:r>
            <a:r>
              <a:rPr dirty="0" spc="-15"/>
              <a:t> </a:t>
            </a:r>
            <a:r>
              <a:rPr dirty="0"/>
              <a:t>compute</a:t>
            </a:r>
            <a:r>
              <a:rPr dirty="0" spc="-15"/>
              <a:t> </a:t>
            </a:r>
            <a:r>
              <a:rPr dirty="0"/>
              <a:t>+</a:t>
            </a:r>
            <a:r>
              <a:rPr dirty="0" spc="-15"/>
              <a:t> </a:t>
            </a:r>
            <a:r>
              <a:rPr dirty="0" spc="-10"/>
              <a:t>scale-</a:t>
            </a:r>
            <a:r>
              <a:rPr dirty="0"/>
              <a:t>out</a:t>
            </a:r>
            <a:r>
              <a:rPr dirty="0" spc="-15"/>
              <a:t> </a:t>
            </a:r>
            <a:r>
              <a:rPr dirty="0"/>
              <a:t>under</a:t>
            </a:r>
            <a:r>
              <a:rPr dirty="0" spc="-20"/>
              <a:t> load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34798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Two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different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symptoms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require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two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separate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validations.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0584" y="1639620"/>
            <a:ext cx="4995545" cy="3350260"/>
            <a:chOff x="770584" y="1639620"/>
            <a:chExt cx="4995545" cy="3350260"/>
          </a:xfrm>
        </p:grpSpPr>
        <p:sp>
          <p:nvSpPr>
            <p:cNvPr id="7" name="object 7"/>
            <p:cNvSpPr/>
            <p:nvPr/>
          </p:nvSpPr>
          <p:spPr>
            <a:xfrm>
              <a:off x="777240" y="1645919"/>
              <a:ext cx="4983480" cy="3337560"/>
            </a:xfrm>
            <a:custGeom>
              <a:avLst/>
              <a:gdLst/>
              <a:ahLst/>
              <a:cxnLst/>
              <a:rect l="l" t="t" r="r" b="b"/>
              <a:pathLst>
                <a:path w="4983480" h="3337560">
                  <a:moveTo>
                    <a:pt x="491003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264484"/>
                  </a:lnTo>
                  <a:lnTo>
                    <a:pt x="597" y="3273755"/>
                  </a:lnTo>
                  <a:lnTo>
                    <a:pt x="607" y="3273910"/>
                  </a:lnTo>
                  <a:lnTo>
                    <a:pt x="21285" y="3316092"/>
                  </a:lnTo>
                  <a:lnTo>
                    <a:pt x="63443" y="3336952"/>
                  </a:lnTo>
                  <a:lnTo>
                    <a:pt x="73075" y="3337559"/>
                  </a:lnTo>
                  <a:lnTo>
                    <a:pt x="4910404" y="3337204"/>
                  </a:lnTo>
                  <a:lnTo>
                    <a:pt x="4954774" y="3322150"/>
                  </a:lnTo>
                  <a:lnTo>
                    <a:pt x="4981035" y="3283202"/>
                  </a:lnTo>
                  <a:lnTo>
                    <a:pt x="4983456" y="3264484"/>
                  </a:lnTo>
                  <a:lnTo>
                    <a:pt x="4983480" y="3264115"/>
                  </a:lnTo>
                  <a:lnTo>
                    <a:pt x="4983124" y="73075"/>
                  </a:lnTo>
                  <a:lnTo>
                    <a:pt x="4968070" y="28705"/>
                  </a:lnTo>
                  <a:lnTo>
                    <a:pt x="4929076" y="2428"/>
                  </a:lnTo>
                  <a:lnTo>
                    <a:pt x="4919675" y="607"/>
                  </a:lnTo>
                  <a:lnTo>
                    <a:pt x="4910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40" y="1645919"/>
              <a:ext cx="4983480" cy="3337560"/>
            </a:xfrm>
            <a:custGeom>
              <a:avLst/>
              <a:gdLst/>
              <a:ahLst/>
              <a:cxnLst/>
              <a:rect l="l" t="t" r="r" b="b"/>
              <a:pathLst>
                <a:path w="4983480" h="33375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4910035" y="0"/>
                  </a:lnTo>
                  <a:lnTo>
                    <a:pt x="4954718" y="15104"/>
                  </a:lnTo>
                  <a:lnTo>
                    <a:pt x="4980693" y="54357"/>
                  </a:lnTo>
                  <a:lnTo>
                    <a:pt x="4983124" y="73075"/>
                  </a:lnTo>
                  <a:lnTo>
                    <a:pt x="4983480" y="3264115"/>
                  </a:lnTo>
                  <a:lnTo>
                    <a:pt x="4982872" y="3273755"/>
                  </a:lnTo>
                  <a:lnTo>
                    <a:pt x="4981051" y="3283156"/>
                  </a:lnTo>
                  <a:lnTo>
                    <a:pt x="4954774" y="3322150"/>
                  </a:lnTo>
                  <a:lnTo>
                    <a:pt x="4910404" y="3337204"/>
                  </a:lnTo>
                  <a:lnTo>
                    <a:pt x="73075" y="3337559"/>
                  </a:lnTo>
                  <a:lnTo>
                    <a:pt x="28399" y="3322455"/>
                  </a:lnTo>
                  <a:lnTo>
                    <a:pt x="2428" y="3283202"/>
                  </a:lnTo>
                  <a:lnTo>
                    <a:pt x="0" y="326448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1645919"/>
              <a:ext cx="64135" cy="3337560"/>
            </a:xfrm>
            <a:custGeom>
              <a:avLst/>
              <a:gdLst/>
              <a:ahLst/>
              <a:cxnLst/>
              <a:rect l="l" t="t" r="r" b="b"/>
              <a:pathLst>
                <a:path w="64134" h="3337560">
                  <a:moveTo>
                    <a:pt x="63715" y="0"/>
                  </a:moveTo>
                  <a:lnTo>
                    <a:pt x="0" y="0"/>
                  </a:lnTo>
                  <a:lnTo>
                    <a:pt x="0" y="3337204"/>
                  </a:lnTo>
                  <a:lnTo>
                    <a:pt x="32029" y="3337204"/>
                  </a:lnTo>
                  <a:lnTo>
                    <a:pt x="63715" y="333720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1645919"/>
              <a:ext cx="64135" cy="3337560"/>
            </a:xfrm>
            <a:custGeom>
              <a:avLst/>
              <a:gdLst/>
              <a:ahLst/>
              <a:cxnLst/>
              <a:rect l="l" t="t" r="r" b="b"/>
              <a:pathLst>
                <a:path w="64134" h="3337560">
                  <a:moveTo>
                    <a:pt x="32029" y="3337204"/>
                  </a:moveTo>
                  <a:lnTo>
                    <a:pt x="0" y="333720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337204"/>
                  </a:lnTo>
                  <a:lnTo>
                    <a:pt x="32029" y="333720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415" y="1816100"/>
            <a:ext cx="16617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10243F"/>
                </a:solidFill>
                <a:latin typeface="Arial"/>
                <a:cs typeface="Arial"/>
              </a:rPr>
              <a:t>Track</a:t>
            </a:r>
            <a:r>
              <a:rPr dirty="0" sz="15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500" spc="-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—</a:t>
            </a:r>
            <a:r>
              <a:rPr dirty="0" sz="1500" spc="-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Idle</a:t>
            </a:r>
            <a:r>
              <a:rPr dirty="0" sz="15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784" y="2130742"/>
            <a:ext cx="77470" cy="7200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057" y="2154148"/>
            <a:ext cx="3695065" cy="7200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71450" indent="-15875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Identify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intended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test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by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name,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status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size.</a:t>
            </a:r>
            <a:endParaRPr sz="1100">
              <a:latin typeface="Arial"/>
              <a:cs typeface="Arial"/>
            </a:endParaRPr>
          </a:p>
          <a:p>
            <a:pPr marL="171450" indent="-15875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Deallocate</a:t>
            </a:r>
            <a:r>
              <a:rPr dirty="0" sz="11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it.</a:t>
            </a:r>
            <a:endParaRPr sz="1100">
              <a:latin typeface="Arial"/>
              <a:cs typeface="Arial"/>
            </a:endParaRPr>
          </a:p>
          <a:p>
            <a:pPr marL="171450" indent="-15875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Stopped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(deallocated).</a:t>
            </a:r>
            <a:endParaRPr sz="1100">
              <a:latin typeface="Arial"/>
              <a:cs typeface="Arial"/>
            </a:endParaRPr>
          </a:p>
          <a:p>
            <a:pPr marL="171450" indent="-15875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Record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right-size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recommendation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next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run.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784" y="2998342"/>
            <a:ext cx="77470" cy="37274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057" y="3021749"/>
            <a:ext cx="2797175" cy="37274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Example</a:t>
            </a:r>
            <a:r>
              <a:rPr dirty="0" sz="11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command: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az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deallocate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-g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&lt;RG&gt;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-n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&lt;VM_NAME&gt;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56984" y="1639620"/>
            <a:ext cx="4995545" cy="3350260"/>
            <a:chOff x="6256984" y="1639620"/>
            <a:chExt cx="4995545" cy="3350260"/>
          </a:xfrm>
        </p:grpSpPr>
        <p:sp>
          <p:nvSpPr>
            <p:cNvPr id="17" name="object 17"/>
            <p:cNvSpPr/>
            <p:nvPr/>
          </p:nvSpPr>
          <p:spPr>
            <a:xfrm>
              <a:off x="6263639" y="1645919"/>
              <a:ext cx="4983480" cy="3337560"/>
            </a:xfrm>
            <a:custGeom>
              <a:avLst/>
              <a:gdLst/>
              <a:ahLst/>
              <a:cxnLst/>
              <a:rect l="l" t="t" r="r" b="b"/>
              <a:pathLst>
                <a:path w="4983480" h="3337560">
                  <a:moveTo>
                    <a:pt x="491003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264484"/>
                  </a:lnTo>
                  <a:lnTo>
                    <a:pt x="597" y="3273755"/>
                  </a:lnTo>
                  <a:lnTo>
                    <a:pt x="607" y="3273910"/>
                  </a:lnTo>
                  <a:lnTo>
                    <a:pt x="21285" y="3316092"/>
                  </a:lnTo>
                  <a:lnTo>
                    <a:pt x="63443" y="3336952"/>
                  </a:lnTo>
                  <a:lnTo>
                    <a:pt x="73075" y="3337559"/>
                  </a:lnTo>
                  <a:lnTo>
                    <a:pt x="4910404" y="3337204"/>
                  </a:lnTo>
                  <a:lnTo>
                    <a:pt x="4954774" y="3322150"/>
                  </a:lnTo>
                  <a:lnTo>
                    <a:pt x="4981035" y="3283202"/>
                  </a:lnTo>
                  <a:lnTo>
                    <a:pt x="4983456" y="3264484"/>
                  </a:lnTo>
                  <a:lnTo>
                    <a:pt x="4983480" y="3264115"/>
                  </a:lnTo>
                  <a:lnTo>
                    <a:pt x="4983124" y="73075"/>
                  </a:lnTo>
                  <a:lnTo>
                    <a:pt x="4968070" y="28705"/>
                  </a:lnTo>
                  <a:lnTo>
                    <a:pt x="4929076" y="2428"/>
                  </a:lnTo>
                  <a:lnTo>
                    <a:pt x="4919675" y="607"/>
                  </a:lnTo>
                  <a:lnTo>
                    <a:pt x="4910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63639" y="1645919"/>
              <a:ext cx="4983480" cy="3337560"/>
            </a:xfrm>
            <a:custGeom>
              <a:avLst/>
              <a:gdLst/>
              <a:ahLst/>
              <a:cxnLst/>
              <a:rect l="l" t="t" r="r" b="b"/>
              <a:pathLst>
                <a:path w="4983480" h="33375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4910035" y="0"/>
                  </a:lnTo>
                  <a:lnTo>
                    <a:pt x="4954718" y="15104"/>
                  </a:lnTo>
                  <a:lnTo>
                    <a:pt x="4980693" y="54357"/>
                  </a:lnTo>
                  <a:lnTo>
                    <a:pt x="4983124" y="73075"/>
                  </a:lnTo>
                  <a:lnTo>
                    <a:pt x="4983480" y="3264115"/>
                  </a:lnTo>
                  <a:lnTo>
                    <a:pt x="4982872" y="3273755"/>
                  </a:lnTo>
                  <a:lnTo>
                    <a:pt x="4981051" y="3283156"/>
                  </a:lnTo>
                  <a:lnTo>
                    <a:pt x="4954774" y="3322150"/>
                  </a:lnTo>
                  <a:lnTo>
                    <a:pt x="4910404" y="3337204"/>
                  </a:lnTo>
                  <a:lnTo>
                    <a:pt x="73075" y="3337559"/>
                  </a:lnTo>
                  <a:lnTo>
                    <a:pt x="28399" y="3322455"/>
                  </a:lnTo>
                  <a:lnTo>
                    <a:pt x="2428" y="3283202"/>
                  </a:lnTo>
                  <a:lnTo>
                    <a:pt x="0" y="326448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63284" y="1645919"/>
              <a:ext cx="64135" cy="3337560"/>
            </a:xfrm>
            <a:custGeom>
              <a:avLst/>
              <a:gdLst/>
              <a:ahLst/>
              <a:cxnLst/>
              <a:rect l="l" t="t" r="r" b="b"/>
              <a:pathLst>
                <a:path w="64135" h="3337560">
                  <a:moveTo>
                    <a:pt x="63715" y="0"/>
                  </a:moveTo>
                  <a:lnTo>
                    <a:pt x="0" y="0"/>
                  </a:lnTo>
                  <a:lnTo>
                    <a:pt x="0" y="3337204"/>
                  </a:lnTo>
                  <a:lnTo>
                    <a:pt x="32029" y="3337204"/>
                  </a:lnTo>
                  <a:lnTo>
                    <a:pt x="63715" y="333720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63284" y="1645919"/>
              <a:ext cx="64135" cy="3337560"/>
            </a:xfrm>
            <a:custGeom>
              <a:avLst/>
              <a:gdLst/>
              <a:ahLst/>
              <a:cxnLst/>
              <a:rect l="l" t="t" r="r" b="b"/>
              <a:pathLst>
                <a:path w="64135" h="3337560">
                  <a:moveTo>
                    <a:pt x="32029" y="3337204"/>
                  </a:moveTo>
                  <a:lnTo>
                    <a:pt x="0" y="333720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337204"/>
                  </a:lnTo>
                  <a:lnTo>
                    <a:pt x="32029" y="333720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51815" y="1816100"/>
            <a:ext cx="21939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0243F"/>
                </a:solidFill>
                <a:latin typeface="Arial"/>
                <a:cs typeface="Arial"/>
              </a:rPr>
              <a:t>Track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B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—</a:t>
            </a:r>
            <a:r>
              <a:rPr dirty="0" sz="15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5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10243F"/>
                </a:solidFill>
                <a:latin typeface="Arial"/>
                <a:cs typeface="Arial"/>
              </a:rPr>
              <a:t>Set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52184" y="2130742"/>
            <a:ext cx="77470" cy="7200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04457" y="2154148"/>
            <a:ext cx="3559810" cy="7200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71450" indent="-15875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Capture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capacity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instance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states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before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change.</a:t>
            </a:r>
            <a:endParaRPr sz="1100">
              <a:latin typeface="Arial"/>
              <a:cs typeface="Arial"/>
            </a:endParaRPr>
          </a:p>
          <a:p>
            <a:pPr marL="171450" indent="-15875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Scale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desired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capacity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2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4.</a:t>
            </a:r>
            <a:endParaRPr sz="1100">
              <a:latin typeface="Arial"/>
              <a:cs typeface="Arial"/>
            </a:endParaRPr>
          </a:p>
          <a:p>
            <a:pPr marL="171450" indent="-15875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7145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Wait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provisioning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health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checks.</a:t>
            </a:r>
            <a:endParaRPr sz="1100">
              <a:latin typeface="Arial"/>
              <a:cs typeface="Arial"/>
            </a:endParaRPr>
          </a:p>
          <a:p>
            <a:pPr marL="168910" indent="-15621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68910" algn="l"/>
              </a:tabLst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Test</a:t>
            </a:r>
            <a:r>
              <a:rPr dirty="0" sz="11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app</a:t>
            </a:r>
            <a:r>
              <a:rPr dirty="0" sz="11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path;</a:t>
            </a:r>
            <a:r>
              <a:rPr dirty="0" sz="1100" spc="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confirm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timeouts</a:t>
            </a:r>
            <a:r>
              <a:rPr dirty="0" sz="1100" spc="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clear.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52184" y="2998342"/>
            <a:ext cx="77470" cy="37274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04457" y="3021749"/>
            <a:ext cx="3913504" cy="37274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Example</a:t>
            </a:r>
            <a:r>
              <a:rPr dirty="0" sz="11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command: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az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vmss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scale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-g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&lt;RG&gt;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-n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&lt;VMSS_NAME&gt;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--new-capacity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27" name="object 2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09904" y="6000381"/>
            <a:ext cx="66274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Evidence: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before/after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power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state,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VMSS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capacity,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healthy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instances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application-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level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verification.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9284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D2-</a:t>
            </a:r>
            <a:r>
              <a:rPr dirty="0"/>
              <a:t>2</a:t>
            </a:r>
            <a:r>
              <a:rPr dirty="0" spc="-10"/>
              <a:t> </a:t>
            </a:r>
            <a:r>
              <a:rPr dirty="0"/>
              <a:t>|</a:t>
            </a:r>
            <a:r>
              <a:rPr dirty="0" spc="-15"/>
              <a:t> </a:t>
            </a:r>
            <a:r>
              <a:rPr dirty="0"/>
              <a:t>SSH</a:t>
            </a:r>
            <a:r>
              <a:rPr dirty="0" spc="-10"/>
              <a:t> </a:t>
            </a:r>
            <a:r>
              <a:rPr dirty="0"/>
              <a:t>path</a:t>
            </a:r>
            <a:r>
              <a:rPr dirty="0" spc="-10"/>
              <a:t> </a:t>
            </a:r>
            <a:r>
              <a:rPr dirty="0"/>
              <a:t>+</a:t>
            </a:r>
            <a:r>
              <a:rPr dirty="0" spc="-5"/>
              <a:t> </a:t>
            </a:r>
            <a:r>
              <a:rPr dirty="0"/>
              <a:t>private</a:t>
            </a:r>
            <a:r>
              <a:rPr dirty="0" spc="-10"/>
              <a:t> </a:t>
            </a:r>
            <a:r>
              <a:rPr dirty="0"/>
              <a:t>egress</a:t>
            </a:r>
            <a:r>
              <a:rPr dirty="0" spc="-10"/>
              <a:t> </a:t>
            </a:r>
            <a:r>
              <a:rPr dirty="0" spc="-20"/>
              <a:t>path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477710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Do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treat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SSH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ingress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private-subnet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internet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egress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same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fault.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61580" y="1621255"/>
            <a:ext cx="5086985" cy="3414395"/>
            <a:chOff x="761580" y="1621255"/>
            <a:chExt cx="5086985" cy="3414395"/>
          </a:xfrm>
        </p:grpSpPr>
        <p:sp>
          <p:nvSpPr>
            <p:cNvPr id="7" name="object 7"/>
            <p:cNvSpPr/>
            <p:nvPr/>
          </p:nvSpPr>
          <p:spPr>
            <a:xfrm>
              <a:off x="768235" y="1627555"/>
              <a:ext cx="5074920" cy="3401695"/>
            </a:xfrm>
            <a:custGeom>
              <a:avLst/>
              <a:gdLst/>
              <a:ahLst/>
              <a:cxnLst/>
              <a:rect l="l" t="t" r="r" b="b"/>
              <a:pathLst>
                <a:path w="5074920" h="3401695">
                  <a:moveTo>
                    <a:pt x="5001488" y="0"/>
                  </a:moveTo>
                  <a:lnTo>
                    <a:pt x="73088" y="0"/>
                  </a:lnTo>
                  <a:lnTo>
                    <a:pt x="63660" y="607"/>
                  </a:lnTo>
                  <a:lnTo>
                    <a:pt x="21470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328568"/>
                  </a:lnTo>
                  <a:lnTo>
                    <a:pt x="15053" y="3372938"/>
                  </a:lnTo>
                  <a:lnTo>
                    <a:pt x="54048" y="3399215"/>
                  </a:lnTo>
                  <a:lnTo>
                    <a:pt x="73088" y="3401644"/>
                  </a:lnTo>
                  <a:lnTo>
                    <a:pt x="5001844" y="3401288"/>
                  </a:lnTo>
                  <a:lnTo>
                    <a:pt x="5046221" y="3386234"/>
                  </a:lnTo>
                  <a:lnTo>
                    <a:pt x="5072475" y="3347286"/>
                  </a:lnTo>
                  <a:lnTo>
                    <a:pt x="5074896" y="3328568"/>
                  </a:lnTo>
                  <a:lnTo>
                    <a:pt x="5074920" y="3328200"/>
                  </a:lnTo>
                  <a:lnTo>
                    <a:pt x="5074564" y="73088"/>
                  </a:lnTo>
                  <a:lnTo>
                    <a:pt x="5059517" y="28710"/>
                  </a:lnTo>
                  <a:lnTo>
                    <a:pt x="5020517" y="2430"/>
                  </a:lnTo>
                  <a:lnTo>
                    <a:pt x="5011120" y="607"/>
                  </a:lnTo>
                  <a:lnTo>
                    <a:pt x="5001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8235" y="1627555"/>
              <a:ext cx="5074920" cy="3401695"/>
            </a:xfrm>
            <a:custGeom>
              <a:avLst/>
              <a:gdLst/>
              <a:ahLst/>
              <a:cxnLst/>
              <a:rect l="l" t="t" r="r" b="b"/>
              <a:pathLst>
                <a:path w="5074920" h="3401695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053"/>
                  </a:lnTo>
                  <a:lnTo>
                    <a:pt x="73088" y="0"/>
                  </a:lnTo>
                  <a:lnTo>
                    <a:pt x="5001488" y="0"/>
                  </a:lnTo>
                  <a:lnTo>
                    <a:pt x="5046164" y="15109"/>
                  </a:lnTo>
                  <a:lnTo>
                    <a:pt x="5072135" y="54365"/>
                  </a:lnTo>
                  <a:lnTo>
                    <a:pt x="5074564" y="73088"/>
                  </a:lnTo>
                  <a:lnTo>
                    <a:pt x="5074920" y="3328200"/>
                  </a:lnTo>
                  <a:lnTo>
                    <a:pt x="5074312" y="3337839"/>
                  </a:lnTo>
                  <a:lnTo>
                    <a:pt x="5072491" y="3347240"/>
                  </a:lnTo>
                  <a:lnTo>
                    <a:pt x="5046221" y="3386234"/>
                  </a:lnTo>
                  <a:lnTo>
                    <a:pt x="5001844" y="3401288"/>
                  </a:lnTo>
                  <a:lnTo>
                    <a:pt x="73088" y="3401644"/>
                  </a:lnTo>
                  <a:lnTo>
                    <a:pt x="28405" y="3386540"/>
                  </a:lnTo>
                  <a:lnTo>
                    <a:pt x="2430" y="3347286"/>
                  </a:lnTo>
                  <a:lnTo>
                    <a:pt x="0" y="33285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6788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4" h="3401695">
                  <a:moveTo>
                    <a:pt x="63715" y="0"/>
                  </a:moveTo>
                  <a:lnTo>
                    <a:pt x="0" y="0"/>
                  </a:lnTo>
                  <a:lnTo>
                    <a:pt x="0" y="3401288"/>
                  </a:lnTo>
                  <a:lnTo>
                    <a:pt x="32042" y="3401288"/>
                  </a:lnTo>
                  <a:lnTo>
                    <a:pt x="63715" y="340128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7880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4" h="3401695">
                  <a:moveTo>
                    <a:pt x="32042" y="3401288"/>
                  </a:moveTo>
                  <a:lnTo>
                    <a:pt x="0" y="340128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3401288"/>
                  </a:lnTo>
                  <a:lnTo>
                    <a:pt x="32042" y="3401288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56055" y="1797748"/>
            <a:ext cx="15690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5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to</a:t>
            </a:r>
            <a:r>
              <a:rPr dirty="0" sz="15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5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new</a:t>
            </a:r>
            <a:r>
              <a:rPr dirty="0" sz="1500" spc="-1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424" y="2112378"/>
            <a:ext cx="77470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8697" y="2135771"/>
            <a:ext cx="3717290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Check in</a:t>
            </a:r>
            <a:r>
              <a:rPr dirty="0" sz="11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order: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Public/private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approach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intended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IP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exists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if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needed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this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design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Effective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rule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allows</a:t>
            </a:r>
            <a:r>
              <a:rPr dirty="0" sz="11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TCP/22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trusted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source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Username,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SSH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service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are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correct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6424" y="3164293"/>
            <a:ext cx="774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8697" y="3187700"/>
            <a:ext cx="24701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Proof:</a:t>
            </a:r>
            <a:r>
              <a:rPr dirty="0" sz="11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connect</a:t>
            </a:r>
            <a:r>
              <a:rPr dirty="0" sz="11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approved</a:t>
            </a:r>
            <a:r>
              <a:rPr dirty="0" sz="11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source.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38176" y="1621255"/>
            <a:ext cx="5086985" cy="3414395"/>
            <a:chOff x="6138176" y="1621255"/>
            <a:chExt cx="5086985" cy="3414395"/>
          </a:xfrm>
        </p:grpSpPr>
        <p:sp>
          <p:nvSpPr>
            <p:cNvPr id="17" name="object 17"/>
            <p:cNvSpPr/>
            <p:nvPr/>
          </p:nvSpPr>
          <p:spPr>
            <a:xfrm>
              <a:off x="6144844" y="1627555"/>
              <a:ext cx="5074920" cy="3401695"/>
            </a:xfrm>
            <a:custGeom>
              <a:avLst/>
              <a:gdLst/>
              <a:ahLst/>
              <a:cxnLst/>
              <a:rect l="l" t="t" r="r" b="b"/>
              <a:pathLst>
                <a:path w="5074920" h="3401695">
                  <a:moveTo>
                    <a:pt x="50014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328568"/>
                  </a:lnTo>
                  <a:lnTo>
                    <a:pt x="597" y="3337839"/>
                  </a:lnTo>
                  <a:lnTo>
                    <a:pt x="607" y="3337994"/>
                  </a:lnTo>
                  <a:lnTo>
                    <a:pt x="21280" y="3380176"/>
                  </a:lnTo>
                  <a:lnTo>
                    <a:pt x="63442" y="3401036"/>
                  </a:lnTo>
                  <a:lnTo>
                    <a:pt x="73075" y="3401644"/>
                  </a:lnTo>
                  <a:lnTo>
                    <a:pt x="5001831" y="3401288"/>
                  </a:lnTo>
                  <a:lnTo>
                    <a:pt x="5046209" y="3386234"/>
                  </a:lnTo>
                  <a:lnTo>
                    <a:pt x="5072474" y="3347286"/>
                  </a:lnTo>
                  <a:lnTo>
                    <a:pt x="5074896" y="3328568"/>
                  </a:lnTo>
                  <a:lnTo>
                    <a:pt x="5074920" y="3328200"/>
                  </a:lnTo>
                  <a:lnTo>
                    <a:pt x="5074551" y="73088"/>
                  </a:lnTo>
                  <a:lnTo>
                    <a:pt x="5059510" y="28710"/>
                  </a:lnTo>
                  <a:lnTo>
                    <a:pt x="5020510" y="2430"/>
                  </a:lnTo>
                  <a:lnTo>
                    <a:pt x="5011109" y="607"/>
                  </a:lnTo>
                  <a:lnTo>
                    <a:pt x="5001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44844" y="1627555"/>
              <a:ext cx="5074920" cy="3401695"/>
            </a:xfrm>
            <a:custGeom>
              <a:avLst/>
              <a:gdLst/>
              <a:ahLst/>
              <a:cxnLst/>
              <a:rect l="l" t="t" r="r" b="b"/>
              <a:pathLst>
                <a:path w="5074920" h="3401695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5001475" y="0"/>
                  </a:lnTo>
                  <a:lnTo>
                    <a:pt x="5046153" y="15109"/>
                  </a:lnTo>
                  <a:lnTo>
                    <a:pt x="5072122" y="54365"/>
                  </a:lnTo>
                  <a:lnTo>
                    <a:pt x="5074551" y="73088"/>
                  </a:lnTo>
                  <a:lnTo>
                    <a:pt x="5074920" y="3328200"/>
                  </a:lnTo>
                  <a:lnTo>
                    <a:pt x="5074312" y="3337839"/>
                  </a:lnTo>
                  <a:lnTo>
                    <a:pt x="5072489" y="3347240"/>
                  </a:lnTo>
                  <a:lnTo>
                    <a:pt x="5046209" y="3386234"/>
                  </a:lnTo>
                  <a:lnTo>
                    <a:pt x="5001831" y="3401288"/>
                  </a:lnTo>
                  <a:lnTo>
                    <a:pt x="73075" y="3401644"/>
                  </a:lnTo>
                  <a:lnTo>
                    <a:pt x="28398" y="3386540"/>
                  </a:lnTo>
                  <a:lnTo>
                    <a:pt x="2428" y="3347286"/>
                  </a:lnTo>
                  <a:lnTo>
                    <a:pt x="0" y="3328568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44476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5" h="3401695">
                  <a:moveTo>
                    <a:pt x="63728" y="0"/>
                  </a:moveTo>
                  <a:lnTo>
                    <a:pt x="0" y="0"/>
                  </a:lnTo>
                  <a:lnTo>
                    <a:pt x="0" y="3401288"/>
                  </a:lnTo>
                  <a:lnTo>
                    <a:pt x="32042" y="3401288"/>
                  </a:lnTo>
                  <a:lnTo>
                    <a:pt x="63728" y="3401288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44476" y="1627555"/>
              <a:ext cx="64135" cy="3401695"/>
            </a:xfrm>
            <a:custGeom>
              <a:avLst/>
              <a:gdLst/>
              <a:ahLst/>
              <a:cxnLst/>
              <a:rect l="l" t="t" r="r" b="b"/>
              <a:pathLst>
                <a:path w="64135" h="3401695">
                  <a:moveTo>
                    <a:pt x="32042" y="3401288"/>
                  </a:moveTo>
                  <a:lnTo>
                    <a:pt x="0" y="3401288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3401288"/>
                  </a:lnTo>
                  <a:lnTo>
                    <a:pt x="32042" y="3401288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333020" y="1797748"/>
            <a:ext cx="16649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50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50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0243F"/>
                </a:solidFill>
                <a:latin typeface="Arial"/>
                <a:cs typeface="Arial"/>
              </a:rPr>
              <a:t>egress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33375" y="2112378"/>
            <a:ext cx="77470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5661" y="2135771"/>
            <a:ext cx="3399154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Check in</a:t>
            </a:r>
            <a:r>
              <a:rPr dirty="0" sz="11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order: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Explicit</a:t>
            </a:r>
            <a:r>
              <a:rPr dirty="0" sz="11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15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method</a:t>
            </a:r>
            <a:r>
              <a:rPr dirty="0" sz="11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exists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115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Gateway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associated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subnet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allows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flow</a:t>
            </a:r>
            <a:endParaRPr sz="1150">
              <a:latin typeface="Arial"/>
              <a:cs typeface="Arial"/>
            </a:endParaRPr>
          </a:p>
          <a:p>
            <a:pPr marL="102235" indent="-89535">
              <a:lnSpc>
                <a:spcPct val="100000"/>
              </a:lnSpc>
              <a:buChar char="-"/>
              <a:tabLst>
                <a:tab pos="102235" algn="l"/>
              </a:tabLst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DNS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target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endpoint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are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reachable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33375" y="3164293"/>
            <a:ext cx="774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5661" y="3187700"/>
            <a:ext cx="431419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Proof: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curl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permitted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HTTPS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endpoint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VM,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while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preserving</a:t>
            </a:r>
            <a:r>
              <a:rPr dirty="0" sz="11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no-public-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IP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design.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27" name="object 2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09904" y="6000381"/>
            <a:ext cx="68256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Safer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default: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never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open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SSH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from</a:t>
            </a:r>
            <a:r>
              <a:rPr dirty="0" sz="1000" spc="-3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“Internet”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for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convenience;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use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/32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source,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Bastion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or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approved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jump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path.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9284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3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D2-</a:t>
            </a:r>
            <a:r>
              <a:rPr dirty="0"/>
              <a:t>3</a:t>
            </a:r>
            <a:r>
              <a:rPr dirty="0" spc="-15"/>
              <a:t> </a:t>
            </a:r>
            <a:r>
              <a:rPr dirty="0"/>
              <a:t>|</a:t>
            </a:r>
            <a:r>
              <a:rPr dirty="0" spc="-20"/>
              <a:t> </a:t>
            </a:r>
            <a:r>
              <a:rPr dirty="0"/>
              <a:t>Online</a:t>
            </a:r>
            <a:r>
              <a:rPr dirty="0" spc="-15"/>
              <a:t> </a:t>
            </a:r>
            <a:r>
              <a:rPr dirty="0" spc="-10"/>
              <a:t>data-</a:t>
            </a:r>
            <a:r>
              <a:rPr dirty="0"/>
              <a:t>disk</a:t>
            </a:r>
            <a:r>
              <a:rPr dirty="0" spc="-10"/>
              <a:t> expansion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90169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requirement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enlarge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usable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filesystem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while</a:t>
            </a:r>
            <a:r>
              <a:rPr dirty="0" sz="1050" spc="4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preserving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data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service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availability.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621255" y="1776424"/>
            <a:ext cx="488315" cy="488315"/>
            <a:chOff x="1621255" y="1776424"/>
            <a:chExt cx="488315" cy="488315"/>
          </a:xfrm>
        </p:grpSpPr>
        <p:sp>
          <p:nvSpPr>
            <p:cNvPr id="7" name="object 7"/>
            <p:cNvSpPr/>
            <p:nvPr/>
          </p:nvSpPr>
          <p:spPr>
            <a:xfrm>
              <a:off x="1627555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959" y="0"/>
                  </a:moveTo>
                  <a:lnTo>
                    <a:pt x="176360" y="8185"/>
                  </a:lnTo>
                  <a:lnTo>
                    <a:pt x="118808" y="32029"/>
                  </a:lnTo>
                  <a:lnTo>
                    <a:pt x="69575" y="69789"/>
                  </a:lnTo>
                  <a:lnTo>
                    <a:pt x="31686" y="119151"/>
                  </a:lnTo>
                  <a:lnTo>
                    <a:pt x="8147" y="176393"/>
                  </a:lnTo>
                  <a:lnTo>
                    <a:pt x="0" y="237959"/>
                  </a:lnTo>
                  <a:lnTo>
                    <a:pt x="2064" y="269075"/>
                  </a:lnTo>
                  <a:lnTo>
                    <a:pt x="18077" y="328876"/>
                  </a:lnTo>
                  <a:lnTo>
                    <a:pt x="49044" y="382771"/>
                  </a:lnTo>
                  <a:lnTo>
                    <a:pt x="92942" y="426569"/>
                  </a:lnTo>
                  <a:lnTo>
                    <a:pt x="146893" y="457634"/>
                  </a:lnTo>
                  <a:lnTo>
                    <a:pt x="206839" y="473538"/>
                  </a:lnTo>
                  <a:lnTo>
                    <a:pt x="237959" y="475551"/>
                  </a:lnTo>
                  <a:lnTo>
                    <a:pt x="268877" y="473538"/>
                  </a:lnTo>
                  <a:lnTo>
                    <a:pt x="328687" y="457634"/>
                  </a:lnTo>
                  <a:lnTo>
                    <a:pt x="382627" y="426569"/>
                  </a:lnTo>
                  <a:lnTo>
                    <a:pt x="426525" y="382771"/>
                  </a:lnTo>
                  <a:lnTo>
                    <a:pt x="457492" y="328876"/>
                  </a:lnTo>
                  <a:lnTo>
                    <a:pt x="473499" y="269075"/>
                  </a:lnTo>
                  <a:lnTo>
                    <a:pt x="475564" y="237959"/>
                  </a:lnTo>
                  <a:lnTo>
                    <a:pt x="473499" y="206837"/>
                  </a:lnTo>
                  <a:lnTo>
                    <a:pt x="457492" y="147030"/>
                  </a:lnTo>
                  <a:lnTo>
                    <a:pt x="426525" y="93137"/>
                  </a:lnTo>
                  <a:lnTo>
                    <a:pt x="382627" y="49342"/>
                  </a:lnTo>
                  <a:lnTo>
                    <a:pt x="328687" y="18216"/>
                  </a:lnTo>
                  <a:lnTo>
                    <a:pt x="268877" y="2068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27555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959"/>
                  </a:moveTo>
                  <a:lnTo>
                    <a:pt x="2064" y="206837"/>
                  </a:lnTo>
                  <a:lnTo>
                    <a:pt x="8147" y="176393"/>
                  </a:lnTo>
                  <a:lnTo>
                    <a:pt x="31686" y="119151"/>
                  </a:lnTo>
                  <a:lnTo>
                    <a:pt x="69575" y="69789"/>
                  </a:lnTo>
                  <a:lnTo>
                    <a:pt x="118808" y="32029"/>
                  </a:lnTo>
                  <a:lnTo>
                    <a:pt x="176360" y="8185"/>
                  </a:lnTo>
                  <a:lnTo>
                    <a:pt x="237959" y="0"/>
                  </a:lnTo>
                  <a:lnTo>
                    <a:pt x="299254" y="8185"/>
                  </a:lnTo>
                  <a:lnTo>
                    <a:pt x="356768" y="32029"/>
                  </a:lnTo>
                  <a:lnTo>
                    <a:pt x="405992" y="69789"/>
                  </a:lnTo>
                  <a:lnTo>
                    <a:pt x="443890" y="119151"/>
                  </a:lnTo>
                  <a:lnTo>
                    <a:pt x="467418" y="176393"/>
                  </a:lnTo>
                  <a:lnTo>
                    <a:pt x="475564" y="237959"/>
                  </a:lnTo>
                  <a:lnTo>
                    <a:pt x="473499" y="269075"/>
                  </a:lnTo>
                  <a:lnTo>
                    <a:pt x="467418" y="299515"/>
                  </a:lnTo>
                  <a:lnTo>
                    <a:pt x="443890" y="356755"/>
                  </a:lnTo>
                  <a:lnTo>
                    <a:pt x="405992" y="406122"/>
                  </a:lnTo>
                  <a:lnTo>
                    <a:pt x="356768" y="443877"/>
                  </a:lnTo>
                  <a:lnTo>
                    <a:pt x="299254" y="467544"/>
                  </a:lnTo>
                  <a:lnTo>
                    <a:pt x="237959" y="475551"/>
                  </a:lnTo>
                  <a:lnTo>
                    <a:pt x="176360" y="467544"/>
                  </a:lnTo>
                  <a:lnTo>
                    <a:pt x="118808" y="443877"/>
                  </a:lnTo>
                  <a:lnTo>
                    <a:pt x="69575" y="406122"/>
                  </a:lnTo>
                  <a:lnTo>
                    <a:pt x="31686" y="356755"/>
                  </a:lnTo>
                  <a:lnTo>
                    <a:pt x="8147" y="299515"/>
                  </a:lnTo>
                  <a:lnTo>
                    <a:pt x="2064" y="269075"/>
                  </a:lnTo>
                  <a:lnTo>
                    <a:pt x="0" y="237959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10334" y="191617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74260" y="1776424"/>
            <a:ext cx="488315" cy="488315"/>
            <a:chOff x="4474260" y="1776424"/>
            <a:chExt cx="488315" cy="488315"/>
          </a:xfrm>
        </p:grpSpPr>
        <p:sp>
          <p:nvSpPr>
            <p:cNvPr id="22" name="object 22"/>
            <p:cNvSpPr/>
            <p:nvPr/>
          </p:nvSpPr>
          <p:spPr>
            <a:xfrm>
              <a:off x="4480560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959" y="0"/>
                  </a:moveTo>
                  <a:lnTo>
                    <a:pt x="176353" y="8185"/>
                  </a:lnTo>
                  <a:lnTo>
                    <a:pt x="118795" y="32029"/>
                  </a:lnTo>
                  <a:lnTo>
                    <a:pt x="69572" y="69789"/>
                  </a:lnTo>
                  <a:lnTo>
                    <a:pt x="31673" y="119151"/>
                  </a:lnTo>
                  <a:lnTo>
                    <a:pt x="8145" y="176393"/>
                  </a:lnTo>
                  <a:lnTo>
                    <a:pt x="0" y="237959"/>
                  </a:lnTo>
                  <a:lnTo>
                    <a:pt x="2064" y="269075"/>
                  </a:lnTo>
                  <a:lnTo>
                    <a:pt x="18071" y="328876"/>
                  </a:lnTo>
                  <a:lnTo>
                    <a:pt x="49038" y="382771"/>
                  </a:lnTo>
                  <a:lnTo>
                    <a:pt x="92936" y="426569"/>
                  </a:lnTo>
                  <a:lnTo>
                    <a:pt x="146882" y="457634"/>
                  </a:lnTo>
                  <a:lnTo>
                    <a:pt x="206837" y="473538"/>
                  </a:lnTo>
                  <a:lnTo>
                    <a:pt x="237959" y="475551"/>
                  </a:lnTo>
                  <a:lnTo>
                    <a:pt x="268875" y="473538"/>
                  </a:lnTo>
                  <a:lnTo>
                    <a:pt x="328676" y="457634"/>
                  </a:lnTo>
                  <a:lnTo>
                    <a:pt x="382621" y="426569"/>
                  </a:lnTo>
                  <a:lnTo>
                    <a:pt x="426519" y="382771"/>
                  </a:lnTo>
                  <a:lnTo>
                    <a:pt x="457486" y="328876"/>
                  </a:lnTo>
                  <a:lnTo>
                    <a:pt x="473499" y="269075"/>
                  </a:lnTo>
                  <a:lnTo>
                    <a:pt x="475564" y="237959"/>
                  </a:lnTo>
                  <a:lnTo>
                    <a:pt x="473499" y="206837"/>
                  </a:lnTo>
                  <a:lnTo>
                    <a:pt x="457486" y="147030"/>
                  </a:lnTo>
                  <a:lnTo>
                    <a:pt x="426519" y="93137"/>
                  </a:lnTo>
                  <a:lnTo>
                    <a:pt x="382621" y="49342"/>
                  </a:lnTo>
                  <a:lnTo>
                    <a:pt x="328676" y="18216"/>
                  </a:lnTo>
                  <a:lnTo>
                    <a:pt x="268875" y="2068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80560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959"/>
                  </a:moveTo>
                  <a:lnTo>
                    <a:pt x="2064" y="206837"/>
                  </a:lnTo>
                  <a:lnTo>
                    <a:pt x="8145" y="176393"/>
                  </a:lnTo>
                  <a:lnTo>
                    <a:pt x="31673" y="119151"/>
                  </a:lnTo>
                  <a:lnTo>
                    <a:pt x="69572" y="69789"/>
                  </a:lnTo>
                  <a:lnTo>
                    <a:pt x="118795" y="32029"/>
                  </a:lnTo>
                  <a:lnTo>
                    <a:pt x="176353" y="8185"/>
                  </a:lnTo>
                  <a:lnTo>
                    <a:pt x="237959" y="0"/>
                  </a:lnTo>
                  <a:lnTo>
                    <a:pt x="299248" y="8185"/>
                  </a:lnTo>
                  <a:lnTo>
                    <a:pt x="356755" y="32029"/>
                  </a:lnTo>
                  <a:lnTo>
                    <a:pt x="405988" y="69789"/>
                  </a:lnTo>
                  <a:lnTo>
                    <a:pt x="443877" y="119151"/>
                  </a:lnTo>
                  <a:lnTo>
                    <a:pt x="467417" y="176393"/>
                  </a:lnTo>
                  <a:lnTo>
                    <a:pt x="475564" y="237959"/>
                  </a:lnTo>
                  <a:lnTo>
                    <a:pt x="473499" y="269075"/>
                  </a:lnTo>
                  <a:lnTo>
                    <a:pt x="467417" y="299515"/>
                  </a:lnTo>
                  <a:lnTo>
                    <a:pt x="443877" y="356755"/>
                  </a:lnTo>
                  <a:lnTo>
                    <a:pt x="405988" y="406122"/>
                  </a:lnTo>
                  <a:lnTo>
                    <a:pt x="356755" y="443877"/>
                  </a:lnTo>
                  <a:lnTo>
                    <a:pt x="299248" y="467544"/>
                  </a:lnTo>
                  <a:lnTo>
                    <a:pt x="237959" y="475551"/>
                  </a:lnTo>
                  <a:lnTo>
                    <a:pt x="176353" y="467544"/>
                  </a:lnTo>
                  <a:lnTo>
                    <a:pt x="118795" y="443877"/>
                  </a:lnTo>
                  <a:lnTo>
                    <a:pt x="69572" y="406122"/>
                  </a:lnTo>
                  <a:lnTo>
                    <a:pt x="31673" y="356755"/>
                  </a:lnTo>
                  <a:lnTo>
                    <a:pt x="8145" y="299515"/>
                  </a:lnTo>
                  <a:lnTo>
                    <a:pt x="2064" y="269075"/>
                  </a:lnTo>
                  <a:lnTo>
                    <a:pt x="0" y="237959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63338" y="191617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327264" y="1776424"/>
            <a:ext cx="488315" cy="488315"/>
            <a:chOff x="7327264" y="1776424"/>
            <a:chExt cx="488315" cy="488315"/>
          </a:xfrm>
        </p:grpSpPr>
        <p:sp>
          <p:nvSpPr>
            <p:cNvPr id="37" name="object 37"/>
            <p:cNvSpPr/>
            <p:nvPr/>
          </p:nvSpPr>
          <p:spPr>
            <a:xfrm>
              <a:off x="7333564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185"/>
                  </a:lnTo>
                  <a:lnTo>
                    <a:pt x="118795" y="32029"/>
                  </a:lnTo>
                  <a:lnTo>
                    <a:pt x="69562" y="69789"/>
                  </a:lnTo>
                  <a:lnTo>
                    <a:pt x="31673" y="119151"/>
                  </a:lnTo>
                  <a:lnTo>
                    <a:pt x="8140" y="176393"/>
                  </a:lnTo>
                  <a:lnTo>
                    <a:pt x="0" y="237959"/>
                  </a:lnTo>
                  <a:lnTo>
                    <a:pt x="2062" y="269075"/>
                  </a:lnTo>
                  <a:lnTo>
                    <a:pt x="18066" y="328876"/>
                  </a:lnTo>
                  <a:lnTo>
                    <a:pt x="49031" y="382771"/>
                  </a:lnTo>
                  <a:lnTo>
                    <a:pt x="92929" y="426569"/>
                  </a:lnTo>
                  <a:lnTo>
                    <a:pt x="146880" y="457634"/>
                  </a:lnTo>
                  <a:lnTo>
                    <a:pt x="206831" y="473538"/>
                  </a:lnTo>
                  <a:lnTo>
                    <a:pt x="237959" y="475551"/>
                  </a:lnTo>
                  <a:lnTo>
                    <a:pt x="268875" y="473538"/>
                  </a:lnTo>
                  <a:lnTo>
                    <a:pt x="328676" y="457634"/>
                  </a:lnTo>
                  <a:lnTo>
                    <a:pt x="382621" y="426569"/>
                  </a:lnTo>
                  <a:lnTo>
                    <a:pt x="426519" y="382771"/>
                  </a:lnTo>
                  <a:lnTo>
                    <a:pt x="457484" y="328876"/>
                  </a:lnTo>
                  <a:lnTo>
                    <a:pt x="473488" y="269075"/>
                  </a:lnTo>
                  <a:lnTo>
                    <a:pt x="475551" y="237959"/>
                  </a:lnTo>
                  <a:lnTo>
                    <a:pt x="473488" y="206837"/>
                  </a:lnTo>
                  <a:lnTo>
                    <a:pt x="457484" y="147030"/>
                  </a:lnTo>
                  <a:lnTo>
                    <a:pt x="426519" y="93137"/>
                  </a:lnTo>
                  <a:lnTo>
                    <a:pt x="382621" y="49342"/>
                  </a:lnTo>
                  <a:lnTo>
                    <a:pt x="328676" y="18216"/>
                  </a:lnTo>
                  <a:lnTo>
                    <a:pt x="268875" y="2068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333564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959"/>
                  </a:moveTo>
                  <a:lnTo>
                    <a:pt x="2062" y="206837"/>
                  </a:lnTo>
                  <a:lnTo>
                    <a:pt x="8140" y="176393"/>
                  </a:lnTo>
                  <a:lnTo>
                    <a:pt x="31673" y="119151"/>
                  </a:lnTo>
                  <a:lnTo>
                    <a:pt x="69562" y="69789"/>
                  </a:lnTo>
                  <a:lnTo>
                    <a:pt x="118795" y="32029"/>
                  </a:lnTo>
                  <a:lnTo>
                    <a:pt x="176349" y="8185"/>
                  </a:lnTo>
                  <a:lnTo>
                    <a:pt x="237959" y="0"/>
                  </a:lnTo>
                  <a:lnTo>
                    <a:pt x="299248" y="8185"/>
                  </a:lnTo>
                  <a:lnTo>
                    <a:pt x="356755" y="32029"/>
                  </a:lnTo>
                  <a:lnTo>
                    <a:pt x="405988" y="69789"/>
                  </a:lnTo>
                  <a:lnTo>
                    <a:pt x="443877" y="119151"/>
                  </a:lnTo>
                  <a:lnTo>
                    <a:pt x="467410" y="176393"/>
                  </a:lnTo>
                  <a:lnTo>
                    <a:pt x="475551" y="237959"/>
                  </a:lnTo>
                  <a:lnTo>
                    <a:pt x="473488" y="269075"/>
                  </a:lnTo>
                  <a:lnTo>
                    <a:pt x="467410" y="299515"/>
                  </a:lnTo>
                  <a:lnTo>
                    <a:pt x="443877" y="356755"/>
                  </a:lnTo>
                  <a:lnTo>
                    <a:pt x="405988" y="406122"/>
                  </a:lnTo>
                  <a:lnTo>
                    <a:pt x="356755" y="443877"/>
                  </a:lnTo>
                  <a:lnTo>
                    <a:pt x="299248" y="467544"/>
                  </a:lnTo>
                  <a:lnTo>
                    <a:pt x="237959" y="475551"/>
                  </a:lnTo>
                  <a:lnTo>
                    <a:pt x="176349" y="467544"/>
                  </a:lnTo>
                  <a:lnTo>
                    <a:pt x="118795" y="443877"/>
                  </a:lnTo>
                  <a:lnTo>
                    <a:pt x="69562" y="406122"/>
                  </a:lnTo>
                  <a:lnTo>
                    <a:pt x="31673" y="356755"/>
                  </a:lnTo>
                  <a:lnTo>
                    <a:pt x="8140" y="299515"/>
                  </a:lnTo>
                  <a:lnTo>
                    <a:pt x="2062" y="269075"/>
                  </a:lnTo>
                  <a:lnTo>
                    <a:pt x="0" y="237959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516342" y="191617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180256" y="1776424"/>
            <a:ext cx="488315" cy="488315"/>
            <a:chOff x="10180256" y="1776424"/>
            <a:chExt cx="488315" cy="488315"/>
          </a:xfrm>
        </p:grpSpPr>
        <p:sp>
          <p:nvSpPr>
            <p:cNvPr id="52" name="object 52"/>
            <p:cNvSpPr/>
            <p:nvPr/>
          </p:nvSpPr>
          <p:spPr>
            <a:xfrm>
              <a:off x="10186556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60" y="8185"/>
                  </a:lnTo>
                  <a:lnTo>
                    <a:pt x="118808" y="32029"/>
                  </a:lnTo>
                  <a:lnTo>
                    <a:pt x="69575" y="69789"/>
                  </a:lnTo>
                  <a:lnTo>
                    <a:pt x="31686" y="119151"/>
                  </a:lnTo>
                  <a:lnTo>
                    <a:pt x="8147" y="176393"/>
                  </a:lnTo>
                  <a:lnTo>
                    <a:pt x="0" y="237959"/>
                  </a:lnTo>
                  <a:lnTo>
                    <a:pt x="2064" y="269075"/>
                  </a:lnTo>
                  <a:lnTo>
                    <a:pt x="18077" y="328876"/>
                  </a:lnTo>
                  <a:lnTo>
                    <a:pt x="49044" y="382771"/>
                  </a:lnTo>
                  <a:lnTo>
                    <a:pt x="92942" y="426569"/>
                  </a:lnTo>
                  <a:lnTo>
                    <a:pt x="146893" y="457634"/>
                  </a:lnTo>
                  <a:lnTo>
                    <a:pt x="206839" y="473538"/>
                  </a:lnTo>
                  <a:lnTo>
                    <a:pt x="237959" y="475551"/>
                  </a:lnTo>
                  <a:lnTo>
                    <a:pt x="268877" y="473538"/>
                  </a:lnTo>
                  <a:lnTo>
                    <a:pt x="328687" y="457634"/>
                  </a:lnTo>
                  <a:lnTo>
                    <a:pt x="382627" y="426569"/>
                  </a:lnTo>
                  <a:lnTo>
                    <a:pt x="426525" y="382771"/>
                  </a:lnTo>
                  <a:lnTo>
                    <a:pt x="457492" y="328876"/>
                  </a:lnTo>
                  <a:lnTo>
                    <a:pt x="473499" y="269075"/>
                  </a:lnTo>
                  <a:lnTo>
                    <a:pt x="475564" y="237959"/>
                  </a:lnTo>
                  <a:lnTo>
                    <a:pt x="473499" y="206837"/>
                  </a:lnTo>
                  <a:lnTo>
                    <a:pt x="457492" y="147030"/>
                  </a:lnTo>
                  <a:lnTo>
                    <a:pt x="426525" y="93137"/>
                  </a:lnTo>
                  <a:lnTo>
                    <a:pt x="382627" y="49342"/>
                  </a:lnTo>
                  <a:lnTo>
                    <a:pt x="328687" y="18216"/>
                  </a:lnTo>
                  <a:lnTo>
                    <a:pt x="268877" y="2068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0186556" y="178272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959"/>
                  </a:moveTo>
                  <a:lnTo>
                    <a:pt x="2064" y="206837"/>
                  </a:lnTo>
                  <a:lnTo>
                    <a:pt x="8147" y="176393"/>
                  </a:lnTo>
                  <a:lnTo>
                    <a:pt x="31686" y="119151"/>
                  </a:lnTo>
                  <a:lnTo>
                    <a:pt x="69575" y="69789"/>
                  </a:lnTo>
                  <a:lnTo>
                    <a:pt x="118808" y="32029"/>
                  </a:lnTo>
                  <a:lnTo>
                    <a:pt x="176360" y="8185"/>
                  </a:lnTo>
                  <a:lnTo>
                    <a:pt x="237959" y="0"/>
                  </a:lnTo>
                  <a:lnTo>
                    <a:pt x="299254" y="8185"/>
                  </a:lnTo>
                  <a:lnTo>
                    <a:pt x="356768" y="32029"/>
                  </a:lnTo>
                  <a:lnTo>
                    <a:pt x="405992" y="69789"/>
                  </a:lnTo>
                  <a:lnTo>
                    <a:pt x="443890" y="119151"/>
                  </a:lnTo>
                  <a:lnTo>
                    <a:pt x="467418" y="176393"/>
                  </a:lnTo>
                  <a:lnTo>
                    <a:pt x="475564" y="237959"/>
                  </a:lnTo>
                  <a:lnTo>
                    <a:pt x="473499" y="269075"/>
                  </a:lnTo>
                  <a:lnTo>
                    <a:pt x="467418" y="299515"/>
                  </a:lnTo>
                  <a:lnTo>
                    <a:pt x="443890" y="356755"/>
                  </a:lnTo>
                  <a:lnTo>
                    <a:pt x="405992" y="406122"/>
                  </a:lnTo>
                  <a:lnTo>
                    <a:pt x="356768" y="443877"/>
                  </a:lnTo>
                  <a:lnTo>
                    <a:pt x="299254" y="467544"/>
                  </a:lnTo>
                  <a:lnTo>
                    <a:pt x="237959" y="475551"/>
                  </a:lnTo>
                  <a:lnTo>
                    <a:pt x="176360" y="467544"/>
                  </a:lnTo>
                  <a:lnTo>
                    <a:pt x="118808" y="443877"/>
                  </a:lnTo>
                  <a:lnTo>
                    <a:pt x="69575" y="406122"/>
                  </a:lnTo>
                  <a:lnTo>
                    <a:pt x="31686" y="356755"/>
                  </a:lnTo>
                  <a:lnTo>
                    <a:pt x="8147" y="299515"/>
                  </a:lnTo>
                  <a:lnTo>
                    <a:pt x="2064" y="269075"/>
                  </a:lnTo>
                  <a:lnTo>
                    <a:pt x="0" y="237959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0369333" y="191617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3165" y="2443810"/>
            <a:ext cx="2526665" cy="2115820"/>
            <a:chOff x="743165" y="2443810"/>
            <a:chExt cx="2526665" cy="2115820"/>
          </a:xfrm>
        </p:grpSpPr>
        <p:sp>
          <p:nvSpPr>
            <p:cNvPr id="11" name="object 11"/>
            <p:cNvSpPr/>
            <p:nvPr/>
          </p:nvSpPr>
          <p:spPr>
            <a:xfrm>
              <a:off x="749884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2441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30044"/>
                  </a:lnTo>
                  <a:lnTo>
                    <a:pt x="594" y="2039315"/>
                  </a:lnTo>
                  <a:lnTo>
                    <a:pt x="607" y="2039520"/>
                  </a:lnTo>
                  <a:lnTo>
                    <a:pt x="2394" y="2048716"/>
                  </a:lnTo>
                  <a:lnTo>
                    <a:pt x="2428" y="2048895"/>
                  </a:lnTo>
                  <a:lnTo>
                    <a:pt x="5412" y="2057779"/>
                  </a:lnTo>
                  <a:lnTo>
                    <a:pt x="5464" y="2057935"/>
                  </a:lnTo>
                  <a:lnTo>
                    <a:pt x="9715" y="2066404"/>
                  </a:lnTo>
                  <a:lnTo>
                    <a:pt x="44979" y="2097655"/>
                  </a:lnTo>
                  <a:lnTo>
                    <a:pt x="73075" y="2103120"/>
                  </a:lnTo>
                  <a:lnTo>
                    <a:pt x="2441511" y="2102764"/>
                  </a:lnTo>
                  <a:lnTo>
                    <a:pt x="2485889" y="2087660"/>
                  </a:lnTo>
                  <a:lnTo>
                    <a:pt x="2512109" y="2048895"/>
                  </a:lnTo>
                  <a:lnTo>
                    <a:pt x="2514600" y="2029675"/>
                  </a:lnTo>
                  <a:lnTo>
                    <a:pt x="2514231" y="73075"/>
                  </a:lnTo>
                  <a:lnTo>
                    <a:pt x="2499140" y="28705"/>
                  </a:lnTo>
                  <a:lnTo>
                    <a:pt x="2460190" y="2428"/>
                  </a:lnTo>
                  <a:lnTo>
                    <a:pt x="2450789" y="607"/>
                  </a:lnTo>
                  <a:lnTo>
                    <a:pt x="244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49884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441155" y="0"/>
                  </a:lnTo>
                  <a:lnTo>
                    <a:pt x="2485683" y="15104"/>
                  </a:lnTo>
                  <a:lnTo>
                    <a:pt x="2511802" y="54224"/>
                  </a:lnTo>
                  <a:lnTo>
                    <a:pt x="2514231" y="73075"/>
                  </a:lnTo>
                  <a:lnTo>
                    <a:pt x="2514600" y="2029675"/>
                  </a:lnTo>
                  <a:lnTo>
                    <a:pt x="2513992" y="2039315"/>
                  </a:lnTo>
                  <a:lnTo>
                    <a:pt x="2512169" y="2048716"/>
                  </a:lnTo>
                  <a:lnTo>
                    <a:pt x="2485889" y="2087660"/>
                  </a:lnTo>
                  <a:lnTo>
                    <a:pt x="2441511" y="2102764"/>
                  </a:lnTo>
                  <a:lnTo>
                    <a:pt x="73075" y="2103120"/>
                  </a:lnTo>
                  <a:lnTo>
                    <a:pt x="28548" y="2088015"/>
                  </a:lnTo>
                  <a:lnTo>
                    <a:pt x="2428" y="2048895"/>
                  </a:lnTo>
                  <a:lnTo>
                    <a:pt x="0" y="2030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49515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4" h="2103120">
                  <a:moveTo>
                    <a:pt x="63728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32042" y="2102764"/>
                  </a:lnTo>
                  <a:lnTo>
                    <a:pt x="63728" y="210276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49515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4" h="2103120">
                  <a:moveTo>
                    <a:pt x="3204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102764"/>
                  </a:lnTo>
                  <a:lnTo>
                    <a:pt x="32042" y="2102764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38060" y="2628620"/>
            <a:ext cx="5892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Before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415" y="29371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0701" y="2959100"/>
            <a:ext cx="1786255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Capture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size,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device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mapping, mount point and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`df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hT</a:t>
            </a:r>
            <a:r>
              <a:rPr dirty="0" sz="105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/data`.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65196" y="3455276"/>
            <a:ext cx="246379" cy="76200"/>
            <a:chOff x="3265196" y="3455276"/>
            <a:chExt cx="246379" cy="76200"/>
          </a:xfrm>
        </p:grpSpPr>
        <p:sp>
          <p:nvSpPr>
            <p:cNvPr id="19" name="object 19"/>
            <p:cNvSpPr/>
            <p:nvPr/>
          </p:nvSpPr>
          <p:spPr>
            <a:xfrm>
              <a:off x="3273475" y="3492715"/>
              <a:ext cx="167640" cy="635"/>
            </a:xfrm>
            <a:custGeom>
              <a:avLst/>
              <a:gdLst/>
              <a:ahLst/>
              <a:cxnLst/>
              <a:rect l="l" t="t" r="r" b="b"/>
              <a:pathLst>
                <a:path w="167639" h="635">
                  <a:moveTo>
                    <a:pt x="0" y="0"/>
                  </a:moveTo>
                  <a:lnTo>
                    <a:pt x="167043" y="368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435477" y="34552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596170" y="2443810"/>
            <a:ext cx="2526665" cy="2115820"/>
            <a:chOff x="3596170" y="2443810"/>
            <a:chExt cx="2526665" cy="2115820"/>
          </a:xfrm>
        </p:grpSpPr>
        <p:sp>
          <p:nvSpPr>
            <p:cNvPr id="26" name="object 26"/>
            <p:cNvSpPr/>
            <p:nvPr/>
          </p:nvSpPr>
          <p:spPr>
            <a:xfrm>
              <a:off x="3602875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244116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30044"/>
                  </a:lnTo>
                  <a:lnTo>
                    <a:pt x="594" y="2039315"/>
                  </a:lnTo>
                  <a:lnTo>
                    <a:pt x="607" y="2039520"/>
                  </a:lnTo>
                  <a:lnTo>
                    <a:pt x="2395" y="2048716"/>
                  </a:lnTo>
                  <a:lnTo>
                    <a:pt x="2430" y="2048895"/>
                  </a:lnTo>
                  <a:lnTo>
                    <a:pt x="5417" y="2057779"/>
                  </a:lnTo>
                  <a:lnTo>
                    <a:pt x="5470" y="2057935"/>
                  </a:lnTo>
                  <a:lnTo>
                    <a:pt x="9728" y="2066404"/>
                  </a:lnTo>
                  <a:lnTo>
                    <a:pt x="44984" y="2097655"/>
                  </a:lnTo>
                  <a:lnTo>
                    <a:pt x="73088" y="2103120"/>
                  </a:lnTo>
                  <a:lnTo>
                    <a:pt x="2441524" y="2102764"/>
                  </a:lnTo>
                  <a:lnTo>
                    <a:pt x="2485901" y="2087660"/>
                  </a:lnTo>
                  <a:lnTo>
                    <a:pt x="2509058" y="2057935"/>
                  </a:lnTo>
                  <a:lnTo>
                    <a:pt x="2509135" y="2057779"/>
                  </a:lnTo>
                  <a:lnTo>
                    <a:pt x="2512111" y="2048895"/>
                  </a:lnTo>
                  <a:lnTo>
                    <a:pt x="2512171" y="2048716"/>
                  </a:lnTo>
                  <a:lnTo>
                    <a:pt x="2513952" y="2039520"/>
                  </a:lnTo>
                  <a:lnTo>
                    <a:pt x="2513992" y="2039315"/>
                  </a:lnTo>
                  <a:lnTo>
                    <a:pt x="2514576" y="2030044"/>
                  </a:lnTo>
                  <a:lnTo>
                    <a:pt x="2514600" y="2029675"/>
                  </a:lnTo>
                  <a:lnTo>
                    <a:pt x="2514244" y="73075"/>
                  </a:lnTo>
                  <a:lnTo>
                    <a:pt x="2499145" y="28705"/>
                  </a:lnTo>
                  <a:lnTo>
                    <a:pt x="2460197" y="2428"/>
                  </a:lnTo>
                  <a:lnTo>
                    <a:pt x="2450800" y="607"/>
                  </a:lnTo>
                  <a:lnTo>
                    <a:pt x="2441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02875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41168" y="0"/>
                  </a:lnTo>
                  <a:lnTo>
                    <a:pt x="2485689" y="15104"/>
                  </a:lnTo>
                  <a:lnTo>
                    <a:pt x="2511815" y="54224"/>
                  </a:lnTo>
                  <a:lnTo>
                    <a:pt x="2514244" y="73075"/>
                  </a:lnTo>
                  <a:lnTo>
                    <a:pt x="2514600" y="2029675"/>
                  </a:lnTo>
                  <a:lnTo>
                    <a:pt x="2513992" y="2039315"/>
                  </a:lnTo>
                  <a:lnTo>
                    <a:pt x="2512171" y="2048716"/>
                  </a:lnTo>
                  <a:lnTo>
                    <a:pt x="2485901" y="2087660"/>
                  </a:lnTo>
                  <a:lnTo>
                    <a:pt x="2441524" y="2102764"/>
                  </a:lnTo>
                  <a:lnTo>
                    <a:pt x="73088" y="2103120"/>
                  </a:lnTo>
                  <a:lnTo>
                    <a:pt x="28555" y="2088015"/>
                  </a:lnTo>
                  <a:lnTo>
                    <a:pt x="2430" y="2048895"/>
                  </a:lnTo>
                  <a:lnTo>
                    <a:pt x="0" y="2030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02520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5" h="2103120">
                  <a:moveTo>
                    <a:pt x="63715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32042" y="2102764"/>
                  </a:lnTo>
                  <a:lnTo>
                    <a:pt x="63715" y="21027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02520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5" h="2103120">
                  <a:moveTo>
                    <a:pt x="3204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102764"/>
                  </a:lnTo>
                  <a:lnTo>
                    <a:pt x="32042" y="210276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790696" y="2628620"/>
            <a:ext cx="12020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Cloud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change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91064" y="29371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43337" y="2959100"/>
            <a:ext cx="1891664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Resize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managed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from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40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GiB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80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GiB.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Wait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platform operation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complete.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18200" y="3455276"/>
            <a:ext cx="246379" cy="76200"/>
            <a:chOff x="6118200" y="3455276"/>
            <a:chExt cx="246379" cy="76200"/>
          </a:xfrm>
        </p:grpSpPr>
        <p:sp>
          <p:nvSpPr>
            <p:cNvPr id="34" name="object 34"/>
            <p:cNvSpPr/>
            <p:nvPr/>
          </p:nvSpPr>
          <p:spPr>
            <a:xfrm>
              <a:off x="6126480" y="3492715"/>
              <a:ext cx="167640" cy="635"/>
            </a:xfrm>
            <a:custGeom>
              <a:avLst/>
              <a:gdLst/>
              <a:ahLst/>
              <a:cxnLst/>
              <a:rect l="l" t="t" r="r" b="b"/>
              <a:pathLst>
                <a:path w="167639" h="635">
                  <a:moveTo>
                    <a:pt x="0" y="0"/>
                  </a:moveTo>
                  <a:lnTo>
                    <a:pt x="167043" y="368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88481" y="34552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448805" y="2443810"/>
            <a:ext cx="2526665" cy="2115820"/>
            <a:chOff x="6448805" y="2443810"/>
            <a:chExt cx="2526665" cy="2115820"/>
          </a:xfrm>
        </p:grpSpPr>
        <p:sp>
          <p:nvSpPr>
            <p:cNvPr id="41" name="object 41"/>
            <p:cNvSpPr/>
            <p:nvPr/>
          </p:nvSpPr>
          <p:spPr>
            <a:xfrm>
              <a:off x="6455524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2441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30044"/>
                  </a:lnTo>
                  <a:lnTo>
                    <a:pt x="5412" y="2057779"/>
                  </a:lnTo>
                  <a:lnTo>
                    <a:pt x="5464" y="2057935"/>
                  </a:lnTo>
                  <a:lnTo>
                    <a:pt x="36360" y="2093404"/>
                  </a:lnTo>
                  <a:lnTo>
                    <a:pt x="73075" y="2103120"/>
                  </a:lnTo>
                  <a:lnTo>
                    <a:pt x="2441511" y="2102764"/>
                  </a:lnTo>
                  <a:lnTo>
                    <a:pt x="2485889" y="2087660"/>
                  </a:lnTo>
                  <a:lnTo>
                    <a:pt x="2509052" y="2057935"/>
                  </a:lnTo>
                  <a:lnTo>
                    <a:pt x="2509129" y="2057779"/>
                  </a:lnTo>
                  <a:lnTo>
                    <a:pt x="2514576" y="2030044"/>
                  </a:lnTo>
                  <a:lnTo>
                    <a:pt x="2514599" y="2029675"/>
                  </a:lnTo>
                  <a:lnTo>
                    <a:pt x="2514231" y="73075"/>
                  </a:lnTo>
                  <a:lnTo>
                    <a:pt x="2499140" y="28705"/>
                  </a:lnTo>
                  <a:lnTo>
                    <a:pt x="2460190" y="2428"/>
                  </a:lnTo>
                  <a:lnTo>
                    <a:pt x="2450789" y="607"/>
                  </a:lnTo>
                  <a:lnTo>
                    <a:pt x="244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455524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441155" y="0"/>
                  </a:lnTo>
                  <a:lnTo>
                    <a:pt x="2485683" y="15104"/>
                  </a:lnTo>
                  <a:lnTo>
                    <a:pt x="2511802" y="54224"/>
                  </a:lnTo>
                  <a:lnTo>
                    <a:pt x="2514231" y="73075"/>
                  </a:lnTo>
                  <a:lnTo>
                    <a:pt x="2514599" y="2029675"/>
                  </a:lnTo>
                  <a:lnTo>
                    <a:pt x="2513992" y="2039315"/>
                  </a:lnTo>
                  <a:lnTo>
                    <a:pt x="2512169" y="2048716"/>
                  </a:lnTo>
                  <a:lnTo>
                    <a:pt x="2485889" y="2087660"/>
                  </a:lnTo>
                  <a:lnTo>
                    <a:pt x="2441511" y="2102764"/>
                  </a:lnTo>
                  <a:lnTo>
                    <a:pt x="73075" y="2103120"/>
                  </a:lnTo>
                  <a:lnTo>
                    <a:pt x="28548" y="2088015"/>
                  </a:lnTo>
                  <a:lnTo>
                    <a:pt x="2428" y="2048895"/>
                  </a:lnTo>
                  <a:lnTo>
                    <a:pt x="0" y="2030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55155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4" h="2103120">
                  <a:moveTo>
                    <a:pt x="63728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32042" y="2102764"/>
                  </a:lnTo>
                  <a:lnTo>
                    <a:pt x="63728" y="2102764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55155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4" h="2103120">
                  <a:moveTo>
                    <a:pt x="3204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2102764"/>
                  </a:lnTo>
                  <a:lnTo>
                    <a:pt x="32042" y="2102764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643699" y="2628620"/>
            <a:ext cx="12020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Guest</a:t>
            </a:r>
            <a:r>
              <a:rPr dirty="0" sz="140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change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44055" y="29371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96341" y="2959100"/>
            <a:ext cx="1951989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Identify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partition/filesystem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type.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Extend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partition</a:t>
            </a:r>
            <a:r>
              <a:rPr dirty="0" sz="105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where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present;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then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grow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ext4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XFS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correctly.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970836" y="3455276"/>
            <a:ext cx="246379" cy="76200"/>
            <a:chOff x="8970836" y="3455276"/>
            <a:chExt cx="246379" cy="76200"/>
          </a:xfrm>
        </p:grpSpPr>
        <p:sp>
          <p:nvSpPr>
            <p:cNvPr id="49" name="object 49"/>
            <p:cNvSpPr/>
            <p:nvPr/>
          </p:nvSpPr>
          <p:spPr>
            <a:xfrm>
              <a:off x="8979115" y="3492715"/>
              <a:ext cx="167640" cy="635"/>
            </a:xfrm>
            <a:custGeom>
              <a:avLst/>
              <a:gdLst/>
              <a:ahLst/>
              <a:cxnLst/>
              <a:rect l="l" t="t" r="r" b="b"/>
              <a:pathLst>
                <a:path w="167640" h="635">
                  <a:moveTo>
                    <a:pt x="0" y="0"/>
                  </a:moveTo>
                  <a:lnTo>
                    <a:pt x="167398" y="368"/>
                  </a:lnTo>
                </a:path>
              </a:pathLst>
            </a:custGeom>
            <a:ln w="1655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141485" y="34552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E0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9301860" y="2443860"/>
            <a:ext cx="2526665" cy="2115820"/>
            <a:chOff x="9301860" y="2443860"/>
            <a:chExt cx="2526665" cy="2115820"/>
          </a:xfrm>
        </p:grpSpPr>
        <p:sp>
          <p:nvSpPr>
            <p:cNvPr id="56" name="object 56"/>
            <p:cNvSpPr/>
            <p:nvPr/>
          </p:nvSpPr>
          <p:spPr>
            <a:xfrm>
              <a:off x="9308515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244116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30044"/>
                  </a:lnTo>
                  <a:lnTo>
                    <a:pt x="594" y="2039315"/>
                  </a:lnTo>
                  <a:lnTo>
                    <a:pt x="607" y="2039520"/>
                  </a:lnTo>
                  <a:lnTo>
                    <a:pt x="2395" y="2048716"/>
                  </a:lnTo>
                  <a:lnTo>
                    <a:pt x="2430" y="2048895"/>
                  </a:lnTo>
                  <a:lnTo>
                    <a:pt x="5417" y="2057779"/>
                  </a:lnTo>
                  <a:lnTo>
                    <a:pt x="5470" y="2057935"/>
                  </a:lnTo>
                  <a:lnTo>
                    <a:pt x="9728" y="2066404"/>
                  </a:lnTo>
                  <a:lnTo>
                    <a:pt x="44984" y="2097655"/>
                  </a:lnTo>
                  <a:lnTo>
                    <a:pt x="73088" y="2103120"/>
                  </a:lnTo>
                  <a:lnTo>
                    <a:pt x="2441524" y="2102764"/>
                  </a:lnTo>
                  <a:lnTo>
                    <a:pt x="2485901" y="2087660"/>
                  </a:lnTo>
                  <a:lnTo>
                    <a:pt x="2512111" y="2048895"/>
                  </a:lnTo>
                  <a:lnTo>
                    <a:pt x="2512171" y="2048716"/>
                  </a:lnTo>
                  <a:lnTo>
                    <a:pt x="2513952" y="2039520"/>
                  </a:lnTo>
                  <a:lnTo>
                    <a:pt x="2513992" y="2039315"/>
                  </a:lnTo>
                  <a:lnTo>
                    <a:pt x="2514576" y="2030044"/>
                  </a:lnTo>
                  <a:lnTo>
                    <a:pt x="2514600" y="2029675"/>
                  </a:lnTo>
                  <a:lnTo>
                    <a:pt x="2514244" y="73075"/>
                  </a:lnTo>
                  <a:lnTo>
                    <a:pt x="2499145" y="28705"/>
                  </a:lnTo>
                  <a:lnTo>
                    <a:pt x="2460197" y="2428"/>
                  </a:lnTo>
                  <a:lnTo>
                    <a:pt x="2450800" y="607"/>
                  </a:lnTo>
                  <a:lnTo>
                    <a:pt x="2441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308515" y="2450160"/>
              <a:ext cx="2514600" cy="2103120"/>
            </a:xfrm>
            <a:custGeom>
              <a:avLst/>
              <a:gdLst/>
              <a:ahLst/>
              <a:cxnLst/>
              <a:rect l="l" t="t" r="r" b="b"/>
              <a:pathLst>
                <a:path w="2514600" h="210312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41168" y="0"/>
                  </a:lnTo>
                  <a:lnTo>
                    <a:pt x="2485689" y="15104"/>
                  </a:lnTo>
                  <a:lnTo>
                    <a:pt x="2511815" y="54224"/>
                  </a:lnTo>
                  <a:lnTo>
                    <a:pt x="2514244" y="73075"/>
                  </a:lnTo>
                  <a:lnTo>
                    <a:pt x="2514600" y="2029675"/>
                  </a:lnTo>
                  <a:lnTo>
                    <a:pt x="2513992" y="2039315"/>
                  </a:lnTo>
                  <a:lnTo>
                    <a:pt x="2512171" y="2048716"/>
                  </a:lnTo>
                  <a:lnTo>
                    <a:pt x="2485901" y="2087660"/>
                  </a:lnTo>
                  <a:lnTo>
                    <a:pt x="2441524" y="2102764"/>
                  </a:lnTo>
                  <a:lnTo>
                    <a:pt x="73088" y="2103120"/>
                  </a:lnTo>
                  <a:lnTo>
                    <a:pt x="28555" y="2088015"/>
                  </a:lnTo>
                  <a:lnTo>
                    <a:pt x="2430" y="2048895"/>
                  </a:lnTo>
                  <a:lnTo>
                    <a:pt x="0" y="2030044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308160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4" h="2103120">
                  <a:moveTo>
                    <a:pt x="63715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32042" y="2102764"/>
                  </a:lnTo>
                  <a:lnTo>
                    <a:pt x="63715" y="21027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308160" y="2450160"/>
              <a:ext cx="64135" cy="2103120"/>
            </a:xfrm>
            <a:custGeom>
              <a:avLst/>
              <a:gdLst/>
              <a:ahLst/>
              <a:cxnLst/>
              <a:rect l="l" t="t" r="r" b="b"/>
              <a:pathLst>
                <a:path w="64134" h="2103120">
                  <a:moveTo>
                    <a:pt x="3204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102764"/>
                  </a:lnTo>
                  <a:lnTo>
                    <a:pt x="32042" y="2102764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9496704" y="2628620"/>
            <a:ext cx="4406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After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497059" y="2937129"/>
            <a:ext cx="742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49345" y="2959100"/>
            <a:ext cx="1911350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Run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`lsblk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-f`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`df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-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hT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 /data`;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perform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write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test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record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before/after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evidence.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64" name="object 6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809904" y="6000381"/>
            <a:ext cx="717613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Do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not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format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existing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data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disk.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In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partitioned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layout,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grow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partition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then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filesystem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on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that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partition.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92849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WA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27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4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D2-</a:t>
            </a:r>
            <a:r>
              <a:rPr dirty="0"/>
              <a:t>4</a:t>
            </a:r>
            <a:r>
              <a:rPr dirty="0" spc="-30"/>
              <a:t> </a:t>
            </a:r>
            <a:r>
              <a:rPr dirty="0"/>
              <a:t>|</a:t>
            </a:r>
            <a:r>
              <a:rPr dirty="0" spc="-35"/>
              <a:t> </a:t>
            </a:r>
            <a:r>
              <a:rPr dirty="0"/>
              <a:t>Storage</a:t>
            </a:r>
            <a:r>
              <a:rPr dirty="0" spc="-25"/>
              <a:t> </a:t>
            </a:r>
            <a:r>
              <a:rPr dirty="0"/>
              <a:t>lockdown,</a:t>
            </a:r>
            <a:r>
              <a:rPr dirty="0" spc="-35"/>
              <a:t> </a:t>
            </a:r>
            <a:r>
              <a:rPr dirty="0"/>
              <a:t>secrets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monitoring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38049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Treat</a:t>
            </a:r>
            <a:r>
              <a:rPr dirty="0" sz="1050" spc="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each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finding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separate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control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with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its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own</a:t>
            </a:r>
            <a:r>
              <a:rPr dirty="0" sz="1050" spc="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evidence.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19364" y="1642324"/>
            <a:ext cx="1424305" cy="354330"/>
            <a:chOff x="819364" y="1642324"/>
            <a:chExt cx="1424305" cy="354330"/>
          </a:xfrm>
        </p:grpSpPr>
        <p:sp>
          <p:nvSpPr>
            <p:cNvPr id="7" name="object 7"/>
            <p:cNvSpPr/>
            <p:nvPr/>
          </p:nvSpPr>
          <p:spPr>
            <a:xfrm>
              <a:off x="822604" y="1645564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80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256311"/>
                  </a:lnTo>
                  <a:lnTo>
                    <a:pt x="798" y="268318"/>
                  </a:lnTo>
                  <a:lnTo>
                    <a:pt x="18830" y="312075"/>
                  </a:lnTo>
                  <a:lnTo>
                    <a:pt x="56505" y="340770"/>
                  </a:lnTo>
                  <a:lnTo>
                    <a:pt x="91439" y="347751"/>
                  </a:lnTo>
                  <a:lnTo>
                    <a:pt x="1326235" y="347751"/>
                  </a:lnTo>
                  <a:lnTo>
                    <a:pt x="1371955" y="335521"/>
                  </a:lnTo>
                  <a:lnTo>
                    <a:pt x="1405432" y="302031"/>
                  </a:lnTo>
                  <a:lnTo>
                    <a:pt x="1417675" y="256311"/>
                  </a:lnTo>
                  <a:lnTo>
                    <a:pt x="1417651" y="91439"/>
                  </a:lnTo>
                  <a:lnTo>
                    <a:pt x="1405432" y="46075"/>
                  </a:lnTo>
                  <a:lnTo>
                    <a:pt x="1371955" y="12598"/>
                  </a:lnTo>
                  <a:lnTo>
                    <a:pt x="13262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604" y="1645564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80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5" y="3148"/>
                  </a:lnTo>
                  <a:lnTo>
                    <a:pt x="91795" y="0"/>
                  </a:lnTo>
                  <a:lnTo>
                    <a:pt x="1326235" y="355"/>
                  </a:lnTo>
                  <a:lnTo>
                    <a:pt x="1371955" y="12598"/>
                  </a:lnTo>
                  <a:lnTo>
                    <a:pt x="1405432" y="46075"/>
                  </a:lnTo>
                  <a:lnTo>
                    <a:pt x="1417675" y="91795"/>
                  </a:lnTo>
                  <a:lnTo>
                    <a:pt x="1417675" y="256311"/>
                  </a:lnTo>
                  <a:lnTo>
                    <a:pt x="1416877" y="268318"/>
                  </a:lnTo>
                  <a:lnTo>
                    <a:pt x="1414526" y="279985"/>
                  </a:lnTo>
                  <a:lnTo>
                    <a:pt x="1390994" y="321071"/>
                  </a:lnTo>
                  <a:lnTo>
                    <a:pt x="1349905" y="344603"/>
                  </a:lnTo>
                  <a:lnTo>
                    <a:pt x="1326235" y="347751"/>
                  </a:lnTo>
                  <a:lnTo>
                    <a:pt x="91439" y="347751"/>
                  </a:lnTo>
                  <a:lnTo>
                    <a:pt x="45719" y="335521"/>
                  </a:lnTo>
                  <a:lnTo>
                    <a:pt x="12230" y="302031"/>
                  </a:lnTo>
                  <a:lnTo>
                    <a:pt x="0" y="256311"/>
                  </a:lnTo>
                  <a:lnTo>
                    <a:pt x="355" y="91439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83576" y="1733308"/>
            <a:ext cx="69596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0077D3"/>
                </a:solidFill>
                <a:latin typeface="Arial"/>
                <a:cs typeface="Arial"/>
              </a:rPr>
              <a:t>Public</a:t>
            </a:r>
            <a:r>
              <a:rPr dirty="0" sz="950" spc="-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0077D3"/>
                </a:solidFill>
                <a:latin typeface="Arial"/>
                <a:cs typeface="Arial"/>
              </a:rPr>
              <a:t>Blob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4544" y="1757057"/>
            <a:ext cx="4901565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Disable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account-level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anonymous</a:t>
            </a:r>
            <a:r>
              <a:rPr dirty="0" sz="11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access;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anonymous</a:t>
            </a:r>
            <a:r>
              <a:rPr dirty="0" sz="1100" spc="10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read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must</a:t>
            </a:r>
            <a:r>
              <a:rPr dirty="0" sz="11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be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denied.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2960" y="2230920"/>
            <a:ext cx="10195560" cy="635"/>
          </a:xfrm>
          <a:custGeom>
            <a:avLst/>
            <a:gdLst/>
            <a:ahLst/>
            <a:cxnLst/>
            <a:rect l="l" t="t" r="r" b="b"/>
            <a:pathLst>
              <a:path w="10195560" h="635">
                <a:moveTo>
                  <a:pt x="0" y="0"/>
                </a:moveTo>
                <a:lnTo>
                  <a:pt x="10195560" y="355"/>
                </a:lnTo>
              </a:path>
            </a:pathLst>
          </a:custGeom>
          <a:ln w="755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819364" y="2456280"/>
            <a:ext cx="1424305" cy="354330"/>
            <a:chOff x="819364" y="2456280"/>
            <a:chExt cx="1424305" cy="354330"/>
          </a:xfrm>
        </p:grpSpPr>
        <p:sp>
          <p:nvSpPr>
            <p:cNvPr id="13" name="object 13"/>
            <p:cNvSpPr/>
            <p:nvPr/>
          </p:nvSpPr>
          <p:spPr>
            <a:xfrm>
              <a:off x="822604" y="2459520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80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56324"/>
                  </a:lnTo>
                  <a:lnTo>
                    <a:pt x="798" y="268323"/>
                  </a:lnTo>
                  <a:lnTo>
                    <a:pt x="18830" y="312080"/>
                  </a:lnTo>
                  <a:lnTo>
                    <a:pt x="56505" y="340777"/>
                  </a:lnTo>
                  <a:lnTo>
                    <a:pt x="91439" y="347764"/>
                  </a:lnTo>
                  <a:lnTo>
                    <a:pt x="1326235" y="347764"/>
                  </a:lnTo>
                  <a:lnTo>
                    <a:pt x="1371955" y="335521"/>
                  </a:lnTo>
                  <a:lnTo>
                    <a:pt x="1405432" y="302044"/>
                  </a:lnTo>
                  <a:lnTo>
                    <a:pt x="1417675" y="256324"/>
                  </a:lnTo>
                  <a:lnTo>
                    <a:pt x="1417651" y="91439"/>
                  </a:lnTo>
                  <a:lnTo>
                    <a:pt x="1405432" y="46075"/>
                  </a:lnTo>
                  <a:lnTo>
                    <a:pt x="1371955" y="12598"/>
                  </a:lnTo>
                  <a:lnTo>
                    <a:pt x="13262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22604" y="2459520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80">
                  <a:moveTo>
                    <a:pt x="355" y="91439"/>
                  </a:moveTo>
                  <a:lnTo>
                    <a:pt x="1154" y="79434"/>
                  </a:lnTo>
                  <a:lnTo>
                    <a:pt x="3505" y="67770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1326235" y="355"/>
                  </a:lnTo>
                  <a:lnTo>
                    <a:pt x="1371955" y="12598"/>
                  </a:lnTo>
                  <a:lnTo>
                    <a:pt x="1405432" y="46075"/>
                  </a:lnTo>
                  <a:lnTo>
                    <a:pt x="1417675" y="91795"/>
                  </a:lnTo>
                  <a:lnTo>
                    <a:pt x="1417675" y="256324"/>
                  </a:lnTo>
                  <a:lnTo>
                    <a:pt x="1416877" y="268323"/>
                  </a:lnTo>
                  <a:lnTo>
                    <a:pt x="1414526" y="279988"/>
                  </a:lnTo>
                  <a:lnTo>
                    <a:pt x="1390994" y="321073"/>
                  </a:lnTo>
                  <a:lnTo>
                    <a:pt x="1349905" y="344614"/>
                  </a:lnTo>
                  <a:lnTo>
                    <a:pt x="1326235" y="347764"/>
                  </a:lnTo>
                  <a:lnTo>
                    <a:pt x="91439" y="347764"/>
                  </a:lnTo>
                  <a:lnTo>
                    <a:pt x="45719" y="335521"/>
                  </a:lnTo>
                  <a:lnTo>
                    <a:pt x="12230" y="302044"/>
                  </a:lnTo>
                  <a:lnTo>
                    <a:pt x="0" y="256324"/>
                  </a:lnTo>
                  <a:lnTo>
                    <a:pt x="355" y="91439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80134" y="2547264"/>
            <a:ext cx="30353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 b="1">
                <a:solidFill>
                  <a:srgbClr val="5B2C90"/>
                </a:solidFill>
                <a:latin typeface="Arial"/>
                <a:cs typeface="Arial"/>
              </a:rPr>
              <a:t>CMK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4544" y="2570657"/>
            <a:ext cx="557276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Create/use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Vault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key;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grant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identity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required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cryptographic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permission.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2960" y="3044875"/>
            <a:ext cx="10195560" cy="635"/>
          </a:xfrm>
          <a:custGeom>
            <a:avLst/>
            <a:gdLst/>
            <a:ahLst/>
            <a:cxnLst/>
            <a:rect l="l" t="t" r="r" b="b"/>
            <a:pathLst>
              <a:path w="10195560" h="635">
                <a:moveTo>
                  <a:pt x="0" y="0"/>
                </a:moveTo>
                <a:lnTo>
                  <a:pt x="10195560" y="368"/>
                </a:lnTo>
              </a:path>
            </a:pathLst>
          </a:custGeom>
          <a:ln w="755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819364" y="3269880"/>
            <a:ext cx="1424305" cy="354330"/>
            <a:chOff x="819364" y="3269880"/>
            <a:chExt cx="1424305" cy="354330"/>
          </a:xfrm>
        </p:grpSpPr>
        <p:sp>
          <p:nvSpPr>
            <p:cNvPr id="19" name="object 19"/>
            <p:cNvSpPr/>
            <p:nvPr/>
          </p:nvSpPr>
          <p:spPr>
            <a:xfrm>
              <a:off x="822604" y="3273120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79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256324"/>
                  </a:lnTo>
                  <a:lnTo>
                    <a:pt x="798" y="268323"/>
                  </a:lnTo>
                  <a:lnTo>
                    <a:pt x="18830" y="312080"/>
                  </a:lnTo>
                  <a:lnTo>
                    <a:pt x="56505" y="340777"/>
                  </a:lnTo>
                  <a:lnTo>
                    <a:pt x="91439" y="347764"/>
                  </a:lnTo>
                  <a:lnTo>
                    <a:pt x="1326235" y="347764"/>
                  </a:lnTo>
                  <a:lnTo>
                    <a:pt x="1371955" y="335521"/>
                  </a:lnTo>
                  <a:lnTo>
                    <a:pt x="1405432" y="302044"/>
                  </a:lnTo>
                  <a:lnTo>
                    <a:pt x="1417675" y="256324"/>
                  </a:lnTo>
                  <a:lnTo>
                    <a:pt x="1417651" y="91439"/>
                  </a:lnTo>
                  <a:lnTo>
                    <a:pt x="1405432" y="46075"/>
                  </a:lnTo>
                  <a:lnTo>
                    <a:pt x="1371955" y="12598"/>
                  </a:lnTo>
                  <a:lnTo>
                    <a:pt x="132623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2604" y="3273120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79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1326235" y="355"/>
                  </a:lnTo>
                  <a:lnTo>
                    <a:pt x="1371955" y="12598"/>
                  </a:lnTo>
                  <a:lnTo>
                    <a:pt x="1405432" y="46075"/>
                  </a:lnTo>
                  <a:lnTo>
                    <a:pt x="1417675" y="91795"/>
                  </a:lnTo>
                  <a:lnTo>
                    <a:pt x="1417675" y="256324"/>
                  </a:lnTo>
                  <a:lnTo>
                    <a:pt x="1416877" y="268323"/>
                  </a:lnTo>
                  <a:lnTo>
                    <a:pt x="1414526" y="279988"/>
                  </a:lnTo>
                  <a:lnTo>
                    <a:pt x="1390994" y="321073"/>
                  </a:lnTo>
                  <a:lnTo>
                    <a:pt x="1349905" y="344614"/>
                  </a:lnTo>
                  <a:lnTo>
                    <a:pt x="1326235" y="347764"/>
                  </a:lnTo>
                  <a:lnTo>
                    <a:pt x="91439" y="347764"/>
                  </a:lnTo>
                  <a:lnTo>
                    <a:pt x="45719" y="335521"/>
                  </a:lnTo>
                  <a:lnTo>
                    <a:pt x="12230" y="302044"/>
                  </a:lnTo>
                  <a:lnTo>
                    <a:pt x="0" y="256324"/>
                  </a:lnTo>
                  <a:lnTo>
                    <a:pt x="355" y="91439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088897" y="3361220"/>
            <a:ext cx="88582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C46900"/>
                </a:solidFill>
                <a:latin typeface="Arial"/>
                <a:cs typeface="Arial"/>
              </a:rPr>
              <a:t>Secret</a:t>
            </a:r>
            <a:r>
              <a:rPr dirty="0" sz="950" spc="-5" b="1">
                <a:solidFill>
                  <a:srgbClr val="C469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46900"/>
                </a:solidFill>
                <a:latin typeface="Arial"/>
                <a:cs typeface="Arial"/>
              </a:rPr>
              <a:t>rotation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74544" y="3384626"/>
            <a:ext cx="518033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Put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synthetic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credential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in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Vault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actual</a:t>
            </a:r>
            <a:r>
              <a:rPr dirty="0" sz="1100" spc="7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database</a:t>
            </a:r>
            <a:r>
              <a:rPr dirty="0" sz="110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credential.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22960" y="3858475"/>
            <a:ext cx="10195560" cy="635"/>
          </a:xfrm>
          <a:custGeom>
            <a:avLst/>
            <a:gdLst/>
            <a:ahLst/>
            <a:cxnLst/>
            <a:rect l="l" t="t" r="r" b="b"/>
            <a:pathLst>
              <a:path w="10195560" h="635">
                <a:moveTo>
                  <a:pt x="0" y="0"/>
                </a:moveTo>
                <a:lnTo>
                  <a:pt x="10195560" y="368"/>
                </a:lnTo>
              </a:path>
            </a:pathLst>
          </a:custGeom>
          <a:ln w="755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/>
          <p:cNvGrpSpPr/>
          <p:nvPr/>
        </p:nvGrpSpPr>
        <p:grpSpPr>
          <a:xfrm>
            <a:off x="819364" y="4083835"/>
            <a:ext cx="1424305" cy="354330"/>
            <a:chOff x="819364" y="4083835"/>
            <a:chExt cx="1424305" cy="354330"/>
          </a:xfrm>
        </p:grpSpPr>
        <p:sp>
          <p:nvSpPr>
            <p:cNvPr id="25" name="object 25"/>
            <p:cNvSpPr/>
            <p:nvPr/>
          </p:nvSpPr>
          <p:spPr>
            <a:xfrm>
              <a:off x="822604" y="4087075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79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256324"/>
                  </a:lnTo>
                  <a:lnTo>
                    <a:pt x="798" y="268329"/>
                  </a:lnTo>
                  <a:lnTo>
                    <a:pt x="18830" y="312088"/>
                  </a:lnTo>
                  <a:lnTo>
                    <a:pt x="56505" y="340777"/>
                  </a:lnTo>
                  <a:lnTo>
                    <a:pt x="91439" y="347764"/>
                  </a:lnTo>
                  <a:lnTo>
                    <a:pt x="1326235" y="347764"/>
                  </a:lnTo>
                  <a:lnTo>
                    <a:pt x="1371955" y="335521"/>
                  </a:lnTo>
                  <a:lnTo>
                    <a:pt x="1405432" y="302044"/>
                  </a:lnTo>
                  <a:lnTo>
                    <a:pt x="1417675" y="256324"/>
                  </a:lnTo>
                  <a:lnTo>
                    <a:pt x="1417651" y="91439"/>
                  </a:lnTo>
                  <a:lnTo>
                    <a:pt x="1405432" y="46088"/>
                  </a:lnTo>
                  <a:lnTo>
                    <a:pt x="1371955" y="12598"/>
                  </a:lnTo>
                  <a:lnTo>
                    <a:pt x="13262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22604" y="4087075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79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1326235" y="368"/>
                  </a:lnTo>
                  <a:lnTo>
                    <a:pt x="1371955" y="12598"/>
                  </a:lnTo>
                  <a:lnTo>
                    <a:pt x="1405432" y="46088"/>
                  </a:lnTo>
                  <a:lnTo>
                    <a:pt x="1417675" y="91808"/>
                  </a:lnTo>
                  <a:lnTo>
                    <a:pt x="1417675" y="256324"/>
                  </a:lnTo>
                  <a:lnTo>
                    <a:pt x="1416877" y="268329"/>
                  </a:lnTo>
                  <a:lnTo>
                    <a:pt x="1414526" y="279993"/>
                  </a:lnTo>
                  <a:lnTo>
                    <a:pt x="1390994" y="321082"/>
                  </a:lnTo>
                  <a:lnTo>
                    <a:pt x="1349905" y="344614"/>
                  </a:lnTo>
                  <a:lnTo>
                    <a:pt x="1326235" y="347764"/>
                  </a:lnTo>
                  <a:lnTo>
                    <a:pt x="91439" y="347764"/>
                  </a:lnTo>
                  <a:lnTo>
                    <a:pt x="45719" y="335521"/>
                  </a:lnTo>
                  <a:lnTo>
                    <a:pt x="12230" y="302044"/>
                  </a:lnTo>
                  <a:lnTo>
                    <a:pt x="0" y="256324"/>
                  </a:lnTo>
                  <a:lnTo>
                    <a:pt x="355" y="91439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88694" y="4174820"/>
            <a:ext cx="48577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10" b="1">
                <a:solidFill>
                  <a:srgbClr val="00A5A5"/>
                </a:solidFill>
                <a:latin typeface="Arial"/>
                <a:cs typeface="Arial"/>
              </a:rPr>
              <a:t>Alerting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74544" y="4198582"/>
            <a:ext cx="5325745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Define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metric,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scope,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condition,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evaluation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window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Action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Group;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prove</a:t>
            </a:r>
            <a:r>
              <a:rPr dirty="0" sz="1100" spc="8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100" spc="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fires.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2960" y="4672444"/>
            <a:ext cx="10195560" cy="635"/>
          </a:xfrm>
          <a:custGeom>
            <a:avLst/>
            <a:gdLst/>
            <a:ahLst/>
            <a:cxnLst/>
            <a:rect l="l" t="t" r="r" b="b"/>
            <a:pathLst>
              <a:path w="10195560" h="635">
                <a:moveTo>
                  <a:pt x="0" y="0"/>
                </a:moveTo>
                <a:lnTo>
                  <a:pt x="10195560" y="355"/>
                </a:lnTo>
              </a:path>
            </a:pathLst>
          </a:custGeom>
          <a:ln w="755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819364" y="4897435"/>
            <a:ext cx="1424305" cy="354330"/>
            <a:chOff x="819364" y="4897435"/>
            <a:chExt cx="1424305" cy="354330"/>
          </a:xfrm>
        </p:grpSpPr>
        <p:sp>
          <p:nvSpPr>
            <p:cNvPr id="31" name="object 31"/>
            <p:cNvSpPr/>
            <p:nvPr/>
          </p:nvSpPr>
          <p:spPr>
            <a:xfrm>
              <a:off x="822604" y="4900675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79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40"/>
                  </a:lnTo>
                  <a:lnTo>
                    <a:pt x="0" y="256324"/>
                  </a:lnTo>
                  <a:lnTo>
                    <a:pt x="798" y="268329"/>
                  </a:lnTo>
                  <a:lnTo>
                    <a:pt x="18830" y="312088"/>
                  </a:lnTo>
                  <a:lnTo>
                    <a:pt x="56505" y="340777"/>
                  </a:lnTo>
                  <a:lnTo>
                    <a:pt x="91439" y="347764"/>
                  </a:lnTo>
                  <a:lnTo>
                    <a:pt x="1326235" y="347764"/>
                  </a:lnTo>
                  <a:lnTo>
                    <a:pt x="1371955" y="335521"/>
                  </a:lnTo>
                  <a:lnTo>
                    <a:pt x="1405432" y="302044"/>
                  </a:lnTo>
                  <a:lnTo>
                    <a:pt x="1417675" y="256324"/>
                  </a:lnTo>
                  <a:lnTo>
                    <a:pt x="1417651" y="91440"/>
                  </a:lnTo>
                  <a:lnTo>
                    <a:pt x="1405432" y="46088"/>
                  </a:lnTo>
                  <a:lnTo>
                    <a:pt x="1371955" y="12598"/>
                  </a:lnTo>
                  <a:lnTo>
                    <a:pt x="13262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22604" y="4900675"/>
              <a:ext cx="1417955" cy="347980"/>
            </a:xfrm>
            <a:custGeom>
              <a:avLst/>
              <a:gdLst/>
              <a:ahLst/>
              <a:cxnLst/>
              <a:rect l="l" t="t" r="r" b="b"/>
              <a:pathLst>
                <a:path w="1417955" h="347979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1326235" y="368"/>
                  </a:lnTo>
                  <a:lnTo>
                    <a:pt x="1371955" y="12598"/>
                  </a:lnTo>
                  <a:lnTo>
                    <a:pt x="1405432" y="46088"/>
                  </a:lnTo>
                  <a:lnTo>
                    <a:pt x="1417675" y="91808"/>
                  </a:lnTo>
                  <a:lnTo>
                    <a:pt x="1417675" y="256324"/>
                  </a:lnTo>
                  <a:lnTo>
                    <a:pt x="1416877" y="268329"/>
                  </a:lnTo>
                  <a:lnTo>
                    <a:pt x="1414526" y="279993"/>
                  </a:lnTo>
                  <a:lnTo>
                    <a:pt x="1390994" y="321082"/>
                  </a:lnTo>
                  <a:lnTo>
                    <a:pt x="1349905" y="344614"/>
                  </a:lnTo>
                  <a:lnTo>
                    <a:pt x="1326235" y="347764"/>
                  </a:lnTo>
                  <a:lnTo>
                    <a:pt x="91439" y="347764"/>
                  </a:lnTo>
                  <a:lnTo>
                    <a:pt x="45719" y="335521"/>
                  </a:lnTo>
                  <a:lnTo>
                    <a:pt x="12230" y="302044"/>
                  </a:lnTo>
                  <a:lnTo>
                    <a:pt x="0" y="256324"/>
                  </a:lnTo>
                  <a:lnTo>
                    <a:pt x="355" y="91440"/>
                  </a:lnTo>
                  <a:close/>
                </a:path>
              </a:pathLst>
            </a:custGeom>
            <a:ln w="647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97254" y="4988788"/>
            <a:ext cx="66929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b="1">
                <a:solidFill>
                  <a:srgbClr val="0F7B0F"/>
                </a:solidFill>
                <a:latin typeface="Arial"/>
                <a:cs typeface="Arial"/>
              </a:rPr>
              <a:t>Cost </a:t>
            </a:r>
            <a:r>
              <a:rPr dirty="0" sz="950" spc="-10" b="1">
                <a:solidFill>
                  <a:srgbClr val="0F7B0F"/>
                </a:solidFill>
                <a:latin typeface="Arial"/>
                <a:cs typeface="Arial"/>
              </a:rPr>
              <a:t>driver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74544" y="5012182"/>
            <a:ext cx="552704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100" spc="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Analysis;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group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by</a:t>
            </a:r>
            <a:r>
              <a:rPr dirty="0" sz="1100" spc="9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service/resource;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document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likely</a:t>
            </a:r>
            <a:r>
              <a:rPr dirty="0" sz="1100" spc="10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idle/oversized</a:t>
            </a:r>
            <a:r>
              <a:rPr dirty="0" sz="1100" spc="9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item.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6" name="object 3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09904" y="6000381"/>
            <a:ext cx="67468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CMK,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secret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access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alert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delivery,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successful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configuration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must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be</a:t>
            </a:r>
            <a:r>
              <a:rPr dirty="0" sz="10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followed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by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functional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validation.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03962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B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-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Before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class:</a:t>
            </a:r>
            <a:r>
              <a:rPr dirty="0" spc="-15"/>
              <a:t> </a:t>
            </a:r>
            <a:r>
              <a:rPr dirty="0"/>
              <a:t>fix</a:t>
            </a:r>
            <a:r>
              <a:rPr dirty="0" spc="-15"/>
              <a:t> </a:t>
            </a:r>
            <a:r>
              <a:rPr dirty="0"/>
              <a:t>these</a:t>
            </a:r>
            <a:r>
              <a:rPr dirty="0" spc="-10"/>
              <a:t> </a:t>
            </a:r>
            <a:r>
              <a:rPr dirty="0" spc="-20"/>
              <a:t>high-</a:t>
            </a:r>
            <a:r>
              <a:rPr dirty="0"/>
              <a:t>risk</a:t>
            </a:r>
            <a:r>
              <a:rPr dirty="0" spc="-10"/>
              <a:t> defaults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655891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These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safety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consistency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checks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derived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from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attached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lab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guide—not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extra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student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objectives.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0584" y="1621255"/>
            <a:ext cx="4995545" cy="1457325"/>
            <a:chOff x="770584" y="1621255"/>
            <a:chExt cx="4995545" cy="1457325"/>
          </a:xfrm>
        </p:grpSpPr>
        <p:sp>
          <p:nvSpPr>
            <p:cNvPr id="7" name="object 7"/>
            <p:cNvSpPr/>
            <p:nvPr/>
          </p:nvSpPr>
          <p:spPr>
            <a:xfrm>
              <a:off x="777240" y="1627555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49100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371600"/>
                  </a:lnTo>
                  <a:lnTo>
                    <a:pt x="5412" y="1399340"/>
                  </a:lnTo>
                  <a:lnTo>
                    <a:pt x="5464" y="1399496"/>
                  </a:lnTo>
                  <a:lnTo>
                    <a:pt x="36360" y="1434960"/>
                  </a:lnTo>
                  <a:lnTo>
                    <a:pt x="73075" y="1444688"/>
                  </a:lnTo>
                  <a:lnTo>
                    <a:pt x="4910404" y="1444320"/>
                  </a:lnTo>
                  <a:lnTo>
                    <a:pt x="4954774" y="1429228"/>
                  </a:lnTo>
                  <a:lnTo>
                    <a:pt x="4977938" y="1399496"/>
                  </a:lnTo>
                  <a:lnTo>
                    <a:pt x="4978015" y="1399340"/>
                  </a:lnTo>
                  <a:lnTo>
                    <a:pt x="4980991" y="1390456"/>
                  </a:lnTo>
                  <a:lnTo>
                    <a:pt x="4981051" y="1390278"/>
                  </a:lnTo>
                  <a:lnTo>
                    <a:pt x="4982834" y="1381078"/>
                  </a:lnTo>
                  <a:lnTo>
                    <a:pt x="4982872" y="1380878"/>
                  </a:lnTo>
                  <a:lnTo>
                    <a:pt x="4983457" y="1371600"/>
                  </a:lnTo>
                  <a:lnTo>
                    <a:pt x="4983480" y="1371244"/>
                  </a:lnTo>
                  <a:lnTo>
                    <a:pt x="4983124" y="73088"/>
                  </a:lnTo>
                  <a:lnTo>
                    <a:pt x="4968020" y="28710"/>
                  </a:lnTo>
                  <a:lnTo>
                    <a:pt x="4929076" y="2430"/>
                  </a:lnTo>
                  <a:lnTo>
                    <a:pt x="4919675" y="607"/>
                  </a:lnTo>
                  <a:lnTo>
                    <a:pt x="4910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40" y="1627555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4910035" y="0"/>
                  </a:lnTo>
                  <a:lnTo>
                    <a:pt x="4954568" y="15109"/>
                  </a:lnTo>
                  <a:lnTo>
                    <a:pt x="4980693" y="54232"/>
                  </a:lnTo>
                  <a:lnTo>
                    <a:pt x="4983124" y="73088"/>
                  </a:lnTo>
                  <a:lnTo>
                    <a:pt x="4983480" y="1371244"/>
                  </a:lnTo>
                  <a:lnTo>
                    <a:pt x="4982872" y="1380878"/>
                  </a:lnTo>
                  <a:lnTo>
                    <a:pt x="4981051" y="1390278"/>
                  </a:lnTo>
                  <a:lnTo>
                    <a:pt x="4954774" y="1429228"/>
                  </a:lnTo>
                  <a:lnTo>
                    <a:pt x="4910404" y="1444320"/>
                  </a:lnTo>
                  <a:lnTo>
                    <a:pt x="73075" y="1444688"/>
                  </a:lnTo>
                  <a:lnTo>
                    <a:pt x="28555" y="1429578"/>
                  </a:lnTo>
                  <a:lnTo>
                    <a:pt x="2428" y="1390456"/>
                  </a:lnTo>
                  <a:lnTo>
                    <a:pt x="0" y="13716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1627555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4" h="1444625">
                  <a:moveTo>
                    <a:pt x="63715" y="0"/>
                  </a:moveTo>
                  <a:lnTo>
                    <a:pt x="0" y="0"/>
                  </a:lnTo>
                  <a:lnTo>
                    <a:pt x="0" y="1444320"/>
                  </a:lnTo>
                  <a:lnTo>
                    <a:pt x="32029" y="1444320"/>
                  </a:lnTo>
                  <a:lnTo>
                    <a:pt x="63715" y="14443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1627555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4" h="1444625">
                  <a:moveTo>
                    <a:pt x="32029" y="1444320"/>
                  </a:moveTo>
                  <a:lnTo>
                    <a:pt x="0" y="14443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44320"/>
                  </a:lnTo>
                  <a:lnTo>
                    <a:pt x="32029" y="1444320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415" y="1805660"/>
            <a:ext cx="1231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4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exposure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784" y="2113102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057" y="2136139"/>
            <a:ext cx="4471670" cy="354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source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script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example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allows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SSH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from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“Internet”.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Replace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actual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trusted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IP</a:t>
            </a:r>
            <a:r>
              <a:rPr dirty="0" sz="1050" spc="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`/32`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approved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route.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2900" y="1621255"/>
            <a:ext cx="4995545" cy="1457325"/>
            <a:chOff x="6192900" y="1621255"/>
            <a:chExt cx="4995545" cy="1457325"/>
          </a:xfrm>
        </p:grpSpPr>
        <p:sp>
          <p:nvSpPr>
            <p:cNvPr id="15" name="object 15"/>
            <p:cNvSpPr/>
            <p:nvPr/>
          </p:nvSpPr>
          <p:spPr>
            <a:xfrm>
              <a:off x="6199555" y="1627555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491004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371600"/>
                  </a:lnTo>
                  <a:lnTo>
                    <a:pt x="15103" y="1415977"/>
                  </a:lnTo>
                  <a:lnTo>
                    <a:pt x="54048" y="1442258"/>
                  </a:lnTo>
                  <a:lnTo>
                    <a:pt x="73088" y="1444688"/>
                  </a:lnTo>
                  <a:lnTo>
                    <a:pt x="4910404" y="1444320"/>
                  </a:lnTo>
                  <a:lnTo>
                    <a:pt x="4954781" y="1429228"/>
                  </a:lnTo>
                  <a:lnTo>
                    <a:pt x="4977938" y="1399496"/>
                  </a:lnTo>
                  <a:lnTo>
                    <a:pt x="4978015" y="1399340"/>
                  </a:lnTo>
                  <a:lnTo>
                    <a:pt x="4980991" y="1390456"/>
                  </a:lnTo>
                  <a:lnTo>
                    <a:pt x="4981051" y="1390278"/>
                  </a:lnTo>
                  <a:lnTo>
                    <a:pt x="4982834" y="1381078"/>
                  </a:lnTo>
                  <a:lnTo>
                    <a:pt x="4982872" y="1380878"/>
                  </a:lnTo>
                  <a:lnTo>
                    <a:pt x="4983457" y="1371600"/>
                  </a:lnTo>
                  <a:lnTo>
                    <a:pt x="4983480" y="1371244"/>
                  </a:lnTo>
                  <a:lnTo>
                    <a:pt x="4983124" y="73088"/>
                  </a:lnTo>
                  <a:lnTo>
                    <a:pt x="4968025" y="28710"/>
                  </a:lnTo>
                  <a:lnTo>
                    <a:pt x="4929077" y="2430"/>
                  </a:lnTo>
                  <a:lnTo>
                    <a:pt x="4919680" y="607"/>
                  </a:lnTo>
                  <a:lnTo>
                    <a:pt x="4910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99555" y="1627555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4910048" y="0"/>
                  </a:lnTo>
                  <a:lnTo>
                    <a:pt x="4954569" y="15109"/>
                  </a:lnTo>
                  <a:lnTo>
                    <a:pt x="4980695" y="54232"/>
                  </a:lnTo>
                  <a:lnTo>
                    <a:pt x="4983124" y="73088"/>
                  </a:lnTo>
                  <a:lnTo>
                    <a:pt x="4983480" y="1371244"/>
                  </a:lnTo>
                  <a:lnTo>
                    <a:pt x="4982872" y="1380878"/>
                  </a:lnTo>
                  <a:lnTo>
                    <a:pt x="4981051" y="1390278"/>
                  </a:lnTo>
                  <a:lnTo>
                    <a:pt x="4954781" y="1429228"/>
                  </a:lnTo>
                  <a:lnTo>
                    <a:pt x="4910404" y="1444320"/>
                  </a:lnTo>
                  <a:lnTo>
                    <a:pt x="73088" y="1444688"/>
                  </a:lnTo>
                  <a:lnTo>
                    <a:pt x="28555" y="1429578"/>
                  </a:lnTo>
                  <a:lnTo>
                    <a:pt x="2430" y="1390456"/>
                  </a:lnTo>
                  <a:lnTo>
                    <a:pt x="0" y="1371600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99200" y="1627555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5" h="1444625">
                  <a:moveTo>
                    <a:pt x="63715" y="0"/>
                  </a:moveTo>
                  <a:lnTo>
                    <a:pt x="0" y="0"/>
                  </a:lnTo>
                  <a:lnTo>
                    <a:pt x="0" y="1444320"/>
                  </a:lnTo>
                  <a:lnTo>
                    <a:pt x="32042" y="1444320"/>
                  </a:lnTo>
                  <a:lnTo>
                    <a:pt x="63715" y="14443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99200" y="1627555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5" h="1444625">
                  <a:moveTo>
                    <a:pt x="32042" y="1444320"/>
                  </a:moveTo>
                  <a:lnTo>
                    <a:pt x="0" y="14443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44320"/>
                  </a:lnTo>
                  <a:lnTo>
                    <a:pt x="32042" y="1444320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387744" y="1805660"/>
            <a:ext cx="12433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4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egress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8100" y="2113102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0386" y="2136139"/>
            <a:ext cx="4422140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subnet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default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disabled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needs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explicit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outbound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method.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NAT</a:t>
            </a:r>
            <a:r>
              <a:rPr dirty="0" sz="105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Gateway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associated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with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subnet;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a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`VirtualAppliance`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route</a:t>
            </a:r>
            <a:r>
              <a:rPr dirty="0" sz="1050" spc="4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target.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0584" y="3422699"/>
            <a:ext cx="4995545" cy="1457325"/>
            <a:chOff x="770584" y="3422699"/>
            <a:chExt cx="4995545" cy="1457325"/>
          </a:xfrm>
        </p:grpSpPr>
        <p:sp>
          <p:nvSpPr>
            <p:cNvPr id="23" name="object 23"/>
            <p:cNvSpPr/>
            <p:nvPr/>
          </p:nvSpPr>
          <p:spPr>
            <a:xfrm>
              <a:off x="777240" y="3428999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491003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71600"/>
                  </a:lnTo>
                  <a:lnTo>
                    <a:pt x="594" y="1380876"/>
                  </a:lnTo>
                  <a:lnTo>
                    <a:pt x="607" y="1381078"/>
                  </a:lnTo>
                  <a:lnTo>
                    <a:pt x="21423" y="1423217"/>
                  </a:lnTo>
                  <a:lnTo>
                    <a:pt x="63443" y="1444068"/>
                  </a:lnTo>
                  <a:lnTo>
                    <a:pt x="73075" y="1444675"/>
                  </a:lnTo>
                  <a:lnTo>
                    <a:pt x="4910404" y="1444320"/>
                  </a:lnTo>
                  <a:lnTo>
                    <a:pt x="4954774" y="1429221"/>
                  </a:lnTo>
                  <a:lnTo>
                    <a:pt x="4980989" y="1390456"/>
                  </a:lnTo>
                  <a:lnTo>
                    <a:pt x="4981051" y="1390273"/>
                  </a:lnTo>
                  <a:lnTo>
                    <a:pt x="4982833" y="1381078"/>
                  </a:lnTo>
                  <a:lnTo>
                    <a:pt x="4982872" y="1380876"/>
                  </a:lnTo>
                  <a:lnTo>
                    <a:pt x="4983457" y="1371600"/>
                  </a:lnTo>
                  <a:lnTo>
                    <a:pt x="4983480" y="1371244"/>
                  </a:lnTo>
                  <a:lnTo>
                    <a:pt x="4983124" y="73075"/>
                  </a:lnTo>
                  <a:lnTo>
                    <a:pt x="4968020" y="28705"/>
                  </a:lnTo>
                  <a:lnTo>
                    <a:pt x="4929076" y="2428"/>
                  </a:lnTo>
                  <a:lnTo>
                    <a:pt x="4919675" y="607"/>
                  </a:lnTo>
                  <a:lnTo>
                    <a:pt x="4910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77240" y="3428999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910035" y="0"/>
                  </a:lnTo>
                  <a:lnTo>
                    <a:pt x="4954568" y="15104"/>
                  </a:lnTo>
                  <a:lnTo>
                    <a:pt x="4980693" y="54224"/>
                  </a:lnTo>
                  <a:lnTo>
                    <a:pt x="4983124" y="73075"/>
                  </a:lnTo>
                  <a:lnTo>
                    <a:pt x="4983480" y="1371244"/>
                  </a:lnTo>
                  <a:lnTo>
                    <a:pt x="4982872" y="1380876"/>
                  </a:lnTo>
                  <a:lnTo>
                    <a:pt x="4981051" y="1390273"/>
                  </a:lnTo>
                  <a:lnTo>
                    <a:pt x="4954774" y="1429221"/>
                  </a:lnTo>
                  <a:lnTo>
                    <a:pt x="4910404" y="1444320"/>
                  </a:lnTo>
                  <a:lnTo>
                    <a:pt x="73075" y="1444675"/>
                  </a:lnTo>
                  <a:lnTo>
                    <a:pt x="28555" y="1429578"/>
                  </a:lnTo>
                  <a:lnTo>
                    <a:pt x="2428" y="1390456"/>
                  </a:lnTo>
                  <a:lnTo>
                    <a:pt x="0" y="1371600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76884" y="3428999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4" h="1444625">
                  <a:moveTo>
                    <a:pt x="63715" y="0"/>
                  </a:moveTo>
                  <a:lnTo>
                    <a:pt x="0" y="0"/>
                  </a:lnTo>
                  <a:lnTo>
                    <a:pt x="0" y="1444320"/>
                  </a:lnTo>
                  <a:lnTo>
                    <a:pt x="32029" y="1444320"/>
                  </a:lnTo>
                  <a:lnTo>
                    <a:pt x="63715" y="14443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6884" y="3428999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4" h="1444625">
                  <a:moveTo>
                    <a:pt x="32029" y="1444320"/>
                  </a:moveTo>
                  <a:lnTo>
                    <a:pt x="0" y="14443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44320"/>
                  </a:lnTo>
                  <a:lnTo>
                    <a:pt x="32029" y="1444320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965415" y="3607104"/>
            <a:ext cx="1379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initial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5784" y="3914533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8057" y="3937584"/>
            <a:ext cx="4394835" cy="354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attached</a:t>
            </a:r>
            <a:r>
              <a:rPr dirty="0" sz="105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Terraform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creates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an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80-GiB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disk,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but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exercise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9495F"/>
                </a:solidFill>
                <a:latin typeface="Arial"/>
                <a:cs typeface="Arial"/>
              </a:rPr>
              <a:t>says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resize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40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→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80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GiB.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Set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initial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data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to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40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GiB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before</a:t>
            </a:r>
            <a:r>
              <a:rPr dirty="0" sz="1050" spc="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050" spc="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lesson.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92900" y="3422699"/>
            <a:ext cx="4995545" cy="1457325"/>
            <a:chOff x="6192900" y="3422699"/>
            <a:chExt cx="4995545" cy="1457325"/>
          </a:xfrm>
        </p:grpSpPr>
        <p:sp>
          <p:nvSpPr>
            <p:cNvPr id="31" name="object 31"/>
            <p:cNvSpPr/>
            <p:nvPr/>
          </p:nvSpPr>
          <p:spPr>
            <a:xfrm>
              <a:off x="6199555" y="3428999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491004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71600"/>
                  </a:lnTo>
                  <a:lnTo>
                    <a:pt x="594" y="1380876"/>
                  </a:lnTo>
                  <a:lnTo>
                    <a:pt x="607" y="1381078"/>
                  </a:lnTo>
                  <a:lnTo>
                    <a:pt x="2394" y="1390273"/>
                  </a:lnTo>
                  <a:lnTo>
                    <a:pt x="2430" y="1390456"/>
                  </a:lnTo>
                  <a:lnTo>
                    <a:pt x="5416" y="1399335"/>
                  </a:lnTo>
                  <a:lnTo>
                    <a:pt x="36360" y="1434960"/>
                  </a:lnTo>
                  <a:lnTo>
                    <a:pt x="73088" y="1444675"/>
                  </a:lnTo>
                  <a:lnTo>
                    <a:pt x="4910404" y="1444320"/>
                  </a:lnTo>
                  <a:lnTo>
                    <a:pt x="4954781" y="1429221"/>
                  </a:lnTo>
                  <a:lnTo>
                    <a:pt x="4980989" y="1390456"/>
                  </a:lnTo>
                  <a:lnTo>
                    <a:pt x="4981051" y="1390273"/>
                  </a:lnTo>
                  <a:lnTo>
                    <a:pt x="4982833" y="1381078"/>
                  </a:lnTo>
                  <a:lnTo>
                    <a:pt x="4982872" y="1380876"/>
                  </a:lnTo>
                  <a:lnTo>
                    <a:pt x="4983457" y="1371600"/>
                  </a:lnTo>
                  <a:lnTo>
                    <a:pt x="4983124" y="73075"/>
                  </a:lnTo>
                  <a:lnTo>
                    <a:pt x="4968025" y="28705"/>
                  </a:lnTo>
                  <a:lnTo>
                    <a:pt x="4929077" y="2428"/>
                  </a:lnTo>
                  <a:lnTo>
                    <a:pt x="4919680" y="607"/>
                  </a:lnTo>
                  <a:lnTo>
                    <a:pt x="4910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199555" y="3428999"/>
              <a:ext cx="4983480" cy="1445260"/>
            </a:xfrm>
            <a:custGeom>
              <a:avLst/>
              <a:gdLst/>
              <a:ahLst/>
              <a:cxnLst/>
              <a:rect l="l" t="t" r="r" b="b"/>
              <a:pathLst>
                <a:path w="4983480" h="144526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4910048" y="0"/>
                  </a:lnTo>
                  <a:lnTo>
                    <a:pt x="4954569" y="15104"/>
                  </a:lnTo>
                  <a:lnTo>
                    <a:pt x="4980695" y="54224"/>
                  </a:lnTo>
                  <a:lnTo>
                    <a:pt x="4983124" y="73075"/>
                  </a:lnTo>
                  <a:lnTo>
                    <a:pt x="4983480" y="1371244"/>
                  </a:lnTo>
                  <a:lnTo>
                    <a:pt x="4982872" y="1380876"/>
                  </a:lnTo>
                  <a:lnTo>
                    <a:pt x="4981051" y="1390273"/>
                  </a:lnTo>
                  <a:lnTo>
                    <a:pt x="4954781" y="1429221"/>
                  </a:lnTo>
                  <a:lnTo>
                    <a:pt x="4910404" y="1444320"/>
                  </a:lnTo>
                  <a:lnTo>
                    <a:pt x="73088" y="1444675"/>
                  </a:lnTo>
                  <a:lnTo>
                    <a:pt x="28555" y="1429578"/>
                  </a:lnTo>
                  <a:lnTo>
                    <a:pt x="2430" y="1390456"/>
                  </a:lnTo>
                  <a:lnTo>
                    <a:pt x="0" y="1371600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99200" y="3428999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5" h="1444625">
                  <a:moveTo>
                    <a:pt x="63715" y="0"/>
                  </a:moveTo>
                  <a:lnTo>
                    <a:pt x="0" y="0"/>
                  </a:lnTo>
                  <a:lnTo>
                    <a:pt x="0" y="1444320"/>
                  </a:lnTo>
                  <a:lnTo>
                    <a:pt x="32042" y="1444320"/>
                  </a:lnTo>
                  <a:lnTo>
                    <a:pt x="63715" y="1444320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199200" y="3428999"/>
              <a:ext cx="64135" cy="1444625"/>
            </a:xfrm>
            <a:custGeom>
              <a:avLst/>
              <a:gdLst/>
              <a:ahLst/>
              <a:cxnLst/>
              <a:rect l="l" t="t" r="r" b="b"/>
              <a:pathLst>
                <a:path w="64135" h="1444625">
                  <a:moveTo>
                    <a:pt x="32042" y="1444320"/>
                  </a:moveTo>
                  <a:lnTo>
                    <a:pt x="0" y="1444320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44320"/>
                  </a:lnTo>
                  <a:lnTo>
                    <a:pt x="32042" y="1444320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387744" y="3607104"/>
            <a:ext cx="1756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Private</a:t>
            </a:r>
            <a:r>
              <a:rPr dirty="0" sz="14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handling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88100" y="3914533"/>
            <a:ext cx="742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40386" y="3937584"/>
            <a:ext cx="4325620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5"/>
              </a:spcBef>
            </a:pP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Avoid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copying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private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SSH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onto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remote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VM.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Prefer</a:t>
            </a:r>
            <a:r>
              <a:rPr dirty="0" sz="1050" spc="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Cloud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Shell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0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patterns,</a:t>
            </a:r>
            <a:r>
              <a:rPr dirty="0" sz="10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approved</a:t>
            </a:r>
            <a:r>
              <a:rPr dirty="0" sz="10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Bastion/jump</a:t>
            </a:r>
            <a:r>
              <a:rPr dirty="0" sz="10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workflows</a:t>
            </a:r>
            <a:r>
              <a:rPr dirty="0" sz="10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050" spc="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050" spc="6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forwarding </a:t>
            </a:r>
            <a:r>
              <a:rPr dirty="0" sz="1050">
                <a:solidFill>
                  <a:srgbClr val="39495F"/>
                </a:solidFill>
                <a:latin typeface="Arial"/>
                <a:cs typeface="Arial"/>
              </a:rPr>
              <a:t>where</a:t>
            </a:r>
            <a:r>
              <a:rPr dirty="0" sz="1050" spc="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9495F"/>
                </a:solidFill>
                <a:latin typeface="Arial"/>
                <a:cs typeface="Arial"/>
              </a:rPr>
              <a:t>permitted.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9" name="object 39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09904" y="6000381"/>
            <a:ext cx="62661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These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checks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make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exercise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safer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ensure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learners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can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observe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intended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before/after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result.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03962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B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-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P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Storage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identity</a:t>
            </a:r>
            <a:r>
              <a:rPr dirty="0" spc="-45"/>
              <a:t> </a:t>
            </a:r>
            <a:r>
              <a:rPr dirty="0"/>
              <a:t>need</a:t>
            </a:r>
            <a:r>
              <a:rPr dirty="0" spc="-40"/>
              <a:t> </a:t>
            </a:r>
            <a:r>
              <a:rPr dirty="0"/>
              <a:t>careful</a:t>
            </a:r>
            <a:r>
              <a:rPr dirty="0" spc="-45"/>
              <a:t> </a:t>
            </a:r>
            <a:r>
              <a:rPr dirty="0" spc="-10"/>
              <a:t>sequencing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9759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platform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can</a:t>
            </a:r>
            <a:r>
              <a:rPr dirty="0" sz="1050" spc="3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configured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correctly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but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still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fail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if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guest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or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service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identity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is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not</a:t>
            </a:r>
            <a:r>
              <a:rPr dirty="0" sz="1050" spc="3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ready.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770584" y="1621255"/>
            <a:ext cx="3441065" cy="2435860"/>
            <a:chOff x="770584" y="1621255"/>
            <a:chExt cx="3441065" cy="2435860"/>
          </a:xfrm>
        </p:grpSpPr>
        <p:sp>
          <p:nvSpPr>
            <p:cNvPr id="7" name="object 7"/>
            <p:cNvSpPr/>
            <p:nvPr/>
          </p:nvSpPr>
          <p:spPr>
            <a:xfrm>
              <a:off x="777240" y="1627555"/>
              <a:ext cx="3429000" cy="2423160"/>
            </a:xfrm>
            <a:custGeom>
              <a:avLst/>
              <a:gdLst/>
              <a:ahLst/>
              <a:cxnLst/>
              <a:rect l="l" t="t" r="r" b="b"/>
              <a:pathLst>
                <a:path w="3429000" h="24231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350084"/>
                  </a:lnTo>
                  <a:lnTo>
                    <a:pt x="594" y="2359360"/>
                  </a:lnTo>
                  <a:lnTo>
                    <a:pt x="607" y="2359562"/>
                  </a:lnTo>
                  <a:lnTo>
                    <a:pt x="2393" y="2368757"/>
                  </a:lnTo>
                  <a:lnTo>
                    <a:pt x="2428" y="2368940"/>
                  </a:lnTo>
                  <a:lnTo>
                    <a:pt x="28555" y="2408063"/>
                  </a:lnTo>
                  <a:lnTo>
                    <a:pt x="73075" y="2423160"/>
                  </a:lnTo>
                  <a:lnTo>
                    <a:pt x="3355924" y="2422804"/>
                  </a:lnTo>
                  <a:lnTo>
                    <a:pt x="3400294" y="2407705"/>
                  </a:lnTo>
                  <a:lnTo>
                    <a:pt x="3426509" y="2368940"/>
                  </a:lnTo>
                  <a:lnTo>
                    <a:pt x="3426571" y="2368757"/>
                  </a:lnTo>
                  <a:lnTo>
                    <a:pt x="3428353" y="2359562"/>
                  </a:lnTo>
                  <a:lnTo>
                    <a:pt x="3428392" y="2359360"/>
                  </a:lnTo>
                  <a:lnTo>
                    <a:pt x="3428977" y="2350084"/>
                  </a:lnTo>
                  <a:lnTo>
                    <a:pt x="3429000" y="2349728"/>
                  </a:lnTo>
                  <a:lnTo>
                    <a:pt x="3428644" y="73088"/>
                  </a:lnTo>
                  <a:lnTo>
                    <a:pt x="3413540" y="28710"/>
                  </a:lnTo>
                  <a:lnTo>
                    <a:pt x="3374596" y="2430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40" y="1627555"/>
              <a:ext cx="3429000" cy="2423160"/>
            </a:xfrm>
            <a:custGeom>
              <a:avLst/>
              <a:gdLst/>
              <a:ahLst/>
              <a:cxnLst/>
              <a:rect l="l" t="t" r="r" b="b"/>
              <a:pathLst>
                <a:path w="3429000" h="24231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9"/>
                  </a:lnTo>
                  <a:lnTo>
                    <a:pt x="3426213" y="54232"/>
                  </a:lnTo>
                  <a:lnTo>
                    <a:pt x="3428644" y="73088"/>
                  </a:lnTo>
                  <a:lnTo>
                    <a:pt x="3429000" y="2349728"/>
                  </a:lnTo>
                  <a:lnTo>
                    <a:pt x="3428392" y="2359360"/>
                  </a:lnTo>
                  <a:lnTo>
                    <a:pt x="3426571" y="2368757"/>
                  </a:lnTo>
                  <a:lnTo>
                    <a:pt x="3400294" y="2407705"/>
                  </a:lnTo>
                  <a:lnTo>
                    <a:pt x="3355924" y="2422804"/>
                  </a:lnTo>
                  <a:lnTo>
                    <a:pt x="73075" y="2423160"/>
                  </a:lnTo>
                  <a:lnTo>
                    <a:pt x="28555" y="2408063"/>
                  </a:lnTo>
                  <a:lnTo>
                    <a:pt x="2428" y="2368940"/>
                  </a:lnTo>
                  <a:lnTo>
                    <a:pt x="0" y="235008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1627555"/>
              <a:ext cx="64135" cy="2423160"/>
            </a:xfrm>
            <a:custGeom>
              <a:avLst/>
              <a:gdLst/>
              <a:ahLst/>
              <a:cxnLst/>
              <a:rect l="l" t="t" r="r" b="b"/>
              <a:pathLst>
                <a:path w="64134" h="2423160">
                  <a:moveTo>
                    <a:pt x="63715" y="0"/>
                  </a:moveTo>
                  <a:lnTo>
                    <a:pt x="0" y="0"/>
                  </a:lnTo>
                  <a:lnTo>
                    <a:pt x="0" y="2422804"/>
                  </a:lnTo>
                  <a:lnTo>
                    <a:pt x="32029" y="2422804"/>
                  </a:lnTo>
                  <a:lnTo>
                    <a:pt x="63715" y="242280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1627555"/>
              <a:ext cx="64135" cy="2423160"/>
            </a:xfrm>
            <a:custGeom>
              <a:avLst/>
              <a:gdLst/>
              <a:ahLst/>
              <a:cxnLst/>
              <a:rect l="l" t="t" r="r" b="b"/>
              <a:pathLst>
                <a:path w="64134" h="2423160">
                  <a:moveTo>
                    <a:pt x="32029" y="2422804"/>
                  </a:moveTo>
                  <a:lnTo>
                    <a:pt x="0" y="242280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422804"/>
                  </a:lnTo>
                  <a:lnTo>
                    <a:pt x="32029" y="2422804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5415" y="1805660"/>
            <a:ext cx="13296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 formatting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784" y="2111654"/>
            <a:ext cx="7620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057" y="2135415"/>
            <a:ext cx="2821305" cy="707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Use `mkfs`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only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on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confirmed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new,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empty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disk.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resize,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identify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device,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partition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and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first;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correct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grow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command.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64100" y="1621255"/>
            <a:ext cx="3441065" cy="2435860"/>
            <a:chOff x="4364100" y="1621255"/>
            <a:chExt cx="3441065" cy="2435860"/>
          </a:xfrm>
        </p:grpSpPr>
        <p:sp>
          <p:nvSpPr>
            <p:cNvPr id="15" name="object 15"/>
            <p:cNvSpPr/>
            <p:nvPr/>
          </p:nvSpPr>
          <p:spPr>
            <a:xfrm>
              <a:off x="4370755" y="1627555"/>
              <a:ext cx="3429000" cy="2423160"/>
            </a:xfrm>
            <a:custGeom>
              <a:avLst/>
              <a:gdLst/>
              <a:ahLst/>
              <a:cxnLst/>
              <a:rect l="l" t="t" r="r" b="b"/>
              <a:pathLst>
                <a:path w="3429000" h="2423160">
                  <a:moveTo>
                    <a:pt x="335556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350084"/>
                  </a:lnTo>
                  <a:lnTo>
                    <a:pt x="594" y="2359360"/>
                  </a:lnTo>
                  <a:lnTo>
                    <a:pt x="607" y="2359562"/>
                  </a:lnTo>
                  <a:lnTo>
                    <a:pt x="2394" y="2368757"/>
                  </a:lnTo>
                  <a:lnTo>
                    <a:pt x="2430" y="2368940"/>
                  </a:lnTo>
                  <a:lnTo>
                    <a:pt x="5416" y="2377819"/>
                  </a:lnTo>
                  <a:lnTo>
                    <a:pt x="36360" y="2413444"/>
                  </a:lnTo>
                  <a:lnTo>
                    <a:pt x="73088" y="2423160"/>
                  </a:lnTo>
                  <a:lnTo>
                    <a:pt x="3355924" y="2422804"/>
                  </a:lnTo>
                  <a:lnTo>
                    <a:pt x="3400301" y="2407705"/>
                  </a:lnTo>
                  <a:lnTo>
                    <a:pt x="3426509" y="2368940"/>
                  </a:lnTo>
                  <a:lnTo>
                    <a:pt x="3426571" y="2368757"/>
                  </a:lnTo>
                  <a:lnTo>
                    <a:pt x="3428353" y="2359562"/>
                  </a:lnTo>
                  <a:lnTo>
                    <a:pt x="3428392" y="2359360"/>
                  </a:lnTo>
                  <a:lnTo>
                    <a:pt x="3428977" y="2350084"/>
                  </a:lnTo>
                  <a:lnTo>
                    <a:pt x="3428644" y="73088"/>
                  </a:lnTo>
                  <a:lnTo>
                    <a:pt x="3413545" y="28710"/>
                  </a:lnTo>
                  <a:lnTo>
                    <a:pt x="3374597" y="2430"/>
                  </a:lnTo>
                  <a:lnTo>
                    <a:pt x="3365200" y="607"/>
                  </a:lnTo>
                  <a:lnTo>
                    <a:pt x="33555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70755" y="1627555"/>
              <a:ext cx="3429000" cy="2423160"/>
            </a:xfrm>
            <a:custGeom>
              <a:avLst/>
              <a:gdLst/>
              <a:ahLst/>
              <a:cxnLst/>
              <a:rect l="l" t="t" r="r" b="b"/>
              <a:pathLst>
                <a:path w="3429000" h="242316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3355568" y="0"/>
                  </a:lnTo>
                  <a:lnTo>
                    <a:pt x="3400089" y="15109"/>
                  </a:lnTo>
                  <a:lnTo>
                    <a:pt x="3426215" y="54232"/>
                  </a:lnTo>
                  <a:lnTo>
                    <a:pt x="3428644" y="73088"/>
                  </a:lnTo>
                  <a:lnTo>
                    <a:pt x="3429000" y="2349728"/>
                  </a:lnTo>
                  <a:lnTo>
                    <a:pt x="3428392" y="2359360"/>
                  </a:lnTo>
                  <a:lnTo>
                    <a:pt x="3426571" y="2368757"/>
                  </a:lnTo>
                  <a:lnTo>
                    <a:pt x="3400301" y="2407705"/>
                  </a:lnTo>
                  <a:lnTo>
                    <a:pt x="3355924" y="2422804"/>
                  </a:lnTo>
                  <a:lnTo>
                    <a:pt x="73088" y="2423160"/>
                  </a:lnTo>
                  <a:lnTo>
                    <a:pt x="28555" y="2408063"/>
                  </a:lnTo>
                  <a:lnTo>
                    <a:pt x="2430" y="2368940"/>
                  </a:lnTo>
                  <a:lnTo>
                    <a:pt x="0" y="235008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70400" y="1627555"/>
              <a:ext cx="64135" cy="2423160"/>
            </a:xfrm>
            <a:custGeom>
              <a:avLst/>
              <a:gdLst/>
              <a:ahLst/>
              <a:cxnLst/>
              <a:rect l="l" t="t" r="r" b="b"/>
              <a:pathLst>
                <a:path w="64135" h="2423160">
                  <a:moveTo>
                    <a:pt x="63715" y="0"/>
                  </a:moveTo>
                  <a:lnTo>
                    <a:pt x="0" y="0"/>
                  </a:lnTo>
                  <a:lnTo>
                    <a:pt x="0" y="2422804"/>
                  </a:lnTo>
                  <a:lnTo>
                    <a:pt x="32042" y="2422804"/>
                  </a:lnTo>
                  <a:lnTo>
                    <a:pt x="63715" y="242280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70400" y="1627555"/>
              <a:ext cx="64135" cy="2423160"/>
            </a:xfrm>
            <a:custGeom>
              <a:avLst/>
              <a:gdLst/>
              <a:ahLst/>
              <a:cxnLst/>
              <a:rect l="l" t="t" r="r" b="b"/>
              <a:pathLst>
                <a:path w="64135" h="2423160">
                  <a:moveTo>
                    <a:pt x="32042" y="2422804"/>
                  </a:moveTo>
                  <a:lnTo>
                    <a:pt x="0" y="242280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422804"/>
                  </a:lnTo>
                  <a:lnTo>
                    <a:pt x="32042" y="2422804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558944" y="1805660"/>
            <a:ext cx="14008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40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Vault</a:t>
            </a:r>
            <a:r>
              <a:rPr dirty="0" sz="1400" spc="-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10243F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59300" y="2112733"/>
            <a:ext cx="7620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1585" y="2136495"/>
            <a:ext cx="2858135" cy="7061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guide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uses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access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policies.</a:t>
            </a:r>
            <a:r>
              <a:rPr dirty="0" sz="1100" spc="-5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Azure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RBAC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recommended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in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current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Microsoft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guidance,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but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permission</a:t>
            </a:r>
            <a:r>
              <a:rPr dirty="0" sz="1100" spc="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9495F"/>
                </a:solidFill>
                <a:latin typeface="Arial"/>
                <a:cs typeface="Arial"/>
              </a:rPr>
              <a:t>model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supported by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preallocated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sandbox.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48624" y="1621255"/>
            <a:ext cx="3441065" cy="2435860"/>
            <a:chOff x="7948624" y="1621255"/>
            <a:chExt cx="3441065" cy="2435860"/>
          </a:xfrm>
        </p:grpSpPr>
        <p:sp>
          <p:nvSpPr>
            <p:cNvPr id="23" name="object 23"/>
            <p:cNvSpPr/>
            <p:nvPr/>
          </p:nvSpPr>
          <p:spPr>
            <a:xfrm>
              <a:off x="7955279" y="1627555"/>
              <a:ext cx="3429000" cy="2423160"/>
            </a:xfrm>
            <a:custGeom>
              <a:avLst/>
              <a:gdLst/>
              <a:ahLst/>
              <a:cxnLst/>
              <a:rect l="l" t="t" r="r" b="b"/>
              <a:pathLst>
                <a:path w="3429000" h="2423160">
                  <a:moveTo>
                    <a:pt x="33555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350084"/>
                  </a:lnTo>
                  <a:lnTo>
                    <a:pt x="594" y="2359360"/>
                  </a:lnTo>
                  <a:lnTo>
                    <a:pt x="607" y="2359562"/>
                  </a:lnTo>
                  <a:lnTo>
                    <a:pt x="2393" y="2368757"/>
                  </a:lnTo>
                  <a:lnTo>
                    <a:pt x="2428" y="2368940"/>
                  </a:lnTo>
                  <a:lnTo>
                    <a:pt x="5410" y="2377819"/>
                  </a:lnTo>
                  <a:lnTo>
                    <a:pt x="36360" y="2413444"/>
                  </a:lnTo>
                  <a:lnTo>
                    <a:pt x="73075" y="2423160"/>
                  </a:lnTo>
                  <a:lnTo>
                    <a:pt x="3355924" y="2422804"/>
                  </a:lnTo>
                  <a:lnTo>
                    <a:pt x="3400294" y="2407705"/>
                  </a:lnTo>
                  <a:lnTo>
                    <a:pt x="3426509" y="2368940"/>
                  </a:lnTo>
                  <a:lnTo>
                    <a:pt x="3426571" y="2368757"/>
                  </a:lnTo>
                  <a:lnTo>
                    <a:pt x="3428353" y="2359562"/>
                  </a:lnTo>
                  <a:lnTo>
                    <a:pt x="3428392" y="2359360"/>
                  </a:lnTo>
                  <a:lnTo>
                    <a:pt x="3428977" y="2350084"/>
                  </a:lnTo>
                  <a:lnTo>
                    <a:pt x="3428644" y="73088"/>
                  </a:lnTo>
                  <a:lnTo>
                    <a:pt x="3413540" y="28710"/>
                  </a:lnTo>
                  <a:lnTo>
                    <a:pt x="3374596" y="2430"/>
                  </a:lnTo>
                  <a:lnTo>
                    <a:pt x="3365195" y="607"/>
                  </a:lnTo>
                  <a:lnTo>
                    <a:pt x="3355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955279" y="1627555"/>
              <a:ext cx="3429000" cy="2423160"/>
            </a:xfrm>
            <a:custGeom>
              <a:avLst/>
              <a:gdLst/>
              <a:ahLst/>
              <a:cxnLst/>
              <a:rect l="l" t="t" r="r" b="b"/>
              <a:pathLst>
                <a:path w="3429000" h="242316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3355555" y="0"/>
                  </a:lnTo>
                  <a:lnTo>
                    <a:pt x="3400088" y="15109"/>
                  </a:lnTo>
                  <a:lnTo>
                    <a:pt x="3426213" y="54232"/>
                  </a:lnTo>
                  <a:lnTo>
                    <a:pt x="3428644" y="73088"/>
                  </a:lnTo>
                  <a:lnTo>
                    <a:pt x="3429000" y="2349728"/>
                  </a:lnTo>
                  <a:lnTo>
                    <a:pt x="3428392" y="2359360"/>
                  </a:lnTo>
                  <a:lnTo>
                    <a:pt x="3426571" y="2368757"/>
                  </a:lnTo>
                  <a:lnTo>
                    <a:pt x="3400294" y="2407705"/>
                  </a:lnTo>
                  <a:lnTo>
                    <a:pt x="3355924" y="2422804"/>
                  </a:lnTo>
                  <a:lnTo>
                    <a:pt x="73075" y="2423160"/>
                  </a:lnTo>
                  <a:lnTo>
                    <a:pt x="28555" y="2408063"/>
                  </a:lnTo>
                  <a:lnTo>
                    <a:pt x="2428" y="2368940"/>
                  </a:lnTo>
                  <a:lnTo>
                    <a:pt x="0" y="2350084"/>
                  </a:lnTo>
                  <a:lnTo>
                    <a:pt x="0" y="73088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954924" y="1627555"/>
              <a:ext cx="64135" cy="2423160"/>
            </a:xfrm>
            <a:custGeom>
              <a:avLst/>
              <a:gdLst/>
              <a:ahLst/>
              <a:cxnLst/>
              <a:rect l="l" t="t" r="r" b="b"/>
              <a:pathLst>
                <a:path w="64134" h="2423160">
                  <a:moveTo>
                    <a:pt x="63715" y="0"/>
                  </a:moveTo>
                  <a:lnTo>
                    <a:pt x="0" y="0"/>
                  </a:lnTo>
                  <a:lnTo>
                    <a:pt x="0" y="2422804"/>
                  </a:lnTo>
                  <a:lnTo>
                    <a:pt x="32029" y="2422804"/>
                  </a:lnTo>
                  <a:lnTo>
                    <a:pt x="63715" y="242280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954924" y="1627555"/>
              <a:ext cx="64135" cy="2423160"/>
            </a:xfrm>
            <a:custGeom>
              <a:avLst/>
              <a:gdLst/>
              <a:ahLst/>
              <a:cxnLst/>
              <a:rect l="l" t="t" r="r" b="b"/>
              <a:pathLst>
                <a:path w="64134" h="2423160">
                  <a:moveTo>
                    <a:pt x="32029" y="2422804"/>
                  </a:moveTo>
                  <a:lnTo>
                    <a:pt x="0" y="242280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422804"/>
                  </a:lnTo>
                  <a:lnTo>
                    <a:pt x="32029" y="2422804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143455" y="1805660"/>
            <a:ext cx="1112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0243F"/>
                </a:solidFill>
                <a:latin typeface="Arial"/>
                <a:cs typeface="Arial"/>
              </a:rPr>
              <a:t>CMK</a:t>
            </a:r>
            <a:r>
              <a:rPr dirty="0" sz="1400" spc="-1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0243F"/>
                </a:solidFill>
                <a:latin typeface="Arial"/>
                <a:cs typeface="Arial"/>
              </a:rPr>
              <a:t>identity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43823" y="2112733"/>
            <a:ext cx="7620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96097" y="2136495"/>
            <a:ext cx="2929255" cy="535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Storage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needs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managed identity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correct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Key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Vault</a:t>
            </a:r>
            <a:r>
              <a:rPr dirty="0" sz="1100" spc="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permissions/role.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Validate</a:t>
            </a:r>
            <a:r>
              <a:rPr dirty="0" sz="1100" spc="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9495F"/>
                </a:solidFill>
                <a:latin typeface="Arial"/>
                <a:cs typeface="Arial"/>
              </a:rPr>
              <a:t>the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key URI,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identity,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scope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9495F"/>
                </a:solidFill>
                <a:latin typeface="Arial"/>
                <a:cs typeface="Arial"/>
              </a:rPr>
              <a:t>encryption</a:t>
            </a:r>
            <a:r>
              <a:rPr dirty="0" sz="1100" spc="-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9495F"/>
                </a:solidFill>
                <a:latin typeface="Arial"/>
                <a:cs typeface="Arial"/>
              </a:rPr>
              <a:t>status.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507944" y="4337099"/>
            <a:ext cx="7190105" cy="854075"/>
            <a:chOff x="2507944" y="4337099"/>
            <a:chExt cx="7190105" cy="854075"/>
          </a:xfrm>
        </p:grpSpPr>
        <p:sp>
          <p:nvSpPr>
            <p:cNvPr id="31" name="object 31"/>
            <p:cNvSpPr/>
            <p:nvPr/>
          </p:nvSpPr>
          <p:spPr>
            <a:xfrm>
              <a:off x="2514600" y="4343399"/>
              <a:ext cx="7178040" cy="841375"/>
            </a:xfrm>
            <a:custGeom>
              <a:avLst/>
              <a:gdLst/>
              <a:ahLst/>
              <a:cxnLst/>
              <a:rect l="l" t="t" r="r" b="b"/>
              <a:pathLst>
                <a:path w="7178040" h="841375">
                  <a:moveTo>
                    <a:pt x="71045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68235"/>
                  </a:lnTo>
                  <a:lnTo>
                    <a:pt x="597" y="777513"/>
                  </a:lnTo>
                  <a:lnTo>
                    <a:pt x="607" y="777663"/>
                  </a:lnTo>
                  <a:lnTo>
                    <a:pt x="21285" y="819853"/>
                  </a:lnTo>
                  <a:lnTo>
                    <a:pt x="63443" y="840716"/>
                  </a:lnTo>
                  <a:lnTo>
                    <a:pt x="73075" y="841324"/>
                  </a:lnTo>
                  <a:lnTo>
                    <a:pt x="7104964" y="840955"/>
                  </a:lnTo>
                  <a:lnTo>
                    <a:pt x="7149334" y="825914"/>
                  </a:lnTo>
                  <a:lnTo>
                    <a:pt x="7175596" y="786958"/>
                  </a:lnTo>
                  <a:lnTo>
                    <a:pt x="7178017" y="768235"/>
                  </a:lnTo>
                  <a:lnTo>
                    <a:pt x="7178040" y="767880"/>
                  </a:lnTo>
                  <a:lnTo>
                    <a:pt x="7177684" y="73075"/>
                  </a:lnTo>
                  <a:lnTo>
                    <a:pt x="7162630" y="28705"/>
                  </a:lnTo>
                  <a:lnTo>
                    <a:pt x="7123636" y="2428"/>
                  </a:lnTo>
                  <a:lnTo>
                    <a:pt x="7114235" y="607"/>
                  </a:lnTo>
                  <a:lnTo>
                    <a:pt x="7104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514600" y="4343399"/>
              <a:ext cx="7178040" cy="841375"/>
            </a:xfrm>
            <a:custGeom>
              <a:avLst/>
              <a:gdLst/>
              <a:ahLst/>
              <a:cxnLst/>
              <a:rect l="l" t="t" r="r" b="b"/>
              <a:pathLst>
                <a:path w="7178040" h="84137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7104595" y="0"/>
                  </a:lnTo>
                  <a:lnTo>
                    <a:pt x="7149278" y="15104"/>
                  </a:lnTo>
                  <a:lnTo>
                    <a:pt x="7175253" y="54357"/>
                  </a:lnTo>
                  <a:lnTo>
                    <a:pt x="7177684" y="73075"/>
                  </a:lnTo>
                  <a:lnTo>
                    <a:pt x="7178040" y="767880"/>
                  </a:lnTo>
                  <a:lnTo>
                    <a:pt x="7177432" y="777513"/>
                  </a:lnTo>
                  <a:lnTo>
                    <a:pt x="7175611" y="786914"/>
                  </a:lnTo>
                  <a:lnTo>
                    <a:pt x="7149334" y="825914"/>
                  </a:lnTo>
                  <a:lnTo>
                    <a:pt x="7104964" y="840955"/>
                  </a:lnTo>
                  <a:lnTo>
                    <a:pt x="73075" y="841324"/>
                  </a:lnTo>
                  <a:lnTo>
                    <a:pt x="28399" y="826214"/>
                  </a:lnTo>
                  <a:lnTo>
                    <a:pt x="2428" y="786958"/>
                  </a:lnTo>
                  <a:lnTo>
                    <a:pt x="0" y="768235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514244" y="4343399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5" h="841375">
                  <a:moveTo>
                    <a:pt x="63715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32029" y="840955"/>
                  </a:lnTo>
                  <a:lnTo>
                    <a:pt x="63715" y="8409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14244" y="4343399"/>
              <a:ext cx="64135" cy="841375"/>
            </a:xfrm>
            <a:custGeom>
              <a:avLst/>
              <a:gdLst/>
              <a:ahLst/>
              <a:cxnLst/>
              <a:rect l="l" t="t" r="r" b="b"/>
              <a:pathLst>
                <a:path w="64135" h="841375">
                  <a:moveTo>
                    <a:pt x="32029" y="840955"/>
                  </a:moveTo>
                  <a:lnTo>
                    <a:pt x="0" y="8409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840955"/>
                  </a:lnTo>
                  <a:lnTo>
                    <a:pt x="32029" y="840955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702775" y="4527270"/>
            <a:ext cx="128333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Secret</a:t>
            </a:r>
            <a:r>
              <a:rPr dirty="0" sz="1300" spc="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handling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03144" y="4816703"/>
            <a:ext cx="6985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55417" y="4851615"/>
            <a:ext cx="597281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9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synthetic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passwords.</a:t>
            </a:r>
            <a:r>
              <a:rPr dirty="0" sz="900" spc="-5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90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secret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is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rotated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until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database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its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consumers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9495F"/>
                </a:solidFill>
                <a:latin typeface="Arial"/>
                <a:cs typeface="Arial"/>
              </a:rPr>
              <a:t>replacement</a:t>
            </a:r>
            <a:r>
              <a:rPr dirty="0" sz="900" spc="-10">
                <a:solidFill>
                  <a:srgbClr val="39495F"/>
                </a:solidFill>
                <a:latin typeface="Arial"/>
                <a:cs typeface="Arial"/>
              </a:rPr>
              <a:t> credential.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9" name="object 39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FC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FCEB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72300" y="6000381"/>
            <a:ext cx="5805170" cy="4451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Keep</a:t>
            </a:r>
            <a:r>
              <a:rPr dirty="0" sz="1000" spc="-30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all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activities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inside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approved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sandbox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use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only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synthetic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data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32217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B32217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32217"/>
                </a:solidFill>
                <a:latin typeface="Arial"/>
                <a:cs typeface="Arial"/>
              </a:rPr>
              <a:t>credentials.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REF</a:t>
            </a:r>
            <a:r>
              <a:rPr dirty="0" sz="700" spc="254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Microsoft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Learn: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Key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Vault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permissions,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CMK</a:t>
            </a:r>
            <a:r>
              <a:rPr dirty="0" sz="700" spc="35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configuration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and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Linux</a:t>
            </a:r>
            <a:r>
              <a:rPr dirty="0" sz="700" spc="3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7E8B9F"/>
                </a:solidFill>
                <a:latin typeface="Arial"/>
                <a:cs typeface="Arial"/>
              </a:rPr>
              <a:t>disk</a:t>
            </a:r>
            <a:r>
              <a:rPr dirty="0" sz="700" spc="40" i="1">
                <a:solidFill>
                  <a:srgbClr val="7E8B9F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7E8B9F"/>
                </a:solidFill>
                <a:latin typeface="Arial"/>
                <a:cs typeface="Arial"/>
              </a:rPr>
              <a:t>expansion.</a:t>
            </a:r>
            <a:endParaRPr sz="7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221551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V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&amp;</a:t>
            </a:r>
            <a:r>
              <a:rPr dirty="0" sz="850" spc="26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S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Every</a:t>
            </a:r>
            <a:r>
              <a:rPr dirty="0" spc="-25"/>
              <a:t> </a:t>
            </a:r>
            <a:r>
              <a:rPr dirty="0"/>
              <a:t>ticket</a:t>
            </a:r>
            <a:r>
              <a:rPr dirty="0" spc="-25"/>
              <a:t> </a:t>
            </a:r>
            <a:r>
              <a:rPr dirty="0"/>
              <a:t>needs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“before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action</a:t>
            </a:r>
            <a:r>
              <a:rPr dirty="0" spc="-25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after”</a:t>
            </a:r>
            <a:r>
              <a:rPr dirty="0" spc="-25"/>
              <a:t> </a:t>
            </a:r>
            <a:r>
              <a:rPr dirty="0" spc="-10"/>
              <a:t>record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3873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Good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evidence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should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let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another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engineer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reproduce</a:t>
            </a:r>
            <a:r>
              <a:rPr dirty="0" sz="1050" spc="5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your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conclusion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without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guessing.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62024" y="1776424"/>
            <a:ext cx="3376929" cy="2938780"/>
            <a:chOff x="862024" y="1776424"/>
            <a:chExt cx="3376929" cy="2938780"/>
          </a:xfrm>
        </p:grpSpPr>
        <p:sp>
          <p:nvSpPr>
            <p:cNvPr id="7" name="object 7"/>
            <p:cNvSpPr/>
            <p:nvPr/>
          </p:nvSpPr>
          <p:spPr>
            <a:xfrm>
              <a:off x="868680" y="1782724"/>
              <a:ext cx="3365500" cy="2926080"/>
            </a:xfrm>
            <a:custGeom>
              <a:avLst/>
              <a:gdLst/>
              <a:ahLst/>
              <a:cxnLst/>
              <a:rect l="l" t="t" r="r" b="b"/>
              <a:pathLst>
                <a:path w="3365500" h="2926079">
                  <a:moveTo>
                    <a:pt x="32914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852991"/>
                  </a:lnTo>
                  <a:lnTo>
                    <a:pt x="594" y="2862269"/>
                  </a:lnTo>
                  <a:lnTo>
                    <a:pt x="607" y="2862469"/>
                  </a:lnTo>
                  <a:lnTo>
                    <a:pt x="21423" y="2904609"/>
                  </a:lnTo>
                  <a:lnTo>
                    <a:pt x="63443" y="2925472"/>
                  </a:lnTo>
                  <a:lnTo>
                    <a:pt x="73075" y="2926079"/>
                  </a:lnTo>
                  <a:lnTo>
                    <a:pt x="3291840" y="2925711"/>
                  </a:lnTo>
                  <a:lnTo>
                    <a:pt x="3336217" y="2910620"/>
                  </a:lnTo>
                  <a:lnTo>
                    <a:pt x="3362427" y="2871847"/>
                  </a:lnTo>
                  <a:lnTo>
                    <a:pt x="3362486" y="2871670"/>
                  </a:lnTo>
                  <a:lnTo>
                    <a:pt x="3364269" y="2862469"/>
                  </a:lnTo>
                  <a:lnTo>
                    <a:pt x="3364308" y="2862269"/>
                  </a:lnTo>
                  <a:lnTo>
                    <a:pt x="3364893" y="2852991"/>
                  </a:lnTo>
                  <a:lnTo>
                    <a:pt x="3364915" y="2852635"/>
                  </a:lnTo>
                  <a:lnTo>
                    <a:pt x="3364560" y="73075"/>
                  </a:lnTo>
                  <a:lnTo>
                    <a:pt x="3349461" y="28698"/>
                  </a:lnTo>
                  <a:lnTo>
                    <a:pt x="3310513" y="2428"/>
                  </a:lnTo>
                  <a:lnTo>
                    <a:pt x="3301116" y="607"/>
                  </a:lnTo>
                  <a:lnTo>
                    <a:pt x="329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680" y="1782724"/>
              <a:ext cx="3365500" cy="2926080"/>
            </a:xfrm>
            <a:custGeom>
              <a:avLst/>
              <a:gdLst/>
              <a:ahLst/>
              <a:cxnLst/>
              <a:rect l="l" t="t" r="r" b="b"/>
              <a:pathLst>
                <a:path w="3365500" h="29260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291484" y="0"/>
                  </a:lnTo>
                  <a:lnTo>
                    <a:pt x="3336004" y="15096"/>
                  </a:lnTo>
                  <a:lnTo>
                    <a:pt x="3362131" y="54219"/>
                  </a:lnTo>
                  <a:lnTo>
                    <a:pt x="3364560" y="73075"/>
                  </a:lnTo>
                  <a:lnTo>
                    <a:pt x="3364915" y="2852635"/>
                  </a:lnTo>
                  <a:lnTo>
                    <a:pt x="3364308" y="2862269"/>
                  </a:lnTo>
                  <a:lnTo>
                    <a:pt x="3362486" y="2871670"/>
                  </a:lnTo>
                  <a:lnTo>
                    <a:pt x="3336217" y="2910620"/>
                  </a:lnTo>
                  <a:lnTo>
                    <a:pt x="3291840" y="2925711"/>
                  </a:lnTo>
                  <a:lnTo>
                    <a:pt x="73075" y="2926079"/>
                  </a:lnTo>
                  <a:lnTo>
                    <a:pt x="28555" y="2910970"/>
                  </a:lnTo>
                  <a:lnTo>
                    <a:pt x="2428" y="2871847"/>
                  </a:lnTo>
                  <a:lnTo>
                    <a:pt x="0" y="285299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8324" y="1782724"/>
              <a:ext cx="64135" cy="2926080"/>
            </a:xfrm>
            <a:custGeom>
              <a:avLst/>
              <a:gdLst/>
              <a:ahLst/>
              <a:cxnLst/>
              <a:rect l="l" t="t" r="r" b="b"/>
              <a:pathLst>
                <a:path w="64134" h="2926079">
                  <a:moveTo>
                    <a:pt x="63715" y="0"/>
                  </a:moveTo>
                  <a:lnTo>
                    <a:pt x="0" y="0"/>
                  </a:lnTo>
                  <a:lnTo>
                    <a:pt x="0" y="2925711"/>
                  </a:lnTo>
                  <a:lnTo>
                    <a:pt x="32029" y="2925711"/>
                  </a:lnTo>
                  <a:lnTo>
                    <a:pt x="63715" y="292571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68324" y="1782724"/>
              <a:ext cx="64135" cy="2926080"/>
            </a:xfrm>
            <a:custGeom>
              <a:avLst/>
              <a:gdLst/>
              <a:ahLst/>
              <a:cxnLst/>
              <a:rect l="l" t="t" r="r" b="b"/>
              <a:pathLst>
                <a:path w="64134" h="2926079">
                  <a:moveTo>
                    <a:pt x="32029" y="2925711"/>
                  </a:moveTo>
                  <a:lnTo>
                    <a:pt x="0" y="292571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925711"/>
                  </a:lnTo>
                  <a:lnTo>
                    <a:pt x="32029" y="2925711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56855" y="1945703"/>
            <a:ext cx="667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Before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7224" y="2267178"/>
            <a:ext cx="800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9497" y="2291651"/>
            <a:ext cx="19100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870" indent="-90170">
              <a:lnSpc>
                <a:spcPct val="100000"/>
              </a:lnSpc>
              <a:spcBef>
                <a:spcPts val="100"/>
              </a:spcBef>
              <a:buChar char="-"/>
              <a:tabLst>
                <a:tab pos="10287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Ticket</a:t>
            </a:r>
            <a:r>
              <a:rPr dirty="0" sz="1200" spc="-8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symptom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Resource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ID/name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Initial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Relevant</a:t>
            </a:r>
            <a:r>
              <a:rPr dirty="0" sz="1200" spc="-3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metric/log/setting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56784" y="1776424"/>
            <a:ext cx="3376929" cy="2938780"/>
            <a:chOff x="4656784" y="1776424"/>
            <a:chExt cx="3376929" cy="2938780"/>
          </a:xfrm>
        </p:grpSpPr>
        <p:sp>
          <p:nvSpPr>
            <p:cNvPr id="15" name="object 15"/>
            <p:cNvSpPr/>
            <p:nvPr/>
          </p:nvSpPr>
          <p:spPr>
            <a:xfrm>
              <a:off x="4663439" y="1782724"/>
              <a:ext cx="3365500" cy="2926080"/>
            </a:xfrm>
            <a:custGeom>
              <a:avLst/>
              <a:gdLst/>
              <a:ahLst/>
              <a:cxnLst/>
              <a:rect l="l" t="t" r="r" b="b"/>
              <a:pathLst>
                <a:path w="3365500" h="2926079">
                  <a:moveTo>
                    <a:pt x="32914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852991"/>
                  </a:lnTo>
                  <a:lnTo>
                    <a:pt x="5412" y="2880732"/>
                  </a:lnTo>
                  <a:lnTo>
                    <a:pt x="5464" y="2880887"/>
                  </a:lnTo>
                  <a:lnTo>
                    <a:pt x="36360" y="2916351"/>
                  </a:lnTo>
                  <a:lnTo>
                    <a:pt x="73075" y="2926079"/>
                  </a:lnTo>
                  <a:lnTo>
                    <a:pt x="3291840" y="2925711"/>
                  </a:lnTo>
                  <a:lnTo>
                    <a:pt x="3336217" y="2910620"/>
                  </a:lnTo>
                  <a:lnTo>
                    <a:pt x="3362427" y="2871847"/>
                  </a:lnTo>
                  <a:lnTo>
                    <a:pt x="3364893" y="2852991"/>
                  </a:lnTo>
                  <a:lnTo>
                    <a:pt x="3364915" y="2852635"/>
                  </a:lnTo>
                  <a:lnTo>
                    <a:pt x="3364560" y="73075"/>
                  </a:lnTo>
                  <a:lnTo>
                    <a:pt x="3349461" y="28698"/>
                  </a:lnTo>
                  <a:lnTo>
                    <a:pt x="3310513" y="2428"/>
                  </a:lnTo>
                  <a:lnTo>
                    <a:pt x="3301116" y="607"/>
                  </a:lnTo>
                  <a:lnTo>
                    <a:pt x="329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63439" y="1782724"/>
              <a:ext cx="3365500" cy="2926080"/>
            </a:xfrm>
            <a:custGeom>
              <a:avLst/>
              <a:gdLst/>
              <a:ahLst/>
              <a:cxnLst/>
              <a:rect l="l" t="t" r="r" b="b"/>
              <a:pathLst>
                <a:path w="3365500" h="29260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291484" y="0"/>
                  </a:lnTo>
                  <a:lnTo>
                    <a:pt x="3336004" y="15096"/>
                  </a:lnTo>
                  <a:lnTo>
                    <a:pt x="3362131" y="54219"/>
                  </a:lnTo>
                  <a:lnTo>
                    <a:pt x="3364560" y="73075"/>
                  </a:lnTo>
                  <a:lnTo>
                    <a:pt x="3364915" y="2852635"/>
                  </a:lnTo>
                  <a:lnTo>
                    <a:pt x="3364308" y="2862269"/>
                  </a:lnTo>
                  <a:lnTo>
                    <a:pt x="3362486" y="2871670"/>
                  </a:lnTo>
                  <a:lnTo>
                    <a:pt x="3336217" y="2910620"/>
                  </a:lnTo>
                  <a:lnTo>
                    <a:pt x="3291840" y="2925711"/>
                  </a:lnTo>
                  <a:lnTo>
                    <a:pt x="73075" y="2926079"/>
                  </a:lnTo>
                  <a:lnTo>
                    <a:pt x="28555" y="2910970"/>
                  </a:lnTo>
                  <a:lnTo>
                    <a:pt x="2428" y="2871847"/>
                  </a:lnTo>
                  <a:lnTo>
                    <a:pt x="0" y="285299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63084" y="1782724"/>
              <a:ext cx="64135" cy="2926080"/>
            </a:xfrm>
            <a:custGeom>
              <a:avLst/>
              <a:gdLst/>
              <a:ahLst/>
              <a:cxnLst/>
              <a:rect l="l" t="t" r="r" b="b"/>
              <a:pathLst>
                <a:path w="64135" h="2926079">
                  <a:moveTo>
                    <a:pt x="63715" y="0"/>
                  </a:moveTo>
                  <a:lnTo>
                    <a:pt x="0" y="0"/>
                  </a:lnTo>
                  <a:lnTo>
                    <a:pt x="0" y="2925711"/>
                  </a:lnTo>
                  <a:lnTo>
                    <a:pt x="32029" y="2925711"/>
                  </a:lnTo>
                  <a:lnTo>
                    <a:pt x="63715" y="292571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3084" y="1782724"/>
              <a:ext cx="64135" cy="2926080"/>
            </a:xfrm>
            <a:custGeom>
              <a:avLst/>
              <a:gdLst/>
              <a:ahLst/>
              <a:cxnLst/>
              <a:rect l="l" t="t" r="r" b="b"/>
              <a:pathLst>
                <a:path w="64135" h="2926079">
                  <a:moveTo>
                    <a:pt x="32029" y="2925711"/>
                  </a:moveTo>
                  <a:lnTo>
                    <a:pt x="0" y="292571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925711"/>
                  </a:lnTo>
                  <a:lnTo>
                    <a:pt x="32029" y="2925711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851615" y="1945703"/>
            <a:ext cx="655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51984" y="2267178"/>
            <a:ext cx="800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04257" y="2291651"/>
            <a:ext cx="17754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100"/>
              </a:spcBef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Command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Portal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path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Exact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change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made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Scope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reason</a:t>
            </a:r>
            <a:endParaRPr sz="1200">
              <a:latin typeface="Arial"/>
              <a:cs typeface="Arial"/>
            </a:endParaRPr>
          </a:p>
          <a:p>
            <a:pPr marL="97155" indent="-84455">
              <a:lnSpc>
                <a:spcPct val="100000"/>
              </a:lnSpc>
              <a:buChar char="-"/>
              <a:tabLst>
                <a:tab pos="97155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Any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deviation/approval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51544" y="1776424"/>
            <a:ext cx="3376929" cy="2938780"/>
            <a:chOff x="8451544" y="1776424"/>
            <a:chExt cx="3376929" cy="2938780"/>
          </a:xfrm>
        </p:grpSpPr>
        <p:sp>
          <p:nvSpPr>
            <p:cNvPr id="23" name="object 23"/>
            <p:cNvSpPr/>
            <p:nvPr/>
          </p:nvSpPr>
          <p:spPr>
            <a:xfrm>
              <a:off x="8458200" y="1782724"/>
              <a:ext cx="3365500" cy="2926080"/>
            </a:xfrm>
            <a:custGeom>
              <a:avLst/>
              <a:gdLst/>
              <a:ahLst/>
              <a:cxnLst/>
              <a:rect l="l" t="t" r="r" b="b"/>
              <a:pathLst>
                <a:path w="3365500" h="2926079">
                  <a:moveTo>
                    <a:pt x="32914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852991"/>
                  </a:lnTo>
                  <a:lnTo>
                    <a:pt x="594" y="2862269"/>
                  </a:lnTo>
                  <a:lnTo>
                    <a:pt x="607" y="2862469"/>
                  </a:lnTo>
                  <a:lnTo>
                    <a:pt x="2394" y="2871670"/>
                  </a:lnTo>
                  <a:lnTo>
                    <a:pt x="2428" y="2871847"/>
                  </a:lnTo>
                  <a:lnTo>
                    <a:pt x="5412" y="2880732"/>
                  </a:lnTo>
                  <a:lnTo>
                    <a:pt x="5464" y="2880887"/>
                  </a:lnTo>
                  <a:lnTo>
                    <a:pt x="36360" y="2916351"/>
                  </a:lnTo>
                  <a:lnTo>
                    <a:pt x="73075" y="2926079"/>
                  </a:lnTo>
                  <a:lnTo>
                    <a:pt x="3291840" y="2925711"/>
                  </a:lnTo>
                  <a:lnTo>
                    <a:pt x="3336217" y="2910620"/>
                  </a:lnTo>
                  <a:lnTo>
                    <a:pt x="3362427" y="2871847"/>
                  </a:lnTo>
                  <a:lnTo>
                    <a:pt x="3364893" y="2852991"/>
                  </a:lnTo>
                  <a:lnTo>
                    <a:pt x="3364915" y="2852635"/>
                  </a:lnTo>
                  <a:lnTo>
                    <a:pt x="3364560" y="73075"/>
                  </a:lnTo>
                  <a:lnTo>
                    <a:pt x="3349461" y="28698"/>
                  </a:lnTo>
                  <a:lnTo>
                    <a:pt x="3310513" y="2428"/>
                  </a:lnTo>
                  <a:lnTo>
                    <a:pt x="3301116" y="607"/>
                  </a:lnTo>
                  <a:lnTo>
                    <a:pt x="329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458200" y="1782724"/>
              <a:ext cx="3365500" cy="2926080"/>
            </a:xfrm>
            <a:custGeom>
              <a:avLst/>
              <a:gdLst/>
              <a:ahLst/>
              <a:cxnLst/>
              <a:rect l="l" t="t" r="r" b="b"/>
              <a:pathLst>
                <a:path w="3365500" h="292607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291484" y="0"/>
                  </a:lnTo>
                  <a:lnTo>
                    <a:pt x="3336004" y="15096"/>
                  </a:lnTo>
                  <a:lnTo>
                    <a:pt x="3362131" y="54219"/>
                  </a:lnTo>
                  <a:lnTo>
                    <a:pt x="3364560" y="73075"/>
                  </a:lnTo>
                  <a:lnTo>
                    <a:pt x="3364915" y="2852635"/>
                  </a:lnTo>
                  <a:lnTo>
                    <a:pt x="3364308" y="2862269"/>
                  </a:lnTo>
                  <a:lnTo>
                    <a:pt x="3362486" y="2871670"/>
                  </a:lnTo>
                  <a:lnTo>
                    <a:pt x="3336217" y="2910620"/>
                  </a:lnTo>
                  <a:lnTo>
                    <a:pt x="3291840" y="2925711"/>
                  </a:lnTo>
                  <a:lnTo>
                    <a:pt x="73075" y="2926079"/>
                  </a:lnTo>
                  <a:lnTo>
                    <a:pt x="28555" y="2910970"/>
                  </a:lnTo>
                  <a:lnTo>
                    <a:pt x="2428" y="2871847"/>
                  </a:lnTo>
                  <a:lnTo>
                    <a:pt x="0" y="2852991"/>
                  </a:lnTo>
                  <a:lnTo>
                    <a:pt x="0" y="73075"/>
                  </a:lnTo>
                  <a:close/>
                </a:path>
              </a:pathLst>
            </a:custGeom>
            <a:ln w="10079">
              <a:solidFill>
                <a:srgbClr val="D6E0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57844" y="1782724"/>
              <a:ext cx="64135" cy="2926080"/>
            </a:xfrm>
            <a:custGeom>
              <a:avLst/>
              <a:gdLst/>
              <a:ahLst/>
              <a:cxnLst/>
              <a:rect l="l" t="t" r="r" b="b"/>
              <a:pathLst>
                <a:path w="64134" h="2926079">
                  <a:moveTo>
                    <a:pt x="63715" y="0"/>
                  </a:moveTo>
                  <a:lnTo>
                    <a:pt x="0" y="0"/>
                  </a:lnTo>
                  <a:lnTo>
                    <a:pt x="0" y="2925711"/>
                  </a:lnTo>
                  <a:lnTo>
                    <a:pt x="32029" y="2925711"/>
                  </a:lnTo>
                  <a:lnTo>
                    <a:pt x="63715" y="292571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457844" y="1782724"/>
              <a:ext cx="64135" cy="2926080"/>
            </a:xfrm>
            <a:custGeom>
              <a:avLst/>
              <a:gdLst/>
              <a:ahLst/>
              <a:cxnLst/>
              <a:rect l="l" t="t" r="r" b="b"/>
              <a:pathLst>
                <a:path w="64134" h="2926079">
                  <a:moveTo>
                    <a:pt x="32029" y="2925711"/>
                  </a:moveTo>
                  <a:lnTo>
                    <a:pt x="0" y="292571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925711"/>
                  </a:lnTo>
                  <a:lnTo>
                    <a:pt x="32029" y="2925711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646376" y="1945703"/>
            <a:ext cx="498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0243F"/>
                </a:solidFill>
                <a:latin typeface="Arial"/>
                <a:cs typeface="Arial"/>
              </a:rPr>
              <a:t>After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46744" y="2267178"/>
            <a:ext cx="800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39495F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99017" y="2291651"/>
            <a:ext cx="18764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100"/>
              </a:spcBef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New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resource/config</a:t>
            </a:r>
            <a:r>
              <a:rPr dirty="0" sz="1200" spc="-4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Connectivity</a:t>
            </a:r>
            <a:r>
              <a:rPr dirty="0" sz="120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app</a:t>
            </a:r>
            <a:r>
              <a:rPr dirty="0" sz="120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test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Screenshot/output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Root</a:t>
            </a:r>
            <a:r>
              <a:rPr dirty="0" sz="120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cause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9495F"/>
                </a:solidFill>
                <a:latin typeface="Arial"/>
                <a:cs typeface="Arial"/>
              </a:rPr>
              <a:t>+</a:t>
            </a:r>
            <a:r>
              <a:rPr dirty="0" sz="120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9495F"/>
                </a:solidFill>
                <a:latin typeface="Arial"/>
                <a:cs typeface="Arial"/>
              </a:rPr>
              <a:t>prevention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1" name="object 31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09904" y="6000381"/>
            <a:ext cx="814895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“The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command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succeeded”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weak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evidence.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“The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public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request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denied,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app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works,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new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state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captured”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stronger.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8684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Can</a:t>
            </a:r>
            <a:r>
              <a:rPr dirty="0" spc="-30"/>
              <a:t> </a:t>
            </a:r>
            <a:r>
              <a:rPr dirty="0"/>
              <a:t>you</a:t>
            </a:r>
            <a:r>
              <a:rPr dirty="0" spc="-30"/>
              <a:t> </a:t>
            </a:r>
            <a:r>
              <a:rPr dirty="0"/>
              <a:t>explain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reason</a:t>
            </a:r>
            <a:r>
              <a:rPr dirty="0" spc="-25"/>
              <a:t> </a:t>
            </a:r>
            <a:r>
              <a:rPr dirty="0"/>
              <a:t>behind</a:t>
            </a:r>
            <a:r>
              <a:rPr dirty="0" spc="-35"/>
              <a:t> </a:t>
            </a:r>
            <a:r>
              <a:rPr dirty="0"/>
              <a:t>each</a:t>
            </a:r>
            <a:r>
              <a:rPr dirty="0" spc="-30"/>
              <a:t> </a:t>
            </a:r>
            <a:r>
              <a:rPr dirty="0" spc="-10"/>
              <a:t>change?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307911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Answer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individually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before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checking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next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slide.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34656" y="1584540"/>
            <a:ext cx="351155" cy="351155"/>
            <a:chOff x="834656" y="1584540"/>
            <a:chExt cx="351155" cy="351155"/>
          </a:xfrm>
        </p:grpSpPr>
        <p:sp>
          <p:nvSpPr>
            <p:cNvPr id="7" name="object 7"/>
            <p:cNvSpPr/>
            <p:nvPr/>
          </p:nvSpPr>
          <p:spPr>
            <a:xfrm>
              <a:off x="840955" y="159084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0"/>
                  </a:lnTo>
                  <a:lnTo>
                    <a:pt x="22682" y="84594"/>
                  </a:lnTo>
                  <a:lnTo>
                    <a:pt x="5807" y="125279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1"/>
                  </a:lnTo>
                  <a:lnTo>
                    <a:pt x="34988" y="272182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2"/>
                  </a:lnTo>
                  <a:lnTo>
                    <a:pt x="325491" y="234001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397"/>
                  </a:lnTo>
                  <a:lnTo>
                    <a:pt x="303415" y="66216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0955" y="159084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0" y="169202"/>
                  </a:moveTo>
                  <a:lnTo>
                    <a:pt x="1468" y="146970"/>
                  </a:lnTo>
                  <a:lnTo>
                    <a:pt x="5807" y="125279"/>
                  </a:lnTo>
                  <a:lnTo>
                    <a:pt x="22682" y="84594"/>
                  </a:lnTo>
                  <a:lnTo>
                    <a:pt x="49591" y="49590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0"/>
                  </a:lnTo>
                  <a:lnTo>
                    <a:pt x="315722" y="84594"/>
                  </a:lnTo>
                  <a:lnTo>
                    <a:pt x="332597" y="125279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3"/>
                  </a:lnTo>
                  <a:lnTo>
                    <a:pt x="315722" y="253796"/>
                  </a:lnTo>
                  <a:lnTo>
                    <a:pt x="288813" y="288812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2"/>
                  </a:lnTo>
                  <a:lnTo>
                    <a:pt x="22682" y="253796"/>
                  </a:lnTo>
                  <a:lnTo>
                    <a:pt x="5807" y="213123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2545" y="1638617"/>
            <a:ext cx="538226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dirty="0" baseline="2777" sz="1500" spc="-7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baseline="2777" sz="15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1.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Why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can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that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“Stopped”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still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incur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compute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charges?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4656" y="2288336"/>
            <a:ext cx="351155" cy="351155"/>
            <a:chOff x="834656" y="2288336"/>
            <a:chExt cx="351155" cy="351155"/>
          </a:xfrm>
        </p:grpSpPr>
        <p:sp>
          <p:nvSpPr>
            <p:cNvPr id="11" name="object 11"/>
            <p:cNvSpPr/>
            <p:nvPr/>
          </p:nvSpPr>
          <p:spPr>
            <a:xfrm>
              <a:off x="840955" y="229463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1"/>
                  </a:lnTo>
                  <a:lnTo>
                    <a:pt x="22682" y="84607"/>
                  </a:lnTo>
                  <a:lnTo>
                    <a:pt x="5807" y="125280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6"/>
                  </a:lnTo>
                  <a:lnTo>
                    <a:pt x="34988" y="272187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7"/>
                  </a:lnTo>
                  <a:lnTo>
                    <a:pt x="325491" y="234006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402"/>
                  </a:lnTo>
                  <a:lnTo>
                    <a:pt x="303415" y="66221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40955" y="229463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0" y="169202"/>
                  </a:moveTo>
                  <a:lnTo>
                    <a:pt x="1468" y="146970"/>
                  </a:lnTo>
                  <a:lnTo>
                    <a:pt x="5807" y="125280"/>
                  </a:lnTo>
                  <a:lnTo>
                    <a:pt x="22682" y="84607"/>
                  </a:lnTo>
                  <a:lnTo>
                    <a:pt x="49591" y="49591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1"/>
                  </a:lnTo>
                  <a:lnTo>
                    <a:pt x="315722" y="84607"/>
                  </a:lnTo>
                  <a:lnTo>
                    <a:pt x="332597" y="125280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5"/>
                  </a:lnTo>
                  <a:lnTo>
                    <a:pt x="315722" y="253809"/>
                  </a:lnTo>
                  <a:lnTo>
                    <a:pt x="288813" y="288813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3"/>
                  </a:lnTo>
                  <a:lnTo>
                    <a:pt x="22682" y="253809"/>
                  </a:lnTo>
                  <a:lnTo>
                    <a:pt x="5807" y="213125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62545" y="2342781"/>
            <a:ext cx="55105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dirty="0" baseline="2777" sz="1500" spc="-7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baseline="2777" sz="15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2.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What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difference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between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horizontal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vertical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scaling?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4656" y="2992500"/>
            <a:ext cx="351155" cy="351155"/>
            <a:chOff x="834656" y="2992500"/>
            <a:chExt cx="351155" cy="351155"/>
          </a:xfrm>
        </p:grpSpPr>
        <p:sp>
          <p:nvSpPr>
            <p:cNvPr id="15" name="object 15"/>
            <p:cNvSpPr/>
            <p:nvPr/>
          </p:nvSpPr>
          <p:spPr>
            <a:xfrm>
              <a:off x="840955" y="299880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0"/>
                  </a:lnTo>
                  <a:lnTo>
                    <a:pt x="22682" y="84594"/>
                  </a:lnTo>
                  <a:lnTo>
                    <a:pt x="5807" y="125279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1"/>
                  </a:lnTo>
                  <a:lnTo>
                    <a:pt x="34988" y="272182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2"/>
                  </a:lnTo>
                  <a:lnTo>
                    <a:pt x="325491" y="234001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397"/>
                  </a:lnTo>
                  <a:lnTo>
                    <a:pt x="303415" y="66216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40955" y="299880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202"/>
                  </a:moveTo>
                  <a:lnTo>
                    <a:pt x="1468" y="146970"/>
                  </a:lnTo>
                  <a:lnTo>
                    <a:pt x="5807" y="125279"/>
                  </a:lnTo>
                  <a:lnTo>
                    <a:pt x="22682" y="84594"/>
                  </a:lnTo>
                  <a:lnTo>
                    <a:pt x="49591" y="49590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0"/>
                  </a:lnTo>
                  <a:lnTo>
                    <a:pt x="315722" y="84594"/>
                  </a:lnTo>
                  <a:lnTo>
                    <a:pt x="332597" y="125279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3"/>
                  </a:lnTo>
                  <a:lnTo>
                    <a:pt x="315722" y="253796"/>
                  </a:lnTo>
                  <a:lnTo>
                    <a:pt x="288813" y="288812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2"/>
                  </a:lnTo>
                  <a:lnTo>
                    <a:pt x="22682" y="253796"/>
                  </a:lnTo>
                  <a:lnTo>
                    <a:pt x="5807" y="213123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62545" y="3079343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0180" y="3046945"/>
            <a:ext cx="41725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3.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Why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might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fail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even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if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SSH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is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correct?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4656" y="3696664"/>
            <a:ext cx="351155" cy="351155"/>
            <a:chOff x="834656" y="3696664"/>
            <a:chExt cx="351155" cy="351155"/>
          </a:xfrm>
        </p:grpSpPr>
        <p:sp>
          <p:nvSpPr>
            <p:cNvPr id="20" name="object 20"/>
            <p:cNvSpPr/>
            <p:nvPr/>
          </p:nvSpPr>
          <p:spPr>
            <a:xfrm>
              <a:off x="840955" y="370296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0"/>
                  </a:lnTo>
                  <a:lnTo>
                    <a:pt x="84607" y="22669"/>
                  </a:lnTo>
                  <a:lnTo>
                    <a:pt x="49591" y="49583"/>
                  </a:lnTo>
                  <a:lnTo>
                    <a:pt x="22682" y="84594"/>
                  </a:lnTo>
                  <a:lnTo>
                    <a:pt x="5807" y="125277"/>
                  </a:lnTo>
                  <a:lnTo>
                    <a:pt x="0" y="169189"/>
                  </a:lnTo>
                  <a:lnTo>
                    <a:pt x="1468" y="191421"/>
                  </a:lnTo>
                  <a:lnTo>
                    <a:pt x="12912" y="233993"/>
                  </a:lnTo>
                  <a:lnTo>
                    <a:pt x="34988" y="272180"/>
                  </a:lnTo>
                  <a:lnTo>
                    <a:pt x="66221" y="303404"/>
                  </a:lnTo>
                  <a:lnTo>
                    <a:pt x="104402" y="325484"/>
                  </a:lnTo>
                  <a:lnTo>
                    <a:pt x="146970" y="336924"/>
                  </a:lnTo>
                  <a:lnTo>
                    <a:pt x="169202" y="338391"/>
                  </a:lnTo>
                  <a:lnTo>
                    <a:pt x="191433" y="336924"/>
                  </a:lnTo>
                  <a:lnTo>
                    <a:pt x="234006" y="325484"/>
                  </a:lnTo>
                  <a:lnTo>
                    <a:pt x="272187" y="303404"/>
                  </a:lnTo>
                  <a:lnTo>
                    <a:pt x="303415" y="272180"/>
                  </a:lnTo>
                  <a:lnTo>
                    <a:pt x="325491" y="233993"/>
                  </a:lnTo>
                  <a:lnTo>
                    <a:pt x="336935" y="191421"/>
                  </a:lnTo>
                  <a:lnTo>
                    <a:pt x="338404" y="169189"/>
                  </a:lnTo>
                  <a:lnTo>
                    <a:pt x="336935" y="146964"/>
                  </a:lnTo>
                  <a:lnTo>
                    <a:pt x="325491" y="104397"/>
                  </a:lnTo>
                  <a:lnTo>
                    <a:pt x="303415" y="66210"/>
                  </a:lnTo>
                  <a:lnTo>
                    <a:pt x="272187" y="34981"/>
                  </a:lnTo>
                  <a:lnTo>
                    <a:pt x="234006" y="12901"/>
                  </a:lnTo>
                  <a:lnTo>
                    <a:pt x="191433" y="1466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0955" y="370296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189"/>
                  </a:moveTo>
                  <a:lnTo>
                    <a:pt x="1468" y="146964"/>
                  </a:lnTo>
                  <a:lnTo>
                    <a:pt x="5807" y="125277"/>
                  </a:lnTo>
                  <a:lnTo>
                    <a:pt x="22682" y="84594"/>
                  </a:lnTo>
                  <a:lnTo>
                    <a:pt x="49591" y="49583"/>
                  </a:lnTo>
                  <a:lnTo>
                    <a:pt x="84607" y="22669"/>
                  </a:lnTo>
                  <a:lnTo>
                    <a:pt x="125280" y="5800"/>
                  </a:lnTo>
                  <a:lnTo>
                    <a:pt x="169202" y="0"/>
                  </a:lnTo>
                  <a:lnTo>
                    <a:pt x="213125" y="5800"/>
                  </a:lnTo>
                  <a:lnTo>
                    <a:pt x="253809" y="22669"/>
                  </a:lnTo>
                  <a:lnTo>
                    <a:pt x="288813" y="49583"/>
                  </a:lnTo>
                  <a:lnTo>
                    <a:pt x="315722" y="84594"/>
                  </a:lnTo>
                  <a:lnTo>
                    <a:pt x="332597" y="125277"/>
                  </a:lnTo>
                  <a:lnTo>
                    <a:pt x="338404" y="169189"/>
                  </a:lnTo>
                  <a:lnTo>
                    <a:pt x="336935" y="191421"/>
                  </a:lnTo>
                  <a:lnTo>
                    <a:pt x="332597" y="213112"/>
                  </a:lnTo>
                  <a:lnTo>
                    <a:pt x="315722" y="253796"/>
                  </a:lnTo>
                  <a:lnTo>
                    <a:pt x="288813" y="288805"/>
                  </a:lnTo>
                  <a:lnTo>
                    <a:pt x="253809" y="315709"/>
                  </a:lnTo>
                  <a:lnTo>
                    <a:pt x="213125" y="332589"/>
                  </a:lnTo>
                  <a:lnTo>
                    <a:pt x="169202" y="338391"/>
                  </a:lnTo>
                  <a:lnTo>
                    <a:pt x="125280" y="332589"/>
                  </a:lnTo>
                  <a:lnTo>
                    <a:pt x="84607" y="315709"/>
                  </a:lnTo>
                  <a:lnTo>
                    <a:pt x="49591" y="288805"/>
                  </a:lnTo>
                  <a:lnTo>
                    <a:pt x="22682" y="253796"/>
                  </a:lnTo>
                  <a:lnTo>
                    <a:pt x="5807" y="213112"/>
                  </a:lnTo>
                  <a:lnTo>
                    <a:pt x="1468" y="191421"/>
                  </a:lnTo>
                  <a:lnTo>
                    <a:pt x="0" y="169189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62545" y="3750741"/>
            <a:ext cx="50133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dirty="0" baseline="2777" sz="1500" spc="-75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baseline="2777" sz="15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4.</a:t>
            </a:r>
            <a:r>
              <a:rPr dirty="0" sz="1300" spc="-8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After</a:t>
            </a:r>
            <a:r>
              <a:rPr dirty="0" sz="1300" spc="-8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3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resize,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why</a:t>
            </a:r>
            <a:r>
              <a:rPr dirty="0" sz="13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could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`df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-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h`</a:t>
            </a:r>
            <a:r>
              <a:rPr dirty="0" sz="13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still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show</a:t>
            </a:r>
            <a:r>
              <a:rPr dirty="0" sz="130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40G?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4656" y="4400815"/>
            <a:ext cx="351155" cy="351155"/>
            <a:chOff x="834656" y="4400815"/>
            <a:chExt cx="351155" cy="351155"/>
          </a:xfrm>
        </p:grpSpPr>
        <p:sp>
          <p:nvSpPr>
            <p:cNvPr id="24" name="object 24"/>
            <p:cNvSpPr/>
            <p:nvPr/>
          </p:nvSpPr>
          <p:spPr>
            <a:xfrm>
              <a:off x="840955" y="440711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1"/>
                  </a:lnTo>
                  <a:lnTo>
                    <a:pt x="22682" y="84607"/>
                  </a:lnTo>
                  <a:lnTo>
                    <a:pt x="5807" y="125280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6"/>
                  </a:lnTo>
                  <a:lnTo>
                    <a:pt x="34988" y="272187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7"/>
                  </a:lnTo>
                  <a:lnTo>
                    <a:pt x="325491" y="234006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402"/>
                  </a:lnTo>
                  <a:lnTo>
                    <a:pt x="303415" y="66221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0955" y="440711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202"/>
                  </a:moveTo>
                  <a:lnTo>
                    <a:pt x="1468" y="146970"/>
                  </a:lnTo>
                  <a:lnTo>
                    <a:pt x="5807" y="125280"/>
                  </a:lnTo>
                  <a:lnTo>
                    <a:pt x="22682" y="84607"/>
                  </a:lnTo>
                  <a:lnTo>
                    <a:pt x="49591" y="49591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1"/>
                  </a:lnTo>
                  <a:lnTo>
                    <a:pt x="315722" y="84607"/>
                  </a:lnTo>
                  <a:lnTo>
                    <a:pt x="332597" y="125280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5"/>
                  </a:lnTo>
                  <a:lnTo>
                    <a:pt x="315722" y="253809"/>
                  </a:lnTo>
                  <a:lnTo>
                    <a:pt x="288813" y="288813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3"/>
                  </a:lnTo>
                  <a:lnTo>
                    <a:pt x="22682" y="253809"/>
                  </a:lnTo>
                  <a:lnTo>
                    <a:pt x="5807" y="213125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62545" y="4487303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40180" y="4454905"/>
            <a:ext cx="48774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5.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What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does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successful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Vault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secret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upload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30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prove?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34656" y="5104980"/>
            <a:ext cx="351155" cy="351155"/>
            <a:chOff x="834656" y="5104980"/>
            <a:chExt cx="351155" cy="351155"/>
          </a:xfrm>
        </p:grpSpPr>
        <p:sp>
          <p:nvSpPr>
            <p:cNvPr id="29" name="object 29"/>
            <p:cNvSpPr/>
            <p:nvPr/>
          </p:nvSpPr>
          <p:spPr>
            <a:xfrm>
              <a:off x="840955" y="511128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0"/>
                  </a:lnTo>
                  <a:lnTo>
                    <a:pt x="22682" y="84594"/>
                  </a:lnTo>
                  <a:lnTo>
                    <a:pt x="5807" y="125279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1"/>
                  </a:lnTo>
                  <a:lnTo>
                    <a:pt x="34988" y="272182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2"/>
                  </a:lnTo>
                  <a:lnTo>
                    <a:pt x="325491" y="234001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397"/>
                  </a:lnTo>
                  <a:lnTo>
                    <a:pt x="303415" y="66216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40955" y="511128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202"/>
                  </a:moveTo>
                  <a:lnTo>
                    <a:pt x="1468" y="146970"/>
                  </a:lnTo>
                  <a:lnTo>
                    <a:pt x="5807" y="125279"/>
                  </a:lnTo>
                  <a:lnTo>
                    <a:pt x="22682" y="84594"/>
                  </a:lnTo>
                  <a:lnTo>
                    <a:pt x="49591" y="49590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0"/>
                  </a:lnTo>
                  <a:lnTo>
                    <a:pt x="315722" y="84594"/>
                  </a:lnTo>
                  <a:lnTo>
                    <a:pt x="332597" y="125279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3"/>
                  </a:lnTo>
                  <a:lnTo>
                    <a:pt x="315722" y="253796"/>
                  </a:lnTo>
                  <a:lnTo>
                    <a:pt x="288813" y="288812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2"/>
                  </a:lnTo>
                  <a:lnTo>
                    <a:pt x="22682" y="253796"/>
                  </a:lnTo>
                  <a:lnTo>
                    <a:pt x="5807" y="213123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62545" y="5159057"/>
            <a:ext cx="684910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</a:tabLst>
            </a:pPr>
            <a:r>
              <a:rPr dirty="0" baseline="2777" sz="1500" spc="-75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baseline="2777" sz="15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6.</a:t>
            </a:r>
            <a:r>
              <a:rPr dirty="0" sz="130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Why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should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Cost</a:t>
            </a:r>
            <a:r>
              <a:rPr dirty="0" sz="1300" spc="-7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Analysis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be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used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as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only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0243F"/>
                </a:solidFill>
                <a:latin typeface="Arial"/>
                <a:cs typeface="Arial"/>
              </a:rPr>
              <a:t>same-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hour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proof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0243F"/>
                </a:solidFill>
                <a:latin typeface="Arial"/>
                <a:cs typeface="Arial"/>
              </a:rPr>
              <a:t>of</a:t>
            </a:r>
            <a:r>
              <a:rPr dirty="0" sz="13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0243F"/>
                </a:solidFill>
                <a:latin typeface="Arial"/>
                <a:cs typeface="Arial"/>
              </a:rPr>
              <a:t>cleanup?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3" name="object 33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09904" y="6000381"/>
            <a:ext cx="50793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Next: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compare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your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answers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with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key.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Explain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“why”,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not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just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command.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8684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O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W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L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C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K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Answer</a:t>
            </a:r>
            <a:r>
              <a:rPr dirty="0" spc="-30"/>
              <a:t> </a:t>
            </a:r>
            <a:r>
              <a:rPr dirty="0" spc="-25"/>
              <a:t>key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31177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strong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answer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connects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-2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Azure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configuration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to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behavior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learner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observed.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834656" y="1566176"/>
            <a:ext cx="351155" cy="351155"/>
            <a:chOff x="834656" y="1566176"/>
            <a:chExt cx="351155" cy="351155"/>
          </a:xfrm>
        </p:grpSpPr>
        <p:sp>
          <p:nvSpPr>
            <p:cNvPr id="7" name="object 7"/>
            <p:cNvSpPr/>
            <p:nvPr/>
          </p:nvSpPr>
          <p:spPr>
            <a:xfrm>
              <a:off x="840955" y="157247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1"/>
                  </a:lnTo>
                  <a:lnTo>
                    <a:pt x="22682" y="84607"/>
                  </a:lnTo>
                  <a:lnTo>
                    <a:pt x="5807" y="125280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6"/>
                  </a:lnTo>
                  <a:lnTo>
                    <a:pt x="34988" y="272187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7"/>
                  </a:lnTo>
                  <a:lnTo>
                    <a:pt x="325491" y="234006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402"/>
                  </a:lnTo>
                  <a:lnTo>
                    <a:pt x="303415" y="66221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0077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0955" y="157247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0" y="169202"/>
                  </a:moveTo>
                  <a:lnTo>
                    <a:pt x="1468" y="146970"/>
                  </a:lnTo>
                  <a:lnTo>
                    <a:pt x="5807" y="125280"/>
                  </a:lnTo>
                  <a:lnTo>
                    <a:pt x="22682" y="84607"/>
                  </a:lnTo>
                  <a:lnTo>
                    <a:pt x="49591" y="49591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1"/>
                  </a:lnTo>
                  <a:lnTo>
                    <a:pt x="315722" y="84607"/>
                  </a:lnTo>
                  <a:lnTo>
                    <a:pt x="332597" y="125280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5"/>
                  </a:lnTo>
                  <a:lnTo>
                    <a:pt x="315722" y="253809"/>
                  </a:lnTo>
                  <a:lnTo>
                    <a:pt x="288813" y="288813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3"/>
                  </a:lnTo>
                  <a:lnTo>
                    <a:pt x="22682" y="253809"/>
                  </a:lnTo>
                  <a:lnTo>
                    <a:pt x="5807" y="213125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0077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2545" y="1652663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0180" y="1700898"/>
            <a:ext cx="88239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Stopped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(allocated)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still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hold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compute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allocation.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Deallocated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releases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host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allocation;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disks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some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networking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may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still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cost.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4656" y="2270340"/>
            <a:ext cx="351155" cy="351155"/>
            <a:chOff x="834656" y="2270340"/>
            <a:chExt cx="351155" cy="351155"/>
          </a:xfrm>
        </p:grpSpPr>
        <p:sp>
          <p:nvSpPr>
            <p:cNvPr id="12" name="object 12"/>
            <p:cNvSpPr/>
            <p:nvPr/>
          </p:nvSpPr>
          <p:spPr>
            <a:xfrm>
              <a:off x="840955" y="227664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0"/>
                  </a:lnTo>
                  <a:lnTo>
                    <a:pt x="22682" y="84594"/>
                  </a:lnTo>
                  <a:lnTo>
                    <a:pt x="5807" y="125279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1"/>
                  </a:lnTo>
                  <a:lnTo>
                    <a:pt x="34988" y="272182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2"/>
                  </a:lnTo>
                  <a:lnTo>
                    <a:pt x="325491" y="234001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397"/>
                  </a:lnTo>
                  <a:lnTo>
                    <a:pt x="303415" y="66216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00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40955" y="227664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0" y="169202"/>
                  </a:moveTo>
                  <a:lnTo>
                    <a:pt x="1468" y="146970"/>
                  </a:lnTo>
                  <a:lnTo>
                    <a:pt x="5807" y="125279"/>
                  </a:lnTo>
                  <a:lnTo>
                    <a:pt x="22682" y="84594"/>
                  </a:lnTo>
                  <a:lnTo>
                    <a:pt x="49591" y="49590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0"/>
                  </a:lnTo>
                  <a:lnTo>
                    <a:pt x="315722" y="84594"/>
                  </a:lnTo>
                  <a:lnTo>
                    <a:pt x="332597" y="125279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3"/>
                  </a:lnTo>
                  <a:lnTo>
                    <a:pt x="315722" y="253796"/>
                  </a:lnTo>
                  <a:lnTo>
                    <a:pt x="288813" y="288812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2"/>
                  </a:lnTo>
                  <a:lnTo>
                    <a:pt x="22682" y="253796"/>
                  </a:lnTo>
                  <a:lnTo>
                    <a:pt x="5807" y="213123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00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62545" y="2356828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0180" y="2405049"/>
            <a:ext cx="73450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Vertical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=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more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capacity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one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VM.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Horizontal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=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more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instances.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VMSS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scales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out/in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count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of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VM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instances.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34656" y="2974136"/>
            <a:ext cx="351155" cy="351155"/>
            <a:chOff x="834656" y="2974136"/>
            <a:chExt cx="351155" cy="351155"/>
          </a:xfrm>
        </p:grpSpPr>
        <p:sp>
          <p:nvSpPr>
            <p:cNvPr id="17" name="object 17"/>
            <p:cNvSpPr/>
            <p:nvPr/>
          </p:nvSpPr>
          <p:spPr>
            <a:xfrm>
              <a:off x="840955" y="298043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1"/>
                  </a:lnTo>
                  <a:lnTo>
                    <a:pt x="22682" y="84607"/>
                  </a:lnTo>
                  <a:lnTo>
                    <a:pt x="5807" y="125280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6"/>
                  </a:lnTo>
                  <a:lnTo>
                    <a:pt x="34988" y="272187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7"/>
                  </a:lnTo>
                  <a:lnTo>
                    <a:pt x="325491" y="234006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402"/>
                  </a:lnTo>
                  <a:lnTo>
                    <a:pt x="303415" y="66221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C46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40955" y="298043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202"/>
                  </a:moveTo>
                  <a:lnTo>
                    <a:pt x="1468" y="146970"/>
                  </a:lnTo>
                  <a:lnTo>
                    <a:pt x="5807" y="125280"/>
                  </a:lnTo>
                  <a:lnTo>
                    <a:pt x="22682" y="84607"/>
                  </a:lnTo>
                  <a:lnTo>
                    <a:pt x="49591" y="49591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1"/>
                  </a:lnTo>
                  <a:lnTo>
                    <a:pt x="315722" y="84607"/>
                  </a:lnTo>
                  <a:lnTo>
                    <a:pt x="332597" y="125280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5"/>
                  </a:lnTo>
                  <a:lnTo>
                    <a:pt x="315722" y="253809"/>
                  </a:lnTo>
                  <a:lnTo>
                    <a:pt x="288813" y="288813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3"/>
                  </a:lnTo>
                  <a:lnTo>
                    <a:pt x="22682" y="253809"/>
                  </a:lnTo>
                  <a:lnTo>
                    <a:pt x="5807" y="213125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C46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62545" y="3060979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0180" y="3109214"/>
            <a:ext cx="76790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Missing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public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IP/path,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wrong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route,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effective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NSG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deny,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guest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firewall/sshd,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username,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key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permissions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wrong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key.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34656" y="3678300"/>
            <a:ext cx="351155" cy="351155"/>
            <a:chOff x="834656" y="3678300"/>
            <a:chExt cx="351155" cy="351155"/>
          </a:xfrm>
        </p:grpSpPr>
        <p:sp>
          <p:nvSpPr>
            <p:cNvPr id="22" name="object 22"/>
            <p:cNvSpPr/>
            <p:nvPr/>
          </p:nvSpPr>
          <p:spPr>
            <a:xfrm>
              <a:off x="840955" y="368460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0"/>
                  </a:lnTo>
                  <a:lnTo>
                    <a:pt x="22682" y="84594"/>
                  </a:lnTo>
                  <a:lnTo>
                    <a:pt x="5807" y="125279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1"/>
                  </a:lnTo>
                  <a:lnTo>
                    <a:pt x="34988" y="272182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2"/>
                  </a:lnTo>
                  <a:lnTo>
                    <a:pt x="325491" y="234001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397"/>
                  </a:lnTo>
                  <a:lnTo>
                    <a:pt x="303415" y="66216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5B2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40955" y="3684600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202"/>
                  </a:moveTo>
                  <a:lnTo>
                    <a:pt x="1468" y="146970"/>
                  </a:lnTo>
                  <a:lnTo>
                    <a:pt x="5807" y="125279"/>
                  </a:lnTo>
                  <a:lnTo>
                    <a:pt x="22682" y="84594"/>
                  </a:lnTo>
                  <a:lnTo>
                    <a:pt x="49591" y="49590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0"/>
                  </a:lnTo>
                  <a:lnTo>
                    <a:pt x="315722" y="84594"/>
                  </a:lnTo>
                  <a:lnTo>
                    <a:pt x="332597" y="125279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3"/>
                  </a:lnTo>
                  <a:lnTo>
                    <a:pt x="315722" y="253796"/>
                  </a:lnTo>
                  <a:lnTo>
                    <a:pt x="288813" y="288812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2"/>
                  </a:lnTo>
                  <a:lnTo>
                    <a:pt x="22682" y="253796"/>
                  </a:lnTo>
                  <a:lnTo>
                    <a:pt x="5807" y="213123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5B2C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62545" y="3765143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40180" y="3813009"/>
            <a:ext cx="597154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Azure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disk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was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increased,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but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partition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and/or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filesystem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has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expanded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inside</a:t>
            </a:r>
            <a:r>
              <a:rPr dirty="0" sz="1150" spc="-2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Linux.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34656" y="4382464"/>
            <a:ext cx="351155" cy="351155"/>
            <a:chOff x="834656" y="4382464"/>
            <a:chExt cx="351155" cy="351155"/>
          </a:xfrm>
        </p:grpSpPr>
        <p:sp>
          <p:nvSpPr>
            <p:cNvPr id="27" name="object 27"/>
            <p:cNvSpPr/>
            <p:nvPr/>
          </p:nvSpPr>
          <p:spPr>
            <a:xfrm>
              <a:off x="840955" y="438876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0"/>
                  </a:lnTo>
                  <a:lnTo>
                    <a:pt x="84607" y="22669"/>
                  </a:lnTo>
                  <a:lnTo>
                    <a:pt x="49591" y="49583"/>
                  </a:lnTo>
                  <a:lnTo>
                    <a:pt x="22682" y="84594"/>
                  </a:lnTo>
                  <a:lnTo>
                    <a:pt x="5807" y="125277"/>
                  </a:lnTo>
                  <a:lnTo>
                    <a:pt x="0" y="169189"/>
                  </a:lnTo>
                  <a:lnTo>
                    <a:pt x="1468" y="191421"/>
                  </a:lnTo>
                  <a:lnTo>
                    <a:pt x="12912" y="233993"/>
                  </a:lnTo>
                  <a:lnTo>
                    <a:pt x="34988" y="272180"/>
                  </a:lnTo>
                  <a:lnTo>
                    <a:pt x="66221" y="303404"/>
                  </a:lnTo>
                  <a:lnTo>
                    <a:pt x="104402" y="325484"/>
                  </a:lnTo>
                  <a:lnTo>
                    <a:pt x="146970" y="336924"/>
                  </a:lnTo>
                  <a:lnTo>
                    <a:pt x="169202" y="338391"/>
                  </a:lnTo>
                  <a:lnTo>
                    <a:pt x="191433" y="336924"/>
                  </a:lnTo>
                  <a:lnTo>
                    <a:pt x="234006" y="325484"/>
                  </a:lnTo>
                  <a:lnTo>
                    <a:pt x="272187" y="303404"/>
                  </a:lnTo>
                  <a:lnTo>
                    <a:pt x="303415" y="272180"/>
                  </a:lnTo>
                  <a:lnTo>
                    <a:pt x="325491" y="233993"/>
                  </a:lnTo>
                  <a:lnTo>
                    <a:pt x="336935" y="191421"/>
                  </a:lnTo>
                  <a:lnTo>
                    <a:pt x="338404" y="169189"/>
                  </a:lnTo>
                  <a:lnTo>
                    <a:pt x="336935" y="146964"/>
                  </a:lnTo>
                  <a:lnTo>
                    <a:pt x="325491" y="104397"/>
                  </a:lnTo>
                  <a:lnTo>
                    <a:pt x="303415" y="66210"/>
                  </a:lnTo>
                  <a:lnTo>
                    <a:pt x="272187" y="34981"/>
                  </a:lnTo>
                  <a:lnTo>
                    <a:pt x="234006" y="12901"/>
                  </a:lnTo>
                  <a:lnTo>
                    <a:pt x="191433" y="1466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0F7B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40955" y="438876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189"/>
                  </a:moveTo>
                  <a:lnTo>
                    <a:pt x="1468" y="146964"/>
                  </a:lnTo>
                  <a:lnTo>
                    <a:pt x="5807" y="125277"/>
                  </a:lnTo>
                  <a:lnTo>
                    <a:pt x="22682" y="84594"/>
                  </a:lnTo>
                  <a:lnTo>
                    <a:pt x="49591" y="49583"/>
                  </a:lnTo>
                  <a:lnTo>
                    <a:pt x="84607" y="22669"/>
                  </a:lnTo>
                  <a:lnTo>
                    <a:pt x="125280" y="5800"/>
                  </a:lnTo>
                  <a:lnTo>
                    <a:pt x="169202" y="0"/>
                  </a:lnTo>
                  <a:lnTo>
                    <a:pt x="213125" y="5800"/>
                  </a:lnTo>
                  <a:lnTo>
                    <a:pt x="253809" y="22669"/>
                  </a:lnTo>
                  <a:lnTo>
                    <a:pt x="288813" y="49583"/>
                  </a:lnTo>
                  <a:lnTo>
                    <a:pt x="315722" y="84594"/>
                  </a:lnTo>
                  <a:lnTo>
                    <a:pt x="332597" y="125277"/>
                  </a:lnTo>
                  <a:lnTo>
                    <a:pt x="338404" y="169189"/>
                  </a:lnTo>
                  <a:lnTo>
                    <a:pt x="336935" y="191421"/>
                  </a:lnTo>
                  <a:lnTo>
                    <a:pt x="332597" y="213112"/>
                  </a:lnTo>
                  <a:lnTo>
                    <a:pt x="315722" y="253796"/>
                  </a:lnTo>
                  <a:lnTo>
                    <a:pt x="288813" y="288805"/>
                  </a:lnTo>
                  <a:lnTo>
                    <a:pt x="253809" y="315709"/>
                  </a:lnTo>
                  <a:lnTo>
                    <a:pt x="213125" y="332589"/>
                  </a:lnTo>
                  <a:lnTo>
                    <a:pt x="169202" y="338391"/>
                  </a:lnTo>
                  <a:lnTo>
                    <a:pt x="125280" y="332589"/>
                  </a:lnTo>
                  <a:lnTo>
                    <a:pt x="84607" y="315709"/>
                  </a:lnTo>
                  <a:lnTo>
                    <a:pt x="49591" y="288805"/>
                  </a:lnTo>
                  <a:lnTo>
                    <a:pt x="22682" y="253796"/>
                  </a:lnTo>
                  <a:lnTo>
                    <a:pt x="5807" y="213112"/>
                  </a:lnTo>
                  <a:lnTo>
                    <a:pt x="1468" y="191421"/>
                  </a:lnTo>
                  <a:lnTo>
                    <a:pt x="0" y="169189"/>
                  </a:lnTo>
                  <a:close/>
                </a:path>
              </a:pathLst>
            </a:custGeom>
            <a:ln w="12599">
              <a:solidFill>
                <a:srgbClr val="0F7B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62545" y="4468939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0180" y="4517174"/>
            <a:ext cx="75247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It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does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not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prove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exposed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credential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was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changed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at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source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system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or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consumers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the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replacement.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34656" y="5086615"/>
            <a:ext cx="351155" cy="351155"/>
            <a:chOff x="834656" y="5086615"/>
            <a:chExt cx="351155" cy="351155"/>
          </a:xfrm>
        </p:grpSpPr>
        <p:sp>
          <p:nvSpPr>
            <p:cNvPr id="32" name="object 32"/>
            <p:cNvSpPr/>
            <p:nvPr/>
          </p:nvSpPr>
          <p:spPr>
            <a:xfrm>
              <a:off x="840955" y="509291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202" y="0"/>
                  </a:moveTo>
                  <a:lnTo>
                    <a:pt x="125280" y="5807"/>
                  </a:lnTo>
                  <a:lnTo>
                    <a:pt x="84607" y="22682"/>
                  </a:lnTo>
                  <a:lnTo>
                    <a:pt x="49591" y="49591"/>
                  </a:lnTo>
                  <a:lnTo>
                    <a:pt x="22682" y="84607"/>
                  </a:lnTo>
                  <a:lnTo>
                    <a:pt x="5807" y="125280"/>
                  </a:lnTo>
                  <a:lnTo>
                    <a:pt x="0" y="169202"/>
                  </a:lnTo>
                  <a:lnTo>
                    <a:pt x="1468" y="191433"/>
                  </a:lnTo>
                  <a:lnTo>
                    <a:pt x="12912" y="234006"/>
                  </a:lnTo>
                  <a:lnTo>
                    <a:pt x="34988" y="272187"/>
                  </a:lnTo>
                  <a:lnTo>
                    <a:pt x="66221" y="303415"/>
                  </a:lnTo>
                  <a:lnTo>
                    <a:pt x="104402" y="325491"/>
                  </a:lnTo>
                  <a:lnTo>
                    <a:pt x="146970" y="336935"/>
                  </a:lnTo>
                  <a:lnTo>
                    <a:pt x="169202" y="338404"/>
                  </a:lnTo>
                  <a:lnTo>
                    <a:pt x="191433" y="336935"/>
                  </a:lnTo>
                  <a:lnTo>
                    <a:pt x="234006" y="325491"/>
                  </a:lnTo>
                  <a:lnTo>
                    <a:pt x="272187" y="303415"/>
                  </a:lnTo>
                  <a:lnTo>
                    <a:pt x="303415" y="272187"/>
                  </a:lnTo>
                  <a:lnTo>
                    <a:pt x="325491" y="234006"/>
                  </a:lnTo>
                  <a:lnTo>
                    <a:pt x="336935" y="191433"/>
                  </a:lnTo>
                  <a:lnTo>
                    <a:pt x="338404" y="169202"/>
                  </a:lnTo>
                  <a:lnTo>
                    <a:pt x="336935" y="146970"/>
                  </a:lnTo>
                  <a:lnTo>
                    <a:pt x="325491" y="104402"/>
                  </a:lnTo>
                  <a:lnTo>
                    <a:pt x="303415" y="66221"/>
                  </a:lnTo>
                  <a:lnTo>
                    <a:pt x="272187" y="34988"/>
                  </a:lnTo>
                  <a:lnTo>
                    <a:pt x="234006" y="12912"/>
                  </a:lnTo>
                  <a:lnTo>
                    <a:pt x="191433" y="1468"/>
                  </a:lnTo>
                  <a:lnTo>
                    <a:pt x="169202" y="0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40955" y="5092915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0" y="169202"/>
                  </a:moveTo>
                  <a:lnTo>
                    <a:pt x="1468" y="146970"/>
                  </a:lnTo>
                  <a:lnTo>
                    <a:pt x="5807" y="125280"/>
                  </a:lnTo>
                  <a:lnTo>
                    <a:pt x="22682" y="84607"/>
                  </a:lnTo>
                  <a:lnTo>
                    <a:pt x="49591" y="49591"/>
                  </a:lnTo>
                  <a:lnTo>
                    <a:pt x="84607" y="22682"/>
                  </a:lnTo>
                  <a:lnTo>
                    <a:pt x="125280" y="5807"/>
                  </a:lnTo>
                  <a:lnTo>
                    <a:pt x="169202" y="0"/>
                  </a:lnTo>
                  <a:lnTo>
                    <a:pt x="213125" y="5807"/>
                  </a:lnTo>
                  <a:lnTo>
                    <a:pt x="253809" y="22682"/>
                  </a:lnTo>
                  <a:lnTo>
                    <a:pt x="288813" y="49591"/>
                  </a:lnTo>
                  <a:lnTo>
                    <a:pt x="315722" y="84607"/>
                  </a:lnTo>
                  <a:lnTo>
                    <a:pt x="332597" y="125280"/>
                  </a:lnTo>
                  <a:lnTo>
                    <a:pt x="338404" y="169202"/>
                  </a:lnTo>
                  <a:lnTo>
                    <a:pt x="336935" y="191433"/>
                  </a:lnTo>
                  <a:lnTo>
                    <a:pt x="332597" y="213125"/>
                  </a:lnTo>
                  <a:lnTo>
                    <a:pt x="315722" y="253809"/>
                  </a:lnTo>
                  <a:lnTo>
                    <a:pt x="288813" y="288813"/>
                  </a:lnTo>
                  <a:lnTo>
                    <a:pt x="253809" y="315722"/>
                  </a:lnTo>
                  <a:lnTo>
                    <a:pt x="213125" y="332597"/>
                  </a:lnTo>
                  <a:lnTo>
                    <a:pt x="169202" y="338404"/>
                  </a:lnTo>
                  <a:lnTo>
                    <a:pt x="125280" y="332597"/>
                  </a:lnTo>
                  <a:lnTo>
                    <a:pt x="84607" y="315722"/>
                  </a:lnTo>
                  <a:lnTo>
                    <a:pt x="49591" y="288813"/>
                  </a:lnTo>
                  <a:lnTo>
                    <a:pt x="22682" y="253809"/>
                  </a:lnTo>
                  <a:lnTo>
                    <a:pt x="5807" y="213125"/>
                  </a:lnTo>
                  <a:lnTo>
                    <a:pt x="1468" y="191433"/>
                  </a:lnTo>
                  <a:lnTo>
                    <a:pt x="0" y="169202"/>
                  </a:lnTo>
                  <a:close/>
                </a:path>
              </a:pathLst>
            </a:custGeom>
            <a:ln w="12599">
              <a:solidFill>
                <a:srgbClr val="B322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962545" y="5173103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40180" y="5221338"/>
            <a:ext cx="87750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Usage/cost</a:t>
            </a:r>
            <a:r>
              <a:rPr dirty="0" sz="1150" spc="-3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records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are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processed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on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cadence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and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can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lag.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9495F"/>
                </a:solidFill>
                <a:latin typeface="Arial"/>
                <a:cs typeface="Arial"/>
              </a:rPr>
              <a:t>Verify</a:t>
            </a:r>
            <a:r>
              <a:rPr dirty="0" sz="1150" spc="-6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Azure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resource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state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directly;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use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1150" spc="-7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Analysis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for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9495F"/>
                </a:solidFill>
                <a:latin typeface="Arial"/>
                <a:cs typeface="Arial"/>
              </a:rPr>
              <a:t>cost</a:t>
            </a:r>
            <a:r>
              <a:rPr dirty="0" sz="1150" spc="-15">
                <a:solidFill>
                  <a:srgbClr val="39495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9495F"/>
                </a:solidFill>
                <a:latin typeface="Arial"/>
                <a:cs typeface="Arial"/>
              </a:rPr>
              <a:t>attribution.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37" name="object 37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3F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3F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09904" y="6000381"/>
            <a:ext cx="48990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When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unsure,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collect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one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more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piece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of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evidence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before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making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broad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change.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017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Official</a:t>
            </a:r>
            <a:r>
              <a:rPr dirty="0" spc="-65"/>
              <a:t> </a:t>
            </a:r>
            <a:r>
              <a:rPr dirty="0"/>
              <a:t>Microsoft</a:t>
            </a:r>
            <a:r>
              <a:rPr dirty="0" spc="-55"/>
              <a:t> </a:t>
            </a:r>
            <a:r>
              <a:rPr dirty="0"/>
              <a:t>documentation</a:t>
            </a:r>
            <a:r>
              <a:rPr dirty="0" spc="-55"/>
              <a:t> </a:t>
            </a:r>
            <a:r>
              <a:rPr dirty="0"/>
              <a:t>|</a:t>
            </a:r>
            <a:r>
              <a:rPr dirty="0" spc="-65"/>
              <a:t> </a:t>
            </a:r>
            <a:r>
              <a:rPr dirty="0"/>
              <a:t>Compute,</a:t>
            </a:r>
            <a:r>
              <a:rPr dirty="0" spc="-60"/>
              <a:t> </a:t>
            </a:r>
            <a:r>
              <a:rPr dirty="0"/>
              <a:t>network,</a:t>
            </a:r>
            <a:r>
              <a:rPr dirty="0" spc="-60"/>
              <a:t> </a:t>
            </a:r>
            <a:r>
              <a:rPr dirty="0" spc="-10"/>
              <a:t>storage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6921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Use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these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pages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as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trusted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technical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reference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when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you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prepare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or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troubleshoot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6A798F"/>
                </a:solidFill>
                <a:latin typeface="Arial"/>
                <a:cs typeface="Arial"/>
              </a:rPr>
              <a:t>lab.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0259" y="1541779"/>
            <a:ext cx="145034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100" spc="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states</a:t>
            </a:r>
            <a:r>
              <a:rPr dirty="0" sz="1100" spc="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100" spc="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billing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5984" y="1569504"/>
            <a:ext cx="371602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2"/>
              </a:rPr>
              <a:t>https://learn.microsoft.com/en-us/azure/virtual-machines/states-billing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2181859"/>
            <a:ext cx="165036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100" spc="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100" spc="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Sets</a:t>
            </a:r>
            <a:r>
              <a:rPr dirty="0" sz="1100" spc="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overview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5984" y="2209584"/>
            <a:ext cx="404367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3"/>
              </a:rPr>
              <a:t>https://learn.microsoft.com/en-us/azure/virtual-machine-scale-sets/overview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2821940"/>
            <a:ext cx="200850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Scale-set</a:t>
            </a:r>
            <a:r>
              <a:rPr dirty="0" sz="1100" spc="8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autoscale</a:t>
            </a:r>
            <a:r>
              <a:rPr dirty="0" sz="1100" spc="8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overview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5984" y="2849664"/>
            <a:ext cx="60356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4"/>
              </a:rPr>
              <a:t>https://learn.microsoft.com/en-us/azure/virtual-machine-scale-sets/virtual-machine-scale-sets-autoscale-overview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259" y="3462020"/>
            <a:ext cx="1863089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Virtual</a:t>
            </a:r>
            <a:r>
              <a:rPr dirty="0" sz="1100" spc="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networks</a:t>
            </a:r>
            <a:r>
              <a:rPr dirty="0" sz="1100" spc="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100" spc="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10243F"/>
                </a:solidFill>
                <a:latin typeface="Arial"/>
                <a:cs typeface="Arial"/>
              </a:rPr>
              <a:t>NSGs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5984" y="3489744"/>
            <a:ext cx="38900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5"/>
              </a:rPr>
              <a:t>https://learn.microsoft.com/en-us/azure/virtual-network/network-overview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0259" y="4102100"/>
            <a:ext cx="144081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NAT</a:t>
            </a:r>
            <a:r>
              <a:rPr dirty="0" sz="1100" spc="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Gateway</a:t>
            </a:r>
            <a:r>
              <a:rPr dirty="0" sz="1100" spc="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design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5984" y="4129824"/>
            <a:ext cx="38779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6"/>
              </a:rPr>
              <a:t>https://learn.microsoft.com/en-us/azure/nat-gateway/nat-gateway-design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0259" y="4742179"/>
            <a:ext cx="148336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Linux</a:t>
            </a:r>
            <a:r>
              <a:rPr dirty="0" sz="1100" spc="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disk</a:t>
            </a:r>
            <a:r>
              <a:rPr dirty="0" sz="1100" spc="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expansion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5984" y="4769904"/>
            <a:ext cx="4037329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7"/>
              </a:rPr>
              <a:t>https://learn.microsoft.com/en-us/azure/virtual-machines/linux/expand-disks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0259" y="5382259"/>
            <a:ext cx="170624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Managed</a:t>
            </a:r>
            <a:r>
              <a:rPr dirty="0" sz="11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0243F"/>
                </a:solidFill>
                <a:latin typeface="Arial"/>
                <a:cs typeface="Arial"/>
              </a:rPr>
              <a:t>disks</a:t>
            </a:r>
            <a:r>
              <a:rPr dirty="0" sz="1100" spc="6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0243F"/>
                </a:solidFill>
                <a:latin typeface="Arial"/>
                <a:cs typeface="Arial"/>
              </a:rPr>
              <a:t>overview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5984" y="5409984"/>
            <a:ext cx="43783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8"/>
              </a:rPr>
              <a:t>https://learn.microsoft.com/en-us/azure/virtual-machines/managed-disks-overview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935" y="224536"/>
            <a:ext cx="130175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F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U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0077D3"/>
                </a:solidFill>
                <a:latin typeface="Arial"/>
                <a:cs typeface="Arial"/>
              </a:rPr>
              <a:t>T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H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26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R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E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A</a:t>
            </a:r>
            <a:r>
              <a:rPr dirty="0" sz="850" spc="-10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D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7D3"/>
                </a:solidFill>
                <a:latin typeface="Arial"/>
                <a:cs typeface="Arial"/>
              </a:rPr>
              <a:t>I</a:t>
            </a:r>
            <a:r>
              <a:rPr dirty="0" sz="850" spc="-105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7D3"/>
                </a:solidFill>
                <a:latin typeface="Arial"/>
                <a:cs typeface="Arial"/>
              </a:rPr>
              <a:t>N</a:t>
            </a:r>
            <a:r>
              <a:rPr dirty="0" sz="850" spc="-110" b="1">
                <a:solidFill>
                  <a:srgbClr val="0077D3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0077D3"/>
                </a:solidFill>
                <a:latin typeface="Arial"/>
                <a:cs typeface="Arial"/>
              </a:rPr>
              <a:t>G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Official</a:t>
            </a:r>
            <a:r>
              <a:rPr dirty="0" spc="-75"/>
              <a:t> </a:t>
            </a:r>
            <a:r>
              <a:rPr dirty="0"/>
              <a:t>Microsoft</a:t>
            </a:r>
            <a:r>
              <a:rPr dirty="0" spc="-65"/>
              <a:t> </a:t>
            </a:r>
            <a:r>
              <a:rPr dirty="0"/>
              <a:t>documentation</a:t>
            </a:r>
            <a:r>
              <a:rPr dirty="0" spc="-70"/>
              <a:t> </a:t>
            </a:r>
            <a:r>
              <a:rPr dirty="0"/>
              <a:t>|</a:t>
            </a:r>
            <a:r>
              <a:rPr dirty="0" spc="-70"/>
              <a:t> </a:t>
            </a:r>
            <a:r>
              <a:rPr dirty="0" spc="-10"/>
              <a:t>Security,</a:t>
            </a:r>
            <a:r>
              <a:rPr dirty="0" spc="-70"/>
              <a:t> </a:t>
            </a:r>
            <a:r>
              <a:rPr dirty="0"/>
              <a:t>monitoring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0"/>
              <a:t>learning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304" y="974775"/>
            <a:ext cx="52927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Supplement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the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classroom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explanation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with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official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references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and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short</a:t>
            </a:r>
            <a:r>
              <a:rPr dirty="0" sz="1050" spc="50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98F"/>
                </a:solidFill>
                <a:latin typeface="Arial"/>
                <a:cs typeface="Arial"/>
              </a:rPr>
              <a:t>video</a:t>
            </a:r>
            <a:r>
              <a:rPr dirty="0" sz="1050" spc="45">
                <a:solidFill>
                  <a:srgbClr val="6A798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98F"/>
                </a:solidFill>
                <a:latin typeface="Arial"/>
                <a:cs typeface="Arial"/>
              </a:rPr>
              <a:t>lessons.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261795"/>
            <a:ext cx="11064240" cy="635"/>
          </a:xfrm>
          <a:custGeom>
            <a:avLst/>
            <a:gdLst/>
            <a:ahLst/>
            <a:cxnLst/>
            <a:rect l="l" t="t" r="r" b="b"/>
            <a:pathLst>
              <a:path w="11064240" h="634">
                <a:moveTo>
                  <a:pt x="0" y="0"/>
                </a:moveTo>
                <a:lnTo>
                  <a:pt x="11064240" y="368"/>
                </a:lnTo>
              </a:path>
            </a:pathLst>
          </a:custGeom>
          <a:ln w="12599">
            <a:solidFill>
              <a:srgbClr val="D6E0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7184" y="1411465"/>
            <a:ext cx="21437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Blob</a:t>
            </a:r>
            <a:r>
              <a:rPr dirty="0" sz="105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anonymous-access</a:t>
            </a:r>
            <a:r>
              <a:rPr dirty="0" sz="105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controls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4584" y="1438109"/>
            <a:ext cx="438594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2"/>
              </a:rPr>
              <a:t>https://learn.microsoft.com/en-us/azure/storage/blobs/anonymous-read-access-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2"/>
              </a:rPr>
              <a:t>configure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184" y="1932736"/>
            <a:ext cx="17316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Blob</a:t>
            </a:r>
            <a:r>
              <a:rPr dirty="0" sz="105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lifecycle</a:t>
            </a:r>
            <a:r>
              <a:rPr dirty="0" sz="105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4584" y="1959381"/>
            <a:ext cx="423164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3"/>
              </a:rPr>
              <a:t>https://learn.microsoft.com/en-us/azure/storage/blobs/lifecycle-management-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3"/>
              </a:rPr>
              <a:t>overview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7184" y="2453665"/>
            <a:ext cx="2497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Key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Vault</a:t>
            </a:r>
            <a:r>
              <a:rPr dirty="0" sz="10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keys,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secrets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certificates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4584" y="2480310"/>
            <a:ext cx="436118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4"/>
              </a:rPr>
              <a:t>https://learn.microsoft.com/en-us/azure/key-vault/general/about-keys-secrets-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4"/>
              </a:rPr>
              <a:t>certificates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7184" y="2974936"/>
            <a:ext cx="21075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Storage</a:t>
            </a:r>
            <a:r>
              <a:rPr dirty="0" sz="1050" spc="-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customer-managed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0243F"/>
                </a:solidFill>
                <a:latin typeface="Arial"/>
                <a:cs typeface="Arial"/>
              </a:rPr>
              <a:t>keys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4584" y="3001581"/>
            <a:ext cx="521906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5"/>
              </a:rPr>
              <a:t>https://learn.microsoft.com/en-us/azure/storage/common/customer-managed-keys-configure-new-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5"/>
              </a:rPr>
              <a:t>account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7184" y="3496221"/>
            <a:ext cx="15189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0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Monitor</a:t>
            </a:r>
            <a:r>
              <a:rPr dirty="0" sz="1050" spc="-6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overview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4584" y="3522865"/>
            <a:ext cx="313182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6"/>
              </a:rPr>
              <a:t>https://learn.microsoft.com/en-us/azure/azure-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6"/>
              </a:rPr>
              <a:t>monitor/overview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7184" y="4017505"/>
            <a:ext cx="1831339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Metric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alerts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+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action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groups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4584" y="4044150"/>
            <a:ext cx="392239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7"/>
              </a:rPr>
              <a:t>https://learn.microsoft.com/en-us/azure/azure-monitor/alerts/tutorial-metric-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7"/>
              </a:rPr>
              <a:t>alert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184" y="4538776"/>
            <a:ext cx="19081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Cost</a:t>
            </a:r>
            <a:r>
              <a:rPr dirty="0" sz="10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Management</a:t>
            </a:r>
            <a:r>
              <a:rPr dirty="0" sz="10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data</a:t>
            </a:r>
            <a:r>
              <a:rPr dirty="0" sz="105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timing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64584" y="4565421"/>
            <a:ext cx="478091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8"/>
              </a:rPr>
              <a:t>https://learn.microsoft.com/en-us/azure/cost-management-billing/costs/understand-cost-mgt-</a:t>
            </a:r>
            <a:r>
              <a:rPr dirty="0" u="sng" sz="850" spc="-2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8"/>
              </a:rPr>
              <a:t>data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7184" y="5059705"/>
            <a:ext cx="25482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KodeKloud:</a:t>
            </a:r>
            <a:r>
              <a:rPr dirty="0" sz="1050" spc="-4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AZ-104</a:t>
            </a:r>
            <a:r>
              <a:rPr dirty="0" sz="1050" spc="-3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050" spc="-4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Administrator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64584" y="5086350"/>
            <a:ext cx="340995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9"/>
              </a:rPr>
              <a:t>https://kodekloud.com/courses/az-104-microsoft-azure-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9"/>
              </a:rPr>
              <a:t>administrator/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7184" y="5580976"/>
            <a:ext cx="25825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KodeKloud:</a:t>
            </a:r>
            <a:r>
              <a:rPr dirty="0" sz="105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AZ-900</a:t>
            </a:r>
            <a:r>
              <a:rPr dirty="0" sz="105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10243F"/>
                </a:solidFill>
                <a:latin typeface="Arial"/>
                <a:cs typeface="Arial"/>
              </a:rPr>
              <a:t>Azure</a:t>
            </a:r>
            <a:r>
              <a:rPr dirty="0" sz="105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0243F"/>
                </a:solidFill>
                <a:latin typeface="Arial"/>
                <a:cs typeface="Arial"/>
              </a:rPr>
              <a:t>Fundamentals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64584" y="5607621"/>
            <a:ext cx="33978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10"/>
              </a:rPr>
              <a:t>https://kodekloud.com/courses/az900-microsoft-azure-</a:t>
            </a:r>
            <a:r>
              <a:rPr dirty="0" u="sng" sz="850" spc="-10">
                <a:solidFill>
                  <a:srgbClr val="0077D3"/>
                </a:solidFill>
                <a:uFill>
                  <a:solidFill>
                    <a:srgbClr val="0077D3"/>
                  </a:solidFill>
                </a:uFill>
                <a:latin typeface="Arial"/>
                <a:cs typeface="Arial"/>
                <a:hlinkClick r:id="rId10"/>
              </a:rPr>
              <a:t>fundamentals/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5204" y="5903644"/>
            <a:ext cx="10934065" cy="391160"/>
            <a:chOff x="655204" y="5903644"/>
            <a:chExt cx="10934065" cy="391160"/>
          </a:xfrm>
        </p:grpSpPr>
        <p:sp>
          <p:nvSpPr>
            <p:cNvPr id="25" name="object 25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1087200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329399"/>
                  </a:lnTo>
                  <a:lnTo>
                    <a:pt x="452" y="336247"/>
                  </a:lnTo>
                  <a:lnTo>
                    <a:pt x="466" y="336458"/>
                  </a:lnTo>
                  <a:lnTo>
                    <a:pt x="1799" y="343258"/>
                  </a:lnTo>
                  <a:lnTo>
                    <a:pt x="1843" y="343482"/>
                  </a:lnTo>
                  <a:lnTo>
                    <a:pt x="3997" y="349998"/>
                  </a:lnTo>
                  <a:lnTo>
                    <a:pt x="4098" y="350304"/>
                  </a:lnTo>
                  <a:lnTo>
                    <a:pt x="33757" y="380012"/>
                  </a:lnTo>
                  <a:lnTo>
                    <a:pt x="48065" y="383755"/>
                  </a:lnTo>
                  <a:lnTo>
                    <a:pt x="49212" y="383755"/>
                  </a:lnTo>
                  <a:lnTo>
                    <a:pt x="54711" y="384111"/>
                  </a:lnTo>
                  <a:lnTo>
                    <a:pt x="10872355" y="383755"/>
                  </a:lnTo>
                  <a:lnTo>
                    <a:pt x="10911009" y="367830"/>
                  </a:lnTo>
                  <a:lnTo>
                    <a:pt x="10925157" y="343482"/>
                  </a:lnTo>
                  <a:lnTo>
                    <a:pt x="10925232" y="343258"/>
                  </a:lnTo>
                  <a:lnTo>
                    <a:pt x="10926570" y="336458"/>
                  </a:lnTo>
                  <a:lnTo>
                    <a:pt x="10926612" y="336247"/>
                  </a:lnTo>
                  <a:lnTo>
                    <a:pt x="10927056" y="329399"/>
                  </a:lnTo>
                  <a:lnTo>
                    <a:pt x="10927080" y="329031"/>
                  </a:lnTo>
                  <a:lnTo>
                    <a:pt x="10926711" y="54711"/>
                  </a:lnTo>
                  <a:lnTo>
                    <a:pt x="10910785" y="16059"/>
                  </a:lnTo>
                  <a:lnTo>
                    <a:pt x="10879208" y="466"/>
                  </a:lnTo>
                  <a:lnTo>
                    <a:pt x="10872000" y="0"/>
                  </a:lnTo>
                  <a:close/>
                </a:path>
              </a:pathLst>
            </a:custGeom>
            <a:solidFill>
              <a:srgbClr val="E6F1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58444" y="5906884"/>
              <a:ext cx="10927080" cy="384175"/>
            </a:xfrm>
            <a:custGeom>
              <a:avLst/>
              <a:gdLst/>
              <a:ahLst/>
              <a:cxnLst/>
              <a:rect l="l" t="t" r="r" b="b"/>
              <a:pathLst>
                <a:path w="10927080" h="384175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0872000" y="0"/>
                  </a:lnTo>
                  <a:lnTo>
                    <a:pt x="10910785" y="16059"/>
                  </a:lnTo>
                  <a:lnTo>
                    <a:pt x="10926711" y="54711"/>
                  </a:lnTo>
                  <a:lnTo>
                    <a:pt x="10927080" y="329031"/>
                  </a:lnTo>
                  <a:lnTo>
                    <a:pt x="10926612" y="336247"/>
                  </a:lnTo>
                  <a:lnTo>
                    <a:pt x="10925232" y="343258"/>
                  </a:lnTo>
                  <a:lnTo>
                    <a:pt x="10899711" y="376555"/>
                  </a:lnTo>
                  <a:lnTo>
                    <a:pt x="54711" y="384111"/>
                  </a:lnTo>
                  <a:lnTo>
                    <a:pt x="15925" y="368052"/>
                  </a:lnTo>
                  <a:lnTo>
                    <a:pt x="0" y="329399"/>
                  </a:lnTo>
                  <a:lnTo>
                    <a:pt x="0" y="54711"/>
                  </a:lnTo>
                  <a:close/>
                </a:path>
              </a:pathLst>
            </a:custGeom>
            <a:ln w="6479">
              <a:solidFill>
                <a:srgbClr val="E6F1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09904" y="6000381"/>
            <a:ext cx="103612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Suggested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videos:</a:t>
            </a:r>
            <a:r>
              <a:rPr dirty="0" sz="10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AZ-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104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modules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on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3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planning,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storage,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connecting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to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VMs,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high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availability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VM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Scale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Sets;</a:t>
            </a:r>
            <a:r>
              <a:rPr dirty="0" sz="1000" spc="-5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AZ-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900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modules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on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regions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0243F"/>
                </a:solidFill>
                <a:latin typeface="Arial"/>
                <a:cs typeface="Arial"/>
              </a:rPr>
              <a:t>availability</a:t>
            </a:r>
            <a:r>
              <a:rPr dirty="0" sz="1000" spc="-25" b="1">
                <a:solidFill>
                  <a:srgbClr val="10243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0243F"/>
                </a:solidFill>
                <a:latin typeface="Arial"/>
                <a:cs typeface="Arial"/>
              </a:rPr>
              <a:t>zones.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AZURE</a:t>
            </a:r>
            <a:r>
              <a:rPr dirty="0" spc="-10"/>
              <a:t> DAY</a:t>
            </a:r>
            <a:r>
              <a:rPr dirty="0" spc="-20"/>
              <a:t> </a:t>
            </a:r>
            <a:r>
              <a:rPr dirty="0"/>
              <a:t>2</a:t>
            </a:r>
            <a:r>
              <a:rPr dirty="0" spc="200"/>
              <a:t> </a:t>
            </a:r>
            <a:r>
              <a:rPr dirty="0"/>
              <a:t>|</a:t>
            </a:r>
            <a:r>
              <a:rPr dirty="0" spc="195"/>
              <a:t> </a:t>
            </a:r>
            <a:r>
              <a:rPr dirty="0"/>
              <a:t>COMPUTE,</a:t>
            </a:r>
            <a:r>
              <a:rPr dirty="0" spc="-5"/>
              <a:t> </a:t>
            </a:r>
            <a:r>
              <a:rPr dirty="0"/>
              <a:t>STORAGE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OPERATIONS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STUDENT</a:t>
            </a:r>
            <a:r>
              <a:rPr dirty="0" spc="-20"/>
              <a:t> </a:t>
            </a:r>
            <a:r>
              <a:rPr dirty="0" spc="-10"/>
              <a:t>PRESENTATION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7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dc:subject>Azure Day 2 theory deck for engineering freshers</dc:subject>
  <dc:title>Azure Cloud Operations &amp;amp; Security — Day 2</dc:title>
  <dcterms:created xsi:type="dcterms:W3CDTF">2026-10-20T12:23:50Z</dcterms:created>
  <dcterms:modified xsi:type="dcterms:W3CDTF">2026-10-20T12:23:50Z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2026-10-20T00:00:00Z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2026-10-20T00:00:00Z</vt:filetime>
  </property>
</Properties>
</file>