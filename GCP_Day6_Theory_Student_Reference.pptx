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9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2304A"/>
          </a:solidFill>
          <a:ln w="12700">
            <a:solidFill>
              <a:srgbClr val="12304A">
                <a:alpha val="0"/>
              </a:srgbClr>
            </a:solidFill>
            <a:prstDash val="solid"/>
          </a:ln>
        </p:spPr>
      </p:sp>
      <p:sp>
        <p:nvSpPr>
          <p:cNvPr id="3" name="Text 1"/>
          <p:cNvSpPr/>
          <p:nvPr/>
        </p:nvSpPr>
        <p:spPr>
          <a:xfrm>
            <a:off x="502920" y="164592"/>
            <a:ext cx="7040880" cy="164592"/>
          </a:xfrm>
          <a:prstGeom prst="rect">
            <a:avLst/>
          </a:prstGeom>
          <a:noFill/>
          <a:ln/>
        </p:spPr>
        <p:txBody>
          <a:bodyPr wrap="square" lIns="0" tIns="0" rIns="0" bIns="0" rtlCol="0" anchor="ctr"/>
          <a:lstStyle/>
          <a:p>
            <a:pPr indent="0" marL="0">
              <a:buNone/>
            </a:pPr>
            <a:r>
              <a:rPr lang="en-US" sz="800" b="1" spc="70" kern="0" dirty="0">
                <a:solidFill>
                  <a:srgbClr val="5B6B7D"/>
                </a:solidFill>
                <a:latin typeface="Carlito" pitchFamily="34" charset="0"/>
                <a:ea typeface="Carlito" pitchFamily="34" charset="-122"/>
                <a:cs typeface="Carlito" pitchFamily="34" charset="-120"/>
              </a:rPr>
              <a:t>MULTI-CLOUD FOUNDATIONS BOOTCAMP  |  GCP DAY 6</a:t>
            </a:r>
            <a:endParaRPr lang="en-US" sz="800" dirty="0"/>
          </a:p>
        </p:txBody>
      </p:sp>
      <p:sp>
        <p:nvSpPr>
          <p:cNvPr id="4" name="Text 2"/>
          <p:cNvSpPr/>
          <p:nvPr/>
        </p:nvSpPr>
        <p:spPr>
          <a:xfrm>
            <a:off x="7680960" y="164592"/>
            <a:ext cx="3977640" cy="164592"/>
          </a:xfrm>
          <a:prstGeom prst="rect">
            <a:avLst/>
          </a:prstGeom>
          <a:noFill/>
          <a:ln/>
        </p:spPr>
        <p:txBody>
          <a:bodyPr wrap="square" lIns="0" tIns="0" rIns="0" bIns="0" rtlCol="0" anchor="ctr"/>
          <a:lstStyle/>
          <a:p>
            <a:pPr algn="r" indent="0" marL="0">
              <a:buNone/>
            </a:pPr>
            <a:r>
              <a:rPr lang="en-US" sz="800" b="1" spc="50" kern="0" dirty="0">
                <a:solidFill>
                  <a:srgbClr val="5B6B7D"/>
                </a:solidFill>
                <a:latin typeface="Carlito" pitchFamily="34" charset="0"/>
                <a:ea typeface="Carlito" pitchFamily="34" charset="-122"/>
                <a:cs typeface="Carlito" pitchFamily="34" charset="-120"/>
              </a:rPr>
              <a:t>THEORY COMPANION  •  TRAINING PROJECT ONLY</a:t>
            </a:r>
            <a:endParaRPr lang="en-US" sz="800" dirty="0"/>
          </a:p>
        </p:txBody>
      </p:sp>
      <p:sp>
        <p:nvSpPr>
          <p:cNvPr id="5" name="Shape 3"/>
          <p:cNvSpPr/>
          <p:nvPr/>
        </p:nvSpPr>
        <p:spPr>
          <a:xfrm>
            <a:off x="502920" y="6528816"/>
            <a:ext cx="11183112" cy="0"/>
          </a:xfrm>
          <a:prstGeom prst="line">
            <a:avLst/>
          </a:prstGeom>
          <a:noFill/>
          <a:ln w="10160">
            <a:solidFill>
              <a:srgbClr val="DCE3EB"/>
            </a:solidFill>
            <a:prstDash val="solid"/>
          </a:ln>
        </p:spPr>
      </p:sp>
      <p:sp>
        <p:nvSpPr>
          <p:cNvPr id="6" name="Text 4"/>
          <p:cNvSpPr/>
          <p:nvPr/>
        </p:nvSpPr>
        <p:spPr>
          <a:xfrm>
            <a:off x="502920" y="6574536"/>
            <a:ext cx="9509760" cy="146304"/>
          </a:xfrm>
          <a:prstGeom prst="rect">
            <a:avLst/>
          </a:prstGeom>
          <a:noFill/>
          <a:ln/>
        </p:spPr>
        <p:txBody>
          <a:bodyPr wrap="square" lIns="0" tIns="0" rIns="0" bIns="0" rtlCol="0" anchor="ctr"/>
          <a:lstStyle/>
          <a:p>
            <a:pPr indent="0" marL="0">
              <a:buNone/>
            </a:pPr>
            <a:r>
              <a:rPr lang="en-US" sz="750" dirty="0">
                <a:solidFill>
                  <a:srgbClr val="718096"/>
                </a:solidFill>
                <a:latin typeface="Carlito" pitchFamily="34" charset="0"/>
                <a:ea typeface="Carlito" pitchFamily="34" charset="-122"/>
                <a:cs typeface="Carlito" pitchFamily="34" charset="-120"/>
              </a:rPr>
              <a:t>Student reference deck • Use with the Day 6 Terraform Student Execution Guide</a:t>
            </a:r>
            <a:endParaRPr lang="en-US" sz="75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hyperlink" Target="https://docs.cloud.google.com/resource-manager/docs/resource-manager-overview" TargetMode="External"/><Relationship Id="rId2" Type="http://schemas.openxmlformats.org/officeDocument/2006/relationships/hyperlink" Target="https://docs.cloud.google.com/compute/docs/regions-zones" TargetMode="External"/><Relationship Id="rId3" Type="http://schemas.openxmlformats.org/officeDocument/2006/relationships/hyperlink" Target="https://docs.cloud.google.com/compute/docs/instances/instance-lifecycle" TargetMode="External"/><Relationship Id="rId4" Type="http://schemas.openxmlformats.org/officeDocument/2006/relationships/hyperlink" Target="https://docs.cloud.google.com/iap/docs/using-tcp-forwarding" TargetMode="External"/><Relationship Id="rId5" Type="http://schemas.openxmlformats.org/officeDocument/2006/relationships/hyperlink" Target="https://docs.cloud.google.com/compute/docs/instance-groups" TargetMode="External"/><Relationship Id="rId6" Type="http://schemas.openxmlformats.org/officeDocument/2006/relationships/hyperlink" Target="https://docs.cloud.google.com/compute/docs/disks/resize-persistent-disk" TargetMode="External"/><Relationship Id="rId7" Type="http://schemas.openxmlformats.org/officeDocument/2006/relationships/hyperlink" Target="https://docs.cloud.google.com/storage/docs/using-public-access-prevention" TargetMode="External"/><Relationship Id="rId8" Type="http://schemas.openxmlformats.org/officeDocument/2006/relationships/hyperlink" Target="https://docs.cloud.google.com/nat/docs/overview" TargetMode="External"/><Relationship Id="rId9" Type="http://schemas.openxmlformats.org/officeDocument/2006/relationships/slideLayout" Target="../slideLayouts/slideLayout2.xml"/><Relationship Id="rId10"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hyperlink" Target="https://docs.cloud.google.com/storage/docs/encryption/customer-managed-keys" TargetMode="External"/><Relationship Id="rId2" Type="http://schemas.openxmlformats.org/officeDocument/2006/relationships/hyperlink" Target="https://docs.cloud.google.com/storage/docs/encryption/using-customer-managed-keys" TargetMode="External"/><Relationship Id="rId3" Type="http://schemas.openxmlformats.org/officeDocument/2006/relationships/hyperlink" Target="https://docs.cloud.google.com/secret-manager/docs/add-secret-version" TargetMode="External"/><Relationship Id="rId4" Type="http://schemas.openxmlformats.org/officeDocument/2006/relationships/hyperlink" Target="https://docs.cloud.google.com/secret-manager/docs/disable-secret-version" TargetMode="External"/><Relationship Id="rId5" Type="http://schemas.openxmlformats.org/officeDocument/2006/relationships/hyperlink" Target="https://docs.cloud.google.com/monitoring/alerts" TargetMode="External"/><Relationship Id="rId6" Type="http://schemas.openxmlformats.org/officeDocument/2006/relationships/hyperlink" Target="https://docs.cloud.google.com/monitoring/support/notification-options" TargetMode="External"/><Relationship Id="rId7" Type="http://schemas.openxmlformats.org/officeDocument/2006/relationships/hyperlink" Target="https://docs.cloud.google.com/monitoring/api/metrics_gcp_c" TargetMode="External"/><Relationship Id="rId8" Type="http://schemas.openxmlformats.org/officeDocument/2006/relationships/slideLayout" Target="../slideLayouts/slideLayout2.xml"/><Relationship Id="rId9"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hyperlink" Target="https://docs.aws.amazon.com/autoscaling/ec2/userguide/" TargetMode="External"/><Relationship Id="rId2" Type="http://schemas.openxmlformats.org/officeDocument/2006/relationships/hyperlink" Target="https://docs.aws.amazon.com/vpc/latest/userguide/vpc-nat.html" TargetMode="External"/><Relationship Id="rId3" Type="http://schemas.openxmlformats.org/officeDocument/2006/relationships/hyperlink" Target="https://docs.aws.amazon.com/AmazonS3/latest/userguide/access-control-block-public-access.html" TargetMode="External"/><Relationship Id="rId4" Type="http://schemas.openxmlformats.org/officeDocument/2006/relationships/hyperlink" Target="https://docs.aws.amazon.com/kms/latest/developerguide/concepts.html" TargetMode="External"/><Relationship Id="rId5" Type="http://schemas.openxmlformats.org/officeDocument/2006/relationships/hyperlink" Target="https://docs.aws.amazon.com/secretsmanager/latest/userguide/rotating-secrets.html" TargetMode="External"/><Relationship Id="rId6" Type="http://schemas.openxmlformats.org/officeDocument/2006/relationships/hyperlink" Target="https://learn.microsoft.com/en-us/azure/virtual-machine-scale-sets/virtual-machine-scale-sets-autoscale-overview" TargetMode="External"/><Relationship Id="rId7" Type="http://schemas.openxmlformats.org/officeDocument/2006/relationships/hyperlink" Target="https://learn.microsoft.com/en-us/azure/nat-gateway/nat-overview" TargetMode="External"/><Relationship Id="rId8" Type="http://schemas.openxmlformats.org/officeDocument/2006/relationships/hyperlink" Target="https://learn.microsoft.com/en-us/azure/storage/blobs/anonymous-read-access-prevent" TargetMode="External"/><Relationship Id="rId9" Type="http://schemas.openxmlformats.org/officeDocument/2006/relationships/hyperlink" Target="https://learn.microsoft.com/en-us/azure/storage/common/customer-managed-keys-overview" TargetMode="External"/><Relationship Id="rId10" Type="http://schemas.openxmlformats.org/officeDocument/2006/relationships/hyperlink" Target="https://developer.hashicorp.com/terraform/language/state" TargetMode="External"/><Relationship Id="rId11" Type="http://schemas.openxmlformats.org/officeDocument/2006/relationships/slideLayout" Target="../slideLayouts/slideLayout2.xml"/><Relationship Id="rId1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4A"/>
        </a:solidFill>
      </p:bgPr>
    </p:bg>
    <p:spTree>
      <p:nvGrpSpPr>
        <p:cNvPr id="1" name=""/>
        <p:cNvGrpSpPr/>
        <p:nvPr/>
      </p:nvGrpSpPr>
      <p:grpSpPr>
        <a:xfrm>
          <a:off x="0" y="0"/>
          <a:ext cx="0" cy="0"/>
          <a:chOff x="0" y="0"/>
          <a:chExt cx="0" cy="0"/>
        </a:xfrm>
      </p:grpSpPr>
      <p:sp>
        <p:nvSpPr>
          <p:cNvPr id="2" name="Shape 0"/>
          <p:cNvSpPr/>
          <p:nvPr/>
        </p:nvSpPr>
        <p:spPr>
          <a:xfrm>
            <a:off x="7589520" y="731520"/>
            <a:ext cx="256032" cy="5303520"/>
          </a:xfrm>
          <a:prstGeom prst="roundRect">
            <a:avLst>
              <a:gd name="adj" fmla="val 28571"/>
            </a:avLst>
          </a:prstGeom>
          <a:solidFill>
            <a:srgbClr val="1C486A">
              <a:alpha val="78000"/>
            </a:srgbClr>
          </a:solidFill>
          <a:ln w="10160">
            <a:solidFill>
              <a:srgbClr val="17405F"/>
            </a:solidFill>
            <a:prstDash val="solid"/>
          </a:ln>
        </p:spPr>
      </p:sp>
      <p:sp>
        <p:nvSpPr>
          <p:cNvPr id="3" name="Shape 1"/>
          <p:cNvSpPr/>
          <p:nvPr/>
        </p:nvSpPr>
        <p:spPr>
          <a:xfrm>
            <a:off x="8119872" y="731520"/>
            <a:ext cx="256032" cy="5303520"/>
          </a:xfrm>
          <a:prstGeom prst="roundRect">
            <a:avLst>
              <a:gd name="adj" fmla="val 28571"/>
            </a:avLst>
          </a:prstGeom>
          <a:solidFill>
            <a:srgbClr val="17405F">
              <a:alpha val="78000"/>
            </a:srgbClr>
          </a:solidFill>
          <a:ln w="10160">
            <a:solidFill>
              <a:srgbClr val="17405F"/>
            </a:solidFill>
            <a:prstDash val="solid"/>
          </a:ln>
        </p:spPr>
      </p:sp>
      <p:sp>
        <p:nvSpPr>
          <p:cNvPr id="4" name="Shape 2"/>
          <p:cNvSpPr/>
          <p:nvPr/>
        </p:nvSpPr>
        <p:spPr>
          <a:xfrm>
            <a:off x="8650224" y="731520"/>
            <a:ext cx="256032" cy="5303520"/>
          </a:xfrm>
          <a:prstGeom prst="roundRect">
            <a:avLst>
              <a:gd name="adj" fmla="val 28571"/>
            </a:avLst>
          </a:prstGeom>
          <a:solidFill>
            <a:srgbClr val="1C486A">
              <a:alpha val="78000"/>
            </a:srgbClr>
          </a:solidFill>
          <a:ln w="10160">
            <a:solidFill>
              <a:srgbClr val="17405F"/>
            </a:solidFill>
            <a:prstDash val="solid"/>
          </a:ln>
        </p:spPr>
      </p:sp>
      <p:sp>
        <p:nvSpPr>
          <p:cNvPr id="5" name="Shape 3"/>
          <p:cNvSpPr/>
          <p:nvPr/>
        </p:nvSpPr>
        <p:spPr>
          <a:xfrm>
            <a:off x="9180576" y="731520"/>
            <a:ext cx="256032" cy="5303520"/>
          </a:xfrm>
          <a:prstGeom prst="roundRect">
            <a:avLst>
              <a:gd name="adj" fmla="val 28571"/>
            </a:avLst>
          </a:prstGeom>
          <a:solidFill>
            <a:srgbClr val="17405F">
              <a:alpha val="78000"/>
            </a:srgbClr>
          </a:solidFill>
          <a:ln w="10160">
            <a:solidFill>
              <a:srgbClr val="17405F"/>
            </a:solidFill>
            <a:prstDash val="solid"/>
          </a:ln>
        </p:spPr>
      </p:sp>
      <p:sp>
        <p:nvSpPr>
          <p:cNvPr id="6" name="Shape 4"/>
          <p:cNvSpPr/>
          <p:nvPr/>
        </p:nvSpPr>
        <p:spPr>
          <a:xfrm>
            <a:off x="9710928" y="731520"/>
            <a:ext cx="256032" cy="5303520"/>
          </a:xfrm>
          <a:prstGeom prst="roundRect">
            <a:avLst>
              <a:gd name="adj" fmla="val 28571"/>
            </a:avLst>
          </a:prstGeom>
          <a:solidFill>
            <a:srgbClr val="1C486A">
              <a:alpha val="78000"/>
            </a:srgbClr>
          </a:solidFill>
          <a:ln w="10160">
            <a:solidFill>
              <a:srgbClr val="17405F"/>
            </a:solidFill>
            <a:prstDash val="solid"/>
          </a:ln>
        </p:spPr>
      </p:sp>
      <p:sp>
        <p:nvSpPr>
          <p:cNvPr id="7" name="Shape 5"/>
          <p:cNvSpPr/>
          <p:nvPr/>
        </p:nvSpPr>
        <p:spPr>
          <a:xfrm>
            <a:off x="10241280" y="731520"/>
            <a:ext cx="256032" cy="5303520"/>
          </a:xfrm>
          <a:prstGeom prst="roundRect">
            <a:avLst>
              <a:gd name="adj" fmla="val 28571"/>
            </a:avLst>
          </a:prstGeom>
          <a:solidFill>
            <a:srgbClr val="17405F">
              <a:alpha val="78000"/>
            </a:srgbClr>
          </a:solidFill>
          <a:ln w="10160">
            <a:solidFill>
              <a:srgbClr val="17405F"/>
            </a:solidFill>
            <a:prstDash val="solid"/>
          </a:ln>
        </p:spPr>
      </p:sp>
      <p:sp>
        <p:nvSpPr>
          <p:cNvPr id="8" name="Shape 6"/>
          <p:cNvSpPr/>
          <p:nvPr/>
        </p:nvSpPr>
        <p:spPr>
          <a:xfrm>
            <a:off x="10771632" y="731520"/>
            <a:ext cx="256032" cy="5303520"/>
          </a:xfrm>
          <a:prstGeom prst="roundRect">
            <a:avLst>
              <a:gd name="adj" fmla="val 28571"/>
            </a:avLst>
          </a:prstGeom>
          <a:solidFill>
            <a:srgbClr val="1C486A">
              <a:alpha val="78000"/>
            </a:srgbClr>
          </a:solidFill>
          <a:ln w="10160">
            <a:solidFill>
              <a:srgbClr val="17405F"/>
            </a:solidFill>
            <a:prstDash val="solid"/>
          </a:ln>
        </p:spPr>
      </p:sp>
      <p:sp>
        <p:nvSpPr>
          <p:cNvPr id="9" name="Shape 7"/>
          <p:cNvSpPr/>
          <p:nvPr/>
        </p:nvSpPr>
        <p:spPr>
          <a:xfrm>
            <a:off x="685800" y="731520"/>
            <a:ext cx="91440" cy="5349240"/>
          </a:xfrm>
          <a:prstGeom prst="rect">
            <a:avLst>
              <a:gd name="adj" fmla="val 80000"/>
            </a:avLst>
          </a:prstGeom>
          <a:solidFill>
            <a:srgbClr val="0D9488"/>
          </a:solidFill>
          <a:ln w="10160">
            <a:solidFill>
              <a:srgbClr val="0D9488"/>
            </a:solidFill>
            <a:prstDash val="solid"/>
          </a:ln>
        </p:spPr>
      </p:sp>
      <p:sp>
        <p:nvSpPr>
          <p:cNvPr id="10" name="Shape 8"/>
          <p:cNvSpPr/>
          <p:nvPr/>
        </p:nvSpPr>
        <p:spPr>
          <a:xfrm>
            <a:off x="1051560" y="914400"/>
            <a:ext cx="2468880" cy="256032"/>
          </a:xfrm>
          <a:prstGeom prst="roundRect">
            <a:avLst>
              <a:gd name="adj" fmla="val 28571"/>
            </a:avLst>
          </a:prstGeom>
          <a:solidFill>
            <a:srgbClr val="24556A"/>
          </a:solidFill>
          <a:ln w="10160">
            <a:solidFill>
              <a:srgbClr val="24556A"/>
            </a:solidFill>
            <a:prstDash val="solid"/>
          </a:ln>
        </p:spPr>
      </p:sp>
      <p:sp>
        <p:nvSpPr>
          <p:cNvPr id="11" name="Text 9"/>
          <p:cNvSpPr txBox="1"/>
          <p:nvPr/>
        </p:nvSpPr>
        <p:spPr>
          <a:xfrm>
            <a:off x="1124712" y="928116"/>
            <a:ext cx="232257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8FE0D1"/>
                </a:solidFill>
                <a:latin typeface="Carlito" pitchFamily="34" charset="0"/>
                <a:ea typeface="Carlito" pitchFamily="34" charset="-122"/>
                <a:cs typeface="Carlito" pitchFamily="34" charset="-120"/>
              </a:rPr>
              <a:t>STUDENT THEORY PRESENTATION</a:t>
            </a:r>
            <a:endParaRPr lang="en-US" sz="900" dirty="0"/>
          </a:p>
        </p:txBody>
      </p:sp>
      <p:sp>
        <p:nvSpPr>
          <p:cNvPr id="12" name="Text 10"/>
          <p:cNvSpPr txBox="1"/>
          <p:nvPr/>
        </p:nvSpPr>
        <p:spPr>
          <a:xfrm>
            <a:off x="1051560" y="1600200"/>
            <a:ext cx="5943600" cy="502920"/>
          </a:xfrm>
          <a:prstGeom prst="rect">
            <a:avLst/>
          </a:prstGeom>
          <a:noFill/>
          <a:ln/>
        </p:spPr>
        <p:txBody>
          <a:bodyPr wrap="square" lIns="0" tIns="0" rIns="0" bIns="0" rtlCol="0" anchor="ctr">
            <a:normAutofit/>
          </a:bodyPr>
          <a:lstStyle/>
          <a:p>
            <a:pPr algn="l" indent="0" marL="0">
              <a:lnSpc>
                <a:spcPct val="95000"/>
              </a:lnSpc>
              <a:buNone/>
            </a:pPr>
            <a:r>
              <a:rPr lang="en-US" sz="1800" b="1" spc="200" kern="0" dirty="0">
                <a:solidFill>
                  <a:srgbClr val="91BFE7"/>
                </a:solidFill>
                <a:latin typeface="Carlito" pitchFamily="34" charset="0"/>
                <a:ea typeface="Carlito" pitchFamily="34" charset="-122"/>
                <a:cs typeface="Carlito" pitchFamily="34" charset="-120"/>
              </a:rPr>
              <a:t>GCP DAY 6</a:t>
            </a:r>
            <a:endParaRPr lang="en-US" sz="1800" dirty="0"/>
          </a:p>
        </p:txBody>
      </p:sp>
      <p:sp>
        <p:nvSpPr>
          <p:cNvPr id="13" name="Text 11"/>
          <p:cNvSpPr txBox="1"/>
          <p:nvPr/>
        </p:nvSpPr>
        <p:spPr>
          <a:xfrm>
            <a:off x="1051560" y="2148840"/>
            <a:ext cx="6492240" cy="1508760"/>
          </a:xfrm>
          <a:prstGeom prst="rect">
            <a:avLst/>
          </a:prstGeom>
          <a:noFill/>
          <a:ln/>
        </p:spPr>
        <p:txBody>
          <a:bodyPr wrap="square" lIns="0" tIns="0" rIns="0" bIns="0" rtlCol="0" anchor="t">
            <a:normAutofit/>
          </a:bodyPr>
          <a:lstStyle/>
          <a:p>
            <a:pPr algn="l" indent="0" marL="0">
              <a:lnSpc>
                <a:spcPct val="95000"/>
              </a:lnSpc>
              <a:buNone/>
            </a:pPr>
            <a:r>
              <a:rPr lang="en-US" sz="3400" b="1" dirty="0">
                <a:solidFill>
                  <a:srgbClr val="FFFFFF"/>
                </a:solidFill>
                <a:latin typeface="Carlito" pitchFamily="34" charset="0"/>
                <a:ea typeface="Carlito" pitchFamily="34" charset="-122"/>
                <a:cs typeface="Carlito" pitchFamily="34" charset="-120"/>
              </a:rPr>
              <a:t>Compute, Storage,</a:t>
            </a:r>
            <a:endParaRPr lang="en-US" sz="3400" dirty="0"/>
          </a:p>
          <a:p>
            <a:pPr algn="l" indent="0" marL="0">
              <a:lnSpc>
                <a:spcPct val="95000"/>
              </a:lnSpc>
              <a:buNone/>
            </a:pPr>
            <a:r>
              <a:rPr lang="en-US" sz="3400" b="1" dirty="0">
                <a:solidFill>
                  <a:srgbClr val="FFFFFF"/>
                </a:solidFill>
                <a:latin typeface="Carlito" pitchFamily="34" charset="0"/>
                <a:ea typeface="Carlito" pitchFamily="34" charset="-122"/>
                <a:cs typeface="Carlito" pitchFamily="34" charset="-120"/>
              </a:rPr>
              <a:t>Networking &amp; Security</a:t>
            </a:r>
            <a:endParaRPr lang="en-US" sz="3400" dirty="0"/>
          </a:p>
        </p:txBody>
      </p:sp>
      <p:sp>
        <p:nvSpPr>
          <p:cNvPr id="14" name="Text 12"/>
          <p:cNvSpPr txBox="1"/>
          <p:nvPr/>
        </p:nvSpPr>
        <p:spPr>
          <a:xfrm>
            <a:off x="1097280" y="3977640"/>
            <a:ext cx="5943600" cy="822960"/>
          </a:xfrm>
          <a:prstGeom prst="rect">
            <a:avLst/>
          </a:prstGeom>
          <a:noFill/>
          <a:ln/>
        </p:spPr>
        <p:txBody>
          <a:bodyPr wrap="square" lIns="0" tIns="0" rIns="0" bIns="0" rtlCol="0" anchor="t">
            <a:normAutofit/>
          </a:bodyPr>
          <a:lstStyle/>
          <a:p>
            <a:pPr algn="l" indent="0" marL="0">
              <a:lnSpc>
                <a:spcPct val="95000"/>
              </a:lnSpc>
              <a:buNone/>
            </a:pPr>
            <a:r>
              <a:rPr lang="en-US" sz="1600" dirty="0">
                <a:solidFill>
                  <a:srgbClr val="D6E2EE"/>
                </a:solidFill>
                <a:latin typeface="Carlito" pitchFamily="34" charset="0"/>
                <a:ea typeface="Carlito" pitchFamily="34" charset="-122"/>
                <a:cs typeface="Carlito" pitchFamily="34" charset="-120"/>
              </a:rPr>
              <a:t>The concepts behind the Terraform lab - explained with practical examples and AWS / Azure comparisons</a:t>
            </a:r>
            <a:endParaRPr lang="en-US" sz="1600" dirty="0"/>
          </a:p>
        </p:txBody>
      </p:sp>
      <p:sp>
        <p:nvSpPr>
          <p:cNvPr id="15" name="Text 13"/>
          <p:cNvSpPr txBox="1"/>
          <p:nvPr/>
        </p:nvSpPr>
        <p:spPr>
          <a:xfrm>
            <a:off x="1097280" y="5897880"/>
            <a:ext cx="5943600" cy="228600"/>
          </a:xfrm>
          <a:prstGeom prst="rect">
            <a:avLst/>
          </a:prstGeom>
          <a:noFill/>
          <a:ln/>
        </p:spPr>
        <p:txBody>
          <a:bodyPr wrap="square" lIns="0" tIns="0" rIns="0" bIns="0" rtlCol="0" anchor="ctr">
            <a:normAutofit/>
          </a:bodyPr>
          <a:lstStyle/>
          <a:p>
            <a:pPr algn="l" indent="0" marL="0">
              <a:lnSpc>
                <a:spcPct val="95000"/>
              </a:lnSpc>
              <a:buNone/>
            </a:pPr>
            <a:r>
              <a:rPr lang="en-US" sz="1000" b="1" spc="120" kern="0" dirty="0">
                <a:solidFill>
                  <a:srgbClr val="AFC0D0"/>
                </a:solidFill>
                <a:latin typeface="Carlito" pitchFamily="34" charset="0"/>
                <a:ea typeface="Carlito" pitchFamily="34" charset="-122"/>
                <a:cs typeface="Carlito" pitchFamily="34" charset="-120"/>
              </a:rPr>
              <a:t>MULTI-CLOUD FOUNDATIONS BOOTCAMP</a:t>
            </a:r>
            <a:endParaRPr lang="en-US" sz="1000" dirty="0"/>
          </a:p>
        </p:txBody>
      </p:sp>
      <p:sp>
        <p:nvSpPr>
          <p:cNvPr id="16" name="Text 14"/>
          <p:cNvSpPr txBox="1"/>
          <p:nvPr/>
        </p:nvSpPr>
        <p:spPr>
          <a:xfrm>
            <a:off x="1097280" y="6217920"/>
            <a:ext cx="6858000" cy="182880"/>
          </a:xfrm>
          <a:prstGeom prst="rect">
            <a:avLst/>
          </a:prstGeom>
          <a:noFill/>
          <a:ln/>
        </p:spPr>
        <p:txBody>
          <a:bodyPr wrap="square" lIns="0" tIns="0" rIns="0" bIns="0" rtlCol="0" anchor="ctr">
            <a:normAutofit/>
          </a:bodyPr>
          <a:lstStyle/>
          <a:p>
            <a:pPr algn="l" indent="0" marL="0">
              <a:lnSpc>
                <a:spcPct val="95000"/>
              </a:lnSpc>
              <a:buNone/>
            </a:pPr>
            <a:r>
              <a:rPr lang="en-US" sz="900" dirty="0">
                <a:solidFill>
                  <a:srgbClr val="AFC0D0"/>
                </a:solidFill>
                <a:latin typeface="Carlito" pitchFamily="34" charset="0"/>
                <a:ea typeface="Carlito" pitchFamily="34" charset="-122"/>
                <a:cs typeface="Carlito" pitchFamily="34" charset="-120"/>
              </a:rPr>
              <a:t>Theory companion to the Day 6 Student Execution Guide  |  Version 1.0</a:t>
            </a:r>
            <a:endParaRPr lang="en-US" sz="900" dirty="0"/>
          </a:p>
        </p:txBody>
      </p:sp>
      <p:sp>
        <p:nvSpPr>
          <p:cNvPr id="17" name="Shape 15"/>
          <p:cNvSpPr/>
          <p:nvPr/>
        </p:nvSpPr>
        <p:spPr>
          <a:xfrm>
            <a:off x="7955280" y="1078992"/>
            <a:ext cx="3337560" cy="694944"/>
          </a:xfrm>
          <a:prstGeom prst="roundRect">
            <a:avLst>
              <a:gd name="adj" fmla="val 10526"/>
            </a:avLst>
          </a:prstGeom>
          <a:solidFill>
            <a:srgbClr val="FFFFFF">
              <a:alpha val="8000"/>
            </a:srgbClr>
          </a:solidFill>
          <a:ln w="10160">
            <a:solidFill>
              <a:srgbClr val="FFFFFF"/>
            </a:solidFill>
            <a:prstDash val="solid"/>
          </a:ln>
        </p:spPr>
      </p:sp>
      <p:sp>
        <p:nvSpPr>
          <p:cNvPr id="18" name="Text 16"/>
          <p:cNvSpPr txBox="1"/>
          <p:nvPr/>
        </p:nvSpPr>
        <p:spPr>
          <a:xfrm>
            <a:off x="8193024" y="1179576"/>
            <a:ext cx="2468880" cy="164592"/>
          </a:xfrm>
          <a:prstGeom prst="rect">
            <a:avLst/>
          </a:prstGeom>
          <a:noFill/>
          <a:ln/>
        </p:spPr>
        <p:txBody>
          <a:bodyPr wrap="square" lIns="0" tIns="0" rIns="0" bIns="0" rtlCol="0" anchor="ctr">
            <a:normAutofit/>
          </a:bodyPr>
          <a:lstStyle/>
          <a:p>
            <a:pPr algn="l" indent="0" marL="0">
              <a:lnSpc>
                <a:spcPct val="95000"/>
              </a:lnSpc>
              <a:buNone/>
            </a:pPr>
            <a:r>
              <a:rPr lang="en-US" sz="900" b="1" spc="100" kern="0" dirty="0">
                <a:solidFill>
                  <a:srgbClr val="8FD8CE"/>
                </a:solidFill>
                <a:latin typeface="Carlito" pitchFamily="34" charset="0"/>
                <a:ea typeface="Carlito" pitchFamily="34" charset="-122"/>
                <a:cs typeface="Carlito" pitchFamily="34" charset="-120"/>
              </a:rPr>
              <a:t>COMPUTE</a:t>
            </a:r>
            <a:endParaRPr lang="en-US" sz="900" dirty="0"/>
          </a:p>
        </p:txBody>
      </p:sp>
      <p:sp>
        <p:nvSpPr>
          <p:cNvPr id="19" name="Text 17"/>
          <p:cNvSpPr txBox="1"/>
          <p:nvPr/>
        </p:nvSpPr>
        <p:spPr>
          <a:xfrm>
            <a:off x="8193024" y="1389888"/>
            <a:ext cx="2743200" cy="219456"/>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FFFFFF"/>
                </a:solidFill>
                <a:latin typeface="Carlito" pitchFamily="34" charset="0"/>
                <a:ea typeface="Carlito" pitchFamily="34" charset="-122"/>
                <a:cs typeface="Carlito" pitchFamily="34" charset="-120"/>
              </a:rPr>
              <a:t>VMs • MIG</a:t>
            </a:r>
            <a:endParaRPr lang="en-US" sz="1400" dirty="0"/>
          </a:p>
        </p:txBody>
      </p:sp>
      <p:sp>
        <p:nvSpPr>
          <p:cNvPr id="20" name="Shape 18"/>
          <p:cNvSpPr/>
          <p:nvPr/>
        </p:nvSpPr>
        <p:spPr>
          <a:xfrm>
            <a:off x="7955280" y="2066544"/>
            <a:ext cx="3337560" cy="694944"/>
          </a:xfrm>
          <a:prstGeom prst="roundRect">
            <a:avLst>
              <a:gd name="adj" fmla="val 10526"/>
            </a:avLst>
          </a:prstGeom>
          <a:solidFill>
            <a:srgbClr val="FFFFFF">
              <a:alpha val="8000"/>
            </a:srgbClr>
          </a:solidFill>
          <a:ln w="10160">
            <a:solidFill>
              <a:srgbClr val="FFFFFF"/>
            </a:solidFill>
            <a:prstDash val="solid"/>
          </a:ln>
        </p:spPr>
      </p:sp>
      <p:sp>
        <p:nvSpPr>
          <p:cNvPr id="21" name="Text 19"/>
          <p:cNvSpPr txBox="1"/>
          <p:nvPr/>
        </p:nvSpPr>
        <p:spPr>
          <a:xfrm>
            <a:off x="8193024" y="2167128"/>
            <a:ext cx="2468880" cy="164592"/>
          </a:xfrm>
          <a:prstGeom prst="rect">
            <a:avLst/>
          </a:prstGeom>
          <a:noFill/>
          <a:ln/>
        </p:spPr>
        <p:txBody>
          <a:bodyPr wrap="square" lIns="0" tIns="0" rIns="0" bIns="0" rtlCol="0" anchor="ctr">
            <a:normAutofit/>
          </a:bodyPr>
          <a:lstStyle/>
          <a:p>
            <a:pPr algn="l" indent="0" marL="0">
              <a:lnSpc>
                <a:spcPct val="95000"/>
              </a:lnSpc>
              <a:buNone/>
            </a:pPr>
            <a:r>
              <a:rPr lang="en-US" sz="900" b="1" spc="100" kern="0" dirty="0">
                <a:solidFill>
                  <a:srgbClr val="8FD8CE"/>
                </a:solidFill>
                <a:latin typeface="Carlito" pitchFamily="34" charset="0"/>
                <a:ea typeface="Carlito" pitchFamily="34" charset="-122"/>
                <a:cs typeface="Carlito" pitchFamily="34" charset="-120"/>
              </a:rPr>
              <a:t>NETWORK</a:t>
            </a:r>
            <a:endParaRPr lang="en-US" sz="900" dirty="0"/>
          </a:p>
        </p:txBody>
      </p:sp>
      <p:sp>
        <p:nvSpPr>
          <p:cNvPr id="22" name="Text 20"/>
          <p:cNvSpPr txBox="1"/>
          <p:nvPr/>
        </p:nvSpPr>
        <p:spPr>
          <a:xfrm>
            <a:off x="8193024" y="2377440"/>
            <a:ext cx="2743200" cy="219456"/>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FFFFFF"/>
                </a:solidFill>
                <a:latin typeface="Carlito" pitchFamily="34" charset="0"/>
                <a:ea typeface="Carlito" pitchFamily="34" charset="-122"/>
                <a:cs typeface="Carlito" pitchFamily="34" charset="-120"/>
              </a:rPr>
              <a:t>VPC • IAP • NAT</a:t>
            </a:r>
            <a:endParaRPr lang="en-US" sz="1400" dirty="0"/>
          </a:p>
        </p:txBody>
      </p:sp>
      <p:sp>
        <p:nvSpPr>
          <p:cNvPr id="23" name="Shape 21"/>
          <p:cNvSpPr/>
          <p:nvPr/>
        </p:nvSpPr>
        <p:spPr>
          <a:xfrm>
            <a:off x="7955280" y="3054096"/>
            <a:ext cx="3337560" cy="694944"/>
          </a:xfrm>
          <a:prstGeom prst="roundRect">
            <a:avLst>
              <a:gd name="adj" fmla="val 10526"/>
            </a:avLst>
          </a:prstGeom>
          <a:solidFill>
            <a:srgbClr val="FFFFFF">
              <a:alpha val="8000"/>
            </a:srgbClr>
          </a:solidFill>
          <a:ln w="10160">
            <a:solidFill>
              <a:srgbClr val="FFFFFF"/>
            </a:solidFill>
            <a:prstDash val="solid"/>
          </a:ln>
        </p:spPr>
      </p:sp>
      <p:sp>
        <p:nvSpPr>
          <p:cNvPr id="24" name="Text 22"/>
          <p:cNvSpPr txBox="1"/>
          <p:nvPr/>
        </p:nvSpPr>
        <p:spPr>
          <a:xfrm>
            <a:off x="8193024" y="3154680"/>
            <a:ext cx="2468880" cy="164592"/>
          </a:xfrm>
          <a:prstGeom prst="rect">
            <a:avLst/>
          </a:prstGeom>
          <a:noFill/>
          <a:ln/>
        </p:spPr>
        <p:txBody>
          <a:bodyPr wrap="square" lIns="0" tIns="0" rIns="0" bIns="0" rtlCol="0" anchor="ctr">
            <a:normAutofit/>
          </a:bodyPr>
          <a:lstStyle/>
          <a:p>
            <a:pPr algn="l" indent="0" marL="0">
              <a:lnSpc>
                <a:spcPct val="95000"/>
              </a:lnSpc>
              <a:buNone/>
            </a:pPr>
            <a:r>
              <a:rPr lang="en-US" sz="900" b="1" spc="100" kern="0" dirty="0">
                <a:solidFill>
                  <a:srgbClr val="8FD8CE"/>
                </a:solidFill>
                <a:latin typeface="Carlito" pitchFamily="34" charset="0"/>
                <a:ea typeface="Carlito" pitchFamily="34" charset="-122"/>
                <a:cs typeface="Carlito" pitchFamily="34" charset="-120"/>
              </a:rPr>
              <a:t>STORAGE</a:t>
            </a:r>
            <a:endParaRPr lang="en-US" sz="900" dirty="0"/>
          </a:p>
        </p:txBody>
      </p:sp>
      <p:sp>
        <p:nvSpPr>
          <p:cNvPr id="25" name="Text 23"/>
          <p:cNvSpPr txBox="1"/>
          <p:nvPr/>
        </p:nvSpPr>
        <p:spPr>
          <a:xfrm>
            <a:off x="8193024" y="3364992"/>
            <a:ext cx="2743200" cy="219456"/>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FFFFFF"/>
                </a:solidFill>
                <a:latin typeface="Carlito" pitchFamily="34" charset="0"/>
                <a:ea typeface="Carlito" pitchFamily="34" charset="-122"/>
                <a:cs typeface="Carlito" pitchFamily="34" charset="-120"/>
              </a:rPr>
              <a:t>PD • Cloud Storage</a:t>
            </a:r>
            <a:endParaRPr lang="en-US" sz="1400" dirty="0"/>
          </a:p>
        </p:txBody>
      </p:sp>
      <p:sp>
        <p:nvSpPr>
          <p:cNvPr id="26" name="Shape 24"/>
          <p:cNvSpPr/>
          <p:nvPr/>
        </p:nvSpPr>
        <p:spPr>
          <a:xfrm>
            <a:off x="7955280" y="4041648"/>
            <a:ext cx="3337560" cy="694944"/>
          </a:xfrm>
          <a:prstGeom prst="roundRect">
            <a:avLst>
              <a:gd name="adj" fmla="val 10526"/>
            </a:avLst>
          </a:prstGeom>
          <a:solidFill>
            <a:srgbClr val="FFFFFF">
              <a:alpha val="8000"/>
            </a:srgbClr>
          </a:solidFill>
          <a:ln w="10160">
            <a:solidFill>
              <a:srgbClr val="FFFFFF"/>
            </a:solidFill>
            <a:prstDash val="solid"/>
          </a:ln>
        </p:spPr>
      </p:sp>
      <p:sp>
        <p:nvSpPr>
          <p:cNvPr id="27" name="Text 25"/>
          <p:cNvSpPr txBox="1"/>
          <p:nvPr/>
        </p:nvSpPr>
        <p:spPr>
          <a:xfrm>
            <a:off x="8193024" y="4142232"/>
            <a:ext cx="2468880" cy="164592"/>
          </a:xfrm>
          <a:prstGeom prst="rect">
            <a:avLst/>
          </a:prstGeom>
          <a:noFill/>
          <a:ln/>
        </p:spPr>
        <p:txBody>
          <a:bodyPr wrap="square" lIns="0" tIns="0" rIns="0" bIns="0" rtlCol="0" anchor="ctr">
            <a:normAutofit/>
          </a:bodyPr>
          <a:lstStyle/>
          <a:p>
            <a:pPr algn="l" indent="0" marL="0">
              <a:lnSpc>
                <a:spcPct val="95000"/>
              </a:lnSpc>
              <a:buNone/>
            </a:pPr>
            <a:r>
              <a:rPr lang="en-US" sz="900" b="1" spc="100" kern="0" dirty="0">
                <a:solidFill>
                  <a:srgbClr val="8FD8CE"/>
                </a:solidFill>
                <a:latin typeface="Carlito" pitchFamily="34" charset="0"/>
                <a:ea typeface="Carlito" pitchFamily="34" charset="-122"/>
                <a:cs typeface="Carlito" pitchFamily="34" charset="-120"/>
              </a:rPr>
              <a:t>SECURITY</a:t>
            </a:r>
            <a:endParaRPr lang="en-US" sz="900" dirty="0"/>
          </a:p>
        </p:txBody>
      </p:sp>
      <p:sp>
        <p:nvSpPr>
          <p:cNvPr id="28" name="Text 26"/>
          <p:cNvSpPr txBox="1"/>
          <p:nvPr/>
        </p:nvSpPr>
        <p:spPr>
          <a:xfrm>
            <a:off x="8193024" y="4352544"/>
            <a:ext cx="2743200" cy="219456"/>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FFFFFF"/>
                </a:solidFill>
                <a:latin typeface="Carlito" pitchFamily="34" charset="0"/>
                <a:ea typeface="Carlito" pitchFamily="34" charset="-122"/>
                <a:cs typeface="Carlito" pitchFamily="34" charset="-120"/>
              </a:rPr>
              <a:t>IAM • KMS • Secrets</a:t>
            </a:r>
            <a:endParaRPr lang="en-US" sz="1400" dirty="0"/>
          </a:p>
        </p:txBody>
      </p:sp>
      <p:sp>
        <p:nvSpPr>
          <p:cNvPr id="29" name="Shape 27"/>
          <p:cNvSpPr/>
          <p:nvPr/>
        </p:nvSpPr>
        <p:spPr>
          <a:xfrm>
            <a:off x="7955280" y="5029200"/>
            <a:ext cx="3337560" cy="694944"/>
          </a:xfrm>
          <a:prstGeom prst="roundRect">
            <a:avLst>
              <a:gd name="adj" fmla="val 10526"/>
            </a:avLst>
          </a:prstGeom>
          <a:solidFill>
            <a:srgbClr val="FFFFFF">
              <a:alpha val="8000"/>
            </a:srgbClr>
          </a:solidFill>
          <a:ln w="10160">
            <a:solidFill>
              <a:srgbClr val="FFFFFF"/>
            </a:solidFill>
            <a:prstDash val="solid"/>
          </a:ln>
        </p:spPr>
      </p:sp>
      <p:sp>
        <p:nvSpPr>
          <p:cNvPr id="30" name="Text 28"/>
          <p:cNvSpPr txBox="1"/>
          <p:nvPr/>
        </p:nvSpPr>
        <p:spPr>
          <a:xfrm>
            <a:off x="8193024" y="5129784"/>
            <a:ext cx="2468880" cy="164592"/>
          </a:xfrm>
          <a:prstGeom prst="rect">
            <a:avLst/>
          </a:prstGeom>
          <a:noFill/>
          <a:ln/>
        </p:spPr>
        <p:txBody>
          <a:bodyPr wrap="square" lIns="0" tIns="0" rIns="0" bIns="0" rtlCol="0" anchor="ctr">
            <a:normAutofit/>
          </a:bodyPr>
          <a:lstStyle/>
          <a:p>
            <a:pPr algn="l" indent="0" marL="0">
              <a:lnSpc>
                <a:spcPct val="95000"/>
              </a:lnSpc>
              <a:buNone/>
            </a:pPr>
            <a:r>
              <a:rPr lang="en-US" sz="900" b="1" spc="100" kern="0" dirty="0">
                <a:solidFill>
                  <a:srgbClr val="8FD8CE"/>
                </a:solidFill>
                <a:latin typeface="Carlito" pitchFamily="34" charset="0"/>
                <a:ea typeface="Carlito" pitchFamily="34" charset="-122"/>
                <a:cs typeface="Carlito" pitchFamily="34" charset="-120"/>
              </a:rPr>
              <a:t>OBSERVABILITY</a:t>
            </a:r>
            <a:endParaRPr lang="en-US" sz="900" dirty="0"/>
          </a:p>
        </p:txBody>
      </p:sp>
      <p:sp>
        <p:nvSpPr>
          <p:cNvPr id="31" name="Text 29"/>
          <p:cNvSpPr txBox="1"/>
          <p:nvPr/>
        </p:nvSpPr>
        <p:spPr>
          <a:xfrm>
            <a:off x="8193024" y="5340096"/>
            <a:ext cx="2743200" cy="219456"/>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FFFFFF"/>
                </a:solidFill>
                <a:latin typeface="Carlito" pitchFamily="34" charset="0"/>
                <a:ea typeface="Carlito" pitchFamily="34" charset="-122"/>
                <a:cs typeface="Carlito" pitchFamily="34" charset="-120"/>
              </a:rPr>
              <a:t>Metrics • Alerts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START HERE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How to use this theory deck</a:t>
            </a:r>
            <a:endParaRPr lang="en-US" sz="2500" dirty="0"/>
          </a:p>
        </p:txBody>
      </p:sp>
      <p:sp>
        <p:nvSpPr>
          <p:cNvPr id="4" name="Text 2"/>
          <p:cNvSpPr txBox="1"/>
          <p:nvPr/>
        </p:nvSpPr>
        <p:spPr>
          <a:xfrm>
            <a:off x="548640" y="1179576"/>
            <a:ext cx="10972800" cy="347472"/>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5F6F7F"/>
                </a:solidFill>
                <a:latin typeface="Carlito" pitchFamily="34" charset="0"/>
                <a:ea typeface="Carlito" pitchFamily="34" charset="-122"/>
                <a:cs typeface="Carlito" pitchFamily="34" charset="-120"/>
              </a:rPr>
              <a:t>The goal is to understand the “why” before following the exact commands in the Day 6 execution guide.</a:t>
            </a:r>
            <a:endParaRPr lang="en-US" sz="1150" dirty="0"/>
          </a:p>
        </p:txBody>
      </p:sp>
      <p:sp>
        <p:nvSpPr>
          <p:cNvPr id="5" name="Shape 3"/>
          <p:cNvSpPr/>
          <p:nvPr/>
        </p:nvSpPr>
        <p:spPr>
          <a:xfrm>
            <a:off x="594360" y="1737360"/>
            <a:ext cx="3520440" cy="1828800"/>
          </a:xfrm>
          <a:prstGeom prst="roundRect">
            <a:avLst>
              <a:gd name="adj" fmla="val 4000"/>
            </a:avLst>
          </a:prstGeom>
          <a:solidFill>
            <a:srgbClr val="FFFFFF"/>
          </a:solidFill>
          <a:ln w="10160">
            <a:solidFill>
              <a:srgbClr val="DCE3EB"/>
            </a:solidFill>
            <a:prstDash val="solid"/>
          </a:ln>
        </p:spPr>
      </p:sp>
      <p:sp>
        <p:nvSpPr>
          <p:cNvPr id="6" name="Shape 4"/>
          <p:cNvSpPr/>
          <p:nvPr/>
        </p:nvSpPr>
        <p:spPr>
          <a:xfrm>
            <a:off x="594360" y="1737360"/>
            <a:ext cx="73152" cy="1828800"/>
          </a:xfrm>
          <a:prstGeom prst="rect">
            <a:avLst>
              <a:gd name="adj" fmla="val 100000"/>
            </a:avLst>
          </a:prstGeom>
          <a:solidFill>
            <a:srgbClr val="2878C8"/>
          </a:solidFill>
          <a:ln w="10160">
            <a:solidFill>
              <a:srgbClr val="2878C8"/>
            </a:solidFill>
            <a:prstDash val="solid"/>
          </a:ln>
        </p:spPr>
      </p:sp>
      <p:sp>
        <p:nvSpPr>
          <p:cNvPr id="7" name="Text 5"/>
          <p:cNvSpPr txBox="1"/>
          <p:nvPr/>
        </p:nvSpPr>
        <p:spPr>
          <a:xfrm>
            <a:off x="795528" y="1865376"/>
            <a:ext cx="317296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1. Learn the concept</a:t>
            </a:r>
            <a:endParaRPr lang="en-US" sz="1500" dirty="0"/>
          </a:p>
        </p:txBody>
      </p:sp>
      <p:sp>
        <p:nvSpPr>
          <p:cNvPr id="8" name="Text 6"/>
          <p:cNvSpPr txBox="1"/>
          <p:nvPr/>
        </p:nvSpPr>
        <p:spPr>
          <a:xfrm>
            <a:off x="795528" y="2212848"/>
            <a:ext cx="3136392" cy="1243584"/>
          </a:xfrm>
          <a:prstGeom prst="rect">
            <a:avLst/>
          </a:prstGeom>
          <a:noFill/>
          <a:ln/>
        </p:spPr>
        <p:txBody>
          <a:bodyPr wrap="square" lIns="0" tIns="0" rIns="0" bIns="0" rtlCol="0" anchor="t">
            <a:normAutofit/>
          </a:bodyPr>
          <a:lstStyle/>
          <a:p>
            <a:pPr algn="l" indent="0" marL="0">
              <a:lnSpc>
                <a:spcPct val="95000"/>
              </a:lnSpc>
              <a:buNone/>
            </a:pPr>
            <a:r>
              <a:rPr lang="en-US" sz="1150" dirty="0">
                <a:solidFill>
                  <a:srgbClr val="203040"/>
                </a:solidFill>
                <a:latin typeface="Carlito" pitchFamily="34" charset="0"/>
                <a:ea typeface="Carlito" pitchFamily="34" charset="-122"/>
                <a:cs typeface="Carlito" pitchFamily="34" charset="-120"/>
              </a:rPr>
              <a:t>Understand what the service does, what problem it solves, and which cloud component owns each responsibility.</a:t>
            </a:r>
            <a:endParaRPr lang="en-US" sz="1150" dirty="0"/>
          </a:p>
        </p:txBody>
      </p:sp>
      <p:sp>
        <p:nvSpPr>
          <p:cNvPr id="9" name="Shape 7"/>
          <p:cNvSpPr/>
          <p:nvPr/>
        </p:nvSpPr>
        <p:spPr>
          <a:xfrm>
            <a:off x="4343400" y="1737360"/>
            <a:ext cx="3520440" cy="1828800"/>
          </a:xfrm>
          <a:prstGeom prst="roundRect">
            <a:avLst>
              <a:gd name="adj" fmla="val 4000"/>
            </a:avLst>
          </a:prstGeom>
          <a:solidFill>
            <a:srgbClr val="FFFFFF"/>
          </a:solidFill>
          <a:ln w="10160">
            <a:solidFill>
              <a:srgbClr val="DCE3EB"/>
            </a:solidFill>
            <a:prstDash val="solid"/>
          </a:ln>
        </p:spPr>
      </p:sp>
      <p:sp>
        <p:nvSpPr>
          <p:cNvPr id="10" name="Shape 8"/>
          <p:cNvSpPr/>
          <p:nvPr/>
        </p:nvSpPr>
        <p:spPr>
          <a:xfrm>
            <a:off x="4343400" y="1737360"/>
            <a:ext cx="73152" cy="1828800"/>
          </a:xfrm>
          <a:prstGeom prst="rect">
            <a:avLst>
              <a:gd name="adj" fmla="val 100000"/>
            </a:avLst>
          </a:prstGeom>
          <a:solidFill>
            <a:srgbClr val="0D9488"/>
          </a:solidFill>
          <a:ln w="10160">
            <a:solidFill>
              <a:srgbClr val="0D9488"/>
            </a:solidFill>
            <a:prstDash val="solid"/>
          </a:ln>
        </p:spPr>
      </p:sp>
      <p:sp>
        <p:nvSpPr>
          <p:cNvPr id="11" name="Text 9"/>
          <p:cNvSpPr txBox="1"/>
          <p:nvPr/>
        </p:nvSpPr>
        <p:spPr>
          <a:xfrm>
            <a:off x="4544568" y="1865376"/>
            <a:ext cx="317296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2. Map it to the lab</a:t>
            </a:r>
            <a:endParaRPr lang="en-US" sz="1500" dirty="0"/>
          </a:p>
        </p:txBody>
      </p:sp>
      <p:sp>
        <p:nvSpPr>
          <p:cNvPr id="12" name="Text 10"/>
          <p:cNvSpPr txBox="1"/>
          <p:nvPr/>
        </p:nvSpPr>
        <p:spPr>
          <a:xfrm>
            <a:off x="4544568" y="2212848"/>
            <a:ext cx="3136392" cy="1243584"/>
          </a:xfrm>
          <a:prstGeom prst="rect">
            <a:avLst/>
          </a:prstGeom>
          <a:noFill/>
          <a:ln/>
        </p:spPr>
        <p:txBody>
          <a:bodyPr wrap="square" lIns="0" tIns="0" rIns="0" bIns="0" rtlCol="0" anchor="t">
            <a:normAutofit/>
          </a:bodyPr>
          <a:lstStyle/>
          <a:p>
            <a:pPr algn="l" indent="0" marL="0">
              <a:lnSpc>
                <a:spcPct val="95000"/>
              </a:lnSpc>
              <a:buNone/>
            </a:pPr>
            <a:r>
              <a:rPr lang="en-US" sz="1150" dirty="0">
                <a:solidFill>
                  <a:srgbClr val="203040"/>
                </a:solidFill>
                <a:latin typeface="Carlito" pitchFamily="34" charset="0"/>
                <a:ea typeface="Carlito" pitchFamily="34" charset="-122"/>
                <a:cs typeface="Carlito" pitchFamily="34" charset="-120"/>
              </a:rPr>
              <a:t>Connect the concept to the Day 6 resource: a VM, disk, firewall rule, bucket, key, secret, alert or service account.</a:t>
            </a:r>
            <a:endParaRPr lang="en-US" sz="1150" dirty="0"/>
          </a:p>
        </p:txBody>
      </p:sp>
      <p:sp>
        <p:nvSpPr>
          <p:cNvPr id="13" name="Shape 11"/>
          <p:cNvSpPr/>
          <p:nvPr/>
        </p:nvSpPr>
        <p:spPr>
          <a:xfrm>
            <a:off x="8092440" y="1737360"/>
            <a:ext cx="3520440" cy="1828800"/>
          </a:xfrm>
          <a:prstGeom prst="roundRect">
            <a:avLst>
              <a:gd name="adj" fmla="val 4000"/>
            </a:avLst>
          </a:prstGeom>
          <a:solidFill>
            <a:srgbClr val="FFFFFF"/>
          </a:solidFill>
          <a:ln w="10160">
            <a:solidFill>
              <a:srgbClr val="DCE3EB"/>
            </a:solidFill>
            <a:prstDash val="solid"/>
          </a:ln>
        </p:spPr>
      </p:sp>
      <p:sp>
        <p:nvSpPr>
          <p:cNvPr id="14" name="Shape 12"/>
          <p:cNvSpPr/>
          <p:nvPr/>
        </p:nvSpPr>
        <p:spPr>
          <a:xfrm>
            <a:off x="8092440" y="1737360"/>
            <a:ext cx="73152" cy="1828800"/>
          </a:xfrm>
          <a:prstGeom prst="rect">
            <a:avLst>
              <a:gd name="adj" fmla="val 100000"/>
            </a:avLst>
          </a:prstGeom>
          <a:solidFill>
            <a:srgbClr val="7654B8"/>
          </a:solidFill>
          <a:ln w="10160">
            <a:solidFill>
              <a:srgbClr val="7654B8"/>
            </a:solidFill>
            <a:prstDash val="solid"/>
          </a:ln>
        </p:spPr>
      </p:sp>
      <p:sp>
        <p:nvSpPr>
          <p:cNvPr id="15" name="Text 13"/>
          <p:cNvSpPr txBox="1"/>
          <p:nvPr/>
        </p:nvSpPr>
        <p:spPr>
          <a:xfrm>
            <a:off x="8293608" y="1865376"/>
            <a:ext cx="317296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3. Prove it in two places</a:t>
            </a:r>
            <a:endParaRPr lang="en-US" sz="1500" dirty="0"/>
          </a:p>
        </p:txBody>
      </p:sp>
      <p:sp>
        <p:nvSpPr>
          <p:cNvPr id="16" name="Text 14"/>
          <p:cNvSpPr txBox="1"/>
          <p:nvPr/>
        </p:nvSpPr>
        <p:spPr>
          <a:xfrm>
            <a:off x="8293608" y="2212848"/>
            <a:ext cx="3136392" cy="1243584"/>
          </a:xfrm>
          <a:prstGeom prst="rect">
            <a:avLst/>
          </a:prstGeom>
          <a:noFill/>
          <a:ln/>
        </p:spPr>
        <p:txBody>
          <a:bodyPr wrap="square" lIns="0" tIns="0" rIns="0" bIns="0" rtlCol="0" anchor="t">
            <a:normAutofit/>
          </a:bodyPr>
          <a:lstStyle/>
          <a:p>
            <a:pPr algn="l" indent="0" marL="0">
              <a:lnSpc>
                <a:spcPct val="95000"/>
              </a:lnSpc>
              <a:buNone/>
            </a:pPr>
            <a:r>
              <a:rPr lang="en-US" sz="1150" dirty="0">
                <a:solidFill>
                  <a:srgbClr val="203040"/>
                </a:solidFill>
                <a:latin typeface="Carlito" pitchFamily="34" charset="0"/>
                <a:ea typeface="Carlito" pitchFamily="34" charset="-122"/>
                <a:cs typeface="Carlito" pitchFamily="34" charset="-120"/>
              </a:rPr>
              <a:t>Use CLI output as precise evidence, then navigate to the Console page to visually confirm the resource state.</a:t>
            </a:r>
            <a:endParaRPr lang="en-US" sz="1150" dirty="0"/>
          </a:p>
        </p:txBody>
      </p:sp>
      <p:sp>
        <p:nvSpPr>
          <p:cNvPr id="17" name="Shape 15"/>
          <p:cNvSpPr/>
          <p:nvPr/>
        </p:nvSpPr>
        <p:spPr>
          <a:xfrm>
            <a:off x="685800" y="3977640"/>
            <a:ext cx="10789920" cy="685800"/>
          </a:xfrm>
          <a:prstGeom prst="roundRect">
            <a:avLst>
              <a:gd name="adj" fmla="val 10667"/>
            </a:avLst>
          </a:prstGeom>
          <a:solidFill>
            <a:srgbClr val="E9F7F0"/>
          </a:solidFill>
          <a:ln w="10160">
            <a:solidFill>
              <a:srgbClr val="E9F7F0"/>
            </a:solidFill>
            <a:prstDash val="solid"/>
          </a:ln>
        </p:spPr>
      </p:sp>
      <p:sp>
        <p:nvSpPr>
          <p:cNvPr id="18" name="Text 16"/>
          <p:cNvSpPr txBox="1"/>
          <p:nvPr/>
        </p:nvSpPr>
        <p:spPr>
          <a:xfrm>
            <a:off x="832104" y="4050792"/>
            <a:ext cx="10497312" cy="5394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Use this deck together with the 32-page Student Execution Guide. The guide contains the exact deployment commands, scenario toggles and cleanup sequence.</a:t>
            </a:r>
            <a:endParaRPr lang="en-US" sz="1040" dirty="0"/>
          </a:p>
        </p:txBody>
      </p:sp>
      <p:sp>
        <p:nvSpPr>
          <p:cNvPr id="19" name="Text 17"/>
          <p:cNvSpPr txBox="1"/>
          <p:nvPr/>
        </p:nvSpPr>
        <p:spPr>
          <a:xfrm>
            <a:off x="822960" y="4892040"/>
            <a:ext cx="10515600" cy="1051560"/>
          </a:xfrm>
          <a:prstGeom prst="rect">
            <a:avLst/>
          </a:prstGeom>
          <a:noFill/>
          <a:ln/>
        </p:spPr>
        <p:txBody>
          <a:bodyPr wrap="square" lIns="254" tIns="254" rIns="254" bIns="254" rtlCol="0" anchor="t">
            <a:normAutofit/>
          </a:bodyPr>
          <a:lstStyle/>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The source lab defines three incident bundles: GCP-INC-2001, 2002 and 2003.</a:t>
            </a:r>
            <a:endParaRPr lang="en-US" sz="1300" dirty="0"/>
          </a:p>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The capstone combines four faults and requires a fixed recovery order.</a:t>
            </a:r>
            <a:endParaRPr lang="en-US" sz="1300" dirty="0"/>
          </a:p>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Cloud quotas, organization policies, permissions and available regions can change the exact lab outcome.</a:t>
            </a:r>
            <a:endParaRPr lang="en-US" sz="130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LEARNING PATH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What you should be able to explain after this deck</a:t>
            </a:r>
            <a:endParaRPr lang="en-US" sz="2500" dirty="0"/>
          </a:p>
        </p:txBody>
      </p:sp>
      <p:sp>
        <p:nvSpPr>
          <p:cNvPr id="4" name="Shape 2"/>
          <p:cNvSpPr/>
          <p:nvPr/>
        </p:nvSpPr>
        <p:spPr>
          <a:xfrm>
            <a:off x="566928" y="1691640"/>
            <a:ext cx="2103120" cy="1874520"/>
          </a:xfrm>
          <a:prstGeom prst="roundRect">
            <a:avLst>
              <a:gd name="adj" fmla="val 3902"/>
            </a:avLst>
          </a:prstGeom>
          <a:solidFill>
            <a:srgbClr val="FFFFFF"/>
          </a:solidFill>
          <a:ln w="10160">
            <a:solidFill>
              <a:srgbClr val="DCE3EB"/>
            </a:solidFill>
            <a:prstDash val="solid"/>
          </a:ln>
        </p:spPr>
      </p:sp>
      <p:sp>
        <p:nvSpPr>
          <p:cNvPr id="5" name="Shape 3"/>
          <p:cNvSpPr/>
          <p:nvPr/>
        </p:nvSpPr>
        <p:spPr>
          <a:xfrm>
            <a:off x="566928" y="1691640"/>
            <a:ext cx="73152" cy="1874520"/>
          </a:xfrm>
          <a:prstGeom prst="rect">
            <a:avLst>
              <a:gd name="adj" fmla="val 100000"/>
            </a:avLst>
          </a:prstGeom>
          <a:solidFill>
            <a:srgbClr val="2878C8"/>
          </a:solidFill>
          <a:ln w="10160">
            <a:solidFill>
              <a:srgbClr val="2878C8"/>
            </a:solidFill>
            <a:prstDash val="solid"/>
          </a:ln>
        </p:spPr>
      </p:sp>
      <p:sp>
        <p:nvSpPr>
          <p:cNvPr id="6" name="Text 4"/>
          <p:cNvSpPr txBox="1"/>
          <p:nvPr/>
        </p:nvSpPr>
        <p:spPr>
          <a:xfrm>
            <a:off x="768096" y="1819656"/>
            <a:ext cx="17556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COMPUTE</a:t>
            </a:r>
            <a:endParaRPr lang="en-US" sz="1300" dirty="0"/>
          </a:p>
        </p:txBody>
      </p:sp>
      <p:sp>
        <p:nvSpPr>
          <p:cNvPr id="7" name="Text 5"/>
          <p:cNvSpPr txBox="1"/>
          <p:nvPr/>
        </p:nvSpPr>
        <p:spPr>
          <a:xfrm>
            <a:off x="768096" y="2167128"/>
            <a:ext cx="1719072" cy="12893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VM lifecycle, IAP SSH, firewall targeting and managed instance groups.</a:t>
            </a:r>
            <a:endParaRPr lang="en-US" sz="1100" dirty="0"/>
          </a:p>
        </p:txBody>
      </p:sp>
      <p:sp>
        <p:nvSpPr>
          <p:cNvPr id="8" name="Shape 6"/>
          <p:cNvSpPr/>
          <p:nvPr/>
        </p:nvSpPr>
        <p:spPr>
          <a:xfrm>
            <a:off x="2880360" y="1691640"/>
            <a:ext cx="2103120" cy="1874520"/>
          </a:xfrm>
          <a:prstGeom prst="roundRect">
            <a:avLst>
              <a:gd name="adj" fmla="val 3902"/>
            </a:avLst>
          </a:prstGeom>
          <a:solidFill>
            <a:srgbClr val="FFFFFF"/>
          </a:solidFill>
          <a:ln w="10160">
            <a:solidFill>
              <a:srgbClr val="DCE3EB"/>
            </a:solidFill>
            <a:prstDash val="solid"/>
          </a:ln>
        </p:spPr>
      </p:sp>
      <p:sp>
        <p:nvSpPr>
          <p:cNvPr id="9" name="Shape 7"/>
          <p:cNvSpPr/>
          <p:nvPr/>
        </p:nvSpPr>
        <p:spPr>
          <a:xfrm>
            <a:off x="2880360" y="1691640"/>
            <a:ext cx="73152" cy="1874520"/>
          </a:xfrm>
          <a:prstGeom prst="rect">
            <a:avLst>
              <a:gd name="adj" fmla="val 100000"/>
            </a:avLst>
          </a:prstGeom>
          <a:solidFill>
            <a:srgbClr val="0D9488"/>
          </a:solidFill>
          <a:ln w="10160">
            <a:solidFill>
              <a:srgbClr val="0D9488"/>
            </a:solidFill>
            <a:prstDash val="solid"/>
          </a:ln>
        </p:spPr>
      </p:sp>
      <p:sp>
        <p:nvSpPr>
          <p:cNvPr id="10" name="Text 8"/>
          <p:cNvSpPr txBox="1"/>
          <p:nvPr/>
        </p:nvSpPr>
        <p:spPr>
          <a:xfrm>
            <a:off x="3081528" y="1819656"/>
            <a:ext cx="17556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STORAGE</a:t>
            </a:r>
            <a:endParaRPr lang="en-US" sz="1300" dirty="0"/>
          </a:p>
        </p:txBody>
      </p:sp>
      <p:sp>
        <p:nvSpPr>
          <p:cNvPr id="11" name="Text 9"/>
          <p:cNvSpPr txBox="1"/>
          <p:nvPr/>
        </p:nvSpPr>
        <p:spPr>
          <a:xfrm>
            <a:off x="3081528" y="2167128"/>
            <a:ext cx="1719072" cy="12893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Block disk vs filesystem, disk expansion, object storage and public-access controls.</a:t>
            </a:r>
            <a:endParaRPr lang="en-US" sz="1100" dirty="0"/>
          </a:p>
        </p:txBody>
      </p:sp>
      <p:sp>
        <p:nvSpPr>
          <p:cNvPr id="12" name="Shape 10"/>
          <p:cNvSpPr/>
          <p:nvPr/>
        </p:nvSpPr>
        <p:spPr>
          <a:xfrm>
            <a:off x="5193792" y="1691640"/>
            <a:ext cx="2103120" cy="1874520"/>
          </a:xfrm>
          <a:prstGeom prst="roundRect">
            <a:avLst>
              <a:gd name="adj" fmla="val 3902"/>
            </a:avLst>
          </a:prstGeom>
          <a:solidFill>
            <a:srgbClr val="FFFFFF"/>
          </a:solidFill>
          <a:ln w="10160">
            <a:solidFill>
              <a:srgbClr val="DCE3EB"/>
            </a:solidFill>
            <a:prstDash val="solid"/>
          </a:ln>
        </p:spPr>
      </p:sp>
      <p:sp>
        <p:nvSpPr>
          <p:cNvPr id="13" name="Shape 11"/>
          <p:cNvSpPr/>
          <p:nvPr/>
        </p:nvSpPr>
        <p:spPr>
          <a:xfrm>
            <a:off x="5193792" y="1691640"/>
            <a:ext cx="73152" cy="1874520"/>
          </a:xfrm>
          <a:prstGeom prst="rect">
            <a:avLst>
              <a:gd name="adj" fmla="val 100000"/>
            </a:avLst>
          </a:prstGeom>
          <a:solidFill>
            <a:srgbClr val="16A36A"/>
          </a:solidFill>
          <a:ln w="10160">
            <a:solidFill>
              <a:srgbClr val="16A36A"/>
            </a:solidFill>
            <a:prstDash val="solid"/>
          </a:ln>
        </p:spPr>
      </p:sp>
      <p:sp>
        <p:nvSpPr>
          <p:cNvPr id="14" name="Text 12"/>
          <p:cNvSpPr txBox="1"/>
          <p:nvPr/>
        </p:nvSpPr>
        <p:spPr>
          <a:xfrm>
            <a:off x="5394960" y="1819656"/>
            <a:ext cx="17556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NETWORK</a:t>
            </a:r>
            <a:endParaRPr lang="en-US" sz="1300" dirty="0"/>
          </a:p>
        </p:txBody>
      </p:sp>
      <p:sp>
        <p:nvSpPr>
          <p:cNvPr id="15" name="Text 13"/>
          <p:cNvSpPr txBox="1"/>
          <p:nvPr/>
        </p:nvSpPr>
        <p:spPr>
          <a:xfrm>
            <a:off x="5394960" y="2167128"/>
            <a:ext cx="1719072" cy="12893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Private subnet egress, Cloud Router and Cloud NAT.</a:t>
            </a:r>
            <a:endParaRPr lang="en-US" sz="1100" dirty="0"/>
          </a:p>
        </p:txBody>
      </p:sp>
      <p:sp>
        <p:nvSpPr>
          <p:cNvPr id="16" name="Shape 14"/>
          <p:cNvSpPr/>
          <p:nvPr/>
        </p:nvSpPr>
        <p:spPr>
          <a:xfrm>
            <a:off x="7507224" y="1691640"/>
            <a:ext cx="2103120" cy="1874520"/>
          </a:xfrm>
          <a:prstGeom prst="roundRect">
            <a:avLst>
              <a:gd name="adj" fmla="val 3902"/>
            </a:avLst>
          </a:prstGeom>
          <a:solidFill>
            <a:srgbClr val="FFFFFF"/>
          </a:solidFill>
          <a:ln w="10160">
            <a:solidFill>
              <a:srgbClr val="DCE3EB"/>
            </a:solidFill>
            <a:prstDash val="solid"/>
          </a:ln>
        </p:spPr>
      </p:sp>
      <p:sp>
        <p:nvSpPr>
          <p:cNvPr id="17" name="Shape 15"/>
          <p:cNvSpPr/>
          <p:nvPr/>
        </p:nvSpPr>
        <p:spPr>
          <a:xfrm>
            <a:off x="7507224" y="1691640"/>
            <a:ext cx="73152" cy="1874520"/>
          </a:xfrm>
          <a:prstGeom prst="rect">
            <a:avLst>
              <a:gd name="adj" fmla="val 100000"/>
            </a:avLst>
          </a:prstGeom>
          <a:solidFill>
            <a:srgbClr val="7654B8"/>
          </a:solidFill>
          <a:ln w="10160">
            <a:solidFill>
              <a:srgbClr val="7654B8"/>
            </a:solidFill>
            <a:prstDash val="solid"/>
          </a:ln>
        </p:spPr>
      </p:sp>
      <p:sp>
        <p:nvSpPr>
          <p:cNvPr id="18" name="Text 16"/>
          <p:cNvSpPr txBox="1"/>
          <p:nvPr/>
        </p:nvSpPr>
        <p:spPr>
          <a:xfrm>
            <a:off x="7708392" y="1819656"/>
            <a:ext cx="17556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SECURITY</a:t>
            </a:r>
            <a:endParaRPr lang="en-US" sz="1300" dirty="0"/>
          </a:p>
        </p:txBody>
      </p:sp>
      <p:sp>
        <p:nvSpPr>
          <p:cNvPr id="19" name="Text 17"/>
          <p:cNvSpPr txBox="1"/>
          <p:nvPr/>
        </p:nvSpPr>
        <p:spPr>
          <a:xfrm>
            <a:off x="7708392" y="2167128"/>
            <a:ext cx="1719072" cy="12893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Default encryption, CMEK, Secret Manager versions and IAM.</a:t>
            </a:r>
            <a:endParaRPr lang="en-US" sz="1100" dirty="0"/>
          </a:p>
        </p:txBody>
      </p:sp>
      <p:sp>
        <p:nvSpPr>
          <p:cNvPr id="20" name="Shape 18"/>
          <p:cNvSpPr/>
          <p:nvPr/>
        </p:nvSpPr>
        <p:spPr>
          <a:xfrm>
            <a:off x="9820656" y="1691640"/>
            <a:ext cx="2103120" cy="1874520"/>
          </a:xfrm>
          <a:prstGeom prst="roundRect">
            <a:avLst>
              <a:gd name="adj" fmla="val 3902"/>
            </a:avLst>
          </a:prstGeom>
          <a:solidFill>
            <a:srgbClr val="FFFFFF"/>
          </a:solidFill>
          <a:ln w="10160">
            <a:solidFill>
              <a:srgbClr val="DCE3EB"/>
            </a:solidFill>
            <a:prstDash val="solid"/>
          </a:ln>
        </p:spPr>
      </p:sp>
      <p:sp>
        <p:nvSpPr>
          <p:cNvPr id="21" name="Shape 19"/>
          <p:cNvSpPr/>
          <p:nvPr/>
        </p:nvSpPr>
        <p:spPr>
          <a:xfrm>
            <a:off x="9820656" y="1691640"/>
            <a:ext cx="73152" cy="1874520"/>
          </a:xfrm>
          <a:prstGeom prst="rect">
            <a:avLst>
              <a:gd name="adj" fmla="val 100000"/>
            </a:avLst>
          </a:prstGeom>
          <a:solidFill>
            <a:srgbClr val="D97706"/>
          </a:solidFill>
          <a:ln w="10160">
            <a:solidFill>
              <a:srgbClr val="D97706"/>
            </a:solidFill>
            <a:prstDash val="solid"/>
          </a:ln>
        </p:spPr>
      </p:sp>
      <p:sp>
        <p:nvSpPr>
          <p:cNvPr id="22" name="Text 20"/>
          <p:cNvSpPr txBox="1"/>
          <p:nvPr/>
        </p:nvSpPr>
        <p:spPr>
          <a:xfrm>
            <a:off x="10021824" y="1819656"/>
            <a:ext cx="17556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OPERATIONS</a:t>
            </a:r>
            <a:endParaRPr lang="en-US" sz="1300" dirty="0"/>
          </a:p>
        </p:txBody>
      </p:sp>
      <p:sp>
        <p:nvSpPr>
          <p:cNvPr id="23" name="Text 21"/>
          <p:cNvSpPr txBox="1"/>
          <p:nvPr/>
        </p:nvSpPr>
        <p:spPr>
          <a:xfrm>
            <a:off x="10021824" y="2167128"/>
            <a:ext cx="1719072" cy="12893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Cloud Monitoring alerts, troubleshooting, evidence and PIR.</a:t>
            </a:r>
            <a:endParaRPr lang="en-US" sz="1100" dirty="0"/>
          </a:p>
        </p:txBody>
      </p:sp>
      <p:sp>
        <p:nvSpPr>
          <p:cNvPr id="24" name="Text 22"/>
          <p:cNvSpPr txBox="1"/>
          <p:nvPr/>
        </p:nvSpPr>
        <p:spPr>
          <a:xfrm>
            <a:off x="640080" y="4069080"/>
            <a:ext cx="2743200" cy="182880"/>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2878C8"/>
                </a:solidFill>
                <a:latin typeface="Carlito" pitchFamily="34" charset="0"/>
                <a:ea typeface="Carlito" pitchFamily="34" charset="-122"/>
                <a:cs typeface="Carlito" pitchFamily="34" charset="-120"/>
              </a:rPr>
              <a:t>THE STUDENT JOURNEY</a:t>
            </a:r>
            <a:endParaRPr lang="en-US" sz="1000" dirty="0"/>
          </a:p>
        </p:txBody>
      </p:sp>
      <p:sp>
        <p:nvSpPr>
          <p:cNvPr id="25" name="Shape 23"/>
          <p:cNvSpPr/>
          <p:nvPr/>
        </p:nvSpPr>
        <p:spPr>
          <a:xfrm>
            <a:off x="640080" y="4480560"/>
            <a:ext cx="1417320" cy="1005840"/>
          </a:xfrm>
          <a:prstGeom prst="roundRect">
            <a:avLst>
              <a:gd name="adj" fmla="val 7273"/>
            </a:avLst>
          </a:prstGeom>
          <a:solidFill>
            <a:srgbClr val="FFFFFF"/>
          </a:solidFill>
          <a:ln w="10160">
            <a:solidFill>
              <a:srgbClr val="DCE3EB"/>
            </a:solidFill>
            <a:prstDash val="solid"/>
          </a:ln>
        </p:spPr>
      </p:sp>
      <p:sp>
        <p:nvSpPr>
          <p:cNvPr id="26" name="Text 24"/>
          <p:cNvSpPr txBox="1"/>
          <p:nvPr/>
        </p:nvSpPr>
        <p:spPr>
          <a:xfrm>
            <a:off x="731520" y="4645152"/>
            <a:ext cx="1234440" cy="228600"/>
          </a:xfrm>
          <a:prstGeom prst="rect">
            <a:avLst/>
          </a:prstGeom>
          <a:noFill/>
          <a:ln/>
        </p:spPr>
        <p:txBody>
          <a:bodyPr wrap="square" lIns="0" tIns="0" rIns="0" bIns="0" rtlCol="0" anchor="ctr">
            <a:normAutofit/>
          </a:bodyPr>
          <a:lstStyle/>
          <a:p>
            <a:pPr algn="ctr" indent="0" marL="0">
              <a:lnSpc>
                <a:spcPct val="95000"/>
              </a:lnSpc>
              <a:buNone/>
            </a:pPr>
            <a:r>
              <a:rPr lang="en-US" sz="1400" b="1" dirty="0">
                <a:solidFill>
                  <a:srgbClr val="12304A"/>
                </a:solidFill>
                <a:latin typeface="Carlito" pitchFamily="34" charset="0"/>
                <a:ea typeface="Carlito" pitchFamily="34" charset="-122"/>
                <a:cs typeface="Carlito" pitchFamily="34" charset="-120"/>
              </a:rPr>
              <a:t>Understand</a:t>
            </a:r>
            <a:endParaRPr lang="en-US" sz="1400" dirty="0"/>
          </a:p>
        </p:txBody>
      </p:sp>
      <p:sp>
        <p:nvSpPr>
          <p:cNvPr id="27" name="Text 25"/>
          <p:cNvSpPr txBox="1"/>
          <p:nvPr/>
        </p:nvSpPr>
        <p:spPr>
          <a:xfrm>
            <a:off x="731520" y="4965192"/>
            <a:ext cx="1234440" cy="256032"/>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5F6F7F"/>
                </a:solidFill>
                <a:latin typeface="Carlito" pitchFamily="34" charset="0"/>
                <a:ea typeface="Carlito" pitchFamily="34" charset="-122"/>
                <a:cs typeface="Carlito" pitchFamily="34" charset="-120"/>
              </a:rPr>
              <a:t>Service model</a:t>
            </a:r>
            <a:endParaRPr lang="en-US" sz="950" dirty="0"/>
          </a:p>
        </p:txBody>
      </p:sp>
      <p:sp>
        <p:nvSpPr>
          <p:cNvPr id="28" name="Shape 26"/>
          <p:cNvSpPr/>
          <p:nvPr/>
        </p:nvSpPr>
        <p:spPr>
          <a:xfrm>
            <a:off x="2084832" y="4983480"/>
            <a:ext cx="320040" cy="0"/>
          </a:xfrm>
          <a:prstGeom prst="line">
            <a:avLst/>
          </a:prstGeom>
          <a:noFill/>
          <a:ln w="19050">
            <a:solidFill>
              <a:srgbClr val="0D9488"/>
            </a:solidFill>
            <a:prstDash val="solid"/>
            <a:tailEnd type="triangle"/>
          </a:ln>
        </p:spPr>
      </p:sp>
      <p:sp>
        <p:nvSpPr>
          <p:cNvPr id="29" name="Shape 27"/>
          <p:cNvSpPr/>
          <p:nvPr/>
        </p:nvSpPr>
        <p:spPr>
          <a:xfrm>
            <a:off x="2514600" y="4480560"/>
            <a:ext cx="1417320" cy="1005840"/>
          </a:xfrm>
          <a:prstGeom prst="roundRect">
            <a:avLst>
              <a:gd name="adj" fmla="val 7273"/>
            </a:avLst>
          </a:prstGeom>
          <a:solidFill>
            <a:srgbClr val="FFFFFF"/>
          </a:solidFill>
          <a:ln w="10160">
            <a:solidFill>
              <a:srgbClr val="DCE3EB"/>
            </a:solidFill>
            <a:prstDash val="solid"/>
          </a:ln>
        </p:spPr>
      </p:sp>
      <p:sp>
        <p:nvSpPr>
          <p:cNvPr id="30" name="Text 28"/>
          <p:cNvSpPr txBox="1"/>
          <p:nvPr/>
        </p:nvSpPr>
        <p:spPr>
          <a:xfrm>
            <a:off x="2606040" y="4645152"/>
            <a:ext cx="1234440" cy="228600"/>
          </a:xfrm>
          <a:prstGeom prst="rect">
            <a:avLst/>
          </a:prstGeom>
          <a:noFill/>
          <a:ln/>
        </p:spPr>
        <p:txBody>
          <a:bodyPr wrap="square" lIns="0" tIns="0" rIns="0" bIns="0" rtlCol="0" anchor="ctr">
            <a:normAutofit/>
          </a:bodyPr>
          <a:lstStyle/>
          <a:p>
            <a:pPr algn="ctr" indent="0" marL="0">
              <a:lnSpc>
                <a:spcPct val="95000"/>
              </a:lnSpc>
              <a:buNone/>
            </a:pPr>
            <a:r>
              <a:rPr lang="en-US" sz="1400" b="1" dirty="0">
                <a:solidFill>
                  <a:srgbClr val="12304A"/>
                </a:solidFill>
                <a:latin typeface="Carlito" pitchFamily="34" charset="0"/>
                <a:ea typeface="Carlito" pitchFamily="34" charset="-122"/>
                <a:cs typeface="Carlito" pitchFamily="34" charset="-120"/>
              </a:rPr>
              <a:t>Deploy</a:t>
            </a:r>
            <a:endParaRPr lang="en-US" sz="1400" dirty="0"/>
          </a:p>
        </p:txBody>
      </p:sp>
      <p:sp>
        <p:nvSpPr>
          <p:cNvPr id="31" name="Text 29"/>
          <p:cNvSpPr txBox="1"/>
          <p:nvPr/>
        </p:nvSpPr>
        <p:spPr>
          <a:xfrm>
            <a:off x="2606040" y="4965192"/>
            <a:ext cx="1234440" cy="256032"/>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5F6F7F"/>
                </a:solidFill>
                <a:latin typeface="Carlito" pitchFamily="34" charset="0"/>
                <a:ea typeface="Carlito" pitchFamily="34" charset="-122"/>
                <a:cs typeface="Carlito" pitchFamily="34" charset="-120"/>
              </a:rPr>
              <a:t>Terraform baseline</a:t>
            </a:r>
            <a:endParaRPr lang="en-US" sz="950" dirty="0"/>
          </a:p>
        </p:txBody>
      </p:sp>
      <p:sp>
        <p:nvSpPr>
          <p:cNvPr id="32" name="Shape 30"/>
          <p:cNvSpPr/>
          <p:nvPr/>
        </p:nvSpPr>
        <p:spPr>
          <a:xfrm>
            <a:off x="3959352" y="4983480"/>
            <a:ext cx="320040" cy="0"/>
          </a:xfrm>
          <a:prstGeom prst="line">
            <a:avLst/>
          </a:prstGeom>
          <a:noFill/>
          <a:ln w="19050">
            <a:solidFill>
              <a:srgbClr val="0D9488"/>
            </a:solidFill>
            <a:prstDash val="solid"/>
            <a:tailEnd type="triangle"/>
          </a:ln>
        </p:spPr>
      </p:sp>
      <p:sp>
        <p:nvSpPr>
          <p:cNvPr id="33" name="Shape 31"/>
          <p:cNvSpPr/>
          <p:nvPr/>
        </p:nvSpPr>
        <p:spPr>
          <a:xfrm>
            <a:off x="4389120" y="4480560"/>
            <a:ext cx="1417320" cy="1005840"/>
          </a:xfrm>
          <a:prstGeom prst="roundRect">
            <a:avLst>
              <a:gd name="adj" fmla="val 7273"/>
            </a:avLst>
          </a:prstGeom>
          <a:solidFill>
            <a:srgbClr val="FFFFFF"/>
          </a:solidFill>
          <a:ln w="10160">
            <a:solidFill>
              <a:srgbClr val="DCE3EB"/>
            </a:solidFill>
            <a:prstDash val="solid"/>
          </a:ln>
        </p:spPr>
      </p:sp>
      <p:sp>
        <p:nvSpPr>
          <p:cNvPr id="34" name="Text 32"/>
          <p:cNvSpPr txBox="1"/>
          <p:nvPr/>
        </p:nvSpPr>
        <p:spPr>
          <a:xfrm>
            <a:off x="4480560" y="4645152"/>
            <a:ext cx="1234440" cy="228600"/>
          </a:xfrm>
          <a:prstGeom prst="rect">
            <a:avLst/>
          </a:prstGeom>
          <a:noFill/>
          <a:ln/>
        </p:spPr>
        <p:txBody>
          <a:bodyPr wrap="square" lIns="0" tIns="0" rIns="0" bIns="0" rtlCol="0" anchor="ctr">
            <a:normAutofit/>
          </a:bodyPr>
          <a:lstStyle/>
          <a:p>
            <a:pPr algn="ctr" indent="0" marL="0">
              <a:lnSpc>
                <a:spcPct val="95000"/>
              </a:lnSpc>
              <a:buNone/>
            </a:pPr>
            <a:r>
              <a:rPr lang="en-US" sz="1400" b="1" dirty="0">
                <a:solidFill>
                  <a:srgbClr val="12304A"/>
                </a:solidFill>
                <a:latin typeface="Carlito" pitchFamily="34" charset="0"/>
                <a:ea typeface="Carlito" pitchFamily="34" charset="-122"/>
                <a:cs typeface="Carlito" pitchFamily="34" charset="-120"/>
              </a:rPr>
              <a:t>Inject</a:t>
            </a:r>
            <a:endParaRPr lang="en-US" sz="1400" dirty="0"/>
          </a:p>
        </p:txBody>
      </p:sp>
      <p:sp>
        <p:nvSpPr>
          <p:cNvPr id="35" name="Text 33"/>
          <p:cNvSpPr txBox="1"/>
          <p:nvPr/>
        </p:nvSpPr>
        <p:spPr>
          <a:xfrm>
            <a:off x="4480560" y="4965192"/>
            <a:ext cx="1234440" cy="256032"/>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5F6F7F"/>
                </a:solidFill>
                <a:latin typeface="Carlito" pitchFamily="34" charset="0"/>
                <a:ea typeface="Carlito" pitchFamily="34" charset="-122"/>
                <a:cs typeface="Carlito" pitchFamily="34" charset="-120"/>
              </a:rPr>
              <a:t>Controlled fault</a:t>
            </a:r>
            <a:endParaRPr lang="en-US" sz="950" dirty="0"/>
          </a:p>
        </p:txBody>
      </p:sp>
      <p:sp>
        <p:nvSpPr>
          <p:cNvPr id="36" name="Shape 34"/>
          <p:cNvSpPr/>
          <p:nvPr/>
        </p:nvSpPr>
        <p:spPr>
          <a:xfrm>
            <a:off x="5833872" y="4983480"/>
            <a:ext cx="320040" cy="0"/>
          </a:xfrm>
          <a:prstGeom prst="line">
            <a:avLst/>
          </a:prstGeom>
          <a:noFill/>
          <a:ln w="19050">
            <a:solidFill>
              <a:srgbClr val="0D9488"/>
            </a:solidFill>
            <a:prstDash val="solid"/>
            <a:tailEnd type="triangle"/>
          </a:ln>
        </p:spPr>
      </p:sp>
      <p:sp>
        <p:nvSpPr>
          <p:cNvPr id="37" name="Shape 35"/>
          <p:cNvSpPr/>
          <p:nvPr/>
        </p:nvSpPr>
        <p:spPr>
          <a:xfrm>
            <a:off x="6263640" y="4480560"/>
            <a:ext cx="1417320" cy="1005840"/>
          </a:xfrm>
          <a:prstGeom prst="roundRect">
            <a:avLst>
              <a:gd name="adj" fmla="val 7273"/>
            </a:avLst>
          </a:prstGeom>
          <a:solidFill>
            <a:srgbClr val="FFFFFF"/>
          </a:solidFill>
          <a:ln w="10160">
            <a:solidFill>
              <a:srgbClr val="DCE3EB"/>
            </a:solidFill>
            <a:prstDash val="solid"/>
          </a:ln>
        </p:spPr>
      </p:sp>
      <p:sp>
        <p:nvSpPr>
          <p:cNvPr id="38" name="Text 36"/>
          <p:cNvSpPr txBox="1"/>
          <p:nvPr/>
        </p:nvSpPr>
        <p:spPr>
          <a:xfrm>
            <a:off x="6355080" y="4645152"/>
            <a:ext cx="1234440" cy="228600"/>
          </a:xfrm>
          <a:prstGeom prst="rect">
            <a:avLst/>
          </a:prstGeom>
          <a:noFill/>
          <a:ln/>
        </p:spPr>
        <p:txBody>
          <a:bodyPr wrap="square" lIns="0" tIns="0" rIns="0" bIns="0" rtlCol="0" anchor="ctr">
            <a:normAutofit/>
          </a:bodyPr>
          <a:lstStyle/>
          <a:p>
            <a:pPr algn="ctr" indent="0" marL="0">
              <a:lnSpc>
                <a:spcPct val="95000"/>
              </a:lnSpc>
              <a:buNone/>
            </a:pPr>
            <a:r>
              <a:rPr lang="en-US" sz="1400" b="1" dirty="0">
                <a:solidFill>
                  <a:srgbClr val="12304A"/>
                </a:solidFill>
                <a:latin typeface="Carlito" pitchFamily="34" charset="0"/>
                <a:ea typeface="Carlito" pitchFamily="34" charset="-122"/>
                <a:cs typeface="Carlito" pitchFamily="34" charset="-120"/>
              </a:rPr>
              <a:t>Observe</a:t>
            </a:r>
            <a:endParaRPr lang="en-US" sz="1400" dirty="0"/>
          </a:p>
        </p:txBody>
      </p:sp>
      <p:sp>
        <p:nvSpPr>
          <p:cNvPr id="39" name="Text 37"/>
          <p:cNvSpPr txBox="1"/>
          <p:nvPr/>
        </p:nvSpPr>
        <p:spPr>
          <a:xfrm>
            <a:off x="6355080" y="4965192"/>
            <a:ext cx="1234440" cy="256032"/>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5F6F7F"/>
                </a:solidFill>
                <a:latin typeface="Carlito" pitchFamily="34" charset="0"/>
                <a:ea typeface="Carlito" pitchFamily="34" charset="-122"/>
                <a:cs typeface="Carlito" pitchFamily="34" charset="-120"/>
              </a:rPr>
              <a:t>CLI + Console</a:t>
            </a:r>
            <a:endParaRPr lang="en-US" sz="950" dirty="0"/>
          </a:p>
        </p:txBody>
      </p:sp>
      <p:sp>
        <p:nvSpPr>
          <p:cNvPr id="40" name="Shape 38"/>
          <p:cNvSpPr/>
          <p:nvPr/>
        </p:nvSpPr>
        <p:spPr>
          <a:xfrm>
            <a:off x="7708392" y="4983480"/>
            <a:ext cx="320040" cy="0"/>
          </a:xfrm>
          <a:prstGeom prst="line">
            <a:avLst/>
          </a:prstGeom>
          <a:noFill/>
          <a:ln w="19050">
            <a:solidFill>
              <a:srgbClr val="0D9488"/>
            </a:solidFill>
            <a:prstDash val="solid"/>
            <a:tailEnd type="triangle"/>
          </a:ln>
        </p:spPr>
      </p:sp>
      <p:sp>
        <p:nvSpPr>
          <p:cNvPr id="41" name="Shape 39"/>
          <p:cNvSpPr/>
          <p:nvPr/>
        </p:nvSpPr>
        <p:spPr>
          <a:xfrm>
            <a:off x="8138160" y="4480560"/>
            <a:ext cx="1417320" cy="1005840"/>
          </a:xfrm>
          <a:prstGeom prst="roundRect">
            <a:avLst>
              <a:gd name="adj" fmla="val 7273"/>
            </a:avLst>
          </a:prstGeom>
          <a:solidFill>
            <a:srgbClr val="FFFFFF"/>
          </a:solidFill>
          <a:ln w="10160">
            <a:solidFill>
              <a:srgbClr val="DCE3EB"/>
            </a:solidFill>
            <a:prstDash val="solid"/>
          </a:ln>
        </p:spPr>
      </p:sp>
      <p:sp>
        <p:nvSpPr>
          <p:cNvPr id="42" name="Text 40"/>
          <p:cNvSpPr txBox="1"/>
          <p:nvPr/>
        </p:nvSpPr>
        <p:spPr>
          <a:xfrm>
            <a:off x="8229600" y="4645152"/>
            <a:ext cx="1234440" cy="228600"/>
          </a:xfrm>
          <a:prstGeom prst="rect">
            <a:avLst/>
          </a:prstGeom>
          <a:noFill/>
          <a:ln/>
        </p:spPr>
        <p:txBody>
          <a:bodyPr wrap="square" lIns="0" tIns="0" rIns="0" bIns="0" rtlCol="0" anchor="ctr">
            <a:normAutofit/>
          </a:bodyPr>
          <a:lstStyle/>
          <a:p>
            <a:pPr algn="ctr" indent="0" marL="0">
              <a:lnSpc>
                <a:spcPct val="95000"/>
              </a:lnSpc>
              <a:buNone/>
            </a:pPr>
            <a:r>
              <a:rPr lang="en-US" sz="1400" b="1" dirty="0">
                <a:solidFill>
                  <a:srgbClr val="12304A"/>
                </a:solidFill>
                <a:latin typeface="Carlito" pitchFamily="34" charset="0"/>
                <a:ea typeface="Carlito" pitchFamily="34" charset="-122"/>
                <a:cs typeface="Carlito" pitchFamily="34" charset="-120"/>
              </a:rPr>
              <a:t>Recover</a:t>
            </a:r>
            <a:endParaRPr lang="en-US" sz="1400" dirty="0"/>
          </a:p>
        </p:txBody>
      </p:sp>
      <p:sp>
        <p:nvSpPr>
          <p:cNvPr id="43" name="Text 41"/>
          <p:cNvSpPr txBox="1"/>
          <p:nvPr/>
        </p:nvSpPr>
        <p:spPr>
          <a:xfrm>
            <a:off x="8229600" y="4965192"/>
            <a:ext cx="1234440" cy="256032"/>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5F6F7F"/>
                </a:solidFill>
                <a:latin typeface="Carlito" pitchFamily="34" charset="0"/>
                <a:ea typeface="Carlito" pitchFamily="34" charset="-122"/>
                <a:cs typeface="Carlito" pitchFamily="34" charset="-120"/>
              </a:rPr>
              <a:t>Reviewed plan</a:t>
            </a:r>
            <a:endParaRPr lang="en-US" sz="950" dirty="0"/>
          </a:p>
        </p:txBody>
      </p:sp>
      <p:sp>
        <p:nvSpPr>
          <p:cNvPr id="44" name="Shape 42"/>
          <p:cNvSpPr/>
          <p:nvPr/>
        </p:nvSpPr>
        <p:spPr>
          <a:xfrm>
            <a:off x="9582912" y="4983480"/>
            <a:ext cx="320040" cy="0"/>
          </a:xfrm>
          <a:prstGeom prst="line">
            <a:avLst/>
          </a:prstGeom>
          <a:noFill/>
          <a:ln w="19050">
            <a:solidFill>
              <a:srgbClr val="0D9488"/>
            </a:solidFill>
            <a:prstDash val="solid"/>
            <a:tailEnd type="triangle"/>
          </a:ln>
        </p:spPr>
      </p:sp>
      <p:sp>
        <p:nvSpPr>
          <p:cNvPr id="45" name="Shape 43"/>
          <p:cNvSpPr/>
          <p:nvPr/>
        </p:nvSpPr>
        <p:spPr>
          <a:xfrm>
            <a:off x="10012680" y="4480560"/>
            <a:ext cx="1417320" cy="1005840"/>
          </a:xfrm>
          <a:prstGeom prst="roundRect">
            <a:avLst>
              <a:gd name="adj" fmla="val 7273"/>
            </a:avLst>
          </a:prstGeom>
          <a:solidFill>
            <a:srgbClr val="FFFFFF"/>
          </a:solidFill>
          <a:ln w="10160">
            <a:solidFill>
              <a:srgbClr val="DCE3EB"/>
            </a:solidFill>
            <a:prstDash val="solid"/>
          </a:ln>
        </p:spPr>
      </p:sp>
      <p:sp>
        <p:nvSpPr>
          <p:cNvPr id="46" name="Text 44"/>
          <p:cNvSpPr txBox="1"/>
          <p:nvPr/>
        </p:nvSpPr>
        <p:spPr>
          <a:xfrm>
            <a:off x="10104120" y="4645152"/>
            <a:ext cx="1234440" cy="228600"/>
          </a:xfrm>
          <a:prstGeom prst="rect">
            <a:avLst/>
          </a:prstGeom>
          <a:noFill/>
          <a:ln/>
        </p:spPr>
        <p:txBody>
          <a:bodyPr wrap="square" lIns="0" tIns="0" rIns="0" bIns="0" rtlCol="0" anchor="ctr">
            <a:normAutofit/>
          </a:bodyPr>
          <a:lstStyle/>
          <a:p>
            <a:pPr algn="ctr" indent="0" marL="0">
              <a:lnSpc>
                <a:spcPct val="95000"/>
              </a:lnSpc>
              <a:buNone/>
            </a:pPr>
            <a:r>
              <a:rPr lang="en-US" sz="1400" b="1" dirty="0">
                <a:solidFill>
                  <a:srgbClr val="12304A"/>
                </a:solidFill>
                <a:latin typeface="Carlito" pitchFamily="34" charset="0"/>
                <a:ea typeface="Carlito" pitchFamily="34" charset="-122"/>
                <a:cs typeface="Carlito" pitchFamily="34" charset="-120"/>
              </a:rPr>
              <a:t>Report</a:t>
            </a:r>
            <a:endParaRPr lang="en-US" sz="1400" dirty="0"/>
          </a:p>
        </p:txBody>
      </p:sp>
      <p:sp>
        <p:nvSpPr>
          <p:cNvPr id="47" name="Text 45"/>
          <p:cNvSpPr txBox="1"/>
          <p:nvPr/>
        </p:nvSpPr>
        <p:spPr>
          <a:xfrm>
            <a:off x="10104120" y="4965192"/>
            <a:ext cx="1234440" cy="256032"/>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5F6F7F"/>
                </a:solidFill>
                <a:latin typeface="Carlito" pitchFamily="34" charset="0"/>
                <a:ea typeface="Carlito" pitchFamily="34" charset="-122"/>
                <a:cs typeface="Carlito" pitchFamily="34" charset="-120"/>
              </a:rPr>
              <a:t>PIR + evidence</a:t>
            </a:r>
            <a:endParaRPr lang="en-US" sz="950" dirty="0"/>
          </a:p>
        </p:txBody>
      </p:sp>
      <p:sp>
        <p:nvSpPr>
          <p:cNvPr id="48" name="Shape 46"/>
          <p:cNvSpPr/>
          <p:nvPr/>
        </p:nvSpPr>
        <p:spPr>
          <a:xfrm>
            <a:off x="685800" y="5779008"/>
            <a:ext cx="10789920" cy="438912"/>
          </a:xfrm>
          <a:prstGeom prst="roundRect">
            <a:avLst>
              <a:gd name="adj" fmla="val 16667"/>
            </a:avLst>
          </a:prstGeom>
          <a:solidFill>
            <a:srgbClr val="FFF5E6"/>
          </a:solidFill>
          <a:ln w="10160">
            <a:solidFill>
              <a:srgbClr val="FFF5E6"/>
            </a:solidFill>
            <a:prstDash val="solid"/>
          </a:ln>
        </p:spPr>
      </p:sp>
      <p:sp>
        <p:nvSpPr>
          <p:cNvPr id="49" name="Text 47"/>
          <p:cNvSpPr txBox="1"/>
          <p:nvPr/>
        </p:nvSpPr>
        <p:spPr>
          <a:xfrm>
            <a:off x="832104" y="5852160"/>
            <a:ext cx="10497312" cy="29260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A successful lab is not only “the command worked.” It is a verified change with a clear explanation, before/after evidence and a safe rollback or cleanup.</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GCP FOUNDATIONS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Google Cloud resource hierarchy and geography</a:t>
            </a:r>
            <a:endParaRPr lang="en-US" sz="2500" dirty="0"/>
          </a:p>
        </p:txBody>
      </p:sp>
      <p:sp>
        <p:nvSpPr>
          <p:cNvPr id="4" name="Text 2"/>
          <p:cNvSpPr txBox="1"/>
          <p:nvPr/>
        </p:nvSpPr>
        <p:spPr>
          <a:xfrm>
            <a:off x="548640" y="1179576"/>
            <a:ext cx="10972800" cy="347472"/>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5F6F7F"/>
                </a:solidFill>
                <a:latin typeface="Carlito" pitchFamily="34" charset="0"/>
                <a:ea typeface="Carlito" pitchFamily="34" charset="-122"/>
                <a:cs typeface="Carlito" pitchFamily="34" charset="-120"/>
              </a:rPr>
              <a:t>Two separate ideas: the resource hierarchy controls organization and policy inheritance; regions and zones describe where workloads run.</a:t>
            </a:r>
            <a:endParaRPr lang="en-US" sz="1150" dirty="0"/>
          </a:p>
        </p:txBody>
      </p:sp>
      <p:sp>
        <p:nvSpPr>
          <p:cNvPr id="5" name="Shape 3"/>
          <p:cNvSpPr/>
          <p:nvPr/>
        </p:nvSpPr>
        <p:spPr>
          <a:xfrm>
            <a:off x="822960" y="1828800"/>
            <a:ext cx="2331720" cy="731520"/>
          </a:xfrm>
          <a:prstGeom prst="roundRect">
            <a:avLst>
              <a:gd name="adj" fmla="val 10000"/>
            </a:avLst>
          </a:prstGeom>
          <a:solidFill>
            <a:srgbClr val="EAF3FC"/>
          </a:solidFill>
          <a:ln w="10160">
            <a:solidFill>
              <a:srgbClr val="DCE3EB"/>
            </a:solidFill>
            <a:prstDash val="solid"/>
          </a:ln>
        </p:spPr>
      </p:sp>
      <p:sp>
        <p:nvSpPr>
          <p:cNvPr id="6" name="Text 4"/>
          <p:cNvSpPr txBox="1"/>
          <p:nvPr/>
        </p:nvSpPr>
        <p:spPr>
          <a:xfrm>
            <a:off x="932688" y="1938528"/>
            <a:ext cx="2112264"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2878C8"/>
                </a:solidFill>
                <a:latin typeface="Carlito" pitchFamily="34" charset="0"/>
                <a:ea typeface="Carlito" pitchFamily="34" charset="-122"/>
                <a:cs typeface="Carlito" pitchFamily="34" charset="-120"/>
              </a:rPr>
              <a:t>ORGANIZATION</a:t>
            </a:r>
            <a:endParaRPr lang="en-US" sz="1100" dirty="0"/>
          </a:p>
        </p:txBody>
      </p:sp>
      <p:sp>
        <p:nvSpPr>
          <p:cNvPr id="7" name="Text 5"/>
          <p:cNvSpPr txBox="1"/>
          <p:nvPr/>
        </p:nvSpPr>
        <p:spPr>
          <a:xfrm>
            <a:off x="932688" y="2194560"/>
            <a:ext cx="2112264" cy="201168"/>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Company-wide root</a:t>
            </a:r>
            <a:endParaRPr lang="en-US" sz="950" dirty="0"/>
          </a:p>
        </p:txBody>
      </p:sp>
      <p:sp>
        <p:nvSpPr>
          <p:cNvPr id="8" name="Shape 6"/>
          <p:cNvSpPr/>
          <p:nvPr/>
        </p:nvSpPr>
        <p:spPr>
          <a:xfrm>
            <a:off x="3611880" y="2057400"/>
            <a:ext cx="2103120" cy="731520"/>
          </a:xfrm>
          <a:prstGeom prst="roundRect">
            <a:avLst>
              <a:gd name="adj" fmla="val 10000"/>
            </a:avLst>
          </a:prstGeom>
          <a:solidFill>
            <a:srgbClr val="EAF4F2"/>
          </a:solidFill>
          <a:ln w="10160">
            <a:solidFill>
              <a:srgbClr val="DCE3EB"/>
            </a:solidFill>
            <a:prstDash val="solid"/>
          </a:ln>
        </p:spPr>
      </p:sp>
      <p:sp>
        <p:nvSpPr>
          <p:cNvPr id="9" name="Text 7"/>
          <p:cNvSpPr txBox="1"/>
          <p:nvPr/>
        </p:nvSpPr>
        <p:spPr>
          <a:xfrm>
            <a:off x="3721608" y="2167128"/>
            <a:ext cx="1883664"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0D9488"/>
                </a:solidFill>
                <a:latin typeface="Carlito" pitchFamily="34" charset="0"/>
                <a:ea typeface="Carlito" pitchFamily="34" charset="-122"/>
                <a:cs typeface="Carlito" pitchFamily="34" charset="-120"/>
              </a:rPr>
              <a:t>FOLDERS</a:t>
            </a:r>
            <a:endParaRPr lang="en-US" sz="1100" dirty="0"/>
          </a:p>
        </p:txBody>
      </p:sp>
      <p:sp>
        <p:nvSpPr>
          <p:cNvPr id="10" name="Text 8"/>
          <p:cNvSpPr txBox="1"/>
          <p:nvPr/>
        </p:nvSpPr>
        <p:spPr>
          <a:xfrm>
            <a:off x="3721608" y="2423160"/>
            <a:ext cx="1883664" cy="201168"/>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Business units / environments</a:t>
            </a:r>
            <a:endParaRPr lang="en-US" sz="950" dirty="0"/>
          </a:p>
        </p:txBody>
      </p:sp>
      <p:sp>
        <p:nvSpPr>
          <p:cNvPr id="11" name="Shape 9"/>
          <p:cNvSpPr/>
          <p:nvPr/>
        </p:nvSpPr>
        <p:spPr>
          <a:xfrm>
            <a:off x="6400800" y="2286000"/>
            <a:ext cx="1874520" cy="731520"/>
          </a:xfrm>
          <a:prstGeom prst="roundRect">
            <a:avLst>
              <a:gd name="adj" fmla="val 10000"/>
            </a:avLst>
          </a:prstGeom>
          <a:solidFill>
            <a:srgbClr val="F0ECF9"/>
          </a:solidFill>
          <a:ln w="10160">
            <a:solidFill>
              <a:srgbClr val="DCE3EB"/>
            </a:solidFill>
            <a:prstDash val="solid"/>
          </a:ln>
        </p:spPr>
      </p:sp>
      <p:sp>
        <p:nvSpPr>
          <p:cNvPr id="12" name="Text 10"/>
          <p:cNvSpPr txBox="1"/>
          <p:nvPr/>
        </p:nvSpPr>
        <p:spPr>
          <a:xfrm>
            <a:off x="6510528" y="2395728"/>
            <a:ext cx="1655064"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7654B8"/>
                </a:solidFill>
                <a:latin typeface="Carlito" pitchFamily="34" charset="0"/>
                <a:ea typeface="Carlito" pitchFamily="34" charset="-122"/>
                <a:cs typeface="Carlito" pitchFamily="34" charset="-120"/>
              </a:rPr>
              <a:t>PROJECT</a:t>
            </a:r>
            <a:endParaRPr lang="en-US" sz="1100" dirty="0"/>
          </a:p>
        </p:txBody>
      </p:sp>
      <p:sp>
        <p:nvSpPr>
          <p:cNvPr id="13" name="Text 11"/>
          <p:cNvSpPr txBox="1"/>
          <p:nvPr/>
        </p:nvSpPr>
        <p:spPr>
          <a:xfrm>
            <a:off x="6510528" y="2651760"/>
            <a:ext cx="1655064" cy="201168"/>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Billing, APIs, IAM and quota boundary</a:t>
            </a:r>
            <a:endParaRPr lang="en-US" sz="950" dirty="0"/>
          </a:p>
        </p:txBody>
      </p:sp>
      <p:sp>
        <p:nvSpPr>
          <p:cNvPr id="14" name="Shape 12"/>
          <p:cNvSpPr/>
          <p:nvPr/>
        </p:nvSpPr>
        <p:spPr>
          <a:xfrm>
            <a:off x="9189720" y="2514600"/>
            <a:ext cx="1645920" cy="731520"/>
          </a:xfrm>
          <a:prstGeom prst="roundRect">
            <a:avLst>
              <a:gd name="adj" fmla="val 10000"/>
            </a:avLst>
          </a:prstGeom>
          <a:solidFill>
            <a:srgbClr val="FFF3E3"/>
          </a:solidFill>
          <a:ln w="10160">
            <a:solidFill>
              <a:srgbClr val="DCE3EB"/>
            </a:solidFill>
            <a:prstDash val="solid"/>
          </a:ln>
        </p:spPr>
      </p:sp>
      <p:sp>
        <p:nvSpPr>
          <p:cNvPr id="15" name="Text 13"/>
          <p:cNvSpPr txBox="1"/>
          <p:nvPr/>
        </p:nvSpPr>
        <p:spPr>
          <a:xfrm>
            <a:off x="9299448" y="2624328"/>
            <a:ext cx="1426464"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D97706"/>
                </a:solidFill>
                <a:latin typeface="Carlito" pitchFamily="34" charset="0"/>
                <a:ea typeface="Carlito" pitchFamily="34" charset="-122"/>
                <a:cs typeface="Carlito" pitchFamily="34" charset="-120"/>
              </a:rPr>
              <a:t>RESOURCES</a:t>
            </a:r>
            <a:endParaRPr lang="en-US" sz="1100" dirty="0"/>
          </a:p>
        </p:txBody>
      </p:sp>
      <p:sp>
        <p:nvSpPr>
          <p:cNvPr id="16" name="Text 14"/>
          <p:cNvSpPr txBox="1"/>
          <p:nvPr/>
        </p:nvSpPr>
        <p:spPr>
          <a:xfrm>
            <a:off x="9299448" y="2880360"/>
            <a:ext cx="1426464" cy="201168"/>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VMs, disks, buckets, networks, keys</a:t>
            </a:r>
            <a:endParaRPr lang="en-US" sz="950" dirty="0"/>
          </a:p>
        </p:txBody>
      </p:sp>
      <p:sp>
        <p:nvSpPr>
          <p:cNvPr id="17" name="Text 15"/>
          <p:cNvSpPr txBox="1"/>
          <p:nvPr/>
        </p:nvSpPr>
        <p:spPr>
          <a:xfrm>
            <a:off x="822960" y="3931920"/>
            <a:ext cx="2011680" cy="201168"/>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2878C8"/>
                </a:solidFill>
                <a:latin typeface="Carlito" pitchFamily="34" charset="0"/>
                <a:ea typeface="Carlito" pitchFamily="34" charset="-122"/>
                <a:cs typeface="Carlito" pitchFamily="34" charset="-120"/>
              </a:rPr>
              <a:t>GEOGRAPHY</a:t>
            </a:r>
            <a:endParaRPr lang="en-US" sz="1000" dirty="0"/>
          </a:p>
        </p:txBody>
      </p:sp>
      <p:sp>
        <p:nvSpPr>
          <p:cNvPr id="18" name="Shape 16"/>
          <p:cNvSpPr/>
          <p:nvPr/>
        </p:nvSpPr>
        <p:spPr>
          <a:xfrm>
            <a:off x="822960" y="4297680"/>
            <a:ext cx="3383280" cy="1143000"/>
          </a:xfrm>
          <a:prstGeom prst="roundRect">
            <a:avLst>
              <a:gd name="adj" fmla="val 6400"/>
            </a:avLst>
          </a:prstGeom>
          <a:solidFill>
            <a:srgbClr val="FFFFFF"/>
          </a:solidFill>
          <a:ln w="10160">
            <a:solidFill>
              <a:srgbClr val="DCE3EB"/>
            </a:solidFill>
            <a:prstDash val="solid"/>
          </a:ln>
        </p:spPr>
      </p:sp>
      <p:sp>
        <p:nvSpPr>
          <p:cNvPr id="19" name="Shape 17"/>
          <p:cNvSpPr/>
          <p:nvPr/>
        </p:nvSpPr>
        <p:spPr>
          <a:xfrm>
            <a:off x="822960" y="4297680"/>
            <a:ext cx="73152" cy="1143000"/>
          </a:xfrm>
          <a:prstGeom prst="rect">
            <a:avLst>
              <a:gd name="adj" fmla="val 100000"/>
            </a:avLst>
          </a:prstGeom>
          <a:solidFill>
            <a:srgbClr val="2878C8"/>
          </a:solidFill>
          <a:ln w="10160">
            <a:solidFill>
              <a:srgbClr val="2878C8"/>
            </a:solidFill>
            <a:prstDash val="solid"/>
          </a:ln>
        </p:spPr>
      </p:sp>
      <p:sp>
        <p:nvSpPr>
          <p:cNvPr id="20" name="Text 18"/>
          <p:cNvSpPr txBox="1"/>
          <p:nvPr/>
        </p:nvSpPr>
        <p:spPr>
          <a:xfrm>
            <a:off x="1024128" y="4425696"/>
            <a:ext cx="303580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Region</a:t>
            </a:r>
            <a:endParaRPr lang="en-US" sz="1300" dirty="0"/>
          </a:p>
        </p:txBody>
      </p:sp>
      <p:sp>
        <p:nvSpPr>
          <p:cNvPr id="21" name="Text 19"/>
          <p:cNvSpPr txBox="1"/>
          <p:nvPr/>
        </p:nvSpPr>
        <p:spPr>
          <a:xfrm>
            <a:off x="1024128" y="4773168"/>
            <a:ext cx="2999232" cy="55778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A geographic area with multiple zones, such as us-central1 or asia-south1.</a:t>
            </a:r>
            <a:endParaRPr lang="en-US" sz="1050" dirty="0"/>
          </a:p>
        </p:txBody>
      </p:sp>
      <p:sp>
        <p:nvSpPr>
          <p:cNvPr id="22" name="Shape 20"/>
          <p:cNvSpPr/>
          <p:nvPr/>
        </p:nvSpPr>
        <p:spPr>
          <a:xfrm>
            <a:off x="4434840" y="4297680"/>
            <a:ext cx="3383280" cy="1143000"/>
          </a:xfrm>
          <a:prstGeom prst="roundRect">
            <a:avLst>
              <a:gd name="adj" fmla="val 6400"/>
            </a:avLst>
          </a:prstGeom>
          <a:solidFill>
            <a:srgbClr val="FFFFFF"/>
          </a:solidFill>
          <a:ln w="10160">
            <a:solidFill>
              <a:srgbClr val="DCE3EB"/>
            </a:solidFill>
            <a:prstDash val="solid"/>
          </a:ln>
        </p:spPr>
      </p:sp>
      <p:sp>
        <p:nvSpPr>
          <p:cNvPr id="23" name="Shape 21"/>
          <p:cNvSpPr/>
          <p:nvPr/>
        </p:nvSpPr>
        <p:spPr>
          <a:xfrm>
            <a:off x="4434840" y="4297680"/>
            <a:ext cx="73152" cy="1143000"/>
          </a:xfrm>
          <a:prstGeom prst="rect">
            <a:avLst>
              <a:gd name="adj" fmla="val 100000"/>
            </a:avLst>
          </a:prstGeom>
          <a:solidFill>
            <a:srgbClr val="0D9488"/>
          </a:solidFill>
          <a:ln w="10160">
            <a:solidFill>
              <a:srgbClr val="0D9488"/>
            </a:solidFill>
            <a:prstDash val="solid"/>
          </a:ln>
        </p:spPr>
      </p:sp>
      <p:sp>
        <p:nvSpPr>
          <p:cNvPr id="24" name="Text 22"/>
          <p:cNvSpPr txBox="1"/>
          <p:nvPr/>
        </p:nvSpPr>
        <p:spPr>
          <a:xfrm>
            <a:off x="4636008" y="4425696"/>
            <a:ext cx="303580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Zone</a:t>
            </a:r>
            <a:endParaRPr lang="en-US" sz="1300" dirty="0"/>
          </a:p>
        </p:txBody>
      </p:sp>
      <p:sp>
        <p:nvSpPr>
          <p:cNvPr id="25" name="Text 23"/>
          <p:cNvSpPr txBox="1"/>
          <p:nvPr/>
        </p:nvSpPr>
        <p:spPr>
          <a:xfrm>
            <a:off x="4636008" y="4773168"/>
            <a:ext cx="2999232" cy="55778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A deployment area within a region, such as us-central1-a. Zonal resources depend on that zone.</a:t>
            </a:r>
            <a:endParaRPr lang="en-US" sz="1050" dirty="0"/>
          </a:p>
        </p:txBody>
      </p:sp>
      <p:sp>
        <p:nvSpPr>
          <p:cNvPr id="26" name="Shape 24"/>
          <p:cNvSpPr/>
          <p:nvPr/>
        </p:nvSpPr>
        <p:spPr>
          <a:xfrm>
            <a:off x="8046720" y="4297680"/>
            <a:ext cx="3383280" cy="1143000"/>
          </a:xfrm>
          <a:prstGeom prst="roundRect">
            <a:avLst>
              <a:gd name="adj" fmla="val 6400"/>
            </a:avLst>
          </a:prstGeom>
          <a:solidFill>
            <a:srgbClr val="FFFFFF"/>
          </a:solidFill>
          <a:ln w="10160">
            <a:solidFill>
              <a:srgbClr val="DCE3EB"/>
            </a:solidFill>
            <a:prstDash val="solid"/>
          </a:ln>
        </p:spPr>
      </p:sp>
      <p:sp>
        <p:nvSpPr>
          <p:cNvPr id="27" name="Shape 25"/>
          <p:cNvSpPr/>
          <p:nvPr/>
        </p:nvSpPr>
        <p:spPr>
          <a:xfrm>
            <a:off x="8046720" y="4297680"/>
            <a:ext cx="73152" cy="1143000"/>
          </a:xfrm>
          <a:prstGeom prst="rect">
            <a:avLst>
              <a:gd name="adj" fmla="val 100000"/>
            </a:avLst>
          </a:prstGeom>
          <a:solidFill>
            <a:srgbClr val="7654B8"/>
          </a:solidFill>
          <a:ln w="10160">
            <a:solidFill>
              <a:srgbClr val="7654B8"/>
            </a:solidFill>
            <a:prstDash val="solid"/>
          </a:ln>
        </p:spPr>
      </p:sp>
      <p:sp>
        <p:nvSpPr>
          <p:cNvPr id="28" name="Text 26"/>
          <p:cNvSpPr txBox="1"/>
          <p:nvPr/>
        </p:nvSpPr>
        <p:spPr>
          <a:xfrm>
            <a:off x="8247888" y="4425696"/>
            <a:ext cx="303580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Why it matters</a:t>
            </a:r>
            <a:endParaRPr lang="en-US" sz="1300" dirty="0"/>
          </a:p>
        </p:txBody>
      </p:sp>
      <p:sp>
        <p:nvSpPr>
          <p:cNvPr id="29" name="Text 27"/>
          <p:cNvSpPr txBox="1"/>
          <p:nvPr/>
        </p:nvSpPr>
        <p:spPr>
          <a:xfrm>
            <a:off x="8247888" y="4773168"/>
            <a:ext cx="2999232" cy="55778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The lab VM and zonal MIG live in a zone; Cloud NAT and the subnet are regional.</a:t>
            </a:r>
            <a:endParaRPr lang="en-US" sz="105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FOUNDATIONS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Management hierarchy: Azure vs AWS vs Google Cloud</a:t>
            </a:r>
            <a:endParaRPr lang="en-US" sz="2500" dirty="0"/>
          </a:p>
        </p:txBody>
      </p:sp>
      <p:sp>
        <p:nvSpPr>
          <p:cNvPr id="4" name="Shape 2"/>
          <p:cNvSpPr/>
          <p:nvPr/>
        </p:nvSpPr>
        <p:spPr>
          <a:xfrm>
            <a:off x="594360" y="1600200"/>
            <a:ext cx="2414016" cy="384048"/>
          </a:xfrm>
          <a:prstGeom prst="rect">
            <a:avLst/>
          </a:prstGeom>
          <a:solidFill>
            <a:srgbClr val="12304A"/>
          </a:solidFill>
          <a:ln w="6350">
            <a:solidFill>
              <a:srgbClr val="D5DEE8"/>
            </a:solidFill>
            <a:prstDash val="solid"/>
          </a:ln>
        </p:spPr>
      </p:sp>
      <p:sp>
        <p:nvSpPr>
          <p:cNvPr id="5" name="Text 3"/>
          <p:cNvSpPr txBox="1"/>
          <p:nvPr/>
        </p:nvSpPr>
        <p:spPr>
          <a:xfrm>
            <a:off x="658368" y="1636776"/>
            <a:ext cx="2286000" cy="310896"/>
          </a:xfrm>
          <a:prstGeom prst="rect">
            <a:avLst/>
          </a:prstGeom>
          <a:noFill/>
          <a:ln/>
        </p:spPr>
        <p:txBody>
          <a:bodyPr wrap="square" lIns="0" tIns="0" rIns="0" bIns="0" rtlCol="0" anchor="ctr">
            <a:normAutofit/>
          </a:bodyPr>
          <a:lstStyle/>
          <a:p>
            <a:pPr algn="l" indent="0" marL="0">
              <a:lnSpc>
                <a:spcPct val="95000"/>
              </a:lnSpc>
              <a:buNone/>
            </a:pPr>
            <a:r>
              <a:rPr lang="en-US" sz="1020" b="1" dirty="0">
                <a:solidFill>
                  <a:srgbClr val="FFFFFF"/>
                </a:solidFill>
                <a:latin typeface="Carlito" pitchFamily="34" charset="0"/>
                <a:ea typeface="Carlito" pitchFamily="34" charset="-122"/>
                <a:cs typeface="Carlito" pitchFamily="34" charset="-120"/>
              </a:rPr>
              <a:t>CONCEPT</a:t>
            </a:r>
            <a:endParaRPr lang="en-US" sz="1020" dirty="0"/>
          </a:p>
        </p:txBody>
      </p:sp>
      <p:sp>
        <p:nvSpPr>
          <p:cNvPr id="6" name="Shape 4"/>
          <p:cNvSpPr/>
          <p:nvPr/>
        </p:nvSpPr>
        <p:spPr>
          <a:xfrm>
            <a:off x="3008376" y="1600200"/>
            <a:ext cx="2852928" cy="384048"/>
          </a:xfrm>
          <a:prstGeom prst="rect">
            <a:avLst/>
          </a:prstGeom>
          <a:solidFill>
            <a:srgbClr val="12304A"/>
          </a:solidFill>
          <a:ln w="6350">
            <a:solidFill>
              <a:srgbClr val="D5DEE8"/>
            </a:solidFill>
            <a:prstDash val="solid"/>
          </a:ln>
        </p:spPr>
      </p:sp>
      <p:sp>
        <p:nvSpPr>
          <p:cNvPr id="7" name="Text 5"/>
          <p:cNvSpPr txBox="1"/>
          <p:nvPr/>
        </p:nvSpPr>
        <p:spPr>
          <a:xfrm>
            <a:off x="3072384" y="1636776"/>
            <a:ext cx="2724912" cy="310896"/>
          </a:xfrm>
          <a:prstGeom prst="rect">
            <a:avLst/>
          </a:prstGeom>
          <a:noFill/>
          <a:ln/>
        </p:spPr>
        <p:txBody>
          <a:bodyPr wrap="square" lIns="0" tIns="0" rIns="0" bIns="0" rtlCol="0" anchor="ctr">
            <a:normAutofit/>
          </a:bodyPr>
          <a:lstStyle/>
          <a:p>
            <a:pPr algn="l" indent="0" marL="0">
              <a:lnSpc>
                <a:spcPct val="95000"/>
              </a:lnSpc>
              <a:buNone/>
            </a:pPr>
            <a:r>
              <a:rPr lang="en-US" sz="1020" b="1" dirty="0">
                <a:solidFill>
                  <a:srgbClr val="FFFFFF"/>
                </a:solidFill>
                <a:latin typeface="Carlito" pitchFamily="34" charset="0"/>
                <a:ea typeface="Carlito" pitchFamily="34" charset="-122"/>
                <a:cs typeface="Carlito" pitchFamily="34" charset="-120"/>
              </a:rPr>
              <a:t>AZURE</a:t>
            </a:r>
            <a:endParaRPr lang="en-US" sz="1020" dirty="0"/>
          </a:p>
        </p:txBody>
      </p:sp>
      <p:sp>
        <p:nvSpPr>
          <p:cNvPr id="8" name="Shape 6"/>
          <p:cNvSpPr/>
          <p:nvPr/>
        </p:nvSpPr>
        <p:spPr>
          <a:xfrm>
            <a:off x="5861304" y="1600200"/>
            <a:ext cx="2852928" cy="384048"/>
          </a:xfrm>
          <a:prstGeom prst="rect">
            <a:avLst/>
          </a:prstGeom>
          <a:solidFill>
            <a:srgbClr val="12304A"/>
          </a:solidFill>
          <a:ln w="6350">
            <a:solidFill>
              <a:srgbClr val="D5DEE8"/>
            </a:solidFill>
            <a:prstDash val="solid"/>
          </a:ln>
        </p:spPr>
      </p:sp>
      <p:sp>
        <p:nvSpPr>
          <p:cNvPr id="9" name="Text 7"/>
          <p:cNvSpPr txBox="1"/>
          <p:nvPr/>
        </p:nvSpPr>
        <p:spPr>
          <a:xfrm>
            <a:off x="5925312" y="1636776"/>
            <a:ext cx="2724912" cy="310896"/>
          </a:xfrm>
          <a:prstGeom prst="rect">
            <a:avLst/>
          </a:prstGeom>
          <a:noFill/>
          <a:ln/>
        </p:spPr>
        <p:txBody>
          <a:bodyPr wrap="square" lIns="0" tIns="0" rIns="0" bIns="0" rtlCol="0" anchor="ctr">
            <a:normAutofit/>
          </a:bodyPr>
          <a:lstStyle/>
          <a:p>
            <a:pPr algn="l" indent="0" marL="0">
              <a:lnSpc>
                <a:spcPct val="95000"/>
              </a:lnSpc>
              <a:buNone/>
            </a:pPr>
            <a:r>
              <a:rPr lang="en-US" sz="1020" b="1" dirty="0">
                <a:solidFill>
                  <a:srgbClr val="FFFFFF"/>
                </a:solidFill>
                <a:latin typeface="Carlito" pitchFamily="34" charset="0"/>
                <a:ea typeface="Carlito" pitchFamily="34" charset="-122"/>
                <a:cs typeface="Carlito" pitchFamily="34" charset="-120"/>
              </a:rPr>
              <a:t>AWS</a:t>
            </a:r>
            <a:endParaRPr lang="en-US" sz="1020" dirty="0"/>
          </a:p>
        </p:txBody>
      </p:sp>
      <p:sp>
        <p:nvSpPr>
          <p:cNvPr id="10" name="Shape 8"/>
          <p:cNvSpPr/>
          <p:nvPr/>
        </p:nvSpPr>
        <p:spPr>
          <a:xfrm>
            <a:off x="8714232" y="1600200"/>
            <a:ext cx="2852928" cy="384048"/>
          </a:xfrm>
          <a:prstGeom prst="rect">
            <a:avLst/>
          </a:prstGeom>
          <a:solidFill>
            <a:srgbClr val="12304A"/>
          </a:solidFill>
          <a:ln w="6350">
            <a:solidFill>
              <a:srgbClr val="D5DEE8"/>
            </a:solidFill>
            <a:prstDash val="solid"/>
          </a:ln>
        </p:spPr>
      </p:sp>
      <p:sp>
        <p:nvSpPr>
          <p:cNvPr id="11" name="Text 9"/>
          <p:cNvSpPr txBox="1"/>
          <p:nvPr/>
        </p:nvSpPr>
        <p:spPr>
          <a:xfrm>
            <a:off x="8778240" y="1636776"/>
            <a:ext cx="2724912" cy="310896"/>
          </a:xfrm>
          <a:prstGeom prst="rect">
            <a:avLst/>
          </a:prstGeom>
          <a:noFill/>
          <a:ln/>
        </p:spPr>
        <p:txBody>
          <a:bodyPr wrap="square" lIns="0" tIns="0" rIns="0" bIns="0" rtlCol="0" anchor="ctr">
            <a:normAutofit/>
          </a:bodyPr>
          <a:lstStyle/>
          <a:p>
            <a:pPr algn="l" indent="0" marL="0">
              <a:lnSpc>
                <a:spcPct val="95000"/>
              </a:lnSpc>
              <a:buNone/>
            </a:pPr>
            <a:r>
              <a:rPr lang="en-US" sz="1020" b="1" dirty="0">
                <a:solidFill>
                  <a:srgbClr val="FFFFFF"/>
                </a:solidFill>
                <a:latin typeface="Carlito" pitchFamily="34" charset="0"/>
                <a:ea typeface="Carlito" pitchFamily="34" charset="-122"/>
                <a:cs typeface="Carlito" pitchFamily="34" charset="-120"/>
              </a:rPr>
              <a:t>GOOGLE CLOUD</a:t>
            </a:r>
            <a:endParaRPr lang="en-US" sz="1020" dirty="0"/>
          </a:p>
        </p:txBody>
      </p:sp>
      <p:sp>
        <p:nvSpPr>
          <p:cNvPr id="12" name="Shape 10"/>
          <p:cNvSpPr/>
          <p:nvPr/>
        </p:nvSpPr>
        <p:spPr>
          <a:xfrm>
            <a:off x="594360" y="1984248"/>
            <a:ext cx="2414016" cy="737006"/>
          </a:xfrm>
          <a:prstGeom prst="rect">
            <a:avLst/>
          </a:prstGeom>
          <a:solidFill>
            <a:srgbClr val="FFFFFF"/>
          </a:solidFill>
          <a:ln w="6350">
            <a:solidFill>
              <a:srgbClr val="D5DEE8"/>
            </a:solidFill>
            <a:prstDash val="solid"/>
          </a:ln>
        </p:spPr>
      </p:sp>
      <p:sp>
        <p:nvSpPr>
          <p:cNvPr id="13" name="Text 11"/>
          <p:cNvSpPr txBox="1"/>
          <p:nvPr/>
        </p:nvSpPr>
        <p:spPr>
          <a:xfrm>
            <a:off x="658368" y="2020824"/>
            <a:ext cx="2286000"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Top-level boundary</a:t>
            </a:r>
            <a:endParaRPr lang="en-US" sz="1010" dirty="0"/>
          </a:p>
        </p:txBody>
      </p:sp>
      <p:sp>
        <p:nvSpPr>
          <p:cNvPr id="14" name="Shape 12"/>
          <p:cNvSpPr/>
          <p:nvPr/>
        </p:nvSpPr>
        <p:spPr>
          <a:xfrm>
            <a:off x="3008376" y="1984248"/>
            <a:ext cx="2852928" cy="737006"/>
          </a:xfrm>
          <a:prstGeom prst="rect">
            <a:avLst/>
          </a:prstGeom>
          <a:solidFill>
            <a:srgbClr val="FFFFFF"/>
          </a:solidFill>
          <a:ln w="6350">
            <a:solidFill>
              <a:srgbClr val="D5DEE8"/>
            </a:solidFill>
            <a:prstDash val="solid"/>
          </a:ln>
        </p:spPr>
      </p:sp>
      <p:sp>
        <p:nvSpPr>
          <p:cNvPr id="15" name="Text 13"/>
          <p:cNvSpPr txBox="1"/>
          <p:nvPr/>
        </p:nvSpPr>
        <p:spPr>
          <a:xfrm>
            <a:off x="3072384" y="2020824"/>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Microsoft Entra tenant</a:t>
            </a:r>
            <a:endParaRPr lang="en-US" sz="1010" dirty="0"/>
          </a:p>
        </p:txBody>
      </p:sp>
      <p:sp>
        <p:nvSpPr>
          <p:cNvPr id="16" name="Shape 14"/>
          <p:cNvSpPr/>
          <p:nvPr/>
        </p:nvSpPr>
        <p:spPr>
          <a:xfrm>
            <a:off x="5861304" y="1984248"/>
            <a:ext cx="2852928" cy="737006"/>
          </a:xfrm>
          <a:prstGeom prst="rect">
            <a:avLst/>
          </a:prstGeom>
          <a:solidFill>
            <a:srgbClr val="FFFFFF"/>
          </a:solidFill>
          <a:ln w="6350">
            <a:solidFill>
              <a:srgbClr val="D5DEE8"/>
            </a:solidFill>
            <a:prstDash val="solid"/>
          </a:ln>
        </p:spPr>
      </p:sp>
      <p:sp>
        <p:nvSpPr>
          <p:cNvPr id="17" name="Text 15"/>
          <p:cNvSpPr txBox="1"/>
          <p:nvPr/>
        </p:nvSpPr>
        <p:spPr>
          <a:xfrm>
            <a:off x="5925312" y="2020824"/>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AWS Organization</a:t>
            </a:r>
            <a:endParaRPr lang="en-US" sz="1010" dirty="0"/>
          </a:p>
        </p:txBody>
      </p:sp>
      <p:sp>
        <p:nvSpPr>
          <p:cNvPr id="18" name="Shape 16"/>
          <p:cNvSpPr/>
          <p:nvPr/>
        </p:nvSpPr>
        <p:spPr>
          <a:xfrm>
            <a:off x="8714232" y="1984248"/>
            <a:ext cx="2852928" cy="737006"/>
          </a:xfrm>
          <a:prstGeom prst="rect">
            <a:avLst/>
          </a:prstGeom>
          <a:solidFill>
            <a:srgbClr val="FFFFFF"/>
          </a:solidFill>
          <a:ln w="6350">
            <a:solidFill>
              <a:srgbClr val="D5DEE8"/>
            </a:solidFill>
            <a:prstDash val="solid"/>
          </a:ln>
        </p:spPr>
      </p:sp>
      <p:sp>
        <p:nvSpPr>
          <p:cNvPr id="19" name="Text 17"/>
          <p:cNvSpPr txBox="1"/>
          <p:nvPr/>
        </p:nvSpPr>
        <p:spPr>
          <a:xfrm>
            <a:off x="8778240" y="2020824"/>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Organization</a:t>
            </a:r>
            <a:endParaRPr lang="en-US" sz="1010" dirty="0"/>
          </a:p>
        </p:txBody>
      </p:sp>
      <p:sp>
        <p:nvSpPr>
          <p:cNvPr id="20" name="Shape 18"/>
          <p:cNvSpPr/>
          <p:nvPr/>
        </p:nvSpPr>
        <p:spPr>
          <a:xfrm>
            <a:off x="594360" y="2721254"/>
            <a:ext cx="2414016" cy="737006"/>
          </a:xfrm>
          <a:prstGeom prst="rect">
            <a:avLst/>
          </a:prstGeom>
          <a:solidFill>
            <a:srgbClr val="F1F5F9"/>
          </a:solidFill>
          <a:ln w="6350">
            <a:solidFill>
              <a:srgbClr val="D5DEE8"/>
            </a:solidFill>
            <a:prstDash val="solid"/>
          </a:ln>
        </p:spPr>
      </p:sp>
      <p:sp>
        <p:nvSpPr>
          <p:cNvPr id="21" name="Text 19"/>
          <p:cNvSpPr txBox="1"/>
          <p:nvPr/>
        </p:nvSpPr>
        <p:spPr>
          <a:xfrm>
            <a:off x="658368" y="2757830"/>
            <a:ext cx="2286000"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Grouping</a:t>
            </a:r>
            <a:endParaRPr lang="en-US" sz="1010" dirty="0"/>
          </a:p>
        </p:txBody>
      </p:sp>
      <p:sp>
        <p:nvSpPr>
          <p:cNvPr id="22" name="Shape 20"/>
          <p:cNvSpPr/>
          <p:nvPr/>
        </p:nvSpPr>
        <p:spPr>
          <a:xfrm>
            <a:off x="3008376" y="2721254"/>
            <a:ext cx="2852928" cy="737006"/>
          </a:xfrm>
          <a:prstGeom prst="rect">
            <a:avLst/>
          </a:prstGeom>
          <a:solidFill>
            <a:srgbClr val="F1F5F9"/>
          </a:solidFill>
          <a:ln w="6350">
            <a:solidFill>
              <a:srgbClr val="D5DEE8"/>
            </a:solidFill>
            <a:prstDash val="solid"/>
          </a:ln>
        </p:spPr>
      </p:sp>
      <p:sp>
        <p:nvSpPr>
          <p:cNvPr id="23" name="Text 21"/>
          <p:cNvSpPr txBox="1"/>
          <p:nvPr/>
        </p:nvSpPr>
        <p:spPr>
          <a:xfrm>
            <a:off x="3072384" y="2757830"/>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Management groups</a:t>
            </a:r>
            <a:endParaRPr lang="en-US" sz="1010" dirty="0"/>
          </a:p>
        </p:txBody>
      </p:sp>
      <p:sp>
        <p:nvSpPr>
          <p:cNvPr id="24" name="Shape 22"/>
          <p:cNvSpPr/>
          <p:nvPr/>
        </p:nvSpPr>
        <p:spPr>
          <a:xfrm>
            <a:off x="5861304" y="2721254"/>
            <a:ext cx="2852928" cy="737006"/>
          </a:xfrm>
          <a:prstGeom prst="rect">
            <a:avLst/>
          </a:prstGeom>
          <a:solidFill>
            <a:srgbClr val="F1F5F9"/>
          </a:solidFill>
          <a:ln w="6350">
            <a:solidFill>
              <a:srgbClr val="D5DEE8"/>
            </a:solidFill>
            <a:prstDash val="solid"/>
          </a:ln>
        </p:spPr>
      </p:sp>
      <p:sp>
        <p:nvSpPr>
          <p:cNvPr id="25" name="Text 23"/>
          <p:cNvSpPr txBox="1"/>
          <p:nvPr/>
        </p:nvSpPr>
        <p:spPr>
          <a:xfrm>
            <a:off x="5925312" y="2757830"/>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Organizational Units (OUs)</a:t>
            </a:r>
            <a:endParaRPr lang="en-US" sz="1010" dirty="0"/>
          </a:p>
        </p:txBody>
      </p:sp>
      <p:sp>
        <p:nvSpPr>
          <p:cNvPr id="26" name="Shape 24"/>
          <p:cNvSpPr/>
          <p:nvPr/>
        </p:nvSpPr>
        <p:spPr>
          <a:xfrm>
            <a:off x="8714232" y="2721254"/>
            <a:ext cx="2852928" cy="737006"/>
          </a:xfrm>
          <a:prstGeom prst="rect">
            <a:avLst/>
          </a:prstGeom>
          <a:solidFill>
            <a:srgbClr val="F1F5F9"/>
          </a:solidFill>
          <a:ln w="6350">
            <a:solidFill>
              <a:srgbClr val="D5DEE8"/>
            </a:solidFill>
            <a:prstDash val="solid"/>
          </a:ln>
        </p:spPr>
      </p:sp>
      <p:sp>
        <p:nvSpPr>
          <p:cNvPr id="27" name="Text 25"/>
          <p:cNvSpPr txBox="1"/>
          <p:nvPr/>
        </p:nvSpPr>
        <p:spPr>
          <a:xfrm>
            <a:off x="8778240" y="2757830"/>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Folders</a:t>
            </a:r>
            <a:endParaRPr lang="en-US" sz="1010" dirty="0"/>
          </a:p>
        </p:txBody>
      </p:sp>
      <p:sp>
        <p:nvSpPr>
          <p:cNvPr id="28" name="Shape 26"/>
          <p:cNvSpPr/>
          <p:nvPr/>
        </p:nvSpPr>
        <p:spPr>
          <a:xfrm>
            <a:off x="594360" y="3458261"/>
            <a:ext cx="2414016" cy="737006"/>
          </a:xfrm>
          <a:prstGeom prst="rect">
            <a:avLst/>
          </a:prstGeom>
          <a:solidFill>
            <a:srgbClr val="FFFFFF"/>
          </a:solidFill>
          <a:ln w="6350">
            <a:solidFill>
              <a:srgbClr val="D5DEE8"/>
            </a:solidFill>
            <a:prstDash val="solid"/>
          </a:ln>
        </p:spPr>
      </p:sp>
      <p:sp>
        <p:nvSpPr>
          <p:cNvPr id="29" name="Text 27"/>
          <p:cNvSpPr txBox="1"/>
          <p:nvPr/>
        </p:nvSpPr>
        <p:spPr>
          <a:xfrm>
            <a:off x="658368" y="3494837"/>
            <a:ext cx="2286000"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Billing / workload boundary</a:t>
            </a:r>
            <a:endParaRPr lang="en-US" sz="1010" dirty="0"/>
          </a:p>
        </p:txBody>
      </p:sp>
      <p:sp>
        <p:nvSpPr>
          <p:cNvPr id="30" name="Shape 28"/>
          <p:cNvSpPr/>
          <p:nvPr/>
        </p:nvSpPr>
        <p:spPr>
          <a:xfrm>
            <a:off x="3008376" y="3458261"/>
            <a:ext cx="2852928" cy="737006"/>
          </a:xfrm>
          <a:prstGeom prst="rect">
            <a:avLst/>
          </a:prstGeom>
          <a:solidFill>
            <a:srgbClr val="FFFFFF"/>
          </a:solidFill>
          <a:ln w="6350">
            <a:solidFill>
              <a:srgbClr val="D5DEE8"/>
            </a:solidFill>
            <a:prstDash val="solid"/>
          </a:ln>
        </p:spPr>
      </p:sp>
      <p:sp>
        <p:nvSpPr>
          <p:cNvPr id="31" name="Text 29"/>
          <p:cNvSpPr txBox="1"/>
          <p:nvPr/>
        </p:nvSpPr>
        <p:spPr>
          <a:xfrm>
            <a:off x="3072384" y="3494837"/>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Subscription</a:t>
            </a:r>
            <a:endParaRPr lang="en-US" sz="1010" dirty="0"/>
          </a:p>
        </p:txBody>
      </p:sp>
      <p:sp>
        <p:nvSpPr>
          <p:cNvPr id="32" name="Shape 30"/>
          <p:cNvSpPr/>
          <p:nvPr/>
        </p:nvSpPr>
        <p:spPr>
          <a:xfrm>
            <a:off x="5861304" y="3458261"/>
            <a:ext cx="2852928" cy="737006"/>
          </a:xfrm>
          <a:prstGeom prst="rect">
            <a:avLst/>
          </a:prstGeom>
          <a:solidFill>
            <a:srgbClr val="FFFFFF"/>
          </a:solidFill>
          <a:ln w="6350">
            <a:solidFill>
              <a:srgbClr val="D5DEE8"/>
            </a:solidFill>
            <a:prstDash val="solid"/>
          </a:ln>
        </p:spPr>
      </p:sp>
      <p:sp>
        <p:nvSpPr>
          <p:cNvPr id="33" name="Text 31"/>
          <p:cNvSpPr txBox="1"/>
          <p:nvPr/>
        </p:nvSpPr>
        <p:spPr>
          <a:xfrm>
            <a:off x="5925312" y="3494837"/>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AWS account</a:t>
            </a:r>
            <a:endParaRPr lang="en-US" sz="1010" dirty="0"/>
          </a:p>
        </p:txBody>
      </p:sp>
      <p:sp>
        <p:nvSpPr>
          <p:cNvPr id="34" name="Shape 32"/>
          <p:cNvSpPr/>
          <p:nvPr/>
        </p:nvSpPr>
        <p:spPr>
          <a:xfrm>
            <a:off x="8714232" y="3458261"/>
            <a:ext cx="2852928" cy="737006"/>
          </a:xfrm>
          <a:prstGeom prst="rect">
            <a:avLst/>
          </a:prstGeom>
          <a:solidFill>
            <a:srgbClr val="FFFFFF"/>
          </a:solidFill>
          <a:ln w="6350">
            <a:solidFill>
              <a:srgbClr val="D5DEE8"/>
            </a:solidFill>
            <a:prstDash val="solid"/>
          </a:ln>
        </p:spPr>
      </p:sp>
      <p:sp>
        <p:nvSpPr>
          <p:cNvPr id="35" name="Text 33"/>
          <p:cNvSpPr txBox="1"/>
          <p:nvPr/>
        </p:nvSpPr>
        <p:spPr>
          <a:xfrm>
            <a:off x="8778240" y="3494837"/>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Project</a:t>
            </a:r>
            <a:endParaRPr lang="en-US" sz="1010" dirty="0"/>
          </a:p>
        </p:txBody>
      </p:sp>
      <p:sp>
        <p:nvSpPr>
          <p:cNvPr id="36" name="Shape 34"/>
          <p:cNvSpPr/>
          <p:nvPr/>
        </p:nvSpPr>
        <p:spPr>
          <a:xfrm>
            <a:off x="594360" y="4195267"/>
            <a:ext cx="2414016" cy="737006"/>
          </a:xfrm>
          <a:prstGeom prst="rect">
            <a:avLst/>
          </a:prstGeom>
          <a:solidFill>
            <a:srgbClr val="F1F5F9"/>
          </a:solidFill>
          <a:ln w="6350">
            <a:solidFill>
              <a:srgbClr val="D5DEE8"/>
            </a:solidFill>
            <a:prstDash val="solid"/>
          </a:ln>
        </p:spPr>
      </p:sp>
      <p:sp>
        <p:nvSpPr>
          <p:cNvPr id="37" name="Text 35"/>
          <p:cNvSpPr txBox="1"/>
          <p:nvPr/>
        </p:nvSpPr>
        <p:spPr>
          <a:xfrm>
            <a:off x="658368" y="4231843"/>
            <a:ext cx="2286000"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Resource container</a:t>
            </a:r>
            <a:endParaRPr lang="en-US" sz="1010" dirty="0"/>
          </a:p>
        </p:txBody>
      </p:sp>
      <p:sp>
        <p:nvSpPr>
          <p:cNvPr id="38" name="Shape 36"/>
          <p:cNvSpPr/>
          <p:nvPr/>
        </p:nvSpPr>
        <p:spPr>
          <a:xfrm>
            <a:off x="3008376" y="4195267"/>
            <a:ext cx="2852928" cy="737006"/>
          </a:xfrm>
          <a:prstGeom prst="rect">
            <a:avLst/>
          </a:prstGeom>
          <a:solidFill>
            <a:srgbClr val="F1F5F9"/>
          </a:solidFill>
          <a:ln w="6350">
            <a:solidFill>
              <a:srgbClr val="D5DEE8"/>
            </a:solidFill>
            <a:prstDash val="solid"/>
          </a:ln>
        </p:spPr>
      </p:sp>
      <p:sp>
        <p:nvSpPr>
          <p:cNvPr id="39" name="Text 37"/>
          <p:cNvSpPr txBox="1"/>
          <p:nvPr/>
        </p:nvSpPr>
        <p:spPr>
          <a:xfrm>
            <a:off x="3072384" y="4231843"/>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Resource group</a:t>
            </a:r>
            <a:endParaRPr lang="en-US" sz="1010" dirty="0"/>
          </a:p>
        </p:txBody>
      </p:sp>
      <p:sp>
        <p:nvSpPr>
          <p:cNvPr id="40" name="Shape 38"/>
          <p:cNvSpPr/>
          <p:nvPr/>
        </p:nvSpPr>
        <p:spPr>
          <a:xfrm>
            <a:off x="5861304" y="4195267"/>
            <a:ext cx="2852928" cy="737006"/>
          </a:xfrm>
          <a:prstGeom prst="rect">
            <a:avLst/>
          </a:prstGeom>
          <a:solidFill>
            <a:srgbClr val="F1F5F9"/>
          </a:solidFill>
          <a:ln w="6350">
            <a:solidFill>
              <a:srgbClr val="D5DEE8"/>
            </a:solidFill>
            <a:prstDash val="solid"/>
          </a:ln>
        </p:spPr>
      </p:sp>
      <p:sp>
        <p:nvSpPr>
          <p:cNvPr id="41" name="Text 39"/>
          <p:cNvSpPr txBox="1"/>
          <p:nvPr/>
        </p:nvSpPr>
        <p:spPr>
          <a:xfrm>
            <a:off x="5925312" y="4231843"/>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Service resource scope / tags</a:t>
            </a:r>
            <a:endParaRPr lang="en-US" sz="1010" dirty="0"/>
          </a:p>
        </p:txBody>
      </p:sp>
      <p:sp>
        <p:nvSpPr>
          <p:cNvPr id="42" name="Shape 40"/>
          <p:cNvSpPr/>
          <p:nvPr/>
        </p:nvSpPr>
        <p:spPr>
          <a:xfrm>
            <a:off x="8714232" y="4195267"/>
            <a:ext cx="2852928" cy="737006"/>
          </a:xfrm>
          <a:prstGeom prst="rect">
            <a:avLst/>
          </a:prstGeom>
          <a:solidFill>
            <a:srgbClr val="F1F5F9"/>
          </a:solidFill>
          <a:ln w="6350">
            <a:solidFill>
              <a:srgbClr val="D5DEE8"/>
            </a:solidFill>
            <a:prstDash val="solid"/>
          </a:ln>
        </p:spPr>
      </p:sp>
      <p:sp>
        <p:nvSpPr>
          <p:cNvPr id="43" name="Text 41"/>
          <p:cNvSpPr txBox="1"/>
          <p:nvPr/>
        </p:nvSpPr>
        <p:spPr>
          <a:xfrm>
            <a:off x="8778240" y="4231843"/>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Project resources</a:t>
            </a:r>
            <a:endParaRPr lang="en-US" sz="1010" dirty="0"/>
          </a:p>
        </p:txBody>
      </p:sp>
      <p:sp>
        <p:nvSpPr>
          <p:cNvPr id="44" name="Shape 42"/>
          <p:cNvSpPr/>
          <p:nvPr/>
        </p:nvSpPr>
        <p:spPr>
          <a:xfrm>
            <a:off x="594360" y="4932274"/>
            <a:ext cx="2414016" cy="737006"/>
          </a:xfrm>
          <a:prstGeom prst="rect">
            <a:avLst/>
          </a:prstGeom>
          <a:solidFill>
            <a:srgbClr val="FFFFFF"/>
          </a:solidFill>
          <a:ln w="6350">
            <a:solidFill>
              <a:srgbClr val="D5DEE8"/>
            </a:solidFill>
            <a:prstDash val="solid"/>
          </a:ln>
        </p:spPr>
      </p:sp>
      <p:sp>
        <p:nvSpPr>
          <p:cNvPr id="45" name="Text 43"/>
          <p:cNvSpPr txBox="1"/>
          <p:nvPr/>
        </p:nvSpPr>
        <p:spPr>
          <a:xfrm>
            <a:off x="658368" y="4968850"/>
            <a:ext cx="2286000"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Policy / access controls</a:t>
            </a:r>
            <a:endParaRPr lang="en-US" sz="1010" dirty="0"/>
          </a:p>
        </p:txBody>
      </p:sp>
      <p:sp>
        <p:nvSpPr>
          <p:cNvPr id="46" name="Shape 44"/>
          <p:cNvSpPr/>
          <p:nvPr/>
        </p:nvSpPr>
        <p:spPr>
          <a:xfrm>
            <a:off x="3008376" y="4932274"/>
            <a:ext cx="2852928" cy="737006"/>
          </a:xfrm>
          <a:prstGeom prst="rect">
            <a:avLst/>
          </a:prstGeom>
          <a:solidFill>
            <a:srgbClr val="FFFFFF"/>
          </a:solidFill>
          <a:ln w="6350">
            <a:solidFill>
              <a:srgbClr val="D5DEE8"/>
            </a:solidFill>
            <a:prstDash val="solid"/>
          </a:ln>
        </p:spPr>
      </p:sp>
      <p:sp>
        <p:nvSpPr>
          <p:cNvPr id="47" name="Text 45"/>
          <p:cNvSpPr txBox="1"/>
          <p:nvPr/>
        </p:nvSpPr>
        <p:spPr>
          <a:xfrm>
            <a:off x="3072384" y="4968850"/>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Azure Policy + RBAC</a:t>
            </a:r>
            <a:endParaRPr lang="en-US" sz="1010" dirty="0"/>
          </a:p>
        </p:txBody>
      </p:sp>
      <p:sp>
        <p:nvSpPr>
          <p:cNvPr id="48" name="Shape 46"/>
          <p:cNvSpPr/>
          <p:nvPr/>
        </p:nvSpPr>
        <p:spPr>
          <a:xfrm>
            <a:off x="5861304" y="4932274"/>
            <a:ext cx="2852928" cy="737006"/>
          </a:xfrm>
          <a:prstGeom prst="rect">
            <a:avLst/>
          </a:prstGeom>
          <a:solidFill>
            <a:srgbClr val="FFFFFF"/>
          </a:solidFill>
          <a:ln w="6350">
            <a:solidFill>
              <a:srgbClr val="D5DEE8"/>
            </a:solidFill>
            <a:prstDash val="solid"/>
          </a:ln>
        </p:spPr>
      </p:sp>
      <p:sp>
        <p:nvSpPr>
          <p:cNvPr id="49" name="Text 47"/>
          <p:cNvSpPr txBox="1"/>
          <p:nvPr/>
        </p:nvSpPr>
        <p:spPr>
          <a:xfrm>
            <a:off x="5925312" y="4968850"/>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SCP + IAM policies/roles</a:t>
            </a:r>
            <a:endParaRPr lang="en-US" sz="1010" dirty="0"/>
          </a:p>
        </p:txBody>
      </p:sp>
      <p:sp>
        <p:nvSpPr>
          <p:cNvPr id="50" name="Shape 48"/>
          <p:cNvSpPr/>
          <p:nvPr/>
        </p:nvSpPr>
        <p:spPr>
          <a:xfrm>
            <a:off x="8714232" y="4932274"/>
            <a:ext cx="2852928" cy="737006"/>
          </a:xfrm>
          <a:prstGeom prst="rect">
            <a:avLst/>
          </a:prstGeom>
          <a:solidFill>
            <a:srgbClr val="FFFFFF"/>
          </a:solidFill>
          <a:ln w="6350">
            <a:solidFill>
              <a:srgbClr val="D5DEE8"/>
            </a:solidFill>
            <a:prstDash val="solid"/>
          </a:ln>
        </p:spPr>
      </p:sp>
      <p:sp>
        <p:nvSpPr>
          <p:cNvPr id="51" name="Text 49"/>
          <p:cNvSpPr txBox="1"/>
          <p:nvPr/>
        </p:nvSpPr>
        <p:spPr>
          <a:xfrm>
            <a:off x="8778240" y="4968850"/>
            <a:ext cx="2724912" cy="663854"/>
          </a:xfrm>
          <a:prstGeom prst="rect">
            <a:avLst/>
          </a:prstGeom>
          <a:noFill/>
          <a:ln/>
        </p:spPr>
        <p:txBody>
          <a:bodyPr wrap="square" lIns="0" tIns="0" rIns="0" bIns="0" rtlCol="0" anchor="ctr">
            <a:normAutofit/>
          </a:bodyPr>
          <a:lstStyle/>
          <a:p>
            <a:pPr algn="l" indent="0" marL="0">
              <a:lnSpc>
                <a:spcPct val="95000"/>
              </a:lnSpc>
              <a:buNone/>
            </a:pPr>
            <a:r>
              <a:rPr lang="en-US" sz="1010" dirty="0">
                <a:solidFill>
                  <a:srgbClr val="203040"/>
                </a:solidFill>
                <a:latin typeface="Carlito" pitchFamily="34" charset="0"/>
                <a:ea typeface="Carlito" pitchFamily="34" charset="-122"/>
                <a:cs typeface="Carlito" pitchFamily="34" charset="-120"/>
              </a:rPr>
              <a:t>Organization Policy + IAM</a:t>
            </a:r>
            <a:endParaRPr lang="en-US" sz="1010" dirty="0"/>
          </a:p>
        </p:txBody>
      </p:sp>
      <p:sp>
        <p:nvSpPr>
          <p:cNvPr id="52" name="Shape 50"/>
          <p:cNvSpPr/>
          <p:nvPr/>
        </p:nvSpPr>
        <p:spPr>
          <a:xfrm>
            <a:off x="731520" y="5806440"/>
            <a:ext cx="10698480" cy="438912"/>
          </a:xfrm>
          <a:prstGeom prst="roundRect">
            <a:avLst>
              <a:gd name="adj" fmla="val 16667"/>
            </a:avLst>
          </a:prstGeom>
          <a:solidFill>
            <a:srgbClr val="EAF3FC"/>
          </a:solidFill>
          <a:ln w="10160">
            <a:solidFill>
              <a:srgbClr val="EAF3FC"/>
            </a:solidFill>
            <a:prstDash val="solid"/>
          </a:ln>
        </p:spPr>
      </p:sp>
      <p:sp>
        <p:nvSpPr>
          <p:cNvPr id="53" name="Text 51"/>
          <p:cNvSpPr txBox="1"/>
          <p:nvPr/>
        </p:nvSpPr>
        <p:spPr>
          <a:xfrm>
            <a:off x="877824" y="5879592"/>
            <a:ext cx="10405872" cy="29260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Do not treat these as exact equivalents. For this Day 6 lab, the GCP project is the deployment and billing boundary; the organization may apply inherited policies above it.</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GCP FOUNDATIONS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The Day 6 service map</a:t>
            </a:r>
            <a:endParaRPr lang="en-US" sz="2500" dirty="0"/>
          </a:p>
        </p:txBody>
      </p:sp>
      <p:sp>
        <p:nvSpPr>
          <p:cNvPr id="4" name="Text 2"/>
          <p:cNvSpPr txBox="1"/>
          <p:nvPr/>
        </p:nvSpPr>
        <p:spPr>
          <a:xfrm>
            <a:off x="548640" y="1179576"/>
            <a:ext cx="10972800" cy="347472"/>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5F6F7F"/>
                </a:solidFill>
                <a:latin typeface="Carlito" pitchFamily="34" charset="0"/>
                <a:ea typeface="Carlito" pitchFamily="34" charset="-122"/>
                <a:cs typeface="Carlito" pitchFamily="34" charset="-120"/>
              </a:rPr>
              <a:t>The lab is a compact operations environment: private compute, controlled access, persistent data, object storage, key management, secrets and monitoring.</a:t>
            </a:r>
            <a:endParaRPr lang="en-US" sz="1150" dirty="0"/>
          </a:p>
        </p:txBody>
      </p:sp>
      <p:sp>
        <p:nvSpPr>
          <p:cNvPr id="5" name="Shape 3"/>
          <p:cNvSpPr/>
          <p:nvPr/>
        </p:nvSpPr>
        <p:spPr>
          <a:xfrm>
            <a:off x="594360" y="1691640"/>
            <a:ext cx="3456432" cy="1417320"/>
          </a:xfrm>
          <a:prstGeom prst="roundRect">
            <a:avLst>
              <a:gd name="adj" fmla="val 5161"/>
            </a:avLst>
          </a:prstGeom>
          <a:solidFill>
            <a:srgbClr val="FFFFFF"/>
          </a:solidFill>
          <a:ln w="10160">
            <a:solidFill>
              <a:srgbClr val="DCE3EB"/>
            </a:solidFill>
            <a:prstDash val="solid"/>
          </a:ln>
        </p:spPr>
      </p:sp>
      <p:sp>
        <p:nvSpPr>
          <p:cNvPr id="6" name="Shape 4"/>
          <p:cNvSpPr/>
          <p:nvPr/>
        </p:nvSpPr>
        <p:spPr>
          <a:xfrm>
            <a:off x="594360" y="1691640"/>
            <a:ext cx="73152" cy="1417320"/>
          </a:xfrm>
          <a:prstGeom prst="rect">
            <a:avLst>
              <a:gd name="adj" fmla="val 100000"/>
            </a:avLst>
          </a:prstGeom>
          <a:solidFill>
            <a:srgbClr val="2878C8"/>
          </a:solidFill>
          <a:ln w="10160">
            <a:solidFill>
              <a:srgbClr val="2878C8"/>
            </a:solidFill>
            <a:prstDash val="solid"/>
          </a:ln>
        </p:spPr>
      </p:sp>
      <p:sp>
        <p:nvSpPr>
          <p:cNvPr id="7" name="Text 5"/>
          <p:cNvSpPr txBox="1"/>
          <p:nvPr/>
        </p:nvSpPr>
        <p:spPr>
          <a:xfrm>
            <a:off x="795528" y="1819656"/>
            <a:ext cx="3108960"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COMPUTE</a:t>
            </a:r>
            <a:endParaRPr lang="en-US" sz="1250" dirty="0"/>
          </a:p>
        </p:txBody>
      </p:sp>
      <p:sp>
        <p:nvSpPr>
          <p:cNvPr id="8" name="Text 6"/>
          <p:cNvSpPr txBox="1"/>
          <p:nvPr/>
        </p:nvSpPr>
        <p:spPr>
          <a:xfrm>
            <a:off x="795528" y="2167128"/>
            <a:ext cx="3072384" cy="83210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Compute Engine VMs</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Managed Instance Group</a:t>
            </a:r>
            <a:endParaRPr lang="en-US" sz="1200" dirty="0"/>
          </a:p>
        </p:txBody>
      </p:sp>
      <p:sp>
        <p:nvSpPr>
          <p:cNvPr id="9" name="Shape 7"/>
          <p:cNvSpPr/>
          <p:nvPr/>
        </p:nvSpPr>
        <p:spPr>
          <a:xfrm>
            <a:off x="4325112" y="1691640"/>
            <a:ext cx="3456432" cy="1417320"/>
          </a:xfrm>
          <a:prstGeom prst="roundRect">
            <a:avLst>
              <a:gd name="adj" fmla="val 5161"/>
            </a:avLst>
          </a:prstGeom>
          <a:solidFill>
            <a:srgbClr val="FFFFFF"/>
          </a:solidFill>
          <a:ln w="10160">
            <a:solidFill>
              <a:srgbClr val="DCE3EB"/>
            </a:solidFill>
            <a:prstDash val="solid"/>
          </a:ln>
        </p:spPr>
      </p:sp>
      <p:sp>
        <p:nvSpPr>
          <p:cNvPr id="10" name="Shape 8"/>
          <p:cNvSpPr/>
          <p:nvPr/>
        </p:nvSpPr>
        <p:spPr>
          <a:xfrm>
            <a:off x="4325112" y="1691640"/>
            <a:ext cx="73152" cy="1417320"/>
          </a:xfrm>
          <a:prstGeom prst="rect">
            <a:avLst>
              <a:gd name="adj" fmla="val 100000"/>
            </a:avLst>
          </a:prstGeom>
          <a:solidFill>
            <a:srgbClr val="0D9488"/>
          </a:solidFill>
          <a:ln w="10160">
            <a:solidFill>
              <a:srgbClr val="0D9488"/>
            </a:solidFill>
            <a:prstDash val="solid"/>
          </a:ln>
        </p:spPr>
      </p:sp>
      <p:sp>
        <p:nvSpPr>
          <p:cNvPr id="11" name="Text 9"/>
          <p:cNvSpPr txBox="1"/>
          <p:nvPr/>
        </p:nvSpPr>
        <p:spPr>
          <a:xfrm>
            <a:off x="4526280" y="1819656"/>
            <a:ext cx="3108960"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NETWORK</a:t>
            </a:r>
            <a:endParaRPr lang="en-US" sz="1250" dirty="0"/>
          </a:p>
        </p:txBody>
      </p:sp>
      <p:sp>
        <p:nvSpPr>
          <p:cNvPr id="12" name="Text 10"/>
          <p:cNvSpPr txBox="1"/>
          <p:nvPr/>
        </p:nvSpPr>
        <p:spPr>
          <a:xfrm>
            <a:off x="4526280" y="2167128"/>
            <a:ext cx="3072384" cy="83210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VPC + subnet</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Firewall + IAP + Cloud NAT</a:t>
            </a:r>
            <a:endParaRPr lang="en-US" sz="1200" dirty="0"/>
          </a:p>
        </p:txBody>
      </p:sp>
      <p:sp>
        <p:nvSpPr>
          <p:cNvPr id="13" name="Shape 11"/>
          <p:cNvSpPr/>
          <p:nvPr/>
        </p:nvSpPr>
        <p:spPr>
          <a:xfrm>
            <a:off x="8055864" y="1691640"/>
            <a:ext cx="3456432" cy="1417320"/>
          </a:xfrm>
          <a:prstGeom prst="roundRect">
            <a:avLst>
              <a:gd name="adj" fmla="val 5161"/>
            </a:avLst>
          </a:prstGeom>
          <a:solidFill>
            <a:srgbClr val="FFFFFF"/>
          </a:solidFill>
          <a:ln w="10160">
            <a:solidFill>
              <a:srgbClr val="DCE3EB"/>
            </a:solidFill>
            <a:prstDash val="solid"/>
          </a:ln>
        </p:spPr>
      </p:sp>
      <p:sp>
        <p:nvSpPr>
          <p:cNvPr id="14" name="Shape 12"/>
          <p:cNvSpPr/>
          <p:nvPr/>
        </p:nvSpPr>
        <p:spPr>
          <a:xfrm>
            <a:off x="8055864" y="1691640"/>
            <a:ext cx="73152" cy="1417320"/>
          </a:xfrm>
          <a:prstGeom prst="rect">
            <a:avLst>
              <a:gd name="adj" fmla="val 100000"/>
            </a:avLst>
          </a:prstGeom>
          <a:solidFill>
            <a:srgbClr val="16A36A"/>
          </a:solidFill>
          <a:ln w="10160">
            <a:solidFill>
              <a:srgbClr val="16A36A"/>
            </a:solidFill>
            <a:prstDash val="solid"/>
          </a:ln>
        </p:spPr>
      </p:sp>
      <p:sp>
        <p:nvSpPr>
          <p:cNvPr id="15" name="Text 13"/>
          <p:cNvSpPr txBox="1"/>
          <p:nvPr/>
        </p:nvSpPr>
        <p:spPr>
          <a:xfrm>
            <a:off x="8257032" y="1819656"/>
            <a:ext cx="3108960"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BLOCK STORAGE</a:t>
            </a:r>
            <a:endParaRPr lang="en-US" sz="1250" dirty="0"/>
          </a:p>
        </p:txBody>
      </p:sp>
      <p:sp>
        <p:nvSpPr>
          <p:cNvPr id="16" name="Text 14"/>
          <p:cNvSpPr txBox="1"/>
          <p:nvPr/>
        </p:nvSpPr>
        <p:spPr>
          <a:xfrm>
            <a:off x="8257032" y="2167128"/>
            <a:ext cx="3072384" cy="83210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Persistent Disk</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Linux ext4 filesystem</a:t>
            </a:r>
            <a:endParaRPr lang="en-US" sz="1200" dirty="0"/>
          </a:p>
        </p:txBody>
      </p:sp>
      <p:sp>
        <p:nvSpPr>
          <p:cNvPr id="17" name="Shape 15"/>
          <p:cNvSpPr/>
          <p:nvPr/>
        </p:nvSpPr>
        <p:spPr>
          <a:xfrm>
            <a:off x="594360" y="3474720"/>
            <a:ext cx="3456432" cy="1417320"/>
          </a:xfrm>
          <a:prstGeom prst="roundRect">
            <a:avLst>
              <a:gd name="adj" fmla="val 5161"/>
            </a:avLst>
          </a:prstGeom>
          <a:solidFill>
            <a:srgbClr val="FFFFFF"/>
          </a:solidFill>
          <a:ln w="10160">
            <a:solidFill>
              <a:srgbClr val="DCE3EB"/>
            </a:solidFill>
            <a:prstDash val="solid"/>
          </a:ln>
        </p:spPr>
      </p:sp>
      <p:sp>
        <p:nvSpPr>
          <p:cNvPr id="18" name="Shape 16"/>
          <p:cNvSpPr/>
          <p:nvPr/>
        </p:nvSpPr>
        <p:spPr>
          <a:xfrm>
            <a:off x="594360" y="3474720"/>
            <a:ext cx="73152" cy="1417320"/>
          </a:xfrm>
          <a:prstGeom prst="rect">
            <a:avLst>
              <a:gd name="adj" fmla="val 100000"/>
            </a:avLst>
          </a:prstGeom>
          <a:solidFill>
            <a:srgbClr val="D97706"/>
          </a:solidFill>
          <a:ln w="10160">
            <a:solidFill>
              <a:srgbClr val="D97706"/>
            </a:solidFill>
            <a:prstDash val="solid"/>
          </a:ln>
        </p:spPr>
      </p:sp>
      <p:sp>
        <p:nvSpPr>
          <p:cNvPr id="19" name="Text 17"/>
          <p:cNvSpPr txBox="1"/>
          <p:nvPr/>
        </p:nvSpPr>
        <p:spPr>
          <a:xfrm>
            <a:off x="795528" y="3602736"/>
            <a:ext cx="3108960"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OBJECT STORAGE</a:t>
            </a:r>
            <a:endParaRPr lang="en-US" sz="1250" dirty="0"/>
          </a:p>
        </p:txBody>
      </p:sp>
      <p:sp>
        <p:nvSpPr>
          <p:cNvPr id="20" name="Text 18"/>
          <p:cNvSpPr txBox="1"/>
          <p:nvPr/>
        </p:nvSpPr>
        <p:spPr>
          <a:xfrm>
            <a:off x="795528" y="3950208"/>
            <a:ext cx="3072384" cy="83210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Cloud Storage bucket</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Objects + IAM</a:t>
            </a:r>
            <a:endParaRPr lang="en-US" sz="1200" dirty="0"/>
          </a:p>
        </p:txBody>
      </p:sp>
      <p:sp>
        <p:nvSpPr>
          <p:cNvPr id="21" name="Shape 19"/>
          <p:cNvSpPr/>
          <p:nvPr/>
        </p:nvSpPr>
        <p:spPr>
          <a:xfrm>
            <a:off x="4325112" y="3474720"/>
            <a:ext cx="3456432" cy="1417320"/>
          </a:xfrm>
          <a:prstGeom prst="roundRect">
            <a:avLst>
              <a:gd name="adj" fmla="val 5161"/>
            </a:avLst>
          </a:prstGeom>
          <a:solidFill>
            <a:srgbClr val="FFFFFF"/>
          </a:solidFill>
          <a:ln w="10160">
            <a:solidFill>
              <a:srgbClr val="DCE3EB"/>
            </a:solidFill>
            <a:prstDash val="solid"/>
          </a:ln>
        </p:spPr>
      </p:sp>
      <p:sp>
        <p:nvSpPr>
          <p:cNvPr id="22" name="Shape 20"/>
          <p:cNvSpPr/>
          <p:nvPr/>
        </p:nvSpPr>
        <p:spPr>
          <a:xfrm>
            <a:off x="4325112" y="3474720"/>
            <a:ext cx="73152" cy="1417320"/>
          </a:xfrm>
          <a:prstGeom prst="rect">
            <a:avLst>
              <a:gd name="adj" fmla="val 100000"/>
            </a:avLst>
          </a:prstGeom>
          <a:solidFill>
            <a:srgbClr val="7654B8"/>
          </a:solidFill>
          <a:ln w="10160">
            <a:solidFill>
              <a:srgbClr val="7654B8"/>
            </a:solidFill>
            <a:prstDash val="solid"/>
          </a:ln>
        </p:spPr>
      </p:sp>
      <p:sp>
        <p:nvSpPr>
          <p:cNvPr id="23" name="Text 21"/>
          <p:cNvSpPr txBox="1"/>
          <p:nvPr/>
        </p:nvSpPr>
        <p:spPr>
          <a:xfrm>
            <a:off x="4526280" y="3602736"/>
            <a:ext cx="3108960"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SECURITY</a:t>
            </a:r>
            <a:endParaRPr lang="en-US" sz="1250" dirty="0"/>
          </a:p>
        </p:txBody>
      </p:sp>
      <p:sp>
        <p:nvSpPr>
          <p:cNvPr id="24" name="Text 22"/>
          <p:cNvSpPr txBox="1"/>
          <p:nvPr/>
        </p:nvSpPr>
        <p:spPr>
          <a:xfrm>
            <a:off x="4526280" y="3950208"/>
            <a:ext cx="3072384" cy="83210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IAM service accounts</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Cloud KMS + Secret Manager</a:t>
            </a:r>
            <a:endParaRPr lang="en-US" sz="1200" dirty="0"/>
          </a:p>
        </p:txBody>
      </p:sp>
      <p:sp>
        <p:nvSpPr>
          <p:cNvPr id="25" name="Shape 23"/>
          <p:cNvSpPr/>
          <p:nvPr/>
        </p:nvSpPr>
        <p:spPr>
          <a:xfrm>
            <a:off x="8055864" y="3474720"/>
            <a:ext cx="3456432" cy="1417320"/>
          </a:xfrm>
          <a:prstGeom prst="roundRect">
            <a:avLst>
              <a:gd name="adj" fmla="val 5161"/>
            </a:avLst>
          </a:prstGeom>
          <a:solidFill>
            <a:srgbClr val="FFFFFF"/>
          </a:solidFill>
          <a:ln w="10160">
            <a:solidFill>
              <a:srgbClr val="DCE3EB"/>
            </a:solidFill>
            <a:prstDash val="solid"/>
          </a:ln>
        </p:spPr>
      </p:sp>
      <p:sp>
        <p:nvSpPr>
          <p:cNvPr id="26" name="Shape 24"/>
          <p:cNvSpPr/>
          <p:nvPr/>
        </p:nvSpPr>
        <p:spPr>
          <a:xfrm>
            <a:off x="8055864" y="3474720"/>
            <a:ext cx="73152" cy="1417320"/>
          </a:xfrm>
          <a:prstGeom prst="rect">
            <a:avLst>
              <a:gd name="adj" fmla="val 100000"/>
            </a:avLst>
          </a:prstGeom>
          <a:solidFill>
            <a:srgbClr val="D94F4F"/>
          </a:solidFill>
          <a:ln w="10160">
            <a:solidFill>
              <a:srgbClr val="D94F4F"/>
            </a:solidFill>
            <a:prstDash val="solid"/>
          </a:ln>
        </p:spPr>
      </p:sp>
      <p:sp>
        <p:nvSpPr>
          <p:cNvPr id="27" name="Text 25"/>
          <p:cNvSpPr txBox="1"/>
          <p:nvPr/>
        </p:nvSpPr>
        <p:spPr>
          <a:xfrm>
            <a:off x="8257032" y="3602736"/>
            <a:ext cx="3108960"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OBSERVABILITY</a:t>
            </a:r>
            <a:endParaRPr lang="en-US" sz="1250" dirty="0"/>
          </a:p>
        </p:txBody>
      </p:sp>
      <p:sp>
        <p:nvSpPr>
          <p:cNvPr id="28" name="Text 26"/>
          <p:cNvSpPr txBox="1"/>
          <p:nvPr/>
        </p:nvSpPr>
        <p:spPr>
          <a:xfrm>
            <a:off x="8257032" y="3950208"/>
            <a:ext cx="3072384" cy="83210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Cloud Monitoring</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Alert policy + email channel</a:t>
            </a:r>
            <a:endParaRPr lang="en-US" sz="1200" dirty="0"/>
          </a:p>
        </p:txBody>
      </p:sp>
      <p:sp>
        <p:nvSpPr>
          <p:cNvPr id="29" name="Shape 27"/>
          <p:cNvSpPr/>
          <p:nvPr/>
        </p:nvSpPr>
        <p:spPr>
          <a:xfrm>
            <a:off x="713232" y="5532120"/>
            <a:ext cx="10789920" cy="612648"/>
          </a:xfrm>
          <a:prstGeom prst="roundRect">
            <a:avLst>
              <a:gd name="adj" fmla="val 11940"/>
            </a:avLst>
          </a:prstGeom>
          <a:solidFill>
            <a:srgbClr val="E9F7F0"/>
          </a:solidFill>
          <a:ln w="10160">
            <a:solidFill>
              <a:srgbClr val="E9F7F0"/>
            </a:solidFill>
            <a:prstDash val="solid"/>
          </a:ln>
        </p:spPr>
      </p:sp>
      <p:sp>
        <p:nvSpPr>
          <p:cNvPr id="30" name="Text 28"/>
          <p:cNvSpPr txBox="1"/>
          <p:nvPr/>
        </p:nvSpPr>
        <p:spPr>
          <a:xfrm>
            <a:off x="859536" y="5605272"/>
            <a:ext cx="10497312" cy="46634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Think of the lab as one application platform: network access gets you to the VM, the VM uses its disk, Cloud Storage holds objects, IAM authorizes actions, KMS protects encryption keys, and Monitoring tells you when behaviour deviates.</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LAB ARCHITECTURE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What Terraform builds in the baseline</a:t>
            </a:r>
            <a:endParaRPr lang="en-US" sz="2500" dirty="0"/>
          </a:p>
        </p:txBody>
      </p:sp>
      <p:sp>
        <p:nvSpPr>
          <p:cNvPr id="4" name="Text 2"/>
          <p:cNvSpPr txBox="1"/>
          <p:nvPr/>
        </p:nvSpPr>
        <p:spPr>
          <a:xfrm>
            <a:off x="548640" y="1179576"/>
            <a:ext cx="10972800" cy="347472"/>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5F6F7F"/>
                </a:solidFill>
                <a:latin typeface="Carlito" pitchFamily="34" charset="0"/>
                <a:ea typeface="Carlito" pitchFamily="34" charset="-122"/>
                <a:cs typeface="Carlito" pitchFamily="34" charset="-120"/>
              </a:rPr>
              <a:t>The first apply creates only the baseline. Optional fault resources are enabled later, one scenario at a time.</a:t>
            </a:r>
            <a:endParaRPr lang="en-US" sz="1150" dirty="0"/>
          </a:p>
        </p:txBody>
      </p:sp>
      <p:sp>
        <p:nvSpPr>
          <p:cNvPr id="5" name="Shape 3"/>
          <p:cNvSpPr/>
          <p:nvPr/>
        </p:nvSpPr>
        <p:spPr>
          <a:xfrm>
            <a:off x="685800" y="1645920"/>
            <a:ext cx="10881360" cy="4343400"/>
          </a:xfrm>
          <a:prstGeom prst="roundRect">
            <a:avLst>
              <a:gd name="adj" fmla="val 1684"/>
            </a:avLst>
          </a:prstGeom>
          <a:solidFill>
            <a:srgbClr val="FFFFFF"/>
          </a:solidFill>
          <a:ln w="10160">
            <a:solidFill>
              <a:srgbClr val="DCE3EB"/>
            </a:solidFill>
            <a:prstDash val="solid"/>
          </a:ln>
        </p:spPr>
      </p:sp>
      <p:sp>
        <p:nvSpPr>
          <p:cNvPr id="6" name="Shape 4"/>
          <p:cNvSpPr/>
          <p:nvPr/>
        </p:nvSpPr>
        <p:spPr>
          <a:xfrm>
            <a:off x="914400" y="1874520"/>
            <a:ext cx="10424160" cy="438912"/>
          </a:xfrm>
          <a:prstGeom prst="roundRect">
            <a:avLst>
              <a:gd name="adj" fmla="val 16667"/>
            </a:avLst>
          </a:prstGeom>
          <a:solidFill>
            <a:srgbClr val="12304A"/>
          </a:solidFill>
          <a:ln w="10160">
            <a:solidFill>
              <a:srgbClr val="12304A"/>
            </a:solidFill>
            <a:prstDash val="solid"/>
          </a:ln>
        </p:spPr>
      </p:sp>
      <p:sp>
        <p:nvSpPr>
          <p:cNvPr id="7" name="Text 5"/>
          <p:cNvSpPr txBox="1"/>
          <p:nvPr/>
        </p:nvSpPr>
        <p:spPr>
          <a:xfrm>
            <a:off x="1051560" y="1965960"/>
            <a:ext cx="10149840" cy="201168"/>
          </a:xfrm>
          <a:prstGeom prst="rect">
            <a:avLst/>
          </a:prstGeom>
          <a:noFill/>
          <a:ln/>
        </p:spPr>
        <p:txBody>
          <a:bodyPr wrap="square" lIns="0" tIns="0" rIns="0" bIns="0" rtlCol="0" anchor="ctr">
            <a:normAutofit/>
          </a:bodyPr>
          <a:lstStyle/>
          <a:p>
            <a:pPr algn="ctr" indent="0" marL="0">
              <a:lnSpc>
                <a:spcPct val="95000"/>
              </a:lnSpc>
              <a:buNone/>
            </a:pPr>
            <a:r>
              <a:rPr lang="en-US" sz="1300" b="1" dirty="0">
                <a:solidFill>
                  <a:srgbClr val="FFFFFF"/>
                </a:solidFill>
                <a:latin typeface="Carlito" pitchFamily="34" charset="0"/>
                <a:ea typeface="Carlito" pitchFamily="34" charset="-122"/>
                <a:cs typeface="Carlito" pitchFamily="34" charset="-120"/>
              </a:rPr>
              <a:t>EXISTING BILLED GCP TRAINING PROJECT</a:t>
            </a:r>
            <a:endParaRPr lang="en-US" sz="1300" dirty="0"/>
          </a:p>
        </p:txBody>
      </p:sp>
      <p:sp>
        <p:nvSpPr>
          <p:cNvPr id="8" name="Shape 6"/>
          <p:cNvSpPr/>
          <p:nvPr/>
        </p:nvSpPr>
        <p:spPr>
          <a:xfrm>
            <a:off x="1051560" y="2560320"/>
            <a:ext cx="6492240" cy="2834640"/>
          </a:xfrm>
          <a:prstGeom prst="roundRect">
            <a:avLst>
              <a:gd name="adj" fmla="val 2581"/>
            </a:avLst>
          </a:prstGeom>
          <a:solidFill>
            <a:srgbClr val="F0F7FC"/>
          </a:solidFill>
          <a:ln w="10160">
            <a:solidFill>
              <a:srgbClr val="B8D4E9"/>
            </a:solidFill>
            <a:prstDash val="solid"/>
          </a:ln>
        </p:spPr>
      </p:sp>
      <p:sp>
        <p:nvSpPr>
          <p:cNvPr id="9" name="Text 7"/>
          <p:cNvSpPr txBox="1"/>
          <p:nvPr/>
        </p:nvSpPr>
        <p:spPr>
          <a:xfrm>
            <a:off x="1280160" y="2697480"/>
            <a:ext cx="6035040" cy="201168"/>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2878C8"/>
                </a:solidFill>
                <a:latin typeface="Carlito" pitchFamily="34" charset="0"/>
                <a:ea typeface="Carlito" pitchFamily="34" charset="-122"/>
                <a:cs typeface="Carlito" pitchFamily="34" charset="-120"/>
              </a:rPr>
              <a:t>CUSTOM VPC + REGIONAL SUBNET</a:t>
            </a:r>
            <a:endParaRPr lang="en-US" sz="1100" dirty="0"/>
          </a:p>
        </p:txBody>
      </p:sp>
      <p:sp>
        <p:nvSpPr>
          <p:cNvPr id="10" name="Shape 8"/>
          <p:cNvSpPr/>
          <p:nvPr/>
        </p:nvSpPr>
        <p:spPr>
          <a:xfrm>
            <a:off x="1298448" y="3246120"/>
            <a:ext cx="1691640" cy="777240"/>
          </a:xfrm>
          <a:prstGeom prst="roundRect">
            <a:avLst>
              <a:gd name="adj" fmla="val 9412"/>
            </a:avLst>
          </a:prstGeom>
          <a:solidFill>
            <a:srgbClr val="FFFFFF"/>
          </a:solidFill>
          <a:ln w="10160">
            <a:solidFill>
              <a:srgbClr val="DCE3EB"/>
            </a:solidFill>
            <a:prstDash val="solid"/>
          </a:ln>
        </p:spPr>
      </p:sp>
      <p:sp>
        <p:nvSpPr>
          <p:cNvPr id="11" name="Text 9"/>
          <p:cNvSpPr txBox="1"/>
          <p:nvPr/>
        </p:nvSpPr>
        <p:spPr>
          <a:xfrm>
            <a:off x="1371600" y="3364992"/>
            <a:ext cx="1545336" cy="164592"/>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2304A"/>
                </a:solidFill>
                <a:latin typeface="Carlito" pitchFamily="34" charset="0"/>
                <a:ea typeface="Carlito" pitchFamily="34" charset="-122"/>
                <a:cs typeface="Carlito" pitchFamily="34" charset="-120"/>
              </a:rPr>
              <a:t>VM - IDLE</a:t>
            </a:r>
            <a:endParaRPr lang="en-US" sz="950" dirty="0"/>
          </a:p>
        </p:txBody>
      </p:sp>
      <p:sp>
        <p:nvSpPr>
          <p:cNvPr id="12" name="Text 10"/>
          <p:cNvSpPr txBox="1"/>
          <p:nvPr/>
        </p:nvSpPr>
        <p:spPr>
          <a:xfrm>
            <a:off x="1371600" y="3630168"/>
            <a:ext cx="1545336" cy="164592"/>
          </a:xfrm>
          <a:prstGeom prst="rect">
            <a:avLst/>
          </a:prstGeom>
          <a:noFill/>
          <a:ln/>
        </p:spPr>
        <p:txBody>
          <a:bodyPr wrap="square" lIns="0" tIns="0" rIns="0" bIns="0" rtlCol="0" anchor="ctr">
            <a:normAutofit/>
          </a:bodyPr>
          <a:lstStyle/>
          <a:p>
            <a:pPr algn="ctr" indent="0" marL="0">
              <a:lnSpc>
                <a:spcPct val="95000"/>
              </a:lnSpc>
              <a:buNone/>
            </a:pPr>
            <a:r>
              <a:rPr lang="en-US" sz="900" dirty="0">
                <a:solidFill>
                  <a:srgbClr val="5F6F7F"/>
                </a:solidFill>
                <a:latin typeface="Carlito" pitchFamily="34" charset="0"/>
                <a:ea typeface="Carlito" pitchFamily="34" charset="-122"/>
                <a:cs typeface="Carlito" pitchFamily="34" charset="-120"/>
              </a:rPr>
              <a:t>Lifecycle</a:t>
            </a:r>
            <a:endParaRPr lang="en-US" sz="900" dirty="0"/>
          </a:p>
        </p:txBody>
      </p:sp>
      <p:sp>
        <p:nvSpPr>
          <p:cNvPr id="13" name="Shape 11"/>
          <p:cNvSpPr/>
          <p:nvPr/>
        </p:nvSpPr>
        <p:spPr>
          <a:xfrm>
            <a:off x="3291840" y="3246120"/>
            <a:ext cx="1691640" cy="777240"/>
          </a:xfrm>
          <a:prstGeom prst="roundRect">
            <a:avLst>
              <a:gd name="adj" fmla="val 9412"/>
            </a:avLst>
          </a:prstGeom>
          <a:solidFill>
            <a:srgbClr val="FFFFFF"/>
          </a:solidFill>
          <a:ln w="10160">
            <a:solidFill>
              <a:srgbClr val="DCE3EB"/>
            </a:solidFill>
            <a:prstDash val="solid"/>
          </a:ln>
        </p:spPr>
      </p:sp>
      <p:sp>
        <p:nvSpPr>
          <p:cNvPr id="14" name="Text 12"/>
          <p:cNvSpPr txBox="1"/>
          <p:nvPr/>
        </p:nvSpPr>
        <p:spPr>
          <a:xfrm>
            <a:off x="3364992" y="3364992"/>
            <a:ext cx="1545336" cy="164592"/>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2304A"/>
                </a:solidFill>
                <a:latin typeface="Carlito" pitchFamily="34" charset="0"/>
                <a:ea typeface="Carlito" pitchFamily="34" charset="-122"/>
                <a:cs typeface="Carlito" pitchFamily="34" charset="-120"/>
              </a:rPr>
              <a:t>VM - SSH</a:t>
            </a:r>
            <a:endParaRPr lang="en-US" sz="950" dirty="0"/>
          </a:p>
        </p:txBody>
      </p:sp>
      <p:sp>
        <p:nvSpPr>
          <p:cNvPr id="15" name="Text 13"/>
          <p:cNvSpPr txBox="1"/>
          <p:nvPr/>
        </p:nvSpPr>
        <p:spPr>
          <a:xfrm>
            <a:off x="3364992" y="3630168"/>
            <a:ext cx="1545336" cy="164592"/>
          </a:xfrm>
          <a:prstGeom prst="rect">
            <a:avLst/>
          </a:prstGeom>
          <a:noFill/>
          <a:ln/>
        </p:spPr>
        <p:txBody>
          <a:bodyPr wrap="square" lIns="0" tIns="0" rIns="0" bIns="0" rtlCol="0" anchor="ctr">
            <a:normAutofit/>
          </a:bodyPr>
          <a:lstStyle/>
          <a:p>
            <a:pPr algn="ctr" indent="0" marL="0">
              <a:lnSpc>
                <a:spcPct val="95000"/>
              </a:lnSpc>
              <a:buNone/>
            </a:pPr>
            <a:r>
              <a:rPr lang="en-US" sz="900" dirty="0">
                <a:solidFill>
                  <a:srgbClr val="5F6F7F"/>
                </a:solidFill>
                <a:latin typeface="Carlito" pitchFamily="34" charset="0"/>
                <a:ea typeface="Carlito" pitchFamily="34" charset="-122"/>
                <a:cs typeface="Carlito" pitchFamily="34" charset="-120"/>
              </a:rPr>
              <a:t>IAP fault</a:t>
            </a:r>
            <a:endParaRPr lang="en-US" sz="900" dirty="0"/>
          </a:p>
        </p:txBody>
      </p:sp>
      <p:sp>
        <p:nvSpPr>
          <p:cNvPr id="16" name="Shape 14"/>
          <p:cNvSpPr/>
          <p:nvPr/>
        </p:nvSpPr>
        <p:spPr>
          <a:xfrm>
            <a:off x="5285232" y="3246120"/>
            <a:ext cx="1691640" cy="777240"/>
          </a:xfrm>
          <a:prstGeom prst="roundRect">
            <a:avLst>
              <a:gd name="adj" fmla="val 9412"/>
            </a:avLst>
          </a:prstGeom>
          <a:solidFill>
            <a:srgbClr val="FFFFFF"/>
          </a:solidFill>
          <a:ln w="10160">
            <a:solidFill>
              <a:srgbClr val="DCE3EB"/>
            </a:solidFill>
            <a:prstDash val="solid"/>
          </a:ln>
        </p:spPr>
      </p:sp>
      <p:sp>
        <p:nvSpPr>
          <p:cNvPr id="17" name="Text 15"/>
          <p:cNvSpPr txBox="1"/>
          <p:nvPr/>
        </p:nvSpPr>
        <p:spPr>
          <a:xfrm>
            <a:off x="5358384" y="3364992"/>
            <a:ext cx="1545336" cy="164592"/>
          </a:xfrm>
          <a:prstGeom prst="rect">
            <a:avLst/>
          </a:prstGeom>
          <a:noFill/>
          <a:ln/>
        </p:spPr>
        <p:txBody>
          <a:bodyPr wrap="square" lIns="0" tIns="0" rIns="0" bIns="0" rtlCol="0" anchor="ctr">
            <a:normAutofit/>
          </a:bodyPr>
          <a:lstStyle/>
          <a:p>
            <a:pPr algn="ctr" indent="0" marL="0">
              <a:lnSpc>
                <a:spcPct val="95000"/>
              </a:lnSpc>
              <a:buNone/>
            </a:pPr>
            <a:r>
              <a:rPr lang="en-US" sz="950" b="1" dirty="0">
                <a:solidFill>
                  <a:srgbClr val="12304A"/>
                </a:solidFill>
                <a:latin typeface="Carlito" pitchFamily="34" charset="0"/>
                <a:ea typeface="Carlito" pitchFamily="34" charset="-122"/>
                <a:cs typeface="Carlito" pitchFamily="34" charset="-120"/>
              </a:rPr>
              <a:t>VM - STORAGE</a:t>
            </a:r>
            <a:endParaRPr lang="en-US" sz="950" dirty="0"/>
          </a:p>
        </p:txBody>
      </p:sp>
      <p:sp>
        <p:nvSpPr>
          <p:cNvPr id="18" name="Text 16"/>
          <p:cNvSpPr txBox="1"/>
          <p:nvPr/>
        </p:nvSpPr>
        <p:spPr>
          <a:xfrm>
            <a:off x="5358384" y="3630168"/>
            <a:ext cx="1545336" cy="164592"/>
          </a:xfrm>
          <a:prstGeom prst="rect">
            <a:avLst/>
          </a:prstGeom>
          <a:noFill/>
          <a:ln/>
        </p:spPr>
        <p:txBody>
          <a:bodyPr wrap="square" lIns="0" tIns="0" rIns="0" bIns="0" rtlCol="0" anchor="ctr">
            <a:normAutofit/>
          </a:bodyPr>
          <a:lstStyle/>
          <a:p>
            <a:pPr algn="ctr" indent="0" marL="0">
              <a:lnSpc>
                <a:spcPct val="95000"/>
              </a:lnSpc>
              <a:buNone/>
            </a:pPr>
            <a:r>
              <a:rPr lang="en-US" sz="900" dirty="0">
                <a:solidFill>
                  <a:srgbClr val="5F6F7F"/>
                </a:solidFill>
                <a:latin typeface="Carlito" pitchFamily="34" charset="0"/>
                <a:ea typeface="Carlito" pitchFamily="34" charset="-122"/>
                <a:cs typeface="Carlito" pitchFamily="34" charset="-120"/>
              </a:rPr>
              <a:t>Disk / CPU</a:t>
            </a:r>
            <a:endParaRPr lang="en-US" sz="900" dirty="0"/>
          </a:p>
        </p:txBody>
      </p:sp>
      <p:sp>
        <p:nvSpPr>
          <p:cNvPr id="19" name="Shape 17"/>
          <p:cNvSpPr/>
          <p:nvPr/>
        </p:nvSpPr>
        <p:spPr>
          <a:xfrm>
            <a:off x="1325880" y="4297680"/>
            <a:ext cx="5943600" cy="777240"/>
          </a:xfrm>
          <a:prstGeom prst="roundRect">
            <a:avLst>
              <a:gd name="adj" fmla="val 9412"/>
            </a:avLst>
          </a:prstGeom>
          <a:solidFill>
            <a:srgbClr val="E7F6F4"/>
          </a:solidFill>
          <a:ln w="10160">
            <a:solidFill>
              <a:srgbClr val="B7E3DC"/>
            </a:solidFill>
            <a:prstDash val="solid"/>
          </a:ln>
        </p:spPr>
      </p:sp>
      <p:sp>
        <p:nvSpPr>
          <p:cNvPr id="20" name="Text 18"/>
          <p:cNvSpPr txBox="1"/>
          <p:nvPr/>
        </p:nvSpPr>
        <p:spPr>
          <a:xfrm>
            <a:off x="1463040" y="4462272"/>
            <a:ext cx="5669280" cy="18288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0D9488"/>
                </a:solidFill>
                <a:latin typeface="Carlito" pitchFamily="34" charset="0"/>
                <a:ea typeface="Carlito" pitchFamily="34" charset="-122"/>
                <a:cs typeface="Carlito" pitchFamily="34" charset="-120"/>
              </a:rPr>
              <a:t>ZONAL MANAGED INSTANCE GROUP  |  2 -&gt; 4 MEMBERS</a:t>
            </a:r>
            <a:endParaRPr lang="en-US" sz="1050" dirty="0"/>
          </a:p>
        </p:txBody>
      </p:sp>
      <p:sp>
        <p:nvSpPr>
          <p:cNvPr id="21" name="Text 19"/>
          <p:cNvSpPr txBox="1"/>
          <p:nvPr/>
        </p:nvSpPr>
        <p:spPr>
          <a:xfrm>
            <a:off x="1508760" y="4718304"/>
            <a:ext cx="5577840" cy="164592"/>
          </a:xfrm>
          <a:prstGeom prst="rect">
            <a:avLst/>
          </a:prstGeom>
          <a:noFill/>
          <a:ln/>
        </p:spPr>
        <p:txBody>
          <a:bodyPr wrap="square" lIns="0" tIns="0" rIns="0" bIns="0" rtlCol="0" anchor="ctr">
            <a:normAutofit/>
          </a:bodyPr>
          <a:lstStyle/>
          <a:p>
            <a:pPr algn="ctr" indent="0" marL="0">
              <a:lnSpc>
                <a:spcPct val="95000"/>
              </a:lnSpc>
              <a:buNone/>
            </a:pPr>
            <a:r>
              <a:rPr lang="en-US" sz="910" dirty="0">
                <a:solidFill>
                  <a:srgbClr val="5F6F7F"/>
                </a:solidFill>
                <a:latin typeface="Carlito" pitchFamily="34" charset="0"/>
                <a:ea typeface="Carlito" pitchFamily="34" charset="-122"/>
                <a:cs typeface="Carlito" pitchFamily="34" charset="-120"/>
              </a:rPr>
              <a:t>Instance template defines each member; the group maintains target size.</a:t>
            </a:r>
            <a:endParaRPr lang="en-US" sz="910" dirty="0"/>
          </a:p>
        </p:txBody>
      </p:sp>
      <p:sp>
        <p:nvSpPr>
          <p:cNvPr id="22" name="Shape 20"/>
          <p:cNvSpPr/>
          <p:nvPr/>
        </p:nvSpPr>
        <p:spPr>
          <a:xfrm>
            <a:off x="8001000" y="2606040"/>
            <a:ext cx="2788920" cy="749808"/>
          </a:xfrm>
          <a:prstGeom prst="roundRect">
            <a:avLst>
              <a:gd name="adj" fmla="val 9756"/>
            </a:avLst>
          </a:prstGeom>
          <a:solidFill>
            <a:srgbClr val="FFFFFF"/>
          </a:solidFill>
          <a:ln w="10160">
            <a:solidFill>
              <a:srgbClr val="DCE3EB"/>
            </a:solidFill>
            <a:prstDash val="solid"/>
          </a:ln>
        </p:spPr>
      </p:sp>
      <p:sp>
        <p:nvSpPr>
          <p:cNvPr id="23" name="Text 21"/>
          <p:cNvSpPr txBox="1"/>
          <p:nvPr/>
        </p:nvSpPr>
        <p:spPr>
          <a:xfrm>
            <a:off x="8174736" y="2706624"/>
            <a:ext cx="2423160" cy="164592"/>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D97706"/>
                </a:solidFill>
                <a:latin typeface="Carlito" pitchFamily="34" charset="0"/>
                <a:ea typeface="Carlito" pitchFamily="34" charset="-122"/>
                <a:cs typeface="Carlito" pitchFamily="34" charset="-120"/>
              </a:rPr>
              <a:t>CLOUD STORAGE</a:t>
            </a:r>
            <a:endParaRPr lang="en-US" sz="930" dirty="0"/>
          </a:p>
        </p:txBody>
      </p:sp>
      <p:sp>
        <p:nvSpPr>
          <p:cNvPr id="24" name="Text 22"/>
          <p:cNvSpPr txBox="1"/>
          <p:nvPr/>
        </p:nvSpPr>
        <p:spPr>
          <a:xfrm>
            <a:off x="8174736" y="2953512"/>
            <a:ext cx="2423160" cy="201168"/>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Private bucket + object</a:t>
            </a:r>
            <a:endParaRPr lang="en-US" sz="1000" dirty="0"/>
          </a:p>
        </p:txBody>
      </p:sp>
      <p:sp>
        <p:nvSpPr>
          <p:cNvPr id="25" name="Shape 23"/>
          <p:cNvSpPr/>
          <p:nvPr/>
        </p:nvSpPr>
        <p:spPr>
          <a:xfrm>
            <a:off x="8001000" y="3566160"/>
            <a:ext cx="2788920" cy="749808"/>
          </a:xfrm>
          <a:prstGeom prst="roundRect">
            <a:avLst>
              <a:gd name="adj" fmla="val 9756"/>
            </a:avLst>
          </a:prstGeom>
          <a:solidFill>
            <a:srgbClr val="FFFFFF"/>
          </a:solidFill>
          <a:ln w="10160">
            <a:solidFill>
              <a:srgbClr val="DCE3EB"/>
            </a:solidFill>
            <a:prstDash val="solid"/>
          </a:ln>
        </p:spPr>
      </p:sp>
      <p:sp>
        <p:nvSpPr>
          <p:cNvPr id="26" name="Text 24"/>
          <p:cNvSpPr txBox="1"/>
          <p:nvPr/>
        </p:nvSpPr>
        <p:spPr>
          <a:xfrm>
            <a:off x="8174736" y="3666744"/>
            <a:ext cx="2423160" cy="164592"/>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7654B8"/>
                </a:solidFill>
                <a:latin typeface="Carlito" pitchFamily="34" charset="0"/>
                <a:ea typeface="Carlito" pitchFamily="34" charset="-122"/>
                <a:cs typeface="Carlito" pitchFamily="34" charset="-120"/>
              </a:rPr>
              <a:t>IAM / SECRET</a:t>
            </a:r>
            <a:endParaRPr lang="en-US" sz="930" dirty="0"/>
          </a:p>
        </p:txBody>
      </p:sp>
      <p:sp>
        <p:nvSpPr>
          <p:cNvPr id="27" name="Text 25"/>
          <p:cNvSpPr txBox="1"/>
          <p:nvPr/>
        </p:nvSpPr>
        <p:spPr>
          <a:xfrm>
            <a:off x="8174736" y="3913632"/>
            <a:ext cx="2423160" cy="201168"/>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Runtime + responder SAs</a:t>
            </a:r>
            <a:endParaRPr lang="en-US" sz="1000" dirty="0"/>
          </a:p>
        </p:txBody>
      </p:sp>
      <p:sp>
        <p:nvSpPr>
          <p:cNvPr id="28" name="Shape 26"/>
          <p:cNvSpPr/>
          <p:nvPr/>
        </p:nvSpPr>
        <p:spPr>
          <a:xfrm>
            <a:off x="8001000" y="4526280"/>
            <a:ext cx="2788920" cy="749808"/>
          </a:xfrm>
          <a:prstGeom prst="roundRect">
            <a:avLst>
              <a:gd name="adj" fmla="val 9756"/>
            </a:avLst>
          </a:prstGeom>
          <a:solidFill>
            <a:srgbClr val="FFFFFF"/>
          </a:solidFill>
          <a:ln w="10160">
            <a:solidFill>
              <a:srgbClr val="DCE3EB"/>
            </a:solidFill>
            <a:prstDash val="solid"/>
          </a:ln>
        </p:spPr>
      </p:sp>
      <p:sp>
        <p:nvSpPr>
          <p:cNvPr id="29" name="Text 27"/>
          <p:cNvSpPr txBox="1"/>
          <p:nvPr/>
        </p:nvSpPr>
        <p:spPr>
          <a:xfrm>
            <a:off x="8174736" y="4626864"/>
            <a:ext cx="2423160" cy="164592"/>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D94F4F"/>
                </a:solidFill>
                <a:latin typeface="Carlito" pitchFamily="34" charset="0"/>
                <a:ea typeface="Carlito" pitchFamily="34" charset="-122"/>
                <a:cs typeface="Carlito" pitchFamily="34" charset="-120"/>
              </a:rPr>
              <a:t>OPTIONAL SERVICES</a:t>
            </a:r>
            <a:endParaRPr lang="en-US" sz="930" dirty="0"/>
          </a:p>
        </p:txBody>
      </p:sp>
      <p:sp>
        <p:nvSpPr>
          <p:cNvPr id="30" name="Text 28"/>
          <p:cNvSpPr txBox="1"/>
          <p:nvPr/>
        </p:nvSpPr>
        <p:spPr>
          <a:xfrm>
            <a:off x="8174736" y="4873752"/>
            <a:ext cx="2423160" cy="201168"/>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Cloud NAT / KMS / Alert</a:t>
            </a:r>
            <a:endParaRPr lang="en-US" sz="1000" dirty="0"/>
          </a:p>
        </p:txBody>
      </p:sp>
      <p:sp>
        <p:nvSpPr>
          <p:cNvPr id="31" name="Shape 29"/>
          <p:cNvSpPr/>
          <p:nvPr/>
        </p:nvSpPr>
        <p:spPr>
          <a:xfrm>
            <a:off x="868680" y="6080760"/>
            <a:ext cx="10424160" cy="338328"/>
          </a:xfrm>
          <a:prstGeom prst="roundRect">
            <a:avLst>
              <a:gd name="adj" fmla="val 21622"/>
            </a:avLst>
          </a:prstGeom>
          <a:solidFill>
            <a:srgbClr val="EAF3FC"/>
          </a:solidFill>
          <a:ln w="10160">
            <a:solidFill>
              <a:srgbClr val="EAF3FC"/>
            </a:solidFill>
            <a:prstDash val="solid"/>
          </a:ln>
        </p:spPr>
      </p:sp>
      <p:sp>
        <p:nvSpPr>
          <p:cNvPr id="32" name="Text 30"/>
          <p:cNvSpPr txBox="1"/>
          <p:nvPr/>
        </p:nvSpPr>
        <p:spPr>
          <a:xfrm>
            <a:off x="1014984" y="6153912"/>
            <a:ext cx="10131552" cy="19202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No VM gets a public external IPv4 address. SSH is designed to use IAP TCP forwarding and OS Login. Cloud NAT is for outbound connectivity only.</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INFRASTRUCTURE AS CODE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Terraform: how a change becomes a cloud resource</a:t>
            </a:r>
            <a:endParaRPr lang="en-US" sz="2500" dirty="0"/>
          </a:p>
        </p:txBody>
      </p:sp>
      <p:sp>
        <p:nvSpPr>
          <p:cNvPr id="4" name="Shape 2"/>
          <p:cNvSpPr/>
          <p:nvPr/>
        </p:nvSpPr>
        <p:spPr>
          <a:xfrm>
            <a:off x="530352" y="1874520"/>
            <a:ext cx="1417320" cy="1280160"/>
          </a:xfrm>
          <a:prstGeom prst="roundRect">
            <a:avLst>
              <a:gd name="adj" fmla="val 5714"/>
            </a:avLst>
          </a:prstGeom>
          <a:solidFill>
            <a:srgbClr val="FFFFFF"/>
          </a:solidFill>
          <a:ln w="10160">
            <a:solidFill>
              <a:srgbClr val="DCE3EB"/>
            </a:solidFill>
            <a:prstDash val="solid"/>
          </a:ln>
        </p:spPr>
      </p:sp>
      <p:sp>
        <p:nvSpPr>
          <p:cNvPr id="5" name="Shape 3"/>
          <p:cNvSpPr/>
          <p:nvPr/>
        </p:nvSpPr>
        <p:spPr>
          <a:xfrm>
            <a:off x="667512" y="1993392"/>
            <a:ext cx="310896" cy="256032"/>
          </a:xfrm>
          <a:prstGeom prst="roundRect">
            <a:avLst>
              <a:gd name="adj" fmla="val 28571"/>
            </a:avLst>
          </a:prstGeom>
          <a:solidFill>
            <a:srgbClr val="EAF3FC"/>
          </a:solidFill>
          <a:ln w="10160">
            <a:solidFill>
              <a:srgbClr val="EAF3FC"/>
            </a:solidFill>
            <a:prstDash val="solid"/>
          </a:ln>
        </p:spPr>
      </p:sp>
      <p:sp>
        <p:nvSpPr>
          <p:cNvPr id="6" name="Text 4"/>
          <p:cNvSpPr txBox="1"/>
          <p:nvPr/>
        </p:nvSpPr>
        <p:spPr>
          <a:xfrm>
            <a:off x="740664"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1</a:t>
            </a:r>
            <a:endParaRPr lang="en-US" sz="900" dirty="0"/>
          </a:p>
        </p:txBody>
      </p:sp>
      <p:sp>
        <p:nvSpPr>
          <p:cNvPr id="7" name="Text 5"/>
          <p:cNvSpPr txBox="1"/>
          <p:nvPr/>
        </p:nvSpPr>
        <p:spPr>
          <a:xfrm>
            <a:off x="1060704"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CONFIGURE</a:t>
            </a:r>
            <a:endParaRPr lang="en-US" sz="1300" dirty="0"/>
          </a:p>
        </p:txBody>
      </p:sp>
      <p:sp>
        <p:nvSpPr>
          <p:cNvPr id="8" name="Text 6"/>
          <p:cNvSpPr txBox="1"/>
          <p:nvPr/>
        </p:nvSpPr>
        <p:spPr>
          <a:xfrm>
            <a:off x="694944"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main.tf + variables + tfvars</a:t>
            </a:r>
            <a:endParaRPr lang="en-US" sz="1030" dirty="0"/>
          </a:p>
        </p:txBody>
      </p:sp>
      <p:sp>
        <p:nvSpPr>
          <p:cNvPr id="9" name="Shape 7"/>
          <p:cNvSpPr/>
          <p:nvPr/>
        </p:nvSpPr>
        <p:spPr>
          <a:xfrm>
            <a:off x="1975104" y="2514600"/>
            <a:ext cx="173736" cy="0"/>
          </a:xfrm>
          <a:prstGeom prst="line">
            <a:avLst/>
          </a:prstGeom>
          <a:noFill/>
          <a:ln w="19050">
            <a:solidFill>
              <a:srgbClr val="0D9488"/>
            </a:solidFill>
            <a:prstDash val="solid"/>
            <a:tailEnd type="triangle"/>
          </a:ln>
        </p:spPr>
      </p:sp>
      <p:sp>
        <p:nvSpPr>
          <p:cNvPr id="10" name="Shape 8"/>
          <p:cNvSpPr/>
          <p:nvPr/>
        </p:nvSpPr>
        <p:spPr>
          <a:xfrm>
            <a:off x="2194560" y="1874520"/>
            <a:ext cx="1417320" cy="1280160"/>
          </a:xfrm>
          <a:prstGeom prst="roundRect">
            <a:avLst>
              <a:gd name="adj" fmla="val 5714"/>
            </a:avLst>
          </a:prstGeom>
          <a:solidFill>
            <a:srgbClr val="FFFFFF"/>
          </a:solidFill>
          <a:ln w="10160">
            <a:solidFill>
              <a:srgbClr val="DCE3EB"/>
            </a:solidFill>
            <a:prstDash val="solid"/>
          </a:ln>
        </p:spPr>
      </p:sp>
      <p:sp>
        <p:nvSpPr>
          <p:cNvPr id="11" name="Shape 9"/>
          <p:cNvSpPr/>
          <p:nvPr/>
        </p:nvSpPr>
        <p:spPr>
          <a:xfrm>
            <a:off x="2331720" y="1993392"/>
            <a:ext cx="310896" cy="256032"/>
          </a:xfrm>
          <a:prstGeom prst="roundRect">
            <a:avLst>
              <a:gd name="adj" fmla="val 28571"/>
            </a:avLst>
          </a:prstGeom>
          <a:solidFill>
            <a:srgbClr val="E7F6F4"/>
          </a:solidFill>
          <a:ln w="10160">
            <a:solidFill>
              <a:srgbClr val="E7F6F4"/>
            </a:solidFill>
            <a:prstDash val="solid"/>
          </a:ln>
        </p:spPr>
      </p:sp>
      <p:sp>
        <p:nvSpPr>
          <p:cNvPr id="12" name="Text 10"/>
          <p:cNvSpPr txBox="1"/>
          <p:nvPr/>
        </p:nvSpPr>
        <p:spPr>
          <a:xfrm>
            <a:off x="2404872"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0D9488"/>
                </a:solidFill>
                <a:latin typeface="Carlito" pitchFamily="34" charset="0"/>
                <a:ea typeface="Carlito" pitchFamily="34" charset="-122"/>
                <a:cs typeface="Carlito" pitchFamily="34" charset="-120"/>
              </a:rPr>
              <a:t>2</a:t>
            </a:r>
            <a:endParaRPr lang="en-US" sz="900" dirty="0"/>
          </a:p>
        </p:txBody>
      </p:sp>
      <p:sp>
        <p:nvSpPr>
          <p:cNvPr id="13" name="Text 11"/>
          <p:cNvSpPr txBox="1"/>
          <p:nvPr/>
        </p:nvSpPr>
        <p:spPr>
          <a:xfrm>
            <a:off x="2724912"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INITIALIZE</a:t>
            </a:r>
            <a:endParaRPr lang="en-US" sz="1300" dirty="0"/>
          </a:p>
        </p:txBody>
      </p:sp>
      <p:sp>
        <p:nvSpPr>
          <p:cNvPr id="14" name="Text 12"/>
          <p:cNvSpPr txBox="1"/>
          <p:nvPr/>
        </p:nvSpPr>
        <p:spPr>
          <a:xfrm>
            <a:off x="2359152"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terraform init downloads providers</a:t>
            </a:r>
            <a:endParaRPr lang="en-US" sz="1030" dirty="0"/>
          </a:p>
        </p:txBody>
      </p:sp>
      <p:sp>
        <p:nvSpPr>
          <p:cNvPr id="15" name="Shape 13"/>
          <p:cNvSpPr/>
          <p:nvPr/>
        </p:nvSpPr>
        <p:spPr>
          <a:xfrm>
            <a:off x="3639312" y="2514600"/>
            <a:ext cx="173736" cy="0"/>
          </a:xfrm>
          <a:prstGeom prst="line">
            <a:avLst/>
          </a:prstGeom>
          <a:noFill/>
          <a:ln w="19050">
            <a:solidFill>
              <a:srgbClr val="0D9488"/>
            </a:solidFill>
            <a:prstDash val="solid"/>
            <a:tailEnd type="triangle"/>
          </a:ln>
        </p:spPr>
      </p:sp>
      <p:sp>
        <p:nvSpPr>
          <p:cNvPr id="16" name="Shape 14"/>
          <p:cNvSpPr/>
          <p:nvPr/>
        </p:nvSpPr>
        <p:spPr>
          <a:xfrm>
            <a:off x="3858768" y="1874520"/>
            <a:ext cx="1417320" cy="1280160"/>
          </a:xfrm>
          <a:prstGeom prst="roundRect">
            <a:avLst>
              <a:gd name="adj" fmla="val 5714"/>
            </a:avLst>
          </a:prstGeom>
          <a:solidFill>
            <a:srgbClr val="FFFFFF"/>
          </a:solidFill>
          <a:ln w="10160">
            <a:solidFill>
              <a:srgbClr val="DCE3EB"/>
            </a:solidFill>
            <a:prstDash val="solid"/>
          </a:ln>
        </p:spPr>
      </p:sp>
      <p:sp>
        <p:nvSpPr>
          <p:cNvPr id="17" name="Shape 15"/>
          <p:cNvSpPr/>
          <p:nvPr/>
        </p:nvSpPr>
        <p:spPr>
          <a:xfrm>
            <a:off x="3995928" y="1993392"/>
            <a:ext cx="310896" cy="256032"/>
          </a:xfrm>
          <a:prstGeom prst="roundRect">
            <a:avLst>
              <a:gd name="adj" fmla="val 28571"/>
            </a:avLst>
          </a:prstGeom>
          <a:solidFill>
            <a:srgbClr val="E9F7F0"/>
          </a:solidFill>
          <a:ln w="10160">
            <a:solidFill>
              <a:srgbClr val="E9F7F0"/>
            </a:solidFill>
            <a:prstDash val="solid"/>
          </a:ln>
        </p:spPr>
      </p:sp>
      <p:sp>
        <p:nvSpPr>
          <p:cNvPr id="18" name="Text 16"/>
          <p:cNvSpPr txBox="1"/>
          <p:nvPr/>
        </p:nvSpPr>
        <p:spPr>
          <a:xfrm>
            <a:off x="4069080"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3</a:t>
            </a:r>
            <a:endParaRPr lang="en-US" sz="900" dirty="0"/>
          </a:p>
        </p:txBody>
      </p:sp>
      <p:sp>
        <p:nvSpPr>
          <p:cNvPr id="19" name="Text 17"/>
          <p:cNvSpPr txBox="1"/>
          <p:nvPr/>
        </p:nvSpPr>
        <p:spPr>
          <a:xfrm>
            <a:off x="4389120"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VALIDATE</a:t>
            </a:r>
            <a:endParaRPr lang="en-US" sz="1300" dirty="0"/>
          </a:p>
        </p:txBody>
      </p:sp>
      <p:sp>
        <p:nvSpPr>
          <p:cNvPr id="20" name="Text 18"/>
          <p:cNvSpPr txBox="1"/>
          <p:nvPr/>
        </p:nvSpPr>
        <p:spPr>
          <a:xfrm>
            <a:off x="4023360"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terraform fmt / validate</a:t>
            </a:r>
            <a:endParaRPr lang="en-US" sz="1030" dirty="0"/>
          </a:p>
        </p:txBody>
      </p:sp>
      <p:sp>
        <p:nvSpPr>
          <p:cNvPr id="21" name="Shape 19"/>
          <p:cNvSpPr/>
          <p:nvPr/>
        </p:nvSpPr>
        <p:spPr>
          <a:xfrm>
            <a:off x="5303520" y="2514600"/>
            <a:ext cx="173736" cy="0"/>
          </a:xfrm>
          <a:prstGeom prst="line">
            <a:avLst/>
          </a:prstGeom>
          <a:noFill/>
          <a:ln w="19050">
            <a:solidFill>
              <a:srgbClr val="0D9488"/>
            </a:solidFill>
            <a:prstDash val="solid"/>
            <a:tailEnd type="triangle"/>
          </a:ln>
        </p:spPr>
      </p:sp>
      <p:sp>
        <p:nvSpPr>
          <p:cNvPr id="22" name="Shape 20"/>
          <p:cNvSpPr/>
          <p:nvPr/>
        </p:nvSpPr>
        <p:spPr>
          <a:xfrm>
            <a:off x="5522976" y="1874520"/>
            <a:ext cx="1417320" cy="1280160"/>
          </a:xfrm>
          <a:prstGeom prst="roundRect">
            <a:avLst>
              <a:gd name="adj" fmla="val 5714"/>
            </a:avLst>
          </a:prstGeom>
          <a:solidFill>
            <a:srgbClr val="FFFFFF"/>
          </a:solidFill>
          <a:ln w="10160">
            <a:solidFill>
              <a:srgbClr val="DCE3EB"/>
            </a:solidFill>
            <a:prstDash val="solid"/>
          </a:ln>
        </p:spPr>
      </p:sp>
      <p:sp>
        <p:nvSpPr>
          <p:cNvPr id="23" name="Shape 21"/>
          <p:cNvSpPr/>
          <p:nvPr/>
        </p:nvSpPr>
        <p:spPr>
          <a:xfrm>
            <a:off x="5660136" y="1993392"/>
            <a:ext cx="310896" cy="256032"/>
          </a:xfrm>
          <a:prstGeom prst="roundRect">
            <a:avLst>
              <a:gd name="adj" fmla="val 28571"/>
            </a:avLst>
          </a:prstGeom>
          <a:solidFill>
            <a:srgbClr val="FFF5E6"/>
          </a:solidFill>
          <a:ln w="10160">
            <a:solidFill>
              <a:srgbClr val="FFF5E6"/>
            </a:solidFill>
            <a:prstDash val="solid"/>
          </a:ln>
        </p:spPr>
      </p:sp>
      <p:sp>
        <p:nvSpPr>
          <p:cNvPr id="24" name="Text 22"/>
          <p:cNvSpPr txBox="1"/>
          <p:nvPr/>
        </p:nvSpPr>
        <p:spPr>
          <a:xfrm>
            <a:off x="5733288"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7706"/>
                </a:solidFill>
                <a:latin typeface="Carlito" pitchFamily="34" charset="0"/>
                <a:ea typeface="Carlito" pitchFamily="34" charset="-122"/>
                <a:cs typeface="Carlito" pitchFamily="34" charset="-120"/>
              </a:rPr>
              <a:t>4</a:t>
            </a:r>
            <a:endParaRPr lang="en-US" sz="900" dirty="0"/>
          </a:p>
        </p:txBody>
      </p:sp>
      <p:sp>
        <p:nvSpPr>
          <p:cNvPr id="25" name="Text 23"/>
          <p:cNvSpPr txBox="1"/>
          <p:nvPr/>
        </p:nvSpPr>
        <p:spPr>
          <a:xfrm>
            <a:off x="6053328"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PLAN</a:t>
            </a:r>
            <a:endParaRPr lang="en-US" sz="1300" dirty="0"/>
          </a:p>
        </p:txBody>
      </p:sp>
      <p:sp>
        <p:nvSpPr>
          <p:cNvPr id="26" name="Text 24"/>
          <p:cNvSpPr txBox="1"/>
          <p:nvPr/>
        </p:nvSpPr>
        <p:spPr>
          <a:xfrm>
            <a:off x="5687568"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terraform plan shows proposed diff</a:t>
            </a:r>
            <a:endParaRPr lang="en-US" sz="1030" dirty="0"/>
          </a:p>
        </p:txBody>
      </p:sp>
      <p:sp>
        <p:nvSpPr>
          <p:cNvPr id="27" name="Shape 25"/>
          <p:cNvSpPr/>
          <p:nvPr/>
        </p:nvSpPr>
        <p:spPr>
          <a:xfrm>
            <a:off x="6967728" y="2514600"/>
            <a:ext cx="173736" cy="0"/>
          </a:xfrm>
          <a:prstGeom prst="line">
            <a:avLst/>
          </a:prstGeom>
          <a:noFill/>
          <a:ln w="19050">
            <a:solidFill>
              <a:srgbClr val="0D9488"/>
            </a:solidFill>
            <a:prstDash val="solid"/>
            <a:tailEnd type="triangle"/>
          </a:ln>
        </p:spPr>
      </p:sp>
      <p:sp>
        <p:nvSpPr>
          <p:cNvPr id="28" name="Shape 26"/>
          <p:cNvSpPr/>
          <p:nvPr/>
        </p:nvSpPr>
        <p:spPr>
          <a:xfrm>
            <a:off x="7187184" y="1874520"/>
            <a:ext cx="1417320" cy="1280160"/>
          </a:xfrm>
          <a:prstGeom prst="roundRect">
            <a:avLst>
              <a:gd name="adj" fmla="val 5714"/>
            </a:avLst>
          </a:prstGeom>
          <a:solidFill>
            <a:srgbClr val="FFFFFF"/>
          </a:solidFill>
          <a:ln w="10160">
            <a:solidFill>
              <a:srgbClr val="DCE3EB"/>
            </a:solidFill>
            <a:prstDash val="solid"/>
          </a:ln>
        </p:spPr>
      </p:sp>
      <p:sp>
        <p:nvSpPr>
          <p:cNvPr id="29" name="Shape 27"/>
          <p:cNvSpPr/>
          <p:nvPr/>
        </p:nvSpPr>
        <p:spPr>
          <a:xfrm>
            <a:off x="7324344" y="1993392"/>
            <a:ext cx="310896" cy="256032"/>
          </a:xfrm>
          <a:prstGeom prst="roundRect">
            <a:avLst>
              <a:gd name="adj" fmla="val 28571"/>
            </a:avLst>
          </a:prstGeom>
          <a:solidFill>
            <a:srgbClr val="F2EDFA"/>
          </a:solidFill>
          <a:ln w="10160">
            <a:solidFill>
              <a:srgbClr val="F2EDFA"/>
            </a:solidFill>
            <a:prstDash val="solid"/>
          </a:ln>
        </p:spPr>
      </p:sp>
      <p:sp>
        <p:nvSpPr>
          <p:cNvPr id="30" name="Text 28"/>
          <p:cNvSpPr txBox="1"/>
          <p:nvPr/>
        </p:nvSpPr>
        <p:spPr>
          <a:xfrm>
            <a:off x="7397496"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7654B8"/>
                </a:solidFill>
                <a:latin typeface="Carlito" pitchFamily="34" charset="0"/>
                <a:ea typeface="Carlito" pitchFamily="34" charset="-122"/>
                <a:cs typeface="Carlito" pitchFamily="34" charset="-120"/>
              </a:rPr>
              <a:t>5</a:t>
            </a:r>
            <a:endParaRPr lang="en-US" sz="900" dirty="0"/>
          </a:p>
        </p:txBody>
      </p:sp>
      <p:sp>
        <p:nvSpPr>
          <p:cNvPr id="31" name="Text 29"/>
          <p:cNvSpPr txBox="1"/>
          <p:nvPr/>
        </p:nvSpPr>
        <p:spPr>
          <a:xfrm>
            <a:off x="7717536"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REVIEW</a:t>
            </a:r>
            <a:endParaRPr lang="en-US" sz="1300" dirty="0"/>
          </a:p>
        </p:txBody>
      </p:sp>
      <p:sp>
        <p:nvSpPr>
          <p:cNvPr id="32" name="Text 30"/>
          <p:cNvSpPr txBox="1"/>
          <p:nvPr/>
        </p:nvSpPr>
        <p:spPr>
          <a:xfrm>
            <a:off x="7351776"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terraform show; verify project + scope</a:t>
            </a:r>
            <a:endParaRPr lang="en-US" sz="1030" dirty="0"/>
          </a:p>
        </p:txBody>
      </p:sp>
      <p:sp>
        <p:nvSpPr>
          <p:cNvPr id="33" name="Shape 31"/>
          <p:cNvSpPr/>
          <p:nvPr/>
        </p:nvSpPr>
        <p:spPr>
          <a:xfrm>
            <a:off x="8631936" y="2514600"/>
            <a:ext cx="173736" cy="0"/>
          </a:xfrm>
          <a:prstGeom prst="line">
            <a:avLst/>
          </a:prstGeom>
          <a:noFill/>
          <a:ln w="19050">
            <a:solidFill>
              <a:srgbClr val="0D9488"/>
            </a:solidFill>
            <a:prstDash val="solid"/>
            <a:tailEnd type="triangle"/>
          </a:ln>
        </p:spPr>
      </p:sp>
      <p:sp>
        <p:nvSpPr>
          <p:cNvPr id="34" name="Shape 32"/>
          <p:cNvSpPr/>
          <p:nvPr/>
        </p:nvSpPr>
        <p:spPr>
          <a:xfrm>
            <a:off x="8851392" y="1874520"/>
            <a:ext cx="1417320" cy="1280160"/>
          </a:xfrm>
          <a:prstGeom prst="roundRect">
            <a:avLst>
              <a:gd name="adj" fmla="val 5714"/>
            </a:avLst>
          </a:prstGeom>
          <a:solidFill>
            <a:srgbClr val="FFFFFF"/>
          </a:solidFill>
          <a:ln w="10160">
            <a:solidFill>
              <a:srgbClr val="DCE3EB"/>
            </a:solidFill>
            <a:prstDash val="solid"/>
          </a:ln>
        </p:spPr>
      </p:sp>
      <p:sp>
        <p:nvSpPr>
          <p:cNvPr id="35" name="Shape 33"/>
          <p:cNvSpPr/>
          <p:nvPr/>
        </p:nvSpPr>
        <p:spPr>
          <a:xfrm>
            <a:off x="8988552" y="1993392"/>
            <a:ext cx="310896" cy="256032"/>
          </a:xfrm>
          <a:prstGeom prst="roundRect">
            <a:avLst>
              <a:gd name="adj" fmla="val 28571"/>
            </a:avLst>
          </a:prstGeom>
          <a:solidFill>
            <a:srgbClr val="FDEEEE"/>
          </a:solidFill>
          <a:ln w="10160">
            <a:solidFill>
              <a:srgbClr val="FDEEEE"/>
            </a:solidFill>
            <a:prstDash val="solid"/>
          </a:ln>
        </p:spPr>
      </p:sp>
      <p:sp>
        <p:nvSpPr>
          <p:cNvPr id="36" name="Text 34"/>
          <p:cNvSpPr txBox="1"/>
          <p:nvPr/>
        </p:nvSpPr>
        <p:spPr>
          <a:xfrm>
            <a:off x="9061704"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4F4F"/>
                </a:solidFill>
                <a:latin typeface="Carlito" pitchFamily="34" charset="0"/>
                <a:ea typeface="Carlito" pitchFamily="34" charset="-122"/>
                <a:cs typeface="Carlito" pitchFamily="34" charset="-120"/>
              </a:rPr>
              <a:t>6</a:t>
            </a:r>
            <a:endParaRPr lang="en-US" sz="900" dirty="0"/>
          </a:p>
        </p:txBody>
      </p:sp>
      <p:sp>
        <p:nvSpPr>
          <p:cNvPr id="37" name="Text 35"/>
          <p:cNvSpPr txBox="1"/>
          <p:nvPr/>
        </p:nvSpPr>
        <p:spPr>
          <a:xfrm>
            <a:off x="9381744"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APPLY</a:t>
            </a:r>
            <a:endParaRPr lang="en-US" sz="1300" dirty="0"/>
          </a:p>
        </p:txBody>
      </p:sp>
      <p:sp>
        <p:nvSpPr>
          <p:cNvPr id="38" name="Text 36"/>
          <p:cNvSpPr txBox="1"/>
          <p:nvPr/>
        </p:nvSpPr>
        <p:spPr>
          <a:xfrm>
            <a:off x="9015984"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terraform apply reviewed plan</a:t>
            </a:r>
            <a:endParaRPr lang="en-US" sz="1030" dirty="0"/>
          </a:p>
        </p:txBody>
      </p:sp>
      <p:sp>
        <p:nvSpPr>
          <p:cNvPr id="39" name="Shape 37"/>
          <p:cNvSpPr/>
          <p:nvPr/>
        </p:nvSpPr>
        <p:spPr>
          <a:xfrm>
            <a:off x="10296144" y="2514600"/>
            <a:ext cx="173736" cy="0"/>
          </a:xfrm>
          <a:prstGeom prst="line">
            <a:avLst/>
          </a:prstGeom>
          <a:noFill/>
          <a:ln w="19050">
            <a:solidFill>
              <a:srgbClr val="0D9488"/>
            </a:solidFill>
            <a:prstDash val="solid"/>
            <a:tailEnd type="triangle"/>
          </a:ln>
        </p:spPr>
      </p:sp>
      <p:sp>
        <p:nvSpPr>
          <p:cNvPr id="40" name="Shape 38"/>
          <p:cNvSpPr/>
          <p:nvPr/>
        </p:nvSpPr>
        <p:spPr>
          <a:xfrm>
            <a:off x="10515600" y="1874520"/>
            <a:ext cx="1417320" cy="1280160"/>
          </a:xfrm>
          <a:prstGeom prst="roundRect">
            <a:avLst>
              <a:gd name="adj" fmla="val 5714"/>
            </a:avLst>
          </a:prstGeom>
          <a:solidFill>
            <a:srgbClr val="FFFFFF"/>
          </a:solidFill>
          <a:ln w="10160">
            <a:solidFill>
              <a:srgbClr val="DCE3EB"/>
            </a:solidFill>
            <a:prstDash val="solid"/>
          </a:ln>
        </p:spPr>
      </p:sp>
      <p:sp>
        <p:nvSpPr>
          <p:cNvPr id="41" name="Shape 39"/>
          <p:cNvSpPr/>
          <p:nvPr/>
        </p:nvSpPr>
        <p:spPr>
          <a:xfrm>
            <a:off x="10652760" y="1993392"/>
            <a:ext cx="310896" cy="256032"/>
          </a:xfrm>
          <a:prstGeom prst="roundRect">
            <a:avLst>
              <a:gd name="adj" fmla="val 28571"/>
            </a:avLst>
          </a:prstGeom>
          <a:solidFill>
            <a:srgbClr val="EAF0F5"/>
          </a:solidFill>
          <a:ln w="10160">
            <a:solidFill>
              <a:srgbClr val="EAF0F5"/>
            </a:solidFill>
            <a:prstDash val="solid"/>
          </a:ln>
        </p:spPr>
      </p:sp>
      <p:sp>
        <p:nvSpPr>
          <p:cNvPr id="42" name="Text 40"/>
          <p:cNvSpPr txBox="1"/>
          <p:nvPr/>
        </p:nvSpPr>
        <p:spPr>
          <a:xfrm>
            <a:off x="10725912" y="200710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2304A"/>
                </a:solidFill>
                <a:latin typeface="Carlito" pitchFamily="34" charset="0"/>
                <a:ea typeface="Carlito" pitchFamily="34" charset="-122"/>
                <a:cs typeface="Carlito" pitchFamily="34" charset="-120"/>
              </a:rPr>
              <a:t>7</a:t>
            </a:r>
            <a:endParaRPr lang="en-US" sz="900" dirty="0"/>
          </a:p>
        </p:txBody>
      </p:sp>
      <p:sp>
        <p:nvSpPr>
          <p:cNvPr id="43" name="Text 41"/>
          <p:cNvSpPr txBox="1"/>
          <p:nvPr/>
        </p:nvSpPr>
        <p:spPr>
          <a:xfrm>
            <a:off x="11045952" y="1975104"/>
            <a:ext cx="75895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PROVE</a:t>
            </a:r>
            <a:endParaRPr lang="en-US" sz="1300" dirty="0"/>
          </a:p>
        </p:txBody>
      </p:sp>
      <p:sp>
        <p:nvSpPr>
          <p:cNvPr id="44" name="Text 42"/>
          <p:cNvSpPr txBox="1"/>
          <p:nvPr/>
        </p:nvSpPr>
        <p:spPr>
          <a:xfrm>
            <a:off x="10680192" y="2350008"/>
            <a:ext cx="108813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CLI + Console evidence</a:t>
            </a:r>
            <a:endParaRPr lang="en-US" sz="1030" dirty="0"/>
          </a:p>
        </p:txBody>
      </p:sp>
      <p:sp>
        <p:nvSpPr>
          <p:cNvPr id="45" name="Shape 43"/>
          <p:cNvSpPr/>
          <p:nvPr/>
        </p:nvSpPr>
        <p:spPr>
          <a:xfrm>
            <a:off x="685800" y="3840480"/>
            <a:ext cx="3401568" cy="1280160"/>
          </a:xfrm>
          <a:prstGeom prst="roundRect">
            <a:avLst>
              <a:gd name="adj" fmla="val 5714"/>
            </a:avLst>
          </a:prstGeom>
          <a:solidFill>
            <a:srgbClr val="FFFFFF"/>
          </a:solidFill>
          <a:ln w="10160">
            <a:solidFill>
              <a:srgbClr val="DCE3EB"/>
            </a:solidFill>
            <a:prstDash val="solid"/>
          </a:ln>
        </p:spPr>
      </p:sp>
      <p:sp>
        <p:nvSpPr>
          <p:cNvPr id="46" name="Shape 44"/>
          <p:cNvSpPr/>
          <p:nvPr/>
        </p:nvSpPr>
        <p:spPr>
          <a:xfrm>
            <a:off x="685800" y="3840480"/>
            <a:ext cx="73152" cy="1280160"/>
          </a:xfrm>
          <a:prstGeom prst="rect">
            <a:avLst>
              <a:gd name="adj" fmla="val 100000"/>
            </a:avLst>
          </a:prstGeom>
          <a:solidFill>
            <a:srgbClr val="2878C8"/>
          </a:solidFill>
          <a:ln w="10160">
            <a:solidFill>
              <a:srgbClr val="2878C8"/>
            </a:solidFill>
            <a:prstDash val="solid"/>
          </a:ln>
        </p:spPr>
      </p:sp>
      <p:sp>
        <p:nvSpPr>
          <p:cNvPr id="47" name="Text 45"/>
          <p:cNvSpPr txBox="1"/>
          <p:nvPr/>
        </p:nvSpPr>
        <p:spPr>
          <a:xfrm>
            <a:off x="886968" y="3968496"/>
            <a:ext cx="3054096"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Desired state</a:t>
            </a:r>
            <a:endParaRPr lang="en-US" sz="1300" dirty="0"/>
          </a:p>
        </p:txBody>
      </p:sp>
      <p:sp>
        <p:nvSpPr>
          <p:cNvPr id="48" name="Text 46"/>
          <p:cNvSpPr txBox="1"/>
          <p:nvPr/>
        </p:nvSpPr>
        <p:spPr>
          <a:xfrm>
            <a:off x="886968" y="4315968"/>
            <a:ext cx="3017520" cy="69494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The configuration declares what should exist: VM count, disk size, network rules and optional service flags.</a:t>
            </a:r>
            <a:endParaRPr lang="en-US" sz="1080" dirty="0"/>
          </a:p>
        </p:txBody>
      </p:sp>
      <p:sp>
        <p:nvSpPr>
          <p:cNvPr id="49" name="Shape 47"/>
          <p:cNvSpPr/>
          <p:nvPr/>
        </p:nvSpPr>
        <p:spPr>
          <a:xfrm>
            <a:off x="4389120" y="3840480"/>
            <a:ext cx="3401568" cy="1280160"/>
          </a:xfrm>
          <a:prstGeom prst="roundRect">
            <a:avLst>
              <a:gd name="adj" fmla="val 5714"/>
            </a:avLst>
          </a:prstGeom>
          <a:solidFill>
            <a:srgbClr val="FFFFFF"/>
          </a:solidFill>
          <a:ln w="10160">
            <a:solidFill>
              <a:srgbClr val="DCE3EB"/>
            </a:solidFill>
            <a:prstDash val="solid"/>
          </a:ln>
        </p:spPr>
      </p:sp>
      <p:sp>
        <p:nvSpPr>
          <p:cNvPr id="50" name="Shape 48"/>
          <p:cNvSpPr/>
          <p:nvPr/>
        </p:nvSpPr>
        <p:spPr>
          <a:xfrm>
            <a:off x="4389120" y="3840480"/>
            <a:ext cx="73152" cy="1280160"/>
          </a:xfrm>
          <a:prstGeom prst="rect">
            <a:avLst>
              <a:gd name="adj" fmla="val 100000"/>
            </a:avLst>
          </a:prstGeom>
          <a:solidFill>
            <a:srgbClr val="0D9488"/>
          </a:solidFill>
          <a:ln w="10160">
            <a:solidFill>
              <a:srgbClr val="0D9488"/>
            </a:solidFill>
            <a:prstDash val="solid"/>
          </a:ln>
        </p:spPr>
      </p:sp>
      <p:sp>
        <p:nvSpPr>
          <p:cNvPr id="51" name="Text 49"/>
          <p:cNvSpPr txBox="1"/>
          <p:nvPr/>
        </p:nvSpPr>
        <p:spPr>
          <a:xfrm>
            <a:off x="4590288" y="3968496"/>
            <a:ext cx="3054096"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Observed state</a:t>
            </a:r>
            <a:endParaRPr lang="en-US" sz="1300" dirty="0"/>
          </a:p>
        </p:txBody>
      </p:sp>
      <p:sp>
        <p:nvSpPr>
          <p:cNvPr id="52" name="Text 50"/>
          <p:cNvSpPr txBox="1"/>
          <p:nvPr/>
        </p:nvSpPr>
        <p:spPr>
          <a:xfrm>
            <a:off x="4590288" y="4315968"/>
            <a:ext cx="3017520" cy="69494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Terraform refreshes what exists in the cloud and compares it with the configuration and state mapping.</a:t>
            </a:r>
            <a:endParaRPr lang="en-US" sz="1080" dirty="0"/>
          </a:p>
        </p:txBody>
      </p:sp>
      <p:sp>
        <p:nvSpPr>
          <p:cNvPr id="53" name="Shape 51"/>
          <p:cNvSpPr/>
          <p:nvPr/>
        </p:nvSpPr>
        <p:spPr>
          <a:xfrm>
            <a:off x="8092440" y="3840480"/>
            <a:ext cx="3401568" cy="1280160"/>
          </a:xfrm>
          <a:prstGeom prst="roundRect">
            <a:avLst>
              <a:gd name="adj" fmla="val 5714"/>
            </a:avLst>
          </a:prstGeom>
          <a:solidFill>
            <a:srgbClr val="FFFFFF"/>
          </a:solidFill>
          <a:ln w="10160">
            <a:solidFill>
              <a:srgbClr val="DCE3EB"/>
            </a:solidFill>
            <a:prstDash val="solid"/>
          </a:ln>
        </p:spPr>
      </p:sp>
      <p:sp>
        <p:nvSpPr>
          <p:cNvPr id="54" name="Shape 52"/>
          <p:cNvSpPr/>
          <p:nvPr/>
        </p:nvSpPr>
        <p:spPr>
          <a:xfrm>
            <a:off x="8092440" y="3840480"/>
            <a:ext cx="73152" cy="1280160"/>
          </a:xfrm>
          <a:prstGeom prst="rect">
            <a:avLst>
              <a:gd name="adj" fmla="val 100000"/>
            </a:avLst>
          </a:prstGeom>
          <a:solidFill>
            <a:srgbClr val="D97706"/>
          </a:solidFill>
          <a:ln w="10160">
            <a:solidFill>
              <a:srgbClr val="D97706"/>
            </a:solidFill>
            <a:prstDash val="solid"/>
          </a:ln>
        </p:spPr>
      </p:sp>
      <p:sp>
        <p:nvSpPr>
          <p:cNvPr id="55" name="Text 53"/>
          <p:cNvSpPr txBox="1"/>
          <p:nvPr/>
        </p:nvSpPr>
        <p:spPr>
          <a:xfrm>
            <a:off x="8293608" y="3968496"/>
            <a:ext cx="3054096"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Plan output</a:t>
            </a:r>
            <a:endParaRPr lang="en-US" sz="1300" dirty="0"/>
          </a:p>
        </p:txBody>
      </p:sp>
      <p:sp>
        <p:nvSpPr>
          <p:cNvPr id="56" name="Text 54"/>
          <p:cNvSpPr txBox="1"/>
          <p:nvPr/>
        </p:nvSpPr>
        <p:spPr>
          <a:xfrm>
            <a:off x="8293608" y="4315968"/>
            <a:ext cx="3017520" cy="69494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The plan proposes create, update or destroy actions. A student must read it before applying.</a:t>
            </a:r>
            <a:endParaRPr lang="en-US" sz="1080" dirty="0"/>
          </a:p>
        </p:txBody>
      </p:sp>
      <p:sp>
        <p:nvSpPr>
          <p:cNvPr id="57" name="Shape 55"/>
          <p:cNvSpPr/>
          <p:nvPr/>
        </p:nvSpPr>
        <p:spPr>
          <a:xfrm>
            <a:off x="777240" y="5532120"/>
            <a:ext cx="10607040" cy="457200"/>
          </a:xfrm>
          <a:prstGeom prst="roundRect">
            <a:avLst>
              <a:gd name="adj" fmla="val 16000"/>
            </a:avLst>
          </a:prstGeom>
          <a:solidFill>
            <a:srgbClr val="FDEEEE"/>
          </a:solidFill>
          <a:ln w="10160">
            <a:solidFill>
              <a:srgbClr val="FDEEEE"/>
            </a:solidFill>
            <a:prstDash val="solid"/>
          </a:ln>
        </p:spPr>
      </p:sp>
      <p:sp>
        <p:nvSpPr>
          <p:cNvPr id="58" name="Text 56"/>
          <p:cNvSpPr txBox="1"/>
          <p:nvPr/>
        </p:nvSpPr>
        <p:spPr>
          <a:xfrm>
            <a:off x="923544" y="5605272"/>
            <a:ext cx="1031443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Training rule: never skip the plan review and never use terraform apply -auto-approve in this student lab.</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TERRAFORM STATE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Why Day 5 and Day 6 must use separate state</a:t>
            </a:r>
            <a:endParaRPr lang="en-US" sz="2500" dirty="0"/>
          </a:p>
        </p:txBody>
      </p:sp>
      <p:sp>
        <p:nvSpPr>
          <p:cNvPr id="4" name="Shape 2"/>
          <p:cNvSpPr/>
          <p:nvPr/>
        </p:nvSpPr>
        <p:spPr>
          <a:xfrm>
            <a:off x="777240" y="1691640"/>
            <a:ext cx="3749040" cy="1600200"/>
          </a:xfrm>
          <a:prstGeom prst="roundRect">
            <a:avLst>
              <a:gd name="adj" fmla="val 4571"/>
            </a:avLst>
          </a:prstGeom>
          <a:solidFill>
            <a:srgbClr val="FFFFFF"/>
          </a:solidFill>
          <a:ln w="10160">
            <a:solidFill>
              <a:srgbClr val="DCE3EB"/>
            </a:solidFill>
            <a:prstDash val="solid"/>
          </a:ln>
        </p:spPr>
      </p:sp>
      <p:sp>
        <p:nvSpPr>
          <p:cNvPr id="5" name="Shape 3"/>
          <p:cNvSpPr/>
          <p:nvPr/>
        </p:nvSpPr>
        <p:spPr>
          <a:xfrm>
            <a:off x="777240" y="1691640"/>
            <a:ext cx="73152" cy="1600200"/>
          </a:xfrm>
          <a:prstGeom prst="rect">
            <a:avLst>
              <a:gd name="adj" fmla="val 100000"/>
            </a:avLst>
          </a:prstGeom>
          <a:solidFill>
            <a:srgbClr val="2878C8"/>
          </a:solidFill>
          <a:ln w="10160">
            <a:solidFill>
              <a:srgbClr val="2878C8"/>
            </a:solidFill>
            <a:prstDash val="solid"/>
          </a:ln>
        </p:spPr>
      </p:sp>
      <p:sp>
        <p:nvSpPr>
          <p:cNvPr id="6" name="Text 4"/>
          <p:cNvSpPr txBox="1"/>
          <p:nvPr/>
        </p:nvSpPr>
        <p:spPr>
          <a:xfrm>
            <a:off x="978408" y="1819656"/>
            <a:ext cx="340156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DAY 5 STATE</a:t>
            </a:r>
            <a:endParaRPr lang="en-US" sz="1500" dirty="0"/>
          </a:p>
        </p:txBody>
      </p:sp>
      <p:sp>
        <p:nvSpPr>
          <p:cNvPr id="7" name="Text 5"/>
          <p:cNvSpPr txBox="1"/>
          <p:nvPr/>
        </p:nvSpPr>
        <p:spPr>
          <a:xfrm>
            <a:off x="978408" y="2167128"/>
            <a:ext cx="3364992" cy="1014984"/>
          </a:xfrm>
          <a:prstGeom prst="rect">
            <a:avLst/>
          </a:prstGeom>
          <a:noFill/>
          <a:ln/>
        </p:spPr>
        <p:txBody>
          <a:bodyPr wrap="square" lIns="0" tIns="0" rIns="0" bIns="0" rtlCol="0" anchor="t">
            <a:normAutofit/>
          </a:bodyPr>
          <a:lstStyle/>
          <a:p>
            <a:pPr algn="l" indent="0" marL="0">
              <a:lnSpc>
                <a:spcPct val="95000"/>
              </a:lnSpc>
              <a:buNone/>
            </a:pPr>
            <a:r>
              <a:rPr lang="en-US" sz="1130" dirty="0">
                <a:solidFill>
                  <a:srgbClr val="203040"/>
                </a:solidFill>
                <a:latin typeface="Carlito" pitchFamily="34" charset="0"/>
                <a:ea typeface="Carlito" pitchFamily="34" charset="-122"/>
                <a:cs typeface="Carlito" pitchFamily="34" charset="-120"/>
              </a:rPr>
              <a:t>~/gcp-day5-lab</a:t>
            </a:r>
            <a:endParaRPr lang="en-US" sz="1130" dirty="0"/>
          </a:p>
          <a:p>
            <a:pPr algn="l" indent="0" marL="0">
              <a:lnSpc>
                <a:spcPct val="95000"/>
              </a:lnSpc>
              <a:buNone/>
            </a:pPr>
            <a:r>
              <a:rPr lang="en-US" sz="1130" dirty="0">
                <a:solidFill>
                  <a:srgbClr val="203040"/>
                </a:solidFill>
                <a:latin typeface="Carlito" pitchFamily="34" charset="0"/>
                <a:ea typeface="Carlito" pitchFamily="34" charset="-122"/>
                <a:cs typeface="Carlito" pitchFamily="34" charset="-120"/>
              </a:rPr>
              <a:t>Owns Day 5 resource addresses and resource IDs. Destroy Day 5 only from this root, workspace and backend.</a:t>
            </a:r>
            <a:endParaRPr lang="en-US" sz="1130" dirty="0"/>
          </a:p>
        </p:txBody>
      </p:sp>
      <p:sp>
        <p:nvSpPr>
          <p:cNvPr id="8" name="Shape 6"/>
          <p:cNvSpPr/>
          <p:nvPr/>
        </p:nvSpPr>
        <p:spPr>
          <a:xfrm>
            <a:off x="7635240" y="1691640"/>
            <a:ext cx="3749040" cy="1600200"/>
          </a:xfrm>
          <a:prstGeom prst="roundRect">
            <a:avLst>
              <a:gd name="adj" fmla="val 4571"/>
            </a:avLst>
          </a:prstGeom>
          <a:solidFill>
            <a:srgbClr val="FFFFFF"/>
          </a:solidFill>
          <a:ln w="10160">
            <a:solidFill>
              <a:srgbClr val="DCE3EB"/>
            </a:solidFill>
            <a:prstDash val="solid"/>
          </a:ln>
        </p:spPr>
      </p:sp>
      <p:sp>
        <p:nvSpPr>
          <p:cNvPr id="9" name="Shape 7"/>
          <p:cNvSpPr/>
          <p:nvPr/>
        </p:nvSpPr>
        <p:spPr>
          <a:xfrm>
            <a:off x="7635240" y="1691640"/>
            <a:ext cx="73152" cy="1600200"/>
          </a:xfrm>
          <a:prstGeom prst="rect">
            <a:avLst>
              <a:gd name="adj" fmla="val 100000"/>
            </a:avLst>
          </a:prstGeom>
          <a:solidFill>
            <a:srgbClr val="0D9488"/>
          </a:solidFill>
          <a:ln w="10160">
            <a:solidFill>
              <a:srgbClr val="0D9488"/>
            </a:solidFill>
            <a:prstDash val="solid"/>
          </a:ln>
        </p:spPr>
      </p:sp>
      <p:sp>
        <p:nvSpPr>
          <p:cNvPr id="10" name="Text 8"/>
          <p:cNvSpPr txBox="1"/>
          <p:nvPr/>
        </p:nvSpPr>
        <p:spPr>
          <a:xfrm>
            <a:off x="7836408" y="1819656"/>
            <a:ext cx="340156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DAY 6 STATE</a:t>
            </a:r>
            <a:endParaRPr lang="en-US" sz="1500" dirty="0"/>
          </a:p>
        </p:txBody>
      </p:sp>
      <p:sp>
        <p:nvSpPr>
          <p:cNvPr id="11" name="Text 9"/>
          <p:cNvSpPr txBox="1"/>
          <p:nvPr/>
        </p:nvSpPr>
        <p:spPr>
          <a:xfrm>
            <a:off x="7836408" y="2167128"/>
            <a:ext cx="3364992" cy="1014984"/>
          </a:xfrm>
          <a:prstGeom prst="rect">
            <a:avLst/>
          </a:prstGeom>
          <a:noFill/>
          <a:ln/>
        </p:spPr>
        <p:txBody>
          <a:bodyPr wrap="square" lIns="0" tIns="0" rIns="0" bIns="0" rtlCol="0" anchor="t">
            <a:normAutofit/>
          </a:bodyPr>
          <a:lstStyle/>
          <a:p>
            <a:pPr algn="l" indent="0" marL="0">
              <a:lnSpc>
                <a:spcPct val="95000"/>
              </a:lnSpc>
              <a:buNone/>
            </a:pPr>
            <a:r>
              <a:rPr lang="en-US" sz="1130" dirty="0">
                <a:solidFill>
                  <a:srgbClr val="203040"/>
                </a:solidFill>
                <a:latin typeface="Carlito" pitchFamily="34" charset="0"/>
                <a:ea typeface="Carlito" pitchFamily="34" charset="-122"/>
                <a:cs typeface="Carlito" pitchFamily="34" charset="-120"/>
              </a:rPr>
              <a:t>~/gcp-day6-lab</a:t>
            </a:r>
            <a:endParaRPr lang="en-US" sz="1130" dirty="0"/>
          </a:p>
          <a:p>
            <a:pPr algn="l" indent="0" marL="0">
              <a:lnSpc>
                <a:spcPct val="95000"/>
              </a:lnSpc>
              <a:buNone/>
            </a:pPr>
            <a:r>
              <a:rPr lang="en-US" sz="1130" dirty="0">
                <a:solidFill>
                  <a:srgbClr val="203040"/>
                </a:solidFill>
                <a:latin typeface="Carlito" pitchFamily="34" charset="0"/>
                <a:ea typeface="Carlito" pitchFamily="34" charset="-122"/>
                <a:cs typeface="Carlito" pitchFamily="34" charset="-120"/>
              </a:rPr>
              <a:t>Owns Day 6 resource addresses and resource IDs. Never copy Day 5 state or provider cache into this folder.</a:t>
            </a:r>
            <a:endParaRPr lang="en-US" sz="1130" dirty="0"/>
          </a:p>
        </p:txBody>
      </p:sp>
      <p:sp>
        <p:nvSpPr>
          <p:cNvPr id="12" name="Shape 10"/>
          <p:cNvSpPr/>
          <p:nvPr/>
        </p:nvSpPr>
        <p:spPr>
          <a:xfrm>
            <a:off x="4617720" y="2423160"/>
            <a:ext cx="2880360" cy="0"/>
          </a:xfrm>
          <a:prstGeom prst="line">
            <a:avLst/>
          </a:prstGeom>
          <a:noFill/>
          <a:ln w="25400">
            <a:solidFill>
              <a:srgbClr val="D94F4F"/>
            </a:solidFill>
            <a:prstDash val="dash"/>
          </a:ln>
        </p:spPr>
      </p:sp>
      <p:sp>
        <p:nvSpPr>
          <p:cNvPr id="13" name="Text 11"/>
          <p:cNvSpPr txBox="1"/>
          <p:nvPr/>
        </p:nvSpPr>
        <p:spPr>
          <a:xfrm>
            <a:off x="4754880" y="2039112"/>
            <a:ext cx="2606040" cy="228600"/>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D94F4F"/>
                </a:solidFill>
                <a:latin typeface="Carlito" pitchFamily="34" charset="0"/>
                <a:ea typeface="Carlito" pitchFamily="34" charset="-122"/>
                <a:cs typeface="Carlito" pitchFamily="34" charset="-120"/>
              </a:rPr>
              <a:t>NO SHARED STATE</a:t>
            </a:r>
            <a:endParaRPr lang="en-US" sz="1200" dirty="0"/>
          </a:p>
        </p:txBody>
      </p:sp>
      <p:sp>
        <p:nvSpPr>
          <p:cNvPr id="14" name="Text 12"/>
          <p:cNvSpPr txBox="1"/>
          <p:nvPr/>
        </p:nvSpPr>
        <p:spPr>
          <a:xfrm>
            <a:off x="868680" y="3840480"/>
            <a:ext cx="10515600" cy="1371600"/>
          </a:xfrm>
          <a:prstGeom prst="rect">
            <a:avLst/>
          </a:prstGeom>
          <a:noFill/>
          <a:ln/>
        </p:spPr>
        <p:txBody>
          <a:bodyPr wrap="square" lIns="254" tIns="254" rIns="254" bIns="254" rtlCol="0" anchor="t">
            <a:normAutofit/>
          </a:bodyPr>
          <a:lstStyle/>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Terraform state maps configuration addresses to real cloud resource identities.</a:t>
            </a:r>
            <a:endParaRPr lang="en-US" sz="1300" dirty="0"/>
          </a:p>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An empty state does not mean the cloud project is empty. A remote resource can exist and trigger a 409 AlreadyExists error.</a:t>
            </a:r>
            <a:endParaRPr lang="en-US" sz="1300" dirty="0"/>
          </a:p>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Do not delete state to “start fresh”; recover the correct state or import a verified existing resource.</a:t>
            </a:r>
            <a:endParaRPr lang="en-US" sz="1300" dirty="0"/>
          </a:p>
          <a:p>
            <a:pPr algn="l" indent="0" marL="0">
              <a:lnSpc>
                <a:spcPct val="95000"/>
              </a:lnSpc>
              <a:buNone/>
            </a:pPr>
            <a:r>
              <a:rPr lang="en-US" sz="1300" dirty="0">
                <a:solidFill>
                  <a:srgbClr val="203040"/>
                </a:solidFill>
                <a:latin typeface="Carlito" pitchFamily="34" charset="0"/>
                <a:ea typeface="Carlito" pitchFamily="34" charset="-122"/>
                <a:cs typeface="Carlito" pitchFamily="34" charset="-120"/>
              </a:rPr>
              <a:t>•  Do not disable shared APIs as part of lab cleanup.</a:t>
            </a:r>
            <a:endParaRPr lang="en-US" sz="1300" dirty="0"/>
          </a:p>
        </p:txBody>
      </p:sp>
      <p:sp>
        <p:nvSpPr>
          <p:cNvPr id="15" name="Shape 13"/>
          <p:cNvSpPr/>
          <p:nvPr/>
        </p:nvSpPr>
        <p:spPr>
          <a:xfrm>
            <a:off x="822960" y="5577840"/>
            <a:ext cx="10515600" cy="502920"/>
          </a:xfrm>
          <a:prstGeom prst="roundRect">
            <a:avLst>
              <a:gd name="adj" fmla="val 14545"/>
            </a:avLst>
          </a:prstGeom>
          <a:solidFill>
            <a:srgbClr val="FFF5E6"/>
          </a:solidFill>
          <a:ln w="10160">
            <a:solidFill>
              <a:srgbClr val="FFF5E6"/>
            </a:solidFill>
            <a:prstDash val="solid"/>
          </a:ln>
        </p:spPr>
      </p:sp>
      <p:sp>
        <p:nvSpPr>
          <p:cNvPr id="16" name="Text 14"/>
          <p:cNvSpPr txBox="1"/>
          <p:nvPr/>
        </p:nvSpPr>
        <p:spPr>
          <a:xfrm>
            <a:off x="969264" y="5650992"/>
            <a:ext cx="10222992" cy="35661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Day 5 destroy is not a project-wide cleanup. It only affects the selected state. Always compare the Day 5 pre-destroy outputs with live CLI and Console inventory.</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LAB SAFETY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Default-off features are deliberate guardrails</a:t>
            </a:r>
            <a:endParaRPr lang="en-US" sz="2500" dirty="0"/>
          </a:p>
        </p:txBody>
      </p:sp>
      <p:sp>
        <p:nvSpPr>
          <p:cNvPr id="4" name="Shape 2"/>
          <p:cNvSpPr/>
          <p:nvPr/>
        </p:nvSpPr>
        <p:spPr>
          <a:xfrm>
            <a:off x="731520" y="1691640"/>
            <a:ext cx="2697480" cy="384048"/>
          </a:xfrm>
          <a:prstGeom prst="rect">
            <a:avLst/>
          </a:prstGeom>
          <a:solidFill>
            <a:srgbClr val="12304A"/>
          </a:solidFill>
          <a:ln w="6350">
            <a:solidFill>
              <a:srgbClr val="D5DEE8"/>
            </a:solidFill>
            <a:prstDash val="solid"/>
          </a:ln>
        </p:spPr>
      </p:sp>
      <p:sp>
        <p:nvSpPr>
          <p:cNvPr id="5" name="Text 3"/>
          <p:cNvSpPr txBox="1"/>
          <p:nvPr/>
        </p:nvSpPr>
        <p:spPr>
          <a:xfrm>
            <a:off x="795528" y="1728216"/>
            <a:ext cx="2569464" cy="310896"/>
          </a:xfrm>
          <a:prstGeom prst="rect">
            <a:avLst/>
          </a:prstGeom>
          <a:noFill/>
          <a:ln/>
        </p:spPr>
        <p:txBody>
          <a:bodyPr wrap="square" lIns="0" tIns="0" rIns="0" bIns="0" rtlCol="0" anchor="ctr">
            <a:normAutofit/>
          </a:bodyPr>
          <a:lstStyle/>
          <a:p>
            <a:pPr algn="l" indent="0" marL="0">
              <a:lnSpc>
                <a:spcPct val="95000"/>
              </a:lnSpc>
              <a:buNone/>
            </a:pPr>
            <a:r>
              <a:rPr lang="en-US" sz="1000" b="1" dirty="0">
                <a:solidFill>
                  <a:srgbClr val="FFFFFF"/>
                </a:solidFill>
                <a:latin typeface="Carlito" pitchFamily="34" charset="0"/>
                <a:ea typeface="Carlito" pitchFamily="34" charset="-122"/>
                <a:cs typeface="Carlito" pitchFamily="34" charset="-120"/>
              </a:rPr>
              <a:t>OPTIONAL FEATURE</a:t>
            </a:r>
            <a:endParaRPr lang="en-US" sz="1000" dirty="0"/>
          </a:p>
        </p:txBody>
      </p:sp>
      <p:sp>
        <p:nvSpPr>
          <p:cNvPr id="6" name="Shape 4"/>
          <p:cNvSpPr/>
          <p:nvPr/>
        </p:nvSpPr>
        <p:spPr>
          <a:xfrm>
            <a:off x="3429000" y="1691640"/>
            <a:ext cx="4315968" cy="384048"/>
          </a:xfrm>
          <a:prstGeom prst="rect">
            <a:avLst/>
          </a:prstGeom>
          <a:solidFill>
            <a:srgbClr val="12304A"/>
          </a:solidFill>
          <a:ln w="6350">
            <a:solidFill>
              <a:srgbClr val="D5DEE8"/>
            </a:solidFill>
            <a:prstDash val="solid"/>
          </a:ln>
        </p:spPr>
      </p:sp>
      <p:sp>
        <p:nvSpPr>
          <p:cNvPr id="7" name="Text 5"/>
          <p:cNvSpPr txBox="1"/>
          <p:nvPr/>
        </p:nvSpPr>
        <p:spPr>
          <a:xfrm>
            <a:off x="3493008" y="1728216"/>
            <a:ext cx="4187952" cy="310896"/>
          </a:xfrm>
          <a:prstGeom prst="rect">
            <a:avLst/>
          </a:prstGeom>
          <a:noFill/>
          <a:ln/>
        </p:spPr>
        <p:txBody>
          <a:bodyPr wrap="square" lIns="0" tIns="0" rIns="0" bIns="0" rtlCol="0" anchor="ctr">
            <a:normAutofit/>
          </a:bodyPr>
          <a:lstStyle/>
          <a:p>
            <a:pPr algn="l" indent="0" marL="0">
              <a:lnSpc>
                <a:spcPct val="95000"/>
              </a:lnSpc>
              <a:buNone/>
            </a:pPr>
            <a:r>
              <a:rPr lang="en-US" sz="1000" b="1" dirty="0">
                <a:solidFill>
                  <a:srgbClr val="FFFFFF"/>
                </a:solidFill>
                <a:latin typeface="Carlito" pitchFamily="34" charset="0"/>
                <a:ea typeface="Carlito" pitchFamily="34" charset="-122"/>
                <a:cs typeface="Carlito" pitchFamily="34" charset="-120"/>
              </a:rPr>
              <a:t>WHY IT STARTS OFF</a:t>
            </a:r>
            <a:endParaRPr lang="en-US" sz="1000" dirty="0"/>
          </a:p>
        </p:txBody>
      </p:sp>
      <p:sp>
        <p:nvSpPr>
          <p:cNvPr id="8" name="Shape 6"/>
          <p:cNvSpPr/>
          <p:nvPr/>
        </p:nvSpPr>
        <p:spPr>
          <a:xfrm>
            <a:off x="7744968" y="1691640"/>
            <a:ext cx="3776472" cy="384048"/>
          </a:xfrm>
          <a:prstGeom prst="rect">
            <a:avLst/>
          </a:prstGeom>
          <a:solidFill>
            <a:srgbClr val="12304A"/>
          </a:solidFill>
          <a:ln w="6350">
            <a:solidFill>
              <a:srgbClr val="D5DEE8"/>
            </a:solidFill>
            <a:prstDash val="solid"/>
          </a:ln>
        </p:spPr>
      </p:sp>
      <p:sp>
        <p:nvSpPr>
          <p:cNvPr id="9" name="Text 7"/>
          <p:cNvSpPr txBox="1"/>
          <p:nvPr/>
        </p:nvSpPr>
        <p:spPr>
          <a:xfrm>
            <a:off x="7808976" y="1728216"/>
            <a:ext cx="3648456" cy="310896"/>
          </a:xfrm>
          <a:prstGeom prst="rect">
            <a:avLst/>
          </a:prstGeom>
          <a:noFill/>
          <a:ln/>
        </p:spPr>
        <p:txBody>
          <a:bodyPr wrap="square" lIns="0" tIns="0" rIns="0" bIns="0" rtlCol="0" anchor="ctr">
            <a:normAutofit/>
          </a:bodyPr>
          <a:lstStyle/>
          <a:p>
            <a:pPr algn="l" indent="0" marL="0">
              <a:lnSpc>
                <a:spcPct val="95000"/>
              </a:lnSpc>
              <a:buNone/>
            </a:pPr>
            <a:r>
              <a:rPr lang="en-US" sz="1000" b="1" dirty="0">
                <a:solidFill>
                  <a:srgbClr val="FFFFFF"/>
                </a:solidFill>
                <a:latin typeface="Carlito" pitchFamily="34" charset="0"/>
                <a:ea typeface="Carlito" pitchFamily="34" charset="-122"/>
                <a:cs typeface="Carlito" pitchFamily="34" charset="-120"/>
              </a:rPr>
              <a:t>WHEN TO ENABLE</a:t>
            </a:r>
            <a:endParaRPr lang="en-US" sz="1000" dirty="0"/>
          </a:p>
        </p:txBody>
      </p:sp>
      <p:sp>
        <p:nvSpPr>
          <p:cNvPr id="10" name="Shape 8"/>
          <p:cNvSpPr/>
          <p:nvPr/>
        </p:nvSpPr>
        <p:spPr>
          <a:xfrm>
            <a:off x="731520" y="2075688"/>
            <a:ext cx="2697480" cy="598932"/>
          </a:xfrm>
          <a:prstGeom prst="rect">
            <a:avLst/>
          </a:prstGeom>
          <a:solidFill>
            <a:srgbClr val="FFFFFF"/>
          </a:solidFill>
          <a:ln w="6350">
            <a:solidFill>
              <a:srgbClr val="D5DEE8"/>
            </a:solidFill>
            <a:prstDash val="solid"/>
          </a:ln>
        </p:spPr>
      </p:sp>
      <p:sp>
        <p:nvSpPr>
          <p:cNvPr id="11" name="Text 9"/>
          <p:cNvSpPr txBox="1"/>
          <p:nvPr/>
        </p:nvSpPr>
        <p:spPr>
          <a:xfrm>
            <a:off x="795528" y="2112264"/>
            <a:ext cx="2569464"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Cloud NAT</a:t>
            </a:r>
            <a:endParaRPr lang="en-US" sz="1000" dirty="0"/>
          </a:p>
        </p:txBody>
      </p:sp>
      <p:sp>
        <p:nvSpPr>
          <p:cNvPr id="12" name="Shape 10"/>
          <p:cNvSpPr/>
          <p:nvPr/>
        </p:nvSpPr>
        <p:spPr>
          <a:xfrm>
            <a:off x="3429000" y="2075688"/>
            <a:ext cx="4315968" cy="598932"/>
          </a:xfrm>
          <a:prstGeom prst="rect">
            <a:avLst/>
          </a:prstGeom>
          <a:solidFill>
            <a:srgbClr val="FFFFFF"/>
          </a:solidFill>
          <a:ln w="6350">
            <a:solidFill>
              <a:srgbClr val="D5DEE8"/>
            </a:solidFill>
            <a:prstDash val="solid"/>
          </a:ln>
        </p:spPr>
      </p:sp>
      <p:sp>
        <p:nvSpPr>
          <p:cNvPr id="13" name="Text 11"/>
          <p:cNvSpPr txBox="1"/>
          <p:nvPr/>
        </p:nvSpPr>
        <p:spPr>
          <a:xfrm>
            <a:off x="3493008" y="2112264"/>
            <a:ext cx="4187952"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Billable gateway + data processing</a:t>
            </a:r>
            <a:endParaRPr lang="en-US" sz="1000" dirty="0"/>
          </a:p>
        </p:txBody>
      </p:sp>
      <p:sp>
        <p:nvSpPr>
          <p:cNvPr id="14" name="Shape 12"/>
          <p:cNvSpPr/>
          <p:nvPr/>
        </p:nvSpPr>
        <p:spPr>
          <a:xfrm>
            <a:off x="7744968" y="2075688"/>
            <a:ext cx="3776472" cy="598932"/>
          </a:xfrm>
          <a:prstGeom prst="rect">
            <a:avLst/>
          </a:prstGeom>
          <a:solidFill>
            <a:srgbClr val="FFFFFF"/>
          </a:solidFill>
          <a:ln w="6350">
            <a:solidFill>
              <a:srgbClr val="D5DEE8"/>
            </a:solidFill>
            <a:prstDash val="solid"/>
          </a:ln>
        </p:spPr>
      </p:sp>
      <p:sp>
        <p:nvSpPr>
          <p:cNvPr id="15" name="Text 13"/>
          <p:cNvSpPr txBox="1"/>
          <p:nvPr/>
        </p:nvSpPr>
        <p:spPr>
          <a:xfrm>
            <a:off x="7808976" y="2112264"/>
            <a:ext cx="3648456"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GCP-INC-2002 egress test</a:t>
            </a:r>
            <a:endParaRPr lang="en-US" sz="1000" dirty="0"/>
          </a:p>
        </p:txBody>
      </p:sp>
      <p:sp>
        <p:nvSpPr>
          <p:cNvPr id="16" name="Shape 14"/>
          <p:cNvSpPr/>
          <p:nvPr/>
        </p:nvSpPr>
        <p:spPr>
          <a:xfrm>
            <a:off x="731520" y="2674620"/>
            <a:ext cx="2697480" cy="598932"/>
          </a:xfrm>
          <a:prstGeom prst="rect">
            <a:avLst/>
          </a:prstGeom>
          <a:solidFill>
            <a:srgbClr val="F1F5F9"/>
          </a:solidFill>
          <a:ln w="6350">
            <a:solidFill>
              <a:srgbClr val="D5DEE8"/>
            </a:solidFill>
            <a:prstDash val="solid"/>
          </a:ln>
        </p:spPr>
      </p:sp>
      <p:sp>
        <p:nvSpPr>
          <p:cNvPr id="17" name="Text 15"/>
          <p:cNvSpPr txBox="1"/>
          <p:nvPr/>
        </p:nvSpPr>
        <p:spPr>
          <a:xfrm>
            <a:off x="795528" y="2711196"/>
            <a:ext cx="2569464"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Public bucket binding</a:t>
            </a:r>
            <a:endParaRPr lang="en-US" sz="1000" dirty="0"/>
          </a:p>
        </p:txBody>
      </p:sp>
      <p:sp>
        <p:nvSpPr>
          <p:cNvPr id="18" name="Shape 16"/>
          <p:cNvSpPr/>
          <p:nvPr/>
        </p:nvSpPr>
        <p:spPr>
          <a:xfrm>
            <a:off x="3429000" y="2674620"/>
            <a:ext cx="4315968" cy="598932"/>
          </a:xfrm>
          <a:prstGeom prst="rect">
            <a:avLst/>
          </a:prstGeom>
          <a:solidFill>
            <a:srgbClr val="F1F5F9"/>
          </a:solidFill>
          <a:ln w="6350">
            <a:solidFill>
              <a:srgbClr val="D5DEE8"/>
            </a:solidFill>
            <a:prstDash val="solid"/>
          </a:ln>
        </p:spPr>
      </p:sp>
      <p:sp>
        <p:nvSpPr>
          <p:cNvPr id="19" name="Text 17"/>
          <p:cNvSpPr txBox="1"/>
          <p:nvPr/>
        </p:nvSpPr>
        <p:spPr>
          <a:xfrm>
            <a:off x="3493008" y="2711196"/>
            <a:ext cx="4187952"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Temporarily exposes synthetic object</a:t>
            </a:r>
            <a:endParaRPr lang="en-US" sz="1000" dirty="0"/>
          </a:p>
        </p:txBody>
      </p:sp>
      <p:sp>
        <p:nvSpPr>
          <p:cNvPr id="20" name="Shape 18"/>
          <p:cNvSpPr/>
          <p:nvPr/>
        </p:nvSpPr>
        <p:spPr>
          <a:xfrm>
            <a:off x="7744968" y="2674620"/>
            <a:ext cx="3776472" cy="598932"/>
          </a:xfrm>
          <a:prstGeom prst="rect">
            <a:avLst/>
          </a:prstGeom>
          <a:solidFill>
            <a:srgbClr val="F1F5F9"/>
          </a:solidFill>
          <a:ln w="6350">
            <a:solidFill>
              <a:srgbClr val="D5DEE8"/>
            </a:solidFill>
            <a:prstDash val="solid"/>
          </a:ln>
        </p:spPr>
      </p:sp>
      <p:sp>
        <p:nvSpPr>
          <p:cNvPr id="21" name="Text 19"/>
          <p:cNvSpPr txBox="1"/>
          <p:nvPr/>
        </p:nvSpPr>
        <p:spPr>
          <a:xfrm>
            <a:off x="7808976" y="2711196"/>
            <a:ext cx="3648456"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Only when policy permits; remove immediately</a:t>
            </a:r>
            <a:endParaRPr lang="en-US" sz="1000" dirty="0"/>
          </a:p>
        </p:txBody>
      </p:sp>
      <p:sp>
        <p:nvSpPr>
          <p:cNvPr id="22" name="Shape 20"/>
          <p:cNvSpPr/>
          <p:nvPr/>
        </p:nvSpPr>
        <p:spPr>
          <a:xfrm>
            <a:off x="731520" y="3273552"/>
            <a:ext cx="2697480" cy="598932"/>
          </a:xfrm>
          <a:prstGeom prst="rect">
            <a:avLst/>
          </a:prstGeom>
          <a:solidFill>
            <a:srgbClr val="FFFFFF"/>
          </a:solidFill>
          <a:ln w="6350">
            <a:solidFill>
              <a:srgbClr val="D5DEE8"/>
            </a:solidFill>
            <a:prstDash val="solid"/>
          </a:ln>
        </p:spPr>
      </p:sp>
      <p:sp>
        <p:nvSpPr>
          <p:cNvPr id="23" name="Text 21"/>
          <p:cNvSpPr txBox="1"/>
          <p:nvPr/>
        </p:nvSpPr>
        <p:spPr>
          <a:xfrm>
            <a:off x="795528" y="3310128"/>
            <a:ext cx="2569464"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CMEK</a:t>
            </a:r>
            <a:endParaRPr lang="en-US" sz="1000" dirty="0"/>
          </a:p>
        </p:txBody>
      </p:sp>
      <p:sp>
        <p:nvSpPr>
          <p:cNvPr id="24" name="Shape 22"/>
          <p:cNvSpPr/>
          <p:nvPr/>
        </p:nvSpPr>
        <p:spPr>
          <a:xfrm>
            <a:off x="3429000" y="3273552"/>
            <a:ext cx="4315968" cy="598932"/>
          </a:xfrm>
          <a:prstGeom prst="rect">
            <a:avLst/>
          </a:prstGeom>
          <a:solidFill>
            <a:srgbClr val="FFFFFF"/>
          </a:solidFill>
          <a:ln w="6350">
            <a:solidFill>
              <a:srgbClr val="D5DEE8"/>
            </a:solidFill>
            <a:prstDash val="solid"/>
          </a:ln>
        </p:spPr>
      </p:sp>
      <p:sp>
        <p:nvSpPr>
          <p:cNvPr id="25" name="Text 23"/>
          <p:cNvSpPr txBox="1"/>
          <p:nvPr/>
        </p:nvSpPr>
        <p:spPr>
          <a:xfrm>
            <a:off x="3493008" y="3310128"/>
            <a:ext cx="4187952"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Key lifecycle can affect data access</a:t>
            </a:r>
            <a:endParaRPr lang="en-US" sz="1000" dirty="0"/>
          </a:p>
        </p:txBody>
      </p:sp>
      <p:sp>
        <p:nvSpPr>
          <p:cNvPr id="26" name="Shape 24"/>
          <p:cNvSpPr/>
          <p:nvPr/>
        </p:nvSpPr>
        <p:spPr>
          <a:xfrm>
            <a:off x="7744968" y="3273552"/>
            <a:ext cx="3776472" cy="598932"/>
          </a:xfrm>
          <a:prstGeom prst="rect">
            <a:avLst/>
          </a:prstGeom>
          <a:solidFill>
            <a:srgbClr val="FFFFFF"/>
          </a:solidFill>
          <a:ln w="6350">
            <a:solidFill>
              <a:srgbClr val="D5DEE8"/>
            </a:solidFill>
            <a:prstDash val="solid"/>
          </a:ln>
        </p:spPr>
      </p:sp>
      <p:sp>
        <p:nvSpPr>
          <p:cNvPr id="27" name="Text 25"/>
          <p:cNvSpPr txBox="1"/>
          <p:nvPr/>
        </p:nvSpPr>
        <p:spPr>
          <a:xfrm>
            <a:off x="7808976" y="3310128"/>
            <a:ext cx="3648456"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GCP-INC-2003 encryption proof</a:t>
            </a:r>
            <a:endParaRPr lang="en-US" sz="1000" dirty="0"/>
          </a:p>
        </p:txBody>
      </p:sp>
      <p:sp>
        <p:nvSpPr>
          <p:cNvPr id="28" name="Shape 26"/>
          <p:cNvSpPr/>
          <p:nvPr/>
        </p:nvSpPr>
        <p:spPr>
          <a:xfrm>
            <a:off x="731520" y="3872484"/>
            <a:ext cx="2697480" cy="598932"/>
          </a:xfrm>
          <a:prstGeom prst="rect">
            <a:avLst/>
          </a:prstGeom>
          <a:solidFill>
            <a:srgbClr val="F1F5F9"/>
          </a:solidFill>
          <a:ln w="6350">
            <a:solidFill>
              <a:srgbClr val="D5DEE8"/>
            </a:solidFill>
            <a:prstDash val="solid"/>
          </a:ln>
        </p:spPr>
      </p:sp>
      <p:sp>
        <p:nvSpPr>
          <p:cNvPr id="29" name="Text 27"/>
          <p:cNvSpPr txBox="1"/>
          <p:nvPr/>
        </p:nvSpPr>
        <p:spPr>
          <a:xfrm>
            <a:off x="795528" y="3909060"/>
            <a:ext cx="2569464"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CPU alert</a:t>
            </a:r>
            <a:endParaRPr lang="en-US" sz="1000" dirty="0"/>
          </a:p>
        </p:txBody>
      </p:sp>
      <p:sp>
        <p:nvSpPr>
          <p:cNvPr id="30" name="Shape 28"/>
          <p:cNvSpPr/>
          <p:nvPr/>
        </p:nvSpPr>
        <p:spPr>
          <a:xfrm>
            <a:off x="3429000" y="3872484"/>
            <a:ext cx="4315968" cy="598932"/>
          </a:xfrm>
          <a:prstGeom prst="rect">
            <a:avLst/>
          </a:prstGeom>
          <a:solidFill>
            <a:srgbClr val="F1F5F9"/>
          </a:solidFill>
          <a:ln w="6350">
            <a:solidFill>
              <a:srgbClr val="D5DEE8"/>
            </a:solidFill>
            <a:prstDash val="solid"/>
          </a:ln>
        </p:spPr>
      </p:sp>
      <p:sp>
        <p:nvSpPr>
          <p:cNvPr id="31" name="Text 29"/>
          <p:cNvSpPr txBox="1"/>
          <p:nvPr/>
        </p:nvSpPr>
        <p:spPr>
          <a:xfrm>
            <a:off x="3493008" y="3909060"/>
            <a:ext cx="4187952"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Email + Monitoring resources</a:t>
            </a:r>
            <a:endParaRPr lang="en-US" sz="1000" dirty="0"/>
          </a:p>
        </p:txBody>
      </p:sp>
      <p:sp>
        <p:nvSpPr>
          <p:cNvPr id="32" name="Shape 30"/>
          <p:cNvSpPr/>
          <p:nvPr/>
        </p:nvSpPr>
        <p:spPr>
          <a:xfrm>
            <a:off x="7744968" y="3872484"/>
            <a:ext cx="3776472" cy="598932"/>
          </a:xfrm>
          <a:prstGeom prst="rect">
            <a:avLst/>
          </a:prstGeom>
          <a:solidFill>
            <a:srgbClr val="F1F5F9"/>
          </a:solidFill>
          <a:ln w="6350">
            <a:solidFill>
              <a:srgbClr val="D5DEE8"/>
            </a:solidFill>
            <a:prstDash val="solid"/>
          </a:ln>
        </p:spPr>
      </p:sp>
      <p:sp>
        <p:nvSpPr>
          <p:cNvPr id="33" name="Text 31"/>
          <p:cNvSpPr txBox="1"/>
          <p:nvPr/>
        </p:nvSpPr>
        <p:spPr>
          <a:xfrm>
            <a:off x="7808976" y="3909060"/>
            <a:ext cx="3648456"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GCP-INC-2003 and capstone</a:t>
            </a:r>
            <a:endParaRPr lang="en-US" sz="1000" dirty="0"/>
          </a:p>
        </p:txBody>
      </p:sp>
      <p:sp>
        <p:nvSpPr>
          <p:cNvPr id="34" name="Shape 32"/>
          <p:cNvSpPr/>
          <p:nvPr/>
        </p:nvSpPr>
        <p:spPr>
          <a:xfrm>
            <a:off x="731520" y="4471416"/>
            <a:ext cx="2697480" cy="598932"/>
          </a:xfrm>
          <a:prstGeom prst="rect">
            <a:avLst/>
          </a:prstGeom>
          <a:solidFill>
            <a:srgbClr val="FFFFFF"/>
          </a:solidFill>
          <a:ln w="6350">
            <a:solidFill>
              <a:srgbClr val="D5DEE8"/>
            </a:solidFill>
            <a:prstDash val="solid"/>
          </a:ln>
        </p:spPr>
      </p:sp>
      <p:sp>
        <p:nvSpPr>
          <p:cNvPr id="35" name="Text 33"/>
          <p:cNvSpPr txBox="1"/>
          <p:nvPr/>
        </p:nvSpPr>
        <p:spPr>
          <a:xfrm>
            <a:off x="795528" y="4507992"/>
            <a:ext cx="2569464"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Firewall Deny</a:t>
            </a:r>
            <a:endParaRPr lang="en-US" sz="1000" dirty="0"/>
          </a:p>
        </p:txBody>
      </p:sp>
      <p:sp>
        <p:nvSpPr>
          <p:cNvPr id="36" name="Shape 34"/>
          <p:cNvSpPr/>
          <p:nvPr/>
        </p:nvSpPr>
        <p:spPr>
          <a:xfrm>
            <a:off x="3429000" y="4471416"/>
            <a:ext cx="4315968" cy="598932"/>
          </a:xfrm>
          <a:prstGeom prst="rect">
            <a:avLst/>
          </a:prstGeom>
          <a:solidFill>
            <a:srgbClr val="FFFFFF"/>
          </a:solidFill>
          <a:ln w="6350">
            <a:solidFill>
              <a:srgbClr val="D5DEE8"/>
            </a:solidFill>
            <a:prstDash val="solid"/>
          </a:ln>
        </p:spPr>
      </p:sp>
      <p:sp>
        <p:nvSpPr>
          <p:cNvPr id="37" name="Text 35"/>
          <p:cNvSpPr txBox="1"/>
          <p:nvPr/>
        </p:nvSpPr>
        <p:spPr>
          <a:xfrm>
            <a:off x="3493008" y="4507992"/>
            <a:ext cx="4187952"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Intentionally blocks IAP SSH</a:t>
            </a:r>
            <a:endParaRPr lang="en-US" sz="1000" dirty="0"/>
          </a:p>
        </p:txBody>
      </p:sp>
      <p:sp>
        <p:nvSpPr>
          <p:cNvPr id="38" name="Shape 36"/>
          <p:cNvSpPr/>
          <p:nvPr/>
        </p:nvSpPr>
        <p:spPr>
          <a:xfrm>
            <a:off x="7744968" y="4471416"/>
            <a:ext cx="3776472" cy="598932"/>
          </a:xfrm>
          <a:prstGeom prst="rect">
            <a:avLst/>
          </a:prstGeom>
          <a:solidFill>
            <a:srgbClr val="FFFFFF"/>
          </a:solidFill>
          <a:ln w="6350">
            <a:solidFill>
              <a:srgbClr val="D5DEE8"/>
            </a:solidFill>
            <a:prstDash val="solid"/>
          </a:ln>
        </p:spPr>
      </p:sp>
      <p:sp>
        <p:nvSpPr>
          <p:cNvPr id="39" name="Text 37"/>
          <p:cNvSpPr txBox="1"/>
          <p:nvPr/>
        </p:nvSpPr>
        <p:spPr>
          <a:xfrm>
            <a:off x="7808976" y="4507992"/>
            <a:ext cx="3648456"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PIR-D6 firewall fault</a:t>
            </a:r>
            <a:endParaRPr lang="en-US" sz="1000" dirty="0"/>
          </a:p>
        </p:txBody>
      </p:sp>
      <p:sp>
        <p:nvSpPr>
          <p:cNvPr id="40" name="Shape 38"/>
          <p:cNvSpPr/>
          <p:nvPr/>
        </p:nvSpPr>
        <p:spPr>
          <a:xfrm>
            <a:off x="731520" y="5070348"/>
            <a:ext cx="2697480" cy="598932"/>
          </a:xfrm>
          <a:prstGeom prst="rect">
            <a:avLst/>
          </a:prstGeom>
          <a:solidFill>
            <a:srgbClr val="F1F5F9"/>
          </a:solidFill>
          <a:ln w="6350">
            <a:solidFill>
              <a:srgbClr val="D5DEE8"/>
            </a:solidFill>
            <a:prstDash val="solid"/>
          </a:ln>
        </p:spPr>
      </p:sp>
      <p:sp>
        <p:nvSpPr>
          <p:cNvPr id="41" name="Text 39"/>
          <p:cNvSpPr txBox="1"/>
          <p:nvPr/>
        </p:nvSpPr>
        <p:spPr>
          <a:xfrm>
            <a:off x="795528" y="5106924"/>
            <a:ext cx="2569464"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IAM Deny</a:t>
            </a:r>
            <a:endParaRPr lang="en-US" sz="1000" dirty="0"/>
          </a:p>
        </p:txBody>
      </p:sp>
      <p:sp>
        <p:nvSpPr>
          <p:cNvPr id="42" name="Shape 40"/>
          <p:cNvSpPr/>
          <p:nvPr/>
        </p:nvSpPr>
        <p:spPr>
          <a:xfrm>
            <a:off x="3429000" y="5070348"/>
            <a:ext cx="4315968" cy="598932"/>
          </a:xfrm>
          <a:prstGeom prst="rect">
            <a:avLst/>
          </a:prstGeom>
          <a:solidFill>
            <a:srgbClr val="F1F5F9"/>
          </a:solidFill>
          <a:ln w="6350">
            <a:solidFill>
              <a:srgbClr val="D5DEE8"/>
            </a:solidFill>
            <a:prstDash val="solid"/>
          </a:ln>
        </p:spPr>
      </p:sp>
      <p:sp>
        <p:nvSpPr>
          <p:cNvPr id="43" name="Text 41"/>
          <p:cNvSpPr txBox="1"/>
          <p:nvPr/>
        </p:nvSpPr>
        <p:spPr>
          <a:xfrm>
            <a:off x="3493008" y="5106924"/>
            <a:ext cx="4187952"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Can block principal permissions</a:t>
            </a:r>
            <a:endParaRPr lang="en-US" sz="1000" dirty="0"/>
          </a:p>
        </p:txBody>
      </p:sp>
      <p:sp>
        <p:nvSpPr>
          <p:cNvPr id="44" name="Shape 42"/>
          <p:cNvSpPr/>
          <p:nvPr/>
        </p:nvSpPr>
        <p:spPr>
          <a:xfrm>
            <a:off x="7744968" y="5070348"/>
            <a:ext cx="3776472" cy="598932"/>
          </a:xfrm>
          <a:prstGeom prst="rect">
            <a:avLst/>
          </a:prstGeom>
          <a:solidFill>
            <a:srgbClr val="F1F5F9"/>
          </a:solidFill>
          <a:ln w="6350">
            <a:solidFill>
              <a:srgbClr val="D5DEE8"/>
            </a:solidFill>
            <a:prstDash val="solid"/>
          </a:ln>
        </p:spPr>
      </p:sp>
      <p:sp>
        <p:nvSpPr>
          <p:cNvPr id="45" name="Text 43"/>
          <p:cNvSpPr txBox="1"/>
          <p:nvPr/>
        </p:nvSpPr>
        <p:spPr>
          <a:xfrm>
            <a:off x="7808976" y="5106924"/>
            <a:ext cx="3648456" cy="525780"/>
          </a:xfrm>
          <a:prstGeom prst="rect">
            <a:avLst/>
          </a:prstGeom>
          <a:noFill/>
          <a:ln/>
        </p:spPr>
        <p:txBody>
          <a:bodyPr wrap="square" lIns="0" tIns="0" rIns="0" bIns="0" rtlCol="0" anchor="ctr">
            <a:normAutofit/>
          </a:bodyPr>
          <a:lstStyle/>
          <a:p>
            <a:pPr algn="l" indent="0" marL="0">
              <a:lnSpc>
                <a:spcPct val="95000"/>
              </a:lnSpc>
              <a:buNone/>
            </a:pPr>
            <a:r>
              <a:rPr lang="en-US" sz="1000" dirty="0">
                <a:solidFill>
                  <a:srgbClr val="203040"/>
                </a:solidFill>
                <a:latin typeface="Carlito" pitchFamily="34" charset="0"/>
                <a:ea typeface="Carlito" pitchFamily="34" charset="-122"/>
                <a:cs typeface="Carlito" pitchFamily="34" charset="-120"/>
              </a:rPr>
              <a:t>PIR-D6 only; target responder SA</a:t>
            </a:r>
            <a:endParaRPr lang="en-US" sz="1000" dirty="0"/>
          </a:p>
        </p:txBody>
      </p:sp>
      <p:sp>
        <p:nvSpPr>
          <p:cNvPr id="46" name="Shape 44"/>
          <p:cNvSpPr/>
          <p:nvPr/>
        </p:nvSpPr>
        <p:spPr>
          <a:xfrm>
            <a:off x="822960" y="5806440"/>
            <a:ext cx="10515600" cy="457200"/>
          </a:xfrm>
          <a:prstGeom prst="roundRect">
            <a:avLst>
              <a:gd name="adj" fmla="val 16000"/>
            </a:avLst>
          </a:prstGeom>
          <a:solidFill>
            <a:srgbClr val="FDEEEE"/>
          </a:solidFill>
          <a:ln w="10160">
            <a:solidFill>
              <a:srgbClr val="FDEEEE"/>
            </a:solidFill>
            <a:prstDash val="solid"/>
          </a:ln>
        </p:spPr>
      </p:sp>
      <p:sp>
        <p:nvSpPr>
          <p:cNvPr id="47" name="Text 45"/>
          <p:cNvSpPr txBox="1"/>
          <p:nvPr/>
        </p:nvSpPr>
        <p:spPr>
          <a:xfrm>
            <a:off x="969264" y="5879592"/>
            <a:ext cx="1022299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Use synthetic data and training-only secret values. Never target the signed-in operator with IAM Deny. Never bypass enforced organization policy to complete a demo.</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COMPUTE ENGINE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A virtual machine is more than a CPU and RAM allocation</a:t>
            </a:r>
            <a:endParaRPr lang="en-US" sz="2500" dirty="0"/>
          </a:p>
        </p:txBody>
      </p:sp>
      <p:sp>
        <p:nvSpPr>
          <p:cNvPr id="4" name="Shape 2"/>
          <p:cNvSpPr/>
          <p:nvPr/>
        </p:nvSpPr>
        <p:spPr>
          <a:xfrm>
            <a:off x="685800" y="1691640"/>
            <a:ext cx="3401568" cy="1234440"/>
          </a:xfrm>
          <a:prstGeom prst="roundRect">
            <a:avLst>
              <a:gd name="adj" fmla="val 5926"/>
            </a:avLst>
          </a:prstGeom>
          <a:solidFill>
            <a:srgbClr val="FFFFFF"/>
          </a:solidFill>
          <a:ln w="10160">
            <a:solidFill>
              <a:srgbClr val="DCE3EB"/>
            </a:solidFill>
            <a:prstDash val="solid"/>
          </a:ln>
        </p:spPr>
      </p:sp>
      <p:sp>
        <p:nvSpPr>
          <p:cNvPr id="5" name="Shape 3"/>
          <p:cNvSpPr/>
          <p:nvPr/>
        </p:nvSpPr>
        <p:spPr>
          <a:xfrm>
            <a:off x="685800" y="1691640"/>
            <a:ext cx="73152" cy="1234440"/>
          </a:xfrm>
          <a:prstGeom prst="rect">
            <a:avLst>
              <a:gd name="adj" fmla="val 100000"/>
            </a:avLst>
          </a:prstGeom>
          <a:solidFill>
            <a:srgbClr val="2878C8"/>
          </a:solidFill>
          <a:ln w="10160">
            <a:solidFill>
              <a:srgbClr val="2878C8"/>
            </a:solidFill>
            <a:prstDash val="solid"/>
          </a:ln>
        </p:spPr>
      </p:sp>
      <p:sp>
        <p:nvSpPr>
          <p:cNvPr id="6" name="Text 4"/>
          <p:cNvSpPr txBox="1"/>
          <p:nvPr/>
        </p:nvSpPr>
        <p:spPr>
          <a:xfrm>
            <a:off x="886968" y="1819656"/>
            <a:ext cx="3054096" cy="256032"/>
          </a:xfrm>
          <a:prstGeom prst="rect">
            <a:avLst/>
          </a:prstGeom>
          <a:noFill/>
          <a:ln/>
        </p:spPr>
        <p:txBody>
          <a:bodyPr wrap="square" lIns="0" tIns="0" rIns="0" bIns="0" rtlCol="0" anchor="ctr">
            <a:normAutofit/>
          </a:bodyPr>
          <a:lstStyle/>
          <a:p>
            <a:pPr algn="l" indent="0" marL="0">
              <a:lnSpc>
                <a:spcPct val="95000"/>
              </a:lnSpc>
              <a:buNone/>
            </a:pPr>
            <a:r>
              <a:rPr lang="en-US" sz="1230" b="1" dirty="0">
                <a:solidFill>
                  <a:srgbClr val="12304A"/>
                </a:solidFill>
                <a:latin typeface="Carlito" pitchFamily="34" charset="0"/>
                <a:ea typeface="Carlito" pitchFamily="34" charset="-122"/>
                <a:cs typeface="Carlito" pitchFamily="34" charset="-120"/>
              </a:rPr>
              <a:t>MACHINE TYPE</a:t>
            </a:r>
            <a:endParaRPr lang="en-US" sz="1230" dirty="0"/>
          </a:p>
        </p:txBody>
      </p:sp>
      <p:sp>
        <p:nvSpPr>
          <p:cNvPr id="7" name="Text 5"/>
          <p:cNvSpPr txBox="1"/>
          <p:nvPr/>
        </p:nvSpPr>
        <p:spPr>
          <a:xfrm>
            <a:off x="886968" y="2167128"/>
            <a:ext cx="3017520" cy="649224"/>
          </a:xfrm>
          <a:prstGeom prst="rect">
            <a:avLst/>
          </a:prstGeom>
          <a:noFill/>
          <a:ln/>
        </p:spPr>
        <p:txBody>
          <a:bodyPr wrap="square" lIns="0" tIns="0" rIns="0" bIns="0" rtlCol="0" anchor="t">
            <a:normAutofit/>
          </a:bodyPr>
          <a:lstStyle/>
          <a:p>
            <a:pPr algn="l" indent="0" marL="0">
              <a:lnSpc>
                <a:spcPct val="95000"/>
              </a:lnSpc>
              <a:buNone/>
            </a:pPr>
            <a:r>
              <a:rPr lang="en-US" sz="1110" dirty="0">
                <a:solidFill>
                  <a:srgbClr val="203040"/>
                </a:solidFill>
                <a:latin typeface="Carlito" pitchFamily="34" charset="0"/>
                <a:ea typeface="Carlito" pitchFamily="34" charset="-122"/>
                <a:cs typeface="Carlito" pitchFamily="34" charset="-120"/>
              </a:rPr>
              <a:t>vCPU + memory profile</a:t>
            </a:r>
            <a:endParaRPr lang="en-US" sz="1110" dirty="0"/>
          </a:p>
        </p:txBody>
      </p:sp>
      <p:sp>
        <p:nvSpPr>
          <p:cNvPr id="8" name="Shape 6"/>
          <p:cNvSpPr/>
          <p:nvPr/>
        </p:nvSpPr>
        <p:spPr>
          <a:xfrm>
            <a:off x="4389120" y="1691640"/>
            <a:ext cx="3401568" cy="1234440"/>
          </a:xfrm>
          <a:prstGeom prst="roundRect">
            <a:avLst>
              <a:gd name="adj" fmla="val 5926"/>
            </a:avLst>
          </a:prstGeom>
          <a:solidFill>
            <a:srgbClr val="FFFFFF"/>
          </a:solidFill>
          <a:ln w="10160">
            <a:solidFill>
              <a:srgbClr val="DCE3EB"/>
            </a:solidFill>
            <a:prstDash val="solid"/>
          </a:ln>
        </p:spPr>
      </p:sp>
      <p:sp>
        <p:nvSpPr>
          <p:cNvPr id="9" name="Shape 7"/>
          <p:cNvSpPr/>
          <p:nvPr/>
        </p:nvSpPr>
        <p:spPr>
          <a:xfrm>
            <a:off x="4389120" y="1691640"/>
            <a:ext cx="73152" cy="1234440"/>
          </a:xfrm>
          <a:prstGeom prst="rect">
            <a:avLst>
              <a:gd name="adj" fmla="val 100000"/>
            </a:avLst>
          </a:prstGeom>
          <a:solidFill>
            <a:srgbClr val="0D9488"/>
          </a:solidFill>
          <a:ln w="10160">
            <a:solidFill>
              <a:srgbClr val="0D9488"/>
            </a:solidFill>
            <a:prstDash val="solid"/>
          </a:ln>
        </p:spPr>
      </p:sp>
      <p:sp>
        <p:nvSpPr>
          <p:cNvPr id="10" name="Text 8"/>
          <p:cNvSpPr txBox="1"/>
          <p:nvPr/>
        </p:nvSpPr>
        <p:spPr>
          <a:xfrm>
            <a:off x="4590288" y="1819656"/>
            <a:ext cx="3054096" cy="256032"/>
          </a:xfrm>
          <a:prstGeom prst="rect">
            <a:avLst/>
          </a:prstGeom>
          <a:noFill/>
          <a:ln/>
        </p:spPr>
        <p:txBody>
          <a:bodyPr wrap="square" lIns="0" tIns="0" rIns="0" bIns="0" rtlCol="0" anchor="ctr">
            <a:normAutofit/>
          </a:bodyPr>
          <a:lstStyle/>
          <a:p>
            <a:pPr algn="l" indent="0" marL="0">
              <a:lnSpc>
                <a:spcPct val="95000"/>
              </a:lnSpc>
              <a:buNone/>
            </a:pPr>
            <a:r>
              <a:rPr lang="en-US" sz="1230" b="1" dirty="0">
                <a:solidFill>
                  <a:srgbClr val="12304A"/>
                </a:solidFill>
                <a:latin typeface="Carlito" pitchFamily="34" charset="0"/>
                <a:ea typeface="Carlito" pitchFamily="34" charset="-122"/>
                <a:cs typeface="Carlito" pitchFamily="34" charset="-120"/>
              </a:rPr>
              <a:t>BOOT DISK</a:t>
            </a:r>
            <a:endParaRPr lang="en-US" sz="1230" dirty="0"/>
          </a:p>
        </p:txBody>
      </p:sp>
      <p:sp>
        <p:nvSpPr>
          <p:cNvPr id="11" name="Text 9"/>
          <p:cNvSpPr txBox="1"/>
          <p:nvPr/>
        </p:nvSpPr>
        <p:spPr>
          <a:xfrm>
            <a:off x="4590288" y="2167128"/>
            <a:ext cx="3017520" cy="649224"/>
          </a:xfrm>
          <a:prstGeom prst="rect">
            <a:avLst/>
          </a:prstGeom>
          <a:noFill/>
          <a:ln/>
        </p:spPr>
        <p:txBody>
          <a:bodyPr wrap="square" lIns="0" tIns="0" rIns="0" bIns="0" rtlCol="0" anchor="t">
            <a:normAutofit/>
          </a:bodyPr>
          <a:lstStyle/>
          <a:p>
            <a:pPr algn="l" indent="0" marL="0">
              <a:lnSpc>
                <a:spcPct val="95000"/>
              </a:lnSpc>
              <a:buNone/>
            </a:pPr>
            <a:r>
              <a:rPr lang="en-US" sz="1110" dirty="0">
                <a:solidFill>
                  <a:srgbClr val="203040"/>
                </a:solidFill>
                <a:latin typeface="Carlito" pitchFamily="34" charset="0"/>
                <a:ea typeface="Carlito" pitchFamily="34" charset="-122"/>
                <a:cs typeface="Carlito" pitchFamily="34" charset="-120"/>
              </a:rPr>
              <a:t>OS image and system files</a:t>
            </a:r>
            <a:endParaRPr lang="en-US" sz="1110" dirty="0"/>
          </a:p>
        </p:txBody>
      </p:sp>
      <p:sp>
        <p:nvSpPr>
          <p:cNvPr id="12" name="Shape 10"/>
          <p:cNvSpPr/>
          <p:nvPr/>
        </p:nvSpPr>
        <p:spPr>
          <a:xfrm>
            <a:off x="8092440" y="1691640"/>
            <a:ext cx="3401568" cy="1234440"/>
          </a:xfrm>
          <a:prstGeom prst="roundRect">
            <a:avLst>
              <a:gd name="adj" fmla="val 5926"/>
            </a:avLst>
          </a:prstGeom>
          <a:solidFill>
            <a:srgbClr val="FFFFFF"/>
          </a:solidFill>
          <a:ln w="10160">
            <a:solidFill>
              <a:srgbClr val="DCE3EB"/>
            </a:solidFill>
            <a:prstDash val="solid"/>
          </a:ln>
        </p:spPr>
      </p:sp>
      <p:sp>
        <p:nvSpPr>
          <p:cNvPr id="13" name="Shape 11"/>
          <p:cNvSpPr/>
          <p:nvPr/>
        </p:nvSpPr>
        <p:spPr>
          <a:xfrm>
            <a:off x="8092440" y="1691640"/>
            <a:ext cx="73152" cy="1234440"/>
          </a:xfrm>
          <a:prstGeom prst="rect">
            <a:avLst>
              <a:gd name="adj" fmla="val 100000"/>
            </a:avLst>
          </a:prstGeom>
          <a:solidFill>
            <a:srgbClr val="16A36A"/>
          </a:solidFill>
          <a:ln w="10160">
            <a:solidFill>
              <a:srgbClr val="16A36A"/>
            </a:solidFill>
            <a:prstDash val="solid"/>
          </a:ln>
        </p:spPr>
      </p:sp>
      <p:sp>
        <p:nvSpPr>
          <p:cNvPr id="14" name="Text 12"/>
          <p:cNvSpPr txBox="1"/>
          <p:nvPr/>
        </p:nvSpPr>
        <p:spPr>
          <a:xfrm>
            <a:off x="8293608" y="1819656"/>
            <a:ext cx="3054096" cy="256032"/>
          </a:xfrm>
          <a:prstGeom prst="rect">
            <a:avLst/>
          </a:prstGeom>
          <a:noFill/>
          <a:ln/>
        </p:spPr>
        <p:txBody>
          <a:bodyPr wrap="square" lIns="0" tIns="0" rIns="0" bIns="0" rtlCol="0" anchor="ctr">
            <a:normAutofit/>
          </a:bodyPr>
          <a:lstStyle/>
          <a:p>
            <a:pPr algn="l" indent="0" marL="0">
              <a:lnSpc>
                <a:spcPct val="95000"/>
              </a:lnSpc>
              <a:buNone/>
            </a:pPr>
            <a:r>
              <a:rPr lang="en-US" sz="1230" b="1" dirty="0">
                <a:solidFill>
                  <a:srgbClr val="12304A"/>
                </a:solidFill>
                <a:latin typeface="Carlito" pitchFamily="34" charset="0"/>
                <a:ea typeface="Carlito" pitchFamily="34" charset="-122"/>
                <a:cs typeface="Carlito" pitchFamily="34" charset="-120"/>
              </a:rPr>
              <a:t>DATA DISK</a:t>
            </a:r>
            <a:endParaRPr lang="en-US" sz="1230" dirty="0"/>
          </a:p>
        </p:txBody>
      </p:sp>
      <p:sp>
        <p:nvSpPr>
          <p:cNvPr id="15" name="Text 13"/>
          <p:cNvSpPr txBox="1"/>
          <p:nvPr/>
        </p:nvSpPr>
        <p:spPr>
          <a:xfrm>
            <a:off x="8293608" y="2167128"/>
            <a:ext cx="3017520" cy="649224"/>
          </a:xfrm>
          <a:prstGeom prst="rect">
            <a:avLst/>
          </a:prstGeom>
          <a:noFill/>
          <a:ln/>
        </p:spPr>
        <p:txBody>
          <a:bodyPr wrap="square" lIns="0" tIns="0" rIns="0" bIns="0" rtlCol="0" anchor="t">
            <a:normAutofit/>
          </a:bodyPr>
          <a:lstStyle/>
          <a:p>
            <a:pPr algn="l" indent="0" marL="0">
              <a:lnSpc>
                <a:spcPct val="95000"/>
              </a:lnSpc>
              <a:buNone/>
            </a:pPr>
            <a:r>
              <a:rPr lang="en-US" sz="1110" dirty="0">
                <a:solidFill>
                  <a:srgbClr val="203040"/>
                </a:solidFill>
                <a:latin typeface="Carlito" pitchFamily="34" charset="0"/>
                <a:ea typeface="Carlito" pitchFamily="34" charset="-122"/>
                <a:cs typeface="Carlito" pitchFamily="34" charset="-120"/>
              </a:rPr>
              <a:t>Persistent block storage</a:t>
            </a:r>
            <a:endParaRPr lang="en-US" sz="1110" dirty="0"/>
          </a:p>
        </p:txBody>
      </p:sp>
      <p:sp>
        <p:nvSpPr>
          <p:cNvPr id="16" name="Shape 14"/>
          <p:cNvSpPr/>
          <p:nvPr/>
        </p:nvSpPr>
        <p:spPr>
          <a:xfrm>
            <a:off x="685800" y="3291840"/>
            <a:ext cx="3401568" cy="1234440"/>
          </a:xfrm>
          <a:prstGeom prst="roundRect">
            <a:avLst>
              <a:gd name="adj" fmla="val 5926"/>
            </a:avLst>
          </a:prstGeom>
          <a:solidFill>
            <a:srgbClr val="FFFFFF"/>
          </a:solidFill>
          <a:ln w="10160">
            <a:solidFill>
              <a:srgbClr val="DCE3EB"/>
            </a:solidFill>
            <a:prstDash val="solid"/>
          </a:ln>
        </p:spPr>
      </p:sp>
      <p:sp>
        <p:nvSpPr>
          <p:cNvPr id="17" name="Shape 15"/>
          <p:cNvSpPr/>
          <p:nvPr/>
        </p:nvSpPr>
        <p:spPr>
          <a:xfrm>
            <a:off x="685800" y="3291840"/>
            <a:ext cx="73152" cy="1234440"/>
          </a:xfrm>
          <a:prstGeom prst="rect">
            <a:avLst>
              <a:gd name="adj" fmla="val 100000"/>
            </a:avLst>
          </a:prstGeom>
          <a:solidFill>
            <a:srgbClr val="D97706"/>
          </a:solidFill>
          <a:ln w="10160">
            <a:solidFill>
              <a:srgbClr val="D97706"/>
            </a:solidFill>
            <a:prstDash val="solid"/>
          </a:ln>
        </p:spPr>
      </p:sp>
      <p:sp>
        <p:nvSpPr>
          <p:cNvPr id="18" name="Text 16"/>
          <p:cNvSpPr txBox="1"/>
          <p:nvPr/>
        </p:nvSpPr>
        <p:spPr>
          <a:xfrm>
            <a:off x="886968" y="3419856"/>
            <a:ext cx="3054096" cy="256032"/>
          </a:xfrm>
          <a:prstGeom prst="rect">
            <a:avLst/>
          </a:prstGeom>
          <a:noFill/>
          <a:ln/>
        </p:spPr>
        <p:txBody>
          <a:bodyPr wrap="square" lIns="0" tIns="0" rIns="0" bIns="0" rtlCol="0" anchor="ctr">
            <a:normAutofit/>
          </a:bodyPr>
          <a:lstStyle/>
          <a:p>
            <a:pPr algn="l" indent="0" marL="0">
              <a:lnSpc>
                <a:spcPct val="95000"/>
              </a:lnSpc>
              <a:buNone/>
            </a:pPr>
            <a:r>
              <a:rPr lang="en-US" sz="1230" b="1" dirty="0">
                <a:solidFill>
                  <a:srgbClr val="12304A"/>
                </a:solidFill>
                <a:latin typeface="Carlito" pitchFamily="34" charset="0"/>
                <a:ea typeface="Carlito" pitchFamily="34" charset="-122"/>
                <a:cs typeface="Carlito" pitchFamily="34" charset="-120"/>
              </a:rPr>
              <a:t>NETWORK INTERFACE</a:t>
            </a:r>
            <a:endParaRPr lang="en-US" sz="1230" dirty="0"/>
          </a:p>
        </p:txBody>
      </p:sp>
      <p:sp>
        <p:nvSpPr>
          <p:cNvPr id="19" name="Text 17"/>
          <p:cNvSpPr txBox="1"/>
          <p:nvPr/>
        </p:nvSpPr>
        <p:spPr>
          <a:xfrm>
            <a:off x="886968" y="3767328"/>
            <a:ext cx="3017520" cy="649224"/>
          </a:xfrm>
          <a:prstGeom prst="rect">
            <a:avLst/>
          </a:prstGeom>
          <a:noFill/>
          <a:ln/>
        </p:spPr>
        <p:txBody>
          <a:bodyPr wrap="square" lIns="0" tIns="0" rIns="0" bIns="0" rtlCol="0" anchor="t">
            <a:normAutofit/>
          </a:bodyPr>
          <a:lstStyle/>
          <a:p>
            <a:pPr algn="l" indent="0" marL="0">
              <a:lnSpc>
                <a:spcPct val="95000"/>
              </a:lnSpc>
              <a:buNone/>
            </a:pPr>
            <a:r>
              <a:rPr lang="en-US" sz="1110" dirty="0">
                <a:solidFill>
                  <a:srgbClr val="203040"/>
                </a:solidFill>
                <a:latin typeface="Carlito" pitchFamily="34" charset="0"/>
                <a:ea typeface="Carlito" pitchFamily="34" charset="-122"/>
                <a:cs typeface="Carlito" pitchFamily="34" charset="-120"/>
              </a:rPr>
              <a:t>VPC, subnet, internal IP</a:t>
            </a:r>
            <a:endParaRPr lang="en-US" sz="1110" dirty="0"/>
          </a:p>
        </p:txBody>
      </p:sp>
      <p:sp>
        <p:nvSpPr>
          <p:cNvPr id="20" name="Shape 18"/>
          <p:cNvSpPr/>
          <p:nvPr/>
        </p:nvSpPr>
        <p:spPr>
          <a:xfrm>
            <a:off x="4389120" y="3291840"/>
            <a:ext cx="3401568" cy="1234440"/>
          </a:xfrm>
          <a:prstGeom prst="roundRect">
            <a:avLst>
              <a:gd name="adj" fmla="val 5926"/>
            </a:avLst>
          </a:prstGeom>
          <a:solidFill>
            <a:srgbClr val="FFFFFF"/>
          </a:solidFill>
          <a:ln w="10160">
            <a:solidFill>
              <a:srgbClr val="DCE3EB"/>
            </a:solidFill>
            <a:prstDash val="solid"/>
          </a:ln>
        </p:spPr>
      </p:sp>
      <p:sp>
        <p:nvSpPr>
          <p:cNvPr id="21" name="Shape 19"/>
          <p:cNvSpPr/>
          <p:nvPr/>
        </p:nvSpPr>
        <p:spPr>
          <a:xfrm>
            <a:off x="4389120" y="3291840"/>
            <a:ext cx="73152" cy="1234440"/>
          </a:xfrm>
          <a:prstGeom prst="rect">
            <a:avLst>
              <a:gd name="adj" fmla="val 100000"/>
            </a:avLst>
          </a:prstGeom>
          <a:solidFill>
            <a:srgbClr val="7654B8"/>
          </a:solidFill>
          <a:ln w="10160">
            <a:solidFill>
              <a:srgbClr val="7654B8"/>
            </a:solidFill>
            <a:prstDash val="solid"/>
          </a:ln>
        </p:spPr>
      </p:sp>
      <p:sp>
        <p:nvSpPr>
          <p:cNvPr id="22" name="Text 20"/>
          <p:cNvSpPr txBox="1"/>
          <p:nvPr/>
        </p:nvSpPr>
        <p:spPr>
          <a:xfrm>
            <a:off x="4590288" y="3419856"/>
            <a:ext cx="3054096" cy="256032"/>
          </a:xfrm>
          <a:prstGeom prst="rect">
            <a:avLst/>
          </a:prstGeom>
          <a:noFill/>
          <a:ln/>
        </p:spPr>
        <p:txBody>
          <a:bodyPr wrap="square" lIns="0" tIns="0" rIns="0" bIns="0" rtlCol="0" anchor="ctr">
            <a:normAutofit/>
          </a:bodyPr>
          <a:lstStyle/>
          <a:p>
            <a:pPr algn="l" indent="0" marL="0">
              <a:lnSpc>
                <a:spcPct val="95000"/>
              </a:lnSpc>
              <a:buNone/>
            </a:pPr>
            <a:r>
              <a:rPr lang="en-US" sz="1230" b="1" dirty="0">
                <a:solidFill>
                  <a:srgbClr val="12304A"/>
                </a:solidFill>
                <a:latin typeface="Carlito" pitchFamily="34" charset="0"/>
                <a:ea typeface="Carlito" pitchFamily="34" charset="-122"/>
                <a:cs typeface="Carlito" pitchFamily="34" charset="-120"/>
              </a:rPr>
              <a:t>SERVICE ACCOUNT</a:t>
            </a:r>
            <a:endParaRPr lang="en-US" sz="1230" dirty="0"/>
          </a:p>
        </p:txBody>
      </p:sp>
      <p:sp>
        <p:nvSpPr>
          <p:cNvPr id="23" name="Text 21"/>
          <p:cNvSpPr txBox="1"/>
          <p:nvPr/>
        </p:nvSpPr>
        <p:spPr>
          <a:xfrm>
            <a:off x="4590288" y="3767328"/>
            <a:ext cx="3017520" cy="649224"/>
          </a:xfrm>
          <a:prstGeom prst="rect">
            <a:avLst/>
          </a:prstGeom>
          <a:noFill/>
          <a:ln/>
        </p:spPr>
        <p:txBody>
          <a:bodyPr wrap="square" lIns="0" tIns="0" rIns="0" bIns="0" rtlCol="0" anchor="t">
            <a:normAutofit/>
          </a:bodyPr>
          <a:lstStyle/>
          <a:p>
            <a:pPr algn="l" indent="0" marL="0">
              <a:lnSpc>
                <a:spcPct val="95000"/>
              </a:lnSpc>
              <a:buNone/>
            </a:pPr>
            <a:r>
              <a:rPr lang="en-US" sz="1110" dirty="0">
                <a:solidFill>
                  <a:srgbClr val="203040"/>
                </a:solidFill>
                <a:latin typeface="Carlito" pitchFamily="34" charset="0"/>
                <a:ea typeface="Carlito" pitchFamily="34" charset="-122"/>
                <a:cs typeface="Carlito" pitchFamily="34" charset="-120"/>
              </a:rPr>
              <a:t>Workload identity for API calls</a:t>
            </a:r>
            <a:endParaRPr lang="en-US" sz="1110" dirty="0"/>
          </a:p>
        </p:txBody>
      </p:sp>
      <p:sp>
        <p:nvSpPr>
          <p:cNvPr id="24" name="Shape 22"/>
          <p:cNvSpPr/>
          <p:nvPr/>
        </p:nvSpPr>
        <p:spPr>
          <a:xfrm>
            <a:off x="8092440" y="3291840"/>
            <a:ext cx="3401568" cy="1234440"/>
          </a:xfrm>
          <a:prstGeom prst="roundRect">
            <a:avLst>
              <a:gd name="adj" fmla="val 5926"/>
            </a:avLst>
          </a:prstGeom>
          <a:solidFill>
            <a:srgbClr val="FFFFFF"/>
          </a:solidFill>
          <a:ln w="10160">
            <a:solidFill>
              <a:srgbClr val="DCE3EB"/>
            </a:solidFill>
            <a:prstDash val="solid"/>
          </a:ln>
        </p:spPr>
      </p:sp>
      <p:sp>
        <p:nvSpPr>
          <p:cNvPr id="25" name="Shape 23"/>
          <p:cNvSpPr/>
          <p:nvPr/>
        </p:nvSpPr>
        <p:spPr>
          <a:xfrm>
            <a:off x="8092440" y="3291840"/>
            <a:ext cx="73152" cy="1234440"/>
          </a:xfrm>
          <a:prstGeom prst="rect">
            <a:avLst>
              <a:gd name="adj" fmla="val 100000"/>
            </a:avLst>
          </a:prstGeom>
          <a:solidFill>
            <a:srgbClr val="D94F4F"/>
          </a:solidFill>
          <a:ln w="10160">
            <a:solidFill>
              <a:srgbClr val="D94F4F"/>
            </a:solidFill>
            <a:prstDash val="solid"/>
          </a:ln>
        </p:spPr>
      </p:sp>
      <p:sp>
        <p:nvSpPr>
          <p:cNvPr id="26" name="Text 24"/>
          <p:cNvSpPr txBox="1"/>
          <p:nvPr/>
        </p:nvSpPr>
        <p:spPr>
          <a:xfrm>
            <a:off x="8293608" y="3419856"/>
            <a:ext cx="3054096" cy="256032"/>
          </a:xfrm>
          <a:prstGeom prst="rect">
            <a:avLst/>
          </a:prstGeom>
          <a:noFill/>
          <a:ln/>
        </p:spPr>
        <p:txBody>
          <a:bodyPr wrap="square" lIns="0" tIns="0" rIns="0" bIns="0" rtlCol="0" anchor="ctr">
            <a:normAutofit/>
          </a:bodyPr>
          <a:lstStyle/>
          <a:p>
            <a:pPr algn="l" indent="0" marL="0">
              <a:lnSpc>
                <a:spcPct val="95000"/>
              </a:lnSpc>
              <a:buNone/>
            </a:pPr>
            <a:r>
              <a:rPr lang="en-US" sz="1230" b="1" dirty="0">
                <a:solidFill>
                  <a:srgbClr val="12304A"/>
                </a:solidFill>
                <a:latin typeface="Carlito" pitchFamily="34" charset="0"/>
                <a:ea typeface="Carlito" pitchFamily="34" charset="-122"/>
                <a:cs typeface="Carlito" pitchFamily="34" charset="-120"/>
              </a:rPr>
              <a:t>TAGS / LABELS</a:t>
            </a:r>
            <a:endParaRPr lang="en-US" sz="1230" dirty="0"/>
          </a:p>
        </p:txBody>
      </p:sp>
      <p:sp>
        <p:nvSpPr>
          <p:cNvPr id="27" name="Text 25"/>
          <p:cNvSpPr txBox="1"/>
          <p:nvPr/>
        </p:nvSpPr>
        <p:spPr>
          <a:xfrm>
            <a:off x="8293608" y="3767328"/>
            <a:ext cx="3017520" cy="649224"/>
          </a:xfrm>
          <a:prstGeom prst="rect">
            <a:avLst/>
          </a:prstGeom>
          <a:noFill/>
          <a:ln/>
        </p:spPr>
        <p:txBody>
          <a:bodyPr wrap="square" lIns="0" tIns="0" rIns="0" bIns="0" rtlCol="0" anchor="t">
            <a:normAutofit/>
          </a:bodyPr>
          <a:lstStyle/>
          <a:p>
            <a:pPr algn="l" indent="0" marL="0">
              <a:lnSpc>
                <a:spcPct val="95000"/>
              </a:lnSpc>
              <a:buNone/>
            </a:pPr>
            <a:r>
              <a:rPr lang="en-US" sz="1110" dirty="0">
                <a:solidFill>
                  <a:srgbClr val="203040"/>
                </a:solidFill>
                <a:latin typeface="Carlito" pitchFamily="34" charset="0"/>
                <a:ea typeface="Carlito" pitchFamily="34" charset="-122"/>
                <a:cs typeface="Carlito" pitchFamily="34" charset="-120"/>
              </a:rPr>
              <a:t>Firewall targeting and inventory</a:t>
            </a:r>
            <a:endParaRPr lang="en-US" sz="1110" dirty="0"/>
          </a:p>
        </p:txBody>
      </p:sp>
      <p:sp>
        <p:nvSpPr>
          <p:cNvPr id="28" name="Shape 26"/>
          <p:cNvSpPr/>
          <p:nvPr/>
        </p:nvSpPr>
        <p:spPr>
          <a:xfrm>
            <a:off x="777240" y="5257800"/>
            <a:ext cx="10698480" cy="594360"/>
          </a:xfrm>
          <a:prstGeom prst="roundRect">
            <a:avLst>
              <a:gd name="adj" fmla="val 12308"/>
            </a:avLst>
          </a:prstGeom>
          <a:solidFill>
            <a:srgbClr val="EAF3FC"/>
          </a:solidFill>
          <a:ln w="10160">
            <a:solidFill>
              <a:srgbClr val="EAF3FC"/>
            </a:solidFill>
            <a:prstDash val="solid"/>
          </a:ln>
        </p:spPr>
      </p:sp>
      <p:sp>
        <p:nvSpPr>
          <p:cNvPr id="29" name="Text 27"/>
          <p:cNvSpPr txBox="1"/>
          <p:nvPr/>
        </p:nvSpPr>
        <p:spPr>
          <a:xfrm>
            <a:off x="923544" y="5330952"/>
            <a:ext cx="10405872" cy="44805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In this lab, all three standalone VMs have no external IPv4 address. The storage VM has an attached 10 GB data disk. The VM service account is a workload identity - not the student login.</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COMPUTE LIFECYCLE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Stopping a VM: state changes and billing are related, not identical</a:t>
            </a:r>
            <a:endParaRPr lang="en-US" sz="2500" dirty="0"/>
          </a:p>
        </p:txBody>
      </p:sp>
      <p:sp>
        <p:nvSpPr>
          <p:cNvPr id="4" name="Shape 2"/>
          <p:cNvSpPr/>
          <p:nvPr/>
        </p:nvSpPr>
        <p:spPr>
          <a:xfrm>
            <a:off x="713232" y="1874520"/>
            <a:ext cx="2331720" cy="914400"/>
          </a:xfrm>
          <a:prstGeom prst="roundRect">
            <a:avLst>
              <a:gd name="adj" fmla="val 8000"/>
            </a:avLst>
          </a:prstGeom>
          <a:solidFill>
            <a:srgbClr val="EAF3FC"/>
          </a:solidFill>
          <a:ln w="10160">
            <a:solidFill>
              <a:srgbClr val="DCE3EB"/>
            </a:solidFill>
            <a:prstDash val="solid"/>
          </a:ln>
        </p:spPr>
      </p:sp>
      <p:sp>
        <p:nvSpPr>
          <p:cNvPr id="5" name="Text 3"/>
          <p:cNvSpPr txBox="1"/>
          <p:nvPr/>
        </p:nvSpPr>
        <p:spPr>
          <a:xfrm>
            <a:off x="786384" y="2057400"/>
            <a:ext cx="218541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2878C8"/>
                </a:solidFill>
                <a:latin typeface="Carlito" pitchFamily="34" charset="0"/>
                <a:ea typeface="Carlito" pitchFamily="34" charset="-122"/>
                <a:cs typeface="Carlito" pitchFamily="34" charset="-120"/>
              </a:rPr>
              <a:t>PROVISIONING</a:t>
            </a:r>
            <a:endParaRPr lang="en-US" sz="1100" dirty="0"/>
          </a:p>
        </p:txBody>
      </p:sp>
      <p:sp>
        <p:nvSpPr>
          <p:cNvPr id="6" name="Text 4"/>
          <p:cNvSpPr txBox="1"/>
          <p:nvPr/>
        </p:nvSpPr>
        <p:spPr>
          <a:xfrm>
            <a:off x="786384" y="2350008"/>
            <a:ext cx="2185416" cy="164592"/>
          </a:xfrm>
          <a:prstGeom prst="rect">
            <a:avLst/>
          </a:prstGeom>
          <a:noFill/>
          <a:ln/>
        </p:spPr>
        <p:txBody>
          <a:bodyPr wrap="square" lIns="0" tIns="0" rIns="0" bIns="0" rtlCol="0" anchor="ctr">
            <a:normAutofit/>
          </a:bodyPr>
          <a:lstStyle/>
          <a:p>
            <a:pPr algn="ctr" indent="0" marL="0">
              <a:lnSpc>
                <a:spcPct val="95000"/>
              </a:lnSpc>
              <a:buNone/>
            </a:pPr>
            <a:r>
              <a:rPr lang="en-US" sz="970" dirty="0">
                <a:solidFill>
                  <a:srgbClr val="203040"/>
                </a:solidFill>
                <a:latin typeface="Carlito" pitchFamily="34" charset="0"/>
                <a:ea typeface="Carlito" pitchFamily="34" charset="-122"/>
                <a:cs typeface="Carlito" pitchFamily="34" charset="-120"/>
              </a:rPr>
              <a:t>Resource allocation</a:t>
            </a:r>
            <a:endParaRPr lang="en-US" sz="970" dirty="0"/>
          </a:p>
        </p:txBody>
      </p:sp>
      <p:sp>
        <p:nvSpPr>
          <p:cNvPr id="7" name="Shape 5"/>
          <p:cNvSpPr/>
          <p:nvPr/>
        </p:nvSpPr>
        <p:spPr>
          <a:xfrm>
            <a:off x="3072384" y="2331720"/>
            <a:ext cx="384048" cy="0"/>
          </a:xfrm>
          <a:prstGeom prst="line">
            <a:avLst/>
          </a:prstGeom>
          <a:noFill/>
          <a:ln w="19050">
            <a:solidFill>
              <a:srgbClr val="0D9488"/>
            </a:solidFill>
            <a:prstDash val="solid"/>
            <a:tailEnd type="triangle"/>
          </a:ln>
        </p:spPr>
      </p:sp>
      <p:sp>
        <p:nvSpPr>
          <p:cNvPr id="8" name="Shape 6"/>
          <p:cNvSpPr/>
          <p:nvPr/>
        </p:nvSpPr>
        <p:spPr>
          <a:xfrm>
            <a:off x="3529584" y="1874520"/>
            <a:ext cx="2331720" cy="914400"/>
          </a:xfrm>
          <a:prstGeom prst="roundRect">
            <a:avLst>
              <a:gd name="adj" fmla="val 8000"/>
            </a:avLst>
          </a:prstGeom>
          <a:solidFill>
            <a:srgbClr val="EAF4F2"/>
          </a:solidFill>
          <a:ln w="10160">
            <a:solidFill>
              <a:srgbClr val="DCE3EB"/>
            </a:solidFill>
            <a:prstDash val="solid"/>
          </a:ln>
        </p:spPr>
      </p:sp>
      <p:sp>
        <p:nvSpPr>
          <p:cNvPr id="9" name="Text 7"/>
          <p:cNvSpPr txBox="1"/>
          <p:nvPr/>
        </p:nvSpPr>
        <p:spPr>
          <a:xfrm>
            <a:off x="3602736" y="2057400"/>
            <a:ext cx="218541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0D9488"/>
                </a:solidFill>
                <a:latin typeface="Carlito" pitchFamily="34" charset="0"/>
                <a:ea typeface="Carlito" pitchFamily="34" charset="-122"/>
                <a:cs typeface="Carlito" pitchFamily="34" charset="-120"/>
              </a:rPr>
              <a:t>STAGING</a:t>
            </a:r>
            <a:endParaRPr lang="en-US" sz="1100" dirty="0"/>
          </a:p>
        </p:txBody>
      </p:sp>
      <p:sp>
        <p:nvSpPr>
          <p:cNvPr id="10" name="Text 8"/>
          <p:cNvSpPr txBox="1"/>
          <p:nvPr/>
        </p:nvSpPr>
        <p:spPr>
          <a:xfrm>
            <a:off x="3602736" y="2350008"/>
            <a:ext cx="2185416" cy="164592"/>
          </a:xfrm>
          <a:prstGeom prst="rect">
            <a:avLst/>
          </a:prstGeom>
          <a:noFill/>
          <a:ln/>
        </p:spPr>
        <p:txBody>
          <a:bodyPr wrap="square" lIns="0" tIns="0" rIns="0" bIns="0" rtlCol="0" anchor="ctr">
            <a:normAutofit/>
          </a:bodyPr>
          <a:lstStyle/>
          <a:p>
            <a:pPr algn="ctr" indent="0" marL="0">
              <a:lnSpc>
                <a:spcPct val="95000"/>
              </a:lnSpc>
              <a:buNone/>
            </a:pPr>
            <a:r>
              <a:rPr lang="en-US" sz="970" dirty="0">
                <a:solidFill>
                  <a:srgbClr val="203040"/>
                </a:solidFill>
                <a:latin typeface="Carlito" pitchFamily="34" charset="0"/>
                <a:ea typeface="Carlito" pitchFamily="34" charset="-122"/>
                <a:cs typeface="Carlito" pitchFamily="34" charset="-120"/>
              </a:rPr>
              <a:t>Boot / setup</a:t>
            </a:r>
            <a:endParaRPr lang="en-US" sz="970" dirty="0"/>
          </a:p>
        </p:txBody>
      </p:sp>
      <p:sp>
        <p:nvSpPr>
          <p:cNvPr id="11" name="Shape 9"/>
          <p:cNvSpPr/>
          <p:nvPr/>
        </p:nvSpPr>
        <p:spPr>
          <a:xfrm>
            <a:off x="5888736" y="2331720"/>
            <a:ext cx="384048" cy="0"/>
          </a:xfrm>
          <a:prstGeom prst="line">
            <a:avLst/>
          </a:prstGeom>
          <a:noFill/>
          <a:ln w="19050">
            <a:solidFill>
              <a:srgbClr val="0D9488"/>
            </a:solidFill>
            <a:prstDash val="solid"/>
            <a:tailEnd type="triangle"/>
          </a:ln>
        </p:spPr>
      </p:sp>
      <p:sp>
        <p:nvSpPr>
          <p:cNvPr id="12" name="Shape 10"/>
          <p:cNvSpPr/>
          <p:nvPr/>
        </p:nvSpPr>
        <p:spPr>
          <a:xfrm>
            <a:off x="6345936" y="1874520"/>
            <a:ext cx="2331720" cy="914400"/>
          </a:xfrm>
          <a:prstGeom prst="roundRect">
            <a:avLst>
              <a:gd name="adj" fmla="val 8000"/>
            </a:avLst>
          </a:prstGeom>
          <a:solidFill>
            <a:srgbClr val="E9F7F0"/>
          </a:solidFill>
          <a:ln w="10160">
            <a:solidFill>
              <a:srgbClr val="DCE3EB"/>
            </a:solidFill>
            <a:prstDash val="solid"/>
          </a:ln>
        </p:spPr>
      </p:sp>
      <p:sp>
        <p:nvSpPr>
          <p:cNvPr id="13" name="Text 11"/>
          <p:cNvSpPr txBox="1"/>
          <p:nvPr/>
        </p:nvSpPr>
        <p:spPr>
          <a:xfrm>
            <a:off x="6419088" y="2057400"/>
            <a:ext cx="218541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6A36A"/>
                </a:solidFill>
                <a:latin typeface="Carlito" pitchFamily="34" charset="0"/>
                <a:ea typeface="Carlito" pitchFamily="34" charset="-122"/>
                <a:cs typeface="Carlito" pitchFamily="34" charset="-120"/>
              </a:rPr>
              <a:t>RUNNING</a:t>
            </a:r>
            <a:endParaRPr lang="en-US" sz="1100" dirty="0"/>
          </a:p>
        </p:txBody>
      </p:sp>
      <p:sp>
        <p:nvSpPr>
          <p:cNvPr id="14" name="Text 12"/>
          <p:cNvSpPr txBox="1"/>
          <p:nvPr/>
        </p:nvSpPr>
        <p:spPr>
          <a:xfrm>
            <a:off x="6419088" y="2350008"/>
            <a:ext cx="2185416" cy="164592"/>
          </a:xfrm>
          <a:prstGeom prst="rect">
            <a:avLst/>
          </a:prstGeom>
          <a:noFill/>
          <a:ln/>
        </p:spPr>
        <p:txBody>
          <a:bodyPr wrap="square" lIns="0" tIns="0" rIns="0" bIns="0" rtlCol="0" anchor="ctr">
            <a:normAutofit/>
          </a:bodyPr>
          <a:lstStyle/>
          <a:p>
            <a:pPr algn="ctr" indent="0" marL="0">
              <a:lnSpc>
                <a:spcPct val="95000"/>
              </a:lnSpc>
              <a:buNone/>
            </a:pPr>
            <a:r>
              <a:rPr lang="en-US" sz="970" dirty="0">
                <a:solidFill>
                  <a:srgbClr val="203040"/>
                </a:solidFill>
                <a:latin typeface="Carlito" pitchFamily="34" charset="0"/>
                <a:ea typeface="Carlito" pitchFamily="34" charset="-122"/>
                <a:cs typeface="Carlito" pitchFamily="34" charset="-120"/>
              </a:rPr>
              <a:t>Compute active</a:t>
            </a:r>
            <a:endParaRPr lang="en-US" sz="970" dirty="0"/>
          </a:p>
        </p:txBody>
      </p:sp>
      <p:sp>
        <p:nvSpPr>
          <p:cNvPr id="15" name="Shape 13"/>
          <p:cNvSpPr/>
          <p:nvPr/>
        </p:nvSpPr>
        <p:spPr>
          <a:xfrm>
            <a:off x="8705088" y="2331720"/>
            <a:ext cx="384048" cy="0"/>
          </a:xfrm>
          <a:prstGeom prst="line">
            <a:avLst/>
          </a:prstGeom>
          <a:noFill/>
          <a:ln w="19050">
            <a:solidFill>
              <a:srgbClr val="0D9488"/>
            </a:solidFill>
            <a:prstDash val="solid"/>
            <a:tailEnd type="triangle"/>
          </a:ln>
        </p:spPr>
      </p:sp>
      <p:sp>
        <p:nvSpPr>
          <p:cNvPr id="16" name="Shape 14"/>
          <p:cNvSpPr/>
          <p:nvPr/>
        </p:nvSpPr>
        <p:spPr>
          <a:xfrm>
            <a:off x="9162288" y="1874520"/>
            <a:ext cx="2331720" cy="914400"/>
          </a:xfrm>
          <a:prstGeom prst="roundRect">
            <a:avLst>
              <a:gd name="adj" fmla="val 8000"/>
            </a:avLst>
          </a:prstGeom>
          <a:solidFill>
            <a:srgbClr val="FFF5E6"/>
          </a:solidFill>
          <a:ln w="10160">
            <a:solidFill>
              <a:srgbClr val="DCE3EB"/>
            </a:solidFill>
            <a:prstDash val="solid"/>
          </a:ln>
        </p:spPr>
      </p:sp>
      <p:sp>
        <p:nvSpPr>
          <p:cNvPr id="17" name="Text 15"/>
          <p:cNvSpPr txBox="1"/>
          <p:nvPr/>
        </p:nvSpPr>
        <p:spPr>
          <a:xfrm>
            <a:off x="9235440" y="2057400"/>
            <a:ext cx="218541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D97706"/>
                </a:solidFill>
                <a:latin typeface="Carlito" pitchFamily="34" charset="0"/>
                <a:ea typeface="Carlito" pitchFamily="34" charset="-122"/>
                <a:cs typeface="Carlito" pitchFamily="34" charset="-120"/>
              </a:rPr>
              <a:t>TERMINATED</a:t>
            </a:r>
            <a:endParaRPr lang="en-US" sz="1100" dirty="0"/>
          </a:p>
        </p:txBody>
      </p:sp>
      <p:sp>
        <p:nvSpPr>
          <p:cNvPr id="18" name="Text 16"/>
          <p:cNvSpPr txBox="1"/>
          <p:nvPr/>
        </p:nvSpPr>
        <p:spPr>
          <a:xfrm>
            <a:off x="9235440" y="2350008"/>
            <a:ext cx="2185416" cy="164592"/>
          </a:xfrm>
          <a:prstGeom prst="rect">
            <a:avLst/>
          </a:prstGeom>
          <a:noFill/>
          <a:ln/>
        </p:spPr>
        <p:txBody>
          <a:bodyPr wrap="square" lIns="0" tIns="0" rIns="0" bIns="0" rtlCol="0" anchor="ctr">
            <a:normAutofit/>
          </a:bodyPr>
          <a:lstStyle/>
          <a:p>
            <a:pPr algn="ctr" indent="0" marL="0">
              <a:lnSpc>
                <a:spcPct val="95000"/>
              </a:lnSpc>
              <a:buNone/>
            </a:pPr>
            <a:r>
              <a:rPr lang="en-US" sz="970" dirty="0">
                <a:solidFill>
                  <a:srgbClr val="203040"/>
                </a:solidFill>
                <a:latin typeface="Carlito" pitchFamily="34" charset="0"/>
                <a:ea typeface="Carlito" pitchFamily="34" charset="-122"/>
                <a:cs typeface="Carlito" pitchFamily="34" charset="-120"/>
              </a:rPr>
              <a:t>Stopped / not running</a:t>
            </a:r>
            <a:endParaRPr lang="en-US" sz="970" dirty="0"/>
          </a:p>
        </p:txBody>
      </p:sp>
      <p:sp>
        <p:nvSpPr>
          <p:cNvPr id="19" name="Text 17"/>
          <p:cNvSpPr txBox="1"/>
          <p:nvPr/>
        </p:nvSpPr>
        <p:spPr>
          <a:xfrm>
            <a:off x="777240" y="3337560"/>
            <a:ext cx="4572000" cy="201168"/>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2878C8"/>
                </a:solidFill>
                <a:latin typeface="Carlito" pitchFamily="34" charset="0"/>
                <a:ea typeface="Carlito" pitchFamily="34" charset="-122"/>
                <a:cs typeface="Carlito" pitchFamily="34" charset="-120"/>
              </a:rPr>
              <a:t>CROSS-CLOUD BILLING DISTINCTION</a:t>
            </a:r>
            <a:endParaRPr lang="en-US" sz="1000" dirty="0"/>
          </a:p>
        </p:txBody>
      </p:sp>
      <p:sp>
        <p:nvSpPr>
          <p:cNvPr id="20" name="Shape 18"/>
          <p:cNvSpPr/>
          <p:nvPr/>
        </p:nvSpPr>
        <p:spPr>
          <a:xfrm>
            <a:off x="777240" y="3657600"/>
            <a:ext cx="2139696" cy="384048"/>
          </a:xfrm>
          <a:prstGeom prst="rect">
            <a:avLst/>
          </a:prstGeom>
          <a:solidFill>
            <a:srgbClr val="12304A"/>
          </a:solidFill>
          <a:ln w="6350">
            <a:solidFill>
              <a:srgbClr val="D5DEE8"/>
            </a:solidFill>
            <a:prstDash val="solid"/>
          </a:ln>
        </p:spPr>
      </p:sp>
      <p:sp>
        <p:nvSpPr>
          <p:cNvPr id="21" name="Text 19"/>
          <p:cNvSpPr txBox="1"/>
          <p:nvPr/>
        </p:nvSpPr>
        <p:spPr>
          <a:xfrm>
            <a:off x="841248" y="3694176"/>
            <a:ext cx="2011680"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PROVIDER</a:t>
            </a:r>
            <a:endParaRPr lang="en-US" sz="960" dirty="0"/>
          </a:p>
        </p:txBody>
      </p:sp>
      <p:sp>
        <p:nvSpPr>
          <p:cNvPr id="22" name="Shape 20"/>
          <p:cNvSpPr/>
          <p:nvPr/>
        </p:nvSpPr>
        <p:spPr>
          <a:xfrm>
            <a:off x="2916936" y="3657600"/>
            <a:ext cx="2460650" cy="384048"/>
          </a:xfrm>
          <a:prstGeom prst="rect">
            <a:avLst/>
          </a:prstGeom>
          <a:solidFill>
            <a:srgbClr val="12304A"/>
          </a:solidFill>
          <a:ln w="6350">
            <a:solidFill>
              <a:srgbClr val="D5DEE8"/>
            </a:solidFill>
            <a:prstDash val="solid"/>
          </a:ln>
        </p:spPr>
      </p:sp>
      <p:sp>
        <p:nvSpPr>
          <p:cNvPr id="23" name="Text 21"/>
          <p:cNvSpPr txBox="1"/>
          <p:nvPr/>
        </p:nvSpPr>
        <p:spPr>
          <a:xfrm>
            <a:off x="2980944" y="3694176"/>
            <a:ext cx="2332634"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STOPPED STATE</a:t>
            </a:r>
            <a:endParaRPr lang="en-US" sz="960" dirty="0"/>
          </a:p>
        </p:txBody>
      </p:sp>
      <p:sp>
        <p:nvSpPr>
          <p:cNvPr id="24" name="Shape 22"/>
          <p:cNvSpPr/>
          <p:nvPr/>
        </p:nvSpPr>
        <p:spPr>
          <a:xfrm>
            <a:off x="5377586" y="3657600"/>
            <a:ext cx="6098134" cy="384048"/>
          </a:xfrm>
          <a:prstGeom prst="rect">
            <a:avLst/>
          </a:prstGeom>
          <a:solidFill>
            <a:srgbClr val="12304A"/>
          </a:solidFill>
          <a:ln w="6350">
            <a:solidFill>
              <a:srgbClr val="D5DEE8"/>
            </a:solidFill>
            <a:prstDash val="solid"/>
          </a:ln>
        </p:spPr>
      </p:sp>
      <p:sp>
        <p:nvSpPr>
          <p:cNvPr id="25" name="Text 23"/>
          <p:cNvSpPr txBox="1"/>
          <p:nvPr/>
        </p:nvSpPr>
        <p:spPr>
          <a:xfrm>
            <a:off x="5441594" y="3694176"/>
            <a:ext cx="5970118"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IMPORTANT COST NOTE</a:t>
            </a:r>
            <a:endParaRPr lang="en-US" sz="960" dirty="0"/>
          </a:p>
        </p:txBody>
      </p:sp>
      <p:sp>
        <p:nvSpPr>
          <p:cNvPr id="26" name="Shape 24"/>
          <p:cNvSpPr/>
          <p:nvPr/>
        </p:nvSpPr>
        <p:spPr>
          <a:xfrm>
            <a:off x="777240" y="4041648"/>
            <a:ext cx="2139696" cy="466344"/>
          </a:xfrm>
          <a:prstGeom prst="rect">
            <a:avLst/>
          </a:prstGeom>
          <a:solidFill>
            <a:srgbClr val="FFFFFF"/>
          </a:solidFill>
          <a:ln w="6350">
            <a:solidFill>
              <a:srgbClr val="D5DEE8"/>
            </a:solidFill>
            <a:prstDash val="solid"/>
          </a:ln>
        </p:spPr>
      </p:sp>
      <p:sp>
        <p:nvSpPr>
          <p:cNvPr id="27" name="Text 25"/>
          <p:cNvSpPr txBox="1"/>
          <p:nvPr/>
        </p:nvSpPr>
        <p:spPr>
          <a:xfrm>
            <a:off x="841248" y="4078224"/>
            <a:ext cx="2011680"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Google Cloud</a:t>
            </a:r>
            <a:endParaRPr lang="en-US" sz="970" dirty="0"/>
          </a:p>
        </p:txBody>
      </p:sp>
      <p:sp>
        <p:nvSpPr>
          <p:cNvPr id="28" name="Shape 26"/>
          <p:cNvSpPr/>
          <p:nvPr/>
        </p:nvSpPr>
        <p:spPr>
          <a:xfrm>
            <a:off x="2916936" y="4041648"/>
            <a:ext cx="2460650" cy="466344"/>
          </a:xfrm>
          <a:prstGeom prst="rect">
            <a:avLst/>
          </a:prstGeom>
          <a:solidFill>
            <a:srgbClr val="FFFFFF"/>
          </a:solidFill>
          <a:ln w="6350">
            <a:solidFill>
              <a:srgbClr val="D5DEE8"/>
            </a:solidFill>
            <a:prstDash val="solid"/>
          </a:ln>
        </p:spPr>
      </p:sp>
      <p:sp>
        <p:nvSpPr>
          <p:cNvPr id="29" name="Text 27"/>
          <p:cNvSpPr txBox="1"/>
          <p:nvPr/>
        </p:nvSpPr>
        <p:spPr>
          <a:xfrm>
            <a:off x="2980944" y="4078224"/>
            <a:ext cx="2332634"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TERMINATED</a:t>
            </a:r>
            <a:endParaRPr lang="en-US" sz="970" dirty="0"/>
          </a:p>
        </p:txBody>
      </p:sp>
      <p:sp>
        <p:nvSpPr>
          <p:cNvPr id="30" name="Shape 28"/>
          <p:cNvSpPr/>
          <p:nvPr/>
        </p:nvSpPr>
        <p:spPr>
          <a:xfrm>
            <a:off x="5377586" y="4041648"/>
            <a:ext cx="6098134" cy="466344"/>
          </a:xfrm>
          <a:prstGeom prst="rect">
            <a:avLst/>
          </a:prstGeom>
          <a:solidFill>
            <a:srgbClr val="FFFFFF"/>
          </a:solidFill>
          <a:ln w="6350">
            <a:solidFill>
              <a:srgbClr val="D5DEE8"/>
            </a:solidFill>
            <a:prstDash val="solid"/>
          </a:ln>
        </p:spPr>
      </p:sp>
      <p:sp>
        <p:nvSpPr>
          <p:cNvPr id="31" name="Text 29"/>
          <p:cNvSpPr txBox="1"/>
          <p:nvPr/>
        </p:nvSpPr>
        <p:spPr>
          <a:xfrm>
            <a:off x="5441594" y="4078224"/>
            <a:ext cx="5970118"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VM compute usage stops; attached disks and reserved resources may still cost.</a:t>
            </a:r>
            <a:endParaRPr lang="en-US" sz="970" dirty="0"/>
          </a:p>
        </p:txBody>
      </p:sp>
      <p:sp>
        <p:nvSpPr>
          <p:cNvPr id="32" name="Shape 30"/>
          <p:cNvSpPr/>
          <p:nvPr/>
        </p:nvSpPr>
        <p:spPr>
          <a:xfrm>
            <a:off x="777240" y="4507992"/>
            <a:ext cx="2139696" cy="466344"/>
          </a:xfrm>
          <a:prstGeom prst="rect">
            <a:avLst/>
          </a:prstGeom>
          <a:solidFill>
            <a:srgbClr val="F1F5F9"/>
          </a:solidFill>
          <a:ln w="6350">
            <a:solidFill>
              <a:srgbClr val="D5DEE8"/>
            </a:solidFill>
            <a:prstDash val="solid"/>
          </a:ln>
        </p:spPr>
      </p:sp>
      <p:sp>
        <p:nvSpPr>
          <p:cNvPr id="33" name="Text 31"/>
          <p:cNvSpPr txBox="1"/>
          <p:nvPr/>
        </p:nvSpPr>
        <p:spPr>
          <a:xfrm>
            <a:off x="841248" y="4544568"/>
            <a:ext cx="2011680"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AWS EC2</a:t>
            </a:r>
            <a:endParaRPr lang="en-US" sz="970" dirty="0"/>
          </a:p>
        </p:txBody>
      </p:sp>
      <p:sp>
        <p:nvSpPr>
          <p:cNvPr id="34" name="Shape 32"/>
          <p:cNvSpPr/>
          <p:nvPr/>
        </p:nvSpPr>
        <p:spPr>
          <a:xfrm>
            <a:off x="2916936" y="4507992"/>
            <a:ext cx="2460650" cy="466344"/>
          </a:xfrm>
          <a:prstGeom prst="rect">
            <a:avLst/>
          </a:prstGeom>
          <a:solidFill>
            <a:srgbClr val="F1F5F9"/>
          </a:solidFill>
          <a:ln w="6350">
            <a:solidFill>
              <a:srgbClr val="D5DEE8"/>
            </a:solidFill>
            <a:prstDash val="solid"/>
          </a:ln>
        </p:spPr>
      </p:sp>
      <p:sp>
        <p:nvSpPr>
          <p:cNvPr id="35" name="Text 33"/>
          <p:cNvSpPr txBox="1"/>
          <p:nvPr/>
        </p:nvSpPr>
        <p:spPr>
          <a:xfrm>
            <a:off x="2980944" y="4544568"/>
            <a:ext cx="2332634"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stopped</a:t>
            </a:r>
            <a:endParaRPr lang="en-US" sz="970" dirty="0"/>
          </a:p>
        </p:txBody>
      </p:sp>
      <p:sp>
        <p:nvSpPr>
          <p:cNvPr id="36" name="Shape 34"/>
          <p:cNvSpPr/>
          <p:nvPr/>
        </p:nvSpPr>
        <p:spPr>
          <a:xfrm>
            <a:off x="5377586" y="4507992"/>
            <a:ext cx="6098134" cy="466344"/>
          </a:xfrm>
          <a:prstGeom prst="rect">
            <a:avLst/>
          </a:prstGeom>
          <a:solidFill>
            <a:srgbClr val="F1F5F9"/>
          </a:solidFill>
          <a:ln w="6350">
            <a:solidFill>
              <a:srgbClr val="D5DEE8"/>
            </a:solidFill>
            <a:prstDash val="solid"/>
          </a:ln>
        </p:spPr>
      </p:sp>
      <p:sp>
        <p:nvSpPr>
          <p:cNvPr id="37" name="Text 35"/>
          <p:cNvSpPr txBox="1"/>
          <p:nvPr/>
        </p:nvSpPr>
        <p:spPr>
          <a:xfrm>
            <a:off x="5441594" y="4544568"/>
            <a:ext cx="5970118"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Instance compute usage is not billed while stopped; EBS volumes remain billable.</a:t>
            </a:r>
            <a:endParaRPr lang="en-US" sz="970" dirty="0"/>
          </a:p>
        </p:txBody>
      </p:sp>
      <p:sp>
        <p:nvSpPr>
          <p:cNvPr id="38" name="Shape 36"/>
          <p:cNvSpPr/>
          <p:nvPr/>
        </p:nvSpPr>
        <p:spPr>
          <a:xfrm>
            <a:off x="777240" y="4974336"/>
            <a:ext cx="2139696" cy="466344"/>
          </a:xfrm>
          <a:prstGeom prst="rect">
            <a:avLst/>
          </a:prstGeom>
          <a:solidFill>
            <a:srgbClr val="FFFFFF"/>
          </a:solidFill>
          <a:ln w="6350">
            <a:solidFill>
              <a:srgbClr val="D5DEE8"/>
            </a:solidFill>
            <a:prstDash val="solid"/>
          </a:ln>
        </p:spPr>
      </p:sp>
      <p:sp>
        <p:nvSpPr>
          <p:cNvPr id="39" name="Text 37"/>
          <p:cNvSpPr txBox="1"/>
          <p:nvPr/>
        </p:nvSpPr>
        <p:spPr>
          <a:xfrm>
            <a:off x="841248" y="5010912"/>
            <a:ext cx="2011680"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Azure VM</a:t>
            </a:r>
            <a:endParaRPr lang="en-US" sz="970" dirty="0"/>
          </a:p>
        </p:txBody>
      </p:sp>
      <p:sp>
        <p:nvSpPr>
          <p:cNvPr id="40" name="Shape 38"/>
          <p:cNvSpPr/>
          <p:nvPr/>
        </p:nvSpPr>
        <p:spPr>
          <a:xfrm>
            <a:off x="2916936" y="4974336"/>
            <a:ext cx="2460650" cy="466344"/>
          </a:xfrm>
          <a:prstGeom prst="rect">
            <a:avLst/>
          </a:prstGeom>
          <a:solidFill>
            <a:srgbClr val="FFFFFF"/>
          </a:solidFill>
          <a:ln w="6350">
            <a:solidFill>
              <a:srgbClr val="D5DEE8"/>
            </a:solidFill>
            <a:prstDash val="solid"/>
          </a:ln>
        </p:spPr>
      </p:sp>
      <p:sp>
        <p:nvSpPr>
          <p:cNvPr id="41" name="Text 39"/>
          <p:cNvSpPr txBox="1"/>
          <p:nvPr/>
        </p:nvSpPr>
        <p:spPr>
          <a:xfrm>
            <a:off x="2980944" y="5010912"/>
            <a:ext cx="2332634"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Stopped / deallocated</a:t>
            </a:r>
            <a:endParaRPr lang="en-US" sz="970" dirty="0"/>
          </a:p>
        </p:txBody>
      </p:sp>
      <p:sp>
        <p:nvSpPr>
          <p:cNvPr id="42" name="Shape 40"/>
          <p:cNvSpPr/>
          <p:nvPr/>
        </p:nvSpPr>
        <p:spPr>
          <a:xfrm>
            <a:off x="5377586" y="4974336"/>
            <a:ext cx="6098134" cy="466344"/>
          </a:xfrm>
          <a:prstGeom prst="rect">
            <a:avLst/>
          </a:prstGeom>
          <a:solidFill>
            <a:srgbClr val="FFFFFF"/>
          </a:solidFill>
          <a:ln w="6350">
            <a:solidFill>
              <a:srgbClr val="D5DEE8"/>
            </a:solidFill>
            <a:prstDash val="solid"/>
          </a:ln>
        </p:spPr>
      </p:sp>
      <p:sp>
        <p:nvSpPr>
          <p:cNvPr id="43" name="Text 41"/>
          <p:cNvSpPr txBox="1"/>
          <p:nvPr/>
        </p:nvSpPr>
        <p:spPr>
          <a:xfrm>
            <a:off x="5441594" y="5010912"/>
            <a:ext cx="5970118" cy="393192"/>
          </a:xfrm>
          <a:prstGeom prst="rect">
            <a:avLst/>
          </a:prstGeom>
          <a:noFill/>
          <a:ln/>
        </p:spPr>
        <p:txBody>
          <a:bodyPr wrap="square" lIns="0" tIns="0" rIns="0" bIns="0" rtlCol="0" anchor="ctr">
            <a:normAutofit/>
          </a:bodyPr>
          <a:lstStyle/>
          <a:p>
            <a:pPr algn="l" indent="0" marL="0">
              <a:lnSpc>
                <a:spcPct val="95000"/>
              </a:lnSpc>
              <a:buNone/>
            </a:pPr>
            <a:r>
              <a:rPr lang="en-US" sz="970" dirty="0">
                <a:solidFill>
                  <a:srgbClr val="203040"/>
                </a:solidFill>
                <a:latin typeface="Carlito" pitchFamily="34" charset="0"/>
                <a:ea typeface="Carlito" pitchFamily="34" charset="-122"/>
                <a:cs typeface="Carlito" pitchFamily="34" charset="-120"/>
              </a:rPr>
              <a:t>Stopped but allocated can still be billed; deallocated stops VM compute billing; disks/network may remain billable.</a:t>
            </a:r>
            <a:endParaRPr lang="en-US" sz="970" dirty="0"/>
          </a:p>
        </p:txBody>
      </p:sp>
      <p:sp>
        <p:nvSpPr>
          <p:cNvPr id="44" name="Shape 42"/>
          <p:cNvSpPr/>
          <p:nvPr/>
        </p:nvSpPr>
        <p:spPr>
          <a:xfrm>
            <a:off x="822960" y="5687568"/>
            <a:ext cx="10515600" cy="438912"/>
          </a:xfrm>
          <a:prstGeom prst="roundRect">
            <a:avLst>
              <a:gd name="adj" fmla="val 16667"/>
            </a:avLst>
          </a:prstGeom>
          <a:solidFill>
            <a:srgbClr val="FFF5E6"/>
          </a:solidFill>
          <a:ln w="10160">
            <a:solidFill>
              <a:srgbClr val="FFF5E6"/>
            </a:solidFill>
            <a:prstDash val="solid"/>
          </a:ln>
        </p:spPr>
      </p:sp>
      <p:sp>
        <p:nvSpPr>
          <p:cNvPr id="45" name="Text 43"/>
          <p:cNvSpPr txBox="1"/>
          <p:nvPr/>
        </p:nvSpPr>
        <p:spPr>
          <a:xfrm>
            <a:off x="969264" y="5760720"/>
            <a:ext cx="10222992" cy="29260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Lab proof: capture RUNNING before stop, TERMINATED after stop, then inspect the Console VM row. Explain that stopping the VM does not delete its disks.</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SECURE ADMIN ACCESS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IAP TCP forwarding: SSH without a public VM IP</a:t>
            </a:r>
            <a:endParaRPr lang="en-US" sz="2500" dirty="0"/>
          </a:p>
        </p:txBody>
      </p:sp>
      <p:sp>
        <p:nvSpPr>
          <p:cNvPr id="4" name="Shape 2"/>
          <p:cNvSpPr/>
          <p:nvPr/>
        </p:nvSpPr>
        <p:spPr>
          <a:xfrm>
            <a:off x="640080" y="1828800"/>
            <a:ext cx="2331720" cy="1051560"/>
          </a:xfrm>
          <a:prstGeom prst="roundRect">
            <a:avLst>
              <a:gd name="adj" fmla="val 6957"/>
            </a:avLst>
          </a:prstGeom>
          <a:solidFill>
            <a:srgbClr val="FFFFFF"/>
          </a:solidFill>
          <a:ln w="10160">
            <a:solidFill>
              <a:srgbClr val="DCE3EB"/>
            </a:solidFill>
            <a:prstDash val="solid"/>
          </a:ln>
        </p:spPr>
      </p:sp>
      <p:sp>
        <p:nvSpPr>
          <p:cNvPr id="5" name="Text 3"/>
          <p:cNvSpPr txBox="1"/>
          <p:nvPr/>
        </p:nvSpPr>
        <p:spPr>
          <a:xfrm>
            <a:off x="731520" y="1993392"/>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2878C8"/>
                </a:solidFill>
                <a:latin typeface="Carlito" pitchFamily="34" charset="0"/>
                <a:ea typeface="Carlito" pitchFamily="34" charset="-122"/>
                <a:cs typeface="Carlito" pitchFamily="34" charset="-120"/>
              </a:rPr>
              <a:t>STUDENT</a:t>
            </a:r>
            <a:endParaRPr lang="en-US" sz="1100" dirty="0"/>
          </a:p>
        </p:txBody>
      </p:sp>
      <p:sp>
        <p:nvSpPr>
          <p:cNvPr id="6" name="Text 4"/>
          <p:cNvSpPr txBox="1"/>
          <p:nvPr/>
        </p:nvSpPr>
        <p:spPr>
          <a:xfrm>
            <a:off x="749808" y="2340864"/>
            <a:ext cx="2112264" cy="256032"/>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Google identity</a:t>
            </a:r>
            <a:endParaRPr lang="en-US" sz="1000" dirty="0"/>
          </a:p>
        </p:txBody>
      </p:sp>
      <p:sp>
        <p:nvSpPr>
          <p:cNvPr id="7" name="Shape 5"/>
          <p:cNvSpPr/>
          <p:nvPr/>
        </p:nvSpPr>
        <p:spPr>
          <a:xfrm>
            <a:off x="2999232" y="2350008"/>
            <a:ext cx="402336" cy="0"/>
          </a:xfrm>
          <a:prstGeom prst="line">
            <a:avLst/>
          </a:prstGeom>
          <a:noFill/>
          <a:ln w="20320">
            <a:solidFill>
              <a:srgbClr val="0D9488"/>
            </a:solidFill>
            <a:prstDash val="solid"/>
            <a:tailEnd type="triangle"/>
          </a:ln>
        </p:spPr>
      </p:sp>
      <p:sp>
        <p:nvSpPr>
          <p:cNvPr id="8" name="Shape 6"/>
          <p:cNvSpPr/>
          <p:nvPr/>
        </p:nvSpPr>
        <p:spPr>
          <a:xfrm>
            <a:off x="3493008" y="1828800"/>
            <a:ext cx="2331720" cy="1051560"/>
          </a:xfrm>
          <a:prstGeom prst="roundRect">
            <a:avLst>
              <a:gd name="adj" fmla="val 6957"/>
            </a:avLst>
          </a:prstGeom>
          <a:solidFill>
            <a:srgbClr val="FFFFFF"/>
          </a:solidFill>
          <a:ln w="10160">
            <a:solidFill>
              <a:srgbClr val="DCE3EB"/>
            </a:solidFill>
            <a:prstDash val="solid"/>
          </a:ln>
        </p:spPr>
      </p:sp>
      <p:sp>
        <p:nvSpPr>
          <p:cNvPr id="9" name="Text 7"/>
          <p:cNvSpPr txBox="1"/>
          <p:nvPr/>
        </p:nvSpPr>
        <p:spPr>
          <a:xfrm>
            <a:off x="3584448" y="1993392"/>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0D9488"/>
                </a:solidFill>
                <a:latin typeface="Carlito" pitchFamily="34" charset="0"/>
                <a:ea typeface="Carlito" pitchFamily="34" charset="-122"/>
                <a:cs typeface="Carlito" pitchFamily="34" charset="-120"/>
              </a:rPr>
              <a:t>IAP PROXY</a:t>
            </a:r>
            <a:endParaRPr lang="en-US" sz="1100" dirty="0"/>
          </a:p>
        </p:txBody>
      </p:sp>
      <p:sp>
        <p:nvSpPr>
          <p:cNvPr id="10" name="Text 8"/>
          <p:cNvSpPr txBox="1"/>
          <p:nvPr/>
        </p:nvSpPr>
        <p:spPr>
          <a:xfrm>
            <a:off x="3602736" y="2340864"/>
            <a:ext cx="2112264" cy="256032"/>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Authorized TCP tunnel</a:t>
            </a:r>
            <a:endParaRPr lang="en-US" sz="1000" dirty="0"/>
          </a:p>
        </p:txBody>
      </p:sp>
      <p:sp>
        <p:nvSpPr>
          <p:cNvPr id="11" name="Shape 9"/>
          <p:cNvSpPr/>
          <p:nvPr/>
        </p:nvSpPr>
        <p:spPr>
          <a:xfrm>
            <a:off x="5852160" y="2350008"/>
            <a:ext cx="402336" cy="0"/>
          </a:xfrm>
          <a:prstGeom prst="line">
            <a:avLst/>
          </a:prstGeom>
          <a:noFill/>
          <a:ln w="20320">
            <a:solidFill>
              <a:srgbClr val="0D9488"/>
            </a:solidFill>
            <a:prstDash val="solid"/>
            <a:tailEnd type="triangle"/>
          </a:ln>
        </p:spPr>
      </p:sp>
      <p:sp>
        <p:nvSpPr>
          <p:cNvPr id="12" name="Shape 10"/>
          <p:cNvSpPr/>
          <p:nvPr/>
        </p:nvSpPr>
        <p:spPr>
          <a:xfrm>
            <a:off x="6345936" y="1828800"/>
            <a:ext cx="2331720" cy="1051560"/>
          </a:xfrm>
          <a:prstGeom prst="roundRect">
            <a:avLst>
              <a:gd name="adj" fmla="val 6957"/>
            </a:avLst>
          </a:prstGeom>
          <a:solidFill>
            <a:srgbClr val="FFFFFF"/>
          </a:solidFill>
          <a:ln w="10160">
            <a:solidFill>
              <a:srgbClr val="DCE3EB"/>
            </a:solidFill>
            <a:prstDash val="solid"/>
          </a:ln>
        </p:spPr>
      </p:sp>
      <p:sp>
        <p:nvSpPr>
          <p:cNvPr id="13" name="Text 11"/>
          <p:cNvSpPr txBox="1"/>
          <p:nvPr/>
        </p:nvSpPr>
        <p:spPr>
          <a:xfrm>
            <a:off x="6437376" y="1993392"/>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D97706"/>
                </a:solidFill>
                <a:latin typeface="Carlito" pitchFamily="34" charset="0"/>
                <a:ea typeface="Carlito" pitchFamily="34" charset="-122"/>
                <a:cs typeface="Carlito" pitchFamily="34" charset="-120"/>
              </a:rPr>
              <a:t>VPC FIREWALL</a:t>
            </a:r>
            <a:endParaRPr lang="en-US" sz="1100" dirty="0"/>
          </a:p>
        </p:txBody>
      </p:sp>
      <p:sp>
        <p:nvSpPr>
          <p:cNvPr id="14" name="Text 12"/>
          <p:cNvSpPr txBox="1"/>
          <p:nvPr/>
        </p:nvSpPr>
        <p:spPr>
          <a:xfrm>
            <a:off x="6455664" y="2340864"/>
            <a:ext cx="2112264" cy="256032"/>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Allow TCP 22 from IAP range</a:t>
            </a:r>
            <a:endParaRPr lang="en-US" sz="1000" dirty="0"/>
          </a:p>
        </p:txBody>
      </p:sp>
      <p:sp>
        <p:nvSpPr>
          <p:cNvPr id="15" name="Shape 13"/>
          <p:cNvSpPr/>
          <p:nvPr/>
        </p:nvSpPr>
        <p:spPr>
          <a:xfrm>
            <a:off x="8705088" y="2350008"/>
            <a:ext cx="402336" cy="0"/>
          </a:xfrm>
          <a:prstGeom prst="line">
            <a:avLst/>
          </a:prstGeom>
          <a:noFill/>
          <a:ln w="20320">
            <a:solidFill>
              <a:srgbClr val="0D9488"/>
            </a:solidFill>
            <a:prstDash val="solid"/>
            <a:tailEnd type="triangle"/>
          </a:ln>
        </p:spPr>
      </p:sp>
      <p:sp>
        <p:nvSpPr>
          <p:cNvPr id="16" name="Shape 14"/>
          <p:cNvSpPr/>
          <p:nvPr/>
        </p:nvSpPr>
        <p:spPr>
          <a:xfrm>
            <a:off x="9198864" y="1828800"/>
            <a:ext cx="2331720" cy="1051560"/>
          </a:xfrm>
          <a:prstGeom prst="roundRect">
            <a:avLst>
              <a:gd name="adj" fmla="val 6957"/>
            </a:avLst>
          </a:prstGeom>
          <a:solidFill>
            <a:srgbClr val="FFFFFF"/>
          </a:solidFill>
          <a:ln w="10160">
            <a:solidFill>
              <a:srgbClr val="DCE3EB"/>
            </a:solidFill>
            <a:prstDash val="solid"/>
          </a:ln>
        </p:spPr>
      </p:sp>
      <p:sp>
        <p:nvSpPr>
          <p:cNvPr id="17" name="Text 15"/>
          <p:cNvSpPr txBox="1"/>
          <p:nvPr/>
        </p:nvSpPr>
        <p:spPr>
          <a:xfrm>
            <a:off x="9290304" y="1993392"/>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6A36A"/>
                </a:solidFill>
                <a:latin typeface="Carlito" pitchFamily="34" charset="0"/>
                <a:ea typeface="Carlito" pitchFamily="34" charset="-122"/>
                <a:cs typeface="Carlito" pitchFamily="34" charset="-120"/>
              </a:rPr>
              <a:t>PRIVATE VM</a:t>
            </a:r>
            <a:endParaRPr lang="en-US" sz="1100" dirty="0"/>
          </a:p>
        </p:txBody>
      </p:sp>
      <p:sp>
        <p:nvSpPr>
          <p:cNvPr id="18" name="Text 16"/>
          <p:cNvSpPr txBox="1"/>
          <p:nvPr/>
        </p:nvSpPr>
        <p:spPr>
          <a:xfrm>
            <a:off x="9308592" y="2340864"/>
            <a:ext cx="2112264" cy="256032"/>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OS Login + Linux user</a:t>
            </a:r>
            <a:endParaRPr lang="en-US" sz="1000" dirty="0"/>
          </a:p>
        </p:txBody>
      </p:sp>
      <p:sp>
        <p:nvSpPr>
          <p:cNvPr id="19" name="Text 17"/>
          <p:cNvSpPr txBox="1"/>
          <p:nvPr/>
        </p:nvSpPr>
        <p:spPr>
          <a:xfrm>
            <a:off x="822960" y="3429000"/>
            <a:ext cx="10561320" cy="1417320"/>
          </a:xfrm>
          <a:prstGeom prst="rect">
            <a:avLst/>
          </a:prstGeom>
          <a:noFill/>
          <a:ln/>
        </p:spPr>
        <p:txBody>
          <a:bodyPr wrap="square" lIns="254" tIns="254" rIns="254" bIns="254" rtlCol="0" anchor="t">
            <a:normAutofit/>
          </a:bodyPr>
          <a:lstStyle/>
          <a:p>
            <a:pPr algn="l" indent="0" marL="0">
              <a:lnSpc>
                <a:spcPct val="95000"/>
              </a:lnSpc>
              <a:buNone/>
            </a:pPr>
            <a:r>
              <a:rPr lang="en-US" sz="1270" dirty="0">
                <a:solidFill>
                  <a:srgbClr val="203040"/>
                </a:solidFill>
                <a:latin typeface="Carlito" pitchFamily="34" charset="0"/>
                <a:ea typeface="Carlito" pitchFamily="34" charset="-122"/>
                <a:cs typeface="Carlito" pitchFamily="34" charset="-120"/>
              </a:rPr>
              <a:t>•  IAP TCP forwarding provides an encrypted tunnel to SSH/RDP or other TCP ports.</a:t>
            </a:r>
            <a:endParaRPr lang="en-US" sz="1270" dirty="0"/>
          </a:p>
          <a:p>
            <a:pPr algn="l" indent="0" marL="0">
              <a:lnSpc>
                <a:spcPct val="95000"/>
              </a:lnSpc>
              <a:buNone/>
            </a:pPr>
            <a:r>
              <a:rPr lang="en-US" sz="1270" dirty="0">
                <a:solidFill>
                  <a:srgbClr val="203040"/>
                </a:solidFill>
                <a:latin typeface="Carlito" pitchFamily="34" charset="0"/>
                <a:ea typeface="Carlito" pitchFamily="34" charset="-122"/>
                <a:cs typeface="Carlito" pitchFamily="34" charset="-120"/>
              </a:rPr>
              <a:t>•  The VM can have no external IP; IAP connects to its internal interface.</a:t>
            </a:r>
            <a:endParaRPr lang="en-US" sz="1270" dirty="0"/>
          </a:p>
          <a:p>
            <a:pPr algn="l" indent="0" marL="0">
              <a:lnSpc>
                <a:spcPct val="95000"/>
              </a:lnSpc>
              <a:buNone/>
            </a:pPr>
            <a:r>
              <a:rPr lang="en-US" sz="1270" dirty="0">
                <a:solidFill>
                  <a:srgbClr val="203040"/>
                </a:solidFill>
                <a:latin typeface="Carlito" pitchFamily="34" charset="0"/>
                <a:ea typeface="Carlito" pitchFamily="34" charset="-122"/>
                <a:cs typeface="Carlito" pitchFamily="34" charset="-120"/>
              </a:rPr>
              <a:t>•  Firewall must allow ingress from 35.235.240.0/20 to TCP:22 for IPv4 IAP TCP forwarding.</a:t>
            </a:r>
            <a:endParaRPr lang="en-US" sz="1270" dirty="0"/>
          </a:p>
          <a:p>
            <a:pPr algn="l" indent="0" marL="0">
              <a:lnSpc>
                <a:spcPct val="95000"/>
              </a:lnSpc>
              <a:buNone/>
            </a:pPr>
            <a:r>
              <a:rPr lang="en-US" sz="1270" dirty="0">
                <a:solidFill>
                  <a:srgbClr val="203040"/>
                </a:solidFill>
                <a:latin typeface="Carlito" pitchFamily="34" charset="0"/>
                <a:ea typeface="Carlito" pitchFamily="34" charset="-122"/>
                <a:cs typeface="Carlito" pitchFamily="34" charset="-120"/>
              </a:rPr>
              <a:t>•  IAM controls who can open the tunnel and log in. OS Login roles and IAP tunnel access are separate permissions.</a:t>
            </a:r>
            <a:endParaRPr lang="en-US" sz="1270" dirty="0"/>
          </a:p>
        </p:txBody>
      </p:sp>
      <p:sp>
        <p:nvSpPr>
          <p:cNvPr id="20" name="Shape 18"/>
          <p:cNvSpPr/>
          <p:nvPr/>
        </p:nvSpPr>
        <p:spPr>
          <a:xfrm>
            <a:off x="822960" y="5349240"/>
            <a:ext cx="10561320" cy="640080"/>
          </a:xfrm>
          <a:prstGeom prst="roundRect">
            <a:avLst>
              <a:gd name="adj" fmla="val 11429"/>
            </a:avLst>
          </a:prstGeom>
          <a:solidFill>
            <a:srgbClr val="FDEEEE"/>
          </a:solidFill>
          <a:ln w="10160">
            <a:solidFill>
              <a:srgbClr val="FDEEEE"/>
            </a:solidFill>
            <a:prstDash val="solid"/>
          </a:ln>
        </p:spPr>
      </p:sp>
      <p:sp>
        <p:nvSpPr>
          <p:cNvPr id="21" name="Text 19"/>
          <p:cNvSpPr txBox="1"/>
          <p:nvPr/>
        </p:nvSpPr>
        <p:spPr>
          <a:xfrm>
            <a:off x="969264" y="5422392"/>
            <a:ext cx="10268712" cy="49377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Do not “fix” IAP by assigning a public IP or disabling OS Login. Diagnose the identity, IAP permission, firewall source range, target tag and VM service-account access separately.</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TROUBLESHOOTING</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SSH diagnostic order: check every layer, not just the port</a:t>
            </a:r>
            <a:endParaRPr lang="en-US" sz="2500" dirty="0"/>
          </a:p>
        </p:txBody>
      </p:sp>
      <p:sp>
        <p:nvSpPr>
          <p:cNvPr id="4" name="Shape 2"/>
          <p:cNvSpPr/>
          <p:nvPr/>
        </p:nvSpPr>
        <p:spPr>
          <a:xfrm>
            <a:off x="868680" y="1764792"/>
            <a:ext cx="329184" cy="256032"/>
          </a:xfrm>
          <a:prstGeom prst="roundRect">
            <a:avLst>
              <a:gd name="adj" fmla="val 28571"/>
            </a:avLst>
          </a:prstGeom>
          <a:solidFill>
            <a:srgbClr val="EAF3FC"/>
          </a:solidFill>
          <a:ln w="10160">
            <a:solidFill>
              <a:srgbClr val="EAF3FC"/>
            </a:solidFill>
            <a:prstDash val="solid"/>
          </a:ln>
        </p:spPr>
      </p:sp>
      <p:sp>
        <p:nvSpPr>
          <p:cNvPr id="5" name="Text 3"/>
          <p:cNvSpPr txBox="1"/>
          <p:nvPr/>
        </p:nvSpPr>
        <p:spPr>
          <a:xfrm>
            <a:off x="941832" y="1778508"/>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1</a:t>
            </a:r>
            <a:endParaRPr lang="en-US" sz="900" dirty="0"/>
          </a:p>
        </p:txBody>
      </p:sp>
      <p:sp>
        <p:nvSpPr>
          <p:cNvPr id="6" name="Text 4"/>
          <p:cNvSpPr txBox="1"/>
          <p:nvPr/>
        </p:nvSpPr>
        <p:spPr>
          <a:xfrm>
            <a:off x="1389888" y="1719072"/>
            <a:ext cx="1828800" cy="228600"/>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Identity</a:t>
            </a:r>
            <a:endParaRPr lang="en-US" sz="1300" dirty="0"/>
          </a:p>
        </p:txBody>
      </p:sp>
      <p:sp>
        <p:nvSpPr>
          <p:cNvPr id="7" name="Text 5"/>
          <p:cNvSpPr txBox="1"/>
          <p:nvPr/>
        </p:nvSpPr>
        <p:spPr>
          <a:xfrm>
            <a:off x="3200400" y="1709928"/>
            <a:ext cx="7955280" cy="420624"/>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Correct Google account? OS Login role? IAP Tunnel User? Service Account User if required?</a:t>
            </a:r>
            <a:endParaRPr lang="en-US" sz="1120" dirty="0"/>
          </a:p>
        </p:txBody>
      </p:sp>
      <p:sp>
        <p:nvSpPr>
          <p:cNvPr id="8" name="Shape 6"/>
          <p:cNvSpPr/>
          <p:nvPr/>
        </p:nvSpPr>
        <p:spPr>
          <a:xfrm>
            <a:off x="1417320" y="2313432"/>
            <a:ext cx="9601200" cy="0"/>
          </a:xfrm>
          <a:prstGeom prst="line">
            <a:avLst/>
          </a:prstGeom>
          <a:noFill/>
          <a:ln w="7620">
            <a:solidFill>
              <a:srgbClr val="E3EAF1"/>
            </a:solidFill>
            <a:prstDash val="solid"/>
          </a:ln>
        </p:spPr>
      </p:sp>
      <p:sp>
        <p:nvSpPr>
          <p:cNvPr id="9" name="Shape 7"/>
          <p:cNvSpPr/>
          <p:nvPr/>
        </p:nvSpPr>
        <p:spPr>
          <a:xfrm>
            <a:off x="868680" y="2569464"/>
            <a:ext cx="329184" cy="256032"/>
          </a:xfrm>
          <a:prstGeom prst="roundRect">
            <a:avLst>
              <a:gd name="adj" fmla="val 28571"/>
            </a:avLst>
          </a:prstGeom>
          <a:solidFill>
            <a:srgbClr val="EAF3FC"/>
          </a:solidFill>
          <a:ln w="10160">
            <a:solidFill>
              <a:srgbClr val="EAF3FC"/>
            </a:solidFill>
            <a:prstDash val="solid"/>
          </a:ln>
        </p:spPr>
      </p:sp>
      <p:sp>
        <p:nvSpPr>
          <p:cNvPr id="10" name="Text 8"/>
          <p:cNvSpPr txBox="1"/>
          <p:nvPr/>
        </p:nvSpPr>
        <p:spPr>
          <a:xfrm>
            <a:off x="941832" y="2583180"/>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0D9488"/>
                </a:solidFill>
                <a:latin typeface="Carlito" pitchFamily="34" charset="0"/>
                <a:ea typeface="Carlito" pitchFamily="34" charset="-122"/>
                <a:cs typeface="Carlito" pitchFamily="34" charset="-120"/>
              </a:rPr>
              <a:t>2</a:t>
            </a:r>
            <a:endParaRPr lang="en-US" sz="900" dirty="0"/>
          </a:p>
        </p:txBody>
      </p:sp>
      <p:sp>
        <p:nvSpPr>
          <p:cNvPr id="11" name="Text 9"/>
          <p:cNvSpPr txBox="1"/>
          <p:nvPr/>
        </p:nvSpPr>
        <p:spPr>
          <a:xfrm>
            <a:off x="1389888" y="2523744"/>
            <a:ext cx="1828800" cy="228600"/>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Connection method</a:t>
            </a:r>
            <a:endParaRPr lang="en-US" sz="1300" dirty="0"/>
          </a:p>
        </p:txBody>
      </p:sp>
      <p:sp>
        <p:nvSpPr>
          <p:cNvPr id="12" name="Text 10"/>
          <p:cNvSpPr txBox="1"/>
          <p:nvPr/>
        </p:nvSpPr>
        <p:spPr>
          <a:xfrm>
            <a:off x="3200400" y="2514600"/>
            <a:ext cx="7955280" cy="420624"/>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Use gcloud compute ssh --tunnel-through-iap; VM has no external IP by design.</a:t>
            </a:r>
            <a:endParaRPr lang="en-US" sz="1120" dirty="0"/>
          </a:p>
        </p:txBody>
      </p:sp>
      <p:sp>
        <p:nvSpPr>
          <p:cNvPr id="13" name="Shape 11"/>
          <p:cNvSpPr/>
          <p:nvPr/>
        </p:nvSpPr>
        <p:spPr>
          <a:xfrm>
            <a:off x="1417320" y="3118104"/>
            <a:ext cx="9601200" cy="0"/>
          </a:xfrm>
          <a:prstGeom prst="line">
            <a:avLst/>
          </a:prstGeom>
          <a:noFill/>
          <a:ln w="7620">
            <a:solidFill>
              <a:srgbClr val="E3EAF1"/>
            </a:solidFill>
            <a:prstDash val="solid"/>
          </a:ln>
        </p:spPr>
      </p:sp>
      <p:sp>
        <p:nvSpPr>
          <p:cNvPr id="14" name="Shape 12"/>
          <p:cNvSpPr/>
          <p:nvPr/>
        </p:nvSpPr>
        <p:spPr>
          <a:xfrm>
            <a:off x="868680" y="3374136"/>
            <a:ext cx="329184" cy="256032"/>
          </a:xfrm>
          <a:prstGeom prst="roundRect">
            <a:avLst>
              <a:gd name="adj" fmla="val 28571"/>
            </a:avLst>
          </a:prstGeom>
          <a:solidFill>
            <a:srgbClr val="EAF3FC"/>
          </a:solidFill>
          <a:ln w="10160">
            <a:solidFill>
              <a:srgbClr val="EAF3FC"/>
            </a:solidFill>
            <a:prstDash val="solid"/>
          </a:ln>
        </p:spPr>
      </p:sp>
      <p:sp>
        <p:nvSpPr>
          <p:cNvPr id="15" name="Text 13"/>
          <p:cNvSpPr txBox="1"/>
          <p:nvPr/>
        </p:nvSpPr>
        <p:spPr>
          <a:xfrm>
            <a:off x="941832" y="3387852"/>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7706"/>
                </a:solidFill>
                <a:latin typeface="Carlito" pitchFamily="34" charset="0"/>
                <a:ea typeface="Carlito" pitchFamily="34" charset="-122"/>
                <a:cs typeface="Carlito" pitchFamily="34" charset="-120"/>
              </a:rPr>
              <a:t>3</a:t>
            </a:r>
            <a:endParaRPr lang="en-US" sz="900" dirty="0"/>
          </a:p>
        </p:txBody>
      </p:sp>
      <p:sp>
        <p:nvSpPr>
          <p:cNvPr id="16" name="Text 14"/>
          <p:cNvSpPr txBox="1"/>
          <p:nvPr/>
        </p:nvSpPr>
        <p:spPr>
          <a:xfrm>
            <a:off x="1389888" y="3328416"/>
            <a:ext cx="1828800" cy="228600"/>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Firewall</a:t>
            </a:r>
            <a:endParaRPr lang="en-US" sz="1300" dirty="0"/>
          </a:p>
        </p:txBody>
      </p:sp>
      <p:sp>
        <p:nvSpPr>
          <p:cNvPr id="17" name="Text 15"/>
          <p:cNvSpPr txBox="1"/>
          <p:nvPr/>
        </p:nvSpPr>
        <p:spPr>
          <a:xfrm>
            <a:off x="3200400" y="3319272"/>
            <a:ext cx="7955280" cy="420624"/>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Ingress allow rule? TCP 22? Source 35.235.240.0/20? Higher-priority deny?</a:t>
            </a:r>
            <a:endParaRPr lang="en-US" sz="1120" dirty="0"/>
          </a:p>
        </p:txBody>
      </p:sp>
      <p:sp>
        <p:nvSpPr>
          <p:cNvPr id="18" name="Shape 16"/>
          <p:cNvSpPr/>
          <p:nvPr/>
        </p:nvSpPr>
        <p:spPr>
          <a:xfrm>
            <a:off x="1417320" y="3922776"/>
            <a:ext cx="9601200" cy="0"/>
          </a:xfrm>
          <a:prstGeom prst="line">
            <a:avLst/>
          </a:prstGeom>
          <a:noFill/>
          <a:ln w="7620">
            <a:solidFill>
              <a:srgbClr val="E3EAF1"/>
            </a:solidFill>
            <a:prstDash val="solid"/>
          </a:ln>
        </p:spPr>
      </p:sp>
      <p:sp>
        <p:nvSpPr>
          <p:cNvPr id="19" name="Shape 17"/>
          <p:cNvSpPr/>
          <p:nvPr/>
        </p:nvSpPr>
        <p:spPr>
          <a:xfrm>
            <a:off x="868680" y="4178808"/>
            <a:ext cx="329184" cy="256032"/>
          </a:xfrm>
          <a:prstGeom prst="roundRect">
            <a:avLst>
              <a:gd name="adj" fmla="val 28571"/>
            </a:avLst>
          </a:prstGeom>
          <a:solidFill>
            <a:srgbClr val="EAF3FC"/>
          </a:solidFill>
          <a:ln w="10160">
            <a:solidFill>
              <a:srgbClr val="EAF3FC"/>
            </a:solidFill>
            <a:prstDash val="solid"/>
          </a:ln>
        </p:spPr>
      </p:sp>
      <p:sp>
        <p:nvSpPr>
          <p:cNvPr id="20" name="Text 18"/>
          <p:cNvSpPr txBox="1"/>
          <p:nvPr/>
        </p:nvSpPr>
        <p:spPr>
          <a:xfrm>
            <a:off x="941832" y="4192524"/>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7654B8"/>
                </a:solidFill>
                <a:latin typeface="Carlito" pitchFamily="34" charset="0"/>
                <a:ea typeface="Carlito" pitchFamily="34" charset="-122"/>
                <a:cs typeface="Carlito" pitchFamily="34" charset="-120"/>
              </a:rPr>
              <a:t>4</a:t>
            </a:r>
            <a:endParaRPr lang="en-US" sz="900" dirty="0"/>
          </a:p>
        </p:txBody>
      </p:sp>
      <p:sp>
        <p:nvSpPr>
          <p:cNvPr id="21" name="Text 19"/>
          <p:cNvSpPr txBox="1"/>
          <p:nvPr/>
        </p:nvSpPr>
        <p:spPr>
          <a:xfrm>
            <a:off x="1389888" y="4133088"/>
            <a:ext cx="1828800" cy="228600"/>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Targeting</a:t>
            </a:r>
            <a:endParaRPr lang="en-US" sz="1300" dirty="0"/>
          </a:p>
        </p:txBody>
      </p:sp>
      <p:sp>
        <p:nvSpPr>
          <p:cNvPr id="22" name="Text 20"/>
          <p:cNvSpPr txBox="1"/>
          <p:nvPr/>
        </p:nvSpPr>
        <p:spPr>
          <a:xfrm>
            <a:off x="3200400" y="4123944"/>
            <a:ext cx="7955280" cy="420624"/>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Does VM have d6-iap-ssh tag? Does allow rule target that tag?</a:t>
            </a:r>
            <a:endParaRPr lang="en-US" sz="1120" dirty="0"/>
          </a:p>
        </p:txBody>
      </p:sp>
      <p:sp>
        <p:nvSpPr>
          <p:cNvPr id="23" name="Shape 21"/>
          <p:cNvSpPr/>
          <p:nvPr/>
        </p:nvSpPr>
        <p:spPr>
          <a:xfrm>
            <a:off x="1417320" y="4727448"/>
            <a:ext cx="9601200" cy="0"/>
          </a:xfrm>
          <a:prstGeom prst="line">
            <a:avLst/>
          </a:prstGeom>
          <a:noFill/>
          <a:ln w="7620">
            <a:solidFill>
              <a:srgbClr val="E3EAF1"/>
            </a:solidFill>
            <a:prstDash val="solid"/>
          </a:ln>
        </p:spPr>
      </p:sp>
      <p:sp>
        <p:nvSpPr>
          <p:cNvPr id="24" name="Shape 22"/>
          <p:cNvSpPr/>
          <p:nvPr/>
        </p:nvSpPr>
        <p:spPr>
          <a:xfrm>
            <a:off x="868680" y="4983480"/>
            <a:ext cx="329184" cy="256032"/>
          </a:xfrm>
          <a:prstGeom prst="roundRect">
            <a:avLst>
              <a:gd name="adj" fmla="val 28571"/>
            </a:avLst>
          </a:prstGeom>
          <a:solidFill>
            <a:srgbClr val="EAF3FC"/>
          </a:solidFill>
          <a:ln w="10160">
            <a:solidFill>
              <a:srgbClr val="EAF3FC"/>
            </a:solidFill>
            <a:prstDash val="solid"/>
          </a:ln>
        </p:spPr>
      </p:sp>
      <p:sp>
        <p:nvSpPr>
          <p:cNvPr id="25" name="Text 23"/>
          <p:cNvSpPr txBox="1"/>
          <p:nvPr/>
        </p:nvSpPr>
        <p:spPr>
          <a:xfrm>
            <a:off x="941832" y="4997196"/>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5</a:t>
            </a:r>
            <a:endParaRPr lang="en-US" sz="900" dirty="0"/>
          </a:p>
        </p:txBody>
      </p:sp>
      <p:sp>
        <p:nvSpPr>
          <p:cNvPr id="26" name="Text 24"/>
          <p:cNvSpPr txBox="1"/>
          <p:nvPr/>
        </p:nvSpPr>
        <p:spPr>
          <a:xfrm>
            <a:off x="1389888" y="4937760"/>
            <a:ext cx="1828800" cy="228600"/>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Guest / OS</a:t>
            </a:r>
            <a:endParaRPr lang="en-US" sz="1300" dirty="0"/>
          </a:p>
        </p:txBody>
      </p:sp>
      <p:sp>
        <p:nvSpPr>
          <p:cNvPr id="27" name="Text 25"/>
          <p:cNvSpPr txBox="1"/>
          <p:nvPr/>
        </p:nvSpPr>
        <p:spPr>
          <a:xfrm>
            <a:off x="3200400" y="4928616"/>
            <a:ext cx="7955280" cy="420624"/>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VM running? SSH daemon? OS Login profile? Linux account / metadata conditions?</a:t>
            </a:r>
            <a:endParaRPr lang="en-US" sz="1120" dirty="0"/>
          </a:p>
        </p:txBody>
      </p:sp>
      <p:sp>
        <p:nvSpPr>
          <p:cNvPr id="28" name="Shape 26"/>
          <p:cNvSpPr/>
          <p:nvPr/>
        </p:nvSpPr>
        <p:spPr>
          <a:xfrm>
            <a:off x="1417320" y="5532120"/>
            <a:ext cx="9601200" cy="0"/>
          </a:xfrm>
          <a:prstGeom prst="line">
            <a:avLst/>
          </a:prstGeom>
          <a:noFill/>
          <a:ln w="7620">
            <a:solidFill>
              <a:srgbClr val="E3EAF1"/>
            </a:solidFill>
            <a:prstDash val="solid"/>
          </a:ln>
        </p:spPr>
      </p:sp>
      <p:sp>
        <p:nvSpPr>
          <p:cNvPr id="29" name="Shape 27"/>
          <p:cNvSpPr/>
          <p:nvPr/>
        </p:nvSpPr>
        <p:spPr>
          <a:xfrm>
            <a:off x="822960" y="5806440"/>
            <a:ext cx="10515600" cy="384048"/>
          </a:xfrm>
          <a:prstGeom prst="roundRect">
            <a:avLst>
              <a:gd name="adj" fmla="val 19048"/>
            </a:avLst>
          </a:prstGeom>
          <a:solidFill>
            <a:srgbClr val="E9F7F0"/>
          </a:solidFill>
          <a:ln w="10160">
            <a:solidFill>
              <a:srgbClr val="E9F7F0"/>
            </a:solidFill>
            <a:prstDash val="solid"/>
          </a:ln>
        </p:spPr>
      </p:sp>
      <p:sp>
        <p:nvSpPr>
          <p:cNvPr id="30" name="Text 28"/>
          <p:cNvSpPr txBox="1"/>
          <p:nvPr/>
        </p:nvSpPr>
        <p:spPr>
          <a:xfrm>
            <a:off x="969264" y="5879592"/>
            <a:ext cx="10222992" cy="23774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In the lab, the deliberate fault is simple: the SSH-broken VM initially lacks the d6-iap-ssh target tag. Terraform adds it when ssh_vm_fixed=true.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NETWORK SECURITY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Firewall targeting: GCP network tags vs AWS security groups vs Azure NSGs</a:t>
            </a:r>
            <a:endParaRPr lang="en-US" sz="2500" dirty="0"/>
          </a:p>
        </p:txBody>
      </p:sp>
      <p:sp>
        <p:nvSpPr>
          <p:cNvPr id="4" name="Shape 2"/>
          <p:cNvSpPr/>
          <p:nvPr/>
        </p:nvSpPr>
        <p:spPr>
          <a:xfrm>
            <a:off x="594360" y="1600200"/>
            <a:ext cx="1873148" cy="384048"/>
          </a:xfrm>
          <a:prstGeom prst="rect">
            <a:avLst/>
          </a:prstGeom>
          <a:solidFill>
            <a:srgbClr val="12304A"/>
          </a:solidFill>
          <a:ln w="6350">
            <a:solidFill>
              <a:srgbClr val="D5DEE8"/>
            </a:solidFill>
            <a:prstDash val="solid"/>
          </a:ln>
        </p:spPr>
      </p:sp>
      <p:sp>
        <p:nvSpPr>
          <p:cNvPr id="5" name="Text 3"/>
          <p:cNvSpPr txBox="1"/>
          <p:nvPr/>
        </p:nvSpPr>
        <p:spPr>
          <a:xfrm>
            <a:off x="658368" y="1636776"/>
            <a:ext cx="1745132"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DIMENSION</a:t>
            </a:r>
            <a:endParaRPr lang="en-US" sz="930" dirty="0"/>
          </a:p>
        </p:txBody>
      </p:sp>
      <p:sp>
        <p:nvSpPr>
          <p:cNvPr id="6" name="Shape 4"/>
          <p:cNvSpPr/>
          <p:nvPr/>
        </p:nvSpPr>
        <p:spPr>
          <a:xfrm>
            <a:off x="2467508" y="1600200"/>
            <a:ext cx="3415741" cy="384048"/>
          </a:xfrm>
          <a:prstGeom prst="rect">
            <a:avLst/>
          </a:prstGeom>
          <a:solidFill>
            <a:srgbClr val="12304A"/>
          </a:solidFill>
          <a:ln w="6350">
            <a:solidFill>
              <a:srgbClr val="D5DEE8"/>
            </a:solidFill>
            <a:prstDash val="solid"/>
          </a:ln>
        </p:spPr>
      </p:sp>
      <p:sp>
        <p:nvSpPr>
          <p:cNvPr id="7" name="Text 5"/>
          <p:cNvSpPr txBox="1"/>
          <p:nvPr/>
        </p:nvSpPr>
        <p:spPr>
          <a:xfrm>
            <a:off x="2531516" y="1636776"/>
            <a:ext cx="3287725"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GOOGLE CLOUD VPC FIREWALL</a:t>
            </a:r>
            <a:endParaRPr lang="en-US" sz="930" dirty="0"/>
          </a:p>
        </p:txBody>
      </p:sp>
      <p:sp>
        <p:nvSpPr>
          <p:cNvPr id="8" name="Shape 6"/>
          <p:cNvSpPr/>
          <p:nvPr/>
        </p:nvSpPr>
        <p:spPr>
          <a:xfrm>
            <a:off x="5883250" y="1600200"/>
            <a:ext cx="2864815" cy="384048"/>
          </a:xfrm>
          <a:prstGeom prst="rect">
            <a:avLst/>
          </a:prstGeom>
          <a:solidFill>
            <a:srgbClr val="12304A"/>
          </a:solidFill>
          <a:ln w="6350">
            <a:solidFill>
              <a:srgbClr val="D5DEE8"/>
            </a:solidFill>
            <a:prstDash val="solid"/>
          </a:ln>
        </p:spPr>
      </p:sp>
      <p:sp>
        <p:nvSpPr>
          <p:cNvPr id="9" name="Text 7"/>
          <p:cNvSpPr txBox="1"/>
          <p:nvPr/>
        </p:nvSpPr>
        <p:spPr>
          <a:xfrm>
            <a:off x="5947258" y="1636776"/>
            <a:ext cx="2736799"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AWS SECURITY GROUP</a:t>
            </a:r>
            <a:endParaRPr lang="en-US" sz="930" dirty="0"/>
          </a:p>
        </p:txBody>
      </p:sp>
      <p:sp>
        <p:nvSpPr>
          <p:cNvPr id="10" name="Shape 8"/>
          <p:cNvSpPr/>
          <p:nvPr/>
        </p:nvSpPr>
        <p:spPr>
          <a:xfrm>
            <a:off x="8748065" y="1600200"/>
            <a:ext cx="2864815" cy="384048"/>
          </a:xfrm>
          <a:prstGeom prst="rect">
            <a:avLst/>
          </a:prstGeom>
          <a:solidFill>
            <a:srgbClr val="12304A"/>
          </a:solidFill>
          <a:ln w="6350">
            <a:solidFill>
              <a:srgbClr val="D5DEE8"/>
            </a:solidFill>
            <a:prstDash val="solid"/>
          </a:ln>
        </p:spPr>
      </p:sp>
      <p:sp>
        <p:nvSpPr>
          <p:cNvPr id="11" name="Text 9"/>
          <p:cNvSpPr txBox="1"/>
          <p:nvPr/>
        </p:nvSpPr>
        <p:spPr>
          <a:xfrm>
            <a:off x="8812073" y="1636776"/>
            <a:ext cx="2736799"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AZURE NSG</a:t>
            </a:r>
            <a:endParaRPr lang="en-US" sz="930" dirty="0"/>
          </a:p>
        </p:txBody>
      </p:sp>
      <p:sp>
        <p:nvSpPr>
          <p:cNvPr id="12" name="Shape 10"/>
          <p:cNvSpPr/>
          <p:nvPr/>
        </p:nvSpPr>
        <p:spPr>
          <a:xfrm>
            <a:off x="594360" y="1984248"/>
            <a:ext cx="1873148" cy="795528"/>
          </a:xfrm>
          <a:prstGeom prst="rect">
            <a:avLst/>
          </a:prstGeom>
          <a:solidFill>
            <a:srgbClr val="FFFFFF"/>
          </a:solidFill>
          <a:ln w="6350">
            <a:solidFill>
              <a:srgbClr val="D5DEE8"/>
            </a:solidFill>
            <a:prstDash val="solid"/>
          </a:ln>
        </p:spPr>
      </p:sp>
      <p:sp>
        <p:nvSpPr>
          <p:cNvPr id="13" name="Text 11"/>
          <p:cNvSpPr txBox="1"/>
          <p:nvPr/>
        </p:nvSpPr>
        <p:spPr>
          <a:xfrm>
            <a:off x="658368" y="2020824"/>
            <a:ext cx="1745132"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Main role</a:t>
            </a:r>
            <a:endParaRPr lang="en-US" sz="925" dirty="0"/>
          </a:p>
        </p:txBody>
      </p:sp>
      <p:sp>
        <p:nvSpPr>
          <p:cNvPr id="14" name="Shape 12"/>
          <p:cNvSpPr/>
          <p:nvPr/>
        </p:nvSpPr>
        <p:spPr>
          <a:xfrm>
            <a:off x="2467508" y="1984248"/>
            <a:ext cx="3415741" cy="795528"/>
          </a:xfrm>
          <a:prstGeom prst="rect">
            <a:avLst/>
          </a:prstGeom>
          <a:solidFill>
            <a:srgbClr val="FFFFFF"/>
          </a:solidFill>
          <a:ln w="6350">
            <a:solidFill>
              <a:srgbClr val="D5DEE8"/>
            </a:solidFill>
            <a:prstDash val="solid"/>
          </a:ln>
        </p:spPr>
      </p:sp>
      <p:sp>
        <p:nvSpPr>
          <p:cNvPr id="15" name="Text 13"/>
          <p:cNvSpPr txBox="1"/>
          <p:nvPr/>
        </p:nvSpPr>
        <p:spPr>
          <a:xfrm>
            <a:off x="2531516" y="2020824"/>
            <a:ext cx="3287725"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Allow / deny traffic at VPC network VM interface; rules can target tags / service accounts.</a:t>
            </a:r>
            <a:endParaRPr lang="en-US" sz="925" dirty="0"/>
          </a:p>
        </p:txBody>
      </p:sp>
      <p:sp>
        <p:nvSpPr>
          <p:cNvPr id="16" name="Shape 14"/>
          <p:cNvSpPr/>
          <p:nvPr/>
        </p:nvSpPr>
        <p:spPr>
          <a:xfrm>
            <a:off x="5883250" y="1984248"/>
            <a:ext cx="2864815" cy="795528"/>
          </a:xfrm>
          <a:prstGeom prst="rect">
            <a:avLst/>
          </a:prstGeom>
          <a:solidFill>
            <a:srgbClr val="FFFFFF"/>
          </a:solidFill>
          <a:ln w="6350">
            <a:solidFill>
              <a:srgbClr val="D5DEE8"/>
            </a:solidFill>
            <a:prstDash val="solid"/>
          </a:ln>
        </p:spPr>
      </p:sp>
      <p:sp>
        <p:nvSpPr>
          <p:cNvPr id="17" name="Text 15"/>
          <p:cNvSpPr txBox="1"/>
          <p:nvPr/>
        </p:nvSpPr>
        <p:spPr>
          <a:xfrm>
            <a:off x="5947258" y="2020824"/>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Stateful virtual firewall on network interfaces / instances.</a:t>
            </a:r>
            <a:endParaRPr lang="en-US" sz="925" dirty="0"/>
          </a:p>
        </p:txBody>
      </p:sp>
      <p:sp>
        <p:nvSpPr>
          <p:cNvPr id="18" name="Shape 16"/>
          <p:cNvSpPr/>
          <p:nvPr/>
        </p:nvSpPr>
        <p:spPr>
          <a:xfrm>
            <a:off x="8748065" y="1984248"/>
            <a:ext cx="2864815" cy="795528"/>
          </a:xfrm>
          <a:prstGeom prst="rect">
            <a:avLst/>
          </a:prstGeom>
          <a:solidFill>
            <a:srgbClr val="FFFFFF"/>
          </a:solidFill>
          <a:ln w="6350">
            <a:solidFill>
              <a:srgbClr val="D5DEE8"/>
            </a:solidFill>
            <a:prstDash val="solid"/>
          </a:ln>
        </p:spPr>
      </p:sp>
      <p:sp>
        <p:nvSpPr>
          <p:cNvPr id="19" name="Text 17"/>
          <p:cNvSpPr txBox="1"/>
          <p:nvPr/>
        </p:nvSpPr>
        <p:spPr>
          <a:xfrm>
            <a:off x="8812073" y="2020824"/>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Stateful L3/L4 filtering for subnet or NIC.</a:t>
            </a:r>
            <a:endParaRPr lang="en-US" sz="925" dirty="0"/>
          </a:p>
        </p:txBody>
      </p:sp>
      <p:sp>
        <p:nvSpPr>
          <p:cNvPr id="20" name="Shape 18"/>
          <p:cNvSpPr/>
          <p:nvPr/>
        </p:nvSpPr>
        <p:spPr>
          <a:xfrm>
            <a:off x="594360" y="2779776"/>
            <a:ext cx="1873148" cy="795528"/>
          </a:xfrm>
          <a:prstGeom prst="rect">
            <a:avLst/>
          </a:prstGeom>
          <a:solidFill>
            <a:srgbClr val="F1F5F9"/>
          </a:solidFill>
          <a:ln w="6350">
            <a:solidFill>
              <a:srgbClr val="D5DEE8"/>
            </a:solidFill>
            <a:prstDash val="solid"/>
          </a:ln>
        </p:spPr>
      </p:sp>
      <p:sp>
        <p:nvSpPr>
          <p:cNvPr id="21" name="Text 19"/>
          <p:cNvSpPr txBox="1"/>
          <p:nvPr/>
        </p:nvSpPr>
        <p:spPr>
          <a:xfrm>
            <a:off x="658368" y="2816352"/>
            <a:ext cx="1745132"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Rule model</a:t>
            </a:r>
            <a:endParaRPr lang="en-US" sz="925" dirty="0"/>
          </a:p>
        </p:txBody>
      </p:sp>
      <p:sp>
        <p:nvSpPr>
          <p:cNvPr id="22" name="Shape 20"/>
          <p:cNvSpPr/>
          <p:nvPr/>
        </p:nvSpPr>
        <p:spPr>
          <a:xfrm>
            <a:off x="2467508" y="2779776"/>
            <a:ext cx="3415741" cy="795528"/>
          </a:xfrm>
          <a:prstGeom prst="rect">
            <a:avLst/>
          </a:prstGeom>
          <a:solidFill>
            <a:srgbClr val="F1F5F9"/>
          </a:solidFill>
          <a:ln w="6350">
            <a:solidFill>
              <a:srgbClr val="D5DEE8"/>
            </a:solidFill>
            <a:prstDash val="solid"/>
          </a:ln>
        </p:spPr>
      </p:sp>
      <p:sp>
        <p:nvSpPr>
          <p:cNvPr id="23" name="Text 21"/>
          <p:cNvSpPr txBox="1"/>
          <p:nvPr/>
        </p:nvSpPr>
        <p:spPr>
          <a:xfrm>
            <a:off x="2531516" y="2816352"/>
            <a:ext cx="3287725"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Priority + direction + action + source/destination + target.</a:t>
            </a:r>
            <a:endParaRPr lang="en-US" sz="925" dirty="0"/>
          </a:p>
        </p:txBody>
      </p:sp>
      <p:sp>
        <p:nvSpPr>
          <p:cNvPr id="24" name="Shape 22"/>
          <p:cNvSpPr/>
          <p:nvPr/>
        </p:nvSpPr>
        <p:spPr>
          <a:xfrm>
            <a:off x="5883250" y="2779776"/>
            <a:ext cx="2864815" cy="795528"/>
          </a:xfrm>
          <a:prstGeom prst="rect">
            <a:avLst/>
          </a:prstGeom>
          <a:solidFill>
            <a:srgbClr val="F1F5F9"/>
          </a:solidFill>
          <a:ln w="6350">
            <a:solidFill>
              <a:srgbClr val="D5DEE8"/>
            </a:solidFill>
            <a:prstDash val="solid"/>
          </a:ln>
        </p:spPr>
      </p:sp>
      <p:sp>
        <p:nvSpPr>
          <p:cNvPr id="25" name="Text 23"/>
          <p:cNvSpPr txBox="1"/>
          <p:nvPr/>
        </p:nvSpPr>
        <p:spPr>
          <a:xfrm>
            <a:off x="5947258" y="2816352"/>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Inbound and outbound allow rules; implicit deny when no rule matches.</a:t>
            </a:r>
            <a:endParaRPr lang="en-US" sz="925" dirty="0"/>
          </a:p>
        </p:txBody>
      </p:sp>
      <p:sp>
        <p:nvSpPr>
          <p:cNvPr id="26" name="Shape 24"/>
          <p:cNvSpPr/>
          <p:nvPr/>
        </p:nvSpPr>
        <p:spPr>
          <a:xfrm>
            <a:off x="8748065" y="2779776"/>
            <a:ext cx="2864815" cy="795528"/>
          </a:xfrm>
          <a:prstGeom prst="rect">
            <a:avLst/>
          </a:prstGeom>
          <a:solidFill>
            <a:srgbClr val="F1F5F9"/>
          </a:solidFill>
          <a:ln w="6350">
            <a:solidFill>
              <a:srgbClr val="D5DEE8"/>
            </a:solidFill>
            <a:prstDash val="solid"/>
          </a:ln>
        </p:spPr>
      </p:sp>
      <p:sp>
        <p:nvSpPr>
          <p:cNvPr id="27" name="Text 25"/>
          <p:cNvSpPr txBox="1"/>
          <p:nvPr/>
        </p:nvSpPr>
        <p:spPr>
          <a:xfrm>
            <a:off x="8812073" y="2816352"/>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Inbound/outbound rules with priority; allow/deny.</a:t>
            </a:r>
            <a:endParaRPr lang="en-US" sz="925" dirty="0"/>
          </a:p>
        </p:txBody>
      </p:sp>
      <p:sp>
        <p:nvSpPr>
          <p:cNvPr id="28" name="Shape 26"/>
          <p:cNvSpPr/>
          <p:nvPr/>
        </p:nvSpPr>
        <p:spPr>
          <a:xfrm>
            <a:off x="594360" y="3575304"/>
            <a:ext cx="1873148" cy="795528"/>
          </a:xfrm>
          <a:prstGeom prst="rect">
            <a:avLst/>
          </a:prstGeom>
          <a:solidFill>
            <a:srgbClr val="FFFFFF"/>
          </a:solidFill>
          <a:ln w="6350">
            <a:solidFill>
              <a:srgbClr val="D5DEE8"/>
            </a:solidFill>
            <a:prstDash val="solid"/>
          </a:ln>
        </p:spPr>
      </p:sp>
      <p:sp>
        <p:nvSpPr>
          <p:cNvPr id="29" name="Text 27"/>
          <p:cNvSpPr txBox="1"/>
          <p:nvPr/>
        </p:nvSpPr>
        <p:spPr>
          <a:xfrm>
            <a:off x="658368" y="3611880"/>
            <a:ext cx="1745132"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Lab connection</a:t>
            </a:r>
            <a:endParaRPr lang="en-US" sz="925" dirty="0"/>
          </a:p>
        </p:txBody>
      </p:sp>
      <p:sp>
        <p:nvSpPr>
          <p:cNvPr id="30" name="Shape 28"/>
          <p:cNvSpPr/>
          <p:nvPr/>
        </p:nvSpPr>
        <p:spPr>
          <a:xfrm>
            <a:off x="2467508" y="3575304"/>
            <a:ext cx="3415741" cy="795528"/>
          </a:xfrm>
          <a:prstGeom prst="rect">
            <a:avLst/>
          </a:prstGeom>
          <a:solidFill>
            <a:srgbClr val="FFFFFF"/>
          </a:solidFill>
          <a:ln w="6350">
            <a:solidFill>
              <a:srgbClr val="D5DEE8"/>
            </a:solidFill>
            <a:prstDash val="solid"/>
          </a:ln>
        </p:spPr>
      </p:sp>
      <p:sp>
        <p:nvSpPr>
          <p:cNvPr id="31" name="Text 29"/>
          <p:cNvSpPr txBox="1"/>
          <p:nvPr/>
        </p:nvSpPr>
        <p:spPr>
          <a:xfrm>
            <a:off x="2531516" y="3611880"/>
            <a:ext cx="3287725"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Allow TCP 22 from IAP range to VMs carrying d6-iap-ssh.</a:t>
            </a:r>
            <a:endParaRPr lang="en-US" sz="925" dirty="0"/>
          </a:p>
        </p:txBody>
      </p:sp>
      <p:sp>
        <p:nvSpPr>
          <p:cNvPr id="32" name="Shape 30"/>
          <p:cNvSpPr/>
          <p:nvPr/>
        </p:nvSpPr>
        <p:spPr>
          <a:xfrm>
            <a:off x="5883250" y="3575304"/>
            <a:ext cx="2864815" cy="795528"/>
          </a:xfrm>
          <a:prstGeom prst="rect">
            <a:avLst/>
          </a:prstGeom>
          <a:solidFill>
            <a:srgbClr val="FFFFFF"/>
          </a:solidFill>
          <a:ln w="6350">
            <a:solidFill>
              <a:srgbClr val="D5DEE8"/>
            </a:solidFill>
            <a:prstDash val="solid"/>
          </a:ln>
        </p:spPr>
      </p:sp>
      <p:sp>
        <p:nvSpPr>
          <p:cNvPr id="33" name="Text 31"/>
          <p:cNvSpPr txBox="1"/>
          <p:nvPr/>
        </p:nvSpPr>
        <p:spPr>
          <a:xfrm>
            <a:off x="5947258" y="3611880"/>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Would allow SSH from a bastion / approved source in SG.</a:t>
            </a:r>
            <a:endParaRPr lang="en-US" sz="925" dirty="0"/>
          </a:p>
        </p:txBody>
      </p:sp>
      <p:sp>
        <p:nvSpPr>
          <p:cNvPr id="34" name="Shape 32"/>
          <p:cNvSpPr/>
          <p:nvPr/>
        </p:nvSpPr>
        <p:spPr>
          <a:xfrm>
            <a:off x="8748065" y="3575304"/>
            <a:ext cx="2864815" cy="795528"/>
          </a:xfrm>
          <a:prstGeom prst="rect">
            <a:avLst/>
          </a:prstGeom>
          <a:solidFill>
            <a:srgbClr val="FFFFFF"/>
          </a:solidFill>
          <a:ln w="6350">
            <a:solidFill>
              <a:srgbClr val="D5DEE8"/>
            </a:solidFill>
            <a:prstDash val="solid"/>
          </a:ln>
        </p:spPr>
      </p:sp>
      <p:sp>
        <p:nvSpPr>
          <p:cNvPr id="35" name="Text 33"/>
          <p:cNvSpPr txBox="1"/>
          <p:nvPr/>
        </p:nvSpPr>
        <p:spPr>
          <a:xfrm>
            <a:off x="8812073" y="3611880"/>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Would allow SSH from Bastion / approved source in NSG.</a:t>
            </a:r>
            <a:endParaRPr lang="en-US" sz="925" dirty="0"/>
          </a:p>
        </p:txBody>
      </p:sp>
      <p:sp>
        <p:nvSpPr>
          <p:cNvPr id="36" name="Shape 34"/>
          <p:cNvSpPr/>
          <p:nvPr/>
        </p:nvSpPr>
        <p:spPr>
          <a:xfrm>
            <a:off x="594360" y="4370832"/>
            <a:ext cx="1873148" cy="795528"/>
          </a:xfrm>
          <a:prstGeom prst="rect">
            <a:avLst/>
          </a:prstGeom>
          <a:solidFill>
            <a:srgbClr val="F1F5F9"/>
          </a:solidFill>
          <a:ln w="6350">
            <a:solidFill>
              <a:srgbClr val="D5DEE8"/>
            </a:solidFill>
            <a:prstDash val="solid"/>
          </a:ln>
        </p:spPr>
      </p:sp>
      <p:sp>
        <p:nvSpPr>
          <p:cNvPr id="37" name="Text 35"/>
          <p:cNvSpPr txBox="1"/>
          <p:nvPr/>
        </p:nvSpPr>
        <p:spPr>
          <a:xfrm>
            <a:off x="658368" y="4407408"/>
            <a:ext cx="1745132"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Failure clue</a:t>
            </a:r>
            <a:endParaRPr lang="en-US" sz="925" dirty="0"/>
          </a:p>
        </p:txBody>
      </p:sp>
      <p:sp>
        <p:nvSpPr>
          <p:cNvPr id="38" name="Shape 36"/>
          <p:cNvSpPr/>
          <p:nvPr/>
        </p:nvSpPr>
        <p:spPr>
          <a:xfrm>
            <a:off x="2467508" y="4370832"/>
            <a:ext cx="3415741" cy="795528"/>
          </a:xfrm>
          <a:prstGeom prst="rect">
            <a:avLst/>
          </a:prstGeom>
          <a:solidFill>
            <a:srgbClr val="F1F5F9"/>
          </a:solidFill>
          <a:ln w="6350">
            <a:solidFill>
              <a:srgbClr val="D5DEE8"/>
            </a:solidFill>
            <a:prstDash val="solid"/>
          </a:ln>
        </p:spPr>
      </p:sp>
      <p:sp>
        <p:nvSpPr>
          <p:cNvPr id="39" name="Text 37"/>
          <p:cNvSpPr txBox="1"/>
          <p:nvPr/>
        </p:nvSpPr>
        <p:spPr>
          <a:xfrm>
            <a:off x="2531516" y="4407408"/>
            <a:ext cx="3287725"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Missing target tag or higher-priority deny.</a:t>
            </a:r>
            <a:endParaRPr lang="en-US" sz="925" dirty="0"/>
          </a:p>
        </p:txBody>
      </p:sp>
      <p:sp>
        <p:nvSpPr>
          <p:cNvPr id="40" name="Shape 38"/>
          <p:cNvSpPr/>
          <p:nvPr/>
        </p:nvSpPr>
        <p:spPr>
          <a:xfrm>
            <a:off x="5883250" y="4370832"/>
            <a:ext cx="2864815" cy="795528"/>
          </a:xfrm>
          <a:prstGeom prst="rect">
            <a:avLst/>
          </a:prstGeom>
          <a:solidFill>
            <a:srgbClr val="F1F5F9"/>
          </a:solidFill>
          <a:ln w="6350">
            <a:solidFill>
              <a:srgbClr val="D5DEE8"/>
            </a:solidFill>
            <a:prstDash val="solid"/>
          </a:ln>
        </p:spPr>
      </p:sp>
      <p:sp>
        <p:nvSpPr>
          <p:cNvPr id="41" name="Text 39"/>
          <p:cNvSpPr txBox="1"/>
          <p:nvPr/>
        </p:nvSpPr>
        <p:spPr>
          <a:xfrm>
            <a:off x="5947258" y="4407408"/>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Missing SG ingress rule / wrong source.</a:t>
            </a:r>
            <a:endParaRPr lang="en-US" sz="925" dirty="0"/>
          </a:p>
        </p:txBody>
      </p:sp>
      <p:sp>
        <p:nvSpPr>
          <p:cNvPr id="42" name="Shape 40"/>
          <p:cNvSpPr/>
          <p:nvPr/>
        </p:nvSpPr>
        <p:spPr>
          <a:xfrm>
            <a:off x="8748065" y="4370832"/>
            <a:ext cx="2864815" cy="795528"/>
          </a:xfrm>
          <a:prstGeom prst="rect">
            <a:avLst/>
          </a:prstGeom>
          <a:solidFill>
            <a:srgbClr val="F1F5F9"/>
          </a:solidFill>
          <a:ln w="6350">
            <a:solidFill>
              <a:srgbClr val="D5DEE8"/>
            </a:solidFill>
            <a:prstDash val="solid"/>
          </a:ln>
        </p:spPr>
      </p:sp>
      <p:sp>
        <p:nvSpPr>
          <p:cNvPr id="43" name="Text 41"/>
          <p:cNvSpPr txBox="1"/>
          <p:nvPr/>
        </p:nvSpPr>
        <p:spPr>
          <a:xfrm>
            <a:off x="8812073" y="4407408"/>
            <a:ext cx="2736799" cy="722376"/>
          </a:xfrm>
          <a:prstGeom prst="rect">
            <a:avLst/>
          </a:prstGeom>
          <a:noFill/>
          <a:ln/>
        </p:spPr>
        <p:txBody>
          <a:bodyPr wrap="square" lIns="0" tIns="0" rIns="0" bIns="0" rtlCol="0" anchor="ctr">
            <a:normAutofit/>
          </a:bodyPr>
          <a:lstStyle/>
          <a:p>
            <a:pPr algn="l" indent="0" marL="0">
              <a:lnSpc>
                <a:spcPct val="95000"/>
              </a:lnSpc>
              <a:buNone/>
            </a:pPr>
            <a:r>
              <a:rPr lang="en-US" sz="925" dirty="0">
                <a:solidFill>
                  <a:srgbClr val="203040"/>
                </a:solidFill>
                <a:latin typeface="Carlito" pitchFamily="34" charset="0"/>
                <a:ea typeface="Carlito" pitchFamily="34" charset="-122"/>
                <a:cs typeface="Carlito" pitchFamily="34" charset="-120"/>
              </a:rPr>
              <a:t>NSG rule priority or association mismatch.</a:t>
            </a:r>
            <a:endParaRPr lang="en-US" sz="925" dirty="0"/>
          </a:p>
        </p:txBody>
      </p:sp>
      <p:sp>
        <p:nvSpPr>
          <p:cNvPr id="44" name="Shape 42"/>
          <p:cNvSpPr/>
          <p:nvPr/>
        </p:nvSpPr>
        <p:spPr>
          <a:xfrm>
            <a:off x="777240" y="5440680"/>
            <a:ext cx="10698480" cy="502920"/>
          </a:xfrm>
          <a:prstGeom prst="roundRect">
            <a:avLst>
              <a:gd name="adj" fmla="val 14545"/>
            </a:avLst>
          </a:prstGeom>
          <a:solidFill>
            <a:srgbClr val="FFF5E6"/>
          </a:solidFill>
          <a:ln w="10160">
            <a:solidFill>
              <a:srgbClr val="FFF5E6"/>
            </a:solidFill>
            <a:prstDash val="solid"/>
          </a:ln>
        </p:spPr>
      </p:sp>
      <p:sp>
        <p:nvSpPr>
          <p:cNvPr id="45" name="Text 43"/>
          <p:cNvSpPr txBox="1"/>
          <p:nvPr/>
        </p:nvSpPr>
        <p:spPr>
          <a:xfrm>
            <a:off x="923544" y="5513832"/>
            <a:ext cx="10405872" cy="35661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Do not confuse identity permission with network permission. A user can be authorized to use IAP but still be blocked by a VPC firewall rule.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SCALE &amp; AVAILABILITY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Managed Instance Group (MIG): manage a fleet as one unit</a:t>
            </a:r>
            <a:endParaRPr lang="en-US" sz="2500" dirty="0"/>
          </a:p>
        </p:txBody>
      </p:sp>
      <p:sp>
        <p:nvSpPr>
          <p:cNvPr id="4" name="Shape 2"/>
          <p:cNvSpPr/>
          <p:nvPr/>
        </p:nvSpPr>
        <p:spPr>
          <a:xfrm>
            <a:off x="822960" y="1783080"/>
            <a:ext cx="2743200" cy="2560320"/>
          </a:xfrm>
          <a:prstGeom prst="roundRect">
            <a:avLst>
              <a:gd name="adj" fmla="val 2857"/>
            </a:avLst>
          </a:prstGeom>
          <a:solidFill>
            <a:srgbClr val="EAF3FC"/>
          </a:solidFill>
          <a:ln w="10160">
            <a:solidFill>
              <a:srgbClr val="BDD8F0"/>
            </a:solidFill>
            <a:prstDash val="solid"/>
          </a:ln>
        </p:spPr>
      </p:sp>
      <p:sp>
        <p:nvSpPr>
          <p:cNvPr id="5" name="Text 3"/>
          <p:cNvSpPr txBox="1"/>
          <p:nvPr/>
        </p:nvSpPr>
        <p:spPr>
          <a:xfrm>
            <a:off x="1051560" y="1993392"/>
            <a:ext cx="2286000" cy="228600"/>
          </a:xfrm>
          <a:prstGeom prst="rect">
            <a:avLst/>
          </a:prstGeom>
          <a:noFill/>
          <a:ln/>
        </p:spPr>
        <p:txBody>
          <a:bodyPr wrap="square" lIns="0" tIns="0" rIns="0" bIns="0" rtlCol="0" anchor="ctr">
            <a:normAutofit/>
          </a:bodyPr>
          <a:lstStyle/>
          <a:p>
            <a:pPr algn="ctr" indent="0" marL="0">
              <a:lnSpc>
                <a:spcPct val="95000"/>
              </a:lnSpc>
              <a:buNone/>
            </a:pPr>
            <a:r>
              <a:rPr lang="en-US" sz="1300" b="1" dirty="0">
                <a:solidFill>
                  <a:srgbClr val="2878C8"/>
                </a:solidFill>
                <a:latin typeface="Carlito" pitchFamily="34" charset="0"/>
                <a:ea typeface="Carlito" pitchFamily="34" charset="-122"/>
                <a:cs typeface="Carlito" pitchFamily="34" charset="-120"/>
              </a:rPr>
              <a:t>INSTANCE TEMPLATE</a:t>
            </a:r>
            <a:endParaRPr lang="en-US" sz="1300" dirty="0"/>
          </a:p>
        </p:txBody>
      </p:sp>
      <p:sp>
        <p:nvSpPr>
          <p:cNvPr id="6" name="Text 4"/>
          <p:cNvSpPr txBox="1"/>
          <p:nvPr/>
        </p:nvSpPr>
        <p:spPr>
          <a:xfrm>
            <a:off x="1115568" y="2560320"/>
            <a:ext cx="2148840" cy="1143000"/>
          </a:xfrm>
          <a:prstGeom prst="rect">
            <a:avLst/>
          </a:prstGeom>
          <a:noFill/>
          <a:ln/>
        </p:spPr>
        <p:txBody>
          <a:bodyPr wrap="square" lIns="0" tIns="0" rIns="0" bIns="0" rtlCol="0" anchor="ctr">
            <a:normAutofit/>
          </a:bodyPr>
          <a:lstStyle/>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Machine type</a:t>
            </a:r>
            <a:endParaRPr lang="en-US" sz="1100" dirty="0"/>
          </a:p>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Boot image</a:t>
            </a:r>
            <a:endParaRPr lang="en-US" sz="1100" dirty="0"/>
          </a:p>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Startup config</a:t>
            </a:r>
            <a:endParaRPr lang="en-US" sz="1100" dirty="0"/>
          </a:p>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Service account</a:t>
            </a:r>
            <a:endParaRPr lang="en-US" sz="1100" dirty="0"/>
          </a:p>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Network tags</a:t>
            </a:r>
            <a:endParaRPr lang="en-US" sz="1100" dirty="0"/>
          </a:p>
        </p:txBody>
      </p:sp>
      <p:sp>
        <p:nvSpPr>
          <p:cNvPr id="7" name="Shape 5"/>
          <p:cNvSpPr/>
          <p:nvPr/>
        </p:nvSpPr>
        <p:spPr>
          <a:xfrm>
            <a:off x="3703320" y="3063240"/>
            <a:ext cx="594360" cy="0"/>
          </a:xfrm>
          <a:prstGeom prst="line">
            <a:avLst/>
          </a:prstGeom>
          <a:noFill/>
          <a:ln w="25400">
            <a:solidFill>
              <a:srgbClr val="0D9488"/>
            </a:solidFill>
            <a:prstDash val="solid"/>
            <a:tailEnd type="triangle"/>
          </a:ln>
        </p:spPr>
      </p:sp>
      <p:sp>
        <p:nvSpPr>
          <p:cNvPr id="8" name="Shape 6"/>
          <p:cNvSpPr/>
          <p:nvPr/>
        </p:nvSpPr>
        <p:spPr>
          <a:xfrm>
            <a:off x="4434840" y="1783080"/>
            <a:ext cx="2880360" cy="2560320"/>
          </a:xfrm>
          <a:prstGeom prst="roundRect">
            <a:avLst>
              <a:gd name="adj" fmla="val 2857"/>
            </a:avLst>
          </a:prstGeom>
          <a:solidFill>
            <a:srgbClr val="E7F6F4"/>
          </a:solidFill>
          <a:ln w="10160">
            <a:solidFill>
              <a:srgbClr val="B9E3DC"/>
            </a:solidFill>
            <a:prstDash val="solid"/>
          </a:ln>
        </p:spPr>
      </p:sp>
      <p:sp>
        <p:nvSpPr>
          <p:cNvPr id="9" name="Text 7"/>
          <p:cNvSpPr txBox="1"/>
          <p:nvPr/>
        </p:nvSpPr>
        <p:spPr>
          <a:xfrm>
            <a:off x="4617720" y="1993392"/>
            <a:ext cx="2514600" cy="228600"/>
          </a:xfrm>
          <a:prstGeom prst="rect">
            <a:avLst/>
          </a:prstGeom>
          <a:noFill/>
          <a:ln/>
        </p:spPr>
        <p:txBody>
          <a:bodyPr wrap="square" lIns="0" tIns="0" rIns="0" bIns="0" rtlCol="0" anchor="ctr">
            <a:normAutofit/>
          </a:bodyPr>
          <a:lstStyle/>
          <a:p>
            <a:pPr algn="ctr" indent="0" marL="0">
              <a:lnSpc>
                <a:spcPct val="95000"/>
              </a:lnSpc>
              <a:buNone/>
            </a:pPr>
            <a:r>
              <a:rPr lang="en-US" sz="1300" b="1" dirty="0">
                <a:solidFill>
                  <a:srgbClr val="0D9488"/>
                </a:solidFill>
                <a:latin typeface="Carlito" pitchFamily="34" charset="0"/>
                <a:ea typeface="Carlito" pitchFamily="34" charset="-122"/>
                <a:cs typeface="Carlito" pitchFamily="34" charset="-120"/>
              </a:rPr>
              <a:t>MANAGED INSTANCE GROUP</a:t>
            </a:r>
            <a:endParaRPr lang="en-US" sz="1300" dirty="0"/>
          </a:p>
        </p:txBody>
      </p:sp>
      <p:sp>
        <p:nvSpPr>
          <p:cNvPr id="10" name="Text 8"/>
          <p:cNvSpPr txBox="1"/>
          <p:nvPr/>
        </p:nvSpPr>
        <p:spPr>
          <a:xfrm>
            <a:off x="4663440" y="2487168"/>
            <a:ext cx="2423160" cy="1417320"/>
          </a:xfrm>
          <a:prstGeom prst="rect">
            <a:avLst/>
          </a:prstGeom>
          <a:noFill/>
          <a:ln/>
        </p:spPr>
        <p:txBody>
          <a:bodyPr wrap="square" lIns="0" tIns="0" rIns="0" bIns="0" rtlCol="0" anchor="ctr">
            <a:normAutofit/>
          </a:bodyPr>
          <a:lstStyle/>
          <a:p>
            <a:pPr algn="ctr" indent="0" marL="0">
              <a:lnSpc>
                <a:spcPct val="95000"/>
              </a:lnSpc>
              <a:buNone/>
            </a:pPr>
            <a:r>
              <a:rPr lang="en-US" sz="1070" dirty="0">
                <a:solidFill>
                  <a:srgbClr val="203040"/>
                </a:solidFill>
                <a:latin typeface="Carlito" pitchFamily="34" charset="0"/>
                <a:ea typeface="Carlito" pitchFamily="34" charset="-122"/>
                <a:cs typeface="Carlito" pitchFamily="34" charset="-120"/>
              </a:rPr>
              <a:t>Desired size = 2</a:t>
            </a:r>
            <a:endParaRPr lang="en-US" sz="1070" dirty="0"/>
          </a:p>
          <a:p>
            <a:pPr algn="ctr" indent="0" marL="0">
              <a:lnSpc>
                <a:spcPct val="95000"/>
              </a:lnSpc>
              <a:buNone/>
            </a:pPr>
            <a:endParaRPr lang="en-US" sz="1070" dirty="0"/>
          </a:p>
          <a:p>
            <a:pPr algn="ctr" indent="0" marL="0">
              <a:lnSpc>
                <a:spcPct val="95000"/>
              </a:lnSpc>
              <a:buNone/>
            </a:pPr>
            <a:r>
              <a:rPr lang="en-US" sz="1070" dirty="0">
                <a:solidFill>
                  <a:srgbClr val="203040"/>
                </a:solidFill>
                <a:latin typeface="Carlito" pitchFamily="34" charset="0"/>
                <a:ea typeface="Carlito" pitchFamily="34" charset="-122"/>
                <a:cs typeface="Carlito" pitchFamily="34" charset="-120"/>
              </a:rPr>
              <a:t>Health checks / autohealing</a:t>
            </a:r>
            <a:endParaRPr lang="en-US" sz="1070" dirty="0"/>
          </a:p>
          <a:p>
            <a:pPr algn="ctr" indent="0" marL="0">
              <a:lnSpc>
                <a:spcPct val="95000"/>
              </a:lnSpc>
              <a:buNone/>
            </a:pPr>
            <a:r>
              <a:rPr lang="en-US" sz="1070" dirty="0">
                <a:solidFill>
                  <a:srgbClr val="203040"/>
                </a:solidFill>
                <a:latin typeface="Carlito" pitchFamily="34" charset="0"/>
                <a:ea typeface="Carlito" pitchFamily="34" charset="-122"/>
                <a:cs typeface="Carlito" pitchFamily="34" charset="-120"/>
              </a:rPr>
              <a:t>Autoscaling policy (optional)</a:t>
            </a:r>
            <a:endParaRPr lang="en-US" sz="1070" dirty="0"/>
          </a:p>
          <a:p>
            <a:pPr algn="ctr" indent="0" marL="0">
              <a:lnSpc>
                <a:spcPct val="95000"/>
              </a:lnSpc>
              <a:buNone/>
            </a:pPr>
            <a:r>
              <a:rPr lang="en-US" sz="1070" dirty="0">
                <a:solidFill>
                  <a:srgbClr val="203040"/>
                </a:solidFill>
                <a:latin typeface="Carlito" pitchFamily="34" charset="0"/>
                <a:ea typeface="Carlito" pitchFamily="34" charset="-122"/>
                <a:cs typeface="Carlito" pitchFamily="34" charset="-120"/>
              </a:rPr>
              <a:t>Rolling update policy</a:t>
            </a:r>
            <a:endParaRPr lang="en-US" sz="1070" dirty="0"/>
          </a:p>
        </p:txBody>
      </p:sp>
      <p:sp>
        <p:nvSpPr>
          <p:cNvPr id="11" name="Shape 9"/>
          <p:cNvSpPr/>
          <p:nvPr/>
        </p:nvSpPr>
        <p:spPr>
          <a:xfrm>
            <a:off x="7452360" y="3063240"/>
            <a:ext cx="548640" cy="0"/>
          </a:xfrm>
          <a:prstGeom prst="line">
            <a:avLst/>
          </a:prstGeom>
          <a:noFill/>
          <a:ln w="25400">
            <a:solidFill>
              <a:srgbClr val="0D9488"/>
            </a:solidFill>
            <a:prstDash val="solid"/>
            <a:tailEnd type="triangle"/>
          </a:ln>
        </p:spPr>
      </p:sp>
      <p:sp>
        <p:nvSpPr>
          <p:cNvPr id="12" name="Shape 10"/>
          <p:cNvSpPr/>
          <p:nvPr/>
        </p:nvSpPr>
        <p:spPr>
          <a:xfrm>
            <a:off x="8183880" y="2148840"/>
            <a:ext cx="1051560" cy="731520"/>
          </a:xfrm>
          <a:prstGeom prst="roundRect">
            <a:avLst>
              <a:gd name="adj" fmla="val 10000"/>
            </a:avLst>
          </a:prstGeom>
          <a:solidFill>
            <a:srgbClr val="FFFFFF"/>
          </a:solidFill>
          <a:ln w="10160">
            <a:solidFill>
              <a:srgbClr val="DCE3EB"/>
            </a:solidFill>
            <a:prstDash val="solid"/>
          </a:ln>
        </p:spPr>
      </p:sp>
      <p:sp>
        <p:nvSpPr>
          <p:cNvPr id="13" name="Text 11"/>
          <p:cNvSpPr txBox="1"/>
          <p:nvPr/>
        </p:nvSpPr>
        <p:spPr>
          <a:xfrm>
            <a:off x="8257032" y="2368296"/>
            <a:ext cx="905256" cy="201168"/>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2304A"/>
                </a:solidFill>
                <a:latin typeface="Carlito" pitchFamily="34" charset="0"/>
                <a:ea typeface="Carlito" pitchFamily="34" charset="-122"/>
                <a:cs typeface="Carlito" pitchFamily="34" charset="-120"/>
              </a:rPr>
              <a:t>VM 1</a:t>
            </a:r>
            <a:endParaRPr lang="en-US" sz="1200" dirty="0"/>
          </a:p>
        </p:txBody>
      </p:sp>
      <p:sp>
        <p:nvSpPr>
          <p:cNvPr id="14" name="Shape 12"/>
          <p:cNvSpPr/>
          <p:nvPr/>
        </p:nvSpPr>
        <p:spPr>
          <a:xfrm>
            <a:off x="9509760" y="2148840"/>
            <a:ext cx="1051560" cy="731520"/>
          </a:xfrm>
          <a:prstGeom prst="roundRect">
            <a:avLst>
              <a:gd name="adj" fmla="val 10000"/>
            </a:avLst>
          </a:prstGeom>
          <a:solidFill>
            <a:srgbClr val="FFFFFF"/>
          </a:solidFill>
          <a:ln w="10160">
            <a:solidFill>
              <a:srgbClr val="DCE3EB"/>
            </a:solidFill>
            <a:prstDash val="solid"/>
          </a:ln>
        </p:spPr>
      </p:sp>
      <p:sp>
        <p:nvSpPr>
          <p:cNvPr id="15" name="Text 13"/>
          <p:cNvSpPr txBox="1"/>
          <p:nvPr/>
        </p:nvSpPr>
        <p:spPr>
          <a:xfrm>
            <a:off x="9582912" y="2368296"/>
            <a:ext cx="905256" cy="201168"/>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2304A"/>
                </a:solidFill>
                <a:latin typeface="Carlito" pitchFamily="34" charset="0"/>
                <a:ea typeface="Carlito" pitchFamily="34" charset="-122"/>
                <a:cs typeface="Carlito" pitchFamily="34" charset="-120"/>
              </a:rPr>
              <a:t>VM 2</a:t>
            </a:r>
            <a:endParaRPr lang="en-US" sz="1200" dirty="0"/>
          </a:p>
        </p:txBody>
      </p:sp>
      <p:sp>
        <p:nvSpPr>
          <p:cNvPr id="16" name="Shape 14"/>
          <p:cNvSpPr/>
          <p:nvPr/>
        </p:nvSpPr>
        <p:spPr>
          <a:xfrm>
            <a:off x="8183880" y="3291840"/>
            <a:ext cx="1051560" cy="731520"/>
          </a:xfrm>
          <a:prstGeom prst="roundRect">
            <a:avLst>
              <a:gd name="adj" fmla="val 10000"/>
            </a:avLst>
          </a:prstGeom>
          <a:solidFill>
            <a:srgbClr val="FFFFFF"/>
          </a:solidFill>
          <a:ln w="10160">
            <a:solidFill>
              <a:srgbClr val="DCE3EB"/>
            </a:solidFill>
            <a:prstDash val="solid"/>
          </a:ln>
        </p:spPr>
      </p:sp>
      <p:sp>
        <p:nvSpPr>
          <p:cNvPr id="17" name="Text 15"/>
          <p:cNvSpPr txBox="1"/>
          <p:nvPr/>
        </p:nvSpPr>
        <p:spPr>
          <a:xfrm>
            <a:off x="8257032" y="3511296"/>
            <a:ext cx="905256" cy="201168"/>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2304A"/>
                </a:solidFill>
                <a:latin typeface="Carlito" pitchFamily="34" charset="0"/>
                <a:ea typeface="Carlito" pitchFamily="34" charset="-122"/>
                <a:cs typeface="Carlito" pitchFamily="34" charset="-120"/>
              </a:rPr>
              <a:t>VM 3</a:t>
            </a:r>
            <a:endParaRPr lang="en-US" sz="1200" dirty="0"/>
          </a:p>
        </p:txBody>
      </p:sp>
      <p:sp>
        <p:nvSpPr>
          <p:cNvPr id="18" name="Shape 16"/>
          <p:cNvSpPr/>
          <p:nvPr/>
        </p:nvSpPr>
        <p:spPr>
          <a:xfrm>
            <a:off x="9509760" y="3291840"/>
            <a:ext cx="1051560" cy="731520"/>
          </a:xfrm>
          <a:prstGeom prst="roundRect">
            <a:avLst>
              <a:gd name="adj" fmla="val 10000"/>
            </a:avLst>
          </a:prstGeom>
          <a:solidFill>
            <a:srgbClr val="FFFFFF"/>
          </a:solidFill>
          <a:ln w="10160">
            <a:solidFill>
              <a:srgbClr val="DCE3EB"/>
            </a:solidFill>
            <a:prstDash val="solid"/>
          </a:ln>
        </p:spPr>
      </p:sp>
      <p:sp>
        <p:nvSpPr>
          <p:cNvPr id="19" name="Text 17"/>
          <p:cNvSpPr txBox="1"/>
          <p:nvPr/>
        </p:nvSpPr>
        <p:spPr>
          <a:xfrm>
            <a:off x="9582912" y="3511296"/>
            <a:ext cx="905256" cy="201168"/>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2304A"/>
                </a:solidFill>
                <a:latin typeface="Carlito" pitchFamily="34" charset="0"/>
                <a:ea typeface="Carlito" pitchFamily="34" charset="-122"/>
                <a:cs typeface="Carlito" pitchFamily="34" charset="-120"/>
              </a:rPr>
              <a:t>VM 4</a:t>
            </a:r>
            <a:endParaRPr lang="en-US" sz="1200" dirty="0"/>
          </a:p>
        </p:txBody>
      </p:sp>
      <p:sp>
        <p:nvSpPr>
          <p:cNvPr id="20" name="Text 18"/>
          <p:cNvSpPr txBox="1"/>
          <p:nvPr/>
        </p:nvSpPr>
        <p:spPr>
          <a:xfrm>
            <a:off x="868680" y="4709160"/>
            <a:ext cx="10424160" cy="1005840"/>
          </a:xfrm>
          <a:prstGeom prst="rect">
            <a:avLst/>
          </a:prstGeom>
          <a:noFill/>
          <a:ln/>
        </p:spPr>
        <p:txBody>
          <a:bodyPr wrap="square" lIns="254" tIns="254" rIns="254" bIns="254"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A MIG manages identical VM instances created from an instance template.</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It can provide autoscaling, autohealing, regional placement and rolling updates.</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The Day 6 exercise is a manual resize from 2 to 4 after a bounded CPU workload - it does not prove an autoscaler policy.</a:t>
            </a:r>
            <a:endParaRPr lang="en-US" sz="120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COMPUTE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MIG vs EC2 Auto Scaling Group vs Azure VM Scale Set</a:t>
            </a:r>
            <a:endParaRPr lang="en-US" sz="2500" dirty="0"/>
          </a:p>
        </p:txBody>
      </p:sp>
      <p:sp>
        <p:nvSpPr>
          <p:cNvPr id="4" name="Shape 2"/>
          <p:cNvSpPr/>
          <p:nvPr/>
        </p:nvSpPr>
        <p:spPr>
          <a:xfrm>
            <a:off x="594360" y="1645920"/>
            <a:ext cx="2194560" cy="384048"/>
          </a:xfrm>
          <a:prstGeom prst="rect">
            <a:avLst/>
          </a:prstGeom>
          <a:solidFill>
            <a:srgbClr val="12304A"/>
          </a:solidFill>
          <a:ln w="6350">
            <a:solidFill>
              <a:srgbClr val="D5DEE8"/>
            </a:solidFill>
            <a:prstDash val="solid"/>
          </a:ln>
        </p:spPr>
      </p:sp>
      <p:sp>
        <p:nvSpPr>
          <p:cNvPr id="5" name="Text 3"/>
          <p:cNvSpPr txBox="1"/>
          <p:nvPr/>
        </p:nvSpPr>
        <p:spPr>
          <a:xfrm>
            <a:off x="658368" y="1682496"/>
            <a:ext cx="2066544"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DESIGN AREA</a:t>
            </a:r>
            <a:endParaRPr lang="en-US" sz="960" dirty="0"/>
          </a:p>
        </p:txBody>
      </p:sp>
      <p:sp>
        <p:nvSpPr>
          <p:cNvPr id="6" name="Shape 4"/>
          <p:cNvSpPr/>
          <p:nvPr/>
        </p:nvSpPr>
        <p:spPr>
          <a:xfrm>
            <a:off x="2788920" y="1645920"/>
            <a:ext cx="2962656" cy="384048"/>
          </a:xfrm>
          <a:prstGeom prst="rect">
            <a:avLst/>
          </a:prstGeom>
          <a:solidFill>
            <a:srgbClr val="12304A"/>
          </a:solidFill>
          <a:ln w="6350">
            <a:solidFill>
              <a:srgbClr val="D5DEE8"/>
            </a:solidFill>
            <a:prstDash val="solid"/>
          </a:ln>
        </p:spPr>
      </p:sp>
      <p:sp>
        <p:nvSpPr>
          <p:cNvPr id="7" name="Text 5"/>
          <p:cNvSpPr txBox="1"/>
          <p:nvPr/>
        </p:nvSpPr>
        <p:spPr>
          <a:xfrm>
            <a:off x="2852928" y="1682496"/>
            <a:ext cx="2834640"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GCP MIG</a:t>
            </a:r>
            <a:endParaRPr lang="en-US" sz="960" dirty="0"/>
          </a:p>
        </p:txBody>
      </p:sp>
      <p:sp>
        <p:nvSpPr>
          <p:cNvPr id="8" name="Shape 6"/>
          <p:cNvSpPr/>
          <p:nvPr/>
        </p:nvSpPr>
        <p:spPr>
          <a:xfrm>
            <a:off x="5751576" y="1645920"/>
            <a:ext cx="2852928" cy="384048"/>
          </a:xfrm>
          <a:prstGeom prst="rect">
            <a:avLst/>
          </a:prstGeom>
          <a:solidFill>
            <a:srgbClr val="12304A"/>
          </a:solidFill>
          <a:ln w="6350">
            <a:solidFill>
              <a:srgbClr val="D5DEE8"/>
            </a:solidFill>
            <a:prstDash val="solid"/>
          </a:ln>
        </p:spPr>
      </p:sp>
      <p:sp>
        <p:nvSpPr>
          <p:cNvPr id="9" name="Text 7"/>
          <p:cNvSpPr txBox="1"/>
          <p:nvPr/>
        </p:nvSpPr>
        <p:spPr>
          <a:xfrm>
            <a:off x="5815584" y="1682496"/>
            <a:ext cx="2724912"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AWS ASG</a:t>
            </a:r>
            <a:endParaRPr lang="en-US" sz="960" dirty="0"/>
          </a:p>
        </p:txBody>
      </p:sp>
      <p:sp>
        <p:nvSpPr>
          <p:cNvPr id="10" name="Shape 8"/>
          <p:cNvSpPr/>
          <p:nvPr/>
        </p:nvSpPr>
        <p:spPr>
          <a:xfrm>
            <a:off x="8604504" y="1645920"/>
            <a:ext cx="2962656" cy="384048"/>
          </a:xfrm>
          <a:prstGeom prst="rect">
            <a:avLst/>
          </a:prstGeom>
          <a:solidFill>
            <a:srgbClr val="12304A"/>
          </a:solidFill>
          <a:ln w="6350">
            <a:solidFill>
              <a:srgbClr val="D5DEE8"/>
            </a:solidFill>
            <a:prstDash val="solid"/>
          </a:ln>
        </p:spPr>
      </p:sp>
      <p:sp>
        <p:nvSpPr>
          <p:cNvPr id="11" name="Text 9"/>
          <p:cNvSpPr txBox="1"/>
          <p:nvPr/>
        </p:nvSpPr>
        <p:spPr>
          <a:xfrm>
            <a:off x="8668512" y="1682496"/>
            <a:ext cx="2834640" cy="310896"/>
          </a:xfrm>
          <a:prstGeom prst="rect">
            <a:avLst/>
          </a:prstGeom>
          <a:noFill/>
          <a:ln/>
        </p:spPr>
        <p:txBody>
          <a:bodyPr wrap="square" lIns="0" tIns="0" rIns="0" bIns="0" rtlCol="0" anchor="ctr">
            <a:normAutofit/>
          </a:bodyPr>
          <a:lstStyle/>
          <a:p>
            <a:pPr algn="l" indent="0" marL="0">
              <a:lnSpc>
                <a:spcPct val="95000"/>
              </a:lnSpc>
              <a:buNone/>
            </a:pPr>
            <a:r>
              <a:rPr lang="en-US" sz="960" b="1" dirty="0">
                <a:solidFill>
                  <a:srgbClr val="FFFFFF"/>
                </a:solidFill>
                <a:latin typeface="Carlito" pitchFamily="34" charset="0"/>
                <a:ea typeface="Carlito" pitchFamily="34" charset="-122"/>
                <a:cs typeface="Carlito" pitchFamily="34" charset="-120"/>
              </a:rPr>
              <a:t>AZURE VMSS</a:t>
            </a:r>
            <a:endParaRPr lang="en-US" sz="960" dirty="0"/>
          </a:p>
        </p:txBody>
      </p:sp>
      <p:sp>
        <p:nvSpPr>
          <p:cNvPr id="12" name="Shape 10"/>
          <p:cNvSpPr/>
          <p:nvPr/>
        </p:nvSpPr>
        <p:spPr>
          <a:xfrm>
            <a:off x="594360" y="2029968"/>
            <a:ext cx="2194560" cy="691286"/>
          </a:xfrm>
          <a:prstGeom prst="rect">
            <a:avLst/>
          </a:prstGeom>
          <a:solidFill>
            <a:srgbClr val="FFFFFF"/>
          </a:solidFill>
          <a:ln w="6350">
            <a:solidFill>
              <a:srgbClr val="D5DEE8"/>
            </a:solidFill>
            <a:prstDash val="solid"/>
          </a:ln>
        </p:spPr>
      </p:sp>
      <p:sp>
        <p:nvSpPr>
          <p:cNvPr id="13" name="Text 11"/>
          <p:cNvSpPr txBox="1"/>
          <p:nvPr/>
        </p:nvSpPr>
        <p:spPr>
          <a:xfrm>
            <a:off x="658368" y="2066544"/>
            <a:ext cx="2066544"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Instance definition</a:t>
            </a:r>
            <a:endParaRPr lang="en-US" sz="940" dirty="0"/>
          </a:p>
        </p:txBody>
      </p:sp>
      <p:sp>
        <p:nvSpPr>
          <p:cNvPr id="14" name="Shape 12"/>
          <p:cNvSpPr/>
          <p:nvPr/>
        </p:nvSpPr>
        <p:spPr>
          <a:xfrm>
            <a:off x="2788920" y="2029968"/>
            <a:ext cx="2962656" cy="691286"/>
          </a:xfrm>
          <a:prstGeom prst="rect">
            <a:avLst/>
          </a:prstGeom>
          <a:solidFill>
            <a:srgbClr val="FFFFFF"/>
          </a:solidFill>
          <a:ln w="6350">
            <a:solidFill>
              <a:srgbClr val="D5DEE8"/>
            </a:solidFill>
            <a:prstDash val="solid"/>
          </a:ln>
        </p:spPr>
      </p:sp>
      <p:sp>
        <p:nvSpPr>
          <p:cNvPr id="15" name="Text 13"/>
          <p:cNvSpPr txBox="1"/>
          <p:nvPr/>
        </p:nvSpPr>
        <p:spPr>
          <a:xfrm>
            <a:off x="2852928" y="2066544"/>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Instance template</a:t>
            </a:r>
            <a:endParaRPr lang="en-US" sz="940" dirty="0"/>
          </a:p>
        </p:txBody>
      </p:sp>
      <p:sp>
        <p:nvSpPr>
          <p:cNvPr id="16" name="Shape 14"/>
          <p:cNvSpPr/>
          <p:nvPr/>
        </p:nvSpPr>
        <p:spPr>
          <a:xfrm>
            <a:off x="5751576" y="2029968"/>
            <a:ext cx="2852928" cy="691286"/>
          </a:xfrm>
          <a:prstGeom prst="rect">
            <a:avLst/>
          </a:prstGeom>
          <a:solidFill>
            <a:srgbClr val="FFFFFF"/>
          </a:solidFill>
          <a:ln w="6350">
            <a:solidFill>
              <a:srgbClr val="D5DEE8"/>
            </a:solidFill>
            <a:prstDash val="solid"/>
          </a:ln>
        </p:spPr>
      </p:sp>
      <p:sp>
        <p:nvSpPr>
          <p:cNvPr id="17" name="Text 15"/>
          <p:cNvSpPr txBox="1"/>
          <p:nvPr/>
        </p:nvSpPr>
        <p:spPr>
          <a:xfrm>
            <a:off x="5815584" y="2066544"/>
            <a:ext cx="2724912"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Launch template</a:t>
            </a:r>
            <a:endParaRPr lang="en-US" sz="940" dirty="0"/>
          </a:p>
        </p:txBody>
      </p:sp>
      <p:sp>
        <p:nvSpPr>
          <p:cNvPr id="18" name="Shape 16"/>
          <p:cNvSpPr/>
          <p:nvPr/>
        </p:nvSpPr>
        <p:spPr>
          <a:xfrm>
            <a:off x="8604504" y="2029968"/>
            <a:ext cx="2962656" cy="691286"/>
          </a:xfrm>
          <a:prstGeom prst="rect">
            <a:avLst/>
          </a:prstGeom>
          <a:solidFill>
            <a:srgbClr val="FFFFFF"/>
          </a:solidFill>
          <a:ln w="6350">
            <a:solidFill>
              <a:srgbClr val="D5DEE8"/>
            </a:solidFill>
            <a:prstDash val="solid"/>
          </a:ln>
        </p:spPr>
      </p:sp>
      <p:sp>
        <p:nvSpPr>
          <p:cNvPr id="19" name="Text 17"/>
          <p:cNvSpPr txBox="1"/>
          <p:nvPr/>
        </p:nvSpPr>
        <p:spPr>
          <a:xfrm>
            <a:off x="8668512" y="2066544"/>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VM scale set model / profile</a:t>
            </a:r>
            <a:endParaRPr lang="en-US" sz="940" dirty="0"/>
          </a:p>
        </p:txBody>
      </p:sp>
      <p:sp>
        <p:nvSpPr>
          <p:cNvPr id="20" name="Shape 18"/>
          <p:cNvSpPr/>
          <p:nvPr/>
        </p:nvSpPr>
        <p:spPr>
          <a:xfrm>
            <a:off x="594360" y="2721254"/>
            <a:ext cx="2194560" cy="691286"/>
          </a:xfrm>
          <a:prstGeom prst="rect">
            <a:avLst/>
          </a:prstGeom>
          <a:solidFill>
            <a:srgbClr val="F1F5F9"/>
          </a:solidFill>
          <a:ln w="6350">
            <a:solidFill>
              <a:srgbClr val="D5DEE8"/>
            </a:solidFill>
            <a:prstDash val="solid"/>
          </a:ln>
        </p:spPr>
      </p:sp>
      <p:sp>
        <p:nvSpPr>
          <p:cNvPr id="21" name="Text 19"/>
          <p:cNvSpPr txBox="1"/>
          <p:nvPr/>
        </p:nvSpPr>
        <p:spPr>
          <a:xfrm>
            <a:off x="658368" y="2757830"/>
            <a:ext cx="2066544"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Fleet manager</a:t>
            </a:r>
            <a:endParaRPr lang="en-US" sz="940" dirty="0"/>
          </a:p>
        </p:txBody>
      </p:sp>
      <p:sp>
        <p:nvSpPr>
          <p:cNvPr id="22" name="Shape 20"/>
          <p:cNvSpPr/>
          <p:nvPr/>
        </p:nvSpPr>
        <p:spPr>
          <a:xfrm>
            <a:off x="2788920" y="2721254"/>
            <a:ext cx="2962656" cy="691286"/>
          </a:xfrm>
          <a:prstGeom prst="rect">
            <a:avLst/>
          </a:prstGeom>
          <a:solidFill>
            <a:srgbClr val="F1F5F9"/>
          </a:solidFill>
          <a:ln w="6350">
            <a:solidFill>
              <a:srgbClr val="D5DEE8"/>
            </a:solidFill>
            <a:prstDash val="solid"/>
          </a:ln>
        </p:spPr>
      </p:sp>
      <p:sp>
        <p:nvSpPr>
          <p:cNvPr id="23" name="Text 21"/>
          <p:cNvSpPr txBox="1"/>
          <p:nvPr/>
        </p:nvSpPr>
        <p:spPr>
          <a:xfrm>
            <a:off x="2852928" y="2757830"/>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Managed Instance Group</a:t>
            </a:r>
            <a:endParaRPr lang="en-US" sz="940" dirty="0"/>
          </a:p>
        </p:txBody>
      </p:sp>
      <p:sp>
        <p:nvSpPr>
          <p:cNvPr id="24" name="Shape 22"/>
          <p:cNvSpPr/>
          <p:nvPr/>
        </p:nvSpPr>
        <p:spPr>
          <a:xfrm>
            <a:off x="5751576" y="2721254"/>
            <a:ext cx="2852928" cy="691286"/>
          </a:xfrm>
          <a:prstGeom prst="rect">
            <a:avLst/>
          </a:prstGeom>
          <a:solidFill>
            <a:srgbClr val="F1F5F9"/>
          </a:solidFill>
          <a:ln w="6350">
            <a:solidFill>
              <a:srgbClr val="D5DEE8"/>
            </a:solidFill>
            <a:prstDash val="solid"/>
          </a:ln>
        </p:spPr>
      </p:sp>
      <p:sp>
        <p:nvSpPr>
          <p:cNvPr id="25" name="Text 23"/>
          <p:cNvSpPr txBox="1"/>
          <p:nvPr/>
        </p:nvSpPr>
        <p:spPr>
          <a:xfrm>
            <a:off x="5815584" y="2757830"/>
            <a:ext cx="2724912"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Auto Scaling Group</a:t>
            </a:r>
            <a:endParaRPr lang="en-US" sz="940" dirty="0"/>
          </a:p>
        </p:txBody>
      </p:sp>
      <p:sp>
        <p:nvSpPr>
          <p:cNvPr id="26" name="Shape 24"/>
          <p:cNvSpPr/>
          <p:nvPr/>
        </p:nvSpPr>
        <p:spPr>
          <a:xfrm>
            <a:off x="8604504" y="2721254"/>
            <a:ext cx="2962656" cy="691286"/>
          </a:xfrm>
          <a:prstGeom prst="rect">
            <a:avLst/>
          </a:prstGeom>
          <a:solidFill>
            <a:srgbClr val="F1F5F9"/>
          </a:solidFill>
          <a:ln w="6350">
            <a:solidFill>
              <a:srgbClr val="D5DEE8"/>
            </a:solidFill>
            <a:prstDash val="solid"/>
          </a:ln>
        </p:spPr>
      </p:sp>
      <p:sp>
        <p:nvSpPr>
          <p:cNvPr id="27" name="Text 25"/>
          <p:cNvSpPr txBox="1"/>
          <p:nvPr/>
        </p:nvSpPr>
        <p:spPr>
          <a:xfrm>
            <a:off x="8668512" y="2757830"/>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Virtual Machine Scale Set</a:t>
            </a:r>
            <a:endParaRPr lang="en-US" sz="940" dirty="0"/>
          </a:p>
        </p:txBody>
      </p:sp>
      <p:sp>
        <p:nvSpPr>
          <p:cNvPr id="28" name="Shape 26"/>
          <p:cNvSpPr/>
          <p:nvPr/>
        </p:nvSpPr>
        <p:spPr>
          <a:xfrm>
            <a:off x="594360" y="3412541"/>
            <a:ext cx="2194560" cy="691286"/>
          </a:xfrm>
          <a:prstGeom prst="rect">
            <a:avLst/>
          </a:prstGeom>
          <a:solidFill>
            <a:srgbClr val="FFFFFF"/>
          </a:solidFill>
          <a:ln w="6350">
            <a:solidFill>
              <a:srgbClr val="D5DEE8"/>
            </a:solidFill>
            <a:prstDash val="solid"/>
          </a:ln>
        </p:spPr>
      </p:sp>
      <p:sp>
        <p:nvSpPr>
          <p:cNvPr id="29" name="Text 27"/>
          <p:cNvSpPr txBox="1"/>
          <p:nvPr/>
        </p:nvSpPr>
        <p:spPr>
          <a:xfrm>
            <a:off x="658368" y="3449117"/>
            <a:ext cx="2066544"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Capacity control</a:t>
            </a:r>
            <a:endParaRPr lang="en-US" sz="940" dirty="0"/>
          </a:p>
        </p:txBody>
      </p:sp>
      <p:sp>
        <p:nvSpPr>
          <p:cNvPr id="30" name="Shape 28"/>
          <p:cNvSpPr/>
          <p:nvPr/>
        </p:nvSpPr>
        <p:spPr>
          <a:xfrm>
            <a:off x="2788920" y="3412541"/>
            <a:ext cx="2962656" cy="691286"/>
          </a:xfrm>
          <a:prstGeom prst="rect">
            <a:avLst/>
          </a:prstGeom>
          <a:solidFill>
            <a:srgbClr val="FFFFFF"/>
          </a:solidFill>
          <a:ln w="6350">
            <a:solidFill>
              <a:srgbClr val="D5DEE8"/>
            </a:solidFill>
            <a:prstDash val="solid"/>
          </a:ln>
        </p:spPr>
      </p:sp>
      <p:sp>
        <p:nvSpPr>
          <p:cNvPr id="31" name="Text 29"/>
          <p:cNvSpPr txBox="1"/>
          <p:nvPr/>
        </p:nvSpPr>
        <p:spPr>
          <a:xfrm>
            <a:off x="2852928" y="3449117"/>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Target size; autoscaler optional</a:t>
            </a:r>
            <a:endParaRPr lang="en-US" sz="940" dirty="0"/>
          </a:p>
        </p:txBody>
      </p:sp>
      <p:sp>
        <p:nvSpPr>
          <p:cNvPr id="32" name="Shape 30"/>
          <p:cNvSpPr/>
          <p:nvPr/>
        </p:nvSpPr>
        <p:spPr>
          <a:xfrm>
            <a:off x="5751576" y="3412541"/>
            <a:ext cx="2852928" cy="691286"/>
          </a:xfrm>
          <a:prstGeom prst="rect">
            <a:avLst/>
          </a:prstGeom>
          <a:solidFill>
            <a:srgbClr val="FFFFFF"/>
          </a:solidFill>
          <a:ln w="6350">
            <a:solidFill>
              <a:srgbClr val="D5DEE8"/>
            </a:solidFill>
            <a:prstDash val="solid"/>
          </a:ln>
        </p:spPr>
      </p:sp>
      <p:sp>
        <p:nvSpPr>
          <p:cNvPr id="33" name="Text 31"/>
          <p:cNvSpPr txBox="1"/>
          <p:nvPr/>
        </p:nvSpPr>
        <p:spPr>
          <a:xfrm>
            <a:off x="5815584" y="3449117"/>
            <a:ext cx="2724912"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Min / desired / max capacity + policies</a:t>
            </a:r>
            <a:endParaRPr lang="en-US" sz="940" dirty="0"/>
          </a:p>
        </p:txBody>
      </p:sp>
      <p:sp>
        <p:nvSpPr>
          <p:cNvPr id="34" name="Shape 32"/>
          <p:cNvSpPr/>
          <p:nvPr/>
        </p:nvSpPr>
        <p:spPr>
          <a:xfrm>
            <a:off x="8604504" y="3412541"/>
            <a:ext cx="2962656" cy="691286"/>
          </a:xfrm>
          <a:prstGeom prst="rect">
            <a:avLst/>
          </a:prstGeom>
          <a:solidFill>
            <a:srgbClr val="FFFFFF"/>
          </a:solidFill>
          <a:ln w="6350">
            <a:solidFill>
              <a:srgbClr val="D5DEE8"/>
            </a:solidFill>
            <a:prstDash val="solid"/>
          </a:ln>
        </p:spPr>
      </p:sp>
      <p:sp>
        <p:nvSpPr>
          <p:cNvPr id="35" name="Text 33"/>
          <p:cNvSpPr txBox="1"/>
          <p:nvPr/>
        </p:nvSpPr>
        <p:spPr>
          <a:xfrm>
            <a:off x="8668512" y="3449117"/>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Manual / schedule / metric / predictive autoscale</a:t>
            </a:r>
            <a:endParaRPr lang="en-US" sz="940" dirty="0"/>
          </a:p>
        </p:txBody>
      </p:sp>
      <p:sp>
        <p:nvSpPr>
          <p:cNvPr id="36" name="Shape 34"/>
          <p:cNvSpPr/>
          <p:nvPr/>
        </p:nvSpPr>
        <p:spPr>
          <a:xfrm>
            <a:off x="594360" y="4103827"/>
            <a:ext cx="2194560" cy="691286"/>
          </a:xfrm>
          <a:prstGeom prst="rect">
            <a:avLst/>
          </a:prstGeom>
          <a:solidFill>
            <a:srgbClr val="F1F5F9"/>
          </a:solidFill>
          <a:ln w="6350">
            <a:solidFill>
              <a:srgbClr val="D5DEE8"/>
            </a:solidFill>
            <a:prstDash val="solid"/>
          </a:ln>
        </p:spPr>
      </p:sp>
      <p:sp>
        <p:nvSpPr>
          <p:cNvPr id="37" name="Text 35"/>
          <p:cNvSpPr txBox="1"/>
          <p:nvPr/>
        </p:nvSpPr>
        <p:spPr>
          <a:xfrm>
            <a:off x="658368" y="4140403"/>
            <a:ext cx="2066544"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Health / repair</a:t>
            </a:r>
            <a:endParaRPr lang="en-US" sz="940" dirty="0"/>
          </a:p>
        </p:txBody>
      </p:sp>
      <p:sp>
        <p:nvSpPr>
          <p:cNvPr id="38" name="Shape 36"/>
          <p:cNvSpPr/>
          <p:nvPr/>
        </p:nvSpPr>
        <p:spPr>
          <a:xfrm>
            <a:off x="2788920" y="4103827"/>
            <a:ext cx="2962656" cy="691286"/>
          </a:xfrm>
          <a:prstGeom prst="rect">
            <a:avLst/>
          </a:prstGeom>
          <a:solidFill>
            <a:srgbClr val="F1F5F9"/>
          </a:solidFill>
          <a:ln w="6350">
            <a:solidFill>
              <a:srgbClr val="D5DEE8"/>
            </a:solidFill>
            <a:prstDash val="solid"/>
          </a:ln>
        </p:spPr>
      </p:sp>
      <p:sp>
        <p:nvSpPr>
          <p:cNvPr id="39" name="Text 37"/>
          <p:cNvSpPr txBox="1"/>
          <p:nvPr/>
        </p:nvSpPr>
        <p:spPr>
          <a:xfrm>
            <a:off x="2852928" y="4140403"/>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Autohealing + health checks</a:t>
            </a:r>
            <a:endParaRPr lang="en-US" sz="940" dirty="0"/>
          </a:p>
        </p:txBody>
      </p:sp>
      <p:sp>
        <p:nvSpPr>
          <p:cNvPr id="40" name="Shape 38"/>
          <p:cNvSpPr/>
          <p:nvPr/>
        </p:nvSpPr>
        <p:spPr>
          <a:xfrm>
            <a:off x="5751576" y="4103827"/>
            <a:ext cx="2852928" cy="691286"/>
          </a:xfrm>
          <a:prstGeom prst="rect">
            <a:avLst/>
          </a:prstGeom>
          <a:solidFill>
            <a:srgbClr val="F1F5F9"/>
          </a:solidFill>
          <a:ln w="6350">
            <a:solidFill>
              <a:srgbClr val="D5DEE8"/>
            </a:solidFill>
            <a:prstDash val="solid"/>
          </a:ln>
        </p:spPr>
      </p:sp>
      <p:sp>
        <p:nvSpPr>
          <p:cNvPr id="41" name="Text 39"/>
          <p:cNvSpPr txBox="1"/>
          <p:nvPr/>
        </p:nvSpPr>
        <p:spPr>
          <a:xfrm>
            <a:off x="5815584" y="4140403"/>
            <a:ext cx="2724912"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EC2 / ELB health checks and replacement</a:t>
            </a:r>
            <a:endParaRPr lang="en-US" sz="940" dirty="0"/>
          </a:p>
        </p:txBody>
      </p:sp>
      <p:sp>
        <p:nvSpPr>
          <p:cNvPr id="42" name="Shape 40"/>
          <p:cNvSpPr/>
          <p:nvPr/>
        </p:nvSpPr>
        <p:spPr>
          <a:xfrm>
            <a:off x="8604504" y="4103827"/>
            <a:ext cx="2962656" cy="691286"/>
          </a:xfrm>
          <a:prstGeom prst="rect">
            <a:avLst/>
          </a:prstGeom>
          <a:solidFill>
            <a:srgbClr val="F1F5F9"/>
          </a:solidFill>
          <a:ln w="6350">
            <a:solidFill>
              <a:srgbClr val="D5DEE8"/>
            </a:solidFill>
            <a:prstDash val="solid"/>
          </a:ln>
        </p:spPr>
      </p:sp>
      <p:sp>
        <p:nvSpPr>
          <p:cNvPr id="43" name="Text 41"/>
          <p:cNvSpPr txBox="1"/>
          <p:nvPr/>
        </p:nvSpPr>
        <p:spPr>
          <a:xfrm>
            <a:off x="8668512" y="4140403"/>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Health extension / repair and platform health</a:t>
            </a:r>
            <a:endParaRPr lang="en-US" sz="940" dirty="0"/>
          </a:p>
        </p:txBody>
      </p:sp>
      <p:sp>
        <p:nvSpPr>
          <p:cNvPr id="44" name="Shape 42"/>
          <p:cNvSpPr/>
          <p:nvPr/>
        </p:nvSpPr>
        <p:spPr>
          <a:xfrm>
            <a:off x="594360" y="4795114"/>
            <a:ext cx="2194560" cy="691286"/>
          </a:xfrm>
          <a:prstGeom prst="rect">
            <a:avLst/>
          </a:prstGeom>
          <a:solidFill>
            <a:srgbClr val="FFFFFF"/>
          </a:solidFill>
          <a:ln w="6350">
            <a:solidFill>
              <a:srgbClr val="D5DEE8"/>
            </a:solidFill>
            <a:prstDash val="solid"/>
          </a:ln>
        </p:spPr>
      </p:sp>
      <p:sp>
        <p:nvSpPr>
          <p:cNvPr id="45" name="Text 43"/>
          <p:cNvSpPr txBox="1"/>
          <p:nvPr/>
        </p:nvSpPr>
        <p:spPr>
          <a:xfrm>
            <a:off x="658368" y="4831690"/>
            <a:ext cx="2066544"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Availability</a:t>
            </a:r>
            <a:endParaRPr lang="en-US" sz="940" dirty="0"/>
          </a:p>
        </p:txBody>
      </p:sp>
      <p:sp>
        <p:nvSpPr>
          <p:cNvPr id="46" name="Shape 44"/>
          <p:cNvSpPr/>
          <p:nvPr/>
        </p:nvSpPr>
        <p:spPr>
          <a:xfrm>
            <a:off x="2788920" y="4795114"/>
            <a:ext cx="2962656" cy="691286"/>
          </a:xfrm>
          <a:prstGeom prst="rect">
            <a:avLst/>
          </a:prstGeom>
          <a:solidFill>
            <a:srgbClr val="FFFFFF"/>
          </a:solidFill>
          <a:ln w="6350">
            <a:solidFill>
              <a:srgbClr val="D5DEE8"/>
            </a:solidFill>
            <a:prstDash val="solid"/>
          </a:ln>
        </p:spPr>
      </p:sp>
      <p:sp>
        <p:nvSpPr>
          <p:cNvPr id="47" name="Text 45"/>
          <p:cNvSpPr txBox="1"/>
          <p:nvPr/>
        </p:nvSpPr>
        <p:spPr>
          <a:xfrm>
            <a:off x="2852928" y="4831690"/>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Zonal or regional MIG</a:t>
            </a:r>
            <a:endParaRPr lang="en-US" sz="940" dirty="0"/>
          </a:p>
        </p:txBody>
      </p:sp>
      <p:sp>
        <p:nvSpPr>
          <p:cNvPr id="48" name="Shape 46"/>
          <p:cNvSpPr/>
          <p:nvPr/>
        </p:nvSpPr>
        <p:spPr>
          <a:xfrm>
            <a:off x="5751576" y="4795114"/>
            <a:ext cx="2852928" cy="691286"/>
          </a:xfrm>
          <a:prstGeom prst="rect">
            <a:avLst/>
          </a:prstGeom>
          <a:solidFill>
            <a:srgbClr val="FFFFFF"/>
          </a:solidFill>
          <a:ln w="6350">
            <a:solidFill>
              <a:srgbClr val="D5DEE8"/>
            </a:solidFill>
            <a:prstDash val="solid"/>
          </a:ln>
        </p:spPr>
      </p:sp>
      <p:sp>
        <p:nvSpPr>
          <p:cNvPr id="49" name="Text 47"/>
          <p:cNvSpPr txBox="1"/>
          <p:nvPr/>
        </p:nvSpPr>
        <p:spPr>
          <a:xfrm>
            <a:off x="5815584" y="4831690"/>
            <a:ext cx="2724912"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Multi-AZ deployment pattern</a:t>
            </a:r>
            <a:endParaRPr lang="en-US" sz="940" dirty="0"/>
          </a:p>
        </p:txBody>
      </p:sp>
      <p:sp>
        <p:nvSpPr>
          <p:cNvPr id="50" name="Shape 48"/>
          <p:cNvSpPr/>
          <p:nvPr/>
        </p:nvSpPr>
        <p:spPr>
          <a:xfrm>
            <a:off x="8604504" y="4795114"/>
            <a:ext cx="2962656" cy="691286"/>
          </a:xfrm>
          <a:prstGeom prst="rect">
            <a:avLst/>
          </a:prstGeom>
          <a:solidFill>
            <a:srgbClr val="FFFFFF"/>
          </a:solidFill>
          <a:ln w="6350">
            <a:solidFill>
              <a:srgbClr val="D5DEE8"/>
            </a:solidFill>
            <a:prstDash val="solid"/>
          </a:ln>
        </p:spPr>
      </p:sp>
      <p:sp>
        <p:nvSpPr>
          <p:cNvPr id="51" name="Text 49"/>
          <p:cNvSpPr txBox="1"/>
          <p:nvPr/>
        </p:nvSpPr>
        <p:spPr>
          <a:xfrm>
            <a:off x="8668512" y="4831690"/>
            <a:ext cx="2834640" cy="618134"/>
          </a:xfrm>
          <a:prstGeom prst="rect">
            <a:avLst/>
          </a:prstGeom>
          <a:noFill/>
          <a:ln/>
        </p:spPr>
        <p:txBody>
          <a:bodyPr wrap="square" lIns="0" tIns="0" rIns="0" bIns="0" rtlCol="0" anchor="ctr">
            <a:normAutofit/>
          </a:bodyPr>
          <a:lstStyle/>
          <a:p>
            <a:pPr algn="l" indent="0" marL="0">
              <a:lnSpc>
                <a:spcPct val="95000"/>
              </a:lnSpc>
              <a:buNone/>
            </a:pPr>
            <a:r>
              <a:rPr lang="en-US" sz="940" dirty="0">
                <a:solidFill>
                  <a:srgbClr val="203040"/>
                </a:solidFill>
                <a:latin typeface="Carlito" pitchFamily="34" charset="0"/>
                <a:ea typeface="Carlito" pitchFamily="34" charset="-122"/>
                <a:cs typeface="Carlito" pitchFamily="34" charset="-120"/>
              </a:rPr>
              <a:t>Zone / zone-redundant configurations</a:t>
            </a:r>
            <a:endParaRPr lang="en-US" sz="940" dirty="0"/>
          </a:p>
        </p:txBody>
      </p:sp>
      <p:sp>
        <p:nvSpPr>
          <p:cNvPr id="52" name="Shape 50"/>
          <p:cNvSpPr/>
          <p:nvPr/>
        </p:nvSpPr>
        <p:spPr>
          <a:xfrm>
            <a:off x="731520" y="5715000"/>
            <a:ext cx="10789920" cy="502920"/>
          </a:xfrm>
          <a:prstGeom prst="roundRect">
            <a:avLst>
              <a:gd name="adj" fmla="val 14545"/>
            </a:avLst>
          </a:prstGeom>
          <a:solidFill>
            <a:srgbClr val="EAF3FC"/>
          </a:solidFill>
          <a:ln w="10160">
            <a:solidFill>
              <a:srgbClr val="EAF3FC"/>
            </a:solidFill>
            <a:prstDash val="solid"/>
          </a:ln>
        </p:spPr>
      </p:sp>
      <p:sp>
        <p:nvSpPr>
          <p:cNvPr id="53" name="Text 51"/>
          <p:cNvSpPr txBox="1"/>
          <p:nvPr/>
        </p:nvSpPr>
        <p:spPr>
          <a:xfrm>
            <a:off x="877824" y="5788152"/>
            <a:ext cx="10497312" cy="35661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The products are conceptually comparable, but template model, update policy, autoscaling controls and health-check configuration differ. Document one gap for each cloud when completing the capstone.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BLOCK STORAGE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Persistent Disk, filesystem and mount point are three different layers</a:t>
            </a:r>
            <a:endParaRPr lang="en-US" sz="2500" dirty="0"/>
          </a:p>
        </p:txBody>
      </p:sp>
      <p:sp>
        <p:nvSpPr>
          <p:cNvPr id="4" name="Shape 2"/>
          <p:cNvSpPr/>
          <p:nvPr/>
        </p:nvSpPr>
        <p:spPr>
          <a:xfrm>
            <a:off x="1051560" y="1737360"/>
            <a:ext cx="9875520" cy="822960"/>
          </a:xfrm>
          <a:prstGeom prst="roundRect">
            <a:avLst>
              <a:gd name="adj" fmla="val 8889"/>
            </a:avLst>
          </a:prstGeom>
          <a:solidFill>
            <a:srgbClr val="EAF3FC"/>
          </a:solidFill>
          <a:ln w="10160">
            <a:solidFill>
              <a:srgbClr val="DCE3EB"/>
            </a:solidFill>
            <a:prstDash val="solid"/>
          </a:ln>
        </p:spPr>
      </p:sp>
      <p:sp>
        <p:nvSpPr>
          <p:cNvPr id="5" name="Text 3"/>
          <p:cNvSpPr txBox="1"/>
          <p:nvPr/>
        </p:nvSpPr>
        <p:spPr>
          <a:xfrm>
            <a:off x="1325880" y="1883664"/>
            <a:ext cx="2514600" cy="201168"/>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2878C8"/>
                </a:solidFill>
                <a:latin typeface="Carlito" pitchFamily="34" charset="0"/>
                <a:ea typeface="Carlito" pitchFamily="34" charset="-122"/>
                <a:cs typeface="Carlito" pitchFamily="34" charset="-120"/>
              </a:rPr>
              <a:t>CLOUD BLOCK DEVICE</a:t>
            </a:r>
            <a:endParaRPr lang="en-US" sz="1200" dirty="0"/>
          </a:p>
        </p:txBody>
      </p:sp>
      <p:sp>
        <p:nvSpPr>
          <p:cNvPr id="6" name="Text 4"/>
          <p:cNvSpPr txBox="1"/>
          <p:nvPr/>
        </p:nvSpPr>
        <p:spPr>
          <a:xfrm>
            <a:off x="3886200" y="1883664"/>
            <a:ext cx="6629400" cy="274320"/>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203040"/>
                </a:solidFill>
                <a:latin typeface="Carlito" pitchFamily="34" charset="0"/>
                <a:ea typeface="Carlito" pitchFamily="34" charset="-122"/>
                <a:cs typeface="Carlito" pitchFamily="34" charset="-120"/>
              </a:rPr>
              <a:t>10 GB Persistent Disk attached to VM</a:t>
            </a:r>
            <a:endParaRPr lang="en-US" sz="1150" dirty="0"/>
          </a:p>
        </p:txBody>
      </p:sp>
      <p:sp>
        <p:nvSpPr>
          <p:cNvPr id="7" name="Shape 5"/>
          <p:cNvSpPr/>
          <p:nvPr/>
        </p:nvSpPr>
        <p:spPr>
          <a:xfrm>
            <a:off x="5989320" y="2587752"/>
            <a:ext cx="0" cy="265176"/>
          </a:xfrm>
          <a:prstGeom prst="line">
            <a:avLst/>
          </a:prstGeom>
          <a:noFill/>
          <a:ln w="19050">
            <a:solidFill>
              <a:srgbClr val="0D9488"/>
            </a:solidFill>
            <a:prstDash val="solid"/>
            <a:tailEnd type="triangle"/>
          </a:ln>
        </p:spPr>
      </p:sp>
      <p:sp>
        <p:nvSpPr>
          <p:cNvPr id="8" name="Shape 6"/>
          <p:cNvSpPr/>
          <p:nvPr/>
        </p:nvSpPr>
        <p:spPr>
          <a:xfrm>
            <a:off x="1051560" y="2907792"/>
            <a:ext cx="9875520" cy="822960"/>
          </a:xfrm>
          <a:prstGeom prst="roundRect">
            <a:avLst>
              <a:gd name="adj" fmla="val 8889"/>
            </a:avLst>
          </a:prstGeom>
          <a:solidFill>
            <a:srgbClr val="E7F6F4"/>
          </a:solidFill>
          <a:ln w="10160">
            <a:solidFill>
              <a:srgbClr val="DCE3EB"/>
            </a:solidFill>
            <a:prstDash val="solid"/>
          </a:ln>
        </p:spPr>
      </p:sp>
      <p:sp>
        <p:nvSpPr>
          <p:cNvPr id="9" name="Text 7"/>
          <p:cNvSpPr txBox="1"/>
          <p:nvPr/>
        </p:nvSpPr>
        <p:spPr>
          <a:xfrm>
            <a:off x="1325880" y="3054096"/>
            <a:ext cx="2514600" cy="201168"/>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0D9488"/>
                </a:solidFill>
                <a:latin typeface="Carlito" pitchFamily="34" charset="0"/>
                <a:ea typeface="Carlito" pitchFamily="34" charset="-122"/>
                <a:cs typeface="Carlito" pitchFamily="34" charset="-120"/>
              </a:rPr>
              <a:t>FILESYSTEM</a:t>
            </a:r>
            <a:endParaRPr lang="en-US" sz="1200" dirty="0"/>
          </a:p>
        </p:txBody>
      </p:sp>
      <p:sp>
        <p:nvSpPr>
          <p:cNvPr id="10" name="Text 8"/>
          <p:cNvSpPr txBox="1"/>
          <p:nvPr/>
        </p:nvSpPr>
        <p:spPr>
          <a:xfrm>
            <a:off x="3886200" y="3054096"/>
            <a:ext cx="6629400" cy="274320"/>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203040"/>
                </a:solidFill>
                <a:latin typeface="Carlito" pitchFamily="34" charset="0"/>
                <a:ea typeface="Carlito" pitchFamily="34" charset="-122"/>
                <a:cs typeface="Carlito" pitchFamily="34" charset="-120"/>
              </a:rPr>
              <a:t>ext4 writes directory entries, metadata and file blocks</a:t>
            </a:r>
            <a:endParaRPr lang="en-US" sz="1150" dirty="0"/>
          </a:p>
        </p:txBody>
      </p:sp>
      <p:sp>
        <p:nvSpPr>
          <p:cNvPr id="11" name="Shape 9"/>
          <p:cNvSpPr/>
          <p:nvPr/>
        </p:nvSpPr>
        <p:spPr>
          <a:xfrm>
            <a:off x="5989320" y="3758184"/>
            <a:ext cx="0" cy="265176"/>
          </a:xfrm>
          <a:prstGeom prst="line">
            <a:avLst/>
          </a:prstGeom>
          <a:noFill/>
          <a:ln w="19050">
            <a:solidFill>
              <a:srgbClr val="0D9488"/>
            </a:solidFill>
            <a:prstDash val="solid"/>
            <a:tailEnd type="triangle"/>
          </a:ln>
        </p:spPr>
      </p:sp>
      <p:sp>
        <p:nvSpPr>
          <p:cNvPr id="12" name="Shape 10"/>
          <p:cNvSpPr/>
          <p:nvPr/>
        </p:nvSpPr>
        <p:spPr>
          <a:xfrm>
            <a:off x="1051560" y="4078224"/>
            <a:ext cx="9875520" cy="822960"/>
          </a:xfrm>
          <a:prstGeom prst="roundRect">
            <a:avLst>
              <a:gd name="adj" fmla="val 8889"/>
            </a:avLst>
          </a:prstGeom>
          <a:solidFill>
            <a:srgbClr val="E9F7F0"/>
          </a:solidFill>
          <a:ln w="10160">
            <a:solidFill>
              <a:srgbClr val="DCE3EB"/>
            </a:solidFill>
            <a:prstDash val="solid"/>
          </a:ln>
        </p:spPr>
      </p:sp>
      <p:sp>
        <p:nvSpPr>
          <p:cNvPr id="13" name="Text 11"/>
          <p:cNvSpPr txBox="1"/>
          <p:nvPr/>
        </p:nvSpPr>
        <p:spPr>
          <a:xfrm>
            <a:off x="1325880" y="4224528"/>
            <a:ext cx="2514600" cy="201168"/>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6A36A"/>
                </a:solidFill>
                <a:latin typeface="Carlito" pitchFamily="34" charset="0"/>
                <a:ea typeface="Carlito" pitchFamily="34" charset="-122"/>
                <a:cs typeface="Carlito" pitchFamily="34" charset="-120"/>
              </a:rPr>
              <a:t>MOUNT POINT</a:t>
            </a:r>
            <a:endParaRPr lang="en-US" sz="1200" dirty="0"/>
          </a:p>
        </p:txBody>
      </p:sp>
      <p:sp>
        <p:nvSpPr>
          <p:cNvPr id="14" name="Text 12"/>
          <p:cNvSpPr txBox="1"/>
          <p:nvPr/>
        </p:nvSpPr>
        <p:spPr>
          <a:xfrm>
            <a:off x="3886200" y="4224528"/>
            <a:ext cx="6629400" cy="274320"/>
          </a:xfrm>
          <a:prstGeom prst="rect">
            <a:avLst/>
          </a:prstGeom>
          <a:noFill/>
          <a:ln/>
        </p:spPr>
        <p:txBody>
          <a:bodyPr wrap="square" lIns="0" tIns="0" rIns="0" bIns="0" rtlCol="0" anchor="ctr">
            <a:normAutofit/>
          </a:bodyPr>
          <a:lstStyle/>
          <a:p>
            <a:pPr algn="l" indent="0" marL="0">
              <a:lnSpc>
                <a:spcPct val="95000"/>
              </a:lnSpc>
              <a:buNone/>
            </a:pPr>
            <a:r>
              <a:rPr lang="en-US" sz="1150" dirty="0">
                <a:solidFill>
                  <a:srgbClr val="203040"/>
                </a:solidFill>
                <a:latin typeface="Carlito" pitchFamily="34" charset="0"/>
                <a:ea typeface="Carlito" pitchFamily="34" charset="-122"/>
                <a:cs typeface="Carlito" pitchFamily="34" charset="-120"/>
              </a:rPr>
              <a:t>/mnt/d6data makes that filesystem accessible in Linux</a:t>
            </a:r>
            <a:endParaRPr lang="en-US" sz="1150" dirty="0"/>
          </a:p>
        </p:txBody>
      </p:sp>
      <p:sp>
        <p:nvSpPr>
          <p:cNvPr id="15" name="Shape 13"/>
          <p:cNvSpPr/>
          <p:nvPr/>
        </p:nvSpPr>
        <p:spPr>
          <a:xfrm>
            <a:off x="822960" y="5440680"/>
            <a:ext cx="10515600" cy="548640"/>
          </a:xfrm>
          <a:prstGeom prst="roundRect">
            <a:avLst>
              <a:gd name="adj" fmla="val 13333"/>
            </a:avLst>
          </a:prstGeom>
          <a:solidFill>
            <a:srgbClr val="FFF5E6"/>
          </a:solidFill>
          <a:ln w="10160">
            <a:solidFill>
              <a:srgbClr val="FFF5E6"/>
            </a:solidFill>
            <a:prstDash val="solid"/>
          </a:ln>
        </p:spPr>
      </p:sp>
      <p:sp>
        <p:nvSpPr>
          <p:cNvPr id="16" name="Text 14"/>
          <p:cNvSpPr txBox="1"/>
          <p:nvPr/>
        </p:nvSpPr>
        <p:spPr>
          <a:xfrm>
            <a:off x="969264" y="5513832"/>
            <a:ext cx="10222992" cy="40233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Cloud Console can prove the provisioned disk is 10 GB and attached. The guest OS commands df, lsblk, blkid and findmnt prove the filesystem and mount state.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BLOCK STORAGE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Disk expansion is a two-layer operation</a:t>
            </a:r>
            <a:endParaRPr lang="en-US" sz="2500" dirty="0"/>
          </a:p>
        </p:txBody>
      </p:sp>
      <p:sp>
        <p:nvSpPr>
          <p:cNvPr id="4" name="Shape 2"/>
          <p:cNvSpPr/>
          <p:nvPr/>
        </p:nvSpPr>
        <p:spPr>
          <a:xfrm>
            <a:off x="685800" y="1783080"/>
            <a:ext cx="2423160" cy="1280160"/>
          </a:xfrm>
          <a:prstGeom prst="roundRect">
            <a:avLst>
              <a:gd name="adj" fmla="val 5714"/>
            </a:avLst>
          </a:prstGeom>
          <a:solidFill>
            <a:srgbClr val="FFFFFF"/>
          </a:solidFill>
          <a:ln w="10160">
            <a:solidFill>
              <a:srgbClr val="DCE3EB"/>
            </a:solidFill>
            <a:prstDash val="solid"/>
          </a:ln>
        </p:spPr>
      </p:sp>
      <p:sp>
        <p:nvSpPr>
          <p:cNvPr id="5" name="Shape 3"/>
          <p:cNvSpPr/>
          <p:nvPr/>
        </p:nvSpPr>
        <p:spPr>
          <a:xfrm>
            <a:off x="822960" y="1901952"/>
            <a:ext cx="310896" cy="256032"/>
          </a:xfrm>
          <a:prstGeom prst="roundRect">
            <a:avLst>
              <a:gd name="adj" fmla="val 28571"/>
            </a:avLst>
          </a:prstGeom>
          <a:solidFill>
            <a:srgbClr val="EAF3FC"/>
          </a:solidFill>
          <a:ln w="10160">
            <a:solidFill>
              <a:srgbClr val="EAF3FC"/>
            </a:solidFill>
            <a:prstDash val="solid"/>
          </a:ln>
        </p:spPr>
      </p:sp>
      <p:sp>
        <p:nvSpPr>
          <p:cNvPr id="6" name="Text 4"/>
          <p:cNvSpPr txBox="1"/>
          <p:nvPr/>
        </p:nvSpPr>
        <p:spPr>
          <a:xfrm>
            <a:off x="896112" y="191566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1</a:t>
            </a:r>
            <a:endParaRPr lang="en-US" sz="900" dirty="0"/>
          </a:p>
        </p:txBody>
      </p:sp>
      <p:sp>
        <p:nvSpPr>
          <p:cNvPr id="7" name="Text 5"/>
          <p:cNvSpPr txBox="1"/>
          <p:nvPr/>
        </p:nvSpPr>
        <p:spPr>
          <a:xfrm>
            <a:off x="1216152" y="1883664"/>
            <a:ext cx="176479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EXPAND CLOUD DISK</a:t>
            </a:r>
            <a:endParaRPr lang="en-US" sz="1300" dirty="0"/>
          </a:p>
        </p:txBody>
      </p:sp>
      <p:sp>
        <p:nvSpPr>
          <p:cNvPr id="8" name="Text 6"/>
          <p:cNvSpPr txBox="1"/>
          <p:nvPr/>
        </p:nvSpPr>
        <p:spPr>
          <a:xfrm>
            <a:off x="850392" y="2258568"/>
            <a:ext cx="209397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Terraform: data_disk_size_gb 10 -&gt; 20 GB</a:t>
            </a:r>
            <a:endParaRPr lang="en-US" sz="1030" dirty="0"/>
          </a:p>
        </p:txBody>
      </p:sp>
      <p:sp>
        <p:nvSpPr>
          <p:cNvPr id="9" name="Shape 7"/>
          <p:cNvSpPr/>
          <p:nvPr/>
        </p:nvSpPr>
        <p:spPr>
          <a:xfrm>
            <a:off x="3429000" y="1783080"/>
            <a:ext cx="2423160" cy="1280160"/>
          </a:xfrm>
          <a:prstGeom prst="roundRect">
            <a:avLst>
              <a:gd name="adj" fmla="val 5714"/>
            </a:avLst>
          </a:prstGeom>
          <a:solidFill>
            <a:srgbClr val="FFFFFF"/>
          </a:solidFill>
          <a:ln w="10160">
            <a:solidFill>
              <a:srgbClr val="DCE3EB"/>
            </a:solidFill>
            <a:prstDash val="solid"/>
          </a:ln>
        </p:spPr>
      </p:sp>
      <p:sp>
        <p:nvSpPr>
          <p:cNvPr id="10" name="Shape 8"/>
          <p:cNvSpPr/>
          <p:nvPr/>
        </p:nvSpPr>
        <p:spPr>
          <a:xfrm>
            <a:off x="3566160" y="1901952"/>
            <a:ext cx="310896" cy="256032"/>
          </a:xfrm>
          <a:prstGeom prst="roundRect">
            <a:avLst>
              <a:gd name="adj" fmla="val 28571"/>
            </a:avLst>
          </a:prstGeom>
          <a:solidFill>
            <a:srgbClr val="E7F6F4"/>
          </a:solidFill>
          <a:ln w="10160">
            <a:solidFill>
              <a:srgbClr val="E7F6F4"/>
            </a:solidFill>
            <a:prstDash val="solid"/>
          </a:ln>
        </p:spPr>
      </p:sp>
      <p:sp>
        <p:nvSpPr>
          <p:cNvPr id="11" name="Text 9"/>
          <p:cNvSpPr txBox="1"/>
          <p:nvPr/>
        </p:nvSpPr>
        <p:spPr>
          <a:xfrm>
            <a:off x="3639312" y="191566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0D9488"/>
                </a:solidFill>
                <a:latin typeface="Carlito" pitchFamily="34" charset="0"/>
                <a:ea typeface="Carlito" pitchFamily="34" charset="-122"/>
                <a:cs typeface="Carlito" pitchFamily="34" charset="-120"/>
              </a:rPr>
              <a:t>2</a:t>
            </a:r>
            <a:endParaRPr lang="en-US" sz="900" dirty="0"/>
          </a:p>
        </p:txBody>
      </p:sp>
      <p:sp>
        <p:nvSpPr>
          <p:cNvPr id="12" name="Text 10"/>
          <p:cNvSpPr txBox="1"/>
          <p:nvPr/>
        </p:nvSpPr>
        <p:spPr>
          <a:xfrm>
            <a:off x="3959352" y="1883664"/>
            <a:ext cx="176479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RESCAN / IDENTIFY</a:t>
            </a:r>
            <a:endParaRPr lang="en-US" sz="1300" dirty="0"/>
          </a:p>
        </p:txBody>
      </p:sp>
      <p:sp>
        <p:nvSpPr>
          <p:cNvPr id="13" name="Text 11"/>
          <p:cNvSpPr txBox="1"/>
          <p:nvPr/>
        </p:nvSpPr>
        <p:spPr>
          <a:xfrm>
            <a:off x="3593592" y="2258568"/>
            <a:ext cx="209397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lsblk, blkid: confirm device and new size</a:t>
            </a:r>
            <a:endParaRPr lang="en-US" sz="1030" dirty="0"/>
          </a:p>
        </p:txBody>
      </p:sp>
      <p:sp>
        <p:nvSpPr>
          <p:cNvPr id="14" name="Shape 12"/>
          <p:cNvSpPr/>
          <p:nvPr/>
        </p:nvSpPr>
        <p:spPr>
          <a:xfrm>
            <a:off x="6172200" y="1783080"/>
            <a:ext cx="2423160" cy="1280160"/>
          </a:xfrm>
          <a:prstGeom prst="roundRect">
            <a:avLst>
              <a:gd name="adj" fmla="val 5714"/>
            </a:avLst>
          </a:prstGeom>
          <a:solidFill>
            <a:srgbClr val="FFFFFF"/>
          </a:solidFill>
          <a:ln w="10160">
            <a:solidFill>
              <a:srgbClr val="DCE3EB"/>
            </a:solidFill>
            <a:prstDash val="solid"/>
          </a:ln>
        </p:spPr>
      </p:sp>
      <p:sp>
        <p:nvSpPr>
          <p:cNvPr id="15" name="Shape 13"/>
          <p:cNvSpPr/>
          <p:nvPr/>
        </p:nvSpPr>
        <p:spPr>
          <a:xfrm>
            <a:off x="6309360" y="1901952"/>
            <a:ext cx="310896" cy="256032"/>
          </a:xfrm>
          <a:prstGeom prst="roundRect">
            <a:avLst>
              <a:gd name="adj" fmla="val 28571"/>
            </a:avLst>
          </a:prstGeom>
          <a:solidFill>
            <a:srgbClr val="E9F7F0"/>
          </a:solidFill>
          <a:ln w="10160">
            <a:solidFill>
              <a:srgbClr val="E9F7F0"/>
            </a:solidFill>
            <a:prstDash val="solid"/>
          </a:ln>
        </p:spPr>
      </p:sp>
      <p:sp>
        <p:nvSpPr>
          <p:cNvPr id="16" name="Text 14"/>
          <p:cNvSpPr txBox="1"/>
          <p:nvPr/>
        </p:nvSpPr>
        <p:spPr>
          <a:xfrm>
            <a:off x="6382512" y="191566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3</a:t>
            </a:r>
            <a:endParaRPr lang="en-US" sz="900" dirty="0"/>
          </a:p>
        </p:txBody>
      </p:sp>
      <p:sp>
        <p:nvSpPr>
          <p:cNvPr id="17" name="Text 15"/>
          <p:cNvSpPr txBox="1"/>
          <p:nvPr/>
        </p:nvSpPr>
        <p:spPr>
          <a:xfrm>
            <a:off x="6702552" y="1883664"/>
            <a:ext cx="176479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GROW FILESYSTEM</a:t>
            </a:r>
            <a:endParaRPr lang="en-US" sz="1300" dirty="0"/>
          </a:p>
        </p:txBody>
      </p:sp>
      <p:sp>
        <p:nvSpPr>
          <p:cNvPr id="18" name="Text 16"/>
          <p:cNvSpPr txBox="1"/>
          <p:nvPr/>
        </p:nvSpPr>
        <p:spPr>
          <a:xfrm>
            <a:off x="6336792" y="2258568"/>
            <a:ext cx="209397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ext4 on whole device: resize2fs device</a:t>
            </a:r>
            <a:endParaRPr lang="en-US" sz="1030" dirty="0"/>
          </a:p>
        </p:txBody>
      </p:sp>
      <p:sp>
        <p:nvSpPr>
          <p:cNvPr id="19" name="Shape 17"/>
          <p:cNvSpPr/>
          <p:nvPr/>
        </p:nvSpPr>
        <p:spPr>
          <a:xfrm>
            <a:off x="8915400" y="1783080"/>
            <a:ext cx="2423160" cy="1280160"/>
          </a:xfrm>
          <a:prstGeom prst="roundRect">
            <a:avLst>
              <a:gd name="adj" fmla="val 5714"/>
            </a:avLst>
          </a:prstGeom>
          <a:solidFill>
            <a:srgbClr val="FFFFFF"/>
          </a:solidFill>
          <a:ln w="10160">
            <a:solidFill>
              <a:srgbClr val="DCE3EB"/>
            </a:solidFill>
            <a:prstDash val="solid"/>
          </a:ln>
        </p:spPr>
      </p:sp>
      <p:sp>
        <p:nvSpPr>
          <p:cNvPr id="20" name="Shape 18"/>
          <p:cNvSpPr/>
          <p:nvPr/>
        </p:nvSpPr>
        <p:spPr>
          <a:xfrm>
            <a:off x="9052560" y="1901952"/>
            <a:ext cx="310896" cy="256032"/>
          </a:xfrm>
          <a:prstGeom prst="roundRect">
            <a:avLst>
              <a:gd name="adj" fmla="val 28571"/>
            </a:avLst>
          </a:prstGeom>
          <a:solidFill>
            <a:srgbClr val="F2EDFA"/>
          </a:solidFill>
          <a:ln w="10160">
            <a:solidFill>
              <a:srgbClr val="F2EDFA"/>
            </a:solidFill>
            <a:prstDash val="solid"/>
          </a:ln>
        </p:spPr>
      </p:sp>
      <p:sp>
        <p:nvSpPr>
          <p:cNvPr id="21" name="Text 19"/>
          <p:cNvSpPr txBox="1"/>
          <p:nvPr/>
        </p:nvSpPr>
        <p:spPr>
          <a:xfrm>
            <a:off x="9125712" y="1915668"/>
            <a:ext cx="164592"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7654B8"/>
                </a:solidFill>
                <a:latin typeface="Carlito" pitchFamily="34" charset="0"/>
                <a:ea typeface="Carlito" pitchFamily="34" charset="-122"/>
                <a:cs typeface="Carlito" pitchFamily="34" charset="-120"/>
              </a:rPr>
              <a:t>4</a:t>
            </a:r>
            <a:endParaRPr lang="en-US" sz="900" dirty="0"/>
          </a:p>
        </p:txBody>
      </p:sp>
      <p:sp>
        <p:nvSpPr>
          <p:cNvPr id="22" name="Text 20"/>
          <p:cNvSpPr txBox="1"/>
          <p:nvPr/>
        </p:nvSpPr>
        <p:spPr>
          <a:xfrm>
            <a:off x="9445752" y="1883664"/>
            <a:ext cx="1764792"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VERIFY / CLEAN</a:t>
            </a:r>
            <a:endParaRPr lang="en-US" sz="1300" dirty="0"/>
          </a:p>
        </p:txBody>
      </p:sp>
      <p:sp>
        <p:nvSpPr>
          <p:cNvPr id="23" name="Text 21"/>
          <p:cNvSpPr txBox="1"/>
          <p:nvPr/>
        </p:nvSpPr>
        <p:spPr>
          <a:xfrm>
            <a:off x="9079992" y="2258568"/>
            <a:ext cx="2093976" cy="713232"/>
          </a:xfrm>
          <a:prstGeom prst="rect">
            <a:avLst/>
          </a:prstGeom>
          <a:noFill/>
          <a:ln/>
        </p:spPr>
        <p:txBody>
          <a:bodyPr wrap="square" lIns="0" tIns="0" rIns="0" bIns="0" rtlCol="0" anchor="t">
            <a:normAutofit/>
          </a:bodyPr>
          <a:lstStyle/>
          <a:p>
            <a:pPr algn="l" indent="0" marL="0">
              <a:lnSpc>
                <a:spcPct val="95000"/>
              </a:lnSpc>
              <a:buNone/>
            </a:pPr>
            <a:r>
              <a:rPr lang="en-US" sz="1030" dirty="0">
                <a:solidFill>
                  <a:srgbClr val="5F6F7F"/>
                </a:solidFill>
                <a:latin typeface="Carlito" pitchFamily="34" charset="0"/>
                <a:ea typeface="Carlito" pitchFamily="34" charset="-122"/>
                <a:cs typeface="Carlito" pitchFamily="34" charset="-120"/>
              </a:rPr>
              <a:t>df -h; remove fill.bin; verify free space</a:t>
            </a:r>
            <a:endParaRPr lang="en-US" sz="1030" dirty="0"/>
          </a:p>
        </p:txBody>
      </p:sp>
      <p:sp>
        <p:nvSpPr>
          <p:cNvPr id="24" name="Shape 22"/>
          <p:cNvSpPr/>
          <p:nvPr/>
        </p:nvSpPr>
        <p:spPr>
          <a:xfrm>
            <a:off x="731520" y="3657600"/>
            <a:ext cx="5120640" cy="1417320"/>
          </a:xfrm>
          <a:prstGeom prst="roundRect">
            <a:avLst>
              <a:gd name="adj" fmla="val 5161"/>
            </a:avLst>
          </a:prstGeom>
          <a:solidFill>
            <a:srgbClr val="FFFFFF"/>
          </a:solidFill>
          <a:ln w="10160">
            <a:solidFill>
              <a:srgbClr val="DCE3EB"/>
            </a:solidFill>
            <a:prstDash val="solid"/>
          </a:ln>
        </p:spPr>
      </p:sp>
      <p:sp>
        <p:nvSpPr>
          <p:cNvPr id="25" name="Shape 23"/>
          <p:cNvSpPr/>
          <p:nvPr/>
        </p:nvSpPr>
        <p:spPr>
          <a:xfrm>
            <a:off x="731520" y="3657600"/>
            <a:ext cx="73152" cy="1417320"/>
          </a:xfrm>
          <a:prstGeom prst="rect">
            <a:avLst>
              <a:gd name="adj" fmla="val 100000"/>
            </a:avLst>
          </a:prstGeom>
          <a:solidFill>
            <a:srgbClr val="2878C8"/>
          </a:solidFill>
          <a:ln w="10160">
            <a:solidFill>
              <a:srgbClr val="2878C8"/>
            </a:solidFill>
            <a:prstDash val="solid"/>
          </a:ln>
        </p:spPr>
      </p:sp>
      <p:sp>
        <p:nvSpPr>
          <p:cNvPr id="26" name="Text 24"/>
          <p:cNvSpPr txBox="1"/>
          <p:nvPr/>
        </p:nvSpPr>
        <p:spPr>
          <a:xfrm>
            <a:off x="932688" y="3785616"/>
            <a:ext cx="477316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GCP lab implementation</a:t>
            </a:r>
            <a:endParaRPr lang="en-US" sz="1300" dirty="0"/>
          </a:p>
        </p:txBody>
      </p:sp>
      <p:sp>
        <p:nvSpPr>
          <p:cNvPr id="27" name="Text 25"/>
          <p:cNvSpPr txBox="1"/>
          <p:nvPr/>
        </p:nvSpPr>
        <p:spPr>
          <a:xfrm>
            <a:off x="932688" y="4133088"/>
            <a:ext cx="4736592" cy="83210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The lab formats ext4 directly on /dev/disk/by-id/google-d6-data-disk (no partition). After Terraform grows the cloud disk, run resize2fs on that device.</a:t>
            </a:r>
            <a:endParaRPr lang="en-US" sz="1050" dirty="0"/>
          </a:p>
        </p:txBody>
      </p:sp>
      <p:sp>
        <p:nvSpPr>
          <p:cNvPr id="28" name="Shape 26"/>
          <p:cNvSpPr/>
          <p:nvPr/>
        </p:nvSpPr>
        <p:spPr>
          <a:xfrm>
            <a:off x="6263640" y="3657600"/>
            <a:ext cx="5120640" cy="1417320"/>
          </a:xfrm>
          <a:prstGeom prst="roundRect">
            <a:avLst>
              <a:gd name="adj" fmla="val 5161"/>
            </a:avLst>
          </a:prstGeom>
          <a:solidFill>
            <a:srgbClr val="FFFFFF"/>
          </a:solidFill>
          <a:ln w="10160">
            <a:solidFill>
              <a:srgbClr val="DCE3EB"/>
            </a:solidFill>
            <a:prstDash val="solid"/>
          </a:ln>
        </p:spPr>
      </p:sp>
      <p:sp>
        <p:nvSpPr>
          <p:cNvPr id="29" name="Shape 27"/>
          <p:cNvSpPr/>
          <p:nvPr/>
        </p:nvSpPr>
        <p:spPr>
          <a:xfrm>
            <a:off x="6263640" y="3657600"/>
            <a:ext cx="73152" cy="1417320"/>
          </a:xfrm>
          <a:prstGeom prst="rect">
            <a:avLst>
              <a:gd name="adj" fmla="val 100000"/>
            </a:avLst>
          </a:prstGeom>
          <a:solidFill>
            <a:srgbClr val="D97706"/>
          </a:solidFill>
          <a:ln w="10160">
            <a:solidFill>
              <a:srgbClr val="D97706"/>
            </a:solidFill>
            <a:prstDash val="solid"/>
          </a:ln>
        </p:spPr>
      </p:sp>
      <p:sp>
        <p:nvSpPr>
          <p:cNvPr id="30" name="Text 28"/>
          <p:cNvSpPr txBox="1"/>
          <p:nvPr/>
        </p:nvSpPr>
        <p:spPr>
          <a:xfrm>
            <a:off x="6464808" y="3785616"/>
            <a:ext cx="477316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General Linux rule</a:t>
            </a:r>
            <a:endParaRPr lang="en-US" sz="1300" dirty="0"/>
          </a:p>
        </p:txBody>
      </p:sp>
      <p:sp>
        <p:nvSpPr>
          <p:cNvPr id="31" name="Text 29"/>
          <p:cNvSpPr txBox="1"/>
          <p:nvPr/>
        </p:nvSpPr>
        <p:spPr>
          <a:xfrm>
            <a:off x="6464808" y="4133088"/>
            <a:ext cx="4736592" cy="83210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If a partition exists, grow the partition first, then the filesystem. For XFS use xfs_growfs on the mounted filesystem. Inspect with lsblk -f before choosing commands.</a:t>
            </a:r>
            <a:endParaRPr lang="en-US" sz="1050" dirty="0"/>
          </a:p>
        </p:txBody>
      </p:sp>
      <p:sp>
        <p:nvSpPr>
          <p:cNvPr id="32" name="Shape 30"/>
          <p:cNvSpPr/>
          <p:nvPr/>
        </p:nvSpPr>
        <p:spPr>
          <a:xfrm>
            <a:off x="777240" y="5440680"/>
            <a:ext cx="10607040" cy="502920"/>
          </a:xfrm>
          <a:prstGeom prst="roundRect">
            <a:avLst>
              <a:gd name="adj" fmla="val 14545"/>
            </a:avLst>
          </a:prstGeom>
          <a:solidFill>
            <a:srgbClr val="FDEEEE"/>
          </a:solidFill>
          <a:ln w="10160">
            <a:solidFill>
              <a:srgbClr val="FDEEEE"/>
            </a:solidFill>
            <a:prstDash val="solid"/>
          </a:ln>
        </p:spPr>
      </p:sp>
      <p:sp>
        <p:nvSpPr>
          <p:cNvPr id="33" name="Text 31"/>
          <p:cNvSpPr txBox="1"/>
          <p:nvPr/>
        </p:nvSpPr>
        <p:spPr>
          <a:xfrm>
            <a:off x="923544" y="5513832"/>
            <a:ext cx="10314432" cy="35661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Never run mkfs again on a disk that already contains a filesystem or data. Persistent disks can be expanded; the lab guide does not reduce the disk back from 20 GB.</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OBJECT STORAGE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Cloud Storage: buckets contain objects, not mounted disks</a:t>
            </a:r>
            <a:endParaRPr lang="en-US" sz="2500" dirty="0"/>
          </a:p>
        </p:txBody>
      </p:sp>
      <p:sp>
        <p:nvSpPr>
          <p:cNvPr id="4" name="Shape 2"/>
          <p:cNvSpPr/>
          <p:nvPr/>
        </p:nvSpPr>
        <p:spPr>
          <a:xfrm>
            <a:off x="777240" y="1737360"/>
            <a:ext cx="3246120" cy="1417320"/>
          </a:xfrm>
          <a:prstGeom prst="roundRect">
            <a:avLst>
              <a:gd name="adj" fmla="val 5161"/>
            </a:avLst>
          </a:prstGeom>
          <a:solidFill>
            <a:srgbClr val="FFFFFF"/>
          </a:solidFill>
          <a:ln w="10160">
            <a:solidFill>
              <a:srgbClr val="DCE3EB"/>
            </a:solidFill>
            <a:prstDash val="solid"/>
          </a:ln>
        </p:spPr>
      </p:sp>
      <p:sp>
        <p:nvSpPr>
          <p:cNvPr id="5" name="Shape 3"/>
          <p:cNvSpPr/>
          <p:nvPr/>
        </p:nvSpPr>
        <p:spPr>
          <a:xfrm>
            <a:off x="777240" y="1737360"/>
            <a:ext cx="73152" cy="1417320"/>
          </a:xfrm>
          <a:prstGeom prst="rect">
            <a:avLst>
              <a:gd name="adj" fmla="val 100000"/>
            </a:avLst>
          </a:prstGeom>
          <a:solidFill>
            <a:srgbClr val="2878C8"/>
          </a:solidFill>
          <a:ln w="10160">
            <a:solidFill>
              <a:srgbClr val="2878C8"/>
            </a:solidFill>
            <a:prstDash val="solid"/>
          </a:ln>
        </p:spPr>
      </p:sp>
      <p:sp>
        <p:nvSpPr>
          <p:cNvPr id="6" name="Text 4"/>
          <p:cNvSpPr txBox="1"/>
          <p:nvPr/>
        </p:nvSpPr>
        <p:spPr>
          <a:xfrm>
            <a:off x="978408" y="1865376"/>
            <a:ext cx="2898648" cy="256032"/>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12304A"/>
                </a:solidFill>
                <a:latin typeface="Carlito" pitchFamily="34" charset="0"/>
                <a:ea typeface="Carlito" pitchFamily="34" charset="-122"/>
                <a:cs typeface="Carlito" pitchFamily="34" charset="-120"/>
              </a:rPr>
              <a:t>BUCKET</a:t>
            </a:r>
            <a:endParaRPr lang="en-US" sz="1400" dirty="0"/>
          </a:p>
        </p:txBody>
      </p:sp>
      <p:sp>
        <p:nvSpPr>
          <p:cNvPr id="7" name="Text 5"/>
          <p:cNvSpPr txBox="1"/>
          <p:nvPr/>
        </p:nvSpPr>
        <p:spPr>
          <a:xfrm>
            <a:off x="978408" y="2212848"/>
            <a:ext cx="2862072" cy="8321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A named container with location, storage class, IAM policy, encryption defaults and lifecycle controls.</a:t>
            </a:r>
            <a:endParaRPr lang="en-US" sz="1100" dirty="0"/>
          </a:p>
        </p:txBody>
      </p:sp>
      <p:sp>
        <p:nvSpPr>
          <p:cNvPr id="8" name="Shape 6"/>
          <p:cNvSpPr/>
          <p:nvPr/>
        </p:nvSpPr>
        <p:spPr>
          <a:xfrm>
            <a:off x="4480560" y="1737360"/>
            <a:ext cx="3246120" cy="1417320"/>
          </a:xfrm>
          <a:prstGeom prst="roundRect">
            <a:avLst>
              <a:gd name="adj" fmla="val 5161"/>
            </a:avLst>
          </a:prstGeom>
          <a:solidFill>
            <a:srgbClr val="FFFFFF"/>
          </a:solidFill>
          <a:ln w="10160">
            <a:solidFill>
              <a:srgbClr val="DCE3EB"/>
            </a:solidFill>
            <a:prstDash val="solid"/>
          </a:ln>
        </p:spPr>
      </p:sp>
      <p:sp>
        <p:nvSpPr>
          <p:cNvPr id="9" name="Shape 7"/>
          <p:cNvSpPr/>
          <p:nvPr/>
        </p:nvSpPr>
        <p:spPr>
          <a:xfrm>
            <a:off x="4480560" y="1737360"/>
            <a:ext cx="73152" cy="1417320"/>
          </a:xfrm>
          <a:prstGeom prst="rect">
            <a:avLst>
              <a:gd name="adj" fmla="val 100000"/>
            </a:avLst>
          </a:prstGeom>
          <a:solidFill>
            <a:srgbClr val="0D9488"/>
          </a:solidFill>
          <a:ln w="10160">
            <a:solidFill>
              <a:srgbClr val="0D9488"/>
            </a:solidFill>
            <a:prstDash val="solid"/>
          </a:ln>
        </p:spPr>
      </p:sp>
      <p:sp>
        <p:nvSpPr>
          <p:cNvPr id="10" name="Text 8"/>
          <p:cNvSpPr txBox="1"/>
          <p:nvPr/>
        </p:nvSpPr>
        <p:spPr>
          <a:xfrm>
            <a:off x="4681728" y="1865376"/>
            <a:ext cx="2898648" cy="256032"/>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12304A"/>
                </a:solidFill>
                <a:latin typeface="Carlito" pitchFamily="34" charset="0"/>
                <a:ea typeface="Carlito" pitchFamily="34" charset="-122"/>
                <a:cs typeface="Carlito" pitchFamily="34" charset="-120"/>
              </a:rPr>
              <a:t>OBJECT</a:t>
            </a:r>
            <a:endParaRPr lang="en-US" sz="1400" dirty="0"/>
          </a:p>
        </p:txBody>
      </p:sp>
      <p:sp>
        <p:nvSpPr>
          <p:cNvPr id="11" name="Text 9"/>
          <p:cNvSpPr txBox="1"/>
          <p:nvPr/>
        </p:nvSpPr>
        <p:spPr>
          <a:xfrm>
            <a:off x="4681728" y="2212848"/>
            <a:ext cx="2862072" cy="8321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A stored data object identified by object name / key. It is not a traditional filesystem path.</a:t>
            </a:r>
            <a:endParaRPr lang="en-US" sz="1100" dirty="0"/>
          </a:p>
        </p:txBody>
      </p:sp>
      <p:sp>
        <p:nvSpPr>
          <p:cNvPr id="12" name="Shape 10"/>
          <p:cNvSpPr/>
          <p:nvPr/>
        </p:nvSpPr>
        <p:spPr>
          <a:xfrm>
            <a:off x="8183880" y="1737360"/>
            <a:ext cx="3246120" cy="1417320"/>
          </a:xfrm>
          <a:prstGeom prst="roundRect">
            <a:avLst>
              <a:gd name="adj" fmla="val 5161"/>
            </a:avLst>
          </a:prstGeom>
          <a:solidFill>
            <a:srgbClr val="FFFFFF"/>
          </a:solidFill>
          <a:ln w="10160">
            <a:solidFill>
              <a:srgbClr val="DCE3EB"/>
            </a:solidFill>
            <a:prstDash val="solid"/>
          </a:ln>
        </p:spPr>
      </p:sp>
      <p:sp>
        <p:nvSpPr>
          <p:cNvPr id="13" name="Shape 11"/>
          <p:cNvSpPr/>
          <p:nvPr/>
        </p:nvSpPr>
        <p:spPr>
          <a:xfrm>
            <a:off x="8183880" y="1737360"/>
            <a:ext cx="73152" cy="1417320"/>
          </a:xfrm>
          <a:prstGeom prst="rect">
            <a:avLst>
              <a:gd name="adj" fmla="val 100000"/>
            </a:avLst>
          </a:prstGeom>
          <a:solidFill>
            <a:srgbClr val="D97706"/>
          </a:solidFill>
          <a:ln w="10160">
            <a:solidFill>
              <a:srgbClr val="D97706"/>
            </a:solidFill>
            <a:prstDash val="solid"/>
          </a:ln>
        </p:spPr>
      </p:sp>
      <p:sp>
        <p:nvSpPr>
          <p:cNvPr id="14" name="Text 12"/>
          <p:cNvSpPr txBox="1"/>
          <p:nvPr/>
        </p:nvSpPr>
        <p:spPr>
          <a:xfrm>
            <a:off x="8385048" y="1865376"/>
            <a:ext cx="2898648" cy="256032"/>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12304A"/>
                </a:solidFill>
                <a:latin typeface="Carlito" pitchFamily="34" charset="0"/>
                <a:ea typeface="Carlito" pitchFamily="34" charset="-122"/>
                <a:cs typeface="Carlito" pitchFamily="34" charset="-120"/>
              </a:rPr>
              <a:t>IAM POLICY</a:t>
            </a:r>
            <a:endParaRPr lang="en-US" sz="1400" dirty="0"/>
          </a:p>
        </p:txBody>
      </p:sp>
      <p:sp>
        <p:nvSpPr>
          <p:cNvPr id="15" name="Text 13"/>
          <p:cNvSpPr txBox="1"/>
          <p:nvPr/>
        </p:nvSpPr>
        <p:spPr>
          <a:xfrm>
            <a:off x="8385048" y="2212848"/>
            <a:ext cx="2862072" cy="83210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Principals receive roles that contain permissions. Public access may be granted by allUsers if policy allows.</a:t>
            </a:r>
            <a:endParaRPr lang="en-US" sz="1100" dirty="0"/>
          </a:p>
        </p:txBody>
      </p:sp>
      <p:sp>
        <p:nvSpPr>
          <p:cNvPr id="16" name="Text 14"/>
          <p:cNvSpPr txBox="1"/>
          <p:nvPr/>
        </p:nvSpPr>
        <p:spPr>
          <a:xfrm>
            <a:off x="868680" y="3703320"/>
            <a:ext cx="3200400" cy="201168"/>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2878C8"/>
                </a:solidFill>
                <a:latin typeface="Carlito" pitchFamily="34" charset="0"/>
                <a:ea typeface="Carlito" pitchFamily="34" charset="-122"/>
                <a:cs typeface="Carlito" pitchFamily="34" charset="-120"/>
              </a:rPr>
              <a:t>THE DAY 6 OBJECT</a:t>
            </a:r>
            <a:endParaRPr lang="en-US" sz="1000" dirty="0"/>
          </a:p>
        </p:txBody>
      </p:sp>
      <p:sp>
        <p:nvSpPr>
          <p:cNvPr id="17" name="Shape 15"/>
          <p:cNvSpPr/>
          <p:nvPr/>
        </p:nvSpPr>
        <p:spPr>
          <a:xfrm>
            <a:off x="868680" y="4005072"/>
            <a:ext cx="10378440" cy="530352"/>
          </a:xfrm>
          <a:prstGeom prst="roundRect">
            <a:avLst>
              <a:gd name="adj" fmla="val 13793"/>
            </a:avLst>
          </a:prstGeom>
          <a:solidFill>
            <a:srgbClr val="10263B"/>
          </a:solidFill>
          <a:ln w="10160">
            <a:solidFill>
              <a:srgbClr val="10263B"/>
            </a:solidFill>
            <a:prstDash val="solid"/>
          </a:ln>
        </p:spPr>
      </p:sp>
      <p:sp>
        <p:nvSpPr>
          <p:cNvPr id="18" name="Text 16"/>
          <p:cNvSpPr txBox="1"/>
          <p:nvPr/>
        </p:nvSpPr>
        <p:spPr>
          <a:xfrm>
            <a:off x="1014984" y="4114800"/>
            <a:ext cx="10085832" cy="310896"/>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E7F0F8"/>
                </a:solidFill>
                <a:latin typeface="DejaVu Sans Mono" pitchFamily="34" charset="0"/>
                <a:ea typeface="DejaVu Sans Mono" pitchFamily="34" charset="-122"/>
                <a:cs typeface="DejaVu Sans Mono" pitchFamily="34" charset="-120"/>
              </a:rPr>
              <a:t>gs://&lt;day6-bucket&gt;/internal-reports/day6-synthetic-report.txt</a:t>
            </a:r>
            <a:endParaRPr lang="en-US" sz="1100" dirty="0"/>
          </a:p>
        </p:txBody>
      </p:sp>
      <p:sp>
        <p:nvSpPr>
          <p:cNvPr id="19" name="Text 17"/>
          <p:cNvSpPr txBox="1"/>
          <p:nvPr/>
        </p:nvSpPr>
        <p:spPr>
          <a:xfrm>
            <a:off x="868680" y="4800600"/>
            <a:ext cx="10241280" cy="960120"/>
          </a:xfrm>
          <a:prstGeom prst="rect">
            <a:avLst/>
          </a:prstGeom>
          <a:noFill/>
          <a:ln/>
        </p:spPr>
        <p:txBody>
          <a:bodyPr wrap="square" lIns="254" tIns="254" rIns="254" bIns="254"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The baseline bucket starts private.</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The exercise temporarily grants allUsers Storage Object Viewer only if organization policy permits.</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Lockdown removes allUsers; an unauthenticated HTTP request should then return 403/401.</a:t>
            </a:r>
            <a:endParaRPr lang="en-US" sz="120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OBJECT STORAGE SECURITY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A public IAM grant can still be blocked by a higher-level guardrail</a:t>
            </a:r>
            <a:endParaRPr lang="en-US" sz="2500" dirty="0"/>
          </a:p>
        </p:txBody>
      </p:sp>
      <p:sp>
        <p:nvSpPr>
          <p:cNvPr id="4" name="Shape 2"/>
          <p:cNvSpPr/>
          <p:nvPr/>
        </p:nvSpPr>
        <p:spPr>
          <a:xfrm>
            <a:off x="731520" y="1874520"/>
            <a:ext cx="2331720" cy="1097280"/>
          </a:xfrm>
          <a:prstGeom prst="roundRect">
            <a:avLst>
              <a:gd name="adj" fmla="val 6667"/>
            </a:avLst>
          </a:prstGeom>
          <a:solidFill>
            <a:srgbClr val="E9F7F0"/>
          </a:solidFill>
          <a:ln w="10160">
            <a:solidFill>
              <a:srgbClr val="DCE3EB"/>
            </a:solidFill>
            <a:prstDash val="solid"/>
          </a:ln>
        </p:spPr>
      </p:sp>
      <p:sp>
        <p:nvSpPr>
          <p:cNvPr id="5" name="Text 3"/>
          <p:cNvSpPr txBox="1"/>
          <p:nvPr/>
        </p:nvSpPr>
        <p:spPr>
          <a:xfrm>
            <a:off x="822960" y="2057400"/>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6A36A"/>
                </a:solidFill>
                <a:latin typeface="Carlito" pitchFamily="34" charset="0"/>
                <a:ea typeface="Carlito" pitchFamily="34" charset="-122"/>
                <a:cs typeface="Carlito" pitchFamily="34" charset="-120"/>
              </a:rPr>
              <a:t>ALLOW</a:t>
            </a:r>
            <a:endParaRPr lang="en-US" sz="1100" dirty="0"/>
          </a:p>
        </p:txBody>
      </p:sp>
      <p:sp>
        <p:nvSpPr>
          <p:cNvPr id="6" name="Text 4"/>
          <p:cNvSpPr txBox="1"/>
          <p:nvPr/>
        </p:nvSpPr>
        <p:spPr>
          <a:xfrm>
            <a:off x="841248" y="2395728"/>
            <a:ext cx="2112264" cy="365760"/>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allUsers + Storage Object Viewer</a:t>
            </a:r>
            <a:endParaRPr lang="en-US" sz="1000" dirty="0"/>
          </a:p>
        </p:txBody>
      </p:sp>
      <p:sp>
        <p:nvSpPr>
          <p:cNvPr id="7" name="Shape 5"/>
          <p:cNvSpPr/>
          <p:nvPr/>
        </p:nvSpPr>
        <p:spPr>
          <a:xfrm>
            <a:off x="3090672" y="2423160"/>
            <a:ext cx="338328" cy="0"/>
          </a:xfrm>
          <a:prstGeom prst="line">
            <a:avLst/>
          </a:prstGeom>
          <a:noFill/>
          <a:ln w="17780">
            <a:solidFill>
              <a:srgbClr val="0D9488"/>
            </a:solidFill>
            <a:prstDash val="solid"/>
            <a:tailEnd type="triangle"/>
          </a:ln>
        </p:spPr>
      </p:sp>
      <p:sp>
        <p:nvSpPr>
          <p:cNvPr id="8" name="Shape 6"/>
          <p:cNvSpPr/>
          <p:nvPr/>
        </p:nvSpPr>
        <p:spPr>
          <a:xfrm>
            <a:off x="3520440" y="1874520"/>
            <a:ext cx="2331720" cy="1097280"/>
          </a:xfrm>
          <a:prstGeom prst="roundRect">
            <a:avLst>
              <a:gd name="adj" fmla="val 6667"/>
            </a:avLst>
          </a:prstGeom>
          <a:solidFill>
            <a:srgbClr val="FFF5E6"/>
          </a:solidFill>
          <a:ln w="10160">
            <a:solidFill>
              <a:srgbClr val="DCE3EB"/>
            </a:solidFill>
            <a:prstDash val="solid"/>
          </a:ln>
        </p:spPr>
      </p:sp>
      <p:sp>
        <p:nvSpPr>
          <p:cNvPr id="9" name="Text 7"/>
          <p:cNvSpPr txBox="1"/>
          <p:nvPr/>
        </p:nvSpPr>
        <p:spPr>
          <a:xfrm>
            <a:off x="3611880" y="2057400"/>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D97706"/>
                </a:solidFill>
                <a:latin typeface="Carlito" pitchFamily="34" charset="0"/>
                <a:ea typeface="Carlito" pitchFamily="34" charset="-122"/>
                <a:cs typeface="Carlito" pitchFamily="34" charset="-120"/>
              </a:rPr>
              <a:t>GUARDRAIL</a:t>
            </a:r>
            <a:endParaRPr lang="en-US" sz="1100" dirty="0"/>
          </a:p>
        </p:txBody>
      </p:sp>
      <p:sp>
        <p:nvSpPr>
          <p:cNvPr id="10" name="Text 8"/>
          <p:cNvSpPr txBox="1"/>
          <p:nvPr/>
        </p:nvSpPr>
        <p:spPr>
          <a:xfrm>
            <a:off x="3630168" y="2395728"/>
            <a:ext cx="2112264" cy="365760"/>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Public Access Prevention / org policy</a:t>
            </a:r>
            <a:endParaRPr lang="en-US" sz="1000" dirty="0"/>
          </a:p>
        </p:txBody>
      </p:sp>
      <p:sp>
        <p:nvSpPr>
          <p:cNvPr id="11" name="Shape 9"/>
          <p:cNvSpPr/>
          <p:nvPr/>
        </p:nvSpPr>
        <p:spPr>
          <a:xfrm>
            <a:off x="5879592" y="2423160"/>
            <a:ext cx="338328" cy="0"/>
          </a:xfrm>
          <a:prstGeom prst="line">
            <a:avLst/>
          </a:prstGeom>
          <a:noFill/>
          <a:ln w="17780">
            <a:solidFill>
              <a:srgbClr val="0D9488"/>
            </a:solidFill>
            <a:prstDash val="solid"/>
            <a:tailEnd type="triangle"/>
          </a:ln>
        </p:spPr>
      </p:sp>
      <p:sp>
        <p:nvSpPr>
          <p:cNvPr id="12" name="Shape 10"/>
          <p:cNvSpPr/>
          <p:nvPr/>
        </p:nvSpPr>
        <p:spPr>
          <a:xfrm>
            <a:off x="6309360" y="1874520"/>
            <a:ext cx="2331720" cy="1097280"/>
          </a:xfrm>
          <a:prstGeom prst="roundRect">
            <a:avLst>
              <a:gd name="adj" fmla="val 6667"/>
            </a:avLst>
          </a:prstGeom>
          <a:solidFill>
            <a:srgbClr val="EAF3FC"/>
          </a:solidFill>
          <a:ln w="10160">
            <a:solidFill>
              <a:srgbClr val="DCE3EB"/>
            </a:solidFill>
            <a:prstDash val="solid"/>
          </a:ln>
        </p:spPr>
      </p:sp>
      <p:sp>
        <p:nvSpPr>
          <p:cNvPr id="13" name="Text 11"/>
          <p:cNvSpPr txBox="1"/>
          <p:nvPr/>
        </p:nvSpPr>
        <p:spPr>
          <a:xfrm>
            <a:off x="6400800" y="2057400"/>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2878C8"/>
                </a:solidFill>
                <a:latin typeface="Carlito" pitchFamily="34" charset="0"/>
                <a:ea typeface="Carlito" pitchFamily="34" charset="-122"/>
                <a:cs typeface="Carlito" pitchFamily="34" charset="-120"/>
              </a:rPr>
              <a:t>REQUEST</a:t>
            </a:r>
            <a:endParaRPr lang="en-US" sz="1100" dirty="0"/>
          </a:p>
        </p:txBody>
      </p:sp>
      <p:sp>
        <p:nvSpPr>
          <p:cNvPr id="14" name="Text 12"/>
          <p:cNvSpPr txBox="1"/>
          <p:nvPr/>
        </p:nvSpPr>
        <p:spPr>
          <a:xfrm>
            <a:off x="6419088" y="2395728"/>
            <a:ext cx="2112264" cy="365760"/>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Unauthenticated curl / HTTP</a:t>
            </a:r>
            <a:endParaRPr lang="en-US" sz="1000" dirty="0"/>
          </a:p>
        </p:txBody>
      </p:sp>
      <p:sp>
        <p:nvSpPr>
          <p:cNvPr id="15" name="Shape 13"/>
          <p:cNvSpPr/>
          <p:nvPr/>
        </p:nvSpPr>
        <p:spPr>
          <a:xfrm>
            <a:off x="8668512" y="2423160"/>
            <a:ext cx="338328" cy="0"/>
          </a:xfrm>
          <a:prstGeom prst="line">
            <a:avLst/>
          </a:prstGeom>
          <a:noFill/>
          <a:ln w="17780">
            <a:solidFill>
              <a:srgbClr val="0D9488"/>
            </a:solidFill>
            <a:prstDash val="solid"/>
            <a:tailEnd type="triangle"/>
          </a:ln>
        </p:spPr>
      </p:sp>
      <p:sp>
        <p:nvSpPr>
          <p:cNvPr id="16" name="Shape 14"/>
          <p:cNvSpPr/>
          <p:nvPr/>
        </p:nvSpPr>
        <p:spPr>
          <a:xfrm>
            <a:off x="9098280" y="1874520"/>
            <a:ext cx="2331720" cy="1097280"/>
          </a:xfrm>
          <a:prstGeom prst="roundRect">
            <a:avLst>
              <a:gd name="adj" fmla="val 6667"/>
            </a:avLst>
          </a:prstGeom>
          <a:solidFill>
            <a:srgbClr val="FDEEEE"/>
          </a:solidFill>
          <a:ln w="10160">
            <a:solidFill>
              <a:srgbClr val="DCE3EB"/>
            </a:solidFill>
            <a:prstDash val="solid"/>
          </a:ln>
        </p:spPr>
      </p:sp>
      <p:sp>
        <p:nvSpPr>
          <p:cNvPr id="17" name="Text 15"/>
          <p:cNvSpPr txBox="1"/>
          <p:nvPr/>
        </p:nvSpPr>
        <p:spPr>
          <a:xfrm>
            <a:off x="9189720" y="2057400"/>
            <a:ext cx="2148840"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D94F4F"/>
                </a:solidFill>
                <a:latin typeface="Carlito" pitchFamily="34" charset="0"/>
                <a:ea typeface="Carlito" pitchFamily="34" charset="-122"/>
                <a:cs typeface="Carlito" pitchFamily="34" charset="-120"/>
              </a:rPr>
              <a:t>OUTCOME</a:t>
            </a:r>
            <a:endParaRPr lang="en-US" sz="1100" dirty="0"/>
          </a:p>
        </p:txBody>
      </p:sp>
      <p:sp>
        <p:nvSpPr>
          <p:cNvPr id="18" name="Text 16"/>
          <p:cNvSpPr txBox="1"/>
          <p:nvPr/>
        </p:nvSpPr>
        <p:spPr>
          <a:xfrm>
            <a:off x="9208008" y="2395728"/>
            <a:ext cx="2112264" cy="365760"/>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Policy can reject public access</a:t>
            </a:r>
            <a:endParaRPr lang="en-US" sz="1000" dirty="0"/>
          </a:p>
        </p:txBody>
      </p:sp>
      <p:sp>
        <p:nvSpPr>
          <p:cNvPr id="19" name="Shape 17"/>
          <p:cNvSpPr/>
          <p:nvPr/>
        </p:nvSpPr>
        <p:spPr>
          <a:xfrm>
            <a:off x="731520" y="3657600"/>
            <a:ext cx="1497787" cy="384048"/>
          </a:xfrm>
          <a:prstGeom prst="rect">
            <a:avLst/>
          </a:prstGeom>
          <a:solidFill>
            <a:srgbClr val="12304A"/>
          </a:solidFill>
          <a:ln w="6350">
            <a:solidFill>
              <a:srgbClr val="D5DEE8"/>
            </a:solidFill>
            <a:prstDash val="solid"/>
          </a:ln>
        </p:spPr>
      </p:sp>
      <p:sp>
        <p:nvSpPr>
          <p:cNvPr id="20" name="Text 18"/>
          <p:cNvSpPr txBox="1"/>
          <p:nvPr/>
        </p:nvSpPr>
        <p:spPr>
          <a:xfrm>
            <a:off x="795528" y="3694176"/>
            <a:ext cx="1369771"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CLOUD</a:t>
            </a:r>
            <a:endParaRPr lang="en-US" sz="950" dirty="0"/>
          </a:p>
        </p:txBody>
      </p:sp>
      <p:sp>
        <p:nvSpPr>
          <p:cNvPr id="21" name="Shape 19"/>
          <p:cNvSpPr/>
          <p:nvPr/>
        </p:nvSpPr>
        <p:spPr>
          <a:xfrm>
            <a:off x="2229307" y="3657600"/>
            <a:ext cx="3637483" cy="384048"/>
          </a:xfrm>
          <a:prstGeom prst="rect">
            <a:avLst/>
          </a:prstGeom>
          <a:solidFill>
            <a:srgbClr val="12304A"/>
          </a:solidFill>
          <a:ln w="6350">
            <a:solidFill>
              <a:srgbClr val="D5DEE8"/>
            </a:solidFill>
            <a:prstDash val="solid"/>
          </a:ln>
        </p:spPr>
      </p:sp>
      <p:sp>
        <p:nvSpPr>
          <p:cNvPr id="22" name="Text 20"/>
          <p:cNvSpPr txBox="1"/>
          <p:nvPr/>
        </p:nvSpPr>
        <p:spPr>
          <a:xfrm>
            <a:off x="2293315" y="3694176"/>
            <a:ext cx="3509467"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PUBLIC ACCESS GUARDRAIL</a:t>
            </a:r>
            <a:endParaRPr lang="en-US" sz="950" dirty="0"/>
          </a:p>
        </p:txBody>
      </p:sp>
      <p:sp>
        <p:nvSpPr>
          <p:cNvPr id="23" name="Shape 21"/>
          <p:cNvSpPr/>
          <p:nvPr/>
        </p:nvSpPr>
        <p:spPr>
          <a:xfrm>
            <a:off x="5866790" y="3657600"/>
            <a:ext cx="5563210" cy="384048"/>
          </a:xfrm>
          <a:prstGeom prst="rect">
            <a:avLst/>
          </a:prstGeom>
          <a:solidFill>
            <a:srgbClr val="12304A"/>
          </a:solidFill>
          <a:ln w="6350">
            <a:solidFill>
              <a:srgbClr val="D5DEE8"/>
            </a:solidFill>
            <a:prstDash val="solid"/>
          </a:ln>
        </p:spPr>
      </p:sp>
      <p:sp>
        <p:nvSpPr>
          <p:cNvPr id="24" name="Text 22"/>
          <p:cNvSpPr txBox="1"/>
          <p:nvPr/>
        </p:nvSpPr>
        <p:spPr>
          <a:xfrm>
            <a:off x="5930798" y="3694176"/>
            <a:ext cx="5435194"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WHAT IT DOES</a:t>
            </a:r>
            <a:endParaRPr lang="en-US" sz="950" dirty="0"/>
          </a:p>
        </p:txBody>
      </p:sp>
      <p:sp>
        <p:nvSpPr>
          <p:cNvPr id="25" name="Shape 23"/>
          <p:cNvSpPr/>
          <p:nvPr/>
        </p:nvSpPr>
        <p:spPr>
          <a:xfrm>
            <a:off x="731520" y="4041648"/>
            <a:ext cx="1497787" cy="405384"/>
          </a:xfrm>
          <a:prstGeom prst="rect">
            <a:avLst/>
          </a:prstGeom>
          <a:solidFill>
            <a:srgbClr val="FFFFFF"/>
          </a:solidFill>
          <a:ln w="6350">
            <a:solidFill>
              <a:srgbClr val="D5DEE8"/>
            </a:solidFill>
            <a:prstDash val="solid"/>
          </a:ln>
        </p:spPr>
      </p:sp>
      <p:sp>
        <p:nvSpPr>
          <p:cNvPr id="26" name="Text 24"/>
          <p:cNvSpPr txBox="1"/>
          <p:nvPr/>
        </p:nvSpPr>
        <p:spPr>
          <a:xfrm>
            <a:off x="795528" y="4078224"/>
            <a:ext cx="1369771"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GCP</a:t>
            </a:r>
            <a:endParaRPr lang="en-US" sz="950" dirty="0"/>
          </a:p>
        </p:txBody>
      </p:sp>
      <p:sp>
        <p:nvSpPr>
          <p:cNvPr id="27" name="Shape 25"/>
          <p:cNvSpPr/>
          <p:nvPr/>
        </p:nvSpPr>
        <p:spPr>
          <a:xfrm>
            <a:off x="2229307" y="4041648"/>
            <a:ext cx="3637483" cy="405384"/>
          </a:xfrm>
          <a:prstGeom prst="rect">
            <a:avLst/>
          </a:prstGeom>
          <a:solidFill>
            <a:srgbClr val="FFFFFF"/>
          </a:solidFill>
          <a:ln w="6350">
            <a:solidFill>
              <a:srgbClr val="D5DEE8"/>
            </a:solidFill>
            <a:prstDash val="solid"/>
          </a:ln>
        </p:spPr>
      </p:sp>
      <p:sp>
        <p:nvSpPr>
          <p:cNvPr id="28" name="Text 26"/>
          <p:cNvSpPr txBox="1"/>
          <p:nvPr/>
        </p:nvSpPr>
        <p:spPr>
          <a:xfrm>
            <a:off x="2293315" y="4078224"/>
            <a:ext cx="3509467"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Public Access Prevention</a:t>
            </a:r>
            <a:endParaRPr lang="en-US" sz="950" dirty="0"/>
          </a:p>
        </p:txBody>
      </p:sp>
      <p:sp>
        <p:nvSpPr>
          <p:cNvPr id="29" name="Shape 27"/>
          <p:cNvSpPr/>
          <p:nvPr/>
        </p:nvSpPr>
        <p:spPr>
          <a:xfrm>
            <a:off x="5866790" y="4041648"/>
            <a:ext cx="5563210" cy="405384"/>
          </a:xfrm>
          <a:prstGeom prst="rect">
            <a:avLst/>
          </a:prstGeom>
          <a:solidFill>
            <a:srgbClr val="FFFFFF"/>
          </a:solidFill>
          <a:ln w="6350">
            <a:solidFill>
              <a:srgbClr val="D5DEE8"/>
            </a:solidFill>
            <a:prstDash val="solid"/>
          </a:ln>
        </p:spPr>
      </p:sp>
      <p:sp>
        <p:nvSpPr>
          <p:cNvPr id="30" name="Text 28"/>
          <p:cNvSpPr txBox="1"/>
          <p:nvPr/>
        </p:nvSpPr>
        <p:spPr>
          <a:xfrm>
            <a:off x="5930798" y="4078224"/>
            <a:ext cx="5435194"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Prevents public access at bucket or org-policy scope; can override allUsers binding.</a:t>
            </a:r>
            <a:endParaRPr lang="en-US" sz="950" dirty="0"/>
          </a:p>
        </p:txBody>
      </p:sp>
      <p:sp>
        <p:nvSpPr>
          <p:cNvPr id="31" name="Shape 29"/>
          <p:cNvSpPr/>
          <p:nvPr/>
        </p:nvSpPr>
        <p:spPr>
          <a:xfrm>
            <a:off x="731520" y="4447032"/>
            <a:ext cx="1497787" cy="405384"/>
          </a:xfrm>
          <a:prstGeom prst="rect">
            <a:avLst/>
          </a:prstGeom>
          <a:solidFill>
            <a:srgbClr val="F1F5F9"/>
          </a:solidFill>
          <a:ln w="6350">
            <a:solidFill>
              <a:srgbClr val="D5DEE8"/>
            </a:solidFill>
            <a:prstDash val="solid"/>
          </a:ln>
        </p:spPr>
      </p:sp>
      <p:sp>
        <p:nvSpPr>
          <p:cNvPr id="32" name="Text 30"/>
          <p:cNvSpPr txBox="1"/>
          <p:nvPr/>
        </p:nvSpPr>
        <p:spPr>
          <a:xfrm>
            <a:off x="795528" y="4483608"/>
            <a:ext cx="1369771"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AWS</a:t>
            </a:r>
            <a:endParaRPr lang="en-US" sz="950" dirty="0"/>
          </a:p>
        </p:txBody>
      </p:sp>
      <p:sp>
        <p:nvSpPr>
          <p:cNvPr id="33" name="Shape 31"/>
          <p:cNvSpPr/>
          <p:nvPr/>
        </p:nvSpPr>
        <p:spPr>
          <a:xfrm>
            <a:off x="2229307" y="4447032"/>
            <a:ext cx="3637483" cy="405384"/>
          </a:xfrm>
          <a:prstGeom prst="rect">
            <a:avLst/>
          </a:prstGeom>
          <a:solidFill>
            <a:srgbClr val="F1F5F9"/>
          </a:solidFill>
          <a:ln w="6350">
            <a:solidFill>
              <a:srgbClr val="D5DEE8"/>
            </a:solidFill>
            <a:prstDash val="solid"/>
          </a:ln>
        </p:spPr>
      </p:sp>
      <p:sp>
        <p:nvSpPr>
          <p:cNvPr id="34" name="Text 32"/>
          <p:cNvSpPr txBox="1"/>
          <p:nvPr/>
        </p:nvSpPr>
        <p:spPr>
          <a:xfrm>
            <a:off x="2293315" y="4483608"/>
            <a:ext cx="3509467"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S3 Block Public Access</a:t>
            </a:r>
            <a:endParaRPr lang="en-US" sz="950" dirty="0"/>
          </a:p>
        </p:txBody>
      </p:sp>
      <p:sp>
        <p:nvSpPr>
          <p:cNvPr id="35" name="Shape 33"/>
          <p:cNvSpPr/>
          <p:nvPr/>
        </p:nvSpPr>
        <p:spPr>
          <a:xfrm>
            <a:off x="5866790" y="4447032"/>
            <a:ext cx="5563210" cy="405384"/>
          </a:xfrm>
          <a:prstGeom prst="rect">
            <a:avLst/>
          </a:prstGeom>
          <a:solidFill>
            <a:srgbClr val="F1F5F9"/>
          </a:solidFill>
          <a:ln w="6350">
            <a:solidFill>
              <a:srgbClr val="D5DEE8"/>
            </a:solidFill>
            <a:prstDash val="solid"/>
          </a:ln>
        </p:spPr>
      </p:sp>
      <p:sp>
        <p:nvSpPr>
          <p:cNvPr id="36" name="Text 34"/>
          <p:cNvSpPr txBox="1"/>
          <p:nvPr/>
        </p:nvSpPr>
        <p:spPr>
          <a:xfrm>
            <a:off x="5930798" y="4483608"/>
            <a:ext cx="5435194"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Account / bucket / access point / organization-level settings can reject public policies/ACLs.</a:t>
            </a:r>
            <a:endParaRPr lang="en-US" sz="950" dirty="0"/>
          </a:p>
        </p:txBody>
      </p:sp>
      <p:sp>
        <p:nvSpPr>
          <p:cNvPr id="37" name="Shape 35"/>
          <p:cNvSpPr/>
          <p:nvPr/>
        </p:nvSpPr>
        <p:spPr>
          <a:xfrm>
            <a:off x="731520" y="4852416"/>
            <a:ext cx="1497787" cy="405384"/>
          </a:xfrm>
          <a:prstGeom prst="rect">
            <a:avLst/>
          </a:prstGeom>
          <a:solidFill>
            <a:srgbClr val="FFFFFF"/>
          </a:solidFill>
          <a:ln w="6350">
            <a:solidFill>
              <a:srgbClr val="D5DEE8"/>
            </a:solidFill>
            <a:prstDash val="solid"/>
          </a:ln>
        </p:spPr>
      </p:sp>
      <p:sp>
        <p:nvSpPr>
          <p:cNvPr id="38" name="Text 36"/>
          <p:cNvSpPr txBox="1"/>
          <p:nvPr/>
        </p:nvSpPr>
        <p:spPr>
          <a:xfrm>
            <a:off x="795528" y="4888992"/>
            <a:ext cx="1369771"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AZURE</a:t>
            </a:r>
            <a:endParaRPr lang="en-US" sz="950" dirty="0"/>
          </a:p>
        </p:txBody>
      </p:sp>
      <p:sp>
        <p:nvSpPr>
          <p:cNvPr id="39" name="Shape 37"/>
          <p:cNvSpPr/>
          <p:nvPr/>
        </p:nvSpPr>
        <p:spPr>
          <a:xfrm>
            <a:off x="2229307" y="4852416"/>
            <a:ext cx="3637483" cy="405384"/>
          </a:xfrm>
          <a:prstGeom prst="rect">
            <a:avLst/>
          </a:prstGeom>
          <a:solidFill>
            <a:srgbClr val="FFFFFF"/>
          </a:solidFill>
          <a:ln w="6350">
            <a:solidFill>
              <a:srgbClr val="D5DEE8"/>
            </a:solidFill>
            <a:prstDash val="solid"/>
          </a:ln>
        </p:spPr>
      </p:sp>
      <p:sp>
        <p:nvSpPr>
          <p:cNvPr id="40" name="Text 38"/>
          <p:cNvSpPr txBox="1"/>
          <p:nvPr/>
        </p:nvSpPr>
        <p:spPr>
          <a:xfrm>
            <a:off x="2293315" y="4888992"/>
            <a:ext cx="3509467"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Storage account AllowBlobPublicAccess</a:t>
            </a:r>
            <a:endParaRPr lang="en-US" sz="950" dirty="0"/>
          </a:p>
        </p:txBody>
      </p:sp>
      <p:sp>
        <p:nvSpPr>
          <p:cNvPr id="41" name="Shape 39"/>
          <p:cNvSpPr/>
          <p:nvPr/>
        </p:nvSpPr>
        <p:spPr>
          <a:xfrm>
            <a:off x="5866790" y="4852416"/>
            <a:ext cx="5563210" cy="405384"/>
          </a:xfrm>
          <a:prstGeom prst="rect">
            <a:avLst/>
          </a:prstGeom>
          <a:solidFill>
            <a:srgbClr val="FFFFFF"/>
          </a:solidFill>
          <a:ln w="6350">
            <a:solidFill>
              <a:srgbClr val="D5DEE8"/>
            </a:solidFill>
            <a:prstDash val="solid"/>
          </a:ln>
        </p:spPr>
      </p:sp>
      <p:sp>
        <p:nvSpPr>
          <p:cNvPr id="42" name="Text 40"/>
          <p:cNvSpPr txBox="1"/>
          <p:nvPr/>
        </p:nvSpPr>
        <p:spPr>
          <a:xfrm>
            <a:off x="5930798" y="4888992"/>
            <a:ext cx="5435194" cy="332232"/>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Account setting can prohibit anonymous blob/container access, regardless of container setting.</a:t>
            </a:r>
            <a:endParaRPr lang="en-US" sz="950" dirty="0"/>
          </a:p>
        </p:txBody>
      </p:sp>
      <p:sp>
        <p:nvSpPr>
          <p:cNvPr id="43" name="Shape 41"/>
          <p:cNvSpPr/>
          <p:nvPr/>
        </p:nvSpPr>
        <p:spPr>
          <a:xfrm>
            <a:off x="822960" y="5577840"/>
            <a:ext cx="10515600" cy="457200"/>
          </a:xfrm>
          <a:prstGeom prst="roundRect">
            <a:avLst>
              <a:gd name="adj" fmla="val 16000"/>
            </a:avLst>
          </a:prstGeom>
          <a:solidFill>
            <a:srgbClr val="FDEEEE"/>
          </a:solidFill>
          <a:ln w="10160">
            <a:solidFill>
              <a:srgbClr val="FDEEEE"/>
            </a:solidFill>
            <a:prstDash val="solid"/>
          </a:ln>
        </p:spPr>
      </p:sp>
      <p:sp>
        <p:nvSpPr>
          <p:cNvPr id="44" name="Text 42"/>
          <p:cNvSpPr txBox="1"/>
          <p:nvPr/>
        </p:nvSpPr>
        <p:spPr>
          <a:xfrm>
            <a:off x="969264" y="5650992"/>
            <a:ext cx="1022299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If the lab organization enforces public access prevention, do not weaken it. Record “public access prevented by policy”; do not claim the public-exposure phase succeeded.</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STORAGE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Object storage comparison</a:t>
            </a:r>
            <a:endParaRPr lang="en-US" sz="2500" dirty="0"/>
          </a:p>
        </p:txBody>
      </p:sp>
      <p:sp>
        <p:nvSpPr>
          <p:cNvPr id="4" name="Shape 2"/>
          <p:cNvSpPr/>
          <p:nvPr/>
        </p:nvSpPr>
        <p:spPr>
          <a:xfrm>
            <a:off x="594360" y="1645920"/>
            <a:ext cx="2194560" cy="384048"/>
          </a:xfrm>
          <a:prstGeom prst="rect">
            <a:avLst/>
          </a:prstGeom>
          <a:solidFill>
            <a:srgbClr val="12304A"/>
          </a:solidFill>
          <a:ln w="6350">
            <a:solidFill>
              <a:srgbClr val="D5DEE8"/>
            </a:solidFill>
            <a:prstDash val="solid"/>
          </a:ln>
        </p:spPr>
      </p:sp>
      <p:sp>
        <p:nvSpPr>
          <p:cNvPr id="5" name="Text 3"/>
          <p:cNvSpPr txBox="1"/>
          <p:nvPr/>
        </p:nvSpPr>
        <p:spPr>
          <a:xfrm>
            <a:off x="658368" y="1682496"/>
            <a:ext cx="2066544"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DIMENSION</a:t>
            </a:r>
            <a:endParaRPr lang="en-US" sz="950" dirty="0"/>
          </a:p>
        </p:txBody>
      </p:sp>
      <p:sp>
        <p:nvSpPr>
          <p:cNvPr id="6" name="Shape 4"/>
          <p:cNvSpPr/>
          <p:nvPr/>
        </p:nvSpPr>
        <p:spPr>
          <a:xfrm>
            <a:off x="2788920" y="1645920"/>
            <a:ext cx="2962656" cy="384048"/>
          </a:xfrm>
          <a:prstGeom prst="rect">
            <a:avLst/>
          </a:prstGeom>
          <a:solidFill>
            <a:srgbClr val="12304A"/>
          </a:solidFill>
          <a:ln w="6350">
            <a:solidFill>
              <a:srgbClr val="D5DEE8"/>
            </a:solidFill>
            <a:prstDash val="solid"/>
          </a:ln>
        </p:spPr>
      </p:sp>
      <p:sp>
        <p:nvSpPr>
          <p:cNvPr id="7" name="Text 5"/>
          <p:cNvSpPr txBox="1"/>
          <p:nvPr/>
        </p:nvSpPr>
        <p:spPr>
          <a:xfrm>
            <a:off x="2852928" y="1682496"/>
            <a:ext cx="2834640"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GOOGLE CLOUD</a:t>
            </a:r>
            <a:endParaRPr lang="en-US" sz="950" dirty="0"/>
          </a:p>
        </p:txBody>
      </p:sp>
      <p:sp>
        <p:nvSpPr>
          <p:cNvPr id="8" name="Shape 6"/>
          <p:cNvSpPr/>
          <p:nvPr/>
        </p:nvSpPr>
        <p:spPr>
          <a:xfrm>
            <a:off x="5751576" y="1645920"/>
            <a:ext cx="2852928" cy="384048"/>
          </a:xfrm>
          <a:prstGeom prst="rect">
            <a:avLst/>
          </a:prstGeom>
          <a:solidFill>
            <a:srgbClr val="12304A"/>
          </a:solidFill>
          <a:ln w="6350">
            <a:solidFill>
              <a:srgbClr val="D5DEE8"/>
            </a:solidFill>
            <a:prstDash val="solid"/>
          </a:ln>
        </p:spPr>
      </p:sp>
      <p:sp>
        <p:nvSpPr>
          <p:cNvPr id="9" name="Text 7"/>
          <p:cNvSpPr txBox="1"/>
          <p:nvPr/>
        </p:nvSpPr>
        <p:spPr>
          <a:xfrm>
            <a:off x="5815584" y="1682496"/>
            <a:ext cx="2724912"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AWS</a:t>
            </a:r>
            <a:endParaRPr lang="en-US" sz="950" dirty="0"/>
          </a:p>
        </p:txBody>
      </p:sp>
      <p:sp>
        <p:nvSpPr>
          <p:cNvPr id="10" name="Shape 8"/>
          <p:cNvSpPr/>
          <p:nvPr/>
        </p:nvSpPr>
        <p:spPr>
          <a:xfrm>
            <a:off x="8604504" y="1645920"/>
            <a:ext cx="2962656" cy="384048"/>
          </a:xfrm>
          <a:prstGeom prst="rect">
            <a:avLst/>
          </a:prstGeom>
          <a:solidFill>
            <a:srgbClr val="12304A"/>
          </a:solidFill>
          <a:ln w="6350">
            <a:solidFill>
              <a:srgbClr val="D5DEE8"/>
            </a:solidFill>
            <a:prstDash val="solid"/>
          </a:ln>
        </p:spPr>
      </p:sp>
      <p:sp>
        <p:nvSpPr>
          <p:cNvPr id="11" name="Text 9"/>
          <p:cNvSpPr txBox="1"/>
          <p:nvPr/>
        </p:nvSpPr>
        <p:spPr>
          <a:xfrm>
            <a:off x="8668512" y="1682496"/>
            <a:ext cx="2834640"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AZURE</a:t>
            </a:r>
            <a:endParaRPr lang="en-US" sz="950" dirty="0"/>
          </a:p>
        </p:txBody>
      </p:sp>
      <p:sp>
        <p:nvSpPr>
          <p:cNvPr id="12" name="Shape 10"/>
          <p:cNvSpPr/>
          <p:nvPr/>
        </p:nvSpPr>
        <p:spPr>
          <a:xfrm>
            <a:off x="594360" y="2029968"/>
            <a:ext cx="2194560" cy="598932"/>
          </a:xfrm>
          <a:prstGeom prst="rect">
            <a:avLst/>
          </a:prstGeom>
          <a:solidFill>
            <a:srgbClr val="FFFFFF"/>
          </a:solidFill>
          <a:ln w="6350">
            <a:solidFill>
              <a:srgbClr val="D5DEE8"/>
            </a:solidFill>
            <a:prstDash val="solid"/>
          </a:ln>
        </p:spPr>
      </p:sp>
      <p:sp>
        <p:nvSpPr>
          <p:cNvPr id="13" name="Text 11"/>
          <p:cNvSpPr txBox="1"/>
          <p:nvPr/>
        </p:nvSpPr>
        <p:spPr>
          <a:xfrm>
            <a:off x="658368" y="2066544"/>
            <a:ext cx="2066544"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Service</a:t>
            </a:r>
            <a:endParaRPr lang="en-US" sz="935" dirty="0"/>
          </a:p>
        </p:txBody>
      </p:sp>
      <p:sp>
        <p:nvSpPr>
          <p:cNvPr id="14" name="Shape 12"/>
          <p:cNvSpPr/>
          <p:nvPr/>
        </p:nvSpPr>
        <p:spPr>
          <a:xfrm>
            <a:off x="2788920" y="2029968"/>
            <a:ext cx="2962656" cy="598932"/>
          </a:xfrm>
          <a:prstGeom prst="rect">
            <a:avLst/>
          </a:prstGeom>
          <a:solidFill>
            <a:srgbClr val="FFFFFF"/>
          </a:solidFill>
          <a:ln w="6350">
            <a:solidFill>
              <a:srgbClr val="D5DEE8"/>
            </a:solidFill>
            <a:prstDash val="solid"/>
          </a:ln>
        </p:spPr>
      </p:sp>
      <p:sp>
        <p:nvSpPr>
          <p:cNvPr id="15" name="Text 13"/>
          <p:cNvSpPr txBox="1"/>
          <p:nvPr/>
        </p:nvSpPr>
        <p:spPr>
          <a:xfrm>
            <a:off x="2852928" y="2066544"/>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Cloud Storage</a:t>
            </a:r>
            <a:endParaRPr lang="en-US" sz="935" dirty="0"/>
          </a:p>
        </p:txBody>
      </p:sp>
      <p:sp>
        <p:nvSpPr>
          <p:cNvPr id="16" name="Shape 14"/>
          <p:cNvSpPr/>
          <p:nvPr/>
        </p:nvSpPr>
        <p:spPr>
          <a:xfrm>
            <a:off x="5751576" y="2029968"/>
            <a:ext cx="2852928" cy="598932"/>
          </a:xfrm>
          <a:prstGeom prst="rect">
            <a:avLst/>
          </a:prstGeom>
          <a:solidFill>
            <a:srgbClr val="FFFFFF"/>
          </a:solidFill>
          <a:ln w="6350">
            <a:solidFill>
              <a:srgbClr val="D5DEE8"/>
            </a:solidFill>
            <a:prstDash val="solid"/>
          </a:ln>
        </p:spPr>
      </p:sp>
      <p:sp>
        <p:nvSpPr>
          <p:cNvPr id="17" name="Text 15"/>
          <p:cNvSpPr txBox="1"/>
          <p:nvPr/>
        </p:nvSpPr>
        <p:spPr>
          <a:xfrm>
            <a:off x="5815584" y="2066544"/>
            <a:ext cx="2724912"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Amazon S3</a:t>
            </a:r>
            <a:endParaRPr lang="en-US" sz="935" dirty="0"/>
          </a:p>
        </p:txBody>
      </p:sp>
      <p:sp>
        <p:nvSpPr>
          <p:cNvPr id="18" name="Shape 16"/>
          <p:cNvSpPr/>
          <p:nvPr/>
        </p:nvSpPr>
        <p:spPr>
          <a:xfrm>
            <a:off x="8604504" y="2029968"/>
            <a:ext cx="2962656" cy="598932"/>
          </a:xfrm>
          <a:prstGeom prst="rect">
            <a:avLst/>
          </a:prstGeom>
          <a:solidFill>
            <a:srgbClr val="FFFFFF"/>
          </a:solidFill>
          <a:ln w="6350">
            <a:solidFill>
              <a:srgbClr val="D5DEE8"/>
            </a:solidFill>
            <a:prstDash val="solid"/>
          </a:ln>
        </p:spPr>
      </p:sp>
      <p:sp>
        <p:nvSpPr>
          <p:cNvPr id="19" name="Text 17"/>
          <p:cNvSpPr txBox="1"/>
          <p:nvPr/>
        </p:nvSpPr>
        <p:spPr>
          <a:xfrm>
            <a:off x="8668512" y="2066544"/>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Azure Blob Storage</a:t>
            </a:r>
            <a:endParaRPr lang="en-US" sz="935" dirty="0"/>
          </a:p>
        </p:txBody>
      </p:sp>
      <p:sp>
        <p:nvSpPr>
          <p:cNvPr id="20" name="Shape 18"/>
          <p:cNvSpPr/>
          <p:nvPr/>
        </p:nvSpPr>
        <p:spPr>
          <a:xfrm>
            <a:off x="594360" y="2628900"/>
            <a:ext cx="2194560" cy="598932"/>
          </a:xfrm>
          <a:prstGeom prst="rect">
            <a:avLst/>
          </a:prstGeom>
          <a:solidFill>
            <a:srgbClr val="F1F5F9"/>
          </a:solidFill>
          <a:ln w="6350">
            <a:solidFill>
              <a:srgbClr val="D5DEE8"/>
            </a:solidFill>
            <a:prstDash val="solid"/>
          </a:ln>
        </p:spPr>
      </p:sp>
      <p:sp>
        <p:nvSpPr>
          <p:cNvPr id="21" name="Text 19"/>
          <p:cNvSpPr txBox="1"/>
          <p:nvPr/>
        </p:nvSpPr>
        <p:spPr>
          <a:xfrm>
            <a:off x="658368" y="2665476"/>
            <a:ext cx="2066544"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Container</a:t>
            </a:r>
            <a:endParaRPr lang="en-US" sz="935" dirty="0"/>
          </a:p>
        </p:txBody>
      </p:sp>
      <p:sp>
        <p:nvSpPr>
          <p:cNvPr id="22" name="Shape 20"/>
          <p:cNvSpPr/>
          <p:nvPr/>
        </p:nvSpPr>
        <p:spPr>
          <a:xfrm>
            <a:off x="2788920" y="2628900"/>
            <a:ext cx="2962656" cy="598932"/>
          </a:xfrm>
          <a:prstGeom prst="rect">
            <a:avLst/>
          </a:prstGeom>
          <a:solidFill>
            <a:srgbClr val="F1F5F9"/>
          </a:solidFill>
          <a:ln w="6350">
            <a:solidFill>
              <a:srgbClr val="D5DEE8"/>
            </a:solidFill>
            <a:prstDash val="solid"/>
          </a:ln>
        </p:spPr>
      </p:sp>
      <p:sp>
        <p:nvSpPr>
          <p:cNvPr id="23" name="Text 21"/>
          <p:cNvSpPr txBox="1"/>
          <p:nvPr/>
        </p:nvSpPr>
        <p:spPr>
          <a:xfrm>
            <a:off x="2852928" y="2665476"/>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Bucket</a:t>
            </a:r>
            <a:endParaRPr lang="en-US" sz="935" dirty="0"/>
          </a:p>
        </p:txBody>
      </p:sp>
      <p:sp>
        <p:nvSpPr>
          <p:cNvPr id="24" name="Shape 22"/>
          <p:cNvSpPr/>
          <p:nvPr/>
        </p:nvSpPr>
        <p:spPr>
          <a:xfrm>
            <a:off x="5751576" y="2628900"/>
            <a:ext cx="2852928" cy="598932"/>
          </a:xfrm>
          <a:prstGeom prst="rect">
            <a:avLst/>
          </a:prstGeom>
          <a:solidFill>
            <a:srgbClr val="F1F5F9"/>
          </a:solidFill>
          <a:ln w="6350">
            <a:solidFill>
              <a:srgbClr val="D5DEE8"/>
            </a:solidFill>
            <a:prstDash val="solid"/>
          </a:ln>
        </p:spPr>
      </p:sp>
      <p:sp>
        <p:nvSpPr>
          <p:cNvPr id="25" name="Text 23"/>
          <p:cNvSpPr txBox="1"/>
          <p:nvPr/>
        </p:nvSpPr>
        <p:spPr>
          <a:xfrm>
            <a:off x="5815584" y="2665476"/>
            <a:ext cx="2724912"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Bucket</a:t>
            </a:r>
            <a:endParaRPr lang="en-US" sz="935" dirty="0"/>
          </a:p>
        </p:txBody>
      </p:sp>
      <p:sp>
        <p:nvSpPr>
          <p:cNvPr id="26" name="Shape 24"/>
          <p:cNvSpPr/>
          <p:nvPr/>
        </p:nvSpPr>
        <p:spPr>
          <a:xfrm>
            <a:off x="8604504" y="2628900"/>
            <a:ext cx="2962656" cy="598932"/>
          </a:xfrm>
          <a:prstGeom prst="rect">
            <a:avLst/>
          </a:prstGeom>
          <a:solidFill>
            <a:srgbClr val="F1F5F9"/>
          </a:solidFill>
          <a:ln w="6350">
            <a:solidFill>
              <a:srgbClr val="D5DEE8"/>
            </a:solidFill>
            <a:prstDash val="solid"/>
          </a:ln>
        </p:spPr>
      </p:sp>
      <p:sp>
        <p:nvSpPr>
          <p:cNvPr id="27" name="Text 25"/>
          <p:cNvSpPr txBox="1"/>
          <p:nvPr/>
        </p:nvSpPr>
        <p:spPr>
          <a:xfrm>
            <a:off x="8668512" y="2665476"/>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Storage account + container</a:t>
            </a:r>
            <a:endParaRPr lang="en-US" sz="935" dirty="0"/>
          </a:p>
        </p:txBody>
      </p:sp>
      <p:sp>
        <p:nvSpPr>
          <p:cNvPr id="28" name="Shape 26"/>
          <p:cNvSpPr/>
          <p:nvPr/>
        </p:nvSpPr>
        <p:spPr>
          <a:xfrm>
            <a:off x="594360" y="3227832"/>
            <a:ext cx="2194560" cy="598932"/>
          </a:xfrm>
          <a:prstGeom prst="rect">
            <a:avLst/>
          </a:prstGeom>
          <a:solidFill>
            <a:srgbClr val="FFFFFF"/>
          </a:solidFill>
          <a:ln w="6350">
            <a:solidFill>
              <a:srgbClr val="D5DEE8"/>
            </a:solidFill>
            <a:prstDash val="solid"/>
          </a:ln>
        </p:spPr>
      </p:sp>
      <p:sp>
        <p:nvSpPr>
          <p:cNvPr id="29" name="Text 27"/>
          <p:cNvSpPr txBox="1"/>
          <p:nvPr/>
        </p:nvSpPr>
        <p:spPr>
          <a:xfrm>
            <a:off x="658368" y="3264408"/>
            <a:ext cx="2066544"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Object identifier</a:t>
            </a:r>
            <a:endParaRPr lang="en-US" sz="935" dirty="0"/>
          </a:p>
        </p:txBody>
      </p:sp>
      <p:sp>
        <p:nvSpPr>
          <p:cNvPr id="30" name="Shape 28"/>
          <p:cNvSpPr/>
          <p:nvPr/>
        </p:nvSpPr>
        <p:spPr>
          <a:xfrm>
            <a:off x="2788920" y="3227832"/>
            <a:ext cx="2962656" cy="598932"/>
          </a:xfrm>
          <a:prstGeom prst="rect">
            <a:avLst/>
          </a:prstGeom>
          <a:solidFill>
            <a:srgbClr val="FFFFFF"/>
          </a:solidFill>
          <a:ln w="6350">
            <a:solidFill>
              <a:srgbClr val="D5DEE8"/>
            </a:solidFill>
            <a:prstDash val="solid"/>
          </a:ln>
        </p:spPr>
      </p:sp>
      <p:sp>
        <p:nvSpPr>
          <p:cNvPr id="31" name="Text 29"/>
          <p:cNvSpPr txBox="1"/>
          <p:nvPr/>
        </p:nvSpPr>
        <p:spPr>
          <a:xfrm>
            <a:off x="2852928" y="3264408"/>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Object name</a:t>
            </a:r>
            <a:endParaRPr lang="en-US" sz="935" dirty="0"/>
          </a:p>
        </p:txBody>
      </p:sp>
      <p:sp>
        <p:nvSpPr>
          <p:cNvPr id="32" name="Shape 30"/>
          <p:cNvSpPr/>
          <p:nvPr/>
        </p:nvSpPr>
        <p:spPr>
          <a:xfrm>
            <a:off x="5751576" y="3227832"/>
            <a:ext cx="2852928" cy="598932"/>
          </a:xfrm>
          <a:prstGeom prst="rect">
            <a:avLst/>
          </a:prstGeom>
          <a:solidFill>
            <a:srgbClr val="FFFFFF"/>
          </a:solidFill>
          <a:ln w="6350">
            <a:solidFill>
              <a:srgbClr val="D5DEE8"/>
            </a:solidFill>
            <a:prstDash val="solid"/>
          </a:ln>
        </p:spPr>
      </p:sp>
      <p:sp>
        <p:nvSpPr>
          <p:cNvPr id="33" name="Text 31"/>
          <p:cNvSpPr txBox="1"/>
          <p:nvPr/>
        </p:nvSpPr>
        <p:spPr>
          <a:xfrm>
            <a:off x="5815584" y="3264408"/>
            <a:ext cx="2724912"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Object key</a:t>
            </a:r>
            <a:endParaRPr lang="en-US" sz="935" dirty="0"/>
          </a:p>
        </p:txBody>
      </p:sp>
      <p:sp>
        <p:nvSpPr>
          <p:cNvPr id="34" name="Shape 32"/>
          <p:cNvSpPr/>
          <p:nvPr/>
        </p:nvSpPr>
        <p:spPr>
          <a:xfrm>
            <a:off x="8604504" y="3227832"/>
            <a:ext cx="2962656" cy="598932"/>
          </a:xfrm>
          <a:prstGeom prst="rect">
            <a:avLst/>
          </a:prstGeom>
          <a:solidFill>
            <a:srgbClr val="FFFFFF"/>
          </a:solidFill>
          <a:ln w="6350">
            <a:solidFill>
              <a:srgbClr val="D5DEE8"/>
            </a:solidFill>
            <a:prstDash val="solid"/>
          </a:ln>
        </p:spPr>
      </p:sp>
      <p:sp>
        <p:nvSpPr>
          <p:cNvPr id="35" name="Text 33"/>
          <p:cNvSpPr txBox="1"/>
          <p:nvPr/>
        </p:nvSpPr>
        <p:spPr>
          <a:xfrm>
            <a:off x="8668512" y="3264408"/>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Blob name</a:t>
            </a:r>
            <a:endParaRPr lang="en-US" sz="935" dirty="0"/>
          </a:p>
        </p:txBody>
      </p:sp>
      <p:sp>
        <p:nvSpPr>
          <p:cNvPr id="36" name="Shape 34"/>
          <p:cNvSpPr/>
          <p:nvPr/>
        </p:nvSpPr>
        <p:spPr>
          <a:xfrm>
            <a:off x="594360" y="3826764"/>
            <a:ext cx="2194560" cy="598932"/>
          </a:xfrm>
          <a:prstGeom prst="rect">
            <a:avLst/>
          </a:prstGeom>
          <a:solidFill>
            <a:srgbClr val="F1F5F9"/>
          </a:solidFill>
          <a:ln w="6350">
            <a:solidFill>
              <a:srgbClr val="D5DEE8"/>
            </a:solidFill>
            <a:prstDash val="solid"/>
          </a:ln>
        </p:spPr>
      </p:sp>
      <p:sp>
        <p:nvSpPr>
          <p:cNvPr id="37" name="Text 35"/>
          <p:cNvSpPr txBox="1"/>
          <p:nvPr/>
        </p:nvSpPr>
        <p:spPr>
          <a:xfrm>
            <a:off x="658368" y="3863340"/>
            <a:ext cx="2066544"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Access model</a:t>
            </a:r>
            <a:endParaRPr lang="en-US" sz="935" dirty="0"/>
          </a:p>
        </p:txBody>
      </p:sp>
      <p:sp>
        <p:nvSpPr>
          <p:cNvPr id="38" name="Shape 36"/>
          <p:cNvSpPr/>
          <p:nvPr/>
        </p:nvSpPr>
        <p:spPr>
          <a:xfrm>
            <a:off x="2788920" y="3826764"/>
            <a:ext cx="2962656" cy="598932"/>
          </a:xfrm>
          <a:prstGeom prst="rect">
            <a:avLst/>
          </a:prstGeom>
          <a:solidFill>
            <a:srgbClr val="F1F5F9"/>
          </a:solidFill>
          <a:ln w="6350">
            <a:solidFill>
              <a:srgbClr val="D5DEE8"/>
            </a:solidFill>
            <a:prstDash val="solid"/>
          </a:ln>
        </p:spPr>
      </p:sp>
      <p:sp>
        <p:nvSpPr>
          <p:cNvPr id="39" name="Text 37"/>
          <p:cNvSpPr txBox="1"/>
          <p:nvPr/>
        </p:nvSpPr>
        <p:spPr>
          <a:xfrm>
            <a:off x="2852928" y="3863340"/>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Cloud IAM / uniform bucket-level access</a:t>
            </a:r>
            <a:endParaRPr lang="en-US" sz="935" dirty="0"/>
          </a:p>
        </p:txBody>
      </p:sp>
      <p:sp>
        <p:nvSpPr>
          <p:cNvPr id="40" name="Shape 38"/>
          <p:cNvSpPr/>
          <p:nvPr/>
        </p:nvSpPr>
        <p:spPr>
          <a:xfrm>
            <a:off x="5751576" y="3826764"/>
            <a:ext cx="2852928" cy="598932"/>
          </a:xfrm>
          <a:prstGeom prst="rect">
            <a:avLst/>
          </a:prstGeom>
          <a:solidFill>
            <a:srgbClr val="F1F5F9"/>
          </a:solidFill>
          <a:ln w="6350">
            <a:solidFill>
              <a:srgbClr val="D5DEE8"/>
            </a:solidFill>
            <a:prstDash val="solid"/>
          </a:ln>
        </p:spPr>
      </p:sp>
      <p:sp>
        <p:nvSpPr>
          <p:cNvPr id="41" name="Text 39"/>
          <p:cNvSpPr txBox="1"/>
          <p:nvPr/>
        </p:nvSpPr>
        <p:spPr>
          <a:xfrm>
            <a:off x="5815584" y="3863340"/>
            <a:ext cx="2724912"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IAM + bucket / access point policies / ACLs</a:t>
            </a:r>
            <a:endParaRPr lang="en-US" sz="935" dirty="0"/>
          </a:p>
        </p:txBody>
      </p:sp>
      <p:sp>
        <p:nvSpPr>
          <p:cNvPr id="42" name="Shape 40"/>
          <p:cNvSpPr/>
          <p:nvPr/>
        </p:nvSpPr>
        <p:spPr>
          <a:xfrm>
            <a:off x="8604504" y="3826764"/>
            <a:ext cx="2962656" cy="598932"/>
          </a:xfrm>
          <a:prstGeom prst="rect">
            <a:avLst/>
          </a:prstGeom>
          <a:solidFill>
            <a:srgbClr val="F1F5F9"/>
          </a:solidFill>
          <a:ln w="6350">
            <a:solidFill>
              <a:srgbClr val="D5DEE8"/>
            </a:solidFill>
            <a:prstDash val="solid"/>
          </a:ln>
        </p:spPr>
      </p:sp>
      <p:sp>
        <p:nvSpPr>
          <p:cNvPr id="43" name="Text 41"/>
          <p:cNvSpPr txBox="1"/>
          <p:nvPr/>
        </p:nvSpPr>
        <p:spPr>
          <a:xfrm>
            <a:off x="8668512" y="3863340"/>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Microsoft Entra ID + RBAC / SAS / account controls</a:t>
            </a:r>
            <a:endParaRPr lang="en-US" sz="935" dirty="0"/>
          </a:p>
        </p:txBody>
      </p:sp>
      <p:sp>
        <p:nvSpPr>
          <p:cNvPr id="44" name="Shape 42"/>
          <p:cNvSpPr/>
          <p:nvPr/>
        </p:nvSpPr>
        <p:spPr>
          <a:xfrm>
            <a:off x="594360" y="4425696"/>
            <a:ext cx="2194560" cy="598932"/>
          </a:xfrm>
          <a:prstGeom prst="rect">
            <a:avLst/>
          </a:prstGeom>
          <a:solidFill>
            <a:srgbClr val="FFFFFF"/>
          </a:solidFill>
          <a:ln w="6350">
            <a:solidFill>
              <a:srgbClr val="D5DEE8"/>
            </a:solidFill>
            <a:prstDash val="solid"/>
          </a:ln>
        </p:spPr>
      </p:sp>
      <p:sp>
        <p:nvSpPr>
          <p:cNvPr id="45" name="Text 43"/>
          <p:cNvSpPr txBox="1"/>
          <p:nvPr/>
        </p:nvSpPr>
        <p:spPr>
          <a:xfrm>
            <a:off x="658368" y="4462272"/>
            <a:ext cx="2066544"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Public access controls</a:t>
            </a:r>
            <a:endParaRPr lang="en-US" sz="935" dirty="0"/>
          </a:p>
        </p:txBody>
      </p:sp>
      <p:sp>
        <p:nvSpPr>
          <p:cNvPr id="46" name="Shape 44"/>
          <p:cNvSpPr/>
          <p:nvPr/>
        </p:nvSpPr>
        <p:spPr>
          <a:xfrm>
            <a:off x="2788920" y="4425696"/>
            <a:ext cx="2962656" cy="598932"/>
          </a:xfrm>
          <a:prstGeom prst="rect">
            <a:avLst/>
          </a:prstGeom>
          <a:solidFill>
            <a:srgbClr val="FFFFFF"/>
          </a:solidFill>
          <a:ln w="6350">
            <a:solidFill>
              <a:srgbClr val="D5DEE8"/>
            </a:solidFill>
            <a:prstDash val="solid"/>
          </a:ln>
        </p:spPr>
      </p:sp>
      <p:sp>
        <p:nvSpPr>
          <p:cNvPr id="47" name="Text 45"/>
          <p:cNvSpPr txBox="1"/>
          <p:nvPr/>
        </p:nvSpPr>
        <p:spPr>
          <a:xfrm>
            <a:off x="2852928" y="4462272"/>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Public Access Prevention</a:t>
            </a:r>
            <a:endParaRPr lang="en-US" sz="935" dirty="0"/>
          </a:p>
        </p:txBody>
      </p:sp>
      <p:sp>
        <p:nvSpPr>
          <p:cNvPr id="48" name="Shape 46"/>
          <p:cNvSpPr/>
          <p:nvPr/>
        </p:nvSpPr>
        <p:spPr>
          <a:xfrm>
            <a:off x="5751576" y="4425696"/>
            <a:ext cx="2852928" cy="598932"/>
          </a:xfrm>
          <a:prstGeom prst="rect">
            <a:avLst/>
          </a:prstGeom>
          <a:solidFill>
            <a:srgbClr val="FFFFFF"/>
          </a:solidFill>
          <a:ln w="6350">
            <a:solidFill>
              <a:srgbClr val="D5DEE8"/>
            </a:solidFill>
            <a:prstDash val="solid"/>
          </a:ln>
        </p:spPr>
      </p:sp>
      <p:sp>
        <p:nvSpPr>
          <p:cNvPr id="49" name="Text 47"/>
          <p:cNvSpPr txBox="1"/>
          <p:nvPr/>
        </p:nvSpPr>
        <p:spPr>
          <a:xfrm>
            <a:off x="5815584" y="4462272"/>
            <a:ext cx="2724912"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S3 Block Public Access</a:t>
            </a:r>
            <a:endParaRPr lang="en-US" sz="935" dirty="0"/>
          </a:p>
        </p:txBody>
      </p:sp>
      <p:sp>
        <p:nvSpPr>
          <p:cNvPr id="50" name="Shape 48"/>
          <p:cNvSpPr/>
          <p:nvPr/>
        </p:nvSpPr>
        <p:spPr>
          <a:xfrm>
            <a:off x="8604504" y="4425696"/>
            <a:ext cx="2962656" cy="598932"/>
          </a:xfrm>
          <a:prstGeom prst="rect">
            <a:avLst/>
          </a:prstGeom>
          <a:solidFill>
            <a:srgbClr val="FFFFFF"/>
          </a:solidFill>
          <a:ln w="6350">
            <a:solidFill>
              <a:srgbClr val="D5DEE8"/>
            </a:solidFill>
            <a:prstDash val="solid"/>
          </a:ln>
        </p:spPr>
      </p:sp>
      <p:sp>
        <p:nvSpPr>
          <p:cNvPr id="51" name="Text 49"/>
          <p:cNvSpPr txBox="1"/>
          <p:nvPr/>
        </p:nvSpPr>
        <p:spPr>
          <a:xfrm>
            <a:off x="8668512" y="4462272"/>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Allow Blob public access account setting</a:t>
            </a:r>
            <a:endParaRPr lang="en-US" sz="935" dirty="0"/>
          </a:p>
        </p:txBody>
      </p:sp>
      <p:sp>
        <p:nvSpPr>
          <p:cNvPr id="52" name="Shape 50"/>
          <p:cNvSpPr/>
          <p:nvPr/>
        </p:nvSpPr>
        <p:spPr>
          <a:xfrm>
            <a:off x="594360" y="5024628"/>
            <a:ext cx="2194560" cy="598932"/>
          </a:xfrm>
          <a:prstGeom prst="rect">
            <a:avLst/>
          </a:prstGeom>
          <a:solidFill>
            <a:srgbClr val="F1F5F9"/>
          </a:solidFill>
          <a:ln w="6350">
            <a:solidFill>
              <a:srgbClr val="D5DEE8"/>
            </a:solidFill>
            <a:prstDash val="solid"/>
          </a:ln>
        </p:spPr>
      </p:sp>
      <p:sp>
        <p:nvSpPr>
          <p:cNvPr id="53" name="Text 51"/>
          <p:cNvSpPr txBox="1"/>
          <p:nvPr/>
        </p:nvSpPr>
        <p:spPr>
          <a:xfrm>
            <a:off x="658368" y="5061204"/>
            <a:ext cx="2066544"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CMEK integration</a:t>
            </a:r>
            <a:endParaRPr lang="en-US" sz="935" dirty="0"/>
          </a:p>
        </p:txBody>
      </p:sp>
      <p:sp>
        <p:nvSpPr>
          <p:cNvPr id="54" name="Shape 52"/>
          <p:cNvSpPr/>
          <p:nvPr/>
        </p:nvSpPr>
        <p:spPr>
          <a:xfrm>
            <a:off x="2788920" y="5024628"/>
            <a:ext cx="2962656" cy="598932"/>
          </a:xfrm>
          <a:prstGeom prst="rect">
            <a:avLst/>
          </a:prstGeom>
          <a:solidFill>
            <a:srgbClr val="F1F5F9"/>
          </a:solidFill>
          <a:ln w="6350">
            <a:solidFill>
              <a:srgbClr val="D5DEE8"/>
            </a:solidFill>
            <a:prstDash val="solid"/>
          </a:ln>
        </p:spPr>
      </p:sp>
      <p:sp>
        <p:nvSpPr>
          <p:cNvPr id="55" name="Text 53"/>
          <p:cNvSpPr txBox="1"/>
          <p:nvPr/>
        </p:nvSpPr>
        <p:spPr>
          <a:xfrm>
            <a:off x="2852928" y="5061204"/>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Cloud KMS</a:t>
            </a:r>
            <a:endParaRPr lang="en-US" sz="935" dirty="0"/>
          </a:p>
        </p:txBody>
      </p:sp>
      <p:sp>
        <p:nvSpPr>
          <p:cNvPr id="56" name="Shape 54"/>
          <p:cNvSpPr/>
          <p:nvPr/>
        </p:nvSpPr>
        <p:spPr>
          <a:xfrm>
            <a:off x="5751576" y="5024628"/>
            <a:ext cx="2852928" cy="598932"/>
          </a:xfrm>
          <a:prstGeom prst="rect">
            <a:avLst/>
          </a:prstGeom>
          <a:solidFill>
            <a:srgbClr val="F1F5F9"/>
          </a:solidFill>
          <a:ln w="6350">
            <a:solidFill>
              <a:srgbClr val="D5DEE8"/>
            </a:solidFill>
            <a:prstDash val="solid"/>
          </a:ln>
        </p:spPr>
      </p:sp>
      <p:sp>
        <p:nvSpPr>
          <p:cNvPr id="57" name="Text 55"/>
          <p:cNvSpPr txBox="1"/>
          <p:nvPr/>
        </p:nvSpPr>
        <p:spPr>
          <a:xfrm>
            <a:off x="5815584" y="5061204"/>
            <a:ext cx="2724912"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AWS KMS</a:t>
            </a:r>
            <a:endParaRPr lang="en-US" sz="935" dirty="0"/>
          </a:p>
        </p:txBody>
      </p:sp>
      <p:sp>
        <p:nvSpPr>
          <p:cNvPr id="58" name="Shape 56"/>
          <p:cNvSpPr/>
          <p:nvPr/>
        </p:nvSpPr>
        <p:spPr>
          <a:xfrm>
            <a:off x="8604504" y="5024628"/>
            <a:ext cx="2962656" cy="598932"/>
          </a:xfrm>
          <a:prstGeom prst="rect">
            <a:avLst/>
          </a:prstGeom>
          <a:solidFill>
            <a:srgbClr val="F1F5F9"/>
          </a:solidFill>
          <a:ln w="6350">
            <a:solidFill>
              <a:srgbClr val="D5DEE8"/>
            </a:solidFill>
            <a:prstDash val="solid"/>
          </a:ln>
        </p:spPr>
      </p:sp>
      <p:sp>
        <p:nvSpPr>
          <p:cNvPr id="59" name="Text 57"/>
          <p:cNvSpPr txBox="1"/>
          <p:nvPr/>
        </p:nvSpPr>
        <p:spPr>
          <a:xfrm>
            <a:off x="8668512" y="5061204"/>
            <a:ext cx="2834640" cy="525780"/>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Azure Key Vault / Managed HSM</a:t>
            </a:r>
            <a:endParaRPr lang="en-US" sz="935" dirty="0"/>
          </a:p>
        </p:txBody>
      </p:sp>
      <p:sp>
        <p:nvSpPr>
          <p:cNvPr id="60" name="Shape 58"/>
          <p:cNvSpPr/>
          <p:nvPr/>
        </p:nvSpPr>
        <p:spPr>
          <a:xfrm>
            <a:off x="777240" y="5760720"/>
            <a:ext cx="10607040" cy="411480"/>
          </a:xfrm>
          <a:prstGeom prst="roundRect">
            <a:avLst>
              <a:gd name="adj" fmla="val 17778"/>
            </a:avLst>
          </a:prstGeom>
          <a:solidFill>
            <a:srgbClr val="EAF3FC"/>
          </a:solidFill>
          <a:ln w="10160">
            <a:solidFill>
              <a:srgbClr val="EAF3FC"/>
            </a:solidFill>
            <a:prstDash val="solid"/>
          </a:ln>
        </p:spPr>
      </p:sp>
      <p:sp>
        <p:nvSpPr>
          <p:cNvPr id="61" name="Text 59"/>
          <p:cNvSpPr txBox="1"/>
          <p:nvPr/>
        </p:nvSpPr>
        <p:spPr>
          <a:xfrm>
            <a:off x="923544" y="5833872"/>
            <a:ext cx="10314432" cy="26517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Compare the control hierarchy, not just the storage service name. The capstone asks students to identify at least one design or operational gap per row.</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NETWORK EGRESS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Cloud NAT lets a private VM initiate outbound Internet connections</a:t>
            </a:r>
            <a:endParaRPr lang="en-US" sz="2500" dirty="0"/>
          </a:p>
        </p:txBody>
      </p:sp>
      <p:sp>
        <p:nvSpPr>
          <p:cNvPr id="4" name="Shape 2"/>
          <p:cNvSpPr/>
          <p:nvPr/>
        </p:nvSpPr>
        <p:spPr>
          <a:xfrm>
            <a:off x="777240" y="1828800"/>
            <a:ext cx="2240280" cy="1143000"/>
          </a:xfrm>
          <a:prstGeom prst="roundRect">
            <a:avLst>
              <a:gd name="adj" fmla="val 6400"/>
            </a:avLst>
          </a:prstGeom>
          <a:solidFill>
            <a:srgbClr val="EAF3FC"/>
          </a:solidFill>
          <a:ln w="10160">
            <a:solidFill>
              <a:srgbClr val="BDD8F0"/>
            </a:solidFill>
            <a:prstDash val="solid"/>
          </a:ln>
        </p:spPr>
      </p:sp>
      <p:sp>
        <p:nvSpPr>
          <p:cNvPr id="5" name="Text 3"/>
          <p:cNvSpPr txBox="1"/>
          <p:nvPr/>
        </p:nvSpPr>
        <p:spPr>
          <a:xfrm>
            <a:off x="914400" y="2029968"/>
            <a:ext cx="1965960" cy="201168"/>
          </a:xfrm>
          <a:prstGeom prst="rect">
            <a:avLst/>
          </a:prstGeom>
          <a:noFill/>
          <a:ln/>
        </p:spPr>
        <p:txBody>
          <a:bodyPr wrap="square" lIns="0" tIns="0" rIns="0" bIns="0" rtlCol="0" anchor="ctr">
            <a:normAutofit/>
          </a:bodyPr>
          <a:lstStyle/>
          <a:p>
            <a:pPr algn="ctr" indent="0" marL="0">
              <a:lnSpc>
                <a:spcPct val="95000"/>
              </a:lnSpc>
              <a:buNone/>
            </a:pPr>
            <a:r>
              <a:rPr lang="en-US" sz="1300" b="1" dirty="0">
                <a:solidFill>
                  <a:srgbClr val="2878C8"/>
                </a:solidFill>
                <a:latin typeface="Carlito" pitchFamily="34" charset="0"/>
                <a:ea typeface="Carlito" pitchFamily="34" charset="-122"/>
                <a:cs typeface="Carlito" pitchFamily="34" charset="-120"/>
              </a:rPr>
              <a:t>PRIVATE VM</a:t>
            </a:r>
            <a:endParaRPr lang="en-US" sz="1300" dirty="0"/>
          </a:p>
        </p:txBody>
      </p:sp>
      <p:sp>
        <p:nvSpPr>
          <p:cNvPr id="6" name="Text 4"/>
          <p:cNvSpPr txBox="1"/>
          <p:nvPr/>
        </p:nvSpPr>
        <p:spPr>
          <a:xfrm>
            <a:off x="914400" y="2395728"/>
            <a:ext cx="1965960" cy="182880"/>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No external IP</a:t>
            </a:r>
            <a:endParaRPr lang="en-US" sz="1000" dirty="0"/>
          </a:p>
        </p:txBody>
      </p:sp>
      <p:sp>
        <p:nvSpPr>
          <p:cNvPr id="7" name="Shape 5"/>
          <p:cNvSpPr/>
          <p:nvPr/>
        </p:nvSpPr>
        <p:spPr>
          <a:xfrm>
            <a:off x="3063240" y="2395728"/>
            <a:ext cx="640080" cy="0"/>
          </a:xfrm>
          <a:prstGeom prst="line">
            <a:avLst/>
          </a:prstGeom>
          <a:noFill/>
          <a:ln w="21590">
            <a:solidFill>
              <a:srgbClr val="0D9488"/>
            </a:solidFill>
            <a:prstDash val="solid"/>
            <a:tailEnd type="triangle"/>
          </a:ln>
        </p:spPr>
      </p:sp>
      <p:sp>
        <p:nvSpPr>
          <p:cNvPr id="8" name="Shape 6"/>
          <p:cNvSpPr/>
          <p:nvPr/>
        </p:nvSpPr>
        <p:spPr>
          <a:xfrm>
            <a:off x="3794760" y="1664208"/>
            <a:ext cx="3063240" cy="1463040"/>
          </a:xfrm>
          <a:prstGeom prst="roundRect">
            <a:avLst>
              <a:gd name="adj" fmla="val 5000"/>
            </a:avLst>
          </a:prstGeom>
          <a:solidFill>
            <a:srgbClr val="E7F6F4"/>
          </a:solidFill>
          <a:ln w="10160">
            <a:solidFill>
              <a:srgbClr val="B9E3DC"/>
            </a:solidFill>
            <a:prstDash val="solid"/>
          </a:ln>
        </p:spPr>
      </p:sp>
      <p:sp>
        <p:nvSpPr>
          <p:cNvPr id="9" name="Text 7"/>
          <p:cNvSpPr txBox="1"/>
          <p:nvPr/>
        </p:nvSpPr>
        <p:spPr>
          <a:xfrm>
            <a:off x="3977640" y="1901952"/>
            <a:ext cx="2697480" cy="201168"/>
          </a:xfrm>
          <a:prstGeom prst="rect">
            <a:avLst/>
          </a:prstGeom>
          <a:noFill/>
          <a:ln/>
        </p:spPr>
        <p:txBody>
          <a:bodyPr wrap="square" lIns="0" tIns="0" rIns="0" bIns="0" rtlCol="0" anchor="ctr">
            <a:normAutofit/>
          </a:bodyPr>
          <a:lstStyle/>
          <a:p>
            <a:pPr algn="ctr" indent="0" marL="0">
              <a:lnSpc>
                <a:spcPct val="95000"/>
              </a:lnSpc>
              <a:buNone/>
            </a:pPr>
            <a:r>
              <a:rPr lang="en-US" sz="1300" b="1" dirty="0">
                <a:solidFill>
                  <a:srgbClr val="0D9488"/>
                </a:solidFill>
                <a:latin typeface="Carlito" pitchFamily="34" charset="0"/>
                <a:ea typeface="Carlito" pitchFamily="34" charset="-122"/>
                <a:cs typeface="Carlito" pitchFamily="34" charset="-120"/>
              </a:rPr>
              <a:t>CLOUD NAT GATEWAY</a:t>
            </a:r>
            <a:endParaRPr lang="en-US" sz="1300" dirty="0"/>
          </a:p>
        </p:txBody>
      </p:sp>
      <p:sp>
        <p:nvSpPr>
          <p:cNvPr id="10" name="Text 8"/>
          <p:cNvSpPr txBox="1"/>
          <p:nvPr/>
        </p:nvSpPr>
        <p:spPr>
          <a:xfrm>
            <a:off x="4023360" y="2267712"/>
            <a:ext cx="2606040" cy="438912"/>
          </a:xfrm>
          <a:prstGeom prst="rect">
            <a:avLst/>
          </a:prstGeom>
          <a:noFill/>
          <a:ln/>
        </p:spPr>
        <p:txBody>
          <a:bodyPr wrap="square" lIns="0" tIns="0" rIns="0" bIns="0" rtlCol="0" anchor="ctr">
            <a:normAutofit/>
          </a:bodyPr>
          <a:lstStyle/>
          <a:p>
            <a:pPr algn="ctr" indent="0" marL="0">
              <a:lnSpc>
                <a:spcPct val="95000"/>
              </a:lnSpc>
              <a:buNone/>
            </a:pPr>
            <a:r>
              <a:rPr lang="en-US" sz="1030" dirty="0">
                <a:solidFill>
                  <a:srgbClr val="203040"/>
                </a:solidFill>
                <a:latin typeface="Carlito" pitchFamily="34" charset="0"/>
                <a:ea typeface="Carlito" pitchFamily="34" charset="-122"/>
                <a:cs typeface="Carlito" pitchFamily="34" charset="-120"/>
              </a:rPr>
              <a:t>Configured on Cloud Router</a:t>
            </a:r>
            <a:endParaRPr lang="en-US" sz="1030" dirty="0"/>
          </a:p>
          <a:p>
            <a:pPr algn="ctr" indent="0" marL="0">
              <a:lnSpc>
                <a:spcPct val="95000"/>
              </a:lnSpc>
              <a:buNone/>
            </a:pPr>
            <a:r>
              <a:rPr lang="en-US" sz="1030" dirty="0">
                <a:solidFill>
                  <a:srgbClr val="203040"/>
                </a:solidFill>
                <a:latin typeface="Carlito" pitchFamily="34" charset="0"/>
                <a:ea typeface="Carlito" pitchFamily="34" charset="-122"/>
                <a:cs typeface="Carlito" pitchFamily="34" charset="-120"/>
              </a:rPr>
              <a:t>Translates source address / ports</a:t>
            </a:r>
            <a:endParaRPr lang="en-US" sz="1030" dirty="0"/>
          </a:p>
        </p:txBody>
      </p:sp>
      <p:sp>
        <p:nvSpPr>
          <p:cNvPr id="11" name="Shape 9"/>
          <p:cNvSpPr/>
          <p:nvPr/>
        </p:nvSpPr>
        <p:spPr>
          <a:xfrm>
            <a:off x="6903720" y="2395728"/>
            <a:ext cx="594360" cy="0"/>
          </a:xfrm>
          <a:prstGeom prst="line">
            <a:avLst/>
          </a:prstGeom>
          <a:noFill/>
          <a:ln w="21590">
            <a:solidFill>
              <a:srgbClr val="0D9488"/>
            </a:solidFill>
            <a:prstDash val="solid"/>
            <a:tailEnd type="triangle"/>
          </a:ln>
        </p:spPr>
      </p:sp>
      <p:sp>
        <p:nvSpPr>
          <p:cNvPr id="12" name="Shape 10"/>
          <p:cNvSpPr/>
          <p:nvPr/>
        </p:nvSpPr>
        <p:spPr>
          <a:xfrm>
            <a:off x="7589520" y="1828800"/>
            <a:ext cx="3429000" cy="1143000"/>
          </a:xfrm>
          <a:prstGeom prst="roundRect">
            <a:avLst>
              <a:gd name="adj" fmla="val 6400"/>
            </a:avLst>
          </a:prstGeom>
          <a:solidFill>
            <a:srgbClr val="FFFFFF"/>
          </a:solidFill>
          <a:ln w="10160">
            <a:solidFill>
              <a:srgbClr val="DCE3EB"/>
            </a:solidFill>
            <a:prstDash val="solid"/>
          </a:ln>
        </p:spPr>
      </p:sp>
      <p:sp>
        <p:nvSpPr>
          <p:cNvPr id="13" name="Text 11"/>
          <p:cNvSpPr txBox="1"/>
          <p:nvPr/>
        </p:nvSpPr>
        <p:spPr>
          <a:xfrm>
            <a:off x="7754112" y="2029968"/>
            <a:ext cx="3108960" cy="201168"/>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2304A"/>
                </a:solidFill>
                <a:latin typeface="Carlito" pitchFamily="34" charset="0"/>
                <a:ea typeface="Carlito" pitchFamily="34" charset="-122"/>
                <a:cs typeface="Carlito" pitchFamily="34" charset="-120"/>
              </a:rPr>
              <a:t>INTERNET DESTINATION</a:t>
            </a:r>
            <a:endParaRPr lang="en-US" sz="1200" dirty="0"/>
          </a:p>
        </p:txBody>
      </p:sp>
      <p:sp>
        <p:nvSpPr>
          <p:cNvPr id="14" name="Text 12"/>
          <p:cNvSpPr txBox="1"/>
          <p:nvPr/>
        </p:nvSpPr>
        <p:spPr>
          <a:xfrm>
            <a:off x="7754112" y="2395728"/>
            <a:ext cx="3108960" cy="182880"/>
          </a:xfrm>
          <a:prstGeom prst="rect">
            <a:avLst/>
          </a:prstGeom>
          <a:noFill/>
          <a:ln/>
        </p:spPr>
        <p:txBody>
          <a:bodyPr wrap="square" lIns="0" tIns="0" rIns="0" bIns="0" rtlCol="0" anchor="ctr">
            <a:normAutofit/>
          </a:bodyPr>
          <a:lstStyle/>
          <a:p>
            <a:pPr algn="ctr" indent="0" marL="0">
              <a:lnSpc>
                <a:spcPct val="95000"/>
              </a:lnSpc>
              <a:buNone/>
            </a:pPr>
            <a:r>
              <a:rPr lang="en-US" sz="1000" dirty="0">
                <a:solidFill>
                  <a:srgbClr val="203040"/>
                </a:solidFill>
                <a:latin typeface="Carlito" pitchFamily="34" charset="0"/>
                <a:ea typeface="Carlito" pitchFamily="34" charset="-122"/>
                <a:cs typeface="Carlito" pitchFamily="34" charset="-120"/>
              </a:rPr>
              <a:t>HTTPS endpoint / package repository</a:t>
            </a:r>
            <a:endParaRPr lang="en-US" sz="1000" dirty="0"/>
          </a:p>
        </p:txBody>
      </p:sp>
      <p:sp>
        <p:nvSpPr>
          <p:cNvPr id="15" name="Text 13"/>
          <p:cNvSpPr txBox="1"/>
          <p:nvPr/>
        </p:nvSpPr>
        <p:spPr>
          <a:xfrm>
            <a:off x="868680" y="3703320"/>
            <a:ext cx="10241280" cy="1325880"/>
          </a:xfrm>
          <a:prstGeom prst="rect">
            <a:avLst/>
          </a:prstGeom>
          <a:noFill/>
          <a:ln/>
        </p:spPr>
        <p:txBody>
          <a:bodyPr wrap="square" lIns="254" tIns="254" rIns="254" bIns="254" rtlCol="0" anchor="t">
            <a:normAutofit/>
          </a:bodyPr>
          <a:lstStyle/>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Cloud NAT is managed software-defined NAT; it is not a proxy VM you administer.</a:t>
            </a:r>
            <a:endParaRPr lang="en-US" sz="1220" dirty="0"/>
          </a:p>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It enables outbound connections for selected private subnet resources.</a:t>
            </a:r>
            <a:endParaRPr lang="en-US" sz="1220" dirty="0"/>
          </a:p>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It does not allow unsolicited inbound Internet connections.</a:t>
            </a:r>
            <a:endParaRPr lang="en-US" sz="1220" dirty="0"/>
          </a:p>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The lab proves the change with a before-NAT failed curl and after-NAT successful curl.</a:t>
            </a:r>
            <a:endParaRPr lang="en-US" sz="1220" dirty="0"/>
          </a:p>
        </p:txBody>
      </p:sp>
      <p:sp>
        <p:nvSpPr>
          <p:cNvPr id="16" name="Shape 14"/>
          <p:cNvSpPr/>
          <p:nvPr/>
        </p:nvSpPr>
        <p:spPr>
          <a:xfrm>
            <a:off x="822960" y="5440680"/>
            <a:ext cx="10561320" cy="530352"/>
          </a:xfrm>
          <a:prstGeom prst="roundRect">
            <a:avLst>
              <a:gd name="adj" fmla="val 13793"/>
            </a:avLst>
          </a:prstGeom>
          <a:solidFill>
            <a:srgbClr val="E9F7F0"/>
          </a:solidFill>
          <a:ln w="10160">
            <a:solidFill>
              <a:srgbClr val="E9F7F0"/>
            </a:solidFill>
            <a:prstDash val="solid"/>
          </a:ln>
        </p:spPr>
      </p:sp>
      <p:sp>
        <p:nvSpPr>
          <p:cNvPr id="17" name="Text 15"/>
          <p:cNvSpPr txBox="1"/>
          <p:nvPr/>
        </p:nvSpPr>
        <p:spPr>
          <a:xfrm>
            <a:off x="969264" y="5513832"/>
            <a:ext cx="10268712" cy="38404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Cloud NAT is regional. The gateway must serve the subnet where the VM runs. Verify Cloud Router + NAT configuration and test from inside the private VM.</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NETWORKING</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Private egress pattern across the three clouds</a:t>
            </a:r>
            <a:endParaRPr lang="en-US" sz="2500" dirty="0"/>
          </a:p>
        </p:txBody>
      </p:sp>
      <p:sp>
        <p:nvSpPr>
          <p:cNvPr id="4" name="Shape 2"/>
          <p:cNvSpPr/>
          <p:nvPr/>
        </p:nvSpPr>
        <p:spPr>
          <a:xfrm>
            <a:off x="594360" y="1691640"/>
            <a:ext cx="2194560" cy="384048"/>
          </a:xfrm>
          <a:prstGeom prst="rect">
            <a:avLst/>
          </a:prstGeom>
          <a:solidFill>
            <a:srgbClr val="12304A"/>
          </a:solidFill>
          <a:ln w="6350">
            <a:solidFill>
              <a:srgbClr val="D5DEE8"/>
            </a:solidFill>
            <a:prstDash val="solid"/>
          </a:ln>
        </p:spPr>
      </p:sp>
      <p:sp>
        <p:nvSpPr>
          <p:cNvPr id="5" name="Text 3"/>
          <p:cNvSpPr txBox="1"/>
          <p:nvPr/>
        </p:nvSpPr>
        <p:spPr>
          <a:xfrm>
            <a:off x="658368" y="1728216"/>
            <a:ext cx="2066544"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DIMENSION</a:t>
            </a:r>
            <a:endParaRPr lang="en-US" sz="940" dirty="0"/>
          </a:p>
        </p:txBody>
      </p:sp>
      <p:sp>
        <p:nvSpPr>
          <p:cNvPr id="6" name="Shape 4"/>
          <p:cNvSpPr/>
          <p:nvPr/>
        </p:nvSpPr>
        <p:spPr>
          <a:xfrm>
            <a:off x="2788920" y="1691640"/>
            <a:ext cx="2962656" cy="384048"/>
          </a:xfrm>
          <a:prstGeom prst="rect">
            <a:avLst/>
          </a:prstGeom>
          <a:solidFill>
            <a:srgbClr val="12304A"/>
          </a:solidFill>
          <a:ln w="6350">
            <a:solidFill>
              <a:srgbClr val="D5DEE8"/>
            </a:solidFill>
            <a:prstDash val="solid"/>
          </a:ln>
        </p:spPr>
      </p:sp>
      <p:sp>
        <p:nvSpPr>
          <p:cNvPr id="7" name="Text 5"/>
          <p:cNvSpPr txBox="1"/>
          <p:nvPr/>
        </p:nvSpPr>
        <p:spPr>
          <a:xfrm>
            <a:off x="2852928" y="1728216"/>
            <a:ext cx="2834640"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GOOGLE CLOUD</a:t>
            </a:r>
            <a:endParaRPr lang="en-US" sz="940" dirty="0"/>
          </a:p>
        </p:txBody>
      </p:sp>
      <p:sp>
        <p:nvSpPr>
          <p:cNvPr id="8" name="Shape 6"/>
          <p:cNvSpPr/>
          <p:nvPr/>
        </p:nvSpPr>
        <p:spPr>
          <a:xfrm>
            <a:off x="5751576" y="1691640"/>
            <a:ext cx="2852928" cy="384048"/>
          </a:xfrm>
          <a:prstGeom prst="rect">
            <a:avLst/>
          </a:prstGeom>
          <a:solidFill>
            <a:srgbClr val="12304A"/>
          </a:solidFill>
          <a:ln w="6350">
            <a:solidFill>
              <a:srgbClr val="D5DEE8"/>
            </a:solidFill>
            <a:prstDash val="solid"/>
          </a:ln>
        </p:spPr>
      </p:sp>
      <p:sp>
        <p:nvSpPr>
          <p:cNvPr id="9" name="Text 7"/>
          <p:cNvSpPr txBox="1"/>
          <p:nvPr/>
        </p:nvSpPr>
        <p:spPr>
          <a:xfrm>
            <a:off x="5815584" y="1728216"/>
            <a:ext cx="2724912"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AWS</a:t>
            </a:r>
            <a:endParaRPr lang="en-US" sz="940" dirty="0"/>
          </a:p>
        </p:txBody>
      </p:sp>
      <p:sp>
        <p:nvSpPr>
          <p:cNvPr id="10" name="Shape 8"/>
          <p:cNvSpPr/>
          <p:nvPr/>
        </p:nvSpPr>
        <p:spPr>
          <a:xfrm>
            <a:off x="8604504" y="1691640"/>
            <a:ext cx="2962656" cy="384048"/>
          </a:xfrm>
          <a:prstGeom prst="rect">
            <a:avLst/>
          </a:prstGeom>
          <a:solidFill>
            <a:srgbClr val="12304A"/>
          </a:solidFill>
          <a:ln w="6350">
            <a:solidFill>
              <a:srgbClr val="D5DEE8"/>
            </a:solidFill>
            <a:prstDash val="solid"/>
          </a:ln>
        </p:spPr>
      </p:sp>
      <p:sp>
        <p:nvSpPr>
          <p:cNvPr id="11" name="Text 9"/>
          <p:cNvSpPr txBox="1"/>
          <p:nvPr/>
        </p:nvSpPr>
        <p:spPr>
          <a:xfrm>
            <a:off x="8668512" y="1728216"/>
            <a:ext cx="2834640"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AZURE</a:t>
            </a:r>
            <a:endParaRPr lang="en-US" sz="940" dirty="0"/>
          </a:p>
        </p:txBody>
      </p:sp>
      <p:sp>
        <p:nvSpPr>
          <p:cNvPr id="12" name="Shape 10"/>
          <p:cNvSpPr/>
          <p:nvPr/>
        </p:nvSpPr>
        <p:spPr>
          <a:xfrm>
            <a:off x="594360" y="2075688"/>
            <a:ext cx="2194560" cy="672998"/>
          </a:xfrm>
          <a:prstGeom prst="rect">
            <a:avLst/>
          </a:prstGeom>
          <a:solidFill>
            <a:srgbClr val="FFFFFF"/>
          </a:solidFill>
          <a:ln w="6350">
            <a:solidFill>
              <a:srgbClr val="D5DEE8"/>
            </a:solidFill>
            <a:prstDash val="solid"/>
          </a:ln>
        </p:spPr>
      </p:sp>
      <p:sp>
        <p:nvSpPr>
          <p:cNvPr id="13" name="Text 11"/>
          <p:cNvSpPr txBox="1"/>
          <p:nvPr/>
        </p:nvSpPr>
        <p:spPr>
          <a:xfrm>
            <a:off x="658368" y="2112264"/>
            <a:ext cx="2066544"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Managed service</a:t>
            </a:r>
            <a:endParaRPr lang="en-US" sz="950" dirty="0"/>
          </a:p>
        </p:txBody>
      </p:sp>
      <p:sp>
        <p:nvSpPr>
          <p:cNvPr id="14" name="Shape 12"/>
          <p:cNvSpPr/>
          <p:nvPr/>
        </p:nvSpPr>
        <p:spPr>
          <a:xfrm>
            <a:off x="2788920" y="2075688"/>
            <a:ext cx="2962656" cy="672998"/>
          </a:xfrm>
          <a:prstGeom prst="rect">
            <a:avLst/>
          </a:prstGeom>
          <a:solidFill>
            <a:srgbClr val="FFFFFF"/>
          </a:solidFill>
          <a:ln w="6350">
            <a:solidFill>
              <a:srgbClr val="D5DEE8"/>
            </a:solidFill>
            <a:prstDash val="solid"/>
          </a:ln>
        </p:spPr>
      </p:sp>
      <p:sp>
        <p:nvSpPr>
          <p:cNvPr id="15" name="Text 13"/>
          <p:cNvSpPr txBox="1"/>
          <p:nvPr/>
        </p:nvSpPr>
        <p:spPr>
          <a:xfrm>
            <a:off x="2852928" y="2112264"/>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Cloud NAT</a:t>
            </a:r>
            <a:endParaRPr lang="en-US" sz="950" dirty="0"/>
          </a:p>
        </p:txBody>
      </p:sp>
      <p:sp>
        <p:nvSpPr>
          <p:cNvPr id="16" name="Shape 14"/>
          <p:cNvSpPr/>
          <p:nvPr/>
        </p:nvSpPr>
        <p:spPr>
          <a:xfrm>
            <a:off x="5751576" y="2075688"/>
            <a:ext cx="2852928" cy="672998"/>
          </a:xfrm>
          <a:prstGeom prst="rect">
            <a:avLst/>
          </a:prstGeom>
          <a:solidFill>
            <a:srgbClr val="FFFFFF"/>
          </a:solidFill>
          <a:ln w="6350">
            <a:solidFill>
              <a:srgbClr val="D5DEE8"/>
            </a:solidFill>
            <a:prstDash val="solid"/>
          </a:ln>
        </p:spPr>
      </p:sp>
      <p:sp>
        <p:nvSpPr>
          <p:cNvPr id="17" name="Text 15"/>
          <p:cNvSpPr txBox="1"/>
          <p:nvPr/>
        </p:nvSpPr>
        <p:spPr>
          <a:xfrm>
            <a:off x="5815584" y="2112264"/>
            <a:ext cx="2724912"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NAT Gateway</a:t>
            </a:r>
            <a:endParaRPr lang="en-US" sz="950" dirty="0"/>
          </a:p>
        </p:txBody>
      </p:sp>
      <p:sp>
        <p:nvSpPr>
          <p:cNvPr id="18" name="Shape 16"/>
          <p:cNvSpPr/>
          <p:nvPr/>
        </p:nvSpPr>
        <p:spPr>
          <a:xfrm>
            <a:off x="8604504" y="2075688"/>
            <a:ext cx="2962656" cy="672998"/>
          </a:xfrm>
          <a:prstGeom prst="rect">
            <a:avLst/>
          </a:prstGeom>
          <a:solidFill>
            <a:srgbClr val="FFFFFF"/>
          </a:solidFill>
          <a:ln w="6350">
            <a:solidFill>
              <a:srgbClr val="D5DEE8"/>
            </a:solidFill>
            <a:prstDash val="solid"/>
          </a:ln>
        </p:spPr>
      </p:sp>
      <p:sp>
        <p:nvSpPr>
          <p:cNvPr id="19" name="Text 17"/>
          <p:cNvSpPr txBox="1"/>
          <p:nvPr/>
        </p:nvSpPr>
        <p:spPr>
          <a:xfrm>
            <a:off x="8668512" y="2112264"/>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NAT Gateway</a:t>
            </a:r>
            <a:endParaRPr lang="en-US" sz="950" dirty="0"/>
          </a:p>
        </p:txBody>
      </p:sp>
      <p:sp>
        <p:nvSpPr>
          <p:cNvPr id="20" name="Shape 18"/>
          <p:cNvSpPr/>
          <p:nvPr/>
        </p:nvSpPr>
        <p:spPr>
          <a:xfrm>
            <a:off x="594360" y="2748686"/>
            <a:ext cx="2194560" cy="672998"/>
          </a:xfrm>
          <a:prstGeom prst="rect">
            <a:avLst/>
          </a:prstGeom>
          <a:solidFill>
            <a:srgbClr val="F1F5F9"/>
          </a:solidFill>
          <a:ln w="6350">
            <a:solidFill>
              <a:srgbClr val="D5DEE8"/>
            </a:solidFill>
            <a:prstDash val="solid"/>
          </a:ln>
        </p:spPr>
      </p:sp>
      <p:sp>
        <p:nvSpPr>
          <p:cNvPr id="21" name="Text 19"/>
          <p:cNvSpPr txBox="1"/>
          <p:nvPr/>
        </p:nvSpPr>
        <p:spPr>
          <a:xfrm>
            <a:off x="658368" y="2785262"/>
            <a:ext cx="2066544"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Control-plane association</a:t>
            </a:r>
            <a:endParaRPr lang="en-US" sz="950" dirty="0"/>
          </a:p>
        </p:txBody>
      </p:sp>
      <p:sp>
        <p:nvSpPr>
          <p:cNvPr id="22" name="Shape 20"/>
          <p:cNvSpPr/>
          <p:nvPr/>
        </p:nvSpPr>
        <p:spPr>
          <a:xfrm>
            <a:off x="2788920" y="2748686"/>
            <a:ext cx="2962656" cy="672998"/>
          </a:xfrm>
          <a:prstGeom prst="rect">
            <a:avLst/>
          </a:prstGeom>
          <a:solidFill>
            <a:srgbClr val="F1F5F9"/>
          </a:solidFill>
          <a:ln w="6350">
            <a:solidFill>
              <a:srgbClr val="D5DEE8"/>
            </a:solidFill>
            <a:prstDash val="solid"/>
          </a:ln>
        </p:spPr>
      </p:sp>
      <p:sp>
        <p:nvSpPr>
          <p:cNvPr id="23" name="Text 21"/>
          <p:cNvSpPr txBox="1"/>
          <p:nvPr/>
        </p:nvSpPr>
        <p:spPr>
          <a:xfrm>
            <a:off x="2852928" y="2785262"/>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Cloud Router + NAT configuration</a:t>
            </a:r>
            <a:endParaRPr lang="en-US" sz="950" dirty="0"/>
          </a:p>
        </p:txBody>
      </p:sp>
      <p:sp>
        <p:nvSpPr>
          <p:cNvPr id="24" name="Shape 22"/>
          <p:cNvSpPr/>
          <p:nvPr/>
        </p:nvSpPr>
        <p:spPr>
          <a:xfrm>
            <a:off x="5751576" y="2748686"/>
            <a:ext cx="2852928" cy="672998"/>
          </a:xfrm>
          <a:prstGeom prst="rect">
            <a:avLst/>
          </a:prstGeom>
          <a:solidFill>
            <a:srgbClr val="F1F5F9"/>
          </a:solidFill>
          <a:ln w="6350">
            <a:solidFill>
              <a:srgbClr val="D5DEE8"/>
            </a:solidFill>
            <a:prstDash val="solid"/>
          </a:ln>
        </p:spPr>
      </p:sp>
      <p:sp>
        <p:nvSpPr>
          <p:cNvPr id="25" name="Text 23"/>
          <p:cNvSpPr txBox="1"/>
          <p:nvPr/>
        </p:nvSpPr>
        <p:spPr>
          <a:xfrm>
            <a:off x="5815584" y="2785262"/>
            <a:ext cx="2724912"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Subnet route table points to NAT Gateway in public subnet</a:t>
            </a:r>
            <a:endParaRPr lang="en-US" sz="950" dirty="0"/>
          </a:p>
        </p:txBody>
      </p:sp>
      <p:sp>
        <p:nvSpPr>
          <p:cNvPr id="26" name="Shape 24"/>
          <p:cNvSpPr/>
          <p:nvPr/>
        </p:nvSpPr>
        <p:spPr>
          <a:xfrm>
            <a:off x="8604504" y="2748686"/>
            <a:ext cx="2962656" cy="672998"/>
          </a:xfrm>
          <a:prstGeom prst="rect">
            <a:avLst/>
          </a:prstGeom>
          <a:solidFill>
            <a:srgbClr val="F1F5F9"/>
          </a:solidFill>
          <a:ln w="6350">
            <a:solidFill>
              <a:srgbClr val="D5DEE8"/>
            </a:solidFill>
            <a:prstDash val="solid"/>
          </a:ln>
        </p:spPr>
      </p:sp>
      <p:sp>
        <p:nvSpPr>
          <p:cNvPr id="27" name="Text 25"/>
          <p:cNvSpPr txBox="1"/>
          <p:nvPr/>
        </p:nvSpPr>
        <p:spPr>
          <a:xfrm>
            <a:off x="8668512" y="2785262"/>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Subnet association to NAT Gateway</a:t>
            </a:r>
            <a:endParaRPr lang="en-US" sz="950" dirty="0"/>
          </a:p>
        </p:txBody>
      </p:sp>
      <p:sp>
        <p:nvSpPr>
          <p:cNvPr id="28" name="Shape 26"/>
          <p:cNvSpPr/>
          <p:nvPr/>
        </p:nvSpPr>
        <p:spPr>
          <a:xfrm>
            <a:off x="594360" y="3421685"/>
            <a:ext cx="2194560" cy="672998"/>
          </a:xfrm>
          <a:prstGeom prst="rect">
            <a:avLst/>
          </a:prstGeom>
          <a:solidFill>
            <a:srgbClr val="FFFFFF"/>
          </a:solidFill>
          <a:ln w="6350">
            <a:solidFill>
              <a:srgbClr val="D5DEE8"/>
            </a:solidFill>
            <a:prstDash val="solid"/>
          </a:ln>
        </p:spPr>
      </p:sp>
      <p:sp>
        <p:nvSpPr>
          <p:cNvPr id="29" name="Text 27"/>
          <p:cNvSpPr txBox="1"/>
          <p:nvPr/>
        </p:nvSpPr>
        <p:spPr>
          <a:xfrm>
            <a:off x="658368" y="3458261"/>
            <a:ext cx="2066544"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Private workload</a:t>
            </a:r>
            <a:endParaRPr lang="en-US" sz="950" dirty="0"/>
          </a:p>
        </p:txBody>
      </p:sp>
      <p:sp>
        <p:nvSpPr>
          <p:cNvPr id="30" name="Shape 28"/>
          <p:cNvSpPr/>
          <p:nvPr/>
        </p:nvSpPr>
        <p:spPr>
          <a:xfrm>
            <a:off x="2788920" y="3421685"/>
            <a:ext cx="2962656" cy="672998"/>
          </a:xfrm>
          <a:prstGeom prst="rect">
            <a:avLst/>
          </a:prstGeom>
          <a:solidFill>
            <a:srgbClr val="FFFFFF"/>
          </a:solidFill>
          <a:ln w="6350">
            <a:solidFill>
              <a:srgbClr val="D5DEE8"/>
            </a:solidFill>
            <a:prstDash val="solid"/>
          </a:ln>
        </p:spPr>
      </p:sp>
      <p:sp>
        <p:nvSpPr>
          <p:cNvPr id="31" name="Text 29"/>
          <p:cNvSpPr txBox="1"/>
          <p:nvPr/>
        </p:nvSpPr>
        <p:spPr>
          <a:xfrm>
            <a:off x="2852928" y="3458261"/>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VM has no external IPv4</a:t>
            </a:r>
            <a:endParaRPr lang="en-US" sz="950" dirty="0"/>
          </a:p>
        </p:txBody>
      </p:sp>
      <p:sp>
        <p:nvSpPr>
          <p:cNvPr id="32" name="Shape 30"/>
          <p:cNvSpPr/>
          <p:nvPr/>
        </p:nvSpPr>
        <p:spPr>
          <a:xfrm>
            <a:off x="5751576" y="3421685"/>
            <a:ext cx="2852928" cy="672998"/>
          </a:xfrm>
          <a:prstGeom prst="rect">
            <a:avLst/>
          </a:prstGeom>
          <a:solidFill>
            <a:srgbClr val="FFFFFF"/>
          </a:solidFill>
          <a:ln w="6350">
            <a:solidFill>
              <a:srgbClr val="D5DEE8"/>
            </a:solidFill>
            <a:prstDash val="solid"/>
          </a:ln>
        </p:spPr>
      </p:sp>
      <p:sp>
        <p:nvSpPr>
          <p:cNvPr id="33" name="Text 31"/>
          <p:cNvSpPr txBox="1"/>
          <p:nvPr/>
        </p:nvSpPr>
        <p:spPr>
          <a:xfrm>
            <a:off x="5815584" y="3458261"/>
            <a:ext cx="2724912"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EC2 in private subnet</a:t>
            </a:r>
            <a:endParaRPr lang="en-US" sz="950" dirty="0"/>
          </a:p>
        </p:txBody>
      </p:sp>
      <p:sp>
        <p:nvSpPr>
          <p:cNvPr id="34" name="Shape 32"/>
          <p:cNvSpPr/>
          <p:nvPr/>
        </p:nvSpPr>
        <p:spPr>
          <a:xfrm>
            <a:off x="8604504" y="3421685"/>
            <a:ext cx="2962656" cy="672998"/>
          </a:xfrm>
          <a:prstGeom prst="rect">
            <a:avLst/>
          </a:prstGeom>
          <a:solidFill>
            <a:srgbClr val="FFFFFF"/>
          </a:solidFill>
          <a:ln w="6350">
            <a:solidFill>
              <a:srgbClr val="D5DEE8"/>
            </a:solidFill>
            <a:prstDash val="solid"/>
          </a:ln>
        </p:spPr>
      </p:sp>
      <p:sp>
        <p:nvSpPr>
          <p:cNvPr id="35" name="Text 33"/>
          <p:cNvSpPr txBox="1"/>
          <p:nvPr/>
        </p:nvSpPr>
        <p:spPr>
          <a:xfrm>
            <a:off x="8668512" y="3458261"/>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VM in subnet with NAT association</a:t>
            </a:r>
            <a:endParaRPr lang="en-US" sz="950" dirty="0"/>
          </a:p>
        </p:txBody>
      </p:sp>
      <p:sp>
        <p:nvSpPr>
          <p:cNvPr id="36" name="Shape 34"/>
          <p:cNvSpPr/>
          <p:nvPr/>
        </p:nvSpPr>
        <p:spPr>
          <a:xfrm>
            <a:off x="594360" y="4094683"/>
            <a:ext cx="2194560" cy="672998"/>
          </a:xfrm>
          <a:prstGeom prst="rect">
            <a:avLst/>
          </a:prstGeom>
          <a:solidFill>
            <a:srgbClr val="F1F5F9"/>
          </a:solidFill>
          <a:ln w="6350">
            <a:solidFill>
              <a:srgbClr val="D5DEE8"/>
            </a:solidFill>
            <a:prstDash val="solid"/>
          </a:ln>
        </p:spPr>
      </p:sp>
      <p:sp>
        <p:nvSpPr>
          <p:cNvPr id="37" name="Text 35"/>
          <p:cNvSpPr txBox="1"/>
          <p:nvPr/>
        </p:nvSpPr>
        <p:spPr>
          <a:xfrm>
            <a:off x="658368" y="4131259"/>
            <a:ext cx="2066544"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Inbound initiated from Internet</a:t>
            </a:r>
            <a:endParaRPr lang="en-US" sz="950" dirty="0"/>
          </a:p>
        </p:txBody>
      </p:sp>
      <p:sp>
        <p:nvSpPr>
          <p:cNvPr id="38" name="Shape 36"/>
          <p:cNvSpPr/>
          <p:nvPr/>
        </p:nvSpPr>
        <p:spPr>
          <a:xfrm>
            <a:off x="2788920" y="4094683"/>
            <a:ext cx="2962656" cy="672998"/>
          </a:xfrm>
          <a:prstGeom prst="rect">
            <a:avLst/>
          </a:prstGeom>
          <a:solidFill>
            <a:srgbClr val="F1F5F9"/>
          </a:solidFill>
          <a:ln w="6350">
            <a:solidFill>
              <a:srgbClr val="D5DEE8"/>
            </a:solidFill>
            <a:prstDash val="solid"/>
          </a:ln>
        </p:spPr>
      </p:sp>
      <p:sp>
        <p:nvSpPr>
          <p:cNvPr id="39" name="Text 37"/>
          <p:cNvSpPr txBox="1"/>
          <p:nvPr/>
        </p:nvSpPr>
        <p:spPr>
          <a:xfrm>
            <a:off x="2852928" y="4131259"/>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Not allowed by NAT; response traffic only</a:t>
            </a:r>
            <a:endParaRPr lang="en-US" sz="950" dirty="0"/>
          </a:p>
        </p:txBody>
      </p:sp>
      <p:sp>
        <p:nvSpPr>
          <p:cNvPr id="40" name="Shape 38"/>
          <p:cNvSpPr/>
          <p:nvPr/>
        </p:nvSpPr>
        <p:spPr>
          <a:xfrm>
            <a:off x="5751576" y="4094683"/>
            <a:ext cx="2852928" cy="672998"/>
          </a:xfrm>
          <a:prstGeom prst="rect">
            <a:avLst/>
          </a:prstGeom>
          <a:solidFill>
            <a:srgbClr val="F1F5F9"/>
          </a:solidFill>
          <a:ln w="6350">
            <a:solidFill>
              <a:srgbClr val="D5DEE8"/>
            </a:solidFill>
            <a:prstDash val="solid"/>
          </a:ln>
        </p:spPr>
      </p:sp>
      <p:sp>
        <p:nvSpPr>
          <p:cNvPr id="41" name="Text 39"/>
          <p:cNvSpPr txBox="1"/>
          <p:nvPr/>
        </p:nvSpPr>
        <p:spPr>
          <a:xfrm>
            <a:off x="5815584" y="4131259"/>
            <a:ext cx="2724912"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Not allowed by NAT Gateway</a:t>
            </a:r>
            <a:endParaRPr lang="en-US" sz="950" dirty="0"/>
          </a:p>
        </p:txBody>
      </p:sp>
      <p:sp>
        <p:nvSpPr>
          <p:cNvPr id="42" name="Shape 40"/>
          <p:cNvSpPr/>
          <p:nvPr/>
        </p:nvSpPr>
        <p:spPr>
          <a:xfrm>
            <a:off x="8604504" y="4094683"/>
            <a:ext cx="2962656" cy="672998"/>
          </a:xfrm>
          <a:prstGeom prst="rect">
            <a:avLst/>
          </a:prstGeom>
          <a:solidFill>
            <a:srgbClr val="F1F5F9"/>
          </a:solidFill>
          <a:ln w="6350">
            <a:solidFill>
              <a:srgbClr val="D5DEE8"/>
            </a:solidFill>
            <a:prstDash val="solid"/>
          </a:ln>
        </p:spPr>
      </p:sp>
      <p:sp>
        <p:nvSpPr>
          <p:cNvPr id="43" name="Text 41"/>
          <p:cNvSpPr txBox="1"/>
          <p:nvPr/>
        </p:nvSpPr>
        <p:spPr>
          <a:xfrm>
            <a:off x="8668512" y="4131259"/>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Not allowed by NAT Gateway</a:t>
            </a:r>
            <a:endParaRPr lang="en-US" sz="950" dirty="0"/>
          </a:p>
        </p:txBody>
      </p:sp>
      <p:sp>
        <p:nvSpPr>
          <p:cNvPr id="44" name="Shape 42"/>
          <p:cNvSpPr/>
          <p:nvPr/>
        </p:nvSpPr>
        <p:spPr>
          <a:xfrm>
            <a:off x="594360" y="4767682"/>
            <a:ext cx="2194560" cy="672998"/>
          </a:xfrm>
          <a:prstGeom prst="rect">
            <a:avLst/>
          </a:prstGeom>
          <a:solidFill>
            <a:srgbClr val="FFFFFF"/>
          </a:solidFill>
          <a:ln w="6350">
            <a:solidFill>
              <a:srgbClr val="D5DEE8"/>
            </a:solidFill>
            <a:prstDash val="solid"/>
          </a:ln>
        </p:spPr>
      </p:sp>
      <p:sp>
        <p:nvSpPr>
          <p:cNvPr id="45" name="Text 43"/>
          <p:cNvSpPr txBox="1"/>
          <p:nvPr/>
        </p:nvSpPr>
        <p:spPr>
          <a:xfrm>
            <a:off x="658368" y="4804258"/>
            <a:ext cx="2066544"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Lab proof</a:t>
            </a:r>
            <a:endParaRPr lang="en-US" sz="950" dirty="0"/>
          </a:p>
        </p:txBody>
      </p:sp>
      <p:sp>
        <p:nvSpPr>
          <p:cNvPr id="46" name="Shape 44"/>
          <p:cNvSpPr/>
          <p:nvPr/>
        </p:nvSpPr>
        <p:spPr>
          <a:xfrm>
            <a:off x="2788920" y="4767682"/>
            <a:ext cx="2962656" cy="672998"/>
          </a:xfrm>
          <a:prstGeom prst="rect">
            <a:avLst/>
          </a:prstGeom>
          <a:solidFill>
            <a:srgbClr val="FFFFFF"/>
          </a:solidFill>
          <a:ln w="6350">
            <a:solidFill>
              <a:srgbClr val="D5DEE8"/>
            </a:solidFill>
            <a:prstDash val="solid"/>
          </a:ln>
        </p:spPr>
      </p:sp>
      <p:sp>
        <p:nvSpPr>
          <p:cNvPr id="47" name="Text 45"/>
          <p:cNvSpPr txBox="1"/>
          <p:nvPr/>
        </p:nvSpPr>
        <p:spPr>
          <a:xfrm>
            <a:off x="2852928" y="4804258"/>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Cloud NAT active + curl succeeds</a:t>
            </a:r>
            <a:endParaRPr lang="en-US" sz="950" dirty="0"/>
          </a:p>
        </p:txBody>
      </p:sp>
      <p:sp>
        <p:nvSpPr>
          <p:cNvPr id="48" name="Shape 46"/>
          <p:cNvSpPr/>
          <p:nvPr/>
        </p:nvSpPr>
        <p:spPr>
          <a:xfrm>
            <a:off x="5751576" y="4767682"/>
            <a:ext cx="2852928" cy="672998"/>
          </a:xfrm>
          <a:prstGeom prst="rect">
            <a:avLst/>
          </a:prstGeom>
          <a:solidFill>
            <a:srgbClr val="FFFFFF"/>
          </a:solidFill>
          <a:ln w="6350">
            <a:solidFill>
              <a:srgbClr val="D5DEE8"/>
            </a:solidFill>
            <a:prstDash val="solid"/>
          </a:ln>
        </p:spPr>
      </p:sp>
      <p:sp>
        <p:nvSpPr>
          <p:cNvPr id="49" name="Text 47"/>
          <p:cNvSpPr txBox="1"/>
          <p:nvPr/>
        </p:nvSpPr>
        <p:spPr>
          <a:xfrm>
            <a:off x="5815584" y="4804258"/>
            <a:ext cx="2724912"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Private subnet route + curl succeeds</a:t>
            </a:r>
            <a:endParaRPr lang="en-US" sz="950" dirty="0"/>
          </a:p>
        </p:txBody>
      </p:sp>
      <p:sp>
        <p:nvSpPr>
          <p:cNvPr id="50" name="Shape 48"/>
          <p:cNvSpPr/>
          <p:nvPr/>
        </p:nvSpPr>
        <p:spPr>
          <a:xfrm>
            <a:off x="8604504" y="4767682"/>
            <a:ext cx="2962656" cy="672998"/>
          </a:xfrm>
          <a:prstGeom prst="rect">
            <a:avLst/>
          </a:prstGeom>
          <a:solidFill>
            <a:srgbClr val="FFFFFF"/>
          </a:solidFill>
          <a:ln w="6350">
            <a:solidFill>
              <a:srgbClr val="D5DEE8"/>
            </a:solidFill>
            <a:prstDash val="solid"/>
          </a:ln>
        </p:spPr>
      </p:sp>
      <p:sp>
        <p:nvSpPr>
          <p:cNvPr id="51" name="Text 49"/>
          <p:cNvSpPr txBox="1"/>
          <p:nvPr/>
        </p:nvSpPr>
        <p:spPr>
          <a:xfrm>
            <a:off x="8668512" y="4804258"/>
            <a:ext cx="2834640" cy="599846"/>
          </a:xfrm>
          <a:prstGeom prst="rect">
            <a:avLst/>
          </a:prstGeom>
          <a:noFill/>
          <a:ln/>
        </p:spPr>
        <p:txBody>
          <a:bodyPr wrap="square" lIns="0" tIns="0" rIns="0" bIns="0" rtlCol="0" anchor="ctr">
            <a:normAutofit/>
          </a:bodyPr>
          <a:lstStyle/>
          <a:p>
            <a:pPr algn="l" indent="0" marL="0">
              <a:lnSpc>
                <a:spcPct val="95000"/>
              </a:lnSpc>
              <a:buNone/>
            </a:pPr>
            <a:r>
              <a:rPr lang="en-US" sz="950" dirty="0">
                <a:solidFill>
                  <a:srgbClr val="203040"/>
                </a:solidFill>
                <a:latin typeface="Carlito" pitchFamily="34" charset="0"/>
                <a:ea typeface="Carlito" pitchFamily="34" charset="-122"/>
                <a:cs typeface="Carlito" pitchFamily="34" charset="-120"/>
              </a:rPr>
              <a:t>Subnet NAT association + curl succeeds</a:t>
            </a:r>
            <a:endParaRPr lang="en-US" sz="950" dirty="0"/>
          </a:p>
        </p:txBody>
      </p:sp>
      <p:sp>
        <p:nvSpPr>
          <p:cNvPr id="52" name="Shape 50"/>
          <p:cNvSpPr/>
          <p:nvPr/>
        </p:nvSpPr>
        <p:spPr>
          <a:xfrm>
            <a:off x="777240" y="5623560"/>
            <a:ext cx="10607040" cy="475488"/>
          </a:xfrm>
          <a:prstGeom prst="roundRect">
            <a:avLst>
              <a:gd name="adj" fmla="val 15385"/>
            </a:avLst>
          </a:prstGeom>
          <a:solidFill>
            <a:srgbClr val="FFF5E6"/>
          </a:solidFill>
          <a:ln w="10160">
            <a:solidFill>
              <a:srgbClr val="FFF5E6"/>
            </a:solidFill>
            <a:prstDash val="solid"/>
          </a:ln>
        </p:spPr>
      </p:sp>
      <p:sp>
        <p:nvSpPr>
          <p:cNvPr id="53" name="Text 51"/>
          <p:cNvSpPr txBox="1"/>
          <p:nvPr/>
        </p:nvSpPr>
        <p:spPr>
          <a:xfrm>
            <a:off x="923544" y="5696712"/>
            <a:ext cx="10314432" cy="32918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Before-NAT failure is only expected when the training network has no alternate egress route or proxy. Check for organization-provided egress before interpreting the result.</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ENCRYPTION &amp; KEY MANAGEMENT</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Default encryption is already on; CMEK adds customer control</a:t>
            </a:r>
            <a:endParaRPr lang="en-US" sz="2500" dirty="0"/>
          </a:p>
        </p:txBody>
      </p:sp>
      <p:sp>
        <p:nvSpPr>
          <p:cNvPr id="4" name="Shape 2"/>
          <p:cNvSpPr/>
          <p:nvPr/>
        </p:nvSpPr>
        <p:spPr>
          <a:xfrm>
            <a:off x="731520" y="1783080"/>
            <a:ext cx="5074920" cy="2011680"/>
          </a:xfrm>
          <a:prstGeom prst="roundRect">
            <a:avLst>
              <a:gd name="adj" fmla="val 3636"/>
            </a:avLst>
          </a:prstGeom>
          <a:solidFill>
            <a:srgbClr val="FFFFFF"/>
          </a:solidFill>
          <a:ln w="10160">
            <a:solidFill>
              <a:srgbClr val="DCE3EB"/>
            </a:solidFill>
            <a:prstDash val="solid"/>
          </a:ln>
        </p:spPr>
      </p:sp>
      <p:sp>
        <p:nvSpPr>
          <p:cNvPr id="5" name="Shape 3"/>
          <p:cNvSpPr/>
          <p:nvPr/>
        </p:nvSpPr>
        <p:spPr>
          <a:xfrm>
            <a:off x="731520" y="1783080"/>
            <a:ext cx="73152" cy="2011680"/>
          </a:xfrm>
          <a:prstGeom prst="rect">
            <a:avLst>
              <a:gd name="adj" fmla="val 100000"/>
            </a:avLst>
          </a:prstGeom>
          <a:solidFill>
            <a:srgbClr val="16A36A"/>
          </a:solidFill>
          <a:ln w="10160">
            <a:solidFill>
              <a:srgbClr val="16A36A"/>
            </a:solidFill>
            <a:prstDash val="solid"/>
          </a:ln>
        </p:spPr>
      </p:sp>
      <p:sp>
        <p:nvSpPr>
          <p:cNvPr id="6" name="Text 4"/>
          <p:cNvSpPr txBox="1"/>
          <p:nvPr/>
        </p:nvSpPr>
        <p:spPr>
          <a:xfrm>
            <a:off x="932688" y="1911096"/>
            <a:ext cx="472744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GOOGLE-MANAGED DEFAULT ENCRYPTION</a:t>
            </a:r>
            <a:endParaRPr lang="en-US" sz="1500" dirty="0"/>
          </a:p>
        </p:txBody>
      </p:sp>
      <p:sp>
        <p:nvSpPr>
          <p:cNvPr id="7" name="Text 5"/>
          <p:cNvSpPr txBox="1"/>
          <p:nvPr/>
        </p:nvSpPr>
        <p:spPr>
          <a:xfrm>
            <a:off x="932688" y="2258568"/>
            <a:ext cx="4690872" cy="142646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Cloud Storage encrypts customer content at rest by default. Google manages the encryption keys and routine key operations. No plaintext-at-rest assumption should be made.</a:t>
            </a:r>
            <a:endParaRPr lang="en-US" sz="1200" dirty="0"/>
          </a:p>
        </p:txBody>
      </p:sp>
      <p:sp>
        <p:nvSpPr>
          <p:cNvPr id="8" name="Shape 6"/>
          <p:cNvSpPr/>
          <p:nvPr/>
        </p:nvSpPr>
        <p:spPr>
          <a:xfrm>
            <a:off x="6309360" y="1783080"/>
            <a:ext cx="5074920" cy="2011680"/>
          </a:xfrm>
          <a:prstGeom prst="roundRect">
            <a:avLst>
              <a:gd name="adj" fmla="val 3636"/>
            </a:avLst>
          </a:prstGeom>
          <a:solidFill>
            <a:srgbClr val="FFFFFF"/>
          </a:solidFill>
          <a:ln w="10160">
            <a:solidFill>
              <a:srgbClr val="DCE3EB"/>
            </a:solidFill>
            <a:prstDash val="solid"/>
          </a:ln>
        </p:spPr>
      </p:sp>
      <p:sp>
        <p:nvSpPr>
          <p:cNvPr id="9" name="Shape 7"/>
          <p:cNvSpPr/>
          <p:nvPr/>
        </p:nvSpPr>
        <p:spPr>
          <a:xfrm>
            <a:off x="6309360" y="1783080"/>
            <a:ext cx="73152" cy="2011680"/>
          </a:xfrm>
          <a:prstGeom prst="rect">
            <a:avLst>
              <a:gd name="adj" fmla="val 100000"/>
            </a:avLst>
          </a:prstGeom>
          <a:solidFill>
            <a:srgbClr val="7654B8"/>
          </a:solidFill>
          <a:ln w="10160">
            <a:solidFill>
              <a:srgbClr val="7654B8"/>
            </a:solidFill>
            <a:prstDash val="solid"/>
          </a:ln>
        </p:spPr>
      </p:sp>
      <p:sp>
        <p:nvSpPr>
          <p:cNvPr id="10" name="Text 8"/>
          <p:cNvSpPr txBox="1"/>
          <p:nvPr/>
        </p:nvSpPr>
        <p:spPr>
          <a:xfrm>
            <a:off x="6510528" y="1911096"/>
            <a:ext cx="4727448" cy="256032"/>
          </a:xfrm>
          <a:prstGeom prst="rect">
            <a:avLst/>
          </a:prstGeom>
          <a:noFill/>
          <a:ln/>
        </p:spPr>
        <p:txBody>
          <a:bodyPr wrap="square" lIns="0" tIns="0" rIns="0" bIns="0" rtlCol="0" anchor="ctr">
            <a:normAutofit/>
          </a:bodyPr>
          <a:lstStyle/>
          <a:p>
            <a:pPr algn="l" indent="0" marL="0">
              <a:lnSpc>
                <a:spcPct val="95000"/>
              </a:lnSpc>
              <a:buNone/>
            </a:pPr>
            <a:r>
              <a:rPr lang="en-US" sz="1500" b="1" dirty="0">
                <a:solidFill>
                  <a:srgbClr val="12304A"/>
                </a:solidFill>
                <a:latin typeface="Carlito" pitchFamily="34" charset="0"/>
                <a:ea typeface="Carlito" pitchFamily="34" charset="-122"/>
                <a:cs typeface="Carlito" pitchFamily="34" charset="-120"/>
              </a:rPr>
              <a:t>CUSTOMER-MANAGED ENCRYPTION KEY</a:t>
            </a:r>
            <a:endParaRPr lang="en-US" sz="1500" dirty="0"/>
          </a:p>
        </p:txBody>
      </p:sp>
      <p:sp>
        <p:nvSpPr>
          <p:cNvPr id="11" name="Text 9"/>
          <p:cNvSpPr txBox="1"/>
          <p:nvPr/>
        </p:nvSpPr>
        <p:spPr>
          <a:xfrm>
            <a:off x="6510528" y="2258568"/>
            <a:ext cx="4690872" cy="1426464"/>
          </a:xfrm>
          <a:prstGeom prst="rect">
            <a:avLst/>
          </a:prstGeom>
          <a:noFill/>
          <a:ln/>
        </p:spPr>
        <p:txBody>
          <a:bodyPr wrap="square" lIns="0" tIns="0" rIns="0" bIns="0"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A Cloud KMS key lets the customer control key location, rotation schedule, permissions, audit visibility and lifecycle. The service agent must be allowed to use the key.</a:t>
            </a:r>
            <a:endParaRPr lang="en-US" sz="1200" dirty="0"/>
          </a:p>
        </p:txBody>
      </p:sp>
      <p:sp>
        <p:nvSpPr>
          <p:cNvPr id="12" name="Text 10"/>
          <p:cNvSpPr txBox="1"/>
          <p:nvPr/>
        </p:nvSpPr>
        <p:spPr>
          <a:xfrm>
            <a:off x="822960" y="4160520"/>
            <a:ext cx="2011680" cy="201168"/>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2878C8"/>
                </a:solidFill>
                <a:latin typeface="Carlito" pitchFamily="34" charset="0"/>
                <a:ea typeface="Carlito" pitchFamily="34" charset="-122"/>
                <a:cs typeface="Carlito" pitchFamily="34" charset="-120"/>
              </a:rPr>
              <a:t>MENTAL MODEL</a:t>
            </a:r>
            <a:endParaRPr lang="en-US" sz="1000" dirty="0"/>
          </a:p>
        </p:txBody>
      </p:sp>
      <p:sp>
        <p:nvSpPr>
          <p:cNvPr id="13" name="Text 11"/>
          <p:cNvSpPr txBox="1"/>
          <p:nvPr/>
        </p:nvSpPr>
        <p:spPr>
          <a:xfrm>
            <a:off x="868680" y="4480560"/>
            <a:ext cx="10424160" cy="502920"/>
          </a:xfrm>
          <a:prstGeom prst="rect">
            <a:avLst/>
          </a:prstGeom>
          <a:noFill/>
          <a:ln/>
        </p:spPr>
        <p:txBody>
          <a:bodyPr wrap="square" lIns="0" tIns="0" rIns="0" bIns="0" rtlCol="0" anchor="ctr">
            <a:normAutofit/>
          </a:bodyPr>
          <a:lstStyle/>
          <a:p>
            <a:pPr algn="ctr" indent="0" marL="0">
              <a:lnSpc>
                <a:spcPct val="95000"/>
              </a:lnSpc>
              <a:buNone/>
            </a:pPr>
            <a:r>
              <a:rPr lang="en-US" sz="1900" b="1" dirty="0">
                <a:solidFill>
                  <a:srgbClr val="12304A"/>
                </a:solidFill>
                <a:latin typeface="Carlito" pitchFamily="34" charset="0"/>
                <a:ea typeface="Carlito" pitchFamily="34" charset="-122"/>
                <a:cs typeface="Carlito" pitchFamily="34" charset="-120"/>
              </a:rPr>
              <a:t>Data is encrypted either way. CMEK changes who governs the key and what control / audit capabilities the customer has.</a:t>
            </a:r>
            <a:endParaRPr lang="en-US" sz="1900" dirty="0"/>
          </a:p>
        </p:txBody>
      </p:sp>
      <p:sp>
        <p:nvSpPr>
          <p:cNvPr id="14" name="Shape 12"/>
          <p:cNvSpPr/>
          <p:nvPr/>
        </p:nvSpPr>
        <p:spPr>
          <a:xfrm>
            <a:off x="822960" y="5394960"/>
            <a:ext cx="10515600" cy="530352"/>
          </a:xfrm>
          <a:prstGeom prst="roundRect">
            <a:avLst>
              <a:gd name="adj" fmla="val 13793"/>
            </a:avLst>
          </a:prstGeom>
          <a:solidFill>
            <a:srgbClr val="FFF5E6"/>
          </a:solidFill>
          <a:ln w="10160">
            <a:solidFill>
              <a:srgbClr val="FFF5E6"/>
            </a:solidFill>
            <a:prstDash val="solid"/>
          </a:ln>
        </p:spPr>
      </p:sp>
      <p:sp>
        <p:nvSpPr>
          <p:cNvPr id="15" name="Text 13"/>
          <p:cNvSpPr txBox="1"/>
          <p:nvPr/>
        </p:nvSpPr>
        <p:spPr>
          <a:xfrm>
            <a:off x="969264" y="5468112"/>
            <a:ext cx="10222992" cy="38404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The lab phrase “unencrypted regulated data” is interpreted as a customer-managed-key governance gap, not a claim that GCS stores ordinary objects unencrypted at rest.</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CLOUD KMS + CLOUD STORAGE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How CMEK protects a new Cloud Storage object</a:t>
            </a:r>
            <a:endParaRPr lang="en-US" sz="2500" dirty="0"/>
          </a:p>
        </p:txBody>
      </p:sp>
      <p:sp>
        <p:nvSpPr>
          <p:cNvPr id="4" name="Shape 2"/>
          <p:cNvSpPr/>
          <p:nvPr/>
        </p:nvSpPr>
        <p:spPr>
          <a:xfrm>
            <a:off x="685800" y="1828800"/>
            <a:ext cx="2359152" cy="1188720"/>
          </a:xfrm>
          <a:prstGeom prst="roundRect">
            <a:avLst>
              <a:gd name="adj" fmla="val 6154"/>
            </a:avLst>
          </a:prstGeom>
          <a:solidFill>
            <a:srgbClr val="FFFFFF"/>
          </a:solidFill>
          <a:ln w="10160">
            <a:solidFill>
              <a:srgbClr val="DCE3EB"/>
            </a:solidFill>
            <a:prstDash val="solid"/>
          </a:ln>
        </p:spPr>
      </p:sp>
      <p:sp>
        <p:nvSpPr>
          <p:cNvPr id="5" name="Text 3"/>
          <p:cNvSpPr txBox="1"/>
          <p:nvPr/>
        </p:nvSpPr>
        <p:spPr>
          <a:xfrm>
            <a:off x="795528" y="2029968"/>
            <a:ext cx="213969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2878C8"/>
                </a:solidFill>
                <a:latin typeface="Carlito" pitchFamily="34" charset="0"/>
                <a:ea typeface="Carlito" pitchFamily="34" charset="-122"/>
                <a:cs typeface="Carlito" pitchFamily="34" charset="-120"/>
              </a:rPr>
              <a:t>BUCKET</a:t>
            </a:r>
            <a:endParaRPr lang="en-US" sz="1100" dirty="0"/>
          </a:p>
        </p:txBody>
      </p:sp>
      <p:sp>
        <p:nvSpPr>
          <p:cNvPr id="6" name="Text 4"/>
          <p:cNvSpPr txBox="1"/>
          <p:nvPr/>
        </p:nvSpPr>
        <p:spPr>
          <a:xfrm>
            <a:off x="804672" y="2395728"/>
            <a:ext cx="2121408" cy="347472"/>
          </a:xfrm>
          <a:prstGeom prst="rect">
            <a:avLst/>
          </a:prstGeom>
          <a:noFill/>
          <a:ln/>
        </p:spPr>
        <p:txBody>
          <a:bodyPr wrap="square" lIns="0" tIns="0" rIns="0" bIns="0" rtlCol="0" anchor="ctr">
            <a:normAutofit/>
          </a:bodyPr>
          <a:lstStyle/>
          <a:p>
            <a:pPr algn="ctr" indent="0" marL="0">
              <a:lnSpc>
                <a:spcPct val="95000"/>
              </a:lnSpc>
              <a:buNone/>
            </a:pPr>
            <a:r>
              <a:rPr lang="en-US" sz="1010" dirty="0">
                <a:solidFill>
                  <a:srgbClr val="203040"/>
                </a:solidFill>
                <a:latin typeface="Carlito" pitchFamily="34" charset="0"/>
                <a:ea typeface="Carlito" pitchFamily="34" charset="-122"/>
                <a:cs typeface="Carlito" pitchFamily="34" charset="-120"/>
              </a:rPr>
              <a:t>Default KMS key configured</a:t>
            </a:r>
            <a:endParaRPr lang="en-US" sz="1010" dirty="0"/>
          </a:p>
        </p:txBody>
      </p:sp>
      <p:sp>
        <p:nvSpPr>
          <p:cNvPr id="7" name="Shape 5"/>
          <p:cNvSpPr/>
          <p:nvPr/>
        </p:nvSpPr>
        <p:spPr>
          <a:xfrm>
            <a:off x="3081528" y="2450592"/>
            <a:ext cx="347472" cy="0"/>
          </a:xfrm>
          <a:prstGeom prst="line">
            <a:avLst/>
          </a:prstGeom>
          <a:noFill/>
          <a:ln w="19050">
            <a:solidFill>
              <a:srgbClr val="0D9488"/>
            </a:solidFill>
            <a:prstDash val="solid"/>
            <a:tailEnd type="triangle"/>
          </a:ln>
        </p:spPr>
      </p:sp>
      <p:sp>
        <p:nvSpPr>
          <p:cNvPr id="8" name="Shape 6"/>
          <p:cNvSpPr/>
          <p:nvPr/>
        </p:nvSpPr>
        <p:spPr>
          <a:xfrm>
            <a:off x="3520440" y="1828800"/>
            <a:ext cx="2359152" cy="1188720"/>
          </a:xfrm>
          <a:prstGeom prst="roundRect">
            <a:avLst>
              <a:gd name="adj" fmla="val 6154"/>
            </a:avLst>
          </a:prstGeom>
          <a:solidFill>
            <a:srgbClr val="FFFFFF"/>
          </a:solidFill>
          <a:ln w="10160">
            <a:solidFill>
              <a:srgbClr val="DCE3EB"/>
            </a:solidFill>
            <a:prstDash val="solid"/>
          </a:ln>
        </p:spPr>
      </p:sp>
      <p:sp>
        <p:nvSpPr>
          <p:cNvPr id="9" name="Text 7"/>
          <p:cNvSpPr txBox="1"/>
          <p:nvPr/>
        </p:nvSpPr>
        <p:spPr>
          <a:xfrm>
            <a:off x="3630168" y="2029968"/>
            <a:ext cx="213969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0D9488"/>
                </a:solidFill>
                <a:latin typeface="Carlito" pitchFamily="34" charset="0"/>
                <a:ea typeface="Carlito" pitchFamily="34" charset="-122"/>
                <a:cs typeface="Carlito" pitchFamily="34" charset="-120"/>
              </a:rPr>
              <a:t>SERVICE AGENT</a:t>
            </a:r>
            <a:endParaRPr lang="en-US" sz="1100" dirty="0"/>
          </a:p>
        </p:txBody>
      </p:sp>
      <p:sp>
        <p:nvSpPr>
          <p:cNvPr id="10" name="Text 8"/>
          <p:cNvSpPr txBox="1"/>
          <p:nvPr/>
        </p:nvSpPr>
        <p:spPr>
          <a:xfrm>
            <a:off x="3639312" y="2395728"/>
            <a:ext cx="2121408" cy="347472"/>
          </a:xfrm>
          <a:prstGeom prst="rect">
            <a:avLst/>
          </a:prstGeom>
          <a:noFill/>
          <a:ln/>
        </p:spPr>
        <p:txBody>
          <a:bodyPr wrap="square" lIns="0" tIns="0" rIns="0" bIns="0" rtlCol="0" anchor="ctr">
            <a:normAutofit/>
          </a:bodyPr>
          <a:lstStyle/>
          <a:p>
            <a:pPr algn="ctr" indent="0" marL="0">
              <a:lnSpc>
                <a:spcPct val="95000"/>
              </a:lnSpc>
              <a:buNone/>
            </a:pPr>
            <a:r>
              <a:rPr lang="en-US" sz="1010" dirty="0">
                <a:solidFill>
                  <a:srgbClr val="203040"/>
                </a:solidFill>
                <a:latin typeface="Carlito" pitchFamily="34" charset="0"/>
                <a:ea typeface="Carlito" pitchFamily="34" charset="-122"/>
                <a:cs typeface="Carlito" pitchFamily="34" charset="-120"/>
              </a:rPr>
              <a:t>Cloud Storage identity has key-use role</a:t>
            </a:r>
            <a:endParaRPr lang="en-US" sz="1010" dirty="0"/>
          </a:p>
        </p:txBody>
      </p:sp>
      <p:sp>
        <p:nvSpPr>
          <p:cNvPr id="11" name="Shape 9"/>
          <p:cNvSpPr/>
          <p:nvPr/>
        </p:nvSpPr>
        <p:spPr>
          <a:xfrm>
            <a:off x="5916168" y="2450592"/>
            <a:ext cx="347472" cy="0"/>
          </a:xfrm>
          <a:prstGeom prst="line">
            <a:avLst/>
          </a:prstGeom>
          <a:noFill/>
          <a:ln w="19050">
            <a:solidFill>
              <a:srgbClr val="0D9488"/>
            </a:solidFill>
            <a:prstDash val="solid"/>
            <a:tailEnd type="triangle"/>
          </a:ln>
        </p:spPr>
      </p:sp>
      <p:sp>
        <p:nvSpPr>
          <p:cNvPr id="12" name="Shape 10"/>
          <p:cNvSpPr/>
          <p:nvPr/>
        </p:nvSpPr>
        <p:spPr>
          <a:xfrm>
            <a:off x="6355080" y="1828800"/>
            <a:ext cx="2359152" cy="1188720"/>
          </a:xfrm>
          <a:prstGeom prst="roundRect">
            <a:avLst>
              <a:gd name="adj" fmla="val 6154"/>
            </a:avLst>
          </a:prstGeom>
          <a:solidFill>
            <a:srgbClr val="FFFFFF"/>
          </a:solidFill>
          <a:ln w="10160">
            <a:solidFill>
              <a:srgbClr val="DCE3EB"/>
            </a:solidFill>
            <a:prstDash val="solid"/>
          </a:ln>
        </p:spPr>
      </p:sp>
      <p:sp>
        <p:nvSpPr>
          <p:cNvPr id="13" name="Text 11"/>
          <p:cNvSpPr txBox="1"/>
          <p:nvPr/>
        </p:nvSpPr>
        <p:spPr>
          <a:xfrm>
            <a:off x="6464808" y="2029968"/>
            <a:ext cx="213969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7654B8"/>
                </a:solidFill>
                <a:latin typeface="Carlito" pitchFamily="34" charset="0"/>
                <a:ea typeface="Carlito" pitchFamily="34" charset="-122"/>
                <a:cs typeface="Carlito" pitchFamily="34" charset="-120"/>
              </a:rPr>
              <a:t>CLOUD KMS</a:t>
            </a:r>
            <a:endParaRPr lang="en-US" sz="1100" dirty="0"/>
          </a:p>
        </p:txBody>
      </p:sp>
      <p:sp>
        <p:nvSpPr>
          <p:cNvPr id="14" name="Text 12"/>
          <p:cNvSpPr txBox="1"/>
          <p:nvPr/>
        </p:nvSpPr>
        <p:spPr>
          <a:xfrm>
            <a:off x="6473952" y="2395728"/>
            <a:ext cx="2121408" cy="347472"/>
          </a:xfrm>
          <a:prstGeom prst="rect">
            <a:avLst/>
          </a:prstGeom>
          <a:noFill/>
          <a:ln/>
        </p:spPr>
        <p:txBody>
          <a:bodyPr wrap="square" lIns="0" tIns="0" rIns="0" bIns="0" rtlCol="0" anchor="ctr">
            <a:normAutofit/>
          </a:bodyPr>
          <a:lstStyle/>
          <a:p>
            <a:pPr algn="ctr" indent="0" marL="0">
              <a:lnSpc>
                <a:spcPct val="95000"/>
              </a:lnSpc>
              <a:buNone/>
            </a:pPr>
            <a:r>
              <a:rPr lang="en-US" sz="1010" dirty="0">
                <a:solidFill>
                  <a:srgbClr val="203040"/>
                </a:solidFill>
                <a:latin typeface="Carlito" pitchFamily="34" charset="0"/>
                <a:ea typeface="Carlito" pitchFamily="34" charset="-122"/>
                <a:cs typeface="Carlito" pitchFamily="34" charset="-120"/>
              </a:rPr>
              <a:t>CryptoKey version performs key operations</a:t>
            </a:r>
            <a:endParaRPr lang="en-US" sz="1010" dirty="0"/>
          </a:p>
        </p:txBody>
      </p:sp>
      <p:sp>
        <p:nvSpPr>
          <p:cNvPr id="15" name="Shape 13"/>
          <p:cNvSpPr/>
          <p:nvPr/>
        </p:nvSpPr>
        <p:spPr>
          <a:xfrm>
            <a:off x="8750808" y="2450592"/>
            <a:ext cx="347472" cy="0"/>
          </a:xfrm>
          <a:prstGeom prst="line">
            <a:avLst/>
          </a:prstGeom>
          <a:noFill/>
          <a:ln w="19050">
            <a:solidFill>
              <a:srgbClr val="0D9488"/>
            </a:solidFill>
            <a:prstDash val="solid"/>
            <a:tailEnd type="triangle"/>
          </a:ln>
        </p:spPr>
      </p:sp>
      <p:sp>
        <p:nvSpPr>
          <p:cNvPr id="16" name="Shape 14"/>
          <p:cNvSpPr/>
          <p:nvPr/>
        </p:nvSpPr>
        <p:spPr>
          <a:xfrm>
            <a:off x="9189720" y="1828800"/>
            <a:ext cx="2359152" cy="1188720"/>
          </a:xfrm>
          <a:prstGeom prst="roundRect">
            <a:avLst>
              <a:gd name="adj" fmla="val 6154"/>
            </a:avLst>
          </a:prstGeom>
          <a:solidFill>
            <a:srgbClr val="FFFFFF"/>
          </a:solidFill>
          <a:ln w="10160">
            <a:solidFill>
              <a:srgbClr val="DCE3EB"/>
            </a:solidFill>
            <a:prstDash val="solid"/>
          </a:ln>
        </p:spPr>
      </p:sp>
      <p:sp>
        <p:nvSpPr>
          <p:cNvPr id="17" name="Text 15"/>
          <p:cNvSpPr txBox="1"/>
          <p:nvPr/>
        </p:nvSpPr>
        <p:spPr>
          <a:xfrm>
            <a:off x="9299448" y="2029968"/>
            <a:ext cx="2139696" cy="182880"/>
          </a:xfrm>
          <a:prstGeom prst="rect">
            <a:avLst/>
          </a:prstGeom>
          <a:noFill/>
          <a:ln/>
        </p:spPr>
        <p:txBody>
          <a:bodyPr wrap="square" lIns="0" tIns="0" rIns="0" bIns="0" rtlCol="0" anchor="ctr">
            <a:normAutofit/>
          </a:bodyPr>
          <a:lstStyle/>
          <a:p>
            <a:pPr algn="ctr" indent="0" marL="0">
              <a:lnSpc>
                <a:spcPct val="95000"/>
              </a:lnSpc>
              <a:buNone/>
            </a:pPr>
            <a:r>
              <a:rPr lang="en-US" sz="1100" b="1" dirty="0">
                <a:solidFill>
                  <a:srgbClr val="16A36A"/>
                </a:solidFill>
                <a:latin typeface="Carlito" pitchFamily="34" charset="0"/>
                <a:ea typeface="Carlito" pitchFamily="34" charset="-122"/>
                <a:cs typeface="Carlito" pitchFamily="34" charset="-120"/>
              </a:rPr>
              <a:t>NEW OBJECT</a:t>
            </a:r>
            <a:endParaRPr lang="en-US" sz="1100" dirty="0"/>
          </a:p>
        </p:txBody>
      </p:sp>
      <p:sp>
        <p:nvSpPr>
          <p:cNvPr id="18" name="Text 16"/>
          <p:cNvSpPr txBox="1"/>
          <p:nvPr/>
        </p:nvSpPr>
        <p:spPr>
          <a:xfrm>
            <a:off x="9308592" y="2395728"/>
            <a:ext cx="2121408" cy="347472"/>
          </a:xfrm>
          <a:prstGeom prst="rect">
            <a:avLst/>
          </a:prstGeom>
          <a:noFill/>
          <a:ln/>
        </p:spPr>
        <p:txBody>
          <a:bodyPr wrap="square" lIns="0" tIns="0" rIns="0" bIns="0" rtlCol="0" anchor="ctr">
            <a:normAutofit/>
          </a:bodyPr>
          <a:lstStyle/>
          <a:p>
            <a:pPr algn="ctr" indent="0" marL="0">
              <a:lnSpc>
                <a:spcPct val="95000"/>
              </a:lnSpc>
              <a:buNone/>
            </a:pPr>
            <a:r>
              <a:rPr lang="en-US" sz="1010" dirty="0">
                <a:solidFill>
                  <a:srgbClr val="203040"/>
                </a:solidFill>
                <a:latin typeface="Carlito" pitchFamily="34" charset="0"/>
                <a:ea typeface="Carlito" pitchFamily="34" charset="-122"/>
                <a:cs typeface="Carlito" pitchFamily="34" charset="-120"/>
              </a:rPr>
              <a:t>Object metadata records kmsKeyName</a:t>
            </a:r>
            <a:endParaRPr lang="en-US" sz="1010" dirty="0"/>
          </a:p>
        </p:txBody>
      </p:sp>
      <p:sp>
        <p:nvSpPr>
          <p:cNvPr id="19" name="Text 17"/>
          <p:cNvSpPr txBox="1"/>
          <p:nvPr/>
        </p:nvSpPr>
        <p:spPr>
          <a:xfrm>
            <a:off x="822960" y="3703320"/>
            <a:ext cx="10424160" cy="1325880"/>
          </a:xfrm>
          <a:prstGeom prst="rect">
            <a:avLst/>
          </a:prstGeom>
          <a:noFill/>
          <a:ln/>
        </p:spPr>
        <p:txBody>
          <a:bodyPr wrap="square" lIns="254" tIns="254" rIns="254" bIns="254" rtlCol="0" anchor="t">
            <a:normAutofit/>
          </a:bodyPr>
          <a:lstStyle/>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The KMS key ring location must be compatible with the bucket location.</a:t>
            </a:r>
            <a:endParaRPr lang="en-US" sz="1210" dirty="0"/>
          </a:p>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The Cloud Storage service agent needs roles/cloudkms.cryptoKeyEncrypterDecrypter on the key.</a:t>
            </a:r>
            <a:endParaRPr lang="en-US" sz="1210" dirty="0"/>
          </a:p>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Changing the bucket default key affects future writes; it does not automatically re-encrypt objects already written.</a:t>
            </a:r>
            <a:endParaRPr lang="en-US" sz="1210" dirty="0"/>
          </a:p>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Upload a new synthetic object after enabling CMEK and inspect its kmsKeyName metadata.</a:t>
            </a:r>
            <a:endParaRPr lang="en-US" sz="1210" dirty="0"/>
          </a:p>
        </p:txBody>
      </p:sp>
      <p:sp>
        <p:nvSpPr>
          <p:cNvPr id="20" name="Shape 18"/>
          <p:cNvSpPr/>
          <p:nvPr/>
        </p:nvSpPr>
        <p:spPr>
          <a:xfrm>
            <a:off x="822960" y="5349240"/>
            <a:ext cx="10515600" cy="594360"/>
          </a:xfrm>
          <a:prstGeom prst="roundRect">
            <a:avLst>
              <a:gd name="adj" fmla="val 12308"/>
            </a:avLst>
          </a:prstGeom>
          <a:solidFill>
            <a:srgbClr val="FDEEEE"/>
          </a:solidFill>
          <a:ln w="10160">
            <a:solidFill>
              <a:srgbClr val="FDEEEE"/>
            </a:solidFill>
            <a:prstDash val="solid"/>
          </a:ln>
        </p:spPr>
      </p:sp>
      <p:sp>
        <p:nvSpPr>
          <p:cNvPr id="21" name="Text 19"/>
          <p:cNvSpPr txBox="1"/>
          <p:nvPr/>
        </p:nvSpPr>
        <p:spPr>
          <a:xfrm>
            <a:off x="969264" y="5422392"/>
            <a:ext cx="10222992" cy="44805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Key deletion can make ciphertext unrecoverable. The Day 6 Terraform package protects the key from accidental destroy; follow the key lifecycle closeout section before destroying the lab.</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SECURITY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Customer-managed keys: GCP vs AWS vs Azure</a:t>
            </a:r>
            <a:endParaRPr lang="en-US" sz="2500" dirty="0"/>
          </a:p>
        </p:txBody>
      </p:sp>
      <p:sp>
        <p:nvSpPr>
          <p:cNvPr id="4" name="Shape 2"/>
          <p:cNvSpPr/>
          <p:nvPr/>
        </p:nvSpPr>
        <p:spPr>
          <a:xfrm>
            <a:off x="594360" y="1664208"/>
            <a:ext cx="2194560" cy="384048"/>
          </a:xfrm>
          <a:prstGeom prst="rect">
            <a:avLst/>
          </a:prstGeom>
          <a:solidFill>
            <a:srgbClr val="12304A"/>
          </a:solidFill>
          <a:ln w="6350">
            <a:solidFill>
              <a:srgbClr val="D5DEE8"/>
            </a:solidFill>
            <a:prstDash val="solid"/>
          </a:ln>
        </p:spPr>
      </p:sp>
      <p:sp>
        <p:nvSpPr>
          <p:cNvPr id="5" name="Text 3"/>
          <p:cNvSpPr txBox="1"/>
          <p:nvPr/>
        </p:nvSpPr>
        <p:spPr>
          <a:xfrm>
            <a:off x="658368" y="1700784"/>
            <a:ext cx="2066544"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DIMENSION</a:t>
            </a:r>
            <a:endParaRPr lang="en-US" sz="930" dirty="0"/>
          </a:p>
        </p:txBody>
      </p:sp>
      <p:sp>
        <p:nvSpPr>
          <p:cNvPr id="6" name="Shape 4"/>
          <p:cNvSpPr/>
          <p:nvPr/>
        </p:nvSpPr>
        <p:spPr>
          <a:xfrm>
            <a:off x="2788920" y="1664208"/>
            <a:ext cx="2962656" cy="384048"/>
          </a:xfrm>
          <a:prstGeom prst="rect">
            <a:avLst/>
          </a:prstGeom>
          <a:solidFill>
            <a:srgbClr val="12304A"/>
          </a:solidFill>
          <a:ln w="6350">
            <a:solidFill>
              <a:srgbClr val="D5DEE8"/>
            </a:solidFill>
            <a:prstDash val="solid"/>
          </a:ln>
        </p:spPr>
      </p:sp>
      <p:sp>
        <p:nvSpPr>
          <p:cNvPr id="7" name="Text 5"/>
          <p:cNvSpPr txBox="1"/>
          <p:nvPr/>
        </p:nvSpPr>
        <p:spPr>
          <a:xfrm>
            <a:off x="2852928" y="1700784"/>
            <a:ext cx="2834640"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GOOGLE CLOUD</a:t>
            </a:r>
            <a:endParaRPr lang="en-US" sz="930" dirty="0"/>
          </a:p>
        </p:txBody>
      </p:sp>
      <p:sp>
        <p:nvSpPr>
          <p:cNvPr id="8" name="Shape 6"/>
          <p:cNvSpPr/>
          <p:nvPr/>
        </p:nvSpPr>
        <p:spPr>
          <a:xfrm>
            <a:off x="5751576" y="1664208"/>
            <a:ext cx="2852928" cy="384048"/>
          </a:xfrm>
          <a:prstGeom prst="rect">
            <a:avLst/>
          </a:prstGeom>
          <a:solidFill>
            <a:srgbClr val="12304A"/>
          </a:solidFill>
          <a:ln w="6350">
            <a:solidFill>
              <a:srgbClr val="D5DEE8"/>
            </a:solidFill>
            <a:prstDash val="solid"/>
          </a:ln>
        </p:spPr>
      </p:sp>
      <p:sp>
        <p:nvSpPr>
          <p:cNvPr id="9" name="Text 7"/>
          <p:cNvSpPr txBox="1"/>
          <p:nvPr/>
        </p:nvSpPr>
        <p:spPr>
          <a:xfrm>
            <a:off x="5815584" y="1700784"/>
            <a:ext cx="2724912"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AWS</a:t>
            </a:r>
            <a:endParaRPr lang="en-US" sz="930" dirty="0"/>
          </a:p>
        </p:txBody>
      </p:sp>
      <p:sp>
        <p:nvSpPr>
          <p:cNvPr id="10" name="Shape 8"/>
          <p:cNvSpPr/>
          <p:nvPr/>
        </p:nvSpPr>
        <p:spPr>
          <a:xfrm>
            <a:off x="8604504" y="1664208"/>
            <a:ext cx="2962656" cy="384048"/>
          </a:xfrm>
          <a:prstGeom prst="rect">
            <a:avLst/>
          </a:prstGeom>
          <a:solidFill>
            <a:srgbClr val="12304A"/>
          </a:solidFill>
          <a:ln w="6350">
            <a:solidFill>
              <a:srgbClr val="D5DEE8"/>
            </a:solidFill>
            <a:prstDash val="solid"/>
          </a:ln>
        </p:spPr>
      </p:sp>
      <p:sp>
        <p:nvSpPr>
          <p:cNvPr id="11" name="Text 9"/>
          <p:cNvSpPr txBox="1"/>
          <p:nvPr/>
        </p:nvSpPr>
        <p:spPr>
          <a:xfrm>
            <a:off x="8668512" y="1700784"/>
            <a:ext cx="2834640" cy="310896"/>
          </a:xfrm>
          <a:prstGeom prst="rect">
            <a:avLst/>
          </a:prstGeom>
          <a:noFill/>
          <a:ln/>
        </p:spPr>
        <p:txBody>
          <a:bodyPr wrap="square" lIns="0" tIns="0" rIns="0" bIns="0" rtlCol="0" anchor="ctr">
            <a:normAutofit/>
          </a:bodyPr>
          <a:lstStyle/>
          <a:p>
            <a:pPr algn="l" indent="0" marL="0">
              <a:lnSpc>
                <a:spcPct val="95000"/>
              </a:lnSpc>
              <a:buNone/>
            </a:pPr>
            <a:r>
              <a:rPr lang="en-US" sz="930" b="1" dirty="0">
                <a:solidFill>
                  <a:srgbClr val="FFFFFF"/>
                </a:solidFill>
                <a:latin typeface="Carlito" pitchFamily="34" charset="0"/>
                <a:ea typeface="Carlito" pitchFamily="34" charset="-122"/>
                <a:cs typeface="Carlito" pitchFamily="34" charset="-120"/>
              </a:rPr>
              <a:t>AZURE</a:t>
            </a:r>
            <a:endParaRPr lang="en-US" sz="930" dirty="0"/>
          </a:p>
        </p:txBody>
      </p:sp>
      <p:sp>
        <p:nvSpPr>
          <p:cNvPr id="12" name="Shape 10"/>
          <p:cNvSpPr/>
          <p:nvPr/>
        </p:nvSpPr>
        <p:spPr>
          <a:xfrm>
            <a:off x="594360" y="2048256"/>
            <a:ext cx="2194560" cy="718718"/>
          </a:xfrm>
          <a:prstGeom prst="rect">
            <a:avLst/>
          </a:prstGeom>
          <a:solidFill>
            <a:srgbClr val="FFFFFF"/>
          </a:solidFill>
          <a:ln w="6350">
            <a:solidFill>
              <a:srgbClr val="D5DEE8"/>
            </a:solidFill>
            <a:prstDash val="solid"/>
          </a:ln>
        </p:spPr>
      </p:sp>
      <p:sp>
        <p:nvSpPr>
          <p:cNvPr id="13" name="Text 11"/>
          <p:cNvSpPr txBox="1"/>
          <p:nvPr/>
        </p:nvSpPr>
        <p:spPr>
          <a:xfrm>
            <a:off x="658368" y="2084832"/>
            <a:ext cx="2066544"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Key service</a:t>
            </a:r>
            <a:endParaRPr lang="en-US" sz="910" dirty="0"/>
          </a:p>
        </p:txBody>
      </p:sp>
      <p:sp>
        <p:nvSpPr>
          <p:cNvPr id="14" name="Shape 12"/>
          <p:cNvSpPr/>
          <p:nvPr/>
        </p:nvSpPr>
        <p:spPr>
          <a:xfrm>
            <a:off x="2788920" y="2048256"/>
            <a:ext cx="2962656" cy="718718"/>
          </a:xfrm>
          <a:prstGeom prst="rect">
            <a:avLst/>
          </a:prstGeom>
          <a:solidFill>
            <a:srgbClr val="FFFFFF"/>
          </a:solidFill>
          <a:ln w="6350">
            <a:solidFill>
              <a:srgbClr val="D5DEE8"/>
            </a:solidFill>
            <a:prstDash val="solid"/>
          </a:ln>
        </p:spPr>
      </p:sp>
      <p:sp>
        <p:nvSpPr>
          <p:cNvPr id="15" name="Text 13"/>
          <p:cNvSpPr txBox="1"/>
          <p:nvPr/>
        </p:nvSpPr>
        <p:spPr>
          <a:xfrm>
            <a:off x="2852928" y="2084832"/>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Cloud KMS</a:t>
            </a:r>
            <a:endParaRPr lang="en-US" sz="910" dirty="0"/>
          </a:p>
        </p:txBody>
      </p:sp>
      <p:sp>
        <p:nvSpPr>
          <p:cNvPr id="16" name="Shape 14"/>
          <p:cNvSpPr/>
          <p:nvPr/>
        </p:nvSpPr>
        <p:spPr>
          <a:xfrm>
            <a:off x="5751576" y="2048256"/>
            <a:ext cx="2852928" cy="718718"/>
          </a:xfrm>
          <a:prstGeom prst="rect">
            <a:avLst/>
          </a:prstGeom>
          <a:solidFill>
            <a:srgbClr val="FFFFFF"/>
          </a:solidFill>
          <a:ln w="6350">
            <a:solidFill>
              <a:srgbClr val="D5DEE8"/>
            </a:solidFill>
            <a:prstDash val="solid"/>
          </a:ln>
        </p:spPr>
      </p:sp>
      <p:sp>
        <p:nvSpPr>
          <p:cNvPr id="17" name="Text 15"/>
          <p:cNvSpPr txBox="1"/>
          <p:nvPr/>
        </p:nvSpPr>
        <p:spPr>
          <a:xfrm>
            <a:off x="5815584" y="2084832"/>
            <a:ext cx="2724912"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AWS Key Management Service</a:t>
            </a:r>
            <a:endParaRPr lang="en-US" sz="910" dirty="0"/>
          </a:p>
        </p:txBody>
      </p:sp>
      <p:sp>
        <p:nvSpPr>
          <p:cNvPr id="18" name="Shape 16"/>
          <p:cNvSpPr/>
          <p:nvPr/>
        </p:nvSpPr>
        <p:spPr>
          <a:xfrm>
            <a:off x="8604504" y="2048256"/>
            <a:ext cx="2962656" cy="718718"/>
          </a:xfrm>
          <a:prstGeom prst="rect">
            <a:avLst/>
          </a:prstGeom>
          <a:solidFill>
            <a:srgbClr val="FFFFFF"/>
          </a:solidFill>
          <a:ln w="6350">
            <a:solidFill>
              <a:srgbClr val="D5DEE8"/>
            </a:solidFill>
            <a:prstDash val="solid"/>
          </a:ln>
        </p:spPr>
      </p:sp>
      <p:sp>
        <p:nvSpPr>
          <p:cNvPr id="19" name="Text 17"/>
          <p:cNvSpPr txBox="1"/>
          <p:nvPr/>
        </p:nvSpPr>
        <p:spPr>
          <a:xfrm>
            <a:off x="8668512" y="2084832"/>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Azure Key Vault / Managed HSM</a:t>
            </a:r>
            <a:endParaRPr lang="en-US" sz="910" dirty="0"/>
          </a:p>
        </p:txBody>
      </p:sp>
      <p:sp>
        <p:nvSpPr>
          <p:cNvPr id="20" name="Shape 18"/>
          <p:cNvSpPr/>
          <p:nvPr/>
        </p:nvSpPr>
        <p:spPr>
          <a:xfrm>
            <a:off x="594360" y="2766974"/>
            <a:ext cx="2194560" cy="718718"/>
          </a:xfrm>
          <a:prstGeom prst="rect">
            <a:avLst/>
          </a:prstGeom>
          <a:solidFill>
            <a:srgbClr val="F1F5F9"/>
          </a:solidFill>
          <a:ln w="6350">
            <a:solidFill>
              <a:srgbClr val="D5DEE8"/>
            </a:solidFill>
            <a:prstDash val="solid"/>
          </a:ln>
        </p:spPr>
      </p:sp>
      <p:sp>
        <p:nvSpPr>
          <p:cNvPr id="21" name="Text 19"/>
          <p:cNvSpPr txBox="1"/>
          <p:nvPr/>
        </p:nvSpPr>
        <p:spPr>
          <a:xfrm>
            <a:off x="658368" y="2803550"/>
            <a:ext cx="2066544"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Storage integration</a:t>
            </a:r>
            <a:endParaRPr lang="en-US" sz="910" dirty="0"/>
          </a:p>
        </p:txBody>
      </p:sp>
      <p:sp>
        <p:nvSpPr>
          <p:cNvPr id="22" name="Shape 20"/>
          <p:cNvSpPr/>
          <p:nvPr/>
        </p:nvSpPr>
        <p:spPr>
          <a:xfrm>
            <a:off x="2788920" y="2766974"/>
            <a:ext cx="2962656" cy="718718"/>
          </a:xfrm>
          <a:prstGeom prst="rect">
            <a:avLst/>
          </a:prstGeom>
          <a:solidFill>
            <a:srgbClr val="F1F5F9"/>
          </a:solidFill>
          <a:ln w="6350">
            <a:solidFill>
              <a:srgbClr val="D5DEE8"/>
            </a:solidFill>
            <a:prstDash val="solid"/>
          </a:ln>
        </p:spPr>
      </p:sp>
      <p:sp>
        <p:nvSpPr>
          <p:cNvPr id="23" name="Text 21"/>
          <p:cNvSpPr txBox="1"/>
          <p:nvPr/>
        </p:nvSpPr>
        <p:spPr>
          <a:xfrm>
            <a:off x="2852928" y="2803550"/>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Cloud Storage CMEK</a:t>
            </a:r>
            <a:endParaRPr lang="en-US" sz="910" dirty="0"/>
          </a:p>
        </p:txBody>
      </p:sp>
      <p:sp>
        <p:nvSpPr>
          <p:cNvPr id="24" name="Shape 22"/>
          <p:cNvSpPr/>
          <p:nvPr/>
        </p:nvSpPr>
        <p:spPr>
          <a:xfrm>
            <a:off x="5751576" y="2766974"/>
            <a:ext cx="2852928" cy="718718"/>
          </a:xfrm>
          <a:prstGeom prst="rect">
            <a:avLst/>
          </a:prstGeom>
          <a:solidFill>
            <a:srgbClr val="F1F5F9"/>
          </a:solidFill>
          <a:ln w="6350">
            <a:solidFill>
              <a:srgbClr val="D5DEE8"/>
            </a:solidFill>
            <a:prstDash val="solid"/>
          </a:ln>
        </p:spPr>
      </p:sp>
      <p:sp>
        <p:nvSpPr>
          <p:cNvPr id="25" name="Text 23"/>
          <p:cNvSpPr txBox="1"/>
          <p:nvPr/>
        </p:nvSpPr>
        <p:spPr>
          <a:xfrm>
            <a:off x="5815584" y="2803550"/>
            <a:ext cx="2724912"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S3 SSE-KMS / service integration</a:t>
            </a:r>
            <a:endParaRPr lang="en-US" sz="910" dirty="0"/>
          </a:p>
        </p:txBody>
      </p:sp>
      <p:sp>
        <p:nvSpPr>
          <p:cNvPr id="26" name="Shape 24"/>
          <p:cNvSpPr/>
          <p:nvPr/>
        </p:nvSpPr>
        <p:spPr>
          <a:xfrm>
            <a:off x="8604504" y="2766974"/>
            <a:ext cx="2962656" cy="718718"/>
          </a:xfrm>
          <a:prstGeom prst="rect">
            <a:avLst/>
          </a:prstGeom>
          <a:solidFill>
            <a:srgbClr val="F1F5F9"/>
          </a:solidFill>
          <a:ln w="6350">
            <a:solidFill>
              <a:srgbClr val="D5DEE8"/>
            </a:solidFill>
            <a:prstDash val="solid"/>
          </a:ln>
        </p:spPr>
      </p:sp>
      <p:sp>
        <p:nvSpPr>
          <p:cNvPr id="27" name="Text 25"/>
          <p:cNvSpPr txBox="1"/>
          <p:nvPr/>
        </p:nvSpPr>
        <p:spPr>
          <a:xfrm>
            <a:off x="8668512" y="2803550"/>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Azure Storage account encryption with CMK</a:t>
            </a:r>
            <a:endParaRPr lang="en-US" sz="910" dirty="0"/>
          </a:p>
        </p:txBody>
      </p:sp>
      <p:sp>
        <p:nvSpPr>
          <p:cNvPr id="28" name="Shape 26"/>
          <p:cNvSpPr/>
          <p:nvPr/>
        </p:nvSpPr>
        <p:spPr>
          <a:xfrm>
            <a:off x="594360" y="3485693"/>
            <a:ext cx="2194560" cy="718718"/>
          </a:xfrm>
          <a:prstGeom prst="rect">
            <a:avLst/>
          </a:prstGeom>
          <a:solidFill>
            <a:srgbClr val="FFFFFF"/>
          </a:solidFill>
          <a:ln w="6350">
            <a:solidFill>
              <a:srgbClr val="D5DEE8"/>
            </a:solidFill>
            <a:prstDash val="solid"/>
          </a:ln>
        </p:spPr>
      </p:sp>
      <p:sp>
        <p:nvSpPr>
          <p:cNvPr id="29" name="Text 27"/>
          <p:cNvSpPr txBox="1"/>
          <p:nvPr/>
        </p:nvSpPr>
        <p:spPr>
          <a:xfrm>
            <a:off x="658368" y="3522269"/>
            <a:ext cx="2066544"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Workload/service identity</a:t>
            </a:r>
            <a:endParaRPr lang="en-US" sz="910" dirty="0"/>
          </a:p>
        </p:txBody>
      </p:sp>
      <p:sp>
        <p:nvSpPr>
          <p:cNvPr id="30" name="Shape 28"/>
          <p:cNvSpPr/>
          <p:nvPr/>
        </p:nvSpPr>
        <p:spPr>
          <a:xfrm>
            <a:off x="2788920" y="3485693"/>
            <a:ext cx="2962656" cy="718718"/>
          </a:xfrm>
          <a:prstGeom prst="rect">
            <a:avLst/>
          </a:prstGeom>
          <a:solidFill>
            <a:srgbClr val="FFFFFF"/>
          </a:solidFill>
          <a:ln w="6350">
            <a:solidFill>
              <a:srgbClr val="D5DEE8"/>
            </a:solidFill>
            <a:prstDash val="solid"/>
          </a:ln>
        </p:spPr>
      </p:sp>
      <p:sp>
        <p:nvSpPr>
          <p:cNvPr id="31" name="Text 29"/>
          <p:cNvSpPr txBox="1"/>
          <p:nvPr/>
        </p:nvSpPr>
        <p:spPr>
          <a:xfrm>
            <a:off x="2852928" y="3522269"/>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Cloud Storage service agent</a:t>
            </a:r>
            <a:endParaRPr lang="en-US" sz="910" dirty="0"/>
          </a:p>
        </p:txBody>
      </p:sp>
      <p:sp>
        <p:nvSpPr>
          <p:cNvPr id="32" name="Shape 30"/>
          <p:cNvSpPr/>
          <p:nvPr/>
        </p:nvSpPr>
        <p:spPr>
          <a:xfrm>
            <a:off x="5751576" y="3485693"/>
            <a:ext cx="2852928" cy="718718"/>
          </a:xfrm>
          <a:prstGeom prst="rect">
            <a:avLst/>
          </a:prstGeom>
          <a:solidFill>
            <a:srgbClr val="FFFFFF"/>
          </a:solidFill>
          <a:ln w="6350">
            <a:solidFill>
              <a:srgbClr val="D5DEE8"/>
            </a:solidFill>
            <a:prstDash val="solid"/>
          </a:ln>
        </p:spPr>
      </p:sp>
      <p:sp>
        <p:nvSpPr>
          <p:cNvPr id="33" name="Text 31"/>
          <p:cNvSpPr txBox="1"/>
          <p:nvPr/>
        </p:nvSpPr>
        <p:spPr>
          <a:xfrm>
            <a:off x="5815584" y="3522269"/>
            <a:ext cx="2724912"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AWS service principal / key policy integration</a:t>
            </a:r>
            <a:endParaRPr lang="en-US" sz="910" dirty="0"/>
          </a:p>
        </p:txBody>
      </p:sp>
      <p:sp>
        <p:nvSpPr>
          <p:cNvPr id="34" name="Shape 32"/>
          <p:cNvSpPr/>
          <p:nvPr/>
        </p:nvSpPr>
        <p:spPr>
          <a:xfrm>
            <a:off x="8604504" y="3485693"/>
            <a:ext cx="2962656" cy="718718"/>
          </a:xfrm>
          <a:prstGeom prst="rect">
            <a:avLst/>
          </a:prstGeom>
          <a:solidFill>
            <a:srgbClr val="FFFFFF"/>
          </a:solidFill>
          <a:ln w="6350">
            <a:solidFill>
              <a:srgbClr val="D5DEE8"/>
            </a:solidFill>
            <a:prstDash val="solid"/>
          </a:ln>
        </p:spPr>
      </p:sp>
      <p:sp>
        <p:nvSpPr>
          <p:cNvPr id="35" name="Text 33"/>
          <p:cNvSpPr txBox="1"/>
          <p:nvPr/>
        </p:nvSpPr>
        <p:spPr>
          <a:xfrm>
            <a:off x="8668512" y="3522269"/>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Managed identity with Key Vault key permissions</a:t>
            </a:r>
            <a:endParaRPr lang="en-US" sz="910" dirty="0"/>
          </a:p>
        </p:txBody>
      </p:sp>
      <p:sp>
        <p:nvSpPr>
          <p:cNvPr id="36" name="Shape 34"/>
          <p:cNvSpPr/>
          <p:nvPr/>
        </p:nvSpPr>
        <p:spPr>
          <a:xfrm>
            <a:off x="594360" y="4204411"/>
            <a:ext cx="2194560" cy="718718"/>
          </a:xfrm>
          <a:prstGeom prst="rect">
            <a:avLst/>
          </a:prstGeom>
          <a:solidFill>
            <a:srgbClr val="F1F5F9"/>
          </a:solidFill>
          <a:ln w="6350">
            <a:solidFill>
              <a:srgbClr val="D5DEE8"/>
            </a:solidFill>
            <a:prstDash val="solid"/>
          </a:ln>
        </p:spPr>
      </p:sp>
      <p:sp>
        <p:nvSpPr>
          <p:cNvPr id="37" name="Text 35"/>
          <p:cNvSpPr txBox="1"/>
          <p:nvPr/>
        </p:nvSpPr>
        <p:spPr>
          <a:xfrm>
            <a:off x="658368" y="4240987"/>
            <a:ext cx="2066544"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Key permissions</a:t>
            </a:r>
            <a:endParaRPr lang="en-US" sz="910" dirty="0"/>
          </a:p>
        </p:txBody>
      </p:sp>
      <p:sp>
        <p:nvSpPr>
          <p:cNvPr id="38" name="Shape 36"/>
          <p:cNvSpPr/>
          <p:nvPr/>
        </p:nvSpPr>
        <p:spPr>
          <a:xfrm>
            <a:off x="2788920" y="4204411"/>
            <a:ext cx="2962656" cy="718718"/>
          </a:xfrm>
          <a:prstGeom prst="rect">
            <a:avLst/>
          </a:prstGeom>
          <a:solidFill>
            <a:srgbClr val="F1F5F9"/>
          </a:solidFill>
          <a:ln w="6350">
            <a:solidFill>
              <a:srgbClr val="D5DEE8"/>
            </a:solidFill>
            <a:prstDash val="solid"/>
          </a:ln>
        </p:spPr>
      </p:sp>
      <p:sp>
        <p:nvSpPr>
          <p:cNvPr id="39" name="Text 37"/>
          <p:cNvSpPr txBox="1"/>
          <p:nvPr/>
        </p:nvSpPr>
        <p:spPr>
          <a:xfrm>
            <a:off x="2852928" y="4240987"/>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IAM role on CryptoKey</a:t>
            </a:r>
            <a:endParaRPr lang="en-US" sz="910" dirty="0"/>
          </a:p>
        </p:txBody>
      </p:sp>
      <p:sp>
        <p:nvSpPr>
          <p:cNvPr id="40" name="Shape 38"/>
          <p:cNvSpPr/>
          <p:nvPr/>
        </p:nvSpPr>
        <p:spPr>
          <a:xfrm>
            <a:off x="5751576" y="4204411"/>
            <a:ext cx="2852928" cy="718718"/>
          </a:xfrm>
          <a:prstGeom prst="rect">
            <a:avLst/>
          </a:prstGeom>
          <a:solidFill>
            <a:srgbClr val="F1F5F9"/>
          </a:solidFill>
          <a:ln w="6350">
            <a:solidFill>
              <a:srgbClr val="D5DEE8"/>
            </a:solidFill>
            <a:prstDash val="solid"/>
          </a:ln>
        </p:spPr>
      </p:sp>
      <p:sp>
        <p:nvSpPr>
          <p:cNvPr id="41" name="Text 39"/>
          <p:cNvSpPr txBox="1"/>
          <p:nvPr/>
        </p:nvSpPr>
        <p:spPr>
          <a:xfrm>
            <a:off x="5815584" y="4240987"/>
            <a:ext cx="2724912"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Key policy + IAM grants</a:t>
            </a:r>
            <a:endParaRPr lang="en-US" sz="910" dirty="0"/>
          </a:p>
        </p:txBody>
      </p:sp>
      <p:sp>
        <p:nvSpPr>
          <p:cNvPr id="42" name="Shape 40"/>
          <p:cNvSpPr/>
          <p:nvPr/>
        </p:nvSpPr>
        <p:spPr>
          <a:xfrm>
            <a:off x="8604504" y="4204411"/>
            <a:ext cx="2962656" cy="718718"/>
          </a:xfrm>
          <a:prstGeom prst="rect">
            <a:avLst/>
          </a:prstGeom>
          <a:solidFill>
            <a:srgbClr val="F1F5F9"/>
          </a:solidFill>
          <a:ln w="6350">
            <a:solidFill>
              <a:srgbClr val="D5DEE8"/>
            </a:solidFill>
            <a:prstDash val="solid"/>
          </a:ln>
        </p:spPr>
      </p:sp>
      <p:sp>
        <p:nvSpPr>
          <p:cNvPr id="43" name="Text 41"/>
          <p:cNvSpPr txBox="1"/>
          <p:nvPr/>
        </p:nvSpPr>
        <p:spPr>
          <a:xfrm>
            <a:off x="8668512" y="4240987"/>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Key Vault RBAC / access model</a:t>
            </a:r>
            <a:endParaRPr lang="en-US" sz="910" dirty="0"/>
          </a:p>
        </p:txBody>
      </p:sp>
      <p:sp>
        <p:nvSpPr>
          <p:cNvPr id="44" name="Shape 42"/>
          <p:cNvSpPr/>
          <p:nvPr/>
        </p:nvSpPr>
        <p:spPr>
          <a:xfrm>
            <a:off x="594360" y="4923130"/>
            <a:ext cx="2194560" cy="718718"/>
          </a:xfrm>
          <a:prstGeom prst="rect">
            <a:avLst/>
          </a:prstGeom>
          <a:solidFill>
            <a:srgbClr val="FFFFFF"/>
          </a:solidFill>
          <a:ln w="6350">
            <a:solidFill>
              <a:srgbClr val="D5DEE8"/>
            </a:solidFill>
            <a:prstDash val="solid"/>
          </a:ln>
        </p:spPr>
      </p:sp>
      <p:sp>
        <p:nvSpPr>
          <p:cNvPr id="45" name="Text 43"/>
          <p:cNvSpPr txBox="1"/>
          <p:nvPr/>
        </p:nvSpPr>
        <p:spPr>
          <a:xfrm>
            <a:off x="658368" y="4959706"/>
            <a:ext cx="2066544"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Rotation behaviour</a:t>
            </a:r>
            <a:endParaRPr lang="en-US" sz="910" dirty="0"/>
          </a:p>
        </p:txBody>
      </p:sp>
      <p:sp>
        <p:nvSpPr>
          <p:cNvPr id="46" name="Shape 44"/>
          <p:cNvSpPr/>
          <p:nvPr/>
        </p:nvSpPr>
        <p:spPr>
          <a:xfrm>
            <a:off x="2788920" y="4923130"/>
            <a:ext cx="2962656" cy="718718"/>
          </a:xfrm>
          <a:prstGeom prst="rect">
            <a:avLst/>
          </a:prstGeom>
          <a:solidFill>
            <a:srgbClr val="FFFFFF"/>
          </a:solidFill>
          <a:ln w="6350">
            <a:solidFill>
              <a:srgbClr val="D5DEE8"/>
            </a:solidFill>
            <a:prstDash val="solid"/>
          </a:ln>
        </p:spPr>
      </p:sp>
      <p:sp>
        <p:nvSpPr>
          <p:cNvPr id="47" name="Text 45"/>
          <p:cNvSpPr txBox="1"/>
          <p:nvPr/>
        </p:nvSpPr>
        <p:spPr>
          <a:xfrm>
            <a:off x="2852928" y="4959706"/>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New key version; old versions remain for decrypt</a:t>
            </a:r>
            <a:endParaRPr lang="en-US" sz="910" dirty="0"/>
          </a:p>
        </p:txBody>
      </p:sp>
      <p:sp>
        <p:nvSpPr>
          <p:cNvPr id="48" name="Shape 46"/>
          <p:cNvSpPr/>
          <p:nvPr/>
        </p:nvSpPr>
        <p:spPr>
          <a:xfrm>
            <a:off x="5751576" y="4923130"/>
            <a:ext cx="2852928" cy="718718"/>
          </a:xfrm>
          <a:prstGeom prst="rect">
            <a:avLst/>
          </a:prstGeom>
          <a:solidFill>
            <a:srgbClr val="FFFFFF"/>
          </a:solidFill>
          <a:ln w="6350">
            <a:solidFill>
              <a:srgbClr val="D5DEE8"/>
            </a:solidFill>
            <a:prstDash val="solid"/>
          </a:ln>
        </p:spPr>
      </p:sp>
      <p:sp>
        <p:nvSpPr>
          <p:cNvPr id="49" name="Text 47"/>
          <p:cNvSpPr txBox="1"/>
          <p:nvPr/>
        </p:nvSpPr>
        <p:spPr>
          <a:xfrm>
            <a:off x="5815584" y="4959706"/>
            <a:ext cx="2724912"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KMS automatic or on-demand key rotation subject to key type</a:t>
            </a:r>
            <a:endParaRPr lang="en-US" sz="910" dirty="0"/>
          </a:p>
        </p:txBody>
      </p:sp>
      <p:sp>
        <p:nvSpPr>
          <p:cNvPr id="50" name="Shape 48"/>
          <p:cNvSpPr/>
          <p:nvPr/>
        </p:nvSpPr>
        <p:spPr>
          <a:xfrm>
            <a:off x="8604504" y="4923130"/>
            <a:ext cx="2962656" cy="718718"/>
          </a:xfrm>
          <a:prstGeom prst="rect">
            <a:avLst/>
          </a:prstGeom>
          <a:solidFill>
            <a:srgbClr val="FFFFFF"/>
          </a:solidFill>
          <a:ln w="6350">
            <a:solidFill>
              <a:srgbClr val="D5DEE8"/>
            </a:solidFill>
            <a:prstDash val="solid"/>
          </a:ln>
        </p:spPr>
      </p:sp>
      <p:sp>
        <p:nvSpPr>
          <p:cNvPr id="51" name="Text 49"/>
          <p:cNvSpPr txBox="1"/>
          <p:nvPr/>
        </p:nvSpPr>
        <p:spPr>
          <a:xfrm>
            <a:off x="8668512" y="4959706"/>
            <a:ext cx="2834640" cy="645566"/>
          </a:xfrm>
          <a:prstGeom prst="rect">
            <a:avLst/>
          </a:prstGeom>
          <a:noFill/>
          <a:ln/>
        </p:spPr>
        <p:txBody>
          <a:bodyPr wrap="square" lIns="0" tIns="0" rIns="0" bIns="0" rtlCol="0" anchor="ctr">
            <a:normAutofit/>
          </a:bodyPr>
          <a:lstStyle/>
          <a:p>
            <a:pPr algn="l" indent="0" marL="0">
              <a:lnSpc>
                <a:spcPct val="95000"/>
              </a:lnSpc>
              <a:buNone/>
            </a:pPr>
            <a:r>
              <a:rPr lang="en-US" sz="910" dirty="0">
                <a:solidFill>
                  <a:srgbClr val="203040"/>
                </a:solidFill>
                <a:latin typeface="Carlito" pitchFamily="34" charset="0"/>
                <a:ea typeface="Carlito" pitchFamily="34" charset="-122"/>
                <a:cs typeface="Carlito" pitchFamily="34" charset="-120"/>
              </a:rPr>
              <a:t>Key Vault rotation policy; storage config updates per chosen version model</a:t>
            </a:r>
            <a:endParaRPr lang="en-US" sz="910" dirty="0"/>
          </a:p>
        </p:txBody>
      </p:sp>
      <p:sp>
        <p:nvSpPr>
          <p:cNvPr id="52" name="Shape 50"/>
          <p:cNvSpPr/>
          <p:nvPr/>
        </p:nvSpPr>
        <p:spPr>
          <a:xfrm>
            <a:off x="777240" y="5760720"/>
            <a:ext cx="10607040" cy="411480"/>
          </a:xfrm>
          <a:prstGeom prst="roundRect">
            <a:avLst>
              <a:gd name="adj" fmla="val 17778"/>
            </a:avLst>
          </a:prstGeom>
          <a:solidFill>
            <a:srgbClr val="F2EDFA"/>
          </a:solidFill>
          <a:ln w="10160">
            <a:solidFill>
              <a:srgbClr val="F2EDFA"/>
            </a:solidFill>
            <a:prstDash val="solid"/>
          </a:ln>
        </p:spPr>
      </p:sp>
      <p:sp>
        <p:nvSpPr>
          <p:cNvPr id="53" name="Text 51"/>
          <p:cNvSpPr txBox="1"/>
          <p:nvPr/>
        </p:nvSpPr>
        <p:spPr>
          <a:xfrm>
            <a:off x="923544" y="5833872"/>
            <a:ext cx="10314432" cy="26517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7654B8"/>
                </a:solidFill>
                <a:latin typeface="Carlito" pitchFamily="34" charset="0"/>
                <a:ea typeface="Carlito" pitchFamily="34" charset="-122"/>
                <a:cs typeface="Carlito" pitchFamily="34" charset="-120"/>
              </a:rPr>
              <a:t>CMEK is not “encrypt vs no encryption.” It is a key-governance choice. Compare key ownership, service identity permissions, rotation behaviour, auditability and recovery implications.</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SECRET MANAGEMENT</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Secret Manager stores secret versions; rotation is a controlled change</a:t>
            </a:r>
            <a:endParaRPr lang="en-US" sz="2500" dirty="0"/>
          </a:p>
        </p:txBody>
      </p:sp>
      <p:sp>
        <p:nvSpPr>
          <p:cNvPr id="4" name="Shape 2"/>
          <p:cNvSpPr/>
          <p:nvPr/>
        </p:nvSpPr>
        <p:spPr>
          <a:xfrm>
            <a:off x="914400" y="1828800"/>
            <a:ext cx="2880360" cy="1143000"/>
          </a:xfrm>
          <a:prstGeom prst="roundRect">
            <a:avLst>
              <a:gd name="adj" fmla="val 6400"/>
            </a:avLst>
          </a:prstGeom>
          <a:solidFill>
            <a:srgbClr val="EAF3FC"/>
          </a:solidFill>
          <a:ln w="10160">
            <a:solidFill>
              <a:srgbClr val="DCE3EB"/>
            </a:solidFill>
            <a:prstDash val="solid"/>
          </a:ln>
        </p:spPr>
      </p:sp>
      <p:sp>
        <p:nvSpPr>
          <p:cNvPr id="5" name="Text 3"/>
          <p:cNvSpPr txBox="1"/>
          <p:nvPr/>
        </p:nvSpPr>
        <p:spPr>
          <a:xfrm>
            <a:off x="1024128" y="2011680"/>
            <a:ext cx="2651760" cy="182880"/>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2878C8"/>
                </a:solidFill>
                <a:latin typeface="Carlito" pitchFamily="34" charset="0"/>
                <a:ea typeface="Carlito" pitchFamily="34" charset="-122"/>
                <a:cs typeface="Carlito" pitchFamily="34" charset="-120"/>
              </a:rPr>
              <a:t>VERSION 1</a:t>
            </a:r>
            <a:endParaRPr lang="en-US" sz="1200" dirty="0"/>
          </a:p>
        </p:txBody>
      </p:sp>
      <p:sp>
        <p:nvSpPr>
          <p:cNvPr id="6" name="Text 4"/>
          <p:cNvSpPr txBox="1"/>
          <p:nvPr/>
        </p:nvSpPr>
        <p:spPr>
          <a:xfrm>
            <a:off x="1024128" y="2395728"/>
            <a:ext cx="2651760" cy="182880"/>
          </a:xfrm>
          <a:prstGeom prst="rect">
            <a:avLst/>
          </a:prstGeom>
          <a:noFill/>
          <a:ln/>
        </p:spPr>
        <p:txBody>
          <a:bodyPr wrap="square" lIns="0" tIns="0" rIns="0" bIns="0" rtlCol="0" anchor="ctr">
            <a:normAutofit/>
          </a:bodyPr>
          <a:lstStyle/>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Enabled</a:t>
            </a:r>
            <a:endParaRPr lang="en-US" sz="1100" dirty="0"/>
          </a:p>
        </p:txBody>
      </p:sp>
      <p:sp>
        <p:nvSpPr>
          <p:cNvPr id="7" name="Shape 5"/>
          <p:cNvSpPr/>
          <p:nvPr/>
        </p:nvSpPr>
        <p:spPr>
          <a:xfrm>
            <a:off x="3840480" y="2395728"/>
            <a:ext cx="594360" cy="0"/>
          </a:xfrm>
          <a:prstGeom prst="line">
            <a:avLst/>
          </a:prstGeom>
          <a:noFill/>
          <a:ln w="19050">
            <a:solidFill>
              <a:srgbClr val="0D9488"/>
            </a:solidFill>
            <a:prstDash val="solid"/>
            <a:tailEnd type="triangle"/>
          </a:ln>
        </p:spPr>
      </p:sp>
      <p:sp>
        <p:nvSpPr>
          <p:cNvPr id="8" name="Shape 6"/>
          <p:cNvSpPr/>
          <p:nvPr/>
        </p:nvSpPr>
        <p:spPr>
          <a:xfrm>
            <a:off x="4572000" y="1828800"/>
            <a:ext cx="2880360" cy="1143000"/>
          </a:xfrm>
          <a:prstGeom prst="roundRect">
            <a:avLst>
              <a:gd name="adj" fmla="val 6400"/>
            </a:avLst>
          </a:prstGeom>
          <a:solidFill>
            <a:srgbClr val="E9F7F0"/>
          </a:solidFill>
          <a:ln w="10160">
            <a:solidFill>
              <a:srgbClr val="DCE3EB"/>
            </a:solidFill>
            <a:prstDash val="solid"/>
          </a:ln>
        </p:spPr>
      </p:sp>
      <p:sp>
        <p:nvSpPr>
          <p:cNvPr id="9" name="Text 7"/>
          <p:cNvSpPr txBox="1"/>
          <p:nvPr/>
        </p:nvSpPr>
        <p:spPr>
          <a:xfrm>
            <a:off x="4681728" y="2011680"/>
            <a:ext cx="2651760" cy="182880"/>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16A36A"/>
                </a:solidFill>
                <a:latin typeface="Carlito" pitchFamily="34" charset="0"/>
                <a:ea typeface="Carlito" pitchFamily="34" charset="-122"/>
                <a:cs typeface="Carlito" pitchFamily="34" charset="-120"/>
              </a:rPr>
              <a:t>VERSION 2</a:t>
            </a:r>
            <a:endParaRPr lang="en-US" sz="1200" dirty="0"/>
          </a:p>
        </p:txBody>
      </p:sp>
      <p:sp>
        <p:nvSpPr>
          <p:cNvPr id="10" name="Text 8"/>
          <p:cNvSpPr txBox="1"/>
          <p:nvPr/>
        </p:nvSpPr>
        <p:spPr>
          <a:xfrm>
            <a:off x="4681728" y="2395728"/>
            <a:ext cx="2651760" cy="182880"/>
          </a:xfrm>
          <a:prstGeom prst="rect">
            <a:avLst/>
          </a:prstGeom>
          <a:noFill/>
          <a:ln/>
        </p:spPr>
        <p:txBody>
          <a:bodyPr wrap="square" lIns="0" tIns="0" rIns="0" bIns="0" rtlCol="0" anchor="ctr">
            <a:normAutofit/>
          </a:bodyPr>
          <a:lstStyle/>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Enabled / current</a:t>
            </a:r>
            <a:endParaRPr lang="en-US" sz="1100" dirty="0"/>
          </a:p>
        </p:txBody>
      </p:sp>
      <p:sp>
        <p:nvSpPr>
          <p:cNvPr id="11" name="Shape 9"/>
          <p:cNvSpPr/>
          <p:nvPr/>
        </p:nvSpPr>
        <p:spPr>
          <a:xfrm>
            <a:off x="7498080" y="2395728"/>
            <a:ext cx="594360" cy="0"/>
          </a:xfrm>
          <a:prstGeom prst="line">
            <a:avLst/>
          </a:prstGeom>
          <a:noFill/>
          <a:ln w="19050">
            <a:solidFill>
              <a:srgbClr val="0D9488"/>
            </a:solidFill>
            <a:prstDash val="solid"/>
            <a:tailEnd type="triangle"/>
          </a:ln>
        </p:spPr>
      </p:sp>
      <p:sp>
        <p:nvSpPr>
          <p:cNvPr id="12" name="Shape 10"/>
          <p:cNvSpPr/>
          <p:nvPr/>
        </p:nvSpPr>
        <p:spPr>
          <a:xfrm>
            <a:off x="8229600" y="1828800"/>
            <a:ext cx="2880360" cy="1143000"/>
          </a:xfrm>
          <a:prstGeom prst="roundRect">
            <a:avLst>
              <a:gd name="adj" fmla="val 6400"/>
            </a:avLst>
          </a:prstGeom>
          <a:solidFill>
            <a:srgbClr val="FFF5E6"/>
          </a:solidFill>
          <a:ln w="10160">
            <a:solidFill>
              <a:srgbClr val="DCE3EB"/>
            </a:solidFill>
            <a:prstDash val="solid"/>
          </a:ln>
        </p:spPr>
      </p:sp>
      <p:sp>
        <p:nvSpPr>
          <p:cNvPr id="13" name="Text 11"/>
          <p:cNvSpPr txBox="1"/>
          <p:nvPr/>
        </p:nvSpPr>
        <p:spPr>
          <a:xfrm>
            <a:off x="8339328" y="2011680"/>
            <a:ext cx="2651760" cy="182880"/>
          </a:xfrm>
          <a:prstGeom prst="rect">
            <a:avLst/>
          </a:prstGeom>
          <a:noFill/>
          <a:ln/>
        </p:spPr>
        <p:txBody>
          <a:bodyPr wrap="square" lIns="0" tIns="0" rIns="0" bIns="0" rtlCol="0" anchor="ctr">
            <a:normAutofit/>
          </a:bodyPr>
          <a:lstStyle/>
          <a:p>
            <a:pPr algn="ctr" indent="0" marL="0">
              <a:lnSpc>
                <a:spcPct val="95000"/>
              </a:lnSpc>
              <a:buNone/>
            </a:pPr>
            <a:r>
              <a:rPr lang="en-US" sz="1200" b="1" dirty="0">
                <a:solidFill>
                  <a:srgbClr val="D97706"/>
                </a:solidFill>
                <a:latin typeface="Carlito" pitchFamily="34" charset="0"/>
                <a:ea typeface="Carlito" pitchFamily="34" charset="-122"/>
                <a:cs typeface="Carlito" pitchFamily="34" charset="-120"/>
              </a:rPr>
              <a:t>VERSION 1</a:t>
            </a:r>
            <a:endParaRPr lang="en-US" sz="1200" dirty="0"/>
          </a:p>
        </p:txBody>
      </p:sp>
      <p:sp>
        <p:nvSpPr>
          <p:cNvPr id="14" name="Text 12"/>
          <p:cNvSpPr txBox="1"/>
          <p:nvPr/>
        </p:nvSpPr>
        <p:spPr>
          <a:xfrm>
            <a:off x="8339328" y="2395728"/>
            <a:ext cx="2651760" cy="182880"/>
          </a:xfrm>
          <a:prstGeom prst="rect">
            <a:avLst/>
          </a:prstGeom>
          <a:noFill/>
          <a:ln/>
        </p:spPr>
        <p:txBody>
          <a:bodyPr wrap="square" lIns="0" tIns="0" rIns="0" bIns="0" rtlCol="0" anchor="ctr">
            <a:normAutofit/>
          </a:bodyPr>
          <a:lstStyle/>
          <a:p>
            <a:pPr algn="ctr" indent="0" marL="0">
              <a:lnSpc>
                <a:spcPct val="95000"/>
              </a:lnSpc>
              <a:buNone/>
            </a:pPr>
            <a:r>
              <a:rPr lang="en-US" sz="1100" dirty="0">
                <a:solidFill>
                  <a:srgbClr val="203040"/>
                </a:solidFill>
                <a:latin typeface="Carlito" pitchFamily="34" charset="0"/>
                <a:ea typeface="Carlito" pitchFamily="34" charset="-122"/>
                <a:cs typeface="Carlito" pitchFamily="34" charset="-120"/>
              </a:rPr>
              <a:t>Disabled after validation</a:t>
            </a:r>
            <a:endParaRPr lang="en-US" sz="1100" dirty="0"/>
          </a:p>
        </p:txBody>
      </p:sp>
      <p:sp>
        <p:nvSpPr>
          <p:cNvPr id="15" name="Text 13"/>
          <p:cNvSpPr txBox="1"/>
          <p:nvPr/>
        </p:nvSpPr>
        <p:spPr>
          <a:xfrm>
            <a:off x="822960" y="3657600"/>
            <a:ext cx="10469880" cy="1417320"/>
          </a:xfrm>
          <a:prstGeom prst="rect">
            <a:avLst/>
          </a:prstGeom>
          <a:noFill/>
          <a:ln/>
        </p:spPr>
        <p:txBody>
          <a:bodyPr wrap="square" lIns="254" tIns="254" rIns="254" bIns="254" rtlCol="0" anchor="t">
            <a:normAutofit/>
          </a:bodyPr>
          <a:lstStyle/>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A Secret is the named logical container; versions hold the actual payload.</a:t>
            </a:r>
            <a:endParaRPr lang="en-US" sz="1210" dirty="0"/>
          </a:p>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Adding a new version does not automatically update downstream systems - consumers must read/use the new version.</a:t>
            </a:r>
            <a:endParaRPr lang="en-US" sz="1210" dirty="0"/>
          </a:p>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Disabled versions cannot be accessed but can be re-enabled; destroyed versions cannot be recovered.</a:t>
            </a:r>
            <a:endParaRPr lang="en-US" sz="1210" dirty="0"/>
          </a:p>
          <a:p>
            <a:pPr algn="l" indent="0" marL="0">
              <a:lnSpc>
                <a:spcPct val="95000"/>
              </a:lnSpc>
              <a:buNone/>
            </a:pPr>
            <a:r>
              <a:rPr lang="en-US" sz="1210" dirty="0">
                <a:solidFill>
                  <a:srgbClr val="203040"/>
                </a:solidFill>
                <a:latin typeface="Carlito" pitchFamily="34" charset="0"/>
                <a:ea typeface="Carlito" pitchFamily="34" charset="-122"/>
                <a:cs typeface="Carlito" pitchFamily="34" charset="-120"/>
              </a:rPr>
              <a:t>•  In this lab, Terraform creates metadata only. Secret payloads are added via gcloud so plaintext is not written to Terraform state.</a:t>
            </a:r>
            <a:endParaRPr lang="en-US" sz="1210" dirty="0"/>
          </a:p>
        </p:txBody>
      </p:sp>
      <p:sp>
        <p:nvSpPr>
          <p:cNvPr id="16" name="Shape 14"/>
          <p:cNvSpPr/>
          <p:nvPr/>
        </p:nvSpPr>
        <p:spPr>
          <a:xfrm>
            <a:off x="822960" y="5394960"/>
            <a:ext cx="10515600" cy="548640"/>
          </a:xfrm>
          <a:prstGeom prst="roundRect">
            <a:avLst>
              <a:gd name="adj" fmla="val 13333"/>
            </a:avLst>
          </a:prstGeom>
          <a:solidFill>
            <a:srgbClr val="FDEEEE"/>
          </a:solidFill>
          <a:ln w="10160">
            <a:solidFill>
              <a:srgbClr val="FDEEEE"/>
            </a:solidFill>
            <a:prstDash val="solid"/>
          </a:ln>
        </p:spPr>
      </p:sp>
      <p:sp>
        <p:nvSpPr>
          <p:cNvPr id="17" name="Text 15"/>
          <p:cNvSpPr txBox="1"/>
          <p:nvPr/>
        </p:nvSpPr>
        <p:spPr>
          <a:xfrm>
            <a:off x="969264" y="5468112"/>
            <a:ext cx="10222992" cy="40233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Use dummy training strings only. Do not place real credentials in .tf, .tfvars, shell history, screenshots or Git. If an actual credential was exposed, rotate it at the source system too.</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SECURITY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Secrets management across the clouds</a:t>
            </a:r>
            <a:endParaRPr lang="en-US" sz="2500" dirty="0"/>
          </a:p>
        </p:txBody>
      </p:sp>
      <p:sp>
        <p:nvSpPr>
          <p:cNvPr id="4" name="Shape 2"/>
          <p:cNvSpPr/>
          <p:nvPr/>
        </p:nvSpPr>
        <p:spPr>
          <a:xfrm>
            <a:off x="594360" y="1691640"/>
            <a:ext cx="2194560" cy="384048"/>
          </a:xfrm>
          <a:prstGeom prst="rect">
            <a:avLst/>
          </a:prstGeom>
          <a:solidFill>
            <a:srgbClr val="12304A"/>
          </a:solidFill>
          <a:ln w="6350">
            <a:solidFill>
              <a:srgbClr val="D5DEE8"/>
            </a:solidFill>
            <a:prstDash val="solid"/>
          </a:ln>
        </p:spPr>
      </p:sp>
      <p:sp>
        <p:nvSpPr>
          <p:cNvPr id="5" name="Text 3"/>
          <p:cNvSpPr txBox="1"/>
          <p:nvPr/>
        </p:nvSpPr>
        <p:spPr>
          <a:xfrm>
            <a:off x="658368" y="1728216"/>
            <a:ext cx="2066544"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DIMENSION</a:t>
            </a:r>
            <a:endParaRPr lang="en-US" sz="940" dirty="0"/>
          </a:p>
        </p:txBody>
      </p:sp>
      <p:sp>
        <p:nvSpPr>
          <p:cNvPr id="6" name="Shape 4"/>
          <p:cNvSpPr/>
          <p:nvPr/>
        </p:nvSpPr>
        <p:spPr>
          <a:xfrm>
            <a:off x="2788920" y="1691640"/>
            <a:ext cx="2962656" cy="384048"/>
          </a:xfrm>
          <a:prstGeom prst="rect">
            <a:avLst/>
          </a:prstGeom>
          <a:solidFill>
            <a:srgbClr val="12304A"/>
          </a:solidFill>
          <a:ln w="6350">
            <a:solidFill>
              <a:srgbClr val="D5DEE8"/>
            </a:solidFill>
            <a:prstDash val="solid"/>
          </a:ln>
        </p:spPr>
      </p:sp>
      <p:sp>
        <p:nvSpPr>
          <p:cNvPr id="7" name="Text 5"/>
          <p:cNvSpPr txBox="1"/>
          <p:nvPr/>
        </p:nvSpPr>
        <p:spPr>
          <a:xfrm>
            <a:off x="2852928" y="1728216"/>
            <a:ext cx="2834640"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GOOGLE CLOUD</a:t>
            </a:r>
            <a:endParaRPr lang="en-US" sz="940" dirty="0"/>
          </a:p>
        </p:txBody>
      </p:sp>
      <p:sp>
        <p:nvSpPr>
          <p:cNvPr id="8" name="Shape 6"/>
          <p:cNvSpPr/>
          <p:nvPr/>
        </p:nvSpPr>
        <p:spPr>
          <a:xfrm>
            <a:off x="5751576" y="1691640"/>
            <a:ext cx="2852928" cy="384048"/>
          </a:xfrm>
          <a:prstGeom prst="rect">
            <a:avLst/>
          </a:prstGeom>
          <a:solidFill>
            <a:srgbClr val="12304A"/>
          </a:solidFill>
          <a:ln w="6350">
            <a:solidFill>
              <a:srgbClr val="D5DEE8"/>
            </a:solidFill>
            <a:prstDash val="solid"/>
          </a:ln>
        </p:spPr>
      </p:sp>
      <p:sp>
        <p:nvSpPr>
          <p:cNvPr id="9" name="Text 7"/>
          <p:cNvSpPr txBox="1"/>
          <p:nvPr/>
        </p:nvSpPr>
        <p:spPr>
          <a:xfrm>
            <a:off x="5815584" y="1728216"/>
            <a:ext cx="2724912"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AWS</a:t>
            </a:r>
            <a:endParaRPr lang="en-US" sz="940" dirty="0"/>
          </a:p>
        </p:txBody>
      </p:sp>
      <p:sp>
        <p:nvSpPr>
          <p:cNvPr id="10" name="Shape 8"/>
          <p:cNvSpPr/>
          <p:nvPr/>
        </p:nvSpPr>
        <p:spPr>
          <a:xfrm>
            <a:off x="8604504" y="1691640"/>
            <a:ext cx="2962656" cy="384048"/>
          </a:xfrm>
          <a:prstGeom prst="rect">
            <a:avLst/>
          </a:prstGeom>
          <a:solidFill>
            <a:srgbClr val="12304A"/>
          </a:solidFill>
          <a:ln w="6350">
            <a:solidFill>
              <a:srgbClr val="D5DEE8"/>
            </a:solidFill>
            <a:prstDash val="solid"/>
          </a:ln>
        </p:spPr>
      </p:sp>
      <p:sp>
        <p:nvSpPr>
          <p:cNvPr id="11" name="Text 9"/>
          <p:cNvSpPr txBox="1"/>
          <p:nvPr/>
        </p:nvSpPr>
        <p:spPr>
          <a:xfrm>
            <a:off x="8668512" y="1728216"/>
            <a:ext cx="2834640" cy="310896"/>
          </a:xfrm>
          <a:prstGeom prst="rect">
            <a:avLst/>
          </a:prstGeom>
          <a:noFill/>
          <a:ln/>
        </p:spPr>
        <p:txBody>
          <a:bodyPr wrap="square" lIns="0" tIns="0" rIns="0" bIns="0" rtlCol="0" anchor="ctr">
            <a:normAutofit/>
          </a:bodyPr>
          <a:lstStyle/>
          <a:p>
            <a:pPr algn="l" indent="0" marL="0">
              <a:lnSpc>
                <a:spcPct val="95000"/>
              </a:lnSpc>
              <a:buNone/>
            </a:pPr>
            <a:r>
              <a:rPr lang="en-US" sz="940" b="1" dirty="0">
                <a:solidFill>
                  <a:srgbClr val="FFFFFF"/>
                </a:solidFill>
                <a:latin typeface="Carlito" pitchFamily="34" charset="0"/>
                <a:ea typeface="Carlito" pitchFamily="34" charset="-122"/>
                <a:cs typeface="Carlito" pitchFamily="34" charset="-120"/>
              </a:rPr>
              <a:t>AZURE</a:t>
            </a:r>
            <a:endParaRPr lang="en-US" sz="940" dirty="0"/>
          </a:p>
        </p:txBody>
      </p:sp>
      <p:sp>
        <p:nvSpPr>
          <p:cNvPr id="12" name="Shape 10"/>
          <p:cNvSpPr/>
          <p:nvPr/>
        </p:nvSpPr>
        <p:spPr>
          <a:xfrm>
            <a:off x="594360" y="2075688"/>
            <a:ext cx="2194560" cy="691286"/>
          </a:xfrm>
          <a:prstGeom prst="rect">
            <a:avLst/>
          </a:prstGeom>
          <a:solidFill>
            <a:srgbClr val="FFFFFF"/>
          </a:solidFill>
          <a:ln w="6350">
            <a:solidFill>
              <a:srgbClr val="D5DEE8"/>
            </a:solidFill>
            <a:prstDash val="solid"/>
          </a:ln>
        </p:spPr>
      </p:sp>
      <p:sp>
        <p:nvSpPr>
          <p:cNvPr id="13" name="Text 11"/>
          <p:cNvSpPr txBox="1"/>
          <p:nvPr/>
        </p:nvSpPr>
        <p:spPr>
          <a:xfrm>
            <a:off x="658368" y="2112264"/>
            <a:ext cx="2066544"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Service</a:t>
            </a:r>
            <a:endParaRPr lang="en-US" sz="935" dirty="0"/>
          </a:p>
        </p:txBody>
      </p:sp>
      <p:sp>
        <p:nvSpPr>
          <p:cNvPr id="14" name="Shape 12"/>
          <p:cNvSpPr/>
          <p:nvPr/>
        </p:nvSpPr>
        <p:spPr>
          <a:xfrm>
            <a:off x="2788920" y="2075688"/>
            <a:ext cx="2962656" cy="691286"/>
          </a:xfrm>
          <a:prstGeom prst="rect">
            <a:avLst/>
          </a:prstGeom>
          <a:solidFill>
            <a:srgbClr val="FFFFFF"/>
          </a:solidFill>
          <a:ln w="6350">
            <a:solidFill>
              <a:srgbClr val="D5DEE8"/>
            </a:solidFill>
            <a:prstDash val="solid"/>
          </a:ln>
        </p:spPr>
      </p:sp>
      <p:sp>
        <p:nvSpPr>
          <p:cNvPr id="15" name="Text 13"/>
          <p:cNvSpPr txBox="1"/>
          <p:nvPr/>
        </p:nvSpPr>
        <p:spPr>
          <a:xfrm>
            <a:off x="2852928" y="2112264"/>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Secret Manager</a:t>
            </a:r>
            <a:endParaRPr lang="en-US" sz="935" dirty="0"/>
          </a:p>
        </p:txBody>
      </p:sp>
      <p:sp>
        <p:nvSpPr>
          <p:cNvPr id="16" name="Shape 14"/>
          <p:cNvSpPr/>
          <p:nvPr/>
        </p:nvSpPr>
        <p:spPr>
          <a:xfrm>
            <a:off x="5751576" y="2075688"/>
            <a:ext cx="2852928" cy="691286"/>
          </a:xfrm>
          <a:prstGeom prst="rect">
            <a:avLst/>
          </a:prstGeom>
          <a:solidFill>
            <a:srgbClr val="FFFFFF"/>
          </a:solidFill>
          <a:ln w="6350">
            <a:solidFill>
              <a:srgbClr val="D5DEE8"/>
            </a:solidFill>
            <a:prstDash val="solid"/>
          </a:ln>
        </p:spPr>
      </p:sp>
      <p:sp>
        <p:nvSpPr>
          <p:cNvPr id="17" name="Text 15"/>
          <p:cNvSpPr txBox="1"/>
          <p:nvPr/>
        </p:nvSpPr>
        <p:spPr>
          <a:xfrm>
            <a:off x="5815584" y="2112264"/>
            <a:ext cx="2724912"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AWS Secrets Manager</a:t>
            </a:r>
            <a:endParaRPr lang="en-US" sz="935" dirty="0"/>
          </a:p>
        </p:txBody>
      </p:sp>
      <p:sp>
        <p:nvSpPr>
          <p:cNvPr id="18" name="Shape 16"/>
          <p:cNvSpPr/>
          <p:nvPr/>
        </p:nvSpPr>
        <p:spPr>
          <a:xfrm>
            <a:off x="8604504" y="2075688"/>
            <a:ext cx="2962656" cy="691286"/>
          </a:xfrm>
          <a:prstGeom prst="rect">
            <a:avLst/>
          </a:prstGeom>
          <a:solidFill>
            <a:srgbClr val="FFFFFF"/>
          </a:solidFill>
          <a:ln w="6350">
            <a:solidFill>
              <a:srgbClr val="D5DEE8"/>
            </a:solidFill>
            <a:prstDash val="solid"/>
          </a:ln>
        </p:spPr>
      </p:sp>
      <p:sp>
        <p:nvSpPr>
          <p:cNvPr id="19" name="Text 17"/>
          <p:cNvSpPr txBox="1"/>
          <p:nvPr/>
        </p:nvSpPr>
        <p:spPr>
          <a:xfrm>
            <a:off x="8668512" y="2112264"/>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Azure Key Vault</a:t>
            </a:r>
            <a:endParaRPr lang="en-US" sz="935" dirty="0"/>
          </a:p>
        </p:txBody>
      </p:sp>
      <p:sp>
        <p:nvSpPr>
          <p:cNvPr id="20" name="Shape 18"/>
          <p:cNvSpPr/>
          <p:nvPr/>
        </p:nvSpPr>
        <p:spPr>
          <a:xfrm>
            <a:off x="594360" y="2766974"/>
            <a:ext cx="2194560" cy="691286"/>
          </a:xfrm>
          <a:prstGeom prst="rect">
            <a:avLst/>
          </a:prstGeom>
          <a:solidFill>
            <a:srgbClr val="F1F5F9"/>
          </a:solidFill>
          <a:ln w="6350">
            <a:solidFill>
              <a:srgbClr val="D5DEE8"/>
            </a:solidFill>
            <a:prstDash val="solid"/>
          </a:ln>
        </p:spPr>
      </p:sp>
      <p:sp>
        <p:nvSpPr>
          <p:cNvPr id="21" name="Text 19"/>
          <p:cNvSpPr txBox="1"/>
          <p:nvPr/>
        </p:nvSpPr>
        <p:spPr>
          <a:xfrm>
            <a:off x="658368" y="2803550"/>
            <a:ext cx="2066544"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Versioning</a:t>
            </a:r>
            <a:endParaRPr lang="en-US" sz="935" dirty="0"/>
          </a:p>
        </p:txBody>
      </p:sp>
      <p:sp>
        <p:nvSpPr>
          <p:cNvPr id="22" name="Shape 20"/>
          <p:cNvSpPr/>
          <p:nvPr/>
        </p:nvSpPr>
        <p:spPr>
          <a:xfrm>
            <a:off x="2788920" y="2766974"/>
            <a:ext cx="2962656" cy="691286"/>
          </a:xfrm>
          <a:prstGeom prst="rect">
            <a:avLst/>
          </a:prstGeom>
          <a:solidFill>
            <a:srgbClr val="F1F5F9"/>
          </a:solidFill>
          <a:ln w="6350">
            <a:solidFill>
              <a:srgbClr val="D5DEE8"/>
            </a:solidFill>
            <a:prstDash val="solid"/>
          </a:ln>
        </p:spPr>
      </p:sp>
      <p:sp>
        <p:nvSpPr>
          <p:cNvPr id="23" name="Text 21"/>
          <p:cNvSpPr txBox="1"/>
          <p:nvPr/>
        </p:nvSpPr>
        <p:spPr>
          <a:xfrm>
            <a:off x="2852928" y="2803550"/>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Secret versions: enabled / disabled / destroyed</a:t>
            </a:r>
            <a:endParaRPr lang="en-US" sz="935" dirty="0"/>
          </a:p>
        </p:txBody>
      </p:sp>
      <p:sp>
        <p:nvSpPr>
          <p:cNvPr id="24" name="Shape 22"/>
          <p:cNvSpPr/>
          <p:nvPr/>
        </p:nvSpPr>
        <p:spPr>
          <a:xfrm>
            <a:off x="5751576" y="2766974"/>
            <a:ext cx="2852928" cy="691286"/>
          </a:xfrm>
          <a:prstGeom prst="rect">
            <a:avLst/>
          </a:prstGeom>
          <a:solidFill>
            <a:srgbClr val="F1F5F9"/>
          </a:solidFill>
          <a:ln w="6350">
            <a:solidFill>
              <a:srgbClr val="D5DEE8"/>
            </a:solidFill>
            <a:prstDash val="solid"/>
          </a:ln>
        </p:spPr>
      </p:sp>
      <p:sp>
        <p:nvSpPr>
          <p:cNvPr id="25" name="Text 23"/>
          <p:cNvSpPr txBox="1"/>
          <p:nvPr/>
        </p:nvSpPr>
        <p:spPr>
          <a:xfrm>
            <a:off x="5815584" y="2803550"/>
            <a:ext cx="2724912"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Version stages and version IDs; rotation workflow</a:t>
            </a:r>
            <a:endParaRPr lang="en-US" sz="935" dirty="0"/>
          </a:p>
        </p:txBody>
      </p:sp>
      <p:sp>
        <p:nvSpPr>
          <p:cNvPr id="26" name="Shape 24"/>
          <p:cNvSpPr/>
          <p:nvPr/>
        </p:nvSpPr>
        <p:spPr>
          <a:xfrm>
            <a:off x="8604504" y="2766974"/>
            <a:ext cx="2962656" cy="691286"/>
          </a:xfrm>
          <a:prstGeom prst="rect">
            <a:avLst/>
          </a:prstGeom>
          <a:solidFill>
            <a:srgbClr val="F1F5F9"/>
          </a:solidFill>
          <a:ln w="6350">
            <a:solidFill>
              <a:srgbClr val="D5DEE8"/>
            </a:solidFill>
            <a:prstDash val="solid"/>
          </a:ln>
        </p:spPr>
      </p:sp>
      <p:sp>
        <p:nvSpPr>
          <p:cNvPr id="27" name="Text 25"/>
          <p:cNvSpPr txBox="1"/>
          <p:nvPr/>
        </p:nvSpPr>
        <p:spPr>
          <a:xfrm>
            <a:off x="8668512" y="2803550"/>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Secret versions with activation / expiry metadata</a:t>
            </a:r>
            <a:endParaRPr lang="en-US" sz="935" dirty="0"/>
          </a:p>
        </p:txBody>
      </p:sp>
      <p:sp>
        <p:nvSpPr>
          <p:cNvPr id="28" name="Shape 26"/>
          <p:cNvSpPr/>
          <p:nvPr/>
        </p:nvSpPr>
        <p:spPr>
          <a:xfrm>
            <a:off x="594360" y="3458261"/>
            <a:ext cx="2194560" cy="691286"/>
          </a:xfrm>
          <a:prstGeom prst="rect">
            <a:avLst/>
          </a:prstGeom>
          <a:solidFill>
            <a:srgbClr val="FFFFFF"/>
          </a:solidFill>
          <a:ln w="6350">
            <a:solidFill>
              <a:srgbClr val="D5DEE8"/>
            </a:solidFill>
            <a:prstDash val="solid"/>
          </a:ln>
        </p:spPr>
      </p:sp>
      <p:sp>
        <p:nvSpPr>
          <p:cNvPr id="29" name="Text 27"/>
          <p:cNvSpPr txBox="1"/>
          <p:nvPr/>
        </p:nvSpPr>
        <p:spPr>
          <a:xfrm>
            <a:off x="658368" y="3494837"/>
            <a:ext cx="2066544"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Rotation</a:t>
            </a:r>
            <a:endParaRPr lang="en-US" sz="935" dirty="0"/>
          </a:p>
        </p:txBody>
      </p:sp>
      <p:sp>
        <p:nvSpPr>
          <p:cNvPr id="30" name="Shape 28"/>
          <p:cNvSpPr/>
          <p:nvPr/>
        </p:nvSpPr>
        <p:spPr>
          <a:xfrm>
            <a:off x="2788920" y="3458261"/>
            <a:ext cx="2962656" cy="691286"/>
          </a:xfrm>
          <a:prstGeom prst="rect">
            <a:avLst/>
          </a:prstGeom>
          <a:solidFill>
            <a:srgbClr val="FFFFFF"/>
          </a:solidFill>
          <a:ln w="6350">
            <a:solidFill>
              <a:srgbClr val="D5DEE8"/>
            </a:solidFill>
            <a:prstDash val="solid"/>
          </a:ln>
        </p:spPr>
      </p:sp>
      <p:sp>
        <p:nvSpPr>
          <p:cNvPr id="31" name="Text 29"/>
          <p:cNvSpPr txBox="1"/>
          <p:nvPr/>
        </p:nvSpPr>
        <p:spPr>
          <a:xfrm>
            <a:off x="2852928" y="3494837"/>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Add a new version; update consumers; disable old version after validation</a:t>
            </a:r>
            <a:endParaRPr lang="en-US" sz="935" dirty="0"/>
          </a:p>
        </p:txBody>
      </p:sp>
      <p:sp>
        <p:nvSpPr>
          <p:cNvPr id="32" name="Shape 30"/>
          <p:cNvSpPr/>
          <p:nvPr/>
        </p:nvSpPr>
        <p:spPr>
          <a:xfrm>
            <a:off x="5751576" y="3458261"/>
            <a:ext cx="2852928" cy="691286"/>
          </a:xfrm>
          <a:prstGeom prst="rect">
            <a:avLst/>
          </a:prstGeom>
          <a:solidFill>
            <a:srgbClr val="FFFFFF"/>
          </a:solidFill>
          <a:ln w="6350">
            <a:solidFill>
              <a:srgbClr val="D5DEE8"/>
            </a:solidFill>
            <a:prstDash val="solid"/>
          </a:ln>
        </p:spPr>
      </p:sp>
      <p:sp>
        <p:nvSpPr>
          <p:cNvPr id="33" name="Text 31"/>
          <p:cNvSpPr txBox="1"/>
          <p:nvPr/>
        </p:nvSpPr>
        <p:spPr>
          <a:xfrm>
            <a:off x="5815584" y="3494837"/>
            <a:ext cx="2724912"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Managed rotation or Lambda-based rotation for supported secrets</a:t>
            </a:r>
            <a:endParaRPr lang="en-US" sz="935" dirty="0"/>
          </a:p>
        </p:txBody>
      </p:sp>
      <p:sp>
        <p:nvSpPr>
          <p:cNvPr id="34" name="Shape 32"/>
          <p:cNvSpPr/>
          <p:nvPr/>
        </p:nvSpPr>
        <p:spPr>
          <a:xfrm>
            <a:off x="8604504" y="3458261"/>
            <a:ext cx="2962656" cy="691286"/>
          </a:xfrm>
          <a:prstGeom prst="rect">
            <a:avLst/>
          </a:prstGeom>
          <a:solidFill>
            <a:srgbClr val="FFFFFF"/>
          </a:solidFill>
          <a:ln w="6350">
            <a:solidFill>
              <a:srgbClr val="D5DEE8"/>
            </a:solidFill>
            <a:prstDash val="solid"/>
          </a:ln>
        </p:spPr>
      </p:sp>
      <p:sp>
        <p:nvSpPr>
          <p:cNvPr id="35" name="Text 33"/>
          <p:cNvSpPr txBox="1"/>
          <p:nvPr/>
        </p:nvSpPr>
        <p:spPr>
          <a:xfrm>
            <a:off x="8668512" y="3494837"/>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Key Vault rotation policies / automation / event-driven updates</a:t>
            </a:r>
            <a:endParaRPr lang="en-US" sz="935" dirty="0"/>
          </a:p>
        </p:txBody>
      </p:sp>
      <p:sp>
        <p:nvSpPr>
          <p:cNvPr id="36" name="Shape 34"/>
          <p:cNvSpPr/>
          <p:nvPr/>
        </p:nvSpPr>
        <p:spPr>
          <a:xfrm>
            <a:off x="594360" y="4149547"/>
            <a:ext cx="2194560" cy="691286"/>
          </a:xfrm>
          <a:prstGeom prst="rect">
            <a:avLst/>
          </a:prstGeom>
          <a:solidFill>
            <a:srgbClr val="F1F5F9"/>
          </a:solidFill>
          <a:ln w="6350">
            <a:solidFill>
              <a:srgbClr val="D5DEE8"/>
            </a:solidFill>
            <a:prstDash val="solid"/>
          </a:ln>
        </p:spPr>
      </p:sp>
      <p:sp>
        <p:nvSpPr>
          <p:cNvPr id="37" name="Text 35"/>
          <p:cNvSpPr txBox="1"/>
          <p:nvPr/>
        </p:nvSpPr>
        <p:spPr>
          <a:xfrm>
            <a:off x="658368" y="4186123"/>
            <a:ext cx="2066544"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Access control</a:t>
            </a:r>
            <a:endParaRPr lang="en-US" sz="935" dirty="0"/>
          </a:p>
        </p:txBody>
      </p:sp>
      <p:sp>
        <p:nvSpPr>
          <p:cNvPr id="38" name="Shape 36"/>
          <p:cNvSpPr/>
          <p:nvPr/>
        </p:nvSpPr>
        <p:spPr>
          <a:xfrm>
            <a:off x="2788920" y="4149547"/>
            <a:ext cx="2962656" cy="691286"/>
          </a:xfrm>
          <a:prstGeom prst="rect">
            <a:avLst/>
          </a:prstGeom>
          <a:solidFill>
            <a:srgbClr val="F1F5F9"/>
          </a:solidFill>
          <a:ln w="6350">
            <a:solidFill>
              <a:srgbClr val="D5DEE8"/>
            </a:solidFill>
            <a:prstDash val="solid"/>
          </a:ln>
        </p:spPr>
      </p:sp>
      <p:sp>
        <p:nvSpPr>
          <p:cNvPr id="39" name="Text 37"/>
          <p:cNvSpPr txBox="1"/>
          <p:nvPr/>
        </p:nvSpPr>
        <p:spPr>
          <a:xfrm>
            <a:off x="2852928" y="4186123"/>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IAM roles on secret or project</a:t>
            </a:r>
            <a:endParaRPr lang="en-US" sz="935" dirty="0"/>
          </a:p>
        </p:txBody>
      </p:sp>
      <p:sp>
        <p:nvSpPr>
          <p:cNvPr id="40" name="Shape 38"/>
          <p:cNvSpPr/>
          <p:nvPr/>
        </p:nvSpPr>
        <p:spPr>
          <a:xfrm>
            <a:off x="5751576" y="4149547"/>
            <a:ext cx="2852928" cy="691286"/>
          </a:xfrm>
          <a:prstGeom prst="rect">
            <a:avLst/>
          </a:prstGeom>
          <a:solidFill>
            <a:srgbClr val="F1F5F9"/>
          </a:solidFill>
          <a:ln w="6350">
            <a:solidFill>
              <a:srgbClr val="D5DEE8"/>
            </a:solidFill>
            <a:prstDash val="solid"/>
          </a:ln>
        </p:spPr>
      </p:sp>
      <p:sp>
        <p:nvSpPr>
          <p:cNvPr id="41" name="Text 39"/>
          <p:cNvSpPr txBox="1"/>
          <p:nvPr/>
        </p:nvSpPr>
        <p:spPr>
          <a:xfrm>
            <a:off x="5815584" y="4186123"/>
            <a:ext cx="2724912"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IAM policy and resource policy</a:t>
            </a:r>
            <a:endParaRPr lang="en-US" sz="935" dirty="0"/>
          </a:p>
        </p:txBody>
      </p:sp>
      <p:sp>
        <p:nvSpPr>
          <p:cNvPr id="42" name="Shape 40"/>
          <p:cNvSpPr/>
          <p:nvPr/>
        </p:nvSpPr>
        <p:spPr>
          <a:xfrm>
            <a:off x="8604504" y="4149547"/>
            <a:ext cx="2962656" cy="691286"/>
          </a:xfrm>
          <a:prstGeom prst="rect">
            <a:avLst/>
          </a:prstGeom>
          <a:solidFill>
            <a:srgbClr val="F1F5F9"/>
          </a:solidFill>
          <a:ln w="6350">
            <a:solidFill>
              <a:srgbClr val="D5DEE8"/>
            </a:solidFill>
            <a:prstDash val="solid"/>
          </a:ln>
        </p:spPr>
      </p:sp>
      <p:sp>
        <p:nvSpPr>
          <p:cNvPr id="43" name="Text 41"/>
          <p:cNvSpPr txBox="1"/>
          <p:nvPr/>
        </p:nvSpPr>
        <p:spPr>
          <a:xfrm>
            <a:off x="8668512" y="4186123"/>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Azure RBAC / Key Vault access policy model</a:t>
            </a:r>
            <a:endParaRPr lang="en-US" sz="935" dirty="0"/>
          </a:p>
        </p:txBody>
      </p:sp>
      <p:sp>
        <p:nvSpPr>
          <p:cNvPr id="44" name="Shape 42"/>
          <p:cNvSpPr/>
          <p:nvPr/>
        </p:nvSpPr>
        <p:spPr>
          <a:xfrm>
            <a:off x="594360" y="4840834"/>
            <a:ext cx="2194560" cy="691286"/>
          </a:xfrm>
          <a:prstGeom prst="rect">
            <a:avLst/>
          </a:prstGeom>
          <a:solidFill>
            <a:srgbClr val="FFFFFF"/>
          </a:solidFill>
          <a:ln w="6350">
            <a:solidFill>
              <a:srgbClr val="D5DEE8"/>
            </a:solidFill>
            <a:prstDash val="solid"/>
          </a:ln>
        </p:spPr>
      </p:sp>
      <p:sp>
        <p:nvSpPr>
          <p:cNvPr id="45" name="Text 43"/>
          <p:cNvSpPr txBox="1"/>
          <p:nvPr/>
        </p:nvSpPr>
        <p:spPr>
          <a:xfrm>
            <a:off x="658368" y="4877410"/>
            <a:ext cx="2066544"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Lab demonstration</a:t>
            </a:r>
            <a:endParaRPr lang="en-US" sz="935" dirty="0"/>
          </a:p>
        </p:txBody>
      </p:sp>
      <p:sp>
        <p:nvSpPr>
          <p:cNvPr id="46" name="Shape 44"/>
          <p:cNvSpPr/>
          <p:nvPr/>
        </p:nvSpPr>
        <p:spPr>
          <a:xfrm>
            <a:off x="2788920" y="4840834"/>
            <a:ext cx="2962656" cy="691286"/>
          </a:xfrm>
          <a:prstGeom prst="rect">
            <a:avLst/>
          </a:prstGeom>
          <a:solidFill>
            <a:srgbClr val="FFFFFF"/>
          </a:solidFill>
          <a:ln w="6350">
            <a:solidFill>
              <a:srgbClr val="D5DEE8"/>
            </a:solidFill>
            <a:prstDash val="solid"/>
          </a:ln>
        </p:spPr>
      </p:sp>
      <p:sp>
        <p:nvSpPr>
          <p:cNvPr id="47" name="Text 45"/>
          <p:cNvSpPr txBox="1"/>
          <p:nvPr/>
        </p:nvSpPr>
        <p:spPr>
          <a:xfrm>
            <a:off x="2852928" y="4877410"/>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Create v1, add v2, disable v1</a:t>
            </a:r>
            <a:endParaRPr lang="en-US" sz="935" dirty="0"/>
          </a:p>
        </p:txBody>
      </p:sp>
      <p:sp>
        <p:nvSpPr>
          <p:cNvPr id="48" name="Shape 46"/>
          <p:cNvSpPr/>
          <p:nvPr/>
        </p:nvSpPr>
        <p:spPr>
          <a:xfrm>
            <a:off x="5751576" y="4840834"/>
            <a:ext cx="2852928" cy="691286"/>
          </a:xfrm>
          <a:prstGeom prst="rect">
            <a:avLst/>
          </a:prstGeom>
          <a:solidFill>
            <a:srgbClr val="FFFFFF"/>
          </a:solidFill>
          <a:ln w="6350">
            <a:solidFill>
              <a:srgbClr val="D5DEE8"/>
            </a:solidFill>
            <a:prstDash val="solid"/>
          </a:ln>
        </p:spPr>
      </p:sp>
      <p:sp>
        <p:nvSpPr>
          <p:cNvPr id="49" name="Text 47"/>
          <p:cNvSpPr txBox="1"/>
          <p:nvPr/>
        </p:nvSpPr>
        <p:spPr>
          <a:xfrm>
            <a:off x="5815584" y="4877410"/>
            <a:ext cx="2724912"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Equivalent: rotate secret and confirm consumer uses new version</a:t>
            </a:r>
            <a:endParaRPr lang="en-US" sz="935" dirty="0"/>
          </a:p>
        </p:txBody>
      </p:sp>
      <p:sp>
        <p:nvSpPr>
          <p:cNvPr id="50" name="Shape 48"/>
          <p:cNvSpPr/>
          <p:nvPr/>
        </p:nvSpPr>
        <p:spPr>
          <a:xfrm>
            <a:off x="8604504" y="4840834"/>
            <a:ext cx="2962656" cy="691286"/>
          </a:xfrm>
          <a:prstGeom prst="rect">
            <a:avLst/>
          </a:prstGeom>
          <a:solidFill>
            <a:srgbClr val="FFFFFF"/>
          </a:solidFill>
          <a:ln w="6350">
            <a:solidFill>
              <a:srgbClr val="D5DEE8"/>
            </a:solidFill>
            <a:prstDash val="solid"/>
          </a:ln>
        </p:spPr>
      </p:sp>
      <p:sp>
        <p:nvSpPr>
          <p:cNvPr id="51" name="Text 49"/>
          <p:cNvSpPr txBox="1"/>
          <p:nvPr/>
        </p:nvSpPr>
        <p:spPr>
          <a:xfrm>
            <a:off x="8668512" y="4877410"/>
            <a:ext cx="2834640" cy="618134"/>
          </a:xfrm>
          <a:prstGeom prst="rect">
            <a:avLst/>
          </a:prstGeom>
          <a:noFill/>
          <a:ln/>
        </p:spPr>
        <p:txBody>
          <a:bodyPr wrap="square" lIns="0" tIns="0" rIns="0" bIns="0" rtlCol="0" anchor="ctr">
            <a:normAutofit/>
          </a:bodyPr>
          <a:lstStyle/>
          <a:p>
            <a:pPr algn="l" indent="0" marL="0">
              <a:lnSpc>
                <a:spcPct val="95000"/>
              </a:lnSpc>
              <a:buNone/>
            </a:pPr>
            <a:r>
              <a:rPr lang="en-US" sz="935" dirty="0">
                <a:solidFill>
                  <a:srgbClr val="203040"/>
                </a:solidFill>
                <a:latin typeface="Carlito" pitchFamily="34" charset="0"/>
                <a:ea typeface="Carlito" pitchFamily="34" charset="-122"/>
                <a:cs typeface="Carlito" pitchFamily="34" charset="-120"/>
              </a:rPr>
              <a:t>Equivalent: versioned secret update and validate consumer</a:t>
            </a:r>
            <a:endParaRPr lang="en-US" sz="935" dirty="0"/>
          </a:p>
        </p:txBody>
      </p:sp>
      <p:sp>
        <p:nvSpPr>
          <p:cNvPr id="52" name="Shape 50"/>
          <p:cNvSpPr/>
          <p:nvPr/>
        </p:nvSpPr>
        <p:spPr>
          <a:xfrm>
            <a:off x="777240" y="5715000"/>
            <a:ext cx="10698480" cy="457200"/>
          </a:xfrm>
          <a:prstGeom prst="roundRect">
            <a:avLst>
              <a:gd name="adj" fmla="val 16000"/>
            </a:avLst>
          </a:prstGeom>
          <a:solidFill>
            <a:srgbClr val="FFF5E6"/>
          </a:solidFill>
          <a:ln w="10160">
            <a:solidFill>
              <a:srgbClr val="FFF5E6"/>
            </a:solidFill>
            <a:prstDash val="solid"/>
          </a:ln>
        </p:spPr>
      </p:sp>
      <p:sp>
        <p:nvSpPr>
          <p:cNvPr id="53" name="Text 51"/>
          <p:cNvSpPr txBox="1"/>
          <p:nvPr/>
        </p:nvSpPr>
        <p:spPr>
          <a:xfrm>
            <a:off x="923544" y="5788152"/>
            <a:ext cx="1040587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Rotation is not just changing a string in a vault. A safe process updates the application or database credential, verifies the new value works, and retires the old value only after validation.</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OBSERVABILITY</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Monitoring turns raw signals into an operational response</a:t>
            </a:r>
            <a:endParaRPr lang="en-US" sz="2500" dirty="0"/>
          </a:p>
        </p:txBody>
      </p:sp>
      <p:sp>
        <p:nvSpPr>
          <p:cNvPr id="4" name="Shape 2"/>
          <p:cNvSpPr/>
          <p:nvPr/>
        </p:nvSpPr>
        <p:spPr>
          <a:xfrm>
            <a:off x="868680" y="1728216"/>
            <a:ext cx="329184" cy="256032"/>
          </a:xfrm>
          <a:prstGeom prst="roundRect">
            <a:avLst>
              <a:gd name="adj" fmla="val 28571"/>
            </a:avLst>
          </a:prstGeom>
          <a:solidFill>
            <a:srgbClr val="EAF3FC"/>
          </a:solidFill>
          <a:ln w="10160">
            <a:solidFill>
              <a:srgbClr val="EAF3FC"/>
            </a:solidFill>
            <a:prstDash val="solid"/>
          </a:ln>
        </p:spPr>
      </p:sp>
      <p:sp>
        <p:nvSpPr>
          <p:cNvPr id="5" name="Text 3"/>
          <p:cNvSpPr txBox="1"/>
          <p:nvPr/>
        </p:nvSpPr>
        <p:spPr>
          <a:xfrm>
            <a:off x="941832" y="1741932"/>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1</a:t>
            </a:r>
            <a:endParaRPr lang="en-US" sz="900" dirty="0"/>
          </a:p>
        </p:txBody>
      </p:sp>
      <p:sp>
        <p:nvSpPr>
          <p:cNvPr id="6" name="Text 4"/>
          <p:cNvSpPr txBox="1"/>
          <p:nvPr/>
        </p:nvSpPr>
        <p:spPr>
          <a:xfrm>
            <a:off x="1371600" y="1682496"/>
            <a:ext cx="21488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METRICS</a:t>
            </a:r>
            <a:endParaRPr lang="en-US" sz="1200" dirty="0"/>
          </a:p>
        </p:txBody>
      </p:sp>
      <p:sp>
        <p:nvSpPr>
          <p:cNvPr id="7" name="Text 5"/>
          <p:cNvSpPr txBox="1"/>
          <p:nvPr/>
        </p:nvSpPr>
        <p:spPr>
          <a:xfrm>
            <a:off x="3611880" y="1682496"/>
            <a:ext cx="7315200" cy="320040"/>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Numeric time series: CPU, disk, network, latency</a:t>
            </a:r>
            <a:endParaRPr lang="en-US" sz="1120" dirty="0"/>
          </a:p>
        </p:txBody>
      </p:sp>
      <p:sp>
        <p:nvSpPr>
          <p:cNvPr id="8" name="Shape 6"/>
          <p:cNvSpPr/>
          <p:nvPr/>
        </p:nvSpPr>
        <p:spPr>
          <a:xfrm>
            <a:off x="868680" y="2505456"/>
            <a:ext cx="329184" cy="256032"/>
          </a:xfrm>
          <a:prstGeom prst="roundRect">
            <a:avLst>
              <a:gd name="adj" fmla="val 28571"/>
            </a:avLst>
          </a:prstGeom>
          <a:solidFill>
            <a:srgbClr val="EAF3FC"/>
          </a:solidFill>
          <a:ln w="10160">
            <a:solidFill>
              <a:srgbClr val="EAF3FC"/>
            </a:solidFill>
            <a:prstDash val="solid"/>
          </a:ln>
        </p:spPr>
      </p:sp>
      <p:sp>
        <p:nvSpPr>
          <p:cNvPr id="9" name="Text 7"/>
          <p:cNvSpPr txBox="1"/>
          <p:nvPr/>
        </p:nvSpPr>
        <p:spPr>
          <a:xfrm>
            <a:off x="941832" y="2519172"/>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0D9488"/>
                </a:solidFill>
                <a:latin typeface="Carlito" pitchFamily="34" charset="0"/>
                <a:ea typeface="Carlito" pitchFamily="34" charset="-122"/>
                <a:cs typeface="Carlito" pitchFamily="34" charset="-120"/>
              </a:rPr>
              <a:t>2</a:t>
            </a:r>
            <a:endParaRPr lang="en-US" sz="900" dirty="0"/>
          </a:p>
        </p:txBody>
      </p:sp>
      <p:sp>
        <p:nvSpPr>
          <p:cNvPr id="10" name="Text 8"/>
          <p:cNvSpPr txBox="1"/>
          <p:nvPr/>
        </p:nvSpPr>
        <p:spPr>
          <a:xfrm>
            <a:off x="1371600" y="2459736"/>
            <a:ext cx="21488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LOGS</a:t>
            </a:r>
            <a:endParaRPr lang="en-US" sz="1200" dirty="0"/>
          </a:p>
        </p:txBody>
      </p:sp>
      <p:sp>
        <p:nvSpPr>
          <p:cNvPr id="11" name="Text 9"/>
          <p:cNvSpPr txBox="1"/>
          <p:nvPr/>
        </p:nvSpPr>
        <p:spPr>
          <a:xfrm>
            <a:off x="3611880" y="2459736"/>
            <a:ext cx="7315200" cy="320040"/>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Event records: errors, audit events, application messages</a:t>
            </a:r>
            <a:endParaRPr lang="en-US" sz="1120" dirty="0"/>
          </a:p>
        </p:txBody>
      </p:sp>
      <p:sp>
        <p:nvSpPr>
          <p:cNvPr id="12" name="Shape 10"/>
          <p:cNvSpPr/>
          <p:nvPr/>
        </p:nvSpPr>
        <p:spPr>
          <a:xfrm>
            <a:off x="868680" y="3282696"/>
            <a:ext cx="329184" cy="256032"/>
          </a:xfrm>
          <a:prstGeom prst="roundRect">
            <a:avLst>
              <a:gd name="adj" fmla="val 28571"/>
            </a:avLst>
          </a:prstGeom>
          <a:solidFill>
            <a:srgbClr val="EAF3FC"/>
          </a:solidFill>
          <a:ln w="10160">
            <a:solidFill>
              <a:srgbClr val="EAF3FC"/>
            </a:solidFill>
            <a:prstDash val="solid"/>
          </a:ln>
        </p:spPr>
      </p:sp>
      <p:sp>
        <p:nvSpPr>
          <p:cNvPr id="13" name="Text 11"/>
          <p:cNvSpPr txBox="1"/>
          <p:nvPr/>
        </p:nvSpPr>
        <p:spPr>
          <a:xfrm>
            <a:off x="941832" y="3296412"/>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3</a:t>
            </a:r>
            <a:endParaRPr lang="en-US" sz="900" dirty="0"/>
          </a:p>
        </p:txBody>
      </p:sp>
      <p:sp>
        <p:nvSpPr>
          <p:cNvPr id="14" name="Text 12"/>
          <p:cNvSpPr txBox="1"/>
          <p:nvPr/>
        </p:nvSpPr>
        <p:spPr>
          <a:xfrm>
            <a:off x="1371600" y="3236976"/>
            <a:ext cx="21488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DASHBOARDS</a:t>
            </a:r>
            <a:endParaRPr lang="en-US" sz="1200" dirty="0"/>
          </a:p>
        </p:txBody>
      </p:sp>
      <p:sp>
        <p:nvSpPr>
          <p:cNvPr id="15" name="Text 13"/>
          <p:cNvSpPr txBox="1"/>
          <p:nvPr/>
        </p:nvSpPr>
        <p:spPr>
          <a:xfrm>
            <a:off x="3611880" y="3236976"/>
            <a:ext cx="7315200" cy="320040"/>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Visualize trends and compare services</a:t>
            </a:r>
            <a:endParaRPr lang="en-US" sz="1120" dirty="0"/>
          </a:p>
        </p:txBody>
      </p:sp>
      <p:sp>
        <p:nvSpPr>
          <p:cNvPr id="16" name="Shape 14"/>
          <p:cNvSpPr/>
          <p:nvPr/>
        </p:nvSpPr>
        <p:spPr>
          <a:xfrm>
            <a:off x="868680" y="4059936"/>
            <a:ext cx="329184" cy="256032"/>
          </a:xfrm>
          <a:prstGeom prst="roundRect">
            <a:avLst>
              <a:gd name="adj" fmla="val 28571"/>
            </a:avLst>
          </a:prstGeom>
          <a:solidFill>
            <a:srgbClr val="EAF3FC"/>
          </a:solidFill>
          <a:ln w="10160">
            <a:solidFill>
              <a:srgbClr val="EAF3FC"/>
            </a:solidFill>
            <a:prstDash val="solid"/>
          </a:ln>
        </p:spPr>
      </p:sp>
      <p:sp>
        <p:nvSpPr>
          <p:cNvPr id="17" name="Text 15"/>
          <p:cNvSpPr txBox="1"/>
          <p:nvPr/>
        </p:nvSpPr>
        <p:spPr>
          <a:xfrm>
            <a:off x="941832" y="4073652"/>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7706"/>
                </a:solidFill>
                <a:latin typeface="Carlito" pitchFamily="34" charset="0"/>
                <a:ea typeface="Carlito" pitchFamily="34" charset="-122"/>
                <a:cs typeface="Carlito" pitchFamily="34" charset="-120"/>
              </a:rPr>
              <a:t>4</a:t>
            </a:r>
            <a:endParaRPr lang="en-US" sz="900" dirty="0"/>
          </a:p>
        </p:txBody>
      </p:sp>
      <p:sp>
        <p:nvSpPr>
          <p:cNvPr id="18" name="Text 16"/>
          <p:cNvSpPr txBox="1"/>
          <p:nvPr/>
        </p:nvSpPr>
        <p:spPr>
          <a:xfrm>
            <a:off x="1371600" y="4014216"/>
            <a:ext cx="21488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ALERT POLICIES</a:t>
            </a:r>
            <a:endParaRPr lang="en-US" sz="1200" dirty="0"/>
          </a:p>
        </p:txBody>
      </p:sp>
      <p:sp>
        <p:nvSpPr>
          <p:cNvPr id="19" name="Text 17"/>
          <p:cNvSpPr txBox="1"/>
          <p:nvPr/>
        </p:nvSpPr>
        <p:spPr>
          <a:xfrm>
            <a:off x="3611880" y="4014216"/>
            <a:ext cx="7315200" cy="320040"/>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Evaluate conditions and define incident behaviour</a:t>
            </a:r>
            <a:endParaRPr lang="en-US" sz="1120" dirty="0"/>
          </a:p>
        </p:txBody>
      </p:sp>
      <p:sp>
        <p:nvSpPr>
          <p:cNvPr id="20" name="Shape 18"/>
          <p:cNvSpPr/>
          <p:nvPr/>
        </p:nvSpPr>
        <p:spPr>
          <a:xfrm>
            <a:off x="868680" y="4837176"/>
            <a:ext cx="329184" cy="256032"/>
          </a:xfrm>
          <a:prstGeom prst="roundRect">
            <a:avLst>
              <a:gd name="adj" fmla="val 28571"/>
            </a:avLst>
          </a:prstGeom>
          <a:solidFill>
            <a:srgbClr val="EAF3FC"/>
          </a:solidFill>
          <a:ln w="10160">
            <a:solidFill>
              <a:srgbClr val="EAF3FC"/>
            </a:solidFill>
            <a:prstDash val="solid"/>
          </a:ln>
        </p:spPr>
      </p:sp>
      <p:sp>
        <p:nvSpPr>
          <p:cNvPr id="21" name="Text 19"/>
          <p:cNvSpPr txBox="1"/>
          <p:nvPr/>
        </p:nvSpPr>
        <p:spPr>
          <a:xfrm>
            <a:off x="941832" y="4850892"/>
            <a:ext cx="182880"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7654B8"/>
                </a:solidFill>
                <a:latin typeface="Carlito" pitchFamily="34" charset="0"/>
                <a:ea typeface="Carlito" pitchFamily="34" charset="-122"/>
                <a:cs typeface="Carlito" pitchFamily="34" charset="-120"/>
              </a:rPr>
              <a:t>5</a:t>
            </a:r>
            <a:endParaRPr lang="en-US" sz="900" dirty="0"/>
          </a:p>
        </p:txBody>
      </p:sp>
      <p:sp>
        <p:nvSpPr>
          <p:cNvPr id="22" name="Text 20"/>
          <p:cNvSpPr txBox="1"/>
          <p:nvPr/>
        </p:nvSpPr>
        <p:spPr>
          <a:xfrm>
            <a:off x="1371600" y="4791456"/>
            <a:ext cx="21488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NOTIFICATION CHANNELS</a:t>
            </a:r>
            <a:endParaRPr lang="en-US" sz="1200" dirty="0"/>
          </a:p>
        </p:txBody>
      </p:sp>
      <p:sp>
        <p:nvSpPr>
          <p:cNvPr id="23" name="Text 21"/>
          <p:cNvSpPr txBox="1"/>
          <p:nvPr/>
        </p:nvSpPr>
        <p:spPr>
          <a:xfrm>
            <a:off x="3611880" y="4791456"/>
            <a:ext cx="7315200" cy="320040"/>
          </a:xfrm>
          <a:prstGeom prst="rect">
            <a:avLst/>
          </a:prstGeom>
          <a:noFill/>
          <a:ln/>
        </p:spPr>
        <p:txBody>
          <a:bodyPr wrap="square" lIns="0" tIns="0" rIns="0" bIns="0" rtlCol="0" anchor="ctr">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Email, SMS or integrations for on-call response</a:t>
            </a:r>
            <a:endParaRPr lang="en-US" sz="1120" dirty="0"/>
          </a:p>
        </p:txBody>
      </p:sp>
      <p:sp>
        <p:nvSpPr>
          <p:cNvPr id="24" name="Shape 22"/>
          <p:cNvSpPr/>
          <p:nvPr/>
        </p:nvSpPr>
        <p:spPr>
          <a:xfrm>
            <a:off x="822960" y="5715000"/>
            <a:ext cx="10515600" cy="457200"/>
          </a:xfrm>
          <a:prstGeom prst="roundRect">
            <a:avLst>
              <a:gd name="adj" fmla="val 16000"/>
            </a:avLst>
          </a:prstGeom>
          <a:solidFill>
            <a:srgbClr val="E9F7F0"/>
          </a:solidFill>
          <a:ln w="10160">
            <a:solidFill>
              <a:srgbClr val="E9F7F0"/>
            </a:solidFill>
            <a:prstDash val="solid"/>
          </a:ln>
        </p:spPr>
      </p:sp>
      <p:sp>
        <p:nvSpPr>
          <p:cNvPr id="25" name="Text 23"/>
          <p:cNvSpPr txBox="1"/>
          <p:nvPr/>
        </p:nvSpPr>
        <p:spPr>
          <a:xfrm>
            <a:off x="969264" y="5788152"/>
            <a:ext cx="1022299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An alert is a workflow: signal -&gt; condition -&gt; incident -&gt; notification -&gt; acknowledgement -&gt; remediation -&gt; resolution. Creating a policy alone does not prove that an alert actually fired.</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CLOUD MONITORING</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CPU alert: understand the signal, condition and notification</a:t>
            </a:r>
            <a:endParaRPr lang="en-US" sz="2500" dirty="0"/>
          </a:p>
        </p:txBody>
      </p:sp>
      <p:sp>
        <p:nvSpPr>
          <p:cNvPr id="4" name="Shape 2"/>
          <p:cNvSpPr/>
          <p:nvPr/>
        </p:nvSpPr>
        <p:spPr>
          <a:xfrm>
            <a:off x="713232" y="1828800"/>
            <a:ext cx="2377440" cy="1234440"/>
          </a:xfrm>
          <a:prstGeom prst="roundRect">
            <a:avLst>
              <a:gd name="adj" fmla="val 5926"/>
            </a:avLst>
          </a:prstGeom>
          <a:solidFill>
            <a:srgbClr val="EAF3FC"/>
          </a:solidFill>
          <a:ln w="10160">
            <a:solidFill>
              <a:srgbClr val="DCE3EB"/>
            </a:solidFill>
            <a:prstDash val="solid"/>
          </a:ln>
        </p:spPr>
      </p:sp>
      <p:sp>
        <p:nvSpPr>
          <p:cNvPr id="5" name="Text 3"/>
          <p:cNvSpPr txBox="1"/>
          <p:nvPr/>
        </p:nvSpPr>
        <p:spPr>
          <a:xfrm>
            <a:off x="804672" y="2011680"/>
            <a:ext cx="2194560" cy="201168"/>
          </a:xfrm>
          <a:prstGeom prst="rect">
            <a:avLst/>
          </a:prstGeom>
          <a:noFill/>
          <a:ln/>
        </p:spPr>
        <p:txBody>
          <a:bodyPr wrap="square" lIns="0" tIns="0" rIns="0" bIns="0" rtlCol="0" anchor="ctr">
            <a:normAutofit/>
          </a:bodyPr>
          <a:lstStyle/>
          <a:p>
            <a:pPr algn="ctr" indent="0" marL="0">
              <a:lnSpc>
                <a:spcPct val="95000"/>
              </a:lnSpc>
              <a:buNone/>
            </a:pPr>
            <a:r>
              <a:rPr lang="en-US" sz="1070" b="1" dirty="0">
                <a:solidFill>
                  <a:srgbClr val="2878C8"/>
                </a:solidFill>
                <a:latin typeface="Carlito" pitchFamily="34" charset="0"/>
                <a:ea typeface="Carlito" pitchFamily="34" charset="-122"/>
                <a:cs typeface="Carlito" pitchFamily="34" charset="-120"/>
              </a:rPr>
              <a:t>VM CPU METRIC</a:t>
            </a:r>
            <a:endParaRPr lang="en-US" sz="1070" dirty="0"/>
          </a:p>
        </p:txBody>
      </p:sp>
      <p:sp>
        <p:nvSpPr>
          <p:cNvPr id="6" name="Text 4"/>
          <p:cNvSpPr txBox="1"/>
          <p:nvPr/>
        </p:nvSpPr>
        <p:spPr>
          <a:xfrm>
            <a:off x="822960" y="2395728"/>
            <a:ext cx="2157984" cy="384048"/>
          </a:xfrm>
          <a:prstGeom prst="rect">
            <a:avLst/>
          </a:prstGeom>
          <a:noFill/>
          <a:ln/>
        </p:spPr>
        <p:txBody>
          <a:bodyPr wrap="square" lIns="0" tIns="0" rIns="0" bIns="0" rtlCol="0" anchor="ctr">
            <a:normAutofit/>
          </a:bodyPr>
          <a:lstStyle/>
          <a:p>
            <a:pPr algn="ctr" indent="0" marL="0">
              <a:lnSpc>
                <a:spcPct val="95000"/>
              </a:lnSpc>
              <a:buNone/>
            </a:pPr>
            <a:r>
              <a:rPr lang="en-US" sz="920" dirty="0">
                <a:solidFill>
                  <a:srgbClr val="203040"/>
                </a:solidFill>
                <a:latin typeface="Carlito" pitchFamily="34" charset="0"/>
                <a:ea typeface="Carlito" pitchFamily="34" charset="-122"/>
                <a:cs typeface="Carlito" pitchFamily="34" charset="-120"/>
              </a:rPr>
              <a:t>compute.googleapis.com/instance/cpu/utilization</a:t>
            </a:r>
            <a:endParaRPr lang="en-US" sz="920" dirty="0"/>
          </a:p>
        </p:txBody>
      </p:sp>
      <p:sp>
        <p:nvSpPr>
          <p:cNvPr id="7" name="Shape 5"/>
          <p:cNvSpPr/>
          <p:nvPr/>
        </p:nvSpPr>
        <p:spPr>
          <a:xfrm>
            <a:off x="3118104" y="2468880"/>
            <a:ext cx="338328" cy="0"/>
          </a:xfrm>
          <a:prstGeom prst="line">
            <a:avLst/>
          </a:prstGeom>
          <a:noFill/>
          <a:ln w="19050">
            <a:solidFill>
              <a:srgbClr val="0D9488"/>
            </a:solidFill>
            <a:prstDash val="solid"/>
            <a:tailEnd type="triangle"/>
          </a:ln>
        </p:spPr>
      </p:sp>
      <p:sp>
        <p:nvSpPr>
          <p:cNvPr id="8" name="Shape 6"/>
          <p:cNvSpPr/>
          <p:nvPr/>
        </p:nvSpPr>
        <p:spPr>
          <a:xfrm>
            <a:off x="3529584" y="1828800"/>
            <a:ext cx="2377440" cy="1234440"/>
          </a:xfrm>
          <a:prstGeom prst="roundRect">
            <a:avLst>
              <a:gd name="adj" fmla="val 5926"/>
            </a:avLst>
          </a:prstGeom>
          <a:solidFill>
            <a:srgbClr val="FFF5E6"/>
          </a:solidFill>
          <a:ln w="10160">
            <a:solidFill>
              <a:srgbClr val="DCE3EB"/>
            </a:solidFill>
            <a:prstDash val="solid"/>
          </a:ln>
        </p:spPr>
      </p:sp>
      <p:sp>
        <p:nvSpPr>
          <p:cNvPr id="9" name="Text 7"/>
          <p:cNvSpPr txBox="1"/>
          <p:nvPr/>
        </p:nvSpPr>
        <p:spPr>
          <a:xfrm>
            <a:off x="3621024" y="2011680"/>
            <a:ext cx="2194560" cy="201168"/>
          </a:xfrm>
          <a:prstGeom prst="rect">
            <a:avLst/>
          </a:prstGeom>
          <a:noFill/>
          <a:ln/>
        </p:spPr>
        <p:txBody>
          <a:bodyPr wrap="square" lIns="0" tIns="0" rIns="0" bIns="0" rtlCol="0" anchor="ctr">
            <a:normAutofit/>
          </a:bodyPr>
          <a:lstStyle/>
          <a:p>
            <a:pPr algn="ctr" indent="0" marL="0">
              <a:lnSpc>
                <a:spcPct val="95000"/>
              </a:lnSpc>
              <a:buNone/>
            </a:pPr>
            <a:r>
              <a:rPr lang="en-US" sz="1070" b="1" dirty="0">
                <a:solidFill>
                  <a:srgbClr val="D97706"/>
                </a:solidFill>
                <a:latin typeface="Carlito" pitchFamily="34" charset="0"/>
                <a:ea typeface="Carlito" pitchFamily="34" charset="-122"/>
                <a:cs typeface="Carlito" pitchFamily="34" charset="-120"/>
              </a:rPr>
              <a:t>ALERT CONDITION</a:t>
            </a:r>
            <a:endParaRPr lang="en-US" sz="1070" dirty="0"/>
          </a:p>
        </p:txBody>
      </p:sp>
      <p:sp>
        <p:nvSpPr>
          <p:cNvPr id="10" name="Text 8"/>
          <p:cNvSpPr txBox="1"/>
          <p:nvPr/>
        </p:nvSpPr>
        <p:spPr>
          <a:xfrm>
            <a:off x="3639312" y="2395728"/>
            <a:ext cx="2157984" cy="384048"/>
          </a:xfrm>
          <a:prstGeom prst="rect">
            <a:avLst/>
          </a:prstGeom>
          <a:noFill/>
          <a:ln/>
        </p:spPr>
        <p:txBody>
          <a:bodyPr wrap="square" lIns="0" tIns="0" rIns="0" bIns="0" rtlCol="0" anchor="ctr">
            <a:normAutofit/>
          </a:bodyPr>
          <a:lstStyle/>
          <a:p>
            <a:pPr algn="ctr" indent="0" marL="0">
              <a:lnSpc>
                <a:spcPct val="95000"/>
              </a:lnSpc>
              <a:buNone/>
            </a:pPr>
            <a:r>
              <a:rPr lang="en-US" sz="920" dirty="0">
                <a:solidFill>
                  <a:srgbClr val="203040"/>
                </a:solidFill>
                <a:latin typeface="Carlito" pitchFamily="34" charset="0"/>
                <a:ea typeface="Carlito" pitchFamily="34" charset="-122"/>
                <a:cs typeface="Carlito" pitchFamily="34" charset="-120"/>
              </a:rPr>
              <a:t>Threshold + duration + target resource</a:t>
            </a:r>
            <a:endParaRPr lang="en-US" sz="920" dirty="0"/>
          </a:p>
        </p:txBody>
      </p:sp>
      <p:sp>
        <p:nvSpPr>
          <p:cNvPr id="11" name="Shape 9"/>
          <p:cNvSpPr/>
          <p:nvPr/>
        </p:nvSpPr>
        <p:spPr>
          <a:xfrm>
            <a:off x="5934456" y="2468880"/>
            <a:ext cx="338328" cy="0"/>
          </a:xfrm>
          <a:prstGeom prst="line">
            <a:avLst/>
          </a:prstGeom>
          <a:noFill/>
          <a:ln w="19050">
            <a:solidFill>
              <a:srgbClr val="0D9488"/>
            </a:solidFill>
            <a:prstDash val="solid"/>
            <a:tailEnd type="triangle"/>
          </a:ln>
        </p:spPr>
      </p:sp>
      <p:sp>
        <p:nvSpPr>
          <p:cNvPr id="12" name="Shape 10"/>
          <p:cNvSpPr/>
          <p:nvPr/>
        </p:nvSpPr>
        <p:spPr>
          <a:xfrm>
            <a:off x="6345936" y="1828800"/>
            <a:ext cx="2377440" cy="1234440"/>
          </a:xfrm>
          <a:prstGeom prst="roundRect">
            <a:avLst>
              <a:gd name="adj" fmla="val 5926"/>
            </a:avLst>
          </a:prstGeom>
          <a:solidFill>
            <a:srgbClr val="FDEEEE"/>
          </a:solidFill>
          <a:ln w="10160">
            <a:solidFill>
              <a:srgbClr val="DCE3EB"/>
            </a:solidFill>
            <a:prstDash val="solid"/>
          </a:ln>
        </p:spPr>
      </p:sp>
      <p:sp>
        <p:nvSpPr>
          <p:cNvPr id="13" name="Text 11"/>
          <p:cNvSpPr txBox="1"/>
          <p:nvPr/>
        </p:nvSpPr>
        <p:spPr>
          <a:xfrm>
            <a:off x="6437376" y="2011680"/>
            <a:ext cx="2194560" cy="201168"/>
          </a:xfrm>
          <a:prstGeom prst="rect">
            <a:avLst/>
          </a:prstGeom>
          <a:noFill/>
          <a:ln/>
        </p:spPr>
        <p:txBody>
          <a:bodyPr wrap="square" lIns="0" tIns="0" rIns="0" bIns="0" rtlCol="0" anchor="ctr">
            <a:normAutofit/>
          </a:bodyPr>
          <a:lstStyle/>
          <a:p>
            <a:pPr algn="ctr" indent="0" marL="0">
              <a:lnSpc>
                <a:spcPct val="95000"/>
              </a:lnSpc>
              <a:buNone/>
            </a:pPr>
            <a:r>
              <a:rPr lang="en-US" sz="1070" b="1" dirty="0">
                <a:solidFill>
                  <a:srgbClr val="D94F4F"/>
                </a:solidFill>
                <a:latin typeface="Carlito" pitchFamily="34" charset="0"/>
                <a:ea typeface="Carlito" pitchFamily="34" charset="-122"/>
                <a:cs typeface="Carlito" pitchFamily="34" charset="-120"/>
              </a:rPr>
              <a:t>INCIDENT</a:t>
            </a:r>
            <a:endParaRPr lang="en-US" sz="1070" dirty="0"/>
          </a:p>
        </p:txBody>
      </p:sp>
      <p:sp>
        <p:nvSpPr>
          <p:cNvPr id="14" name="Text 12"/>
          <p:cNvSpPr txBox="1"/>
          <p:nvPr/>
        </p:nvSpPr>
        <p:spPr>
          <a:xfrm>
            <a:off x="6455664" y="2395728"/>
            <a:ext cx="2157984" cy="384048"/>
          </a:xfrm>
          <a:prstGeom prst="rect">
            <a:avLst/>
          </a:prstGeom>
          <a:noFill/>
          <a:ln/>
        </p:spPr>
        <p:txBody>
          <a:bodyPr wrap="square" lIns="0" tIns="0" rIns="0" bIns="0" rtlCol="0" anchor="ctr">
            <a:normAutofit/>
          </a:bodyPr>
          <a:lstStyle/>
          <a:p>
            <a:pPr algn="ctr" indent="0" marL="0">
              <a:lnSpc>
                <a:spcPct val="95000"/>
              </a:lnSpc>
              <a:buNone/>
            </a:pPr>
            <a:r>
              <a:rPr lang="en-US" sz="920" dirty="0">
                <a:solidFill>
                  <a:srgbClr val="203040"/>
                </a:solidFill>
                <a:latin typeface="Carlito" pitchFamily="34" charset="0"/>
                <a:ea typeface="Carlito" pitchFamily="34" charset="-122"/>
                <a:cs typeface="Carlito" pitchFamily="34" charset="-120"/>
              </a:rPr>
              <a:t>Condition met; alert record opens</a:t>
            </a:r>
            <a:endParaRPr lang="en-US" sz="920" dirty="0"/>
          </a:p>
        </p:txBody>
      </p:sp>
      <p:sp>
        <p:nvSpPr>
          <p:cNvPr id="15" name="Shape 13"/>
          <p:cNvSpPr/>
          <p:nvPr/>
        </p:nvSpPr>
        <p:spPr>
          <a:xfrm>
            <a:off x="8750808" y="2468880"/>
            <a:ext cx="338328" cy="0"/>
          </a:xfrm>
          <a:prstGeom prst="line">
            <a:avLst/>
          </a:prstGeom>
          <a:noFill/>
          <a:ln w="19050">
            <a:solidFill>
              <a:srgbClr val="0D9488"/>
            </a:solidFill>
            <a:prstDash val="solid"/>
            <a:tailEnd type="triangle"/>
          </a:ln>
        </p:spPr>
      </p:sp>
      <p:sp>
        <p:nvSpPr>
          <p:cNvPr id="16" name="Shape 14"/>
          <p:cNvSpPr/>
          <p:nvPr/>
        </p:nvSpPr>
        <p:spPr>
          <a:xfrm>
            <a:off x="9162288" y="1828800"/>
            <a:ext cx="2377440" cy="1234440"/>
          </a:xfrm>
          <a:prstGeom prst="roundRect">
            <a:avLst>
              <a:gd name="adj" fmla="val 5926"/>
            </a:avLst>
          </a:prstGeom>
          <a:solidFill>
            <a:srgbClr val="E9F7F0"/>
          </a:solidFill>
          <a:ln w="10160">
            <a:solidFill>
              <a:srgbClr val="DCE3EB"/>
            </a:solidFill>
            <a:prstDash val="solid"/>
          </a:ln>
        </p:spPr>
      </p:sp>
      <p:sp>
        <p:nvSpPr>
          <p:cNvPr id="17" name="Text 15"/>
          <p:cNvSpPr txBox="1"/>
          <p:nvPr/>
        </p:nvSpPr>
        <p:spPr>
          <a:xfrm>
            <a:off x="9253728" y="2011680"/>
            <a:ext cx="2194560" cy="201168"/>
          </a:xfrm>
          <a:prstGeom prst="rect">
            <a:avLst/>
          </a:prstGeom>
          <a:noFill/>
          <a:ln/>
        </p:spPr>
        <p:txBody>
          <a:bodyPr wrap="square" lIns="0" tIns="0" rIns="0" bIns="0" rtlCol="0" anchor="ctr">
            <a:normAutofit/>
          </a:bodyPr>
          <a:lstStyle/>
          <a:p>
            <a:pPr algn="ctr" indent="0" marL="0">
              <a:lnSpc>
                <a:spcPct val="95000"/>
              </a:lnSpc>
              <a:buNone/>
            </a:pPr>
            <a:r>
              <a:rPr lang="en-US" sz="1070" b="1" dirty="0">
                <a:solidFill>
                  <a:srgbClr val="16A36A"/>
                </a:solidFill>
                <a:latin typeface="Carlito" pitchFamily="34" charset="0"/>
                <a:ea typeface="Carlito" pitchFamily="34" charset="-122"/>
                <a:cs typeface="Carlito" pitchFamily="34" charset="-120"/>
              </a:rPr>
              <a:t>EMAIL CHANNEL</a:t>
            </a:r>
            <a:endParaRPr lang="en-US" sz="1070" dirty="0"/>
          </a:p>
        </p:txBody>
      </p:sp>
      <p:sp>
        <p:nvSpPr>
          <p:cNvPr id="18" name="Text 16"/>
          <p:cNvSpPr txBox="1"/>
          <p:nvPr/>
        </p:nvSpPr>
        <p:spPr>
          <a:xfrm>
            <a:off x="9272016" y="2395728"/>
            <a:ext cx="2157984" cy="384048"/>
          </a:xfrm>
          <a:prstGeom prst="rect">
            <a:avLst/>
          </a:prstGeom>
          <a:noFill/>
          <a:ln/>
        </p:spPr>
        <p:txBody>
          <a:bodyPr wrap="square" lIns="0" tIns="0" rIns="0" bIns="0" rtlCol="0" anchor="ctr">
            <a:normAutofit/>
          </a:bodyPr>
          <a:lstStyle/>
          <a:p>
            <a:pPr algn="ctr" indent="0" marL="0">
              <a:lnSpc>
                <a:spcPct val="95000"/>
              </a:lnSpc>
              <a:buNone/>
            </a:pPr>
            <a:r>
              <a:rPr lang="en-US" sz="920" dirty="0">
                <a:solidFill>
                  <a:srgbClr val="203040"/>
                </a:solidFill>
                <a:latin typeface="Carlito" pitchFamily="34" charset="0"/>
                <a:ea typeface="Carlito" pitchFamily="34" charset="-122"/>
                <a:cs typeface="Carlito" pitchFamily="34" charset="-120"/>
              </a:rPr>
              <a:t>Verified mailbox receives notification</a:t>
            </a:r>
            <a:endParaRPr lang="en-US" sz="920" dirty="0"/>
          </a:p>
        </p:txBody>
      </p:sp>
      <p:sp>
        <p:nvSpPr>
          <p:cNvPr id="19" name="Text 17"/>
          <p:cNvSpPr txBox="1"/>
          <p:nvPr/>
        </p:nvSpPr>
        <p:spPr>
          <a:xfrm>
            <a:off x="822960" y="3657600"/>
            <a:ext cx="10424160" cy="1188720"/>
          </a:xfrm>
          <a:prstGeom prst="rect">
            <a:avLst/>
          </a:prstGeom>
          <a:noFill/>
          <a:ln/>
        </p:spPr>
        <p:txBody>
          <a:bodyPr wrap="square" lIns="254" tIns="254" rIns="254" bIns="254" rtlCol="0" anchor="t">
            <a:normAutofit/>
          </a:bodyPr>
          <a:lstStyle/>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The metric is sampled periodically; new data may not appear immediately.</a:t>
            </a:r>
            <a:endParaRPr lang="en-US" sz="1220" dirty="0"/>
          </a:p>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The lab asks students to generate a controlled, short CPU workload and wait several minutes for ingestion/evaluation.</a:t>
            </a:r>
            <a:endParaRPr lang="en-US" sz="1220" dirty="0"/>
          </a:p>
          <a:p>
            <a:pPr algn="l" indent="0" marL="0">
              <a:lnSpc>
                <a:spcPct val="95000"/>
              </a:lnSpc>
              <a:buNone/>
            </a:pPr>
            <a:r>
              <a:rPr lang="en-US" sz="1220" dirty="0">
                <a:solidFill>
                  <a:srgbClr val="203040"/>
                </a:solidFill>
                <a:latin typeface="Carlito" pitchFamily="34" charset="0"/>
                <a:ea typeface="Carlito" pitchFamily="34" charset="-122"/>
                <a:cs typeface="Carlito" pitchFamily="34" charset="-120"/>
              </a:rPr>
              <a:t>•  Verify the policy exists, email channel is verified, incident opens, email arrives, and incident closes after load stops.</a:t>
            </a:r>
            <a:endParaRPr lang="en-US" sz="1220" dirty="0"/>
          </a:p>
        </p:txBody>
      </p:sp>
      <p:sp>
        <p:nvSpPr>
          <p:cNvPr id="20" name="Shape 18"/>
          <p:cNvSpPr/>
          <p:nvPr/>
        </p:nvSpPr>
        <p:spPr>
          <a:xfrm>
            <a:off x="822960" y="5257800"/>
            <a:ext cx="10515600" cy="566928"/>
          </a:xfrm>
          <a:prstGeom prst="roundRect">
            <a:avLst>
              <a:gd name="adj" fmla="val 12903"/>
            </a:avLst>
          </a:prstGeom>
          <a:solidFill>
            <a:srgbClr val="FFF5E6"/>
          </a:solidFill>
          <a:ln w="10160">
            <a:solidFill>
              <a:srgbClr val="FFF5E6"/>
            </a:solidFill>
            <a:prstDash val="solid"/>
          </a:ln>
        </p:spPr>
      </p:sp>
      <p:sp>
        <p:nvSpPr>
          <p:cNvPr id="21" name="Text 19"/>
          <p:cNvSpPr txBox="1"/>
          <p:nvPr/>
        </p:nvSpPr>
        <p:spPr>
          <a:xfrm>
            <a:off x="969264" y="5330952"/>
            <a:ext cx="10222992" cy="42062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The guide suggests allowing about 4-5 minutes before deciding that the alert failed. Check the metric chart and policy condition before changing the threshold.</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MULTI-CLOUD OPERATIONS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Monitoring and alerting comparison</a:t>
            </a:r>
            <a:endParaRPr lang="en-US" sz="2500" dirty="0"/>
          </a:p>
        </p:txBody>
      </p:sp>
      <p:sp>
        <p:nvSpPr>
          <p:cNvPr id="4" name="Shape 2"/>
          <p:cNvSpPr/>
          <p:nvPr/>
        </p:nvSpPr>
        <p:spPr>
          <a:xfrm>
            <a:off x="594360" y="1691640"/>
            <a:ext cx="2194560" cy="384048"/>
          </a:xfrm>
          <a:prstGeom prst="rect">
            <a:avLst/>
          </a:prstGeom>
          <a:solidFill>
            <a:srgbClr val="12304A"/>
          </a:solidFill>
          <a:ln w="6350">
            <a:solidFill>
              <a:srgbClr val="D5DEE8"/>
            </a:solidFill>
            <a:prstDash val="solid"/>
          </a:ln>
        </p:spPr>
      </p:sp>
      <p:sp>
        <p:nvSpPr>
          <p:cNvPr id="5" name="Text 3"/>
          <p:cNvSpPr txBox="1"/>
          <p:nvPr/>
        </p:nvSpPr>
        <p:spPr>
          <a:xfrm>
            <a:off x="658368" y="1728216"/>
            <a:ext cx="2066544"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DIMENSION</a:t>
            </a:r>
            <a:endParaRPr lang="en-US" sz="950" dirty="0"/>
          </a:p>
        </p:txBody>
      </p:sp>
      <p:sp>
        <p:nvSpPr>
          <p:cNvPr id="6" name="Shape 4"/>
          <p:cNvSpPr/>
          <p:nvPr/>
        </p:nvSpPr>
        <p:spPr>
          <a:xfrm>
            <a:off x="2788920" y="1691640"/>
            <a:ext cx="2962656" cy="384048"/>
          </a:xfrm>
          <a:prstGeom prst="rect">
            <a:avLst/>
          </a:prstGeom>
          <a:solidFill>
            <a:srgbClr val="12304A"/>
          </a:solidFill>
          <a:ln w="6350">
            <a:solidFill>
              <a:srgbClr val="D5DEE8"/>
            </a:solidFill>
            <a:prstDash val="solid"/>
          </a:ln>
        </p:spPr>
      </p:sp>
      <p:sp>
        <p:nvSpPr>
          <p:cNvPr id="7" name="Text 5"/>
          <p:cNvSpPr txBox="1"/>
          <p:nvPr/>
        </p:nvSpPr>
        <p:spPr>
          <a:xfrm>
            <a:off x="2852928" y="1728216"/>
            <a:ext cx="2834640"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GOOGLE CLOUD</a:t>
            </a:r>
            <a:endParaRPr lang="en-US" sz="950" dirty="0"/>
          </a:p>
        </p:txBody>
      </p:sp>
      <p:sp>
        <p:nvSpPr>
          <p:cNvPr id="8" name="Shape 6"/>
          <p:cNvSpPr/>
          <p:nvPr/>
        </p:nvSpPr>
        <p:spPr>
          <a:xfrm>
            <a:off x="5751576" y="1691640"/>
            <a:ext cx="2852928" cy="384048"/>
          </a:xfrm>
          <a:prstGeom prst="rect">
            <a:avLst/>
          </a:prstGeom>
          <a:solidFill>
            <a:srgbClr val="12304A"/>
          </a:solidFill>
          <a:ln w="6350">
            <a:solidFill>
              <a:srgbClr val="D5DEE8"/>
            </a:solidFill>
            <a:prstDash val="solid"/>
          </a:ln>
        </p:spPr>
      </p:sp>
      <p:sp>
        <p:nvSpPr>
          <p:cNvPr id="9" name="Text 7"/>
          <p:cNvSpPr txBox="1"/>
          <p:nvPr/>
        </p:nvSpPr>
        <p:spPr>
          <a:xfrm>
            <a:off x="5815584" y="1728216"/>
            <a:ext cx="2724912"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AWS</a:t>
            </a:r>
            <a:endParaRPr lang="en-US" sz="950" dirty="0"/>
          </a:p>
        </p:txBody>
      </p:sp>
      <p:sp>
        <p:nvSpPr>
          <p:cNvPr id="10" name="Shape 8"/>
          <p:cNvSpPr/>
          <p:nvPr/>
        </p:nvSpPr>
        <p:spPr>
          <a:xfrm>
            <a:off x="8604504" y="1691640"/>
            <a:ext cx="2962656" cy="384048"/>
          </a:xfrm>
          <a:prstGeom prst="rect">
            <a:avLst/>
          </a:prstGeom>
          <a:solidFill>
            <a:srgbClr val="12304A"/>
          </a:solidFill>
          <a:ln w="6350">
            <a:solidFill>
              <a:srgbClr val="D5DEE8"/>
            </a:solidFill>
            <a:prstDash val="solid"/>
          </a:ln>
        </p:spPr>
      </p:sp>
      <p:sp>
        <p:nvSpPr>
          <p:cNvPr id="11" name="Text 9"/>
          <p:cNvSpPr txBox="1"/>
          <p:nvPr/>
        </p:nvSpPr>
        <p:spPr>
          <a:xfrm>
            <a:off x="8668512" y="1728216"/>
            <a:ext cx="2834640"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AZURE</a:t>
            </a:r>
            <a:endParaRPr lang="en-US" sz="950" dirty="0"/>
          </a:p>
        </p:txBody>
      </p:sp>
      <p:sp>
        <p:nvSpPr>
          <p:cNvPr id="12" name="Shape 10"/>
          <p:cNvSpPr/>
          <p:nvPr/>
        </p:nvSpPr>
        <p:spPr>
          <a:xfrm>
            <a:off x="594360" y="2075688"/>
            <a:ext cx="2194560" cy="682142"/>
          </a:xfrm>
          <a:prstGeom prst="rect">
            <a:avLst/>
          </a:prstGeom>
          <a:solidFill>
            <a:srgbClr val="FFFFFF"/>
          </a:solidFill>
          <a:ln w="6350">
            <a:solidFill>
              <a:srgbClr val="D5DEE8"/>
            </a:solidFill>
            <a:prstDash val="solid"/>
          </a:ln>
        </p:spPr>
      </p:sp>
      <p:sp>
        <p:nvSpPr>
          <p:cNvPr id="13" name="Text 11"/>
          <p:cNvSpPr txBox="1"/>
          <p:nvPr/>
        </p:nvSpPr>
        <p:spPr>
          <a:xfrm>
            <a:off x="658368" y="2112264"/>
            <a:ext cx="2066544"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Monitoring service</a:t>
            </a:r>
            <a:endParaRPr lang="en-US" sz="945" dirty="0"/>
          </a:p>
        </p:txBody>
      </p:sp>
      <p:sp>
        <p:nvSpPr>
          <p:cNvPr id="14" name="Shape 12"/>
          <p:cNvSpPr/>
          <p:nvPr/>
        </p:nvSpPr>
        <p:spPr>
          <a:xfrm>
            <a:off x="2788920" y="2075688"/>
            <a:ext cx="2962656" cy="682142"/>
          </a:xfrm>
          <a:prstGeom prst="rect">
            <a:avLst/>
          </a:prstGeom>
          <a:solidFill>
            <a:srgbClr val="FFFFFF"/>
          </a:solidFill>
          <a:ln w="6350">
            <a:solidFill>
              <a:srgbClr val="D5DEE8"/>
            </a:solidFill>
            <a:prstDash val="solid"/>
          </a:ln>
        </p:spPr>
      </p:sp>
      <p:sp>
        <p:nvSpPr>
          <p:cNvPr id="15" name="Text 13"/>
          <p:cNvSpPr txBox="1"/>
          <p:nvPr/>
        </p:nvSpPr>
        <p:spPr>
          <a:xfrm>
            <a:off x="2852928" y="2112264"/>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Cloud Monitoring</a:t>
            </a:r>
            <a:endParaRPr lang="en-US" sz="945" dirty="0"/>
          </a:p>
        </p:txBody>
      </p:sp>
      <p:sp>
        <p:nvSpPr>
          <p:cNvPr id="16" name="Shape 14"/>
          <p:cNvSpPr/>
          <p:nvPr/>
        </p:nvSpPr>
        <p:spPr>
          <a:xfrm>
            <a:off x="5751576" y="2075688"/>
            <a:ext cx="2852928" cy="682142"/>
          </a:xfrm>
          <a:prstGeom prst="rect">
            <a:avLst/>
          </a:prstGeom>
          <a:solidFill>
            <a:srgbClr val="FFFFFF"/>
          </a:solidFill>
          <a:ln w="6350">
            <a:solidFill>
              <a:srgbClr val="D5DEE8"/>
            </a:solidFill>
            <a:prstDash val="solid"/>
          </a:ln>
        </p:spPr>
      </p:sp>
      <p:sp>
        <p:nvSpPr>
          <p:cNvPr id="17" name="Text 15"/>
          <p:cNvSpPr txBox="1"/>
          <p:nvPr/>
        </p:nvSpPr>
        <p:spPr>
          <a:xfrm>
            <a:off x="5815584" y="2112264"/>
            <a:ext cx="2724912"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Amazon CloudWatch</a:t>
            </a:r>
            <a:endParaRPr lang="en-US" sz="945" dirty="0"/>
          </a:p>
        </p:txBody>
      </p:sp>
      <p:sp>
        <p:nvSpPr>
          <p:cNvPr id="18" name="Shape 16"/>
          <p:cNvSpPr/>
          <p:nvPr/>
        </p:nvSpPr>
        <p:spPr>
          <a:xfrm>
            <a:off x="8604504" y="2075688"/>
            <a:ext cx="2962656" cy="682142"/>
          </a:xfrm>
          <a:prstGeom prst="rect">
            <a:avLst/>
          </a:prstGeom>
          <a:solidFill>
            <a:srgbClr val="FFFFFF"/>
          </a:solidFill>
          <a:ln w="6350">
            <a:solidFill>
              <a:srgbClr val="D5DEE8"/>
            </a:solidFill>
            <a:prstDash val="solid"/>
          </a:ln>
        </p:spPr>
      </p:sp>
      <p:sp>
        <p:nvSpPr>
          <p:cNvPr id="19" name="Text 17"/>
          <p:cNvSpPr txBox="1"/>
          <p:nvPr/>
        </p:nvSpPr>
        <p:spPr>
          <a:xfrm>
            <a:off x="8668512" y="2112264"/>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Azure Monitor</a:t>
            </a:r>
            <a:endParaRPr lang="en-US" sz="945" dirty="0"/>
          </a:p>
        </p:txBody>
      </p:sp>
      <p:sp>
        <p:nvSpPr>
          <p:cNvPr id="20" name="Shape 18"/>
          <p:cNvSpPr/>
          <p:nvPr/>
        </p:nvSpPr>
        <p:spPr>
          <a:xfrm>
            <a:off x="594360" y="2757830"/>
            <a:ext cx="2194560" cy="682142"/>
          </a:xfrm>
          <a:prstGeom prst="rect">
            <a:avLst/>
          </a:prstGeom>
          <a:solidFill>
            <a:srgbClr val="F1F5F9"/>
          </a:solidFill>
          <a:ln w="6350">
            <a:solidFill>
              <a:srgbClr val="D5DEE8"/>
            </a:solidFill>
            <a:prstDash val="solid"/>
          </a:ln>
        </p:spPr>
      </p:sp>
      <p:sp>
        <p:nvSpPr>
          <p:cNvPr id="21" name="Text 19"/>
          <p:cNvSpPr txBox="1"/>
          <p:nvPr/>
        </p:nvSpPr>
        <p:spPr>
          <a:xfrm>
            <a:off x="658368" y="2794406"/>
            <a:ext cx="2066544"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Metric / query</a:t>
            </a:r>
            <a:endParaRPr lang="en-US" sz="945" dirty="0"/>
          </a:p>
        </p:txBody>
      </p:sp>
      <p:sp>
        <p:nvSpPr>
          <p:cNvPr id="22" name="Shape 20"/>
          <p:cNvSpPr/>
          <p:nvPr/>
        </p:nvSpPr>
        <p:spPr>
          <a:xfrm>
            <a:off x="2788920" y="2757830"/>
            <a:ext cx="2962656" cy="682142"/>
          </a:xfrm>
          <a:prstGeom prst="rect">
            <a:avLst/>
          </a:prstGeom>
          <a:solidFill>
            <a:srgbClr val="F1F5F9"/>
          </a:solidFill>
          <a:ln w="6350">
            <a:solidFill>
              <a:srgbClr val="D5DEE8"/>
            </a:solidFill>
            <a:prstDash val="solid"/>
          </a:ln>
        </p:spPr>
      </p:sp>
      <p:sp>
        <p:nvSpPr>
          <p:cNvPr id="23" name="Text 21"/>
          <p:cNvSpPr txBox="1"/>
          <p:nvPr/>
        </p:nvSpPr>
        <p:spPr>
          <a:xfrm>
            <a:off x="2852928" y="2794406"/>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Metrics Explorer + MQL / PromQL options</a:t>
            </a:r>
            <a:endParaRPr lang="en-US" sz="945" dirty="0"/>
          </a:p>
        </p:txBody>
      </p:sp>
      <p:sp>
        <p:nvSpPr>
          <p:cNvPr id="24" name="Shape 22"/>
          <p:cNvSpPr/>
          <p:nvPr/>
        </p:nvSpPr>
        <p:spPr>
          <a:xfrm>
            <a:off x="5751576" y="2757830"/>
            <a:ext cx="2852928" cy="682142"/>
          </a:xfrm>
          <a:prstGeom prst="rect">
            <a:avLst/>
          </a:prstGeom>
          <a:solidFill>
            <a:srgbClr val="F1F5F9"/>
          </a:solidFill>
          <a:ln w="6350">
            <a:solidFill>
              <a:srgbClr val="D5DEE8"/>
            </a:solidFill>
            <a:prstDash val="solid"/>
          </a:ln>
        </p:spPr>
      </p:sp>
      <p:sp>
        <p:nvSpPr>
          <p:cNvPr id="25" name="Text 23"/>
          <p:cNvSpPr txBox="1"/>
          <p:nvPr/>
        </p:nvSpPr>
        <p:spPr>
          <a:xfrm>
            <a:off x="5815584" y="2794406"/>
            <a:ext cx="2724912"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Metrics + Logs / CloudWatch query tools</a:t>
            </a:r>
            <a:endParaRPr lang="en-US" sz="945" dirty="0"/>
          </a:p>
        </p:txBody>
      </p:sp>
      <p:sp>
        <p:nvSpPr>
          <p:cNvPr id="26" name="Shape 24"/>
          <p:cNvSpPr/>
          <p:nvPr/>
        </p:nvSpPr>
        <p:spPr>
          <a:xfrm>
            <a:off x="8604504" y="2757830"/>
            <a:ext cx="2962656" cy="682142"/>
          </a:xfrm>
          <a:prstGeom prst="rect">
            <a:avLst/>
          </a:prstGeom>
          <a:solidFill>
            <a:srgbClr val="F1F5F9"/>
          </a:solidFill>
          <a:ln w="6350">
            <a:solidFill>
              <a:srgbClr val="D5DEE8"/>
            </a:solidFill>
            <a:prstDash val="solid"/>
          </a:ln>
        </p:spPr>
      </p:sp>
      <p:sp>
        <p:nvSpPr>
          <p:cNvPr id="27" name="Text 25"/>
          <p:cNvSpPr txBox="1"/>
          <p:nvPr/>
        </p:nvSpPr>
        <p:spPr>
          <a:xfrm>
            <a:off x="8668512" y="2794406"/>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Metrics + Logs / KQL in Log Analytics</a:t>
            </a:r>
            <a:endParaRPr lang="en-US" sz="945" dirty="0"/>
          </a:p>
        </p:txBody>
      </p:sp>
      <p:sp>
        <p:nvSpPr>
          <p:cNvPr id="28" name="Shape 26"/>
          <p:cNvSpPr/>
          <p:nvPr/>
        </p:nvSpPr>
        <p:spPr>
          <a:xfrm>
            <a:off x="594360" y="3439973"/>
            <a:ext cx="2194560" cy="682142"/>
          </a:xfrm>
          <a:prstGeom prst="rect">
            <a:avLst/>
          </a:prstGeom>
          <a:solidFill>
            <a:srgbClr val="FFFFFF"/>
          </a:solidFill>
          <a:ln w="6350">
            <a:solidFill>
              <a:srgbClr val="D5DEE8"/>
            </a:solidFill>
            <a:prstDash val="solid"/>
          </a:ln>
        </p:spPr>
      </p:sp>
      <p:sp>
        <p:nvSpPr>
          <p:cNvPr id="29" name="Text 27"/>
          <p:cNvSpPr txBox="1"/>
          <p:nvPr/>
        </p:nvSpPr>
        <p:spPr>
          <a:xfrm>
            <a:off x="658368" y="3476549"/>
            <a:ext cx="2066544"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Alert unit</a:t>
            </a:r>
            <a:endParaRPr lang="en-US" sz="945" dirty="0"/>
          </a:p>
        </p:txBody>
      </p:sp>
      <p:sp>
        <p:nvSpPr>
          <p:cNvPr id="30" name="Shape 28"/>
          <p:cNvSpPr/>
          <p:nvPr/>
        </p:nvSpPr>
        <p:spPr>
          <a:xfrm>
            <a:off x="2788920" y="3439973"/>
            <a:ext cx="2962656" cy="682142"/>
          </a:xfrm>
          <a:prstGeom prst="rect">
            <a:avLst/>
          </a:prstGeom>
          <a:solidFill>
            <a:srgbClr val="FFFFFF"/>
          </a:solidFill>
          <a:ln w="6350">
            <a:solidFill>
              <a:srgbClr val="D5DEE8"/>
            </a:solidFill>
            <a:prstDash val="solid"/>
          </a:ln>
        </p:spPr>
      </p:sp>
      <p:sp>
        <p:nvSpPr>
          <p:cNvPr id="31" name="Text 29"/>
          <p:cNvSpPr txBox="1"/>
          <p:nvPr/>
        </p:nvSpPr>
        <p:spPr>
          <a:xfrm>
            <a:off x="2852928" y="3476549"/>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Alerting policy + condition</a:t>
            </a:r>
            <a:endParaRPr lang="en-US" sz="945" dirty="0"/>
          </a:p>
        </p:txBody>
      </p:sp>
      <p:sp>
        <p:nvSpPr>
          <p:cNvPr id="32" name="Shape 30"/>
          <p:cNvSpPr/>
          <p:nvPr/>
        </p:nvSpPr>
        <p:spPr>
          <a:xfrm>
            <a:off x="5751576" y="3439973"/>
            <a:ext cx="2852928" cy="682142"/>
          </a:xfrm>
          <a:prstGeom prst="rect">
            <a:avLst/>
          </a:prstGeom>
          <a:solidFill>
            <a:srgbClr val="FFFFFF"/>
          </a:solidFill>
          <a:ln w="6350">
            <a:solidFill>
              <a:srgbClr val="D5DEE8"/>
            </a:solidFill>
            <a:prstDash val="solid"/>
          </a:ln>
        </p:spPr>
      </p:sp>
      <p:sp>
        <p:nvSpPr>
          <p:cNvPr id="33" name="Text 31"/>
          <p:cNvSpPr txBox="1"/>
          <p:nvPr/>
        </p:nvSpPr>
        <p:spPr>
          <a:xfrm>
            <a:off x="5815584" y="3476549"/>
            <a:ext cx="2724912"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Alarm + metric/log alarm</a:t>
            </a:r>
            <a:endParaRPr lang="en-US" sz="945" dirty="0"/>
          </a:p>
        </p:txBody>
      </p:sp>
      <p:sp>
        <p:nvSpPr>
          <p:cNvPr id="34" name="Shape 32"/>
          <p:cNvSpPr/>
          <p:nvPr/>
        </p:nvSpPr>
        <p:spPr>
          <a:xfrm>
            <a:off x="8604504" y="3439973"/>
            <a:ext cx="2962656" cy="682142"/>
          </a:xfrm>
          <a:prstGeom prst="rect">
            <a:avLst/>
          </a:prstGeom>
          <a:solidFill>
            <a:srgbClr val="FFFFFF"/>
          </a:solidFill>
          <a:ln w="6350">
            <a:solidFill>
              <a:srgbClr val="D5DEE8"/>
            </a:solidFill>
            <a:prstDash val="solid"/>
          </a:ln>
        </p:spPr>
      </p:sp>
      <p:sp>
        <p:nvSpPr>
          <p:cNvPr id="35" name="Text 33"/>
          <p:cNvSpPr txBox="1"/>
          <p:nvPr/>
        </p:nvSpPr>
        <p:spPr>
          <a:xfrm>
            <a:off x="8668512" y="3476549"/>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Alert rule + condition</a:t>
            </a:r>
            <a:endParaRPr lang="en-US" sz="945" dirty="0"/>
          </a:p>
        </p:txBody>
      </p:sp>
      <p:sp>
        <p:nvSpPr>
          <p:cNvPr id="36" name="Shape 34"/>
          <p:cNvSpPr/>
          <p:nvPr/>
        </p:nvSpPr>
        <p:spPr>
          <a:xfrm>
            <a:off x="594360" y="4122115"/>
            <a:ext cx="2194560" cy="682142"/>
          </a:xfrm>
          <a:prstGeom prst="rect">
            <a:avLst/>
          </a:prstGeom>
          <a:solidFill>
            <a:srgbClr val="F1F5F9"/>
          </a:solidFill>
          <a:ln w="6350">
            <a:solidFill>
              <a:srgbClr val="D5DEE8"/>
            </a:solidFill>
            <a:prstDash val="solid"/>
          </a:ln>
        </p:spPr>
      </p:sp>
      <p:sp>
        <p:nvSpPr>
          <p:cNvPr id="37" name="Text 35"/>
          <p:cNvSpPr txBox="1"/>
          <p:nvPr/>
        </p:nvSpPr>
        <p:spPr>
          <a:xfrm>
            <a:off x="658368" y="4158691"/>
            <a:ext cx="2066544"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Notification mechanism</a:t>
            </a:r>
            <a:endParaRPr lang="en-US" sz="945" dirty="0"/>
          </a:p>
        </p:txBody>
      </p:sp>
      <p:sp>
        <p:nvSpPr>
          <p:cNvPr id="38" name="Shape 36"/>
          <p:cNvSpPr/>
          <p:nvPr/>
        </p:nvSpPr>
        <p:spPr>
          <a:xfrm>
            <a:off x="2788920" y="4122115"/>
            <a:ext cx="2962656" cy="682142"/>
          </a:xfrm>
          <a:prstGeom prst="rect">
            <a:avLst/>
          </a:prstGeom>
          <a:solidFill>
            <a:srgbClr val="F1F5F9"/>
          </a:solidFill>
          <a:ln w="6350">
            <a:solidFill>
              <a:srgbClr val="D5DEE8"/>
            </a:solidFill>
            <a:prstDash val="solid"/>
          </a:ln>
        </p:spPr>
      </p:sp>
      <p:sp>
        <p:nvSpPr>
          <p:cNvPr id="39" name="Text 37"/>
          <p:cNvSpPr txBox="1"/>
          <p:nvPr/>
        </p:nvSpPr>
        <p:spPr>
          <a:xfrm>
            <a:off x="2852928" y="4158691"/>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Notification channel</a:t>
            </a:r>
            <a:endParaRPr lang="en-US" sz="945" dirty="0"/>
          </a:p>
        </p:txBody>
      </p:sp>
      <p:sp>
        <p:nvSpPr>
          <p:cNvPr id="40" name="Shape 38"/>
          <p:cNvSpPr/>
          <p:nvPr/>
        </p:nvSpPr>
        <p:spPr>
          <a:xfrm>
            <a:off x="5751576" y="4122115"/>
            <a:ext cx="2852928" cy="682142"/>
          </a:xfrm>
          <a:prstGeom prst="rect">
            <a:avLst/>
          </a:prstGeom>
          <a:solidFill>
            <a:srgbClr val="F1F5F9"/>
          </a:solidFill>
          <a:ln w="6350">
            <a:solidFill>
              <a:srgbClr val="D5DEE8"/>
            </a:solidFill>
            <a:prstDash val="solid"/>
          </a:ln>
        </p:spPr>
      </p:sp>
      <p:sp>
        <p:nvSpPr>
          <p:cNvPr id="41" name="Text 39"/>
          <p:cNvSpPr txBox="1"/>
          <p:nvPr/>
        </p:nvSpPr>
        <p:spPr>
          <a:xfrm>
            <a:off x="5815584" y="4158691"/>
            <a:ext cx="2724912"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SNS / integrated actions</a:t>
            </a:r>
            <a:endParaRPr lang="en-US" sz="945" dirty="0"/>
          </a:p>
        </p:txBody>
      </p:sp>
      <p:sp>
        <p:nvSpPr>
          <p:cNvPr id="42" name="Shape 40"/>
          <p:cNvSpPr/>
          <p:nvPr/>
        </p:nvSpPr>
        <p:spPr>
          <a:xfrm>
            <a:off x="8604504" y="4122115"/>
            <a:ext cx="2962656" cy="682142"/>
          </a:xfrm>
          <a:prstGeom prst="rect">
            <a:avLst/>
          </a:prstGeom>
          <a:solidFill>
            <a:srgbClr val="F1F5F9"/>
          </a:solidFill>
          <a:ln w="6350">
            <a:solidFill>
              <a:srgbClr val="D5DEE8"/>
            </a:solidFill>
            <a:prstDash val="solid"/>
          </a:ln>
        </p:spPr>
      </p:sp>
      <p:sp>
        <p:nvSpPr>
          <p:cNvPr id="43" name="Text 41"/>
          <p:cNvSpPr txBox="1"/>
          <p:nvPr/>
        </p:nvSpPr>
        <p:spPr>
          <a:xfrm>
            <a:off x="8668512" y="4158691"/>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Action group</a:t>
            </a:r>
            <a:endParaRPr lang="en-US" sz="945" dirty="0"/>
          </a:p>
        </p:txBody>
      </p:sp>
      <p:sp>
        <p:nvSpPr>
          <p:cNvPr id="44" name="Shape 42"/>
          <p:cNvSpPr/>
          <p:nvPr/>
        </p:nvSpPr>
        <p:spPr>
          <a:xfrm>
            <a:off x="594360" y="4804258"/>
            <a:ext cx="2194560" cy="682142"/>
          </a:xfrm>
          <a:prstGeom prst="rect">
            <a:avLst/>
          </a:prstGeom>
          <a:solidFill>
            <a:srgbClr val="FFFFFF"/>
          </a:solidFill>
          <a:ln w="6350">
            <a:solidFill>
              <a:srgbClr val="D5DEE8"/>
            </a:solidFill>
            <a:prstDash val="solid"/>
          </a:ln>
        </p:spPr>
      </p:sp>
      <p:sp>
        <p:nvSpPr>
          <p:cNvPr id="45" name="Text 43"/>
          <p:cNvSpPr txBox="1"/>
          <p:nvPr/>
        </p:nvSpPr>
        <p:spPr>
          <a:xfrm>
            <a:off x="658368" y="4840834"/>
            <a:ext cx="2066544"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Incident lifecycle</a:t>
            </a:r>
            <a:endParaRPr lang="en-US" sz="945" dirty="0"/>
          </a:p>
        </p:txBody>
      </p:sp>
      <p:sp>
        <p:nvSpPr>
          <p:cNvPr id="46" name="Shape 44"/>
          <p:cNvSpPr/>
          <p:nvPr/>
        </p:nvSpPr>
        <p:spPr>
          <a:xfrm>
            <a:off x="2788920" y="4804258"/>
            <a:ext cx="2962656" cy="682142"/>
          </a:xfrm>
          <a:prstGeom prst="rect">
            <a:avLst/>
          </a:prstGeom>
          <a:solidFill>
            <a:srgbClr val="FFFFFF"/>
          </a:solidFill>
          <a:ln w="6350">
            <a:solidFill>
              <a:srgbClr val="D5DEE8"/>
            </a:solidFill>
            <a:prstDash val="solid"/>
          </a:ln>
        </p:spPr>
      </p:sp>
      <p:sp>
        <p:nvSpPr>
          <p:cNvPr id="47" name="Text 45"/>
          <p:cNvSpPr txBox="1"/>
          <p:nvPr/>
        </p:nvSpPr>
        <p:spPr>
          <a:xfrm>
            <a:off x="2852928" y="4840834"/>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Alert incident state and notifications</a:t>
            </a:r>
            <a:endParaRPr lang="en-US" sz="945" dirty="0"/>
          </a:p>
        </p:txBody>
      </p:sp>
      <p:sp>
        <p:nvSpPr>
          <p:cNvPr id="48" name="Shape 46"/>
          <p:cNvSpPr/>
          <p:nvPr/>
        </p:nvSpPr>
        <p:spPr>
          <a:xfrm>
            <a:off x="5751576" y="4804258"/>
            <a:ext cx="2852928" cy="682142"/>
          </a:xfrm>
          <a:prstGeom prst="rect">
            <a:avLst/>
          </a:prstGeom>
          <a:solidFill>
            <a:srgbClr val="FFFFFF"/>
          </a:solidFill>
          <a:ln w="6350">
            <a:solidFill>
              <a:srgbClr val="D5DEE8"/>
            </a:solidFill>
            <a:prstDash val="solid"/>
          </a:ln>
        </p:spPr>
      </p:sp>
      <p:sp>
        <p:nvSpPr>
          <p:cNvPr id="49" name="Text 47"/>
          <p:cNvSpPr txBox="1"/>
          <p:nvPr/>
        </p:nvSpPr>
        <p:spPr>
          <a:xfrm>
            <a:off x="5815584" y="4840834"/>
            <a:ext cx="2724912"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Alarm states / actions</a:t>
            </a:r>
            <a:endParaRPr lang="en-US" sz="945" dirty="0"/>
          </a:p>
        </p:txBody>
      </p:sp>
      <p:sp>
        <p:nvSpPr>
          <p:cNvPr id="50" name="Shape 48"/>
          <p:cNvSpPr/>
          <p:nvPr/>
        </p:nvSpPr>
        <p:spPr>
          <a:xfrm>
            <a:off x="8604504" y="4804258"/>
            <a:ext cx="2962656" cy="682142"/>
          </a:xfrm>
          <a:prstGeom prst="rect">
            <a:avLst/>
          </a:prstGeom>
          <a:solidFill>
            <a:srgbClr val="FFFFFF"/>
          </a:solidFill>
          <a:ln w="6350">
            <a:solidFill>
              <a:srgbClr val="D5DEE8"/>
            </a:solidFill>
            <a:prstDash val="solid"/>
          </a:ln>
        </p:spPr>
      </p:sp>
      <p:sp>
        <p:nvSpPr>
          <p:cNvPr id="51" name="Text 49"/>
          <p:cNvSpPr txBox="1"/>
          <p:nvPr/>
        </p:nvSpPr>
        <p:spPr>
          <a:xfrm>
            <a:off x="8668512" y="4840834"/>
            <a:ext cx="2834640" cy="608990"/>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Fired / resolved state; user response and action group</a:t>
            </a:r>
            <a:endParaRPr lang="en-US" sz="945" dirty="0"/>
          </a:p>
        </p:txBody>
      </p:sp>
      <p:sp>
        <p:nvSpPr>
          <p:cNvPr id="52" name="Shape 50"/>
          <p:cNvSpPr/>
          <p:nvPr/>
        </p:nvSpPr>
        <p:spPr>
          <a:xfrm>
            <a:off x="777240" y="5623560"/>
            <a:ext cx="10607040" cy="438912"/>
          </a:xfrm>
          <a:prstGeom prst="roundRect">
            <a:avLst>
              <a:gd name="adj" fmla="val 16667"/>
            </a:avLst>
          </a:prstGeom>
          <a:solidFill>
            <a:srgbClr val="EAF3FC"/>
          </a:solidFill>
          <a:ln w="10160">
            <a:solidFill>
              <a:srgbClr val="EAF3FC"/>
            </a:solidFill>
            <a:prstDash val="solid"/>
          </a:ln>
        </p:spPr>
      </p:sp>
      <p:sp>
        <p:nvSpPr>
          <p:cNvPr id="53" name="Text 51"/>
          <p:cNvSpPr txBox="1"/>
          <p:nvPr/>
        </p:nvSpPr>
        <p:spPr>
          <a:xfrm>
            <a:off x="923544" y="5696712"/>
            <a:ext cx="10314432" cy="29260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Compare alert evaluation windows, signal availability, notification routing, deduplication and response process - not just the names of the monitoring products.</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GCP-INC-2001: VM lifecycle and IAP/SSH connectivity</a:t>
            </a:r>
            <a:endParaRPr lang="en-US" sz="2500" dirty="0"/>
          </a:p>
        </p:txBody>
      </p:sp>
      <p:sp>
        <p:nvSpPr>
          <p:cNvPr id="4" name="Shape 2"/>
          <p:cNvSpPr/>
          <p:nvPr/>
        </p:nvSpPr>
        <p:spPr>
          <a:xfrm>
            <a:off x="685800" y="1691640"/>
            <a:ext cx="3474720" cy="2148840"/>
          </a:xfrm>
          <a:prstGeom prst="roundRect">
            <a:avLst>
              <a:gd name="adj" fmla="val 3404"/>
            </a:avLst>
          </a:prstGeom>
          <a:solidFill>
            <a:srgbClr val="FFFFFF"/>
          </a:solidFill>
          <a:ln w="10160">
            <a:solidFill>
              <a:srgbClr val="DCE3EB"/>
            </a:solidFill>
            <a:prstDash val="solid"/>
          </a:ln>
        </p:spPr>
      </p:sp>
      <p:sp>
        <p:nvSpPr>
          <p:cNvPr id="5" name="Shape 3"/>
          <p:cNvSpPr/>
          <p:nvPr/>
        </p:nvSpPr>
        <p:spPr>
          <a:xfrm>
            <a:off x="685800" y="1691640"/>
            <a:ext cx="73152" cy="2148840"/>
          </a:xfrm>
          <a:prstGeom prst="rect">
            <a:avLst>
              <a:gd name="adj" fmla="val 100000"/>
            </a:avLst>
          </a:prstGeom>
          <a:solidFill>
            <a:srgbClr val="2878C8"/>
          </a:solidFill>
          <a:ln w="10160">
            <a:solidFill>
              <a:srgbClr val="2878C8"/>
            </a:solidFill>
            <a:prstDash val="solid"/>
          </a:ln>
        </p:spPr>
      </p:sp>
      <p:sp>
        <p:nvSpPr>
          <p:cNvPr id="6" name="Text 4"/>
          <p:cNvSpPr txBox="1"/>
          <p:nvPr/>
        </p:nvSpPr>
        <p:spPr>
          <a:xfrm>
            <a:off x="886968" y="1819656"/>
            <a:ext cx="31272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FAULT 1 - IDLE VM</a:t>
            </a:r>
            <a:endParaRPr lang="en-US" sz="1300" dirty="0"/>
          </a:p>
        </p:txBody>
      </p:sp>
      <p:sp>
        <p:nvSpPr>
          <p:cNvPr id="7" name="Text 5"/>
          <p:cNvSpPr txBox="1"/>
          <p:nvPr/>
        </p:nvSpPr>
        <p:spPr>
          <a:xfrm>
            <a:off x="886968" y="2167128"/>
            <a:ext cx="3090672" cy="156362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Symptom: VM is RUNNING but not doing useful work.</a:t>
            </a:r>
            <a:endParaRPr lang="en-US" sz="1080" dirty="0"/>
          </a:p>
          <a:p>
            <a:pPr algn="l" indent="0" marL="0">
              <a:lnSpc>
                <a:spcPct val="95000"/>
              </a:lnSpc>
              <a:buNone/>
            </a:pPr>
            <a:endParaRPr lang="en-US" sz="1080" dirty="0"/>
          </a:p>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Action: capture state, stop it, then verify TERMINATED.</a:t>
            </a:r>
            <a:endParaRPr lang="en-US" sz="1080" dirty="0"/>
          </a:p>
          <a:p>
            <a:pPr algn="l" indent="0" marL="0">
              <a:lnSpc>
                <a:spcPct val="95000"/>
              </a:lnSpc>
              <a:buNone/>
            </a:pPr>
            <a:endParaRPr lang="en-US" sz="1080" dirty="0"/>
          </a:p>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Proof: before/after gcloud describe + Console VM status.</a:t>
            </a:r>
            <a:endParaRPr lang="en-US" sz="1080" dirty="0"/>
          </a:p>
        </p:txBody>
      </p:sp>
      <p:sp>
        <p:nvSpPr>
          <p:cNvPr id="8" name="Shape 6"/>
          <p:cNvSpPr/>
          <p:nvPr/>
        </p:nvSpPr>
        <p:spPr>
          <a:xfrm>
            <a:off x="4370832" y="1691640"/>
            <a:ext cx="3474720" cy="2148840"/>
          </a:xfrm>
          <a:prstGeom prst="roundRect">
            <a:avLst>
              <a:gd name="adj" fmla="val 3404"/>
            </a:avLst>
          </a:prstGeom>
          <a:solidFill>
            <a:srgbClr val="FFFFFF"/>
          </a:solidFill>
          <a:ln w="10160">
            <a:solidFill>
              <a:srgbClr val="DCE3EB"/>
            </a:solidFill>
            <a:prstDash val="solid"/>
          </a:ln>
        </p:spPr>
      </p:sp>
      <p:sp>
        <p:nvSpPr>
          <p:cNvPr id="9" name="Shape 7"/>
          <p:cNvSpPr/>
          <p:nvPr/>
        </p:nvSpPr>
        <p:spPr>
          <a:xfrm>
            <a:off x="4370832" y="1691640"/>
            <a:ext cx="73152" cy="2148840"/>
          </a:xfrm>
          <a:prstGeom prst="rect">
            <a:avLst>
              <a:gd name="adj" fmla="val 100000"/>
            </a:avLst>
          </a:prstGeom>
          <a:solidFill>
            <a:srgbClr val="D94F4F"/>
          </a:solidFill>
          <a:ln w="10160">
            <a:solidFill>
              <a:srgbClr val="D94F4F"/>
            </a:solidFill>
            <a:prstDash val="solid"/>
          </a:ln>
        </p:spPr>
      </p:sp>
      <p:sp>
        <p:nvSpPr>
          <p:cNvPr id="10" name="Text 8"/>
          <p:cNvSpPr txBox="1"/>
          <p:nvPr/>
        </p:nvSpPr>
        <p:spPr>
          <a:xfrm>
            <a:off x="4572000" y="1819656"/>
            <a:ext cx="31272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FAULT 2 - SSH BLOCKED</a:t>
            </a:r>
            <a:endParaRPr lang="en-US" sz="1300" dirty="0"/>
          </a:p>
        </p:txBody>
      </p:sp>
      <p:sp>
        <p:nvSpPr>
          <p:cNvPr id="11" name="Text 9"/>
          <p:cNvSpPr txBox="1"/>
          <p:nvPr/>
        </p:nvSpPr>
        <p:spPr>
          <a:xfrm>
            <a:off x="4572000" y="2167128"/>
            <a:ext cx="3090672" cy="156362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Symptom: gcloud compute ssh via IAP fails.</a:t>
            </a:r>
            <a:endParaRPr lang="en-US" sz="1080" dirty="0"/>
          </a:p>
          <a:p>
            <a:pPr algn="l" indent="0" marL="0">
              <a:lnSpc>
                <a:spcPct val="95000"/>
              </a:lnSpc>
              <a:buNone/>
            </a:pPr>
            <a:endParaRPr lang="en-US" sz="1080" dirty="0"/>
          </a:p>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Cause in lab: missing d6-iap-ssh network tag.</a:t>
            </a:r>
            <a:endParaRPr lang="en-US" sz="1080" dirty="0"/>
          </a:p>
          <a:p>
            <a:pPr algn="l" indent="0" marL="0">
              <a:lnSpc>
                <a:spcPct val="95000"/>
              </a:lnSpc>
              <a:buNone/>
            </a:pPr>
            <a:endParaRPr lang="en-US" sz="1080" dirty="0"/>
          </a:p>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Fix: set ssh_vm_fixed=true and apply reviewed Terraform plan.</a:t>
            </a:r>
            <a:endParaRPr lang="en-US" sz="1080" dirty="0"/>
          </a:p>
        </p:txBody>
      </p:sp>
      <p:sp>
        <p:nvSpPr>
          <p:cNvPr id="12" name="Shape 10"/>
          <p:cNvSpPr/>
          <p:nvPr/>
        </p:nvSpPr>
        <p:spPr>
          <a:xfrm>
            <a:off x="8046720" y="1691640"/>
            <a:ext cx="3474720" cy="2148840"/>
          </a:xfrm>
          <a:prstGeom prst="roundRect">
            <a:avLst>
              <a:gd name="adj" fmla="val 3404"/>
            </a:avLst>
          </a:prstGeom>
          <a:solidFill>
            <a:srgbClr val="FFFFFF"/>
          </a:solidFill>
          <a:ln w="10160">
            <a:solidFill>
              <a:srgbClr val="DCE3EB"/>
            </a:solidFill>
            <a:prstDash val="solid"/>
          </a:ln>
        </p:spPr>
      </p:sp>
      <p:sp>
        <p:nvSpPr>
          <p:cNvPr id="13" name="Shape 11"/>
          <p:cNvSpPr/>
          <p:nvPr/>
        </p:nvSpPr>
        <p:spPr>
          <a:xfrm>
            <a:off x="8046720" y="1691640"/>
            <a:ext cx="73152" cy="2148840"/>
          </a:xfrm>
          <a:prstGeom prst="rect">
            <a:avLst>
              <a:gd name="adj" fmla="val 100000"/>
            </a:avLst>
          </a:prstGeom>
          <a:solidFill>
            <a:srgbClr val="0D9488"/>
          </a:solidFill>
          <a:ln w="10160">
            <a:solidFill>
              <a:srgbClr val="0D9488"/>
            </a:solidFill>
            <a:prstDash val="solid"/>
          </a:ln>
        </p:spPr>
      </p:sp>
      <p:sp>
        <p:nvSpPr>
          <p:cNvPr id="14" name="Text 12"/>
          <p:cNvSpPr txBox="1"/>
          <p:nvPr/>
        </p:nvSpPr>
        <p:spPr>
          <a:xfrm>
            <a:off x="8247888" y="1819656"/>
            <a:ext cx="312724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PROOF IN CONSOLE</a:t>
            </a:r>
            <a:endParaRPr lang="en-US" sz="1300" dirty="0"/>
          </a:p>
        </p:txBody>
      </p:sp>
      <p:sp>
        <p:nvSpPr>
          <p:cNvPr id="15" name="Text 13"/>
          <p:cNvSpPr txBox="1"/>
          <p:nvPr/>
        </p:nvSpPr>
        <p:spPr>
          <a:xfrm>
            <a:off x="8247888" y="2167128"/>
            <a:ext cx="3090672" cy="156362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Compute Engine -&gt; VM instances -&gt; VM details -&gt; Network tags.</a:t>
            </a:r>
            <a:endParaRPr lang="en-US" sz="1080" dirty="0"/>
          </a:p>
          <a:p>
            <a:pPr algn="l" indent="0" marL="0">
              <a:lnSpc>
                <a:spcPct val="95000"/>
              </a:lnSpc>
              <a:buNone/>
            </a:pPr>
            <a:endParaRPr lang="en-US" sz="1080" dirty="0"/>
          </a:p>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VPC network -&gt; Firewall -&gt; inspect IAP allow rule.</a:t>
            </a:r>
            <a:endParaRPr lang="en-US" sz="1080" dirty="0"/>
          </a:p>
          <a:p>
            <a:pPr algn="l" indent="0" marL="0">
              <a:lnSpc>
                <a:spcPct val="95000"/>
              </a:lnSpc>
              <a:buNone/>
            </a:pPr>
            <a:endParaRPr lang="en-US" sz="1080" dirty="0"/>
          </a:p>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Confirm: tag present and rule targets it.</a:t>
            </a:r>
            <a:endParaRPr lang="en-US" sz="1080" dirty="0"/>
          </a:p>
        </p:txBody>
      </p:sp>
      <p:sp>
        <p:nvSpPr>
          <p:cNvPr id="16" name="Shape 14"/>
          <p:cNvSpPr/>
          <p:nvPr/>
        </p:nvSpPr>
        <p:spPr>
          <a:xfrm>
            <a:off x="822960" y="4343400"/>
            <a:ext cx="10515600" cy="566928"/>
          </a:xfrm>
          <a:prstGeom prst="roundRect">
            <a:avLst>
              <a:gd name="adj" fmla="val 12903"/>
            </a:avLst>
          </a:prstGeom>
          <a:solidFill>
            <a:srgbClr val="FFF5E6"/>
          </a:solidFill>
          <a:ln w="10160">
            <a:solidFill>
              <a:srgbClr val="FFF5E6"/>
            </a:solidFill>
            <a:prstDash val="solid"/>
          </a:ln>
        </p:spPr>
      </p:sp>
      <p:sp>
        <p:nvSpPr>
          <p:cNvPr id="17" name="Text 15"/>
          <p:cNvSpPr txBox="1"/>
          <p:nvPr/>
        </p:nvSpPr>
        <p:spPr>
          <a:xfrm>
            <a:off x="969264" y="4416552"/>
            <a:ext cx="10222992" cy="42062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The troubleshooting lesson: IAP access requires several independent conditions. A successful tunnel does not mean the guest OS identity or firewall path is automatically correct.</a:t>
            </a:r>
            <a:endParaRPr lang="en-US" sz="1040" dirty="0"/>
          </a:p>
        </p:txBody>
      </p:sp>
      <p:sp>
        <p:nvSpPr>
          <p:cNvPr id="18" name="Text 16"/>
          <p:cNvSpPr txBox="1"/>
          <p:nvPr/>
        </p:nvSpPr>
        <p:spPr>
          <a:xfrm>
            <a:off x="914400" y="5120640"/>
            <a:ext cx="10149840" cy="822960"/>
          </a:xfrm>
          <a:prstGeom prst="rect">
            <a:avLst/>
          </a:prstGeom>
          <a:noFill/>
          <a:ln/>
        </p:spPr>
        <p:txBody>
          <a:bodyPr wrap="square" lIns="254" tIns="254" rIns="254" bIns="254" rtlCol="0" anchor="t">
            <a:normAutofit/>
          </a:bodyPr>
          <a:lstStyle/>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No public IP should be added as a shortcut.</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Keep OS Login enabled; use the documented IAM roles and correct identity scope.</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The remediation is made in Terraform so a later apply does not revert the fix.</a:t>
            </a:r>
            <a:endParaRPr lang="en-US" sz="117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GCP-INC-2001: generate load and scale the MIG from 2 to 4</a:t>
            </a:r>
            <a:endParaRPr lang="en-US" sz="2500" dirty="0"/>
          </a:p>
        </p:txBody>
      </p:sp>
      <p:sp>
        <p:nvSpPr>
          <p:cNvPr id="4" name="Shape 2"/>
          <p:cNvSpPr/>
          <p:nvPr/>
        </p:nvSpPr>
        <p:spPr>
          <a:xfrm>
            <a:off x="685800" y="1920240"/>
            <a:ext cx="1874520" cy="1417320"/>
          </a:xfrm>
          <a:prstGeom prst="roundRect">
            <a:avLst>
              <a:gd name="adj" fmla="val 5161"/>
            </a:avLst>
          </a:prstGeom>
          <a:solidFill>
            <a:srgbClr val="EAF3FC"/>
          </a:solidFill>
          <a:ln w="10160">
            <a:solidFill>
              <a:srgbClr val="DCE3EB"/>
            </a:solidFill>
            <a:prstDash val="solid"/>
          </a:ln>
        </p:spPr>
      </p:sp>
      <p:sp>
        <p:nvSpPr>
          <p:cNvPr id="5" name="Text 3"/>
          <p:cNvSpPr txBox="1"/>
          <p:nvPr/>
        </p:nvSpPr>
        <p:spPr>
          <a:xfrm>
            <a:off x="777240" y="2112264"/>
            <a:ext cx="1691640" cy="18288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2878C8"/>
                </a:solidFill>
                <a:latin typeface="Carlito" pitchFamily="34" charset="0"/>
                <a:ea typeface="Carlito" pitchFamily="34" charset="-122"/>
                <a:cs typeface="Carlito" pitchFamily="34" charset="-120"/>
              </a:rPr>
              <a:t>BASELINE</a:t>
            </a:r>
            <a:endParaRPr lang="en-US" sz="1050" dirty="0"/>
          </a:p>
        </p:txBody>
      </p:sp>
      <p:sp>
        <p:nvSpPr>
          <p:cNvPr id="6" name="Text 4"/>
          <p:cNvSpPr txBox="1"/>
          <p:nvPr/>
        </p:nvSpPr>
        <p:spPr>
          <a:xfrm>
            <a:off x="795528" y="2468880"/>
            <a:ext cx="1655064" cy="594360"/>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Target size 2; two managed members</a:t>
            </a:r>
            <a:endParaRPr lang="en-US" sz="950" dirty="0"/>
          </a:p>
        </p:txBody>
      </p:sp>
      <p:sp>
        <p:nvSpPr>
          <p:cNvPr id="7" name="Shape 5"/>
          <p:cNvSpPr/>
          <p:nvPr/>
        </p:nvSpPr>
        <p:spPr>
          <a:xfrm>
            <a:off x="2587752" y="2606040"/>
            <a:ext cx="292608" cy="0"/>
          </a:xfrm>
          <a:prstGeom prst="line">
            <a:avLst/>
          </a:prstGeom>
          <a:noFill/>
          <a:ln w="17145">
            <a:solidFill>
              <a:srgbClr val="0D9488"/>
            </a:solidFill>
            <a:prstDash val="solid"/>
            <a:tailEnd type="triangle"/>
          </a:ln>
        </p:spPr>
      </p:sp>
      <p:sp>
        <p:nvSpPr>
          <p:cNvPr id="8" name="Shape 6"/>
          <p:cNvSpPr/>
          <p:nvPr/>
        </p:nvSpPr>
        <p:spPr>
          <a:xfrm>
            <a:off x="2944368" y="1920240"/>
            <a:ext cx="1874520" cy="1417320"/>
          </a:xfrm>
          <a:prstGeom prst="roundRect">
            <a:avLst>
              <a:gd name="adj" fmla="val 5161"/>
            </a:avLst>
          </a:prstGeom>
          <a:solidFill>
            <a:srgbClr val="E7F6F4"/>
          </a:solidFill>
          <a:ln w="10160">
            <a:solidFill>
              <a:srgbClr val="DCE3EB"/>
            </a:solidFill>
            <a:prstDash val="solid"/>
          </a:ln>
        </p:spPr>
      </p:sp>
      <p:sp>
        <p:nvSpPr>
          <p:cNvPr id="9" name="Text 7"/>
          <p:cNvSpPr txBox="1"/>
          <p:nvPr/>
        </p:nvSpPr>
        <p:spPr>
          <a:xfrm>
            <a:off x="3035808" y="2112264"/>
            <a:ext cx="1691640" cy="18288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0D9488"/>
                </a:solidFill>
                <a:latin typeface="Carlito" pitchFamily="34" charset="0"/>
                <a:ea typeface="Carlito" pitchFamily="34" charset="-122"/>
                <a:cs typeface="Carlito" pitchFamily="34" charset="-120"/>
              </a:rPr>
              <a:t>SIGNAL</a:t>
            </a:r>
            <a:endParaRPr lang="en-US" sz="1050" dirty="0"/>
          </a:p>
        </p:txBody>
      </p:sp>
      <p:sp>
        <p:nvSpPr>
          <p:cNvPr id="10" name="Text 8"/>
          <p:cNvSpPr txBox="1"/>
          <p:nvPr/>
        </p:nvSpPr>
        <p:spPr>
          <a:xfrm>
            <a:off x="3054096" y="2468880"/>
            <a:ext cx="1655064" cy="594360"/>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Generate a bounded 90-second CPU workload on a member</a:t>
            </a:r>
            <a:endParaRPr lang="en-US" sz="950" dirty="0"/>
          </a:p>
        </p:txBody>
      </p:sp>
      <p:sp>
        <p:nvSpPr>
          <p:cNvPr id="11" name="Shape 9"/>
          <p:cNvSpPr/>
          <p:nvPr/>
        </p:nvSpPr>
        <p:spPr>
          <a:xfrm>
            <a:off x="4846320" y="2606040"/>
            <a:ext cx="292608" cy="0"/>
          </a:xfrm>
          <a:prstGeom prst="line">
            <a:avLst/>
          </a:prstGeom>
          <a:noFill/>
          <a:ln w="17145">
            <a:solidFill>
              <a:srgbClr val="0D9488"/>
            </a:solidFill>
            <a:prstDash val="solid"/>
            <a:tailEnd type="triangle"/>
          </a:ln>
        </p:spPr>
      </p:sp>
      <p:sp>
        <p:nvSpPr>
          <p:cNvPr id="12" name="Shape 10"/>
          <p:cNvSpPr/>
          <p:nvPr/>
        </p:nvSpPr>
        <p:spPr>
          <a:xfrm>
            <a:off x="5202936" y="1920240"/>
            <a:ext cx="1874520" cy="1417320"/>
          </a:xfrm>
          <a:prstGeom prst="roundRect">
            <a:avLst>
              <a:gd name="adj" fmla="val 5161"/>
            </a:avLst>
          </a:prstGeom>
          <a:solidFill>
            <a:srgbClr val="FFF5E6"/>
          </a:solidFill>
          <a:ln w="10160">
            <a:solidFill>
              <a:srgbClr val="DCE3EB"/>
            </a:solidFill>
            <a:prstDash val="solid"/>
          </a:ln>
        </p:spPr>
      </p:sp>
      <p:sp>
        <p:nvSpPr>
          <p:cNvPr id="13" name="Text 11"/>
          <p:cNvSpPr txBox="1"/>
          <p:nvPr/>
        </p:nvSpPr>
        <p:spPr>
          <a:xfrm>
            <a:off x="5294376" y="2112264"/>
            <a:ext cx="1691640" cy="18288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D97706"/>
                </a:solidFill>
                <a:latin typeface="Carlito" pitchFamily="34" charset="0"/>
                <a:ea typeface="Carlito" pitchFamily="34" charset="-122"/>
                <a:cs typeface="Carlito" pitchFamily="34" charset="-120"/>
              </a:rPr>
              <a:t>OBSERVE</a:t>
            </a:r>
            <a:endParaRPr lang="en-US" sz="1050" dirty="0"/>
          </a:p>
        </p:txBody>
      </p:sp>
      <p:sp>
        <p:nvSpPr>
          <p:cNvPr id="14" name="Text 12"/>
          <p:cNvSpPr txBox="1"/>
          <p:nvPr/>
        </p:nvSpPr>
        <p:spPr>
          <a:xfrm>
            <a:off x="5312664" y="2468880"/>
            <a:ext cx="1655064" cy="594360"/>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Metrics Explorer shows CPU utilization signal</a:t>
            </a:r>
            <a:endParaRPr lang="en-US" sz="950" dirty="0"/>
          </a:p>
        </p:txBody>
      </p:sp>
      <p:sp>
        <p:nvSpPr>
          <p:cNvPr id="15" name="Shape 13"/>
          <p:cNvSpPr/>
          <p:nvPr/>
        </p:nvSpPr>
        <p:spPr>
          <a:xfrm>
            <a:off x="7104888" y="2606040"/>
            <a:ext cx="292608" cy="0"/>
          </a:xfrm>
          <a:prstGeom prst="line">
            <a:avLst/>
          </a:prstGeom>
          <a:noFill/>
          <a:ln w="17145">
            <a:solidFill>
              <a:srgbClr val="0D9488"/>
            </a:solidFill>
            <a:prstDash val="solid"/>
            <a:tailEnd type="triangle"/>
          </a:ln>
        </p:spPr>
      </p:sp>
      <p:sp>
        <p:nvSpPr>
          <p:cNvPr id="16" name="Shape 14"/>
          <p:cNvSpPr/>
          <p:nvPr/>
        </p:nvSpPr>
        <p:spPr>
          <a:xfrm>
            <a:off x="7461504" y="1920240"/>
            <a:ext cx="1874520" cy="1417320"/>
          </a:xfrm>
          <a:prstGeom prst="roundRect">
            <a:avLst>
              <a:gd name="adj" fmla="val 5161"/>
            </a:avLst>
          </a:prstGeom>
          <a:solidFill>
            <a:srgbClr val="F2EDFA"/>
          </a:solidFill>
          <a:ln w="10160">
            <a:solidFill>
              <a:srgbClr val="DCE3EB"/>
            </a:solidFill>
            <a:prstDash val="solid"/>
          </a:ln>
        </p:spPr>
      </p:sp>
      <p:sp>
        <p:nvSpPr>
          <p:cNvPr id="17" name="Text 15"/>
          <p:cNvSpPr txBox="1"/>
          <p:nvPr/>
        </p:nvSpPr>
        <p:spPr>
          <a:xfrm>
            <a:off x="7552944" y="2112264"/>
            <a:ext cx="1691640" cy="18288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7654B8"/>
                </a:solidFill>
                <a:latin typeface="Carlito" pitchFamily="34" charset="0"/>
                <a:ea typeface="Carlito" pitchFamily="34" charset="-122"/>
                <a:cs typeface="Carlito" pitchFamily="34" charset="-120"/>
              </a:rPr>
              <a:t>SCALE</a:t>
            </a:r>
            <a:endParaRPr lang="en-US" sz="1050" dirty="0"/>
          </a:p>
        </p:txBody>
      </p:sp>
      <p:sp>
        <p:nvSpPr>
          <p:cNvPr id="18" name="Text 16"/>
          <p:cNvSpPr txBox="1"/>
          <p:nvPr/>
        </p:nvSpPr>
        <p:spPr>
          <a:xfrm>
            <a:off x="7571232" y="2468880"/>
            <a:ext cx="1655064" cy="594360"/>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Resize group to target size 4</a:t>
            </a:r>
            <a:endParaRPr lang="en-US" sz="950" dirty="0"/>
          </a:p>
        </p:txBody>
      </p:sp>
      <p:sp>
        <p:nvSpPr>
          <p:cNvPr id="19" name="Shape 17"/>
          <p:cNvSpPr/>
          <p:nvPr/>
        </p:nvSpPr>
        <p:spPr>
          <a:xfrm>
            <a:off x="9363456" y="2606040"/>
            <a:ext cx="292608" cy="0"/>
          </a:xfrm>
          <a:prstGeom prst="line">
            <a:avLst/>
          </a:prstGeom>
          <a:noFill/>
          <a:ln w="17145">
            <a:solidFill>
              <a:srgbClr val="0D9488"/>
            </a:solidFill>
            <a:prstDash val="solid"/>
            <a:tailEnd type="triangle"/>
          </a:ln>
        </p:spPr>
      </p:sp>
      <p:sp>
        <p:nvSpPr>
          <p:cNvPr id="20" name="Shape 18"/>
          <p:cNvSpPr/>
          <p:nvPr/>
        </p:nvSpPr>
        <p:spPr>
          <a:xfrm>
            <a:off x="9720072" y="1920240"/>
            <a:ext cx="1874520" cy="1417320"/>
          </a:xfrm>
          <a:prstGeom prst="roundRect">
            <a:avLst>
              <a:gd name="adj" fmla="val 5161"/>
            </a:avLst>
          </a:prstGeom>
          <a:solidFill>
            <a:srgbClr val="E9F7F0"/>
          </a:solidFill>
          <a:ln w="10160">
            <a:solidFill>
              <a:srgbClr val="DCE3EB"/>
            </a:solidFill>
            <a:prstDash val="solid"/>
          </a:ln>
        </p:spPr>
      </p:sp>
      <p:sp>
        <p:nvSpPr>
          <p:cNvPr id="21" name="Text 19"/>
          <p:cNvSpPr txBox="1"/>
          <p:nvPr/>
        </p:nvSpPr>
        <p:spPr>
          <a:xfrm>
            <a:off x="9811512" y="2112264"/>
            <a:ext cx="1691640" cy="182880"/>
          </a:xfrm>
          <a:prstGeom prst="rect">
            <a:avLst/>
          </a:prstGeom>
          <a:noFill/>
          <a:ln/>
        </p:spPr>
        <p:txBody>
          <a:bodyPr wrap="square" lIns="0" tIns="0" rIns="0" bIns="0" rtlCol="0" anchor="ctr">
            <a:normAutofit/>
          </a:bodyPr>
          <a:lstStyle/>
          <a:p>
            <a:pPr algn="ctr" indent="0" marL="0">
              <a:lnSpc>
                <a:spcPct val="95000"/>
              </a:lnSpc>
              <a:buNone/>
            </a:pPr>
            <a:r>
              <a:rPr lang="en-US" sz="1050" b="1" dirty="0">
                <a:solidFill>
                  <a:srgbClr val="16A36A"/>
                </a:solidFill>
                <a:latin typeface="Carlito" pitchFamily="34" charset="0"/>
                <a:ea typeface="Carlito" pitchFamily="34" charset="-122"/>
                <a:cs typeface="Carlito" pitchFamily="34" charset="-120"/>
              </a:rPr>
              <a:t>VERIFY</a:t>
            </a:r>
            <a:endParaRPr lang="en-US" sz="1050" dirty="0"/>
          </a:p>
        </p:txBody>
      </p:sp>
      <p:sp>
        <p:nvSpPr>
          <p:cNvPr id="22" name="Text 20"/>
          <p:cNvSpPr txBox="1"/>
          <p:nvPr/>
        </p:nvSpPr>
        <p:spPr>
          <a:xfrm>
            <a:off x="9829800" y="2468880"/>
            <a:ext cx="1655064" cy="594360"/>
          </a:xfrm>
          <a:prstGeom prst="rect">
            <a:avLst/>
          </a:prstGeom>
          <a:noFill/>
          <a:ln/>
        </p:spPr>
        <p:txBody>
          <a:bodyPr wrap="square" lIns="0" tIns="0" rIns="0" bIns="0" rtlCol="0" anchor="ctr">
            <a:normAutofit/>
          </a:bodyPr>
          <a:lstStyle/>
          <a:p>
            <a:pPr algn="ctr" indent="0" marL="0">
              <a:lnSpc>
                <a:spcPct val="95000"/>
              </a:lnSpc>
              <a:buNone/>
            </a:pPr>
            <a:r>
              <a:rPr lang="en-US" sz="950" dirty="0">
                <a:solidFill>
                  <a:srgbClr val="203040"/>
                </a:solidFill>
                <a:latin typeface="Carlito" pitchFamily="34" charset="0"/>
                <a:ea typeface="Carlito" pitchFamily="34" charset="-122"/>
                <a:cs typeface="Carlito" pitchFamily="34" charset="-120"/>
              </a:rPr>
              <a:t>Wait for four managed members to reach RUNNING / healthy</a:t>
            </a:r>
            <a:endParaRPr lang="en-US" sz="950" dirty="0"/>
          </a:p>
        </p:txBody>
      </p:sp>
      <p:sp>
        <p:nvSpPr>
          <p:cNvPr id="23" name="Shape 21"/>
          <p:cNvSpPr/>
          <p:nvPr/>
        </p:nvSpPr>
        <p:spPr>
          <a:xfrm>
            <a:off x="777240" y="3977640"/>
            <a:ext cx="4892040" cy="1234440"/>
          </a:xfrm>
          <a:prstGeom prst="roundRect">
            <a:avLst>
              <a:gd name="adj" fmla="val 5926"/>
            </a:avLst>
          </a:prstGeom>
          <a:solidFill>
            <a:srgbClr val="FFFFFF"/>
          </a:solidFill>
          <a:ln w="10160">
            <a:solidFill>
              <a:srgbClr val="DCE3EB"/>
            </a:solidFill>
            <a:prstDash val="solid"/>
          </a:ln>
        </p:spPr>
      </p:sp>
      <p:sp>
        <p:nvSpPr>
          <p:cNvPr id="24" name="Shape 22"/>
          <p:cNvSpPr/>
          <p:nvPr/>
        </p:nvSpPr>
        <p:spPr>
          <a:xfrm>
            <a:off x="777240" y="3977640"/>
            <a:ext cx="73152" cy="1234440"/>
          </a:xfrm>
          <a:prstGeom prst="rect">
            <a:avLst>
              <a:gd name="adj" fmla="val 100000"/>
            </a:avLst>
          </a:prstGeom>
          <a:solidFill>
            <a:srgbClr val="0D9488"/>
          </a:solidFill>
          <a:ln w="10160">
            <a:solidFill>
              <a:srgbClr val="0D9488"/>
            </a:solidFill>
            <a:prstDash val="solid"/>
          </a:ln>
        </p:spPr>
      </p:sp>
      <p:sp>
        <p:nvSpPr>
          <p:cNvPr id="25" name="Text 23"/>
          <p:cNvSpPr txBox="1"/>
          <p:nvPr/>
        </p:nvSpPr>
        <p:spPr>
          <a:xfrm>
            <a:off x="978408" y="4105656"/>
            <a:ext cx="454456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Console proof</a:t>
            </a:r>
            <a:endParaRPr lang="en-US" sz="1300" dirty="0"/>
          </a:p>
        </p:txBody>
      </p:sp>
      <p:sp>
        <p:nvSpPr>
          <p:cNvPr id="26" name="Text 24"/>
          <p:cNvSpPr txBox="1"/>
          <p:nvPr/>
        </p:nvSpPr>
        <p:spPr>
          <a:xfrm>
            <a:off x="978408" y="4453128"/>
            <a:ext cx="4507992" cy="64922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Compute Engine -&gt; Instance groups -&gt; select the MIG -&gt; Details / VM instances. Verify target size 4 and four members.</a:t>
            </a:r>
            <a:endParaRPr lang="en-US" sz="1080" dirty="0"/>
          </a:p>
        </p:txBody>
      </p:sp>
      <p:sp>
        <p:nvSpPr>
          <p:cNvPr id="27" name="Shape 25"/>
          <p:cNvSpPr/>
          <p:nvPr/>
        </p:nvSpPr>
        <p:spPr>
          <a:xfrm>
            <a:off x="6263640" y="3977640"/>
            <a:ext cx="4892040" cy="1234440"/>
          </a:xfrm>
          <a:prstGeom prst="roundRect">
            <a:avLst>
              <a:gd name="adj" fmla="val 5926"/>
            </a:avLst>
          </a:prstGeom>
          <a:solidFill>
            <a:srgbClr val="FFFFFF"/>
          </a:solidFill>
          <a:ln w="10160">
            <a:solidFill>
              <a:srgbClr val="DCE3EB"/>
            </a:solidFill>
            <a:prstDash val="solid"/>
          </a:ln>
        </p:spPr>
      </p:sp>
      <p:sp>
        <p:nvSpPr>
          <p:cNvPr id="28" name="Shape 26"/>
          <p:cNvSpPr/>
          <p:nvPr/>
        </p:nvSpPr>
        <p:spPr>
          <a:xfrm>
            <a:off x="6263640" y="3977640"/>
            <a:ext cx="73152" cy="1234440"/>
          </a:xfrm>
          <a:prstGeom prst="rect">
            <a:avLst>
              <a:gd name="adj" fmla="val 100000"/>
            </a:avLst>
          </a:prstGeom>
          <a:solidFill>
            <a:srgbClr val="D97706"/>
          </a:solidFill>
          <a:ln w="10160">
            <a:solidFill>
              <a:srgbClr val="D97706"/>
            </a:solidFill>
            <a:prstDash val="solid"/>
          </a:ln>
        </p:spPr>
      </p:sp>
      <p:sp>
        <p:nvSpPr>
          <p:cNvPr id="29" name="Text 27"/>
          <p:cNvSpPr txBox="1"/>
          <p:nvPr/>
        </p:nvSpPr>
        <p:spPr>
          <a:xfrm>
            <a:off x="6464808" y="4105656"/>
            <a:ext cx="454456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Important distinction</a:t>
            </a:r>
            <a:endParaRPr lang="en-US" sz="1300" dirty="0"/>
          </a:p>
        </p:txBody>
      </p:sp>
      <p:sp>
        <p:nvSpPr>
          <p:cNvPr id="30" name="Text 28"/>
          <p:cNvSpPr txBox="1"/>
          <p:nvPr/>
        </p:nvSpPr>
        <p:spPr>
          <a:xfrm>
            <a:off x="6464808" y="4453128"/>
            <a:ext cx="4507992" cy="64922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This lab demonstrates manual resize in response to observed load. It does not configure or prove automatic autoscaling.</a:t>
            </a:r>
            <a:endParaRPr lang="en-US" sz="1080" dirty="0"/>
          </a:p>
        </p:txBody>
      </p:sp>
      <p:sp>
        <p:nvSpPr>
          <p:cNvPr id="31" name="Shape 29"/>
          <p:cNvSpPr/>
          <p:nvPr/>
        </p:nvSpPr>
        <p:spPr>
          <a:xfrm>
            <a:off x="822960" y="5532120"/>
            <a:ext cx="10515600" cy="457200"/>
          </a:xfrm>
          <a:prstGeom prst="roundRect">
            <a:avLst>
              <a:gd name="adj" fmla="val 16000"/>
            </a:avLst>
          </a:prstGeom>
          <a:solidFill>
            <a:srgbClr val="FDEEEE"/>
          </a:solidFill>
          <a:ln w="10160">
            <a:solidFill>
              <a:srgbClr val="FDEEEE"/>
            </a:solidFill>
            <a:prstDash val="solid"/>
          </a:ln>
        </p:spPr>
      </p:sp>
      <p:sp>
        <p:nvSpPr>
          <p:cNvPr id="32" name="Text 30"/>
          <p:cNvSpPr txBox="1"/>
          <p:nvPr/>
        </p:nvSpPr>
        <p:spPr>
          <a:xfrm>
            <a:off x="969264" y="5605272"/>
            <a:ext cx="1022299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gcloud resize is an out-of-band change. Terraform may later reconcile the group back to mig_target_size=2 unless tfvars is also updated and applied.</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GCP-INC-2002: disk full, then expand block storage and filesystem</a:t>
            </a:r>
            <a:endParaRPr lang="en-US" sz="2500" dirty="0"/>
          </a:p>
        </p:txBody>
      </p:sp>
      <p:sp>
        <p:nvSpPr>
          <p:cNvPr id="4" name="Shape 2"/>
          <p:cNvSpPr/>
          <p:nvPr/>
        </p:nvSpPr>
        <p:spPr>
          <a:xfrm>
            <a:off x="749808" y="1691640"/>
            <a:ext cx="3429000" cy="1920240"/>
          </a:xfrm>
          <a:prstGeom prst="roundRect">
            <a:avLst>
              <a:gd name="adj" fmla="val 3810"/>
            </a:avLst>
          </a:prstGeom>
          <a:solidFill>
            <a:srgbClr val="FFFFFF"/>
          </a:solidFill>
          <a:ln w="10160">
            <a:solidFill>
              <a:srgbClr val="DCE3EB"/>
            </a:solidFill>
            <a:prstDash val="solid"/>
          </a:ln>
        </p:spPr>
      </p:sp>
      <p:sp>
        <p:nvSpPr>
          <p:cNvPr id="5" name="Shape 3"/>
          <p:cNvSpPr/>
          <p:nvPr/>
        </p:nvSpPr>
        <p:spPr>
          <a:xfrm>
            <a:off x="749808" y="1691640"/>
            <a:ext cx="73152" cy="1920240"/>
          </a:xfrm>
          <a:prstGeom prst="rect">
            <a:avLst>
              <a:gd name="adj" fmla="val 100000"/>
            </a:avLst>
          </a:prstGeom>
          <a:solidFill>
            <a:srgbClr val="D94F4F"/>
          </a:solidFill>
          <a:ln w="10160">
            <a:solidFill>
              <a:srgbClr val="D94F4F"/>
            </a:solidFill>
            <a:prstDash val="solid"/>
          </a:ln>
        </p:spPr>
      </p:sp>
      <p:sp>
        <p:nvSpPr>
          <p:cNvPr id="6" name="Text 4"/>
          <p:cNvSpPr txBox="1"/>
          <p:nvPr/>
        </p:nvSpPr>
        <p:spPr>
          <a:xfrm>
            <a:off x="950976"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1. CREATE THE SYMPTOM</a:t>
            </a:r>
            <a:endParaRPr lang="en-US" sz="1300" dirty="0"/>
          </a:p>
        </p:txBody>
      </p:sp>
      <p:sp>
        <p:nvSpPr>
          <p:cNvPr id="7" name="Text 5"/>
          <p:cNvSpPr txBox="1"/>
          <p:nvPr/>
        </p:nvSpPr>
        <p:spPr>
          <a:xfrm>
            <a:off x="950976" y="2167128"/>
            <a:ext cx="3044952" cy="133502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Fill only /mnt/d6data with a synthetic file.</a:t>
            </a:r>
            <a:endParaRPr lang="en-US" sz="1100" dirty="0"/>
          </a:p>
          <a:p>
            <a:pPr algn="l" indent="0" marL="0">
              <a:lnSpc>
                <a:spcPct val="95000"/>
              </a:lnSpc>
              <a:buNone/>
            </a:pPr>
            <a:endParaRPr lang="en-US" sz="1100" dirty="0"/>
          </a:p>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Expected: dd stops with “No space left on device”; df approaches 100%.</a:t>
            </a:r>
            <a:endParaRPr lang="en-US" sz="1100" dirty="0"/>
          </a:p>
        </p:txBody>
      </p:sp>
      <p:sp>
        <p:nvSpPr>
          <p:cNvPr id="8" name="Shape 6"/>
          <p:cNvSpPr/>
          <p:nvPr/>
        </p:nvSpPr>
        <p:spPr>
          <a:xfrm>
            <a:off x="4389120" y="1691640"/>
            <a:ext cx="3429000" cy="1920240"/>
          </a:xfrm>
          <a:prstGeom prst="roundRect">
            <a:avLst>
              <a:gd name="adj" fmla="val 3810"/>
            </a:avLst>
          </a:prstGeom>
          <a:solidFill>
            <a:srgbClr val="FFFFFF"/>
          </a:solidFill>
          <a:ln w="10160">
            <a:solidFill>
              <a:srgbClr val="DCE3EB"/>
            </a:solidFill>
            <a:prstDash val="solid"/>
          </a:ln>
        </p:spPr>
      </p:sp>
      <p:sp>
        <p:nvSpPr>
          <p:cNvPr id="9" name="Shape 7"/>
          <p:cNvSpPr/>
          <p:nvPr/>
        </p:nvSpPr>
        <p:spPr>
          <a:xfrm>
            <a:off x="4389120" y="1691640"/>
            <a:ext cx="73152" cy="1920240"/>
          </a:xfrm>
          <a:prstGeom prst="rect">
            <a:avLst>
              <a:gd name="adj" fmla="val 100000"/>
            </a:avLst>
          </a:prstGeom>
          <a:solidFill>
            <a:srgbClr val="2878C8"/>
          </a:solidFill>
          <a:ln w="10160">
            <a:solidFill>
              <a:srgbClr val="2878C8"/>
            </a:solidFill>
            <a:prstDash val="solid"/>
          </a:ln>
        </p:spPr>
      </p:sp>
      <p:sp>
        <p:nvSpPr>
          <p:cNvPr id="10" name="Text 8"/>
          <p:cNvSpPr txBox="1"/>
          <p:nvPr/>
        </p:nvSpPr>
        <p:spPr>
          <a:xfrm>
            <a:off x="459028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2. EXPAND CLOUD DISK</a:t>
            </a:r>
            <a:endParaRPr lang="en-US" sz="1300" dirty="0"/>
          </a:p>
        </p:txBody>
      </p:sp>
      <p:sp>
        <p:nvSpPr>
          <p:cNvPr id="11" name="Text 9"/>
          <p:cNvSpPr txBox="1"/>
          <p:nvPr/>
        </p:nvSpPr>
        <p:spPr>
          <a:xfrm>
            <a:off x="4590288" y="2167128"/>
            <a:ext cx="3044952" cy="133502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In tfvars change data_disk_size_gb from 10 to 20.</a:t>
            </a:r>
            <a:endParaRPr lang="en-US" sz="1100" dirty="0"/>
          </a:p>
          <a:p>
            <a:pPr algn="l" indent="0" marL="0">
              <a:lnSpc>
                <a:spcPct val="95000"/>
              </a:lnSpc>
              <a:buNone/>
            </a:pPr>
            <a:endParaRPr lang="en-US" sz="1100" dirty="0"/>
          </a:p>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Review plan; apply; confirm disk size in Console.</a:t>
            </a:r>
            <a:endParaRPr lang="en-US" sz="1100" dirty="0"/>
          </a:p>
        </p:txBody>
      </p:sp>
      <p:sp>
        <p:nvSpPr>
          <p:cNvPr id="12" name="Shape 10"/>
          <p:cNvSpPr/>
          <p:nvPr/>
        </p:nvSpPr>
        <p:spPr>
          <a:xfrm>
            <a:off x="8028432" y="1691640"/>
            <a:ext cx="3429000" cy="1920240"/>
          </a:xfrm>
          <a:prstGeom prst="roundRect">
            <a:avLst>
              <a:gd name="adj" fmla="val 3810"/>
            </a:avLst>
          </a:prstGeom>
          <a:solidFill>
            <a:srgbClr val="FFFFFF"/>
          </a:solidFill>
          <a:ln w="10160">
            <a:solidFill>
              <a:srgbClr val="DCE3EB"/>
            </a:solidFill>
            <a:prstDash val="solid"/>
          </a:ln>
        </p:spPr>
      </p:sp>
      <p:sp>
        <p:nvSpPr>
          <p:cNvPr id="13" name="Shape 11"/>
          <p:cNvSpPr/>
          <p:nvPr/>
        </p:nvSpPr>
        <p:spPr>
          <a:xfrm>
            <a:off x="8028432" y="1691640"/>
            <a:ext cx="73152" cy="1920240"/>
          </a:xfrm>
          <a:prstGeom prst="rect">
            <a:avLst>
              <a:gd name="adj" fmla="val 100000"/>
            </a:avLst>
          </a:prstGeom>
          <a:solidFill>
            <a:srgbClr val="16A36A"/>
          </a:solidFill>
          <a:ln w="10160">
            <a:solidFill>
              <a:srgbClr val="16A36A"/>
            </a:solidFill>
            <a:prstDash val="solid"/>
          </a:ln>
        </p:spPr>
      </p:sp>
      <p:sp>
        <p:nvSpPr>
          <p:cNvPr id="14" name="Text 12"/>
          <p:cNvSpPr txBox="1"/>
          <p:nvPr/>
        </p:nvSpPr>
        <p:spPr>
          <a:xfrm>
            <a:off x="8229600"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3. GROW FILESYSTEM</a:t>
            </a:r>
            <a:endParaRPr lang="en-US" sz="1300" dirty="0"/>
          </a:p>
        </p:txBody>
      </p:sp>
      <p:sp>
        <p:nvSpPr>
          <p:cNvPr id="15" name="Text 13"/>
          <p:cNvSpPr txBox="1"/>
          <p:nvPr/>
        </p:nvSpPr>
        <p:spPr>
          <a:xfrm>
            <a:off x="8229600" y="2167128"/>
            <a:ext cx="3044952" cy="1335024"/>
          </a:xfrm>
          <a:prstGeom prst="rect">
            <a:avLst/>
          </a:prstGeom>
          <a:noFill/>
          <a:ln/>
        </p:spPr>
        <p:txBody>
          <a:bodyPr wrap="square" lIns="0" tIns="0" rIns="0" bIns="0" rtlCol="0" anchor="t">
            <a:normAutofit/>
          </a:bodyPr>
          <a:lstStyle/>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Reconnect to storage VM. Run resize2fs on the whole ext4 data device.</a:t>
            </a:r>
            <a:endParaRPr lang="en-US" sz="1100" dirty="0"/>
          </a:p>
          <a:p>
            <a:pPr algn="l" indent="0" marL="0">
              <a:lnSpc>
                <a:spcPct val="95000"/>
              </a:lnSpc>
              <a:buNone/>
            </a:pPr>
            <a:endParaRPr lang="en-US" sz="1100" dirty="0"/>
          </a:p>
          <a:p>
            <a:pPr algn="l" indent="0" marL="0">
              <a:lnSpc>
                <a:spcPct val="95000"/>
              </a:lnSpc>
              <a:buNone/>
            </a:pPr>
            <a:r>
              <a:rPr lang="en-US" sz="1100" dirty="0">
                <a:solidFill>
                  <a:srgbClr val="203040"/>
                </a:solidFill>
                <a:latin typeface="Carlito" pitchFamily="34" charset="0"/>
                <a:ea typeface="Carlito" pitchFamily="34" charset="-122"/>
                <a:cs typeface="Carlito" pitchFamily="34" charset="-120"/>
              </a:rPr>
              <a:t>Verify lsblk + df; remove fill.bin.</a:t>
            </a:r>
            <a:endParaRPr lang="en-US" sz="1100" dirty="0"/>
          </a:p>
        </p:txBody>
      </p:sp>
      <p:sp>
        <p:nvSpPr>
          <p:cNvPr id="16" name="Shape 14"/>
          <p:cNvSpPr/>
          <p:nvPr/>
        </p:nvSpPr>
        <p:spPr>
          <a:xfrm>
            <a:off x="822960" y="4160520"/>
            <a:ext cx="10515600" cy="594360"/>
          </a:xfrm>
          <a:prstGeom prst="roundRect">
            <a:avLst>
              <a:gd name="adj" fmla="val 12308"/>
            </a:avLst>
          </a:prstGeom>
          <a:solidFill>
            <a:srgbClr val="EAF3FC"/>
          </a:solidFill>
          <a:ln w="10160">
            <a:solidFill>
              <a:srgbClr val="EAF3FC"/>
            </a:solidFill>
            <a:prstDash val="solid"/>
          </a:ln>
        </p:spPr>
      </p:sp>
      <p:sp>
        <p:nvSpPr>
          <p:cNvPr id="17" name="Text 15"/>
          <p:cNvSpPr txBox="1"/>
          <p:nvPr/>
        </p:nvSpPr>
        <p:spPr>
          <a:xfrm>
            <a:off x="969264" y="4233672"/>
            <a:ext cx="10222992" cy="44805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Console: Compute Engine -&gt; Disks -&gt; select Day 6 data disk. CLI: lsblk shows block-device size; df -h shows filesystem size and free space. Both are needed to prove the resize.</a:t>
            </a:r>
            <a:endParaRPr lang="en-US" sz="1040" dirty="0"/>
          </a:p>
        </p:txBody>
      </p:sp>
      <p:sp>
        <p:nvSpPr>
          <p:cNvPr id="18" name="Text 16"/>
          <p:cNvSpPr txBox="1"/>
          <p:nvPr/>
        </p:nvSpPr>
        <p:spPr>
          <a:xfrm>
            <a:off x="868680" y="5074920"/>
            <a:ext cx="1828800" cy="182880"/>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D94F4F"/>
                </a:solidFill>
                <a:latin typeface="Carlito" pitchFamily="34" charset="0"/>
                <a:ea typeface="Carlito" pitchFamily="34" charset="-122"/>
                <a:cs typeface="Carlito" pitchFamily="34" charset="-120"/>
              </a:rPr>
              <a:t>DO NOT CONFUSE</a:t>
            </a:r>
            <a:endParaRPr lang="en-US" sz="1000" dirty="0"/>
          </a:p>
        </p:txBody>
      </p:sp>
      <p:sp>
        <p:nvSpPr>
          <p:cNvPr id="19" name="Text 17"/>
          <p:cNvSpPr txBox="1"/>
          <p:nvPr/>
        </p:nvSpPr>
        <p:spPr>
          <a:xfrm>
            <a:off x="868680" y="5394960"/>
            <a:ext cx="10241280" cy="411480"/>
          </a:xfrm>
          <a:prstGeom prst="rect">
            <a:avLst/>
          </a:prstGeom>
          <a:noFill/>
          <a:ln/>
        </p:spPr>
        <p:txBody>
          <a:bodyPr wrap="square" lIns="0" tIns="0" rIns="0" bIns="0" rtlCol="0" anchor="ctr">
            <a:normAutofit/>
          </a:bodyPr>
          <a:lstStyle/>
          <a:p>
            <a:pPr algn="ctr" indent="0" marL="0">
              <a:lnSpc>
                <a:spcPct val="95000"/>
              </a:lnSpc>
              <a:buNone/>
            </a:pPr>
            <a:r>
              <a:rPr lang="en-US" sz="1600" b="1" dirty="0">
                <a:solidFill>
                  <a:srgbClr val="12304A"/>
                </a:solidFill>
                <a:latin typeface="Carlito" pitchFamily="34" charset="0"/>
                <a:ea typeface="Carlito" pitchFamily="34" charset="-122"/>
                <a:cs typeface="Carlito" pitchFamily="34" charset="-120"/>
              </a:rPr>
              <a:t>Disk size increased ≠ filesystem automatically grew. A filesystem is a separate in-guest layer that must be expanded.</a:t>
            </a:r>
            <a:endParaRPr lang="en-US" sz="160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GCP-INC-2002: public bucket exposure and lockdown proof</a:t>
            </a:r>
            <a:endParaRPr lang="en-US" sz="2500" dirty="0"/>
          </a:p>
        </p:txBody>
      </p:sp>
      <p:sp>
        <p:nvSpPr>
          <p:cNvPr id="4" name="Shape 2"/>
          <p:cNvSpPr/>
          <p:nvPr/>
        </p:nvSpPr>
        <p:spPr>
          <a:xfrm>
            <a:off x="822960" y="1673352"/>
            <a:ext cx="320040" cy="256032"/>
          </a:xfrm>
          <a:prstGeom prst="roundRect">
            <a:avLst>
              <a:gd name="adj" fmla="val 28571"/>
            </a:avLst>
          </a:prstGeom>
          <a:solidFill>
            <a:srgbClr val="EAF3FC"/>
          </a:solidFill>
          <a:ln w="10160">
            <a:solidFill>
              <a:srgbClr val="EAF3FC"/>
            </a:solidFill>
            <a:prstDash val="solid"/>
          </a:ln>
        </p:spPr>
      </p:sp>
      <p:sp>
        <p:nvSpPr>
          <p:cNvPr id="5" name="Text 3"/>
          <p:cNvSpPr txBox="1"/>
          <p:nvPr/>
        </p:nvSpPr>
        <p:spPr>
          <a:xfrm>
            <a:off x="896112" y="1687068"/>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1</a:t>
            </a:r>
            <a:endParaRPr lang="en-US" sz="900" dirty="0"/>
          </a:p>
        </p:txBody>
      </p:sp>
      <p:sp>
        <p:nvSpPr>
          <p:cNvPr id="6" name="Text 4"/>
          <p:cNvSpPr txBox="1"/>
          <p:nvPr/>
        </p:nvSpPr>
        <p:spPr>
          <a:xfrm>
            <a:off x="1298448" y="1636776"/>
            <a:ext cx="1234440" cy="219456"/>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BEFORE</a:t>
            </a:r>
            <a:endParaRPr lang="en-US" sz="1100" dirty="0"/>
          </a:p>
        </p:txBody>
      </p:sp>
      <p:sp>
        <p:nvSpPr>
          <p:cNvPr id="7" name="Text 5"/>
          <p:cNvSpPr txBox="1"/>
          <p:nvPr/>
        </p:nvSpPr>
        <p:spPr>
          <a:xfrm>
            <a:off x="2606040" y="1636776"/>
            <a:ext cx="8412480" cy="320040"/>
          </a:xfrm>
          <a:prstGeom prst="rect">
            <a:avLst/>
          </a:prstGeom>
          <a:noFill/>
          <a:ln/>
        </p:spPr>
        <p:txBody>
          <a:bodyPr wrap="square" lIns="0" tIns="0" rIns="0" bIns="0" rtlCol="0" anchor="ctr">
            <a:normAutofit/>
          </a:bodyPr>
          <a:lstStyle/>
          <a:p>
            <a:pPr algn="l" indent="0" marL="0">
              <a:lnSpc>
                <a:spcPct val="95000"/>
              </a:lnSpc>
              <a:buNone/>
            </a:pPr>
            <a:r>
              <a:rPr lang="en-US" sz="1090" dirty="0">
                <a:solidFill>
                  <a:srgbClr val="203040"/>
                </a:solidFill>
                <a:latin typeface="Carlito" pitchFamily="34" charset="0"/>
                <a:ea typeface="Carlito" pitchFamily="34" charset="-122"/>
                <a:cs typeface="Carlito" pitchFamily="34" charset="-120"/>
              </a:rPr>
              <a:t>Private bucket; allUsers absent; unauthenticated curl denied.</a:t>
            </a:r>
            <a:endParaRPr lang="en-US" sz="1090" dirty="0"/>
          </a:p>
        </p:txBody>
      </p:sp>
      <p:sp>
        <p:nvSpPr>
          <p:cNvPr id="8" name="Shape 6"/>
          <p:cNvSpPr/>
          <p:nvPr/>
        </p:nvSpPr>
        <p:spPr>
          <a:xfrm>
            <a:off x="822960" y="2478024"/>
            <a:ext cx="320040" cy="256032"/>
          </a:xfrm>
          <a:prstGeom prst="roundRect">
            <a:avLst>
              <a:gd name="adj" fmla="val 28571"/>
            </a:avLst>
          </a:prstGeom>
          <a:solidFill>
            <a:srgbClr val="EAF3FC"/>
          </a:solidFill>
          <a:ln w="10160">
            <a:solidFill>
              <a:srgbClr val="EAF3FC"/>
            </a:solidFill>
            <a:prstDash val="solid"/>
          </a:ln>
        </p:spPr>
      </p:sp>
      <p:sp>
        <p:nvSpPr>
          <p:cNvPr id="9" name="Text 7"/>
          <p:cNvSpPr txBox="1"/>
          <p:nvPr/>
        </p:nvSpPr>
        <p:spPr>
          <a:xfrm>
            <a:off x="896112" y="2491740"/>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4F4F"/>
                </a:solidFill>
                <a:latin typeface="Carlito" pitchFamily="34" charset="0"/>
                <a:ea typeface="Carlito" pitchFamily="34" charset="-122"/>
                <a:cs typeface="Carlito" pitchFamily="34" charset="-120"/>
              </a:rPr>
              <a:t>2</a:t>
            </a:r>
            <a:endParaRPr lang="en-US" sz="900" dirty="0"/>
          </a:p>
        </p:txBody>
      </p:sp>
      <p:sp>
        <p:nvSpPr>
          <p:cNvPr id="10" name="Text 8"/>
          <p:cNvSpPr txBox="1"/>
          <p:nvPr/>
        </p:nvSpPr>
        <p:spPr>
          <a:xfrm>
            <a:off x="1298448" y="2441448"/>
            <a:ext cx="1234440" cy="219456"/>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FAULT</a:t>
            </a:r>
            <a:endParaRPr lang="en-US" sz="1100" dirty="0"/>
          </a:p>
        </p:txBody>
      </p:sp>
      <p:sp>
        <p:nvSpPr>
          <p:cNvPr id="11" name="Text 9"/>
          <p:cNvSpPr txBox="1"/>
          <p:nvPr/>
        </p:nvSpPr>
        <p:spPr>
          <a:xfrm>
            <a:off x="2606040" y="2441448"/>
            <a:ext cx="8412480" cy="320040"/>
          </a:xfrm>
          <a:prstGeom prst="rect">
            <a:avLst/>
          </a:prstGeom>
          <a:noFill/>
          <a:ln/>
        </p:spPr>
        <p:txBody>
          <a:bodyPr wrap="square" lIns="0" tIns="0" rIns="0" bIns="0" rtlCol="0" anchor="ctr">
            <a:normAutofit/>
          </a:bodyPr>
          <a:lstStyle/>
          <a:p>
            <a:pPr algn="l" indent="0" marL="0">
              <a:lnSpc>
                <a:spcPct val="95000"/>
              </a:lnSpc>
              <a:buNone/>
            </a:pPr>
            <a:r>
              <a:rPr lang="en-US" sz="1090" dirty="0">
                <a:solidFill>
                  <a:srgbClr val="203040"/>
                </a:solidFill>
                <a:latin typeface="Carlito" pitchFamily="34" charset="0"/>
                <a:ea typeface="Carlito" pitchFamily="34" charset="-122"/>
                <a:cs typeface="Carlito" pitchFamily="34" charset="-120"/>
              </a:rPr>
              <a:t>Temporarily add allUsers: Storage Object Viewer if policy permits.</a:t>
            </a:r>
            <a:endParaRPr lang="en-US" sz="1090" dirty="0"/>
          </a:p>
        </p:txBody>
      </p:sp>
      <p:sp>
        <p:nvSpPr>
          <p:cNvPr id="12" name="Shape 10"/>
          <p:cNvSpPr/>
          <p:nvPr/>
        </p:nvSpPr>
        <p:spPr>
          <a:xfrm>
            <a:off x="822960" y="3282696"/>
            <a:ext cx="320040" cy="256032"/>
          </a:xfrm>
          <a:prstGeom prst="roundRect">
            <a:avLst>
              <a:gd name="adj" fmla="val 28571"/>
            </a:avLst>
          </a:prstGeom>
          <a:solidFill>
            <a:srgbClr val="EAF3FC"/>
          </a:solidFill>
          <a:ln w="10160">
            <a:solidFill>
              <a:srgbClr val="EAF3FC"/>
            </a:solidFill>
            <a:prstDash val="solid"/>
          </a:ln>
        </p:spPr>
      </p:sp>
      <p:sp>
        <p:nvSpPr>
          <p:cNvPr id="13" name="Text 11"/>
          <p:cNvSpPr txBox="1"/>
          <p:nvPr/>
        </p:nvSpPr>
        <p:spPr>
          <a:xfrm>
            <a:off x="896112" y="3296412"/>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7706"/>
                </a:solidFill>
                <a:latin typeface="Carlito" pitchFamily="34" charset="0"/>
                <a:ea typeface="Carlito" pitchFamily="34" charset="-122"/>
                <a:cs typeface="Carlito" pitchFamily="34" charset="-120"/>
              </a:rPr>
              <a:t>3</a:t>
            </a:r>
            <a:endParaRPr lang="en-US" sz="900" dirty="0"/>
          </a:p>
        </p:txBody>
      </p:sp>
      <p:sp>
        <p:nvSpPr>
          <p:cNvPr id="14" name="Text 12"/>
          <p:cNvSpPr txBox="1"/>
          <p:nvPr/>
        </p:nvSpPr>
        <p:spPr>
          <a:xfrm>
            <a:off x="1298448" y="3246120"/>
            <a:ext cx="1234440" cy="219456"/>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TEST</a:t>
            </a:r>
            <a:endParaRPr lang="en-US" sz="1100" dirty="0"/>
          </a:p>
        </p:txBody>
      </p:sp>
      <p:sp>
        <p:nvSpPr>
          <p:cNvPr id="15" name="Text 13"/>
          <p:cNvSpPr txBox="1"/>
          <p:nvPr/>
        </p:nvSpPr>
        <p:spPr>
          <a:xfrm>
            <a:off x="2606040" y="3246120"/>
            <a:ext cx="8412480" cy="320040"/>
          </a:xfrm>
          <a:prstGeom prst="rect">
            <a:avLst/>
          </a:prstGeom>
          <a:noFill/>
          <a:ln/>
        </p:spPr>
        <p:txBody>
          <a:bodyPr wrap="square" lIns="0" tIns="0" rIns="0" bIns="0" rtlCol="0" anchor="ctr">
            <a:normAutofit/>
          </a:bodyPr>
          <a:lstStyle/>
          <a:p>
            <a:pPr algn="l" indent="0" marL="0">
              <a:lnSpc>
                <a:spcPct val="95000"/>
              </a:lnSpc>
              <a:buNone/>
            </a:pPr>
            <a:r>
              <a:rPr lang="en-US" sz="1090" dirty="0">
                <a:solidFill>
                  <a:srgbClr val="203040"/>
                </a:solidFill>
                <a:latin typeface="Carlito" pitchFamily="34" charset="0"/>
                <a:ea typeface="Carlito" pitchFamily="34" charset="-122"/>
                <a:cs typeface="Carlito" pitchFamily="34" charset="-120"/>
              </a:rPr>
              <a:t>Unauthenticated curl returns success only if public access is truly enabled.</a:t>
            </a:r>
            <a:endParaRPr lang="en-US" sz="1090" dirty="0"/>
          </a:p>
        </p:txBody>
      </p:sp>
      <p:sp>
        <p:nvSpPr>
          <p:cNvPr id="16" name="Shape 14"/>
          <p:cNvSpPr/>
          <p:nvPr/>
        </p:nvSpPr>
        <p:spPr>
          <a:xfrm>
            <a:off x="822960" y="4087368"/>
            <a:ext cx="320040" cy="256032"/>
          </a:xfrm>
          <a:prstGeom prst="roundRect">
            <a:avLst>
              <a:gd name="adj" fmla="val 28571"/>
            </a:avLst>
          </a:prstGeom>
          <a:solidFill>
            <a:srgbClr val="EAF3FC"/>
          </a:solidFill>
          <a:ln w="10160">
            <a:solidFill>
              <a:srgbClr val="EAF3FC"/>
            </a:solidFill>
            <a:prstDash val="solid"/>
          </a:ln>
        </p:spPr>
      </p:sp>
      <p:sp>
        <p:nvSpPr>
          <p:cNvPr id="17" name="Text 15"/>
          <p:cNvSpPr txBox="1"/>
          <p:nvPr/>
        </p:nvSpPr>
        <p:spPr>
          <a:xfrm>
            <a:off x="896112" y="4101084"/>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0D9488"/>
                </a:solidFill>
                <a:latin typeface="Carlito" pitchFamily="34" charset="0"/>
                <a:ea typeface="Carlito" pitchFamily="34" charset="-122"/>
                <a:cs typeface="Carlito" pitchFamily="34" charset="-120"/>
              </a:rPr>
              <a:t>4</a:t>
            </a:r>
            <a:endParaRPr lang="en-US" sz="900" dirty="0"/>
          </a:p>
        </p:txBody>
      </p:sp>
      <p:sp>
        <p:nvSpPr>
          <p:cNvPr id="18" name="Text 16"/>
          <p:cNvSpPr txBox="1"/>
          <p:nvPr/>
        </p:nvSpPr>
        <p:spPr>
          <a:xfrm>
            <a:off x="1298448" y="4050792"/>
            <a:ext cx="1234440" cy="219456"/>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REMEDIATE</a:t>
            </a:r>
            <a:endParaRPr lang="en-US" sz="1100" dirty="0"/>
          </a:p>
        </p:txBody>
      </p:sp>
      <p:sp>
        <p:nvSpPr>
          <p:cNvPr id="19" name="Text 17"/>
          <p:cNvSpPr txBox="1"/>
          <p:nvPr/>
        </p:nvSpPr>
        <p:spPr>
          <a:xfrm>
            <a:off x="2606040" y="4050792"/>
            <a:ext cx="8412480" cy="320040"/>
          </a:xfrm>
          <a:prstGeom prst="rect">
            <a:avLst/>
          </a:prstGeom>
          <a:noFill/>
          <a:ln/>
        </p:spPr>
        <p:txBody>
          <a:bodyPr wrap="square" lIns="0" tIns="0" rIns="0" bIns="0" rtlCol="0" anchor="ctr">
            <a:normAutofit/>
          </a:bodyPr>
          <a:lstStyle/>
          <a:p>
            <a:pPr algn="l" indent="0" marL="0">
              <a:lnSpc>
                <a:spcPct val="95000"/>
              </a:lnSpc>
              <a:buNone/>
            </a:pPr>
            <a:r>
              <a:rPr lang="en-US" sz="1090" dirty="0">
                <a:solidFill>
                  <a:srgbClr val="203040"/>
                </a:solidFill>
                <a:latin typeface="Carlito" pitchFamily="34" charset="0"/>
                <a:ea typeface="Carlito" pitchFamily="34" charset="-122"/>
                <a:cs typeface="Carlito" pitchFamily="34" charset="-120"/>
              </a:rPr>
              <a:t>Remove public binding through Terraform.</a:t>
            </a:r>
            <a:endParaRPr lang="en-US" sz="1090" dirty="0"/>
          </a:p>
        </p:txBody>
      </p:sp>
      <p:sp>
        <p:nvSpPr>
          <p:cNvPr id="20" name="Shape 18"/>
          <p:cNvSpPr/>
          <p:nvPr/>
        </p:nvSpPr>
        <p:spPr>
          <a:xfrm>
            <a:off x="822960" y="4892040"/>
            <a:ext cx="320040" cy="256032"/>
          </a:xfrm>
          <a:prstGeom prst="roundRect">
            <a:avLst>
              <a:gd name="adj" fmla="val 28571"/>
            </a:avLst>
          </a:prstGeom>
          <a:solidFill>
            <a:srgbClr val="EAF3FC"/>
          </a:solidFill>
          <a:ln w="10160">
            <a:solidFill>
              <a:srgbClr val="EAF3FC"/>
            </a:solidFill>
            <a:prstDash val="solid"/>
          </a:ln>
        </p:spPr>
      </p:sp>
      <p:sp>
        <p:nvSpPr>
          <p:cNvPr id="21" name="Text 19"/>
          <p:cNvSpPr txBox="1"/>
          <p:nvPr/>
        </p:nvSpPr>
        <p:spPr>
          <a:xfrm>
            <a:off x="896112" y="4905756"/>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5</a:t>
            </a:r>
            <a:endParaRPr lang="en-US" sz="900" dirty="0"/>
          </a:p>
        </p:txBody>
      </p:sp>
      <p:sp>
        <p:nvSpPr>
          <p:cNvPr id="22" name="Text 20"/>
          <p:cNvSpPr txBox="1"/>
          <p:nvPr/>
        </p:nvSpPr>
        <p:spPr>
          <a:xfrm>
            <a:off x="1298448" y="4855464"/>
            <a:ext cx="1234440" cy="219456"/>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AFTER</a:t>
            </a:r>
            <a:endParaRPr lang="en-US" sz="1100" dirty="0"/>
          </a:p>
        </p:txBody>
      </p:sp>
      <p:sp>
        <p:nvSpPr>
          <p:cNvPr id="23" name="Text 21"/>
          <p:cNvSpPr txBox="1"/>
          <p:nvPr/>
        </p:nvSpPr>
        <p:spPr>
          <a:xfrm>
            <a:off x="2606040" y="4855464"/>
            <a:ext cx="8412480" cy="320040"/>
          </a:xfrm>
          <a:prstGeom prst="rect">
            <a:avLst/>
          </a:prstGeom>
          <a:noFill/>
          <a:ln/>
        </p:spPr>
        <p:txBody>
          <a:bodyPr wrap="square" lIns="0" tIns="0" rIns="0" bIns="0" rtlCol="0" anchor="ctr">
            <a:normAutofit/>
          </a:bodyPr>
          <a:lstStyle/>
          <a:p>
            <a:pPr algn="l" indent="0" marL="0">
              <a:lnSpc>
                <a:spcPct val="95000"/>
              </a:lnSpc>
              <a:buNone/>
            </a:pPr>
            <a:r>
              <a:rPr lang="en-US" sz="1090" dirty="0">
                <a:solidFill>
                  <a:srgbClr val="203040"/>
                </a:solidFill>
                <a:latin typeface="Carlito" pitchFamily="34" charset="0"/>
                <a:ea typeface="Carlito" pitchFamily="34" charset="-122"/>
                <a:cs typeface="Carlito" pitchFamily="34" charset="-120"/>
              </a:rPr>
              <a:t>allUsers absent; curl returns 403 / 401.</a:t>
            </a:r>
            <a:endParaRPr lang="en-US" sz="1090" dirty="0"/>
          </a:p>
        </p:txBody>
      </p:sp>
      <p:sp>
        <p:nvSpPr>
          <p:cNvPr id="24" name="Shape 22"/>
          <p:cNvSpPr/>
          <p:nvPr/>
        </p:nvSpPr>
        <p:spPr>
          <a:xfrm>
            <a:off x="822960" y="5669280"/>
            <a:ext cx="10515600" cy="457200"/>
          </a:xfrm>
          <a:prstGeom prst="roundRect">
            <a:avLst>
              <a:gd name="adj" fmla="val 16000"/>
            </a:avLst>
          </a:prstGeom>
          <a:solidFill>
            <a:srgbClr val="FDEEEE"/>
          </a:solidFill>
          <a:ln w="10160">
            <a:solidFill>
              <a:srgbClr val="FDEEEE"/>
            </a:solidFill>
            <a:prstDash val="solid"/>
          </a:ln>
        </p:spPr>
      </p:sp>
      <p:sp>
        <p:nvSpPr>
          <p:cNvPr id="25" name="Text 23"/>
          <p:cNvSpPr txBox="1"/>
          <p:nvPr/>
        </p:nvSpPr>
        <p:spPr>
          <a:xfrm>
            <a:off x="969264" y="5742432"/>
            <a:ext cx="1022299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Console: Cloud Storage -&gt; Buckets -&gt; bucket -&gt; Permissions / Configuration. Check allUsers principal and Public Access Prevention. Policy enforcement wins: do not weaken it for a classroom demonstration.</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GCP-INC-2002: restore outbound egress using Cloud NAT</a:t>
            </a:r>
            <a:endParaRPr lang="en-US" sz="2500" dirty="0"/>
          </a:p>
        </p:txBody>
      </p:sp>
      <p:sp>
        <p:nvSpPr>
          <p:cNvPr id="4" name="Shape 2"/>
          <p:cNvSpPr/>
          <p:nvPr/>
        </p:nvSpPr>
        <p:spPr>
          <a:xfrm>
            <a:off x="731520" y="1691640"/>
            <a:ext cx="3429000" cy="1645920"/>
          </a:xfrm>
          <a:prstGeom prst="roundRect">
            <a:avLst>
              <a:gd name="adj" fmla="val 4444"/>
            </a:avLst>
          </a:prstGeom>
          <a:solidFill>
            <a:srgbClr val="FFFFFF"/>
          </a:solidFill>
          <a:ln w="10160">
            <a:solidFill>
              <a:srgbClr val="DCE3EB"/>
            </a:solidFill>
            <a:prstDash val="solid"/>
          </a:ln>
        </p:spPr>
      </p:sp>
      <p:sp>
        <p:nvSpPr>
          <p:cNvPr id="5" name="Shape 3"/>
          <p:cNvSpPr/>
          <p:nvPr/>
        </p:nvSpPr>
        <p:spPr>
          <a:xfrm>
            <a:off x="731520" y="1691640"/>
            <a:ext cx="73152" cy="1645920"/>
          </a:xfrm>
          <a:prstGeom prst="rect">
            <a:avLst>
              <a:gd name="adj" fmla="val 100000"/>
            </a:avLst>
          </a:prstGeom>
          <a:solidFill>
            <a:srgbClr val="D94F4F"/>
          </a:solidFill>
          <a:ln w="10160">
            <a:solidFill>
              <a:srgbClr val="D94F4F"/>
            </a:solidFill>
            <a:prstDash val="solid"/>
          </a:ln>
        </p:spPr>
      </p:sp>
      <p:sp>
        <p:nvSpPr>
          <p:cNvPr id="6" name="Text 4"/>
          <p:cNvSpPr txBox="1"/>
          <p:nvPr/>
        </p:nvSpPr>
        <p:spPr>
          <a:xfrm>
            <a:off x="93268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BEFORE NAT</a:t>
            </a:r>
            <a:endParaRPr lang="en-US" sz="1300" dirty="0"/>
          </a:p>
        </p:txBody>
      </p:sp>
      <p:sp>
        <p:nvSpPr>
          <p:cNvPr id="7" name="Text 5"/>
          <p:cNvSpPr txBox="1"/>
          <p:nvPr/>
        </p:nvSpPr>
        <p:spPr>
          <a:xfrm>
            <a:off x="932688" y="2167128"/>
            <a:ext cx="3044952" cy="1060704"/>
          </a:xfrm>
          <a:prstGeom prst="rect">
            <a:avLst/>
          </a:prstGeom>
          <a:noFill/>
          <a:ln/>
        </p:spPr>
        <p:txBody>
          <a:bodyPr wrap="square" lIns="0" tIns="0" rIns="0" bIns="0" rtlCol="0" anchor="t">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Private VM has no external IP. Try curl to a public HTTPS endpoint. It should fail only if no other egress path exists.</a:t>
            </a:r>
            <a:endParaRPr lang="en-US" sz="1060" dirty="0"/>
          </a:p>
        </p:txBody>
      </p:sp>
      <p:sp>
        <p:nvSpPr>
          <p:cNvPr id="8" name="Shape 6"/>
          <p:cNvSpPr/>
          <p:nvPr/>
        </p:nvSpPr>
        <p:spPr>
          <a:xfrm>
            <a:off x="4389120" y="1691640"/>
            <a:ext cx="3429000" cy="1645920"/>
          </a:xfrm>
          <a:prstGeom prst="roundRect">
            <a:avLst>
              <a:gd name="adj" fmla="val 4444"/>
            </a:avLst>
          </a:prstGeom>
          <a:solidFill>
            <a:srgbClr val="FFFFFF"/>
          </a:solidFill>
          <a:ln w="10160">
            <a:solidFill>
              <a:srgbClr val="DCE3EB"/>
            </a:solidFill>
            <a:prstDash val="solid"/>
          </a:ln>
        </p:spPr>
      </p:sp>
      <p:sp>
        <p:nvSpPr>
          <p:cNvPr id="9" name="Shape 7"/>
          <p:cNvSpPr/>
          <p:nvPr/>
        </p:nvSpPr>
        <p:spPr>
          <a:xfrm>
            <a:off x="4389120" y="1691640"/>
            <a:ext cx="73152" cy="1645920"/>
          </a:xfrm>
          <a:prstGeom prst="rect">
            <a:avLst>
              <a:gd name="adj" fmla="val 100000"/>
            </a:avLst>
          </a:prstGeom>
          <a:solidFill>
            <a:srgbClr val="2878C8"/>
          </a:solidFill>
          <a:ln w="10160">
            <a:solidFill>
              <a:srgbClr val="2878C8"/>
            </a:solidFill>
            <a:prstDash val="solid"/>
          </a:ln>
        </p:spPr>
      </p:sp>
      <p:sp>
        <p:nvSpPr>
          <p:cNvPr id="10" name="Text 8"/>
          <p:cNvSpPr txBox="1"/>
          <p:nvPr/>
        </p:nvSpPr>
        <p:spPr>
          <a:xfrm>
            <a:off x="459028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ENABLE NAT</a:t>
            </a:r>
            <a:endParaRPr lang="en-US" sz="1300" dirty="0"/>
          </a:p>
        </p:txBody>
      </p:sp>
      <p:sp>
        <p:nvSpPr>
          <p:cNvPr id="11" name="Text 9"/>
          <p:cNvSpPr txBox="1"/>
          <p:nvPr/>
        </p:nvSpPr>
        <p:spPr>
          <a:xfrm>
            <a:off x="4590288" y="2167128"/>
            <a:ext cx="3044952" cy="1060704"/>
          </a:xfrm>
          <a:prstGeom prst="rect">
            <a:avLst/>
          </a:prstGeom>
          <a:noFill/>
          <a:ln/>
        </p:spPr>
        <p:txBody>
          <a:bodyPr wrap="square" lIns="0" tIns="0" rIns="0" bIns="0" rtlCol="0" anchor="t">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Set enable_cloud_nat=true. Terraform creates Cloud Router and Cloud NAT for the selected region/subnet.</a:t>
            </a:r>
            <a:endParaRPr lang="en-US" sz="1060" dirty="0"/>
          </a:p>
        </p:txBody>
      </p:sp>
      <p:sp>
        <p:nvSpPr>
          <p:cNvPr id="12" name="Shape 10"/>
          <p:cNvSpPr/>
          <p:nvPr/>
        </p:nvSpPr>
        <p:spPr>
          <a:xfrm>
            <a:off x="8046720" y="1691640"/>
            <a:ext cx="3429000" cy="1645920"/>
          </a:xfrm>
          <a:prstGeom prst="roundRect">
            <a:avLst>
              <a:gd name="adj" fmla="val 4444"/>
            </a:avLst>
          </a:prstGeom>
          <a:solidFill>
            <a:srgbClr val="FFFFFF"/>
          </a:solidFill>
          <a:ln w="10160">
            <a:solidFill>
              <a:srgbClr val="DCE3EB"/>
            </a:solidFill>
            <a:prstDash val="solid"/>
          </a:ln>
        </p:spPr>
      </p:sp>
      <p:sp>
        <p:nvSpPr>
          <p:cNvPr id="13" name="Shape 11"/>
          <p:cNvSpPr/>
          <p:nvPr/>
        </p:nvSpPr>
        <p:spPr>
          <a:xfrm>
            <a:off x="8046720" y="1691640"/>
            <a:ext cx="73152" cy="1645920"/>
          </a:xfrm>
          <a:prstGeom prst="rect">
            <a:avLst>
              <a:gd name="adj" fmla="val 100000"/>
            </a:avLst>
          </a:prstGeom>
          <a:solidFill>
            <a:srgbClr val="16A36A"/>
          </a:solidFill>
          <a:ln w="10160">
            <a:solidFill>
              <a:srgbClr val="16A36A"/>
            </a:solidFill>
            <a:prstDash val="solid"/>
          </a:ln>
        </p:spPr>
      </p:sp>
      <p:sp>
        <p:nvSpPr>
          <p:cNvPr id="14" name="Text 12"/>
          <p:cNvSpPr txBox="1"/>
          <p:nvPr/>
        </p:nvSpPr>
        <p:spPr>
          <a:xfrm>
            <a:off x="824788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300" b="1" dirty="0">
                <a:solidFill>
                  <a:srgbClr val="12304A"/>
                </a:solidFill>
                <a:latin typeface="Carlito" pitchFamily="34" charset="0"/>
                <a:ea typeface="Carlito" pitchFamily="34" charset="-122"/>
                <a:cs typeface="Carlito" pitchFamily="34" charset="-120"/>
              </a:rPr>
              <a:t>AFTER NAT</a:t>
            </a:r>
            <a:endParaRPr lang="en-US" sz="1300" dirty="0"/>
          </a:p>
        </p:txBody>
      </p:sp>
      <p:sp>
        <p:nvSpPr>
          <p:cNvPr id="15" name="Text 13"/>
          <p:cNvSpPr txBox="1"/>
          <p:nvPr/>
        </p:nvSpPr>
        <p:spPr>
          <a:xfrm>
            <a:off x="8247888" y="2167128"/>
            <a:ext cx="3044952" cy="1060704"/>
          </a:xfrm>
          <a:prstGeom prst="rect">
            <a:avLst/>
          </a:prstGeom>
          <a:noFill/>
          <a:ln/>
        </p:spPr>
        <p:txBody>
          <a:bodyPr wrap="square" lIns="0" tIns="0" rIns="0" bIns="0" rtlCol="0" anchor="t">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Repeat curl inside the VM. Verify NAT gateway and router in Network Services -&gt; Cloud NAT.</a:t>
            </a:r>
            <a:endParaRPr lang="en-US" sz="1060" dirty="0"/>
          </a:p>
        </p:txBody>
      </p:sp>
      <p:sp>
        <p:nvSpPr>
          <p:cNvPr id="16" name="Text 14"/>
          <p:cNvSpPr txBox="1"/>
          <p:nvPr/>
        </p:nvSpPr>
        <p:spPr>
          <a:xfrm>
            <a:off x="868680" y="3886200"/>
            <a:ext cx="2926080" cy="201168"/>
          </a:xfrm>
          <a:prstGeom prst="rect">
            <a:avLst/>
          </a:prstGeom>
          <a:noFill/>
          <a:ln/>
        </p:spPr>
        <p:txBody>
          <a:bodyPr wrap="square" lIns="0" tIns="0" rIns="0" bIns="0" rtlCol="0" anchor="ctr">
            <a:normAutofit/>
          </a:bodyPr>
          <a:lstStyle/>
          <a:p>
            <a:pPr algn="l" indent="0" marL="0">
              <a:lnSpc>
                <a:spcPct val="95000"/>
              </a:lnSpc>
              <a:buNone/>
            </a:pPr>
            <a:r>
              <a:rPr lang="en-US" sz="1000" b="1" spc="100" kern="0" dirty="0">
                <a:solidFill>
                  <a:srgbClr val="D97706"/>
                </a:solidFill>
                <a:latin typeface="Carlito" pitchFamily="34" charset="0"/>
                <a:ea typeface="Carlito" pitchFamily="34" charset="-122"/>
                <a:cs typeface="Carlito" pitchFamily="34" charset="-120"/>
              </a:rPr>
              <a:t>WHAT NAT DOES NOT DO</a:t>
            </a:r>
            <a:endParaRPr lang="en-US" sz="1000" dirty="0"/>
          </a:p>
        </p:txBody>
      </p:sp>
      <p:sp>
        <p:nvSpPr>
          <p:cNvPr id="17" name="Text 15"/>
          <p:cNvSpPr txBox="1"/>
          <p:nvPr/>
        </p:nvSpPr>
        <p:spPr>
          <a:xfrm>
            <a:off x="868680" y="4251960"/>
            <a:ext cx="10149840" cy="1143000"/>
          </a:xfrm>
          <a:prstGeom prst="rect">
            <a:avLst/>
          </a:prstGeom>
          <a:noFill/>
          <a:ln/>
        </p:spPr>
        <p:txBody>
          <a:bodyPr wrap="square" lIns="254" tIns="254" rIns="254" bIns="254"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Does not assign a public IP to the VM network interface.</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Does not accept unsolicited inbound Internet connections.</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Does not replace ingress firewall rules or IAP access.</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Does not prove all Internet traffic is routed through NAT if another proxy / egress path exists.</a:t>
            </a:r>
            <a:endParaRPr lang="en-US" sz="1200" dirty="0"/>
          </a:p>
        </p:txBody>
      </p:sp>
      <p:sp>
        <p:nvSpPr>
          <p:cNvPr id="18" name="Shape 16"/>
          <p:cNvSpPr/>
          <p:nvPr/>
        </p:nvSpPr>
        <p:spPr>
          <a:xfrm>
            <a:off x="822960" y="5623560"/>
            <a:ext cx="10515600" cy="457200"/>
          </a:xfrm>
          <a:prstGeom prst="roundRect">
            <a:avLst>
              <a:gd name="adj" fmla="val 16000"/>
            </a:avLst>
          </a:prstGeom>
          <a:solidFill>
            <a:srgbClr val="FFF5E6"/>
          </a:solidFill>
          <a:ln w="10160">
            <a:solidFill>
              <a:srgbClr val="FFF5E6"/>
            </a:solidFill>
            <a:prstDash val="solid"/>
          </a:ln>
        </p:spPr>
      </p:sp>
      <p:sp>
        <p:nvSpPr>
          <p:cNvPr id="19" name="Text 17"/>
          <p:cNvSpPr txBox="1"/>
          <p:nvPr/>
        </p:nvSpPr>
        <p:spPr>
          <a:xfrm>
            <a:off x="969264" y="5696712"/>
            <a:ext cx="10222992" cy="31089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Cloud NAT is billable. Disable it after evidence collection unless the instructor needs it for the next exercise.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GCP-INC-2003: configure CMEK and verify the object metadata</a:t>
            </a:r>
            <a:endParaRPr lang="en-US" sz="2500" dirty="0"/>
          </a:p>
        </p:txBody>
      </p:sp>
      <p:sp>
        <p:nvSpPr>
          <p:cNvPr id="4" name="Shape 2"/>
          <p:cNvSpPr/>
          <p:nvPr/>
        </p:nvSpPr>
        <p:spPr>
          <a:xfrm>
            <a:off x="868680" y="1737360"/>
            <a:ext cx="320040" cy="256032"/>
          </a:xfrm>
          <a:prstGeom prst="roundRect">
            <a:avLst>
              <a:gd name="adj" fmla="val 28571"/>
            </a:avLst>
          </a:prstGeom>
          <a:solidFill>
            <a:srgbClr val="EAF3FC"/>
          </a:solidFill>
          <a:ln w="10160">
            <a:solidFill>
              <a:srgbClr val="EAF3FC"/>
            </a:solidFill>
            <a:prstDash val="solid"/>
          </a:ln>
        </p:spPr>
      </p:sp>
      <p:sp>
        <p:nvSpPr>
          <p:cNvPr id="5" name="Text 3"/>
          <p:cNvSpPr txBox="1"/>
          <p:nvPr/>
        </p:nvSpPr>
        <p:spPr>
          <a:xfrm>
            <a:off x="941832" y="1751076"/>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1</a:t>
            </a:r>
            <a:endParaRPr lang="en-US" sz="900" dirty="0"/>
          </a:p>
        </p:txBody>
      </p:sp>
      <p:sp>
        <p:nvSpPr>
          <p:cNvPr id="6" name="Text 4"/>
          <p:cNvSpPr txBox="1"/>
          <p:nvPr/>
        </p:nvSpPr>
        <p:spPr>
          <a:xfrm>
            <a:off x="1371600" y="1700784"/>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ENABLE</a:t>
            </a:r>
            <a:endParaRPr lang="en-US" sz="1100" dirty="0"/>
          </a:p>
        </p:txBody>
      </p:sp>
      <p:sp>
        <p:nvSpPr>
          <p:cNvPr id="7" name="Text 5"/>
          <p:cNvSpPr txBox="1"/>
          <p:nvPr/>
        </p:nvSpPr>
        <p:spPr>
          <a:xfrm>
            <a:off x="2606040" y="1700784"/>
            <a:ext cx="8412480" cy="338328"/>
          </a:xfrm>
          <a:prstGeom prst="rect">
            <a:avLst/>
          </a:prstGeom>
          <a:noFill/>
          <a:ln/>
        </p:spPr>
        <p:txBody>
          <a:bodyPr wrap="square" lIns="0" tIns="0" rIns="0" bIns="0" rtlCol="0" anchor="ctr">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enable_cmek=true; create KMS key ring and key; grant Storage service agent key use.</a:t>
            </a:r>
            <a:endParaRPr lang="en-US" sz="1060" dirty="0"/>
          </a:p>
        </p:txBody>
      </p:sp>
      <p:sp>
        <p:nvSpPr>
          <p:cNvPr id="8" name="Shape 6"/>
          <p:cNvSpPr/>
          <p:nvPr/>
        </p:nvSpPr>
        <p:spPr>
          <a:xfrm>
            <a:off x="868680" y="2487168"/>
            <a:ext cx="320040" cy="256032"/>
          </a:xfrm>
          <a:prstGeom prst="roundRect">
            <a:avLst>
              <a:gd name="adj" fmla="val 28571"/>
            </a:avLst>
          </a:prstGeom>
          <a:solidFill>
            <a:srgbClr val="EAF3FC"/>
          </a:solidFill>
          <a:ln w="10160">
            <a:solidFill>
              <a:srgbClr val="EAF3FC"/>
            </a:solidFill>
            <a:prstDash val="solid"/>
          </a:ln>
        </p:spPr>
      </p:sp>
      <p:sp>
        <p:nvSpPr>
          <p:cNvPr id="9" name="Text 7"/>
          <p:cNvSpPr txBox="1"/>
          <p:nvPr/>
        </p:nvSpPr>
        <p:spPr>
          <a:xfrm>
            <a:off x="941832" y="2500884"/>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0D9488"/>
                </a:solidFill>
                <a:latin typeface="Carlito" pitchFamily="34" charset="0"/>
                <a:ea typeface="Carlito" pitchFamily="34" charset="-122"/>
                <a:cs typeface="Carlito" pitchFamily="34" charset="-120"/>
              </a:rPr>
              <a:t>2</a:t>
            </a:r>
            <a:endParaRPr lang="en-US" sz="900" dirty="0"/>
          </a:p>
        </p:txBody>
      </p:sp>
      <p:sp>
        <p:nvSpPr>
          <p:cNvPr id="10" name="Text 8"/>
          <p:cNvSpPr txBox="1"/>
          <p:nvPr/>
        </p:nvSpPr>
        <p:spPr>
          <a:xfrm>
            <a:off x="1371600" y="2450592"/>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CONFIGURE</a:t>
            </a:r>
            <a:endParaRPr lang="en-US" sz="1100" dirty="0"/>
          </a:p>
        </p:txBody>
      </p:sp>
      <p:sp>
        <p:nvSpPr>
          <p:cNvPr id="11" name="Text 9"/>
          <p:cNvSpPr txBox="1"/>
          <p:nvPr/>
        </p:nvSpPr>
        <p:spPr>
          <a:xfrm>
            <a:off x="2606040" y="2450592"/>
            <a:ext cx="8412480" cy="338328"/>
          </a:xfrm>
          <a:prstGeom prst="rect">
            <a:avLst/>
          </a:prstGeom>
          <a:noFill/>
          <a:ln/>
        </p:spPr>
        <p:txBody>
          <a:bodyPr wrap="square" lIns="0" tIns="0" rIns="0" bIns="0" rtlCol="0" anchor="ctr">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Set bucket default encryption key.</a:t>
            </a:r>
            <a:endParaRPr lang="en-US" sz="1060" dirty="0"/>
          </a:p>
        </p:txBody>
      </p:sp>
      <p:sp>
        <p:nvSpPr>
          <p:cNvPr id="12" name="Shape 10"/>
          <p:cNvSpPr/>
          <p:nvPr/>
        </p:nvSpPr>
        <p:spPr>
          <a:xfrm>
            <a:off x="868680" y="3236976"/>
            <a:ext cx="320040" cy="256032"/>
          </a:xfrm>
          <a:prstGeom prst="roundRect">
            <a:avLst>
              <a:gd name="adj" fmla="val 28571"/>
            </a:avLst>
          </a:prstGeom>
          <a:solidFill>
            <a:srgbClr val="EAF3FC"/>
          </a:solidFill>
          <a:ln w="10160">
            <a:solidFill>
              <a:srgbClr val="EAF3FC"/>
            </a:solidFill>
            <a:prstDash val="solid"/>
          </a:ln>
        </p:spPr>
      </p:sp>
      <p:sp>
        <p:nvSpPr>
          <p:cNvPr id="13" name="Text 11"/>
          <p:cNvSpPr txBox="1"/>
          <p:nvPr/>
        </p:nvSpPr>
        <p:spPr>
          <a:xfrm>
            <a:off x="941832" y="3250692"/>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3</a:t>
            </a:r>
            <a:endParaRPr lang="en-US" sz="900" dirty="0"/>
          </a:p>
        </p:txBody>
      </p:sp>
      <p:sp>
        <p:nvSpPr>
          <p:cNvPr id="14" name="Text 12"/>
          <p:cNvSpPr txBox="1"/>
          <p:nvPr/>
        </p:nvSpPr>
        <p:spPr>
          <a:xfrm>
            <a:off x="1371600" y="3200400"/>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WRITE</a:t>
            </a:r>
            <a:endParaRPr lang="en-US" sz="1100" dirty="0"/>
          </a:p>
        </p:txBody>
      </p:sp>
      <p:sp>
        <p:nvSpPr>
          <p:cNvPr id="15" name="Text 13"/>
          <p:cNvSpPr txBox="1"/>
          <p:nvPr/>
        </p:nvSpPr>
        <p:spPr>
          <a:xfrm>
            <a:off x="2606040" y="3200400"/>
            <a:ext cx="8412480" cy="338328"/>
          </a:xfrm>
          <a:prstGeom prst="rect">
            <a:avLst/>
          </a:prstGeom>
          <a:noFill/>
          <a:ln/>
        </p:spPr>
        <p:txBody>
          <a:bodyPr wrap="square" lIns="0" tIns="0" rIns="0" bIns="0" rtlCol="0" anchor="ctr">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Upload a new synthetic object after CMEK is active.</a:t>
            </a:r>
            <a:endParaRPr lang="en-US" sz="1060" dirty="0"/>
          </a:p>
        </p:txBody>
      </p:sp>
      <p:sp>
        <p:nvSpPr>
          <p:cNvPr id="16" name="Shape 14"/>
          <p:cNvSpPr/>
          <p:nvPr/>
        </p:nvSpPr>
        <p:spPr>
          <a:xfrm>
            <a:off x="868680" y="3986784"/>
            <a:ext cx="320040" cy="256032"/>
          </a:xfrm>
          <a:prstGeom prst="roundRect">
            <a:avLst>
              <a:gd name="adj" fmla="val 28571"/>
            </a:avLst>
          </a:prstGeom>
          <a:solidFill>
            <a:srgbClr val="EAF3FC"/>
          </a:solidFill>
          <a:ln w="10160">
            <a:solidFill>
              <a:srgbClr val="EAF3FC"/>
            </a:solidFill>
            <a:prstDash val="solid"/>
          </a:ln>
        </p:spPr>
      </p:sp>
      <p:sp>
        <p:nvSpPr>
          <p:cNvPr id="17" name="Text 15"/>
          <p:cNvSpPr txBox="1"/>
          <p:nvPr/>
        </p:nvSpPr>
        <p:spPr>
          <a:xfrm>
            <a:off x="941832" y="4000500"/>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7654B8"/>
                </a:solidFill>
                <a:latin typeface="Carlito" pitchFamily="34" charset="0"/>
                <a:ea typeface="Carlito" pitchFamily="34" charset="-122"/>
                <a:cs typeface="Carlito" pitchFamily="34" charset="-120"/>
              </a:rPr>
              <a:t>4</a:t>
            </a:r>
            <a:endParaRPr lang="en-US" sz="900" dirty="0"/>
          </a:p>
        </p:txBody>
      </p:sp>
      <p:sp>
        <p:nvSpPr>
          <p:cNvPr id="18" name="Text 16"/>
          <p:cNvSpPr txBox="1"/>
          <p:nvPr/>
        </p:nvSpPr>
        <p:spPr>
          <a:xfrm>
            <a:off x="1371600" y="3950208"/>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VERIFY</a:t>
            </a:r>
            <a:endParaRPr lang="en-US" sz="1100" dirty="0"/>
          </a:p>
        </p:txBody>
      </p:sp>
      <p:sp>
        <p:nvSpPr>
          <p:cNvPr id="19" name="Text 17"/>
          <p:cNvSpPr txBox="1"/>
          <p:nvPr/>
        </p:nvSpPr>
        <p:spPr>
          <a:xfrm>
            <a:off x="2606040" y="3950208"/>
            <a:ext cx="8412480" cy="338328"/>
          </a:xfrm>
          <a:prstGeom prst="rect">
            <a:avLst/>
          </a:prstGeom>
          <a:noFill/>
          <a:ln/>
        </p:spPr>
        <p:txBody>
          <a:bodyPr wrap="square" lIns="0" tIns="0" rIns="0" bIns="0" rtlCol="0" anchor="ctr">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Bucket describes default KMS key; object metadata shows kmsKeyName.</a:t>
            </a:r>
            <a:endParaRPr lang="en-US" sz="1060" dirty="0"/>
          </a:p>
        </p:txBody>
      </p:sp>
      <p:sp>
        <p:nvSpPr>
          <p:cNvPr id="20" name="Shape 18"/>
          <p:cNvSpPr/>
          <p:nvPr/>
        </p:nvSpPr>
        <p:spPr>
          <a:xfrm>
            <a:off x="868680" y="4736592"/>
            <a:ext cx="320040" cy="256032"/>
          </a:xfrm>
          <a:prstGeom prst="roundRect">
            <a:avLst>
              <a:gd name="adj" fmla="val 28571"/>
            </a:avLst>
          </a:prstGeom>
          <a:solidFill>
            <a:srgbClr val="EAF3FC"/>
          </a:solidFill>
          <a:ln w="10160">
            <a:solidFill>
              <a:srgbClr val="EAF3FC"/>
            </a:solidFill>
            <a:prstDash val="solid"/>
          </a:ln>
        </p:spPr>
      </p:sp>
      <p:sp>
        <p:nvSpPr>
          <p:cNvPr id="21" name="Text 19"/>
          <p:cNvSpPr txBox="1"/>
          <p:nvPr/>
        </p:nvSpPr>
        <p:spPr>
          <a:xfrm>
            <a:off x="941832" y="4750308"/>
            <a:ext cx="173736"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4F4F"/>
                </a:solidFill>
                <a:latin typeface="Carlito" pitchFamily="34" charset="0"/>
                <a:ea typeface="Carlito" pitchFamily="34" charset="-122"/>
                <a:cs typeface="Carlito" pitchFamily="34" charset="-120"/>
              </a:rPr>
              <a:t>5</a:t>
            </a:r>
            <a:endParaRPr lang="en-US" sz="900" dirty="0"/>
          </a:p>
        </p:txBody>
      </p:sp>
      <p:sp>
        <p:nvSpPr>
          <p:cNvPr id="22" name="Text 20"/>
          <p:cNvSpPr txBox="1"/>
          <p:nvPr/>
        </p:nvSpPr>
        <p:spPr>
          <a:xfrm>
            <a:off x="1371600" y="4700016"/>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12304A"/>
                </a:solidFill>
                <a:latin typeface="Carlito" pitchFamily="34" charset="0"/>
                <a:ea typeface="Carlito" pitchFamily="34" charset="-122"/>
                <a:cs typeface="Carlito" pitchFamily="34" charset="-120"/>
              </a:rPr>
              <a:t>PROTECT</a:t>
            </a:r>
            <a:endParaRPr lang="en-US" sz="1100" dirty="0"/>
          </a:p>
        </p:txBody>
      </p:sp>
      <p:sp>
        <p:nvSpPr>
          <p:cNvPr id="23" name="Text 21"/>
          <p:cNvSpPr txBox="1"/>
          <p:nvPr/>
        </p:nvSpPr>
        <p:spPr>
          <a:xfrm>
            <a:off x="2606040" y="4700016"/>
            <a:ext cx="8412480" cy="338328"/>
          </a:xfrm>
          <a:prstGeom prst="rect">
            <a:avLst/>
          </a:prstGeom>
          <a:noFill/>
          <a:ln/>
        </p:spPr>
        <p:txBody>
          <a:bodyPr wrap="square" lIns="0" tIns="0" rIns="0" bIns="0" rtlCol="0" anchor="ctr">
            <a:normAutofit/>
          </a:bodyPr>
          <a:lstStyle/>
          <a:p>
            <a:pPr algn="l" indent="0" marL="0">
              <a:lnSpc>
                <a:spcPct val="95000"/>
              </a:lnSpc>
              <a:buNone/>
            </a:pPr>
            <a:r>
              <a:rPr lang="en-US" sz="1060" dirty="0">
                <a:solidFill>
                  <a:srgbClr val="203040"/>
                </a:solidFill>
                <a:latin typeface="Carlito" pitchFamily="34" charset="0"/>
                <a:ea typeface="Carlito" pitchFamily="34" charset="-122"/>
                <a:cs typeface="Carlito" pitchFamily="34" charset="-120"/>
              </a:rPr>
              <a:t>Keep key and service-agent grant until all dependent objects are dealt with.</a:t>
            </a:r>
            <a:endParaRPr lang="en-US" sz="1060" dirty="0"/>
          </a:p>
        </p:txBody>
      </p:sp>
      <p:sp>
        <p:nvSpPr>
          <p:cNvPr id="24" name="Shape 22"/>
          <p:cNvSpPr/>
          <p:nvPr/>
        </p:nvSpPr>
        <p:spPr>
          <a:xfrm>
            <a:off x="822960" y="5623560"/>
            <a:ext cx="10515600" cy="502920"/>
          </a:xfrm>
          <a:prstGeom prst="roundRect">
            <a:avLst>
              <a:gd name="adj" fmla="val 14545"/>
            </a:avLst>
          </a:prstGeom>
          <a:solidFill>
            <a:srgbClr val="FFF5E6"/>
          </a:solidFill>
          <a:ln w="10160">
            <a:solidFill>
              <a:srgbClr val="FFF5E6"/>
            </a:solidFill>
            <a:prstDash val="solid"/>
          </a:ln>
        </p:spPr>
      </p:sp>
      <p:sp>
        <p:nvSpPr>
          <p:cNvPr id="25" name="Text 23"/>
          <p:cNvSpPr txBox="1"/>
          <p:nvPr/>
        </p:nvSpPr>
        <p:spPr>
          <a:xfrm>
            <a:off x="969264" y="5696712"/>
            <a:ext cx="10222992" cy="35661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Console: Cloud Storage -&gt; Bucket -&gt; Configuration -&gt; Protection / Encryption. Cloud KMS -&gt; Key Management -&gt; Key ring and key. Existing objects are not automatically re-encrypted by changing the bucket default key.</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SCENARIO WALKTHROUGH</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GCP-INC-2003: rotate secret versions and trigger the CPU alert</a:t>
            </a:r>
            <a:endParaRPr lang="en-US" sz="2500" dirty="0"/>
          </a:p>
        </p:txBody>
      </p:sp>
      <p:sp>
        <p:nvSpPr>
          <p:cNvPr id="4" name="Shape 2"/>
          <p:cNvSpPr/>
          <p:nvPr/>
        </p:nvSpPr>
        <p:spPr>
          <a:xfrm>
            <a:off x="731520" y="1691640"/>
            <a:ext cx="5074920" cy="2057400"/>
          </a:xfrm>
          <a:prstGeom prst="roundRect">
            <a:avLst>
              <a:gd name="adj" fmla="val 3556"/>
            </a:avLst>
          </a:prstGeom>
          <a:solidFill>
            <a:srgbClr val="FFFFFF"/>
          </a:solidFill>
          <a:ln w="10160">
            <a:solidFill>
              <a:srgbClr val="DCE3EB"/>
            </a:solidFill>
            <a:prstDash val="solid"/>
          </a:ln>
        </p:spPr>
      </p:sp>
      <p:sp>
        <p:nvSpPr>
          <p:cNvPr id="5" name="Shape 3"/>
          <p:cNvSpPr/>
          <p:nvPr/>
        </p:nvSpPr>
        <p:spPr>
          <a:xfrm>
            <a:off x="731520" y="1691640"/>
            <a:ext cx="73152" cy="2057400"/>
          </a:xfrm>
          <a:prstGeom prst="rect">
            <a:avLst>
              <a:gd name="adj" fmla="val 100000"/>
            </a:avLst>
          </a:prstGeom>
          <a:solidFill>
            <a:srgbClr val="7654B8"/>
          </a:solidFill>
          <a:ln w="10160">
            <a:solidFill>
              <a:srgbClr val="7654B8"/>
            </a:solidFill>
            <a:prstDash val="solid"/>
          </a:ln>
        </p:spPr>
      </p:sp>
      <p:sp>
        <p:nvSpPr>
          <p:cNvPr id="6" name="Text 4"/>
          <p:cNvSpPr txBox="1"/>
          <p:nvPr/>
        </p:nvSpPr>
        <p:spPr>
          <a:xfrm>
            <a:off x="932688" y="1819656"/>
            <a:ext cx="4727448" cy="256032"/>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12304A"/>
                </a:solidFill>
                <a:latin typeface="Carlito" pitchFamily="34" charset="0"/>
                <a:ea typeface="Carlito" pitchFamily="34" charset="-122"/>
                <a:cs typeface="Carlito" pitchFamily="34" charset="-120"/>
              </a:rPr>
              <a:t>SECRET ROTATION</a:t>
            </a:r>
            <a:endParaRPr lang="en-US" sz="1400" dirty="0"/>
          </a:p>
        </p:txBody>
      </p:sp>
      <p:sp>
        <p:nvSpPr>
          <p:cNvPr id="7" name="Text 5"/>
          <p:cNvSpPr txBox="1"/>
          <p:nvPr/>
        </p:nvSpPr>
        <p:spPr>
          <a:xfrm>
            <a:off x="932688" y="2167128"/>
            <a:ext cx="4690872" cy="1472184"/>
          </a:xfrm>
          <a:prstGeom prst="rect">
            <a:avLst/>
          </a:prstGeom>
          <a:noFill/>
          <a:ln/>
        </p:spPr>
        <p:txBody>
          <a:bodyPr wrap="square" lIns="0" tIns="0" rIns="0" bIns="0" rtlCol="0" anchor="t">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1. Create version 1 with a synthetic value.</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2. Add version 2 with a replacement synthetic value.</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3. Validate the consumer uses v2.</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4. Disable v1.</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5. Keep plaintext out of screenshots and Terraform state.</a:t>
            </a:r>
            <a:endParaRPr lang="en-US" sz="1120" dirty="0"/>
          </a:p>
        </p:txBody>
      </p:sp>
      <p:sp>
        <p:nvSpPr>
          <p:cNvPr id="8" name="Shape 6"/>
          <p:cNvSpPr/>
          <p:nvPr/>
        </p:nvSpPr>
        <p:spPr>
          <a:xfrm>
            <a:off x="6263640" y="1691640"/>
            <a:ext cx="5074920" cy="2057400"/>
          </a:xfrm>
          <a:prstGeom prst="roundRect">
            <a:avLst>
              <a:gd name="adj" fmla="val 3556"/>
            </a:avLst>
          </a:prstGeom>
          <a:solidFill>
            <a:srgbClr val="FFFFFF"/>
          </a:solidFill>
          <a:ln w="10160">
            <a:solidFill>
              <a:srgbClr val="DCE3EB"/>
            </a:solidFill>
            <a:prstDash val="solid"/>
          </a:ln>
        </p:spPr>
      </p:sp>
      <p:sp>
        <p:nvSpPr>
          <p:cNvPr id="9" name="Shape 7"/>
          <p:cNvSpPr/>
          <p:nvPr/>
        </p:nvSpPr>
        <p:spPr>
          <a:xfrm>
            <a:off x="6263640" y="1691640"/>
            <a:ext cx="73152" cy="2057400"/>
          </a:xfrm>
          <a:prstGeom prst="rect">
            <a:avLst>
              <a:gd name="adj" fmla="val 100000"/>
            </a:avLst>
          </a:prstGeom>
          <a:solidFill>
            <a:srgbClr val="0D9488"/>
          </a:solidFill>
          <a:ln w="10160">
            <a:solidFill>
              <a:srgbClr val="0D9488"/>
            </a:solidFill>
            <a:prstDash val="solid"/>
          </a:ln>
        </p:spPr>
      </p:sp>
      <p:sp>
        <p:nvSpPr>
          <p:cNvPr id="10" name="Text 8"/>
          <p:cNvSpPr txBox="1"/>
          <p:nvPr/>
        </p:nvSpPr>
        <p:spPr>
          <a:xfrm>
            <a:off x="6464808" y="1819656"/>
            <a:ext cx="4727448" cy="256032"/>
          </a:xfrm>
          <a:prstGeom prst="rect">
            <a:avLst/>
          </a:prstGeom>
          <a:noFill/>
          <a:ln/>
        </p:spPr>
        <p:txBody>
          <a:bodyPr wrap="square" lIns="0" tIns="0" rIns="0" bIns="0" rtlCol="0" anchor="ctr">
            <a:normAutofit/>
          </a:bodyPr>
          <a:lstStyle/>
          <a:p>
            <a:pPr algn="l" indent="0" marL="0">
              <a:lnSpc>
                <a:spcPct val="95000"/>
              </a:lnSpc>
              <a:buNone/>
            </a:pPr>
            <a:r>
              <a:rPr lang="en-US" sz="1400" b="1" dirty="0">
                <a:solidFill>
                  <a:srgbClr val="12304A"/>
                </a:solidFill>
                <a:latin typeface="Carlito" pitchFamily="34" charset="0"/>
                <a:ea typeface="Carlito" pitchFamily="34" charset="-122"/>
                <a:cs typeface="Carlito" pitchFamily="34" charset="-120"/>
              </a:rPr>
              <a:t>CPU ALERT</a:t>
            </a:r>
            <a:endParaRPr lang="en-US" sz="1400" dirty="0"/>
          </a:p>
        </p:txBody>
      </p:sp>
      <p:sp>
        <p:nvSpPr>
          <p:cNvPr id="11" name="Text 9"/>
          <p:cNvSpPr txBox="1"/>
          <p:nvPr/>
        </p:nvSpPr>
        <p:spPr>
          <a:xfrm>
            <a:off x="6464808" y="2167128"/>
            <a:ext cx="4690872" cy="1472184"/>
          </a:xfrm>
          <a:prstGeom prst="rect">
            <a:avLst/>
          </a:prstGeom>
          <a:noFill/>
          <a:ln/>
        </p:spPr>
        <p:txBody>
          <a:bodyPr wrap="square" lIns="0" tIns="0" rIns="0" bIns="0" rtlCol="0" anchor="t">
            <a:normAutofit/>
          </a:bodyPr>
          <a:lstStyle/>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1. Set alert_email and enable_cpu_alert=true.</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2. Verify notification channel.</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3. Trigger bounded CPU workload.</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4. Check CPU metric, incident and email.</a:t>
            </a:r>
            <a:endParaRPr lang="en-US" sz="1120" dirty="0"/>
          </a:p>
          <a:p>
            <a:pPr algn="l" indent="0" marL="0">
              <a:lnSpc>
                <a:spcPct val="95000"/>
              </a:lnSpc>
              <a:buNone/>
            </a:pPr>
            <a:r>
              <a:rPr lang="en-US" sz="1120" dirty="0">
                <a:solidFill>
                  <a:srgbClr val="203040"/>
                </a:solidFill>
                <a:latin typeface="Carlito" pitchFamily="34" charset="0"/>
                <a:ea typeface="Carlito" pitchFamily="34" charset="-122"/>
                <a:cs typeface="Carlito" pitchFamily="34" charset="-120"/>
              </a:rPr>
              <a:t>5. Stop load and verify incident resolves.</a:t>
            </a:r>
            <a:endParaRPr lang="en-US" sz="1120" dirty="0"/>
          </a:p>
        </p:txBody>
      </p:sp>
      <p:sp>
        <p:nvSpPr>
          <p:cNvPr id="12" name="Shape 10"/>
          <p:cNvSpPr/>
          <p:nvPr/>
        </p:nvSpPr>
        <p:spPr>
          <a:xfrm>
            <a:off x="822960" y="4251960"/>
            <a:ext cx="10515600" cy="530352"/>
          </a:xfrm>
          <a:prstGeom prst="roundRect">
            <a:avLst>
              <a:gd name="adj" fmla="val 13793"/>
            </a:avLst>
          </a:prstGeom>
          <a:solidFill>
            <a:srgbClr val="EAF3FC"/>
          </a:solidFill>
          <a:ln w="10160">
            <a:solidFill>
              <a:srgbClr val="EAF3FC"/>
            </a:solidFill>
            <a:prstDash val="solid"/>
          </a:ln>
        </p:spPr>
      </p:sp>
      <p:sp>
        <p:nvSpPr>
          <p:cNvPr id="13" name="Text 11"/>
          <p:cNvSpPr txBox="1"/>
          <p:nvPr/>
        </p:nvSpPr>
        <p:spPr>
          <a:xfrm>
            <a:off x="969264" y="4325112"/>
            <a:ext cx="10222992" cy="38404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Console proof: Security -&gt; Secret Manager -&gt; secret -&gt; Versions; Monitoring -&gt; Alerting -&gt; Policies / Incidents; Metrics Explorer; Notification channels. Allow for metric ingestion delay.</a:t>
            </a:r>
            <a:endParaRPr lang="en-US" sz="1040" dirty="0"/>
          </a:p>
        </p:txBody>
      </p:sp>
      <p:sp>
        <p:nvSpPr>
          <p:cNvPr id="14" name="Text 12"/>
          <p:cNvSpPr txBox="1"/>
          <p:nvPr/>
        </p:nvSpPr>
        <p:spPr>
          <a:xfrm>
            <a:off x="914400" y="5074920"/>
            <a:ext cx="10149840" cy="731520"/>
          </a:xfrm>
          <a:prstGeom prst="rect">
            <a:avLst/>
          </a:prstGeom>
          <a:noFill/>
          <a:ln/>
        </p:spPr>
        <p:txBody>
          <a:bodyPr wrap="square" lIns="254" tIns="254" rIns="254" bIns="254" rtlCol="0" anchor="t">
            <a:normAutofit/>
          </a:bodyPr>
          <a:lstStyle/>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A new secret version does not update a consumer by magic.</a:t>
            </a:r>
            <a:endParaRPr lang="en-US" sz="1200" dirty="0"/>
          </a:p>
          <a:p>
            <a:pPr algn="l" indent="0" marL="0">
              <a:lnSpc>
                <a:spcPct val="95000"/>
              </a:lnSpc>
              <a:buNone/>
            </a:pPr>
            <a:r>
              <a:rPr lang="en-US" sz="1200" dirty="0">
                <a:solidFill>
                  <a:srgbClr val="203040"/>
                </a:solidFill>
                <a:latin typeface="Carlito" pitchFamily="34" charset="0"/>
                <a:ea typeface="Carlito" pitchFamily="34" charset="-122"/>
                <a:cs typeface="Carlito" pitchFamily="34" charset="-120"/>
              </a:rPr>
              <a:t>•  An alert policy without a verified notification channel is incomplete operational proof.</a:t>
            </a:r>
            <a:endParaRPr lang="en-US" sz="120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CAPSTONE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PIR-D6: four faults arrive at the same time</a:t>
            </a:r>
            <a:endParaRPr lang="en-US" sz="2500" dirty="0"/>
          </a:p>
        </p:txBody>
      </p:sp>
      <p:sp>
        <p:nvSpPr>
          <p:cNvPr id="4" name="Shape 2"/>
          <p:cNvSpPr/>
          <p:nvPr/>
        </p:nvSpPr>
        <p:spPr>
          <a:xfrm>
            <a:off x="749808" y="1737360"/>
            <a:ext cx="5074920" cy="1143000"/>
          </a:xfrm>
          <a:prstGeom prst="roundRect">
            <a:avLst>
              <a:gd name="adj" fmla="val 6400"/>
            </a:avLst>
          </a:prstGeom>
          <a:solidFill>
            <a:srgbClr val="FFFFFF"/>
          </a:solidFill>
          <a:ln w="10160">
            <a:solidFill>
              <a:srgbClr val="DCE3EB"/>
            </a:solidFill>
            <a:prstDash val="solid"/>
          </a:ln>
        </p:spPr>
      </p:sp>
      <p:sp>
        <p:nvSpPr>
          <p:cNvPr id="5" name="Shape 3"/>
          <p:cNvSpPr/>
          <p:nvPr/>
        </p:nvSpPr>
        <p:spPr>
          <a:xfrm>
            <a:off x="749808" y="1737360"/>
            <a:ext cx="73152" cy="1143000"/>
          </a:xfrm>
          <a:prstGeom prst="rect">
            <a:avLst>
              <a:gd name="adj" fmla="val 100000"/>
            </a:avLst>
          </a:prstGeom>
          <a:solidFill>
            <a:srgbClr val="7654B8"/>
          </a:solidFill>
          <a:ln w="10160">
            <a:solidFill>
              <a:srgbClr val="7654B8"/>
            </a:solidFill>
            <a:prstDash val="solid"/>
          </a:ln>
        </p:spPr>
      </p:sp>
      <p:sp>
        <p:nvSpPr>
          <p:cNvPr id="6" name="Text 4"/>
          <p:cNvSpPr txBox="1"/>
          <p:nvPr/>
        </p:nvSpPr>
        <p:spPr>
          <a:xfrm>
            <a:off x="950976" y="1865376"/>
            <a:ext cx="4727448"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A. IDENTITY DENY</a:t>
            </a:r>
            <a:endParaRPr lang="en-US" sz="1250" dirty="0"/>
          </a:p>
        </p:txBody>
      </p:sp>
      <p:sp>
        <p:nvSpPr>
          <p:cNvPr id="7" name="Text 5"/>
          <p:cNvSpPr txBox="1"/>
          <p:nvPr/>
        </p:nvSpPr>
        <p:spPr>
          <a:xfrm>
            <a:off x="950976" y="2212848"/>
            <a:ext cx="4690872" cy="55778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Responder service account cannot describe the VM.</a:t>
            </a:r>
            <a:endParaRPr lang="en-US" sz="1080" dirty="0"/>
          </a:p>
        </p:txBody>
      </p:sp>
      <p:sp>
        <p:nvSpPr>
          <p:cNvPr id="8" name="Shape 6"/>
          <p:cNvSpPr/>
          <p:nvPr/>
        </p:nvSpPr>
        <p:spPr>
          <a:xfrm>
            <a:off x="6236208" y="1737360"/>
            <a:ext cx="5074920" cy="1143000"/>
          </a:xfrm>
          <a:prstGeom prst="roundRect">
            <a:avLst>
              <a:gd name="adj" fmla="val 6400"/>
            </a:avLst>
          </a:prstGeom>
          <a:solidFill>
            <a:srgbClr val="FFFFFF"/>
          </a:solidFill>
          <a:ln w="10160">
            <a:solidFill>
              <a:srgbClr val="DCE3EB"/>
            </a:solidFill>
            <a:prstDash val="solid"/>
          </a:ln>
        </p:spPr>
      </p:sp>
      <p:sp>
        <p:nvSpPr>
          <p:cNvPr id="9" name="Shape 7"/>
          <p:cNvSpPr/>
          <p:nvPr/>
        </p:nvSpPr>
        <p:spPr>
          <a:xfrm>
            <a:off x="6236208" y="1737360"/>
            <a:ext cx="73152" cy="1143000"/>
          </a:xfrm>
          <a:prstGeom prst="rect">
            <a:avLst>
              <a:gd name="adj" fmla="val 100000"/>
            </a:avLst>
          </a:prstGeom>
          <a:solidFill>
            <a:srgbClr val="D94F4F"/>
          </a:solidFill>
          <a:ln w="10160">
            <a:solidFill>
              <a:srgbClr val="D94F4F"/>
            </a:solidFill>
            <a:prstDash val="solid"/>
          </a:ln>
        </p:spPr>
      </p:sp>
      <p:sp>
        <p:nvSpPr>
          <p:cNvPr id="10" name="Text 8"/>
          <p:cNvSpPr txBox="1"/>
          <p:nvPr/>
        </p:nvSpPr>
        <p:spPr>
          <a:xfrm>
            <a:off x="6437376" y="1865376"/>
            <a:ext cx="4727448"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B. FIREWALL BLOCK</a:t>
            </a:r>
            <a:endParaRPr lang="en-US" sz="1250" dirty="0"/>
          </a:p>
        </p:txBody>
      </p:sp>
      <p:sp>
        <p:nvSpPr>
          <p:cNvPr id="11" name="Text 9"/>
          <p:cNvSpPr txBox="1"/>
          <p:nvPr/>
        </p:nvSpPr>
        <p:spPr>
          <a:xfrm>
            <a:off x="6437376" y="2212848"/>
            <a:ext cx="4690872" cy="55778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Higher-priority deny blocks IAP TCP 22.</a:t>
            </a:r>
            <a:endParaRPr lang="en-US" sz="1080" dirty="0"/>
          </a:p>
        </p:txBody>
      </p:sp>
      <p:sp>
        <p:nvSpPr>
          <p:cNvPr id="12" name="Shape 10"/>
          <p:cNvSpPr/>
          <p:nvPr/>
        </p:nvSpPr>
        <p:spPr>
          <a:xfrm>
            <a:off x="749808" y="3246120"/>
            <a:ext cx="5074920" cy="1143000"/>
          </a:xfrm>
          <a:prstGeom prst="roundRect">
            <a:avLst>
              <a:gd name="adj" fmla="val 6400"/>
            </a:avLst>
          </a:prstGeom>
          <a:solidFill>
            <a:srgbClr val="FFFFFF"/>
          </a:solidFill>
          <a:ln w="10160">
            <a:solidFill>
              <a:srgbClr val="DCE3EB"/>
            </a:solidFill>
            <a:prstDash val="solid"/>
          </a:ln>
        </p:spPr>
      </p:sp>
      <p:sp>
        <p:nvSpPr>
          <p:cNvPr id="13" name="Shape 11"/>
          <p:cNvSpPr/>
          <p:nvPr/>
        </p:nvSpPr>
        <p:spPr>
          <a:xfrm>
            <a:off x="749808" y="3246120"/>
            <a:ext cx="73152" cy="1143000"/>
          </a:xfrm>
          <a:prstGeom prst="rect">
            <a:avLst>
              <a:gd name="adj" fmla="val 100000"/>
            </a:avLst>
          </a:prstGeom>
          <a:solidFill>
            <a:srgbClr val="D97706"/>
          </a:solidFill>
          <a:ln w="10160">
            <a:solidFill>
              <a:srgbClr val="D97706"/>
            </a:solidFill>
            <a:prstDash val="solid"/>
          </a:ln>
        </p:spPr>
      </p:sp>
      <p:sp>
        <p:nvSpPr>
          <p:cNvPr id="14" name="Text 12"/>
          <p:cNvSpPr txBox="1"/>
          <p:nvPr/>
        </p:nvSpPr>
        <p:spPr>
          <a:xfrm>
            <a:off x="950976" y="3374136"/>
            <a:ext cx="4727448"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C. FULL DISK</a:t>
            </a:r>
            <a:endParaRPr lang="en-US" sz="1250" dirty="0"/>
          </a:p>
        </p:txBody>
      </p:sp>
      <p:sp>
        <p:nvSpPr>
          <p:cNvPr id="15" name="Text 13"/>
          <p:cNvSpPr txBox="1"/>
          <p:nvPr/>
        </p:nvSpPr>
        <p:spPr>
          <a:xfrm>
            <a:off x="950976" y="3721608"/>
            <a:ext cx="4690872" cy="55778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/mnt/d6data reaches ~100% utilization.</a:t>
            </a:r>
            <a:endParaRPr lang="en-US" sz="1080" dirty="0"/>
          </a:p>
        </p:txBody>
      </p:sp>
      <p:sp>
        <p:nvSpPr>
          <p:cNvPr id="16" name="Shape 14"/>
          <p:cNvSpPr/>
          <p:nvPr/>
        </p:nvSpPr>
        <p:spPr>
          <a:xfrm>
            <a:off x="6236208" y="3246120"/>
            <a:ext cx="5074920" cy="1143000"/>
          </a:xfrm>
          <a:prstGeom prst="roundRect">
            <a:avLst>
              <a:gd name="adj" fmla="val 6400"/>
            </a:avLst>
          </a:prstGeom>
          <a:solidFill>
            <a:srgbClr val="FFFFFF"/>
          </a:solidFill>
          <a:ln w="10160">
            <a:solidFill>
              <a:srgbClr val="DCE3EB"/>
            </a:solidFill>
            <a:prstDash val="solid"/>
          </a:ln>
        </p:spPr>
      </p:sp>
      <p:sp>
        <p:nvSpPr>
          <p:cNvPr id="17" name="Shape 15"/>
          <p:cNvSpPr/>
          <p:nvPr/>
        </p:nvSpPr>
        <p:spPr>
          <a:xfrm>
            <a:off x="6236208" y="3246120"/>
            <a:ext cx="73152" cy="1143000"/>
          </a:xfrm>
          <a:prstGeom prst="rect">
            <a:avLst>
              <a:gd name="adj" fmla="val 100000"/>
            </a:avLst>
          </a:prstGeom>
          <a:solidFill>
            <a:srgbClr val="2878C8"/>
          </a:solidFill>
          <a:ln w="10160">
            <a:solidFill>
              <a:srgbClr val="2878C8"/>
            </a:solidFill>
            <a:prstDash val="solid"/>
          </a:ln>
        </p:spPr>
      </p:sp>
      <p:sp>
        <p:nvSpPr>
          <p:cNvPr id="18" name="Text 16"/>
          <p:cNvSpPr txBox="1"/>
          <p:nvPr/>
        </p:nvSpPr>
        <p:spPr>
          <a:xfrm>
            <a:off x="6437376" y="3374136"/>
            <a:ext cx="4727448" cy="256032"/>
          </a:xfrm>
          <a:prstGeom prst="rect">
            <a:avLst/>
          </a:prstGeom>
          <a:noFill/>
          <a:ln/>
        </p:spPr>
        <p:txBody>
          <a:bodyPr wrap="square" lIns="0" tIns="0" rIns="0" bIns="0" rtlCol="0" anchor="ctr">
            <a:normAutofit/>
          </a:bodyPr>
          <a:lstStyle/>
          <a:p>
            <a:pPr algn="l" indent="0" marL="0">
              <a:lnSpc>
                <a:spcPct val="95000"/>
              </a:lnSpc>
              <a:buNone/>
            </a:pPr>
            <a:r>
              <a:rPr lang="en-US" sz="1250" b="1" dirty="0">
                <a:solidFill>
                  <a:srgbClr val="12304A"/>
                </a:solidFill>
                <a:latin typeface="Carlito" pitchFamily="34" charset="0"/>
                <a:ea typeface="Carlito" pitchFamily="34" charset="-122"/>
                <a:cs typeface="Carlito" pitchFamily="34" charset="-120"/>
              </a:rPr>
              <a:t>D. SILENT ALERT</a:t>
            </a:r>
            <a:endParaRPr lang="en-US" sz="1250" dirty="0"/>
          </a:p>
        </p:txBody>
      </p:sp>
      <p:sp>
        <p:nvSpPr>
          <p:cNvPr id="19" name="Text 17"/>
          <p:cNvSpPr txBox="1"/>
          <p:nvPr/>
        </p:nvSpPr>
        <p:spPr>
          <a:xfrm>
            <a:off x="6437376" y="3721608"/>
            <a:ext cx="4690872" cy="557784"/>
          </a:xfrm>
          <a:prstGeom prst="rect">
            <a:avLst/>
          </a:prstGeom>
          <a:noFill/>
          <a:ln/>
        </p:spPr>
        <p:txBody>
          <a:bodyPr wrap="square" lIns="0" tIns="0" rIns="0" bIns="0" rtlCol="0" anchor="t">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CPU alert policy is absent / disabled.</a:t>
            </a:r>
            <a:endParaRPr lang="en-US" sz="1080" dirty="0"/>
          </a:p>
        </p:txBody>
      </p:sp>
      <p:sp>
        <p:nvSpPr>
          <p:cNvPr id="20" name="Shape 18"/>
          <p:cNvSpPr/>
          <p:nvPr/>
        </p:nvSpPr>
        <p:spPr>
          <a:xfrm>
            <a:off x="822960" y="5212080"/>
            <a:ext cx="10515600" cy="594360"/>
          </a:xfrm>
          <a:prstGeom prst="roundRect">
            <a:avLst>
              <a:gd name="adj" fmla="val 12308"/>
            </a:avLst>
          </a:prstGeom>
          <a:solidFill>
            <a:srgbClr val="FFF5E6"/>
          </a:solidFill>
          <a:ln w="10160">
            <a:solidFill>
              <a:srgbClr val="FFF5E6"/>
            </a:solidFill>
            <a:prstDash val="solid"/>
          </a:ln>
        </p:spPr>
      </p:sp>
      <p:sp>
        <p:nvSpPr>
          <p:cNvPr id="21" name="Text 19"/>
          <p:cNvSpPr txBox="1"/>
          <p:nvPr/>
        </p:nvSpPr>
        <p:spPr>
          <a:xfrm>
            <a:off x="969264" y="5285232"/>
            <a:ext cx="10222992" cy="44805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The capstone is a prioritization exercise. Do not fix whichever issue is easiest first. Restore observability, then identity, then connectivity, and only then repair storage.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CAPSTONE RESPONSE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Why the recovery order is visibility -&gt; identity -&gt; network -&gt; storage</a:t>
            </a:r>
            <a:endParaRPr lang="en-US" sz="2500" dirty="0"/>
          </a:p>
        </p:txBody>
      </p:sp>
      <p:sp>
        <p:nvSpPr>
          <p:cNvPr id="4" name="Shape 2"/>
          <p:cNvSpPr/>
          <p:nvPr/>
        </p:nvSpPr>
        <p:spPr>
          <a:xfrm>
            <a:off x="822960" y="1737360"/>
            <a:ext cx="384048" cy="256032"/>
          </a:xfrm>
          <a:prstGeom prst="roundRect">
            <a:avLst>
              <a:gd name="adj" fmla="val 28571"/>
            </a:avLst>
          </a:prstGeom>
          <a:solidFill>
            <a:srgbClr val="EAF3FC"/>
          </a:solidFill>
          <a:ln w="10160">
            <a:solidFill>
              <a:srgbClr val="EAF3FC"/>
            </a:solidFill>
            <a:prstDash val="solid"/>
          </a:ln>
        </p:spPr>
      </p:sp>
      <p:sp>
        <p:nvSpPr>
          <p:cNvPr id="5" name="Text 3"/>
          <p:cNvSpPr txBox="1"/>
          <p:nvPr/>
        </p:nvSpPr>
        <p:spPr>
          <a:xfrm>
            <a:off x="896112" y="1751076"/>
            <a:ext cx="237744"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2878C8"/>
                </a:solidFill>
                <a:latin typeface="Carlito" pitchFamily="34" charset="0"/>
                <a:ea typeface="Carlito" pitchFamily="34" charset="-122"/>
                <a:cs typeface="Carlito" pitchFamily="34" charset="-120"/>
              </a:rPr>
              <a:t>1</a:t>
            </a:r>
            <a:endParaRPr lang="en-US" sz="900" dirty="0"/>
          </a:p>
        </p:txBody>
      </p:sp>
      <p:sp>
        <p:nvSpPr>
          <p:cNvPr id="6" name="Text 4"/>
          <p:cNvSpPr txBox="1"/>
          <p:nvPr/>
        </p:nvSpPr>
        <p:spPr>
          <a:xfrm>
            <a:off x="1417320" y="1655064"/>
            <a:ext cx="23774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RESTORE VISIBILITY</a:t>
            </a:r>
            <a:endParaRPr lang="en-US" sz="1200" dirty="0"/>
          </a:p>
        </p:txBody>
      </p:sp>
      <p:sp>
        <p:nvSpPr>
          <p:cNvPr id="7" name="Text 5"/>
          <p:cNvSpPr txBox="1"/>
          <p:nvPr/>
        </p:nvSpPr>
        <p:spPr>
          <a:xfrm>
            <a:off x="3749040" y="1645920"/>
            <a:ext cx="7178040" cy="475488"/>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Re-enable CPU alert + verify channel. Without signal, responders may miss recovery progress.</a:t>
            </a:r>
            <a:endParaRPr lang="en-US" sz="1080" dirty="0"/>
          </a:p>
        </p:txBody>
      </p:sp>
      <p:sp>
        <p:nvSpPr>
          <p:cNvPr id="8" name="Shape 6"/>
          <p:cNvSpPr/>
          <p:nvPr/>
        </p:nvSpPr>
        <p:spPr>
          <a:xfrm>
            <a:off x="1417320" y="2340864"/>
            <a:ext cx="9555480" cy="0"/>
          </a:xfrm>
          <a:prstGeom prst="line">
            <a:avLst/>
          </a:prstGeom>
          <a:noFill/>
          <a:ln w="7620">
            <a:solidFill>
              <a:srgbClr val="E5EBF1"/>
            </a:solidFill>
            <a:prstDash val="solid"/>
          </a:ln>
        </p:spPr>
      </p:sp>
      <p:sp>
        <p:nvSpPr>
          <p:cNvPr id="9" name="Shape 7"/>
          <p:cNvSpPr/>
          <p:nvPr/>
        </p:nvSpPr>
        <p:spPr>
          <a:xfrm>
            <a:off x="822960" y="2761488"/>
            <a:ext cx="384048" cy="256032"/>
          </a:xfrm>
          <a:prstGeom prst="roundRect">
            <a:avLst>
              <a:gd name="adj" fmla="val 28571"/>
            </a:avLst>
          </a:prstGeom>
          <a:solidFill>
            <a:srgbClr val="F2EDFA"/>
          </a:solidFill>
          <a:ln w="10160">
            <a:solidFill>
              <a:srgbClr val="F2EDFA"/>
            </a:solidFill>
            <a:prstDash val="solid"/>
          </a:ln>
        </p:spPr>
      </p:sp>
      <p:sp>
        <p:nvSpPr>
          <p:cNvPr id="10" name="Text 8"/>
          <p:cNvSpPr txBox="1"/>
          <p:nvPr/>
        </p:nvSpPr>
        <p:spPr>
          <a:xfrm>
            <a:off x="896112" y="2775204"/>
            <a:ext cx="237744"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7654B8"/>
                </a:solidFill>
                <a:latin typeface="Carlito" pitchFamily="34" charset="0"/>
                <a:ea typeface="Carlito" pitchFamily="34" charset="-122"/>
                <a:cs typeface="Carlito" pitchFamily="34" charset="-120"/>
              </a:rPr>
              <a:t>2</a:t>
            </a:r>
            <a:endParaRPr lang="en-US" sz="900" dirty="0"/>
          </a:p>
        </p:txBody>
      </p:sp>
      <p:sp>
        <p:nvSpPr>
          <p:cNvPr id="11" name="Text 9"/>
          <p:cNvSpPr txBox="1"/>
          <p:nvPr/>
        </p:nvSpPr>
        <p:spPr>
          <a:xfrm>
            <a:off x="1417320" y="2679192"/>
            <a:ext cx="23774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RESTORE IDENTITY</a:t>
            </a:r>
            <a:endParaRPr lang="en-US" sz="1200" dirty="0"/>
          </a:p>
        </p:txBody>
      </p:sp>
      <p:sp>
        <p:nvSpPr>
          <p:cNvPr id="12" name="Text 10"/>
          <p:cNvSpPr txBox="1"/>
          <p:nvPr/>
        </p:nvSpPr>
        <p:spPr>
          <a:xfrm>
            <a:off x="3749040" y="2670048"/>
            <a:ext cx="7178040" cy="475488"/>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Restore responder Allow or remove the lab Deny, depending on the fault path. Keep operator access intact.</a:t>
            </a:r>
            <a:endParaRPr lang="en-US" sz="1080" dirty="0"/>
          </a:p>
        </p:txBody>
      </p:sp>
      <p:sp>
        <p:nvSpPr>
          <p:cNvPr id="13" name="Shape 11"/>
          <p:cNvSpPr/>
          <p:nvPr/>
        </p:nvSpPr>
        <p:spPr>
          <a:xfrm>
            <a:off x="1417320" y="3364992"/>
            <a:ext cx="9555480" cy="0"/>
          </a:xfrm>
          <a:prstGeom prst="line">
            <a:avLst/>
          </a:prstGeom>
          <a:noFill/>
          <a:ln w="7620">
            <a:solidFill>
              <a:srgbClr val="E5EBF1"/>
            </a:solidFill>
            <a:prstDash val="solid"/>
          </a:ln>
        </p:spPr>
      </p:sp>
      <p:sp>
        <p:nvSpPr>
          <p:cNvPr id="14" name="Shape 12"/>
          <p:cNvSpPr/>
          <p:nvPr/>
        </p:nvSpPr>
        <p:spPr>
          <a:xfrm>
            <a:off x="822960" y="3785616"/>
            <a:ext cx="384048" cy="256032"/>
          </a:xfrm>
          <a:prstGeom prst="roundRect">
            <a:avLst>
              <a:gd name="adj" fmla="val 28571"/>
            </a:avLst>
          </a:prstGeom>
          <a:solidFill>
            <a:srgbClr val="FDEEEE"/>
          </a:solidFill>
          <a:ln w="10160">
            <a:solidFill>
              <a:srgbClr val="FDEEEE"/>
            </a:solidFill>
            <a:prstDash val="solid"/>
          </a:ln>
        </p:spPr>
      </p:sp>
      <p:sp>
        <p:nvSpPr>
          <p:cNvPr id="15" name="Text 13"/>
          <p:cNvSpPr txBox="1"/>
          <p:nvPr/>
        </p:nvSpPr>
        <p:spPr>
          <a:xfrm>
            <a:off x="896112" y="3799332"/>
            <a:ext cx="237744"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D94F4F"/>
                </a:solidFill>
                <a:latin typeface="Carlito" pitchFamily="34" charset="0"/>
                <a:ea typeface="Carlito" pitchFamily="34" charset="-122"/>
                <a:cs typeface="Carlito" pitchFamily="34" charset="-120"/>
              </a:rPr>
              <a:t>3</a:t>
            </a:r>
            <a:endParaRPr lang="en-US" sz="900" dirty="0"/>
          </a:p>
        </p:txBody>
      </p:sp>
      <p:sp>
        <p:nvSpPr>
          <p:cNvPr id="16" name="Text 14"/>
          <p:cNvSpPr txBox="1"/>
          <p:nvPr/>
        </p:nvSpPr>
        <p:spPr>
          <a:xfrm>
            <a:off x="1417320" y="3703320"/>
            <a:ext cx="23774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RESTORE NETWORK</a:t>
            </a:r>
            <a:endParaRPr lang="en-US" sz="1200" dirty="0"/>
          </a:p>
        </p:txBody>
      </p:sp>
      <p:sp>
        <p:nvSpPr>
          <p:cNvPr id="17" name="Text 15"/>
          <p:cNvSpPr txBox="1"/>
          <p:nvPr/>
        </p:nvSpPr>
        <p:spPr>
          <a:xfrm>
            <a:off x="3749040" y="3694176"/>
            <a:ext cx="7178040" cy="475488"/>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Disable firewall Deny; prove IAP SSH succeeds again.</a:t>
            </a:r>
            <a:endParaRPr lang="en-US" sz="1080" dirty="0"/>
          </a:p>
        </p:txBody>
      </p:sp>
      <p:sp>
        <p:nvSpPr>
          <p:cNvPr id="18" name="Shape 16"/>
          <p:cNvSpPr/>
          <p:nvPr/>
        </p:nvSpPr>
        <p:spPr>
          <a:xfrm>
            <a:off x="1417320" y="4389120"/>
            <a:ext cx="9555480" cy="0"/>
          </a:xfrm>
          <a:prstGeom prst="line">
            <a:avLst/>
          </a:prstGeom>
          <a:noFill/>
          <a:ln w="7620">
            <a:solidFill>
              <a:srgbClr val="E5EBF1"/>
            </a:solidFill>
            <a:prstDash val="solid"/>
          </a:ln>
        </p:spPr>
      </p:sp>
      <p:sp>
        <p:nvSpPr>
          <p:cNvPr id="19" name="Shape 17"/>
          <p:cNvSpPr/>
          <p:nvPr/>
        </p:nvSpPr>
        <p:spPr>
          <a:xfrm>
            <a:off x="822960" y="4809744"/>
            <a:ext cx="384048" cy="256032"/>
          </a:xfrm>
          <a:prstGeom prst="roundRect">
            <a:avLst>
              <a:gd name="adj" fmla="val 28571"/>
            </a:avLst>
          </a:prstGeom>
          <a:solidFill>
            <a:srgbClr val="E9F7F0"/>
          </a:solidFill>
          <a:ln w="10160">
            <a:solidFill>
              <a:srgbClr val="E9F7F0"/>
            </a:solidFill>
            <a:prstDash val="solid"/>
          </a:ln>
        </p:spPr>
      </p:sp>
      <p:sp>
        <p:nvSpPr>
          <p:cNvPr id="20" name="Text 18"/>
          <p:cNvSpPr txBox="1"/>
          <p:nvPr/>
        </p:nvSpPr>
        <p:spPr>
          <a:xfrm>
            <a:off x="896112" y="4823460"/>
            <a:ext cx="237744" cy="219456"/>
          </a:xfrm>
          <a:prstGeom prst="rect">
            <a:avLst/>
          </a:prstGeom>
          <a:noFill/>
          <a:ln/>
        </p:spPr>
        <p:txBody>
          <a:bodyPr wrap="square" lIns="0" tIns="0" rIns="0" bIns="0" rtlCol="0" anchor="ctr">
            <a:normAutofit/>
          </a:bodyPr>
          <a:lstStyle/>
          <a:p>
            <a:pPr algn="ctr" indent="0" marL="0">
              <a:lnSpc>
                <a:spcPct val="95000"/>
              </a:lnSpc>
              <a:buNone/>
            </a:pPr>
            <a:r>
              <a:rPr lang="en-US" sz="900" b="1" dirty="0">
                <a:solidFill>
                  <a:srgbClr val="16A36A"/>
                </a:solidFill>
                <a:latin typeface="Carlito" pitchFamily="34" charset="0"/>
                <a:ea typeface="Carlito" pitchFamily="34" charset="-122"/>
                <a:cs typeface="Carlito" pitchFamily="34" charset="-120"/>
              </a:rPr>
              <a:t>4</a:t>
            </a:r>
            <a:endParaRPr lang="en-US" sz="900" dirty="0"/>
          </a:p>
        </p:txBody>
      </p:sp>
      <p:sp>
        <p:nvSpPr>
          <p:cNvPr id="21" name="Text 19"/>
          <p:cNvSpPr txBox="1"/>
          <p:nvPr/>
        </p:nvSpPr>
        <p:spPr>
          <a:xfrm>
            <a:off x="1417320" y="4727448"/>
            <a:ext cx="2377440" cy="228600"/>
          </a:xfrm>
          <a:prstGeom prst="rect">
            <a:avLst/>
          </a:prstGeom>
          <a:noFill/>
          <a:ln/>
        </p:spPr>
        <p:txBody>
          <a:bodyPr wrap="square" lIns="0" tIns="0" rIns="0" bIns="0" rtlCol="0" anchor="ctr">
            <a:normAutofit/>
          </a:bodyPr>
          <a:lstStyle/>
          <a:p>
            <a:pPr algn="l" indent="0" marL="0">
              <a:lnSpc>
                <a:spcPct val="95000"/>
              </a:lnSpc>
              <a:buNone/>
            </a:pPr>
            <a:r>
              <a:rPr lang="en-US" sz="1200" b="1" dirty="0">
                <a:solidFill>
                  <a:srgbClr val="12304A"/>
                </a:solidFill>
                <a:latin typeface="Carlito" pitchFamily="34" charset="0"/>
                <a:ea typeface="Carlito" pitchFamily="34" charset="-122"/>
                <a:cs typeface="Carlito" pitchFamily="34" charset="-120"/>
              </a:rPr>
              <a:t>RESTORE STORAGE</a:t>
            </a:r>
            <a:endParaRPr lang="en-US" sz="1200" dirty="0"/>
          </a:p>
        </p:txBody>
      </p:sp>
      <p:sp>
        <p:nvSpPr>
          <p:cNvPr id="22" name="Text 20"/>
          <p:cNvSpPr txBox="1"/>
          <p:nvPr/>
        </p:nvSpPr>
        <p:spPr>
          <a:xfrm>
            <a:off x="3749040" y="4718304"/>
            <a:ext cx="7178040" cy="475488"/>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Grow disk to 20 GB, resize filesystem, remove fill file and prove free space.</a:t>
            </a:r>
            <a:endParaRPr lang="en-US" sz="1080" dirty="0"/>
          </a:p>
        </p:txBody>
      </p:sp>
      <p:sp>
        <p:nvSpPr>
          <p:cNvPr id="23" name="Shape 21"/>
          <p:cNvSpPr/>
          <p:nvPr/>
        </p:nvSpPr>
        <p:spPr>
          <a:xfrm>
            <a:off x="822960" y="5806440"/>
            <a:ext cx="10515600" cy="411480"/>
          </a:xfrm>
          <a:prstGeom prst="roundRect">
            <a:avLst>
              <a:gd name="adj" fmla="val 17778"/>
            </a:avLst>
          </a:prstGeom>
          <a:solidFill>
            <a:srgbClr val="E9F7F0"/>
          </a:solidFill>
          <a:ln w="10160">
            <a:solidFill>
              <a:srgbClr val="E9F7F0"/>
            </a:solidFill>
            <a:prstDash val="solid"/>
          </a:ln>
        </p:spPr>
      </p:sp>
      <p:sp>
        <p:nvSpPr>
          <p:cNvPr id="24" name="Text 22"/>
          <p:cNvSpPr txBox="1"/>
          <p:nvPr/>
        </p:nvSpPr>
        <p:spPr>
          <a:xfrm>
            <a:off x="969264" y="5879592"/>
            <a:ext cx="10222992" cy="26517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Create a separate reviewed Terraform plan/apply for each stage. The evidence should show which specific change restored which service.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POST-INCIDENT REVIEW</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A PIR explains why it failed and how recurrence will be prevented</a:t>
            </a:r>
            <a:endParaRPr lang="en-US" sz="2500" dirty="0"/>
          </a:p>
        </p:txBody>
      </p:sp>
      <p:sp>
        <p:nvSpPr>
          <p:cNvPr id="4" name="Shape 2"/>
          <p:cNvSpPr/>
          <p:nvPr/>
        </p:nvSpPr>
        <p:spPr>
          <a:xfrm>
            <a:off x="731520" y="1691640"/>
            <a:ext cx="3429000" cy="1234440"/>
          </a:xfrm>
          <a:prstGeom prst="roundRect">
            <a:avLst>
              <a:gd name="adj" fmla="val 5926"/>
            </a:avLst>
          </a:prstGeom>
          <a:solidFill>
            <a:srgbClr val="FFFFFF"/>
          </a:solidFill>
          <a:ln w="10160">
            <a:solidFill>
              <a:srgbClr val="DCE3EB"/>
            </a:solidFill>
            <a:prstDash val="solid"/>
          </a:ln>
        </p:spPr>
      </p:sp>
      <p:sp>
        <p:nvSpPr>
          <p:cNvPr id="5" name="Shape 3"/>
          <p:cNvSpPr/>
          <p:nvPr/>
        </p:nvSpPr>
        <p:spPr>
          <a:xfrm>
            <a:off x="731520" y="1691640"/>
            <a:ext cx="73152" cy="1234440"/>
          </a:xfrm>
          <a:prstGeom prst="rect">
            <a:avLst>
              <a:gd name="adj" fmla="val 100000"/>
            </a:avLst>
          </a:prstGeom>
          <a:solidFill>
            <a:srgbClr val="2878C8"/>
          </a:solidFill>
          <a:ln w="10160">
            <a:solidFill>
              <a:srgbClr val="2878C8"/>
            </a:solidFill>
            <a:prstDash val="solid"/>
          </a:ln>
        </p:spPr>
      </p:sp>
      <p:sp>
        <p:nvSpPr>
          <p:cNvPr id="6" name="Text 4"/>
          <p:cNvSpPr txBox="1"/>
          <p:nvPr/>
        </p:nvSpPr>
        <p:spPr>
          <a:xfrm>
            <a:off x="93268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150" b="1" dirty="0">
                <a:solidFill>
                  <a:srgbClr val="12304A"/>
                </a:solidFill>
                <a:latin typeface="Carlito" pitchFamily="34" charset="0"/>
                <a:ea typeface="Carlito" pitchFamily="34" charset="-122"/>
                <a:cs typeface="Carlito" pitchFamily="34" charset="-120"/>
              </a:rPr>
              <a:t>INCIDENT SUMMARY</a:t>
            </a:r>
            <a:endParaRPr lang="en-US" sz="1150" dirty="0"/>
          </a:p>
        </p:txBody>
      </p:sp>
      <p:sp>
        <p:nvSpPr>
          <p:cNvPr id="7" name="Text 5"/>
          <p:cNvSpPr txBox="1"/>
          <p:nvPr/>
        </p:nvSpPr>
        <p:spPr>
          <a:xfrm>
            <a:off x="932688" y="2167128"/>
            <a:ext cx="3044952" cy="64922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Date/time, environment, service impact, detection gap</a:t>
            </a:r>
            <a:endParaRPr lang="en-US" sz="1050" dirty="0"/>
          </a:p>
        </p:txBody>
      </p:sp>
      <p:sp>
        <p:nvSpPr>
          <p:cNvPr id="8" name="Shape 6"/>
          <p:cNvSpPr/>
          <p:nvPr/>
        </p:nvSpPr>
        <p:spPr>
          <a:xfrm>
            <a:off x="4434840" y="1691640"/>
            <a:ext cx="3429000" cy="1234440"/>
          </a:xfrm>
          <a:prstGeom prst="roundRect">
            <a:avLst>
              <a:gd name="adj" fmla="val 5926"/>
            </a:avLst>
          </a:prstGeom>
          <a:solidFill>
            <a:srgbClr val="FFFFFF"/>
          </a:solidFill>
          <a:ln w="10160">
            <a:solidFill>
              <a:srgbClr val="DCE3EB"/>
            </a:solidFill>
            <a:prstDash val="solid"/>
          </a:ln>
        </p:spPr>
      </p:sp>
      <p:sp>
        <p:nvSpPr>
          <p:cNvPr id="9" name="Shape 7"/>
          <p:cNvSpPr/>
          <p:nvPr/>
        </p:nvSpPr>
        <p:spPr>
          <a:xfrm>
            <a:off x="4434840" y="1691640"/>
            <a:ext cx="73152" cy="1234440"/>
          </a:xfrm>
          <a:prstGeom prst="rect">
            <a:avLst>
              <a:gd name="adj" fmla="val 100000"/>
            </a:avLst>
          </a:prstGeom>
          <a:solidFill>
            <a:srgbClr val="0D9488"/>
          </a:solidFill>
          <a:ln w="10160">
            <a:solidFill>
              <a:srgbClr val="0D9488"/>
            </a:solidFill>
            <a:prstDash val="solid"/>
          </a:ln>
        </p:spPr>
      </p:sp>
      <p:sp>
        <p:nvSpPr>
          <p:cNvPr id="10" name="Text 8"/>
          <p:cNvSpPr txBox="1"/>
          <p:nvPr/>
        </p:nvSpPr>
        <p:spPr>
          <a:xfrm>
            <a:off x="463600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150" b="1" dirty="0">
                <a:solidFill>
                  <a:srgbClr val="12304A"/>
                </a:solidFill>
                <a:latin typeface="Carlito" pitchFamily="34" charset="0"/>
                <a:ea typeface="Carlito" pitchFamily="34" charset="-122"/>
                <a:cs typeface="Carlito" pitchFamily="34" charset="-120"/>
              </a:rPr>
              <a:t>TIMELINE</a:t>
            </a:r>
            <a:endParaRPr lang="en-US" sz="1150" dirty="0"/>
          </a:p>
        </p:txBody>
      </p:sp>
      <p:sp>
        <p:nvSpPr>
          <p:cNvPr id="11" name="Text 9"/>
          <p:cNvSpPr txBox="1"/>
          <p:nvPr/>
        </p:nvSpPr>
        <p:spPr>
          <a:xfrm>
            <a:off x="4636008" y="2167128"/>
            <a:ext cx="3044952" cy="64922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Detection -&gt; diagnosis -&gt; containment -&gt; recovery -&gt; validation</a:t>
            </a:r>
            <a:endParaRPr lang="en-US" sz="1050" dirty="0"/>
          </a:p>
        </p:txBody>
      </p:sp>
      <p:sp>
        <p:nvSpPr>
          <p:cNvPr id="12" name="Shape 10"/>
          <p:cNvSpPr/>
          <p:nvPr/>
        </p:nvSpPr>
        <p:spPr>
          <a:xfrm>
            <a:off x="8138160" y="1691640"/>
            <a:ext cx="3429000" cy="1234440"/>
          </a:xfrm>
          <a:prstGeom prst="roundRect">
            <a:avLst>
              <a:gd name="adj" fmla="val 5926"/>
            </a:avLst>
          </a:prstGeom>
          <a:solidFill>
            <a:srgbClr val="FFFFFF"/>
          </a:solidFill>
          <a:ln w="10160">
            <a:solidFill>
              <a:srgbClr val="DCE3EB"/>
            </a:solidFill>
            <a:prstDash val="solid"/>
          </a:ln>
        </p:spPr>
      </p:sp>
      <p:sp>
        <p:nvSpPr>
          <p:cNvPr id="13" name="Shape 11"/>
          <p:cNvSpPr/>
          <p:nvPr/>
        </p:nvSpPr>
        <p:spPr>
          <a:xfrm>
            <a:off x="8138160" y="1691640"/>
            <a:ext cx="73152" cy="1234440"/>
          </a:xfrm>
          <a:prstGeom prst="rect">
            <a:avLst>
              <a:gd name="adj" fmla="val 100000"/>
            </a:avLst>
          </a:prstGeom>
          <a:solidFill>
            <a:srgbClr val="D97706"/>
          </a:solidFill>
          <a:ln w="10160">
            <a:solidFill>
              <a:srgbClr val="D97706"/>
            </a:solidFill>
            <a:prstDash val="solid"/>
          </a:ln>
        </p:spPr>
      </p:sp>
      <p:sp>
        <p:nvSpPr>
          <p:cNvPr id="14" name="Text 12"/>
          <p:cNvSpPr txBox="1"/>
          <p:nvPr/>
        </p:nvSpPr>
        <p:spPr>
          <a:xfrm>
            <a:off x="8339328" y="1819656"/>
            <a:ext cx="3081528" cy="256032"/>
          </a:xfrm>
          <a:prstGeom prst="rect">
            <a:avLst/>
          </a:prstGeom>
          <a:noFill/>
          <a:ln/>
        </p:spPr>
        <p:txBody>
          <a:bodyPr wrap="square" lIns="0" tIns="0" rIns="0" bIns="0" rtlCol="0" anchor="ctr">
            <a:normAutofit/>
          </a:bodyPr>
          <a:lstStyle/>
          <a:p>
            <a:pPr algn="l" indent="0" marL="0">
              <a:lnSpc>
                <a:spcPct val="95000"/>
              </a:lnSpc>
              <a:buNone/>
            </a:pPr>
            <a:r>
              <a:rPr lang="en-US" sz="1150" b="1" dirty="0">
                <a:solidFill>
                  <a:srgbClr val="12304A"/>
                </a:solidFill>
                <a:latin typeface="Carlito" pitchFamily="34" charset="0"/>
                <a:ea typeface="Carlito" pitchFamily="34" charset="-122"/>
                <a:cs typeface="Carlito" pitchFamily="34" charset="-120"/>
              </a:rPr>
              <a:t>ROOT CAUSE</a:t>
            </a:r>
            <a:endParaRPr lang="en-US" sz="1150" dirty="0"/>
          </a:p>
        </p:txBody>
      </p:sp>
      <p:sp>
        <p:nvSpPr>
          <p:cNvPr id="15" name="Text 13"/>
          <p:cNvSpPr txBox="1"/>
          <p:nvPr/>
        </p:nvSpPr>
        <p:spPr>
          <a:xfrm>
            <a:off x="8339328" y="2167128"/>
            <a:ext cx="3044952" cy="64922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Underlying technical / process cause, not just the symptom</a:t>
            </a:r>
            <a:endParaRPr lang="en-US" sz="1050" dirty="0"/>
          </a:p>
        </p:txBody>
      </p:sp>
      <p:sp>
        <p:nvSpPr>
          <p:cNvPr id="16" name="Shape 14"/>
          <p:cNvSpPr/>
          <p:nvPr/>
        </p:nvSpPr>
        <p:spPr>
          <a:xfrm>
            <a:off x="731520" y="3291840"/>
            <a:ext cx="3429000" cy="1234440"/>
          </a:xfrm>
          <a:prstGeom prst="roundRect">
            <a:avLst>
              <a:gd name="adj" fmla="val 5926"/>
            </a:avLst>
          </a:prstGeom>
          <a:solidFill>
            <a:srgbClr val="FFFFFF"/>
          </a:solidFill>
          <a:ln w="10160">
            <a:solidFill>
              <a:srgbClr val="DCE3EB"/>
            </a:solidFill>
            <a:prstDash val="solid"/>
          </a:ln>
        </p:spPr>
      </p:sp>
      <p:sp>
        <p:nvSpPr>
          <p:cNvPr id="17" name="Shape 15"/>
          <p:cNvSpPr/>
          <p:nvPr/>
        </p:nvSpPr>
        <p:spPr>
          <a:xfrm>
            <a:off x="731520" y="3291840"/>
            <a:ext cx="73152" cy="1234440"/>
          </a:xfrm>
          <a:prstGeom prst="rect">
            <a:avLst>
              <a:gd name="adj" fmla="val 100000"/>
            </a:avLst>
          </a:prstGeom>
          <a:solidFill>
            <a:srgbClr val="D94F4F"/>
          </a:solidFill>
          <a:ln w="10160">
            <a:solidFill>
              <a:srgbClr val="D94F4F"/>
            </a:solidFill>
            <a:prstDash val="solid"/>
          </a:ln>
        </p:spPr>
      </p:sp>
      <p:sp>
        <p:nvSpPr>
          <p:cNvPr id="18" name="Text 16"/>
          <p:cNvSpPr txBox="1"/>
          <p:nvPr/>
        </p:nvSpPr>
        <p:spPr>
          <a:xfrm>
            <a:off x="932688" y="3419856"/>
            <a:ext cx="3081528" cy="256032"/>
          </a:xfrm>
          <a:prstGeom prst="rect">
            <a:avLst/>
          </a:prstGeom>
          <a:noFill/>
          <a:ln/>
        </p:spPr>
        <p:txBody>
          <a:bodyPr wrap="square" lIns="0" tIns="0" rIns="0" bIns="0" rtlCol="0" anchor="ctr">
            <a:normAutofit/>
          </a:bodyPr>
          <a:lstStyle/>
          <a:p>
            <a:pPr algn="l" indent="0" marL="0">
              <a:lnSpc>
                <a:spcPct val="95000"/>
              </a:lnSpc>
              <a:buNone/>
            </a:pPr>
            <a:r>
              <a:rPr lang="en-US" sz="1150" b="1" dirty="0">
                <a:solidFill>
                  <a:srgbClr val="12304A"/>
                </a:solidFill>
                <a:latin typeface="Carlito" pitchFamily="34" charset="0"/>
                <a:ea typeface="Carlito" pitchFamily="34" charset="-122"/>
                <a:cs typeface="Carlito" pitchFamily="34" charset="-120"/>
              </a:rPr>
              <a:t>ACTION TAKEN</a:t>
            </a:r>
            <a:endParaRPr lang="en-US" sz="1150" dirty="0"/>
          </a:p>
        </p:txBody>
      </p:sp>
      <p:sp>
        <p:nvSpPr>
          <p:cNvPr id="19" name="Text 17"/>
          <p:cNvSpPr txBox="1"/>
          <p:nvPr/>
        </p:nvSpPr>
        <p:spPr>
          <a:xfrm>
            <a:off x="932688" y="3767328"/>
            <a:ext cx="3044952" cy="64922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Exact configuration or operational change applied</a:t>
            </a:r>
            <a:endParaRPr lang="en-US" sz="1050" dirty="0"/>
          </a:p>
        </p:txBody>
      </p:sp>
      <p:sp>
        <p:nvSpPr>
          <p:cNvPr id="20" name="Shape 18"/>
          <p:cNvSpPr/>
          <p:nvPr/>
        </p:nvSpPr>
        <p:spPr>
          <a:xfrm>
            <a:off x="4434840" y="3291840"/>
            <a:ext cx="3429000" cy="1234440"/>
          </a:xfrm>
          <a:prstGeom prst="roundRect">
            <a:avLst>
              <a:gd name="adj" fmla="val 5926"/>
            </a:avLst>
          </a:prstGeom>
          <a:solidFill>
            <a:srgbClr val="FFFFFF"/>
          </a:solidFill>
          <a:ln w="10160">
            <a:solidFill>
              <a:srgbClr val="DCE3EB"/>
            </a:solidFill>
            <a:prstDash val="solid"/>
          </a:ln>
        </p:spPr>
      </p:sp>
      <p:sp>
        <p:nvSpPr>
          <p:cNvPr id="21" name="Shape 19"/>
          <p:cNvSpPr/>
          <p:nvPr/>
        </p:nvSpPr>
        <p:spPr>
          <a:xfrm>
            <a:off x="4434840" y="3291840"/>
            <a:ext cx="73152" cy="1234440"/>
          </a:xfrm>
          <a:prstGeom prst="rect">
            <a:avLst>
              <a:gd name="adj" fmla="val 100000"/>
            </a:avLst>
          </a:prstGeom>
          <a:solidFill>
            <a:srgbClr val="7654B8"/>
          </a:solidFill>
          <a:ln w="10160">
            <a:solidFill>
              <a:srgbClr val="7654B8"/>
            </a:solidFill>
            <a:prstDash val="solid"/>
          </a:ln>
        </p:spPr>
      </p:sp>
      <p:sp>
        <p:nvSpPr>
          <p:cNvPr id="22" name="Text 20"/>
          <p:cNvSpPr txBox="1"/>
          <p:nvPr/>
        </p:nvSpPr>
        <p:spPr>
          <a:xfrm>
            <a:off x="4636008" y="3419856"/>
            <a:ext cx="3081528" cy="256032"/>
          </a:xfrm>
          <a:prstGeom prst="rect">
            <a:avLst/>
          </a:prstGeom>
          <a:noFill/>
          <a:ln/>
        </p:spPr>
        <p:txBody>
          <a:bodyPr wrap="square" lIns="0" tIns="0" rIns="0" bIns="0" rtlCol="0" anchor="ctr">
            <a:normAutofit/>
          </a:bodyPr>
          <a:lstStyle/>
          <a:p>
            <a:pPr algn="l" indent="0" marL="0">
              <a:lnSpc>
                <a:spcPct val="95000"/>
              </a:lnSpc>
              <a:buNone/>
            </a:pPr>
            <a:r>
              <a:rPr lang="en-US" sz="1150" b="1" dirty="0">
                <a:solidFill>
                  <a:srgbClr val="12304A"/>
                </a:solidFill>
                <a:latin typeface="Carlito" pitchFamily="34" charset="0"/>
                <a:ea typeface="Carlito" pitchFamily="34" charset="-122"/>
                <a:cs typeface="Carlito" pitchFamily="34" charset="-120"/>
              </a:rPr>
              <a:t>PREVENTION</a:t>
            </a:r>
            <a:endParaRPr lang="en-US" sz="1150" dirty="0"/>
          </a:p>
        </p:txBody>
      </p:sp>
      <p:sp>
        <p:nvSpPr>
          <p:cNvPr id="23" name="Text 21"/>
          <p:cNvSpPr txBox="1"/>
          <p:nvPr/>
        </p:nvSpPr>
        <p:spPr>
          <a:xfrm>
            <a:off x="4636008" y="3767328"/>
            <a:ext cx="3044952" cy="64922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Guardrail, monitoring, automation, runbook or ownership change</a:t>
            </a:r>
            <a:endParaRPr lang="en-US" sz="1050" dirty="0"/>
          </a:p>
        </p:txBody>
      </p:sp>
      <p:sp>
        <p:nvSpPr>
          <p:cNvPr id="24" name="Shape 22"/>
          <p:cNvSpPr/>
          <p:nvPr/>
        </p:nvSpPr>
        <p:spPr>
          <a:xfrm>
            <a:off x="8138160" y="3291840"/>
            <a:ext cx="3429000" cy="1234440"/>
          </a:xfrm>
          <a:prstGeom prst="roundRect">
            <a:avLst>
              <a:gd name="adj" fmla="val 5926"/>
            </a:avLst>
          </a:prstGeom>
          <a:solidFill>
            <a:srgbClr val="FFFFFF"/>
          </a:solidFill>
          <a:ln w="10160">
            <a:solidFill>
              <a:srgbClr val="DCE3EB"/>
            </a:solidFill>
            <a:prstDash val="solid"/>
          </a:ln>
        </p:spPr>
      </p:sp>
      <p:sp>
        <p:nvSpPr>
          <p:cNvPr id="25" name="Shape 23"/>
          <p:cNvSpPr/>
          <p:nvPr/>
        </p:nvSpPr>
        <p:spPr>
          <a:xfrm>
            <a:off x="8138160" y="3291840"/>
            <a:ext cx="73152" cy="1234440"/>
          </a:xfrm>
          <a:prstGeom prst="rect">
            <a:avLst>
              <a:gd name="adj" fmla="val 100000"/>
            </a:avLst>
          </a:prstGeom>
          <a:solidFill>
            <a:srgbClr val="16A36A"/>
          </a:solidFill>
          <a:ln w="10160">
            <a:solidFill>
              <a:srgbClr val="16A36A"/>
            </a:solidFill>
            <a:prstDash val="solid"/>
          </a:ln>
        </p:spPr>
      </p:sp>
      <p:sp>
        <p:nvSpPr>
          <p:cNvPr id="26" name="Text 24"/>
          <p:cNvSpPr txBox="1"/>
          <p:nvPr/>
        </p:nvSpPr>
        <p:spPr>
          <a:xfrm>
            <a:off x="8339328" y="3419856"/>
            <a:ext cx="3081528" cy="256032"/>
          </a:xfrm>
          <a:prstGeom prst="rect">
            <a:avLst/>
          </a:prstGeom>
          <a:noFill/>
          <a:ln/>
        </p:spPr>
        <p:txBody>
          <a:bodyPr wrap="square" lIns="0" tIns="0" rIns="0" bIns="0" rtlCol="0" anchor="ctr">
            <a:normAutofit/>
          </a:bodyPr>
          <a:lstStyle/>
          <a:p>
            <a:pPr algn="l" indent="0" marL="0">
              <a:lnSpc>
                <a:spcPct val="95000"/>
              </a:lnSpc>
              <a:buNone/>
            </a:pPr>
            <a:r>
              <a:rPr lang="en-US" sz="1150" b="1" dirty="0">
                <a:solidFill>
                  <a:srgbClr val="12304A"/>
                </a:solidFill>
                <a:latin typeface="Carlito" pitchFamily="34" charset="0"/>
                <a:ea typeface="Carlito" pitchFamily="34" charset="-122"/>
                <a:cs typeface="Carlito" pitchFamily="34" charset="-120"/>
              </a:rPr>
              <a:t>FOLLOW-UP</a:t>
            </a:r>
            <a:endParaRPr lang="en-US" sz="1150" dirty="0"/>
          </a:p>
        </p:txBody>
      </p:sp>
      <p:sp>
        <p:nvSpPr>
          <p:cNvPr id="27" name="Text 25"/>
          <p:cNvSpPr txBox="1"/>
          <p:nvPr/>
        </p:nvSpPr>
        <p:spPr>
          <a:xfrm>
            <a:off x="8339328" y="3767328"/>
            <a:ext cx="3044952" cy="649224"/>
          </a:xfrm>
          <a:prstGeom prst="rect">
            <a:avLst/>
          </a:prstGeom>
          <a:noFill/>
          <a:ln/>
        </p:spPr>
        <p:txBody>
          <a:bodyPr wrap="square" lIns="0" tIns="0" rIns="0" bIns="0" rtlCol="0" anchor="t">
            <a:normAutofit/>
          </a:bodyPr>
          <a:lstStyle/>
          <a:p>
            <a:pPr algn="l" indent="0" marL="0">
              <a:lnSpc>
                <a:spcPct val="95000"/>
              </a:lnSpc>
              <a:buNone/>
            </a:pPr>
            <a:r>
              <a:rPr lang="en-US" sz="1050" dirty="0">
                <a:solidFill>
                  <a:srgbClr val="203040"/>
                </a:solidFill>
                <a:latin typeface="Carlito" pitchFamily="34" charset="0"/>
                <a:ea typeface="Carlito" pitchFamily="34" charset="-122"/>
                <a:cs typeface="Carlito" pitchFamily="34" charset="-120"/>
              </a:rPr>
              <a:t>Owner, due date, residual risk and validation status</a:t>
            </a:r>
            <a:endParaRPr lang="en-US" sz="1050" dirty="0"/>
          </a:p>
        </p:txBody>
      </p:sp>
      <p:sp>
        <p:nvSpPr>
          <p:cNvPr id="28" name="Shape 26"/>
          <p:cNvSpPr/>
          <p:nvPr/>
        </p:nvSpPr>
        <p:spPr>
          <a:xfrm>
            <a:off x="822960" y="5349240"/>
            <a:ext cx="10515600" cy="594360"/>
          </a:xfrm>
          <a:prstGeom prst="roundRect">
            <a:avLst>
              <a:gd name="adj" fmla="val 12308"/>
            </a:avLst>
          </a:prstGeom>
          <a:solidFill>
            <a:srgbClr val="FDEEEE"/>
          </a:solidFill>
          <a:ln w="10160">
            <a:solidFill>
              <a:srgbClr val="FDEEEE"/>
            </a:solidFill>
            <a:prstDash val="solid"/>
          </a:ln>
        </p:spPr>
      </p:sp>
      <p:sp>
        <p:nvSpPr>
          <p:cNvPr id="29" name="Text 27"/>
          <p:cNvSpPr txBox="1"/>
          <p:nvPr/>
        </p:nvSpPr>
        <p:spPr>
          <a:xfrm>
            <a:off x="969264" y="5422392"/>
            <a:ext cx="10222992" cy="44805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4F4F"/>
                </a:solidFill>
                <a:latin typeface="Carlito" pitchFamily="34" charset="0"/>
                <a:ea typeface="Carlito" pitchFamily="34" charset="-122"/>
                <a:cs typeface="Carlito" pitchFamily="34" charset="-120"/>
              </a:rPr>
              <a:t>Identity distinction matters: record whether the exercise used a real IAM Deny policy that overrides an Allow, or the fallback that removed the responder Allow role. These are not the same proof.</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LAB OPERATIONS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Day 5 to Day 6 handoff: close one state before starting the next</a:t>
            </a:r>
            <a:endParaRPr lang="en-US" sz="2500" dirty="0"/>
          </a:p>
        </p:txBody>
      </p:sp>
      <p:sp>
        <p:nvSpPr>
          <p:cNvPr id="4" name="Shape 2"/>
          <p:cNvSpPr/>
          <p:nvPr/>
        </p:nvSpPr>
        <p:spPr>
          <a:xfrm>
            <a:off x="731520" y="1691640"/>
            <a:ext cx="5120640" cy="603504"/>
          </a:xfrm>
          <a:prstGeom prst="roundRect">
            <a:avLst>
              <a:gd name="adj" fmla="val 12121"/>
            </a:avLst>
          </a:prstGeom>
          <a:solidFill>
            <a:srgbClr val="EAF3FC"/>
          </a:solidFill>
          <a:ln w="10160">
            <a:solidFill>
              <a:srgbClr val="DCE3EB"/>
            </a:solidFill>
            <a:prstDash val="solid"/>
          </a:ln>
        </p:spPr>
      </p:sp>
      <p:sp>
        <p:nvSpPr>
          <p:cNvPr id="5" name="Text 3"/>
          <p:cNvSpPr txBox="1"/>
          <p:nvPr/>
        </p:nvSpPr>
        <p:spPr>
          <a:xfrm>
            <a:off x="868680" y="1847088"/>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2878C8"/>
                </a:solidFill>
                <a:latin typeface="Carlito" pitchFamily="34" charset="0"/>
                <a:ea typeface="Carlito" pitchFamily="34" charset="-122"/>
                <a:cs typeface="Carlito" pitchFamily="34" charset="-120"/>
              </a:rPr>
              <a:t>DAY 5</a:t>
            </a:r>
            <a:endParaRPr lang="en-US" sz="1100" dirty="0"/>
          </a:p>
        </p:txBody>
      </p:sp>
      <p:sp>
        <p:nvSpPr>
          <p:cNvPr id="6" name="Text 4"/>
          <p:cNvSpPr txBox="1"/>
          <p:nvPr/>
        </p:nvSpPr>
        <p:spPr>
          <a:xfrm>
            <a:off x="2011680" y="1819656"/>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~/gcp-day5-lab</a:t>
            </a:r>
            <a:endParaRPr lang="en-US" sz="1080" dirty="0"/>
          </a:p>
        </p:txBody>
      </p:sp>
      <p:sp>
        <p:nvSpPr>
          <p:cNvPr id="7" name="Shape 5"/>
          <p:cNvSpPr/>
          <p:nvPr/>
        </p:nvSpPr>
        <p:spPr>
          <a:xfrm>
            <a:off x="731520" y="2532888"/>
            <a:ext cx="5120640" cy="603504"/>
          </a:xfrm>
          <a:prstGeom prst="roundRect">
            <a:avLst>
              <a:gd name="adj" fmla="val 12121"/>
            </a:avLst>
          </a:prstGeom>
          <a:solidFill>
            <a:srgbClr val="EAF3FC"/>
          </a:solidFill>
          <a:ln w="10160">
            <a:solidFill>
              <a:srgbClr val="DCE3EB"/>
            </a:solidFill>
            <a:prstDash val="solid"/>
          </a:ln>
        </p:spPr>
      </p:sp>
      <p:sp>
        <p:nvSpPr>
          <p:cNvPr id="8" name="Text 6"/>
          <p:cNvSpPr txBox="1"/>
          <p:nvPr/>
        </p:nvSpPr>
        <p:spPr>
          <a:xfrm>
            <a:off x="868680" y="2688336"/>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2878C8"/>
                </a:solidFill>
                <a:latin typeface="Carlito" pitchFamily="34" charset="0"/>
                <a:ea typeface="Carlito" pitchFamily="34" charset="-122"/>
                <a:cs typeface="Carlito" pitchFamily="34" charset="-120"/>
              </a:rPr>
              <a:t>CHECK</a:t>
            </a:r>
            <a:endParaRPr lang="en-US" sz="1100" dirty="0"/>
          </a:p>
        </p:txBody>
      </p:sp>
      <p:sp>
        <p:nvSpPr>
          <p:cNvPr id="9" name="Text 7"/>
          <p:cNvSpPr txBox="1"/>
          <p:nvPr/>
        </p:nvSpPr>
        <p:spPr>
          <a:xfrm>
            <a:off x="2011680" y="2660904"/>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workspace, outputs, state list</a:t>
            </a:r>
            <a:endParaRPr lang="en-US" sz="1080" dirty="0"/>
          </a:p>
        </p:txBody>
      </p:sp>
      <p:sp>
        <p:nvSpPr>
          <p:cNvPr id="10" name="Shape 8"/>
          <p:cNvSpPr/>
          <p:nvPr/>
        </p:nvSpPr>
        <p:spPr>
          <a:xfrm>
            <a:off x="731520" y="3374136"/>
            <a:ext cx="5120640" cy="603504"/>
          </a:xfrm>
          <a:prstGeom prst="roundRect">
            <a:avLst>
              <a:gd name="adj" fmla="val 12121"/>
            </a:avLst>
          </a:prstGeom>
          <a:solidFill>
            <a:srgbClr val="EAF3FC"/>
          </a:solidFill>
          <a:ln w="10160">
            <a:solidFill>
              <a:srgbClr val="DCE3EB"/>
            </a:solidFill>
            <a:prstDash val="solid"/>
          </a:ln>
        </p:spPr>
      </p:sp>
      <p:sp>
        <p:nvSpPr>
          <p:cNvPr id="11" name="Text 9"/>
          <p:cNvSpPr txBox="1"/>
          <p:nvPr/>
        </p:nvSpPr>
        <p:spPr>
          <a:xfrm>
            <a:off x="868680" y="3529584"/>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2878C8"/>
                </a:solidFill>
                <a:latin typeface="Carlito" pitchFamily="34" charset="0"/>
                <a:ea typeface="Carlito" pitchFamily="34" charset="-122"/>
                <a:cs typeface="Carlito" pitchFamily="34" charset="-120"/>
              </a:rPr>
              <a:t>DESTROY</a:t>
            </a:r>
            <a:endParaRPr lang="en-US" sz="1100" dirty="0"/>
          </a:p>
        </p:txBody>
      </p:sp>
      <p:sp>
        <p:nvSpPr>
          <p:cNvPr id="12" name="Text 10"/>
          <p:cNvSpPr txBox="1"/>
          <p:nvPr/>
        </p:nvSpPr>
        <p:spPr>
          <a:xfrm>
            <a:off x="2011680" y="3502152"/>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review plan -destroy; apply saved plan</a:t>
            </a:r>
            <a:endParaRPr lang="en-US" sz="1080" dirty="0"/>
          </a:p>
        </p:txBody>
      </p:sp>
      <p:sp>
        <p:nvSpPr>
          <p:cNvPr id="13" name="Shape 11"/>
          <p:cNvSpPr/>
          <p:nvPr/>
        </p:nvSpPr>
        <p:spPr>
          <a:xfrm>
            <a:off x="731520" y="4215384"/>
            <a:ext cx="5120640" cy="603504"/>
          </a:xfrm>
          <a:prstGeom prst="roundRect">
            <a:avLst>
              <a:gd name="adj" fmla="val 12121"/>
            </a:avLst>
          </a:prstGeom>
          <a:solidFill>
            <a:srgbClr val="EAF3FC"/>
          </a:solidFill>
          <a:ln w="10160">
            <a:solidFill>
              <a:srgbClr val="DCE3EB"/>
            </a:solidFill>
            <a:prstDash val="solid"/>
          </a:ln>
        </p:spPr>
      </p:sp>
      <p:sp>
        <p:nvSpPr>
          <p:cNvPr id="14" name="Text 12"/>
          <p:cNvSpPr txBox="1"/>
          <p:nvPr/>
        </p:nvSpPr>
        <p:spPr>
          <a:xfrm>
            <a:off x="868680" y="4370832"/>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2878C8"/>
                </a:solidFill>
                <a:latin typeface="Carlito" pitchFamily="34" charset="0"/>
                <a:ea typeface="Carlito" pitchFamily="34" charset="-122"/>
                <a:cs typeface="Carlito" pitchFamily="34" charset="-120"/>
              </a:rPr>
              <a:t>VERIFY</a:t>
            </a:r>
            <a:endParaRPr lang="en-US" sz="1100" dirty="0"/>
          </a:p>
        </p:txBody>
      </p:sp>
      <p:sp>
        <p:nvSpPr>
          <p:cNvPr id="15" name="Text 13"/>
          <p:cNvSpPr txBox="1"/>
          <p:nvPr/>
        </p:nvSpPr>
        <p:spPr>
          <a:xfrm>
            <a:off x="2011680" y="4343400"/>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state empty + live CLI / Console inventory</a:t>
            </a:r>
            <a:endParaRPr lang="en-US" sz="1080" dirty="0"/>
          </a:p>
        </p:txBody>
      </p:sp>
      <p:sp>
        <p:nvSpPr>
          <p:cNvPr id="16" name="Shape 14"/>
          <p:cNvSpPr/>
          <p:nvPr/>
        </p:nvSpPr>
        <p:spPr>
          <a:xfrm>
            <a:off x="6309360" y="1691640"/>
            <a:ext cx="5120640" cy="603504"/>
          </a:xfrm>
          <a:prstGeom prst="roundRect">
            <a:avLst>
              <a:gd name="adj" fmla="val 12121"/>
            </a:avLst>
          </a:prstGeom>
          <a:solidFill>
            <a:srgbClr val="E7F6F4"/>
          </a:solidFill>
          <a:ln w="10160">
            <a:solidFill>
              <a:srgbClr val="DCE3EB"/>
            </a:solidFill>
            <a:prstDash val="solid"/>
          </a:ln>
        </p:spPr>
      </p:sp>
      <p:sp>
        <p:nvSpPr>
          <p:cNvPr id="17" name="Text 15"/>
          <p:cNvSpPr txBox="1"/>
          <p:nvPr/>
        </p:nvSpPr>
        <p:spPr>
          <a:xfrm>
            <a:off x="6446520" y="1847088"/>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0D9488"/>
                </a:solidFill>
                <a:latin typeface="Carlito" pitchFamily="34" charset="0"/>
                <a:ea typeface="Carlito" pitchFamily="34" charset="-122"/>
                <a:cs typeface="Carlito" pitchFamily="34" charset="-120"/>
              </a:rPr>
              <a:t>DAY 6</a:t>
            </a:r>
            <a:endParaRPr lang="en-US" sz="1100" dirty="0"/>
          </a:p>
        </p:txBody>
      </p:sp>
      <p:sp>
        <p:nvSpPr>
          <p:cNvPr id="18" name="Text 16"/>
          <p:cNvSpPr txBox="1"/>
          <p:nvPr/>
        </p:nvSpPr>
        <p:spPr>
          <a:xfrm>
            <a:off x="7589520" y="1819656"/>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~/gcp-day6-lab</a:t>
            </a:r>
            <a:endParaRPr lang="en-US" sz="1080" dirty="0"/>
          </a:p>
        </p:txBody>
      </p:sp>
      <p:sp>
        <p:nvSpPr>
          <p:cNvPr id="19" name="Shape 17"/>
          <p:cNvSpPr/>
          <p:nvPr/>
        </p:nvSpPr>
        <p:spPr>
          <a:xfrm>
            <a:off x="6309360" y="2532888"/>
            <a:ext cx="5120640" cy="603504"/>
          </a:xfrm>
          <a:prstGeom prst="roundRect">
            <a:avLst>
              <a:gd name="adj" fmla="val 12121"/>
            </a:avLst>
          </a:prstGeom>
          <a:solidFill>
            <a:srgbClr val="E7F6F4"/>
          </a:solidFill>
          <a:ln w="10160">
            <a:solidFill>
              <a:srgbClr val="DCE3EB"/>
            </a:solidFill>
            <a:prstDash val="solid"/>
          </a:ln>
        </p:spPr>
      </p:sp>
      <p:sp>
        <p:nvSpPr>
          <p:cNvPr id="20" name="Text 18"/>
          <p:cNvSpPr txBox="1"/>
          <p:nvPr/>
        </p:nvSpPr>
        <p:spPr>
          <a:xfrm>
            <a:off x="6446520" y="2688336"/>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0D9488"/>
                </a:solidFill>
                <a:latin typeface="Carlito" pitchFamily="34" charset="0"/>
                <a:ea typeface="Carlito" pitchFamily="34" charset="-122"/>
                <a:cs typeface="Carlito" pitchFamily="34" charset="-120"/>
              </a:rPr>
              <a:t>ISOLATE</a:t>
            </a:r>
            <a:endParaRPr lang="en-US" sz="1100" dirty="0"/>
          </a:p>
        </p:txBody>
      </p:sp>
      <p:sp>
        <p:nvSpPr>
          <p:cNvPr id="21" name="Text 19"/>
          <p:cNvSpPr txBox="1"/>
          <p:nvPr/>
        </p:nvSpPr>
        <p:spPr>
          <a:xfrm>
            <a:off x="7589520" y="2660904"/>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new directory, state, lock file</a:t>
            </a:r>
            <a:endParaRPr lang="en-US" sz="1080" dirty="0"/>
          </a:p>
        </p:txBody>
      </p:sp>
      <p:sp>
        <p:nvSpPr>
          <p:cNvPr id="22" name="Shape 20"/>
          <p:cNvSpPr/>
          <p:nvPr/>
        </p:nvSpPr>
        <p:spPr>
          <a:xfrm>
            <a:off x="6309360" y="3374136"/>
            <a:ext cx="5120640" cy="603504"/>
          </a:xfrm>
          <a:prstGeom prst="roundRect">
            <a:avLst>
              <a:gd name="adj" fmla="val 12121"/>
            </a:avLst>
          </a:prstGeom>
          <a:solidFill>
            <a:srgbClr val="E7F6F4"/>
          </a:solidFill>
          <a:ln w="10160">
            <a:solidFill>
              <a:srgbClr val="DCE3EB"/>
            </a:solidFill>
            <a:prstDash val="solid"/>
          </a:ln>
        </p:spPr>
      </p:sp>
      <p:sp>
        <p:nvSpPr>
          <p:cNvPr id="23" name="Text 21"/>
          <p:cNvSpPr txBox="1"/>
          <p:nvPr/>
        </p:nvSpPr>
        <p:spPr>
          <a:xfrm>
            <a:off x="6446520" y="3529584"/>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0D9488"/>
                </a:solidFill>
                <a:latin typeface="Carlito" pitchFamily="34" charset="0"/>
                <a:ea typeface="Carlito" pitchFamily="34" charset="-122"/>
                <a:cs typeface="Carlito" pitchFamily="34" charset="-120"/>
              </a:rPr>
              <a:t>GATE</a:t>
            </a:r>
            <a:endParaRPr lang="en-US" sz="1100" dirty="0"/>
          </a:p>
        </p:txBody>
      </p:sp>
      <p:sp>
        <p:nvSpPr>
          <p:cNvPr id="24" name="Text 22"/>
          <p:cNvSpPr txBox="1"/>
          <p:nvPr/>
        </p:nvSpPr>
        <p:spPr>
          <a:xfrm>
            <a:off x="7589520" y="3502152"/>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transition script + matching project</a:t>
            </a:r>
            <a:endParaRPr lang="en-US" sz="1080" dirty="0"/>
          </a:p>
        </p:txBody>
      </p:sp>
      <p:sp>
        <p:nvSpPr>
          <p:cNvPr id="25" name="Shape 23"/>
          <p:cNvSpPr/>
          <p:nvPr/>
        </p:nvSpPr>
        <p:spPr>
          <a:xfrm>
            <a:off x="6309360" y="4215384"/>
            <a:ext cx="5120640" cy="603504"/>
          </a:xfrm>
          <a:prstGeom prst="roundRect">
            <a:avLst>
              <a:gd name="adj" fmla="val 12121"/>
            </a:avLst>
          </a:prstGeom>
          <a:solidFill>
            <a:srgbClr val="E7F6F4"/>
          </a:solidFill>
          <a:ln w="10160">
            <a:solidFill>
              <a:srgbClr val="DCE3EB"/>
            </a:solidFill>
            <a:prstDash val="solid"/>
          </a:ln>
        </p:spPr>
      </p:sp>
      <p:sp>
        <p:nvSpPr>
          <p:cNvPr id="26" name="Text 24"/>
          <p:cNvSpPr txBox="1"/>
          <p:nvPr/>
        </p:nvSpPr>
        <p:spPr>
          <a:xfrm>
            <a:off x="6446520" y="4370832"/>
            <a:ext cx="1097280" cy="201168"/>
          </a:xfrm>
          <a:prstGeom prst="rect">
            <a:avLst/>
          </a:prstGeom>
          <a:noFill/>
          <a:ln/>
        </p:spPr>
        <p:txBody>
          <a:bodyPr wrap="square" lIns="0" tIns="0" rIns="0" bIns="0" rtlCol="0" anchor="ctr">
            <a:normAutofit/>
          </a:bodyPr>
          <a:lstStyle/>
          <a:p>
            <a:pPr algn="l" indent="0" marL="0">
              <a:lnSpc>
                <a:spcPct val="95000"/>
              </a:lnSpc>
              <a:buNone/>
            </a:pPr>
            <a:r>
              <a:rPr lang="en-US" sz="1100" b="1" dirty="0">
                <a:solidFill>
                  <a:srgbClr val="0D9488"/>
                </a:solidFill>
                <a:latin typeface="Carlito" pitchFamily="34" charset="0"/>
                <a:ea typeface="Carlito" pitchFamily="34" charset="-122"/>
                <a:cs typeface="Carlito" pitchFamily="34" charset="-120"/>
              </a:rPr>
              <a:t>DEPLOY</a:t>
            </a:r>
            <a:endParaRPr lang="en-US" sz="1100" dirty="0"/>
          </a:p>
        </p:txBody>
      </p:sp>
      <p:sp>
        <p:nvSpPr>
          <p:cNvPr id="27" name="Text 25"/>
          <p:cNvSpPr txBox="1"/>
          <p:nvPr/>
        </p:nvSpPr>
        <p:spPr>
          <a:xfrm>
            <a:off x="7589520" y="4343400"/>
            <a:ext cx="3657600" cy="274320"/>
          </a:xfrm>
          <a:prstGeom prst="rect">
            <a:avLst/>
          </a:prstGeom>
          <a:noFill/>
          <a:ln/>
        </p:spPr>
        <p:txBody>
          <a:bodyPr wrap="square" lIns="0" tIns="0" rIns="0" bIns="0" rtlCol="0" anchor="ctr">
            <a:normAutofit/>
          </a:bodyPr>
          <a:lstStyle/>
          <a:p>
            <a:pPr algn="l" indent="0" marL="0">
              <a:lnSpc>
                <a:spcPct val="95000"/>
              </a:lnSpc>
              <a:buNone/>
            </a:pPr>
            <a:r>
              <a:rPr lang="en-US" sz="1080" dirty="0">
                <a:solidFill>
                  <a:srgbClr val="203040"/>
                </a:solidFill>
                <a:latin typeface="Carlito" pitchFamily="34" charset="0"/>
                <a:ea typeface="Carlito" pitchFamily="34" charset="-122"/>
                <a:cs typeface="Carlito" pitchFamily="34" charset="-120"/>
              </a:rPr>
              <a:t>init, validate, plan, inspect, apply</a:t>
            </a:r>
            <a:endParaRPr lang="en-US" sz="1080" dirty="0"/>
          </a:p>
        </p:txBody>
      </p:sp>
      <p:sp>
        <p:nvSpPr>
          <p:cNvPr id="28" name="Shape 26"/>
          <p:cNvSpPr/>
          <p:nvPr/>
        </p:nvSpPr>
        <p:spPr>
          <a:xfrm>
            <a:off x="822960" y="5440680"/>
            <a:ext cx="10515600" cy="594360"/>
          </a:xfrm>
          <a:prstGeom prst="roundRect">
            <a:avLst>
              <a:gd name="adj" fmla="val 12308"/>
            </a:avLst>
          </a:prstGeom>
          <a:solidFill>
            <a:srgbClr val="FFF5E6"/>
          </a:solidFill>
          <a:ln w="10160">
            <a:solidFill>
              <a:srgbClr val="FFF5E6"/>
            </a:solidFill>
            <a:prstDash val="solid"/>
          </a:ln>
        </p:spPr>
      </p:sp>
      <p:sp>
        <p:nvSpPr>
          <p:cNvPr id="29" name="Text 27"/>
          <p:cNvSpPr txBox="1"/>
          <p:nvPr/>
        </p:nvSpPr>
        <p:spPr>
          <a:xfrm>
            <a:off x="969264" y="5513832"/>
            <a:ext cx="10222992" cy="44805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Terraform destroy affects only the selected root module, workspace/backend and state. It does not clean manually created resources or unrelated project assets. Do not delete state files to simulate cleanup.</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TROUBLESHOOTING</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Common symptoms and the right first check</a:t>
            </a:r>
            <a:endParaRPr lang="en-US" sz="2500" dirty="0"/>
          </a:p>
        </p:txBody>
      </p:sp>
      <p:sp>
        <p:nvSpPr>
          <p:cNvPr id="4" name="Shape 2"/>
          <p:cNvSpPr/>
          <p:nvPr/>
        </p:nvSpPr>
        <p:spPr>
          <a:xfrm>
            <a:off x="594360" y="1554480"/>
            <a:ext cx="2084832" cy="384048"/>
          </a:xfrm>
          <a:prstGeom prst="rect">
            <a:avLst/>
          </a:prstGeom>
          <a:solidFill>
            <a:srgbClr val="12304A"/>
          </a:solidFill>
          <a:ln w="6350">
            <a:solidFill>
              <a:srgbClr val="D5DEE8"/>
            </a:solidFill>
            <a:prstDash val="solid"/>
          </a:ln>
        </p:spPr>
      </p:sp>
      <p:sp>
        <p:nvSpPr>
          <p:cNvPr id="5" name="Text 3"/>
          <p:cNvSpPr txBox="1"/>
          <p:nvPr/>
        </p:nvSpPr>
        <p:spPr>
          <a:xfrm>
            <a:off x="658368" y="1591056"/>
            <a:ext cx="1956816"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SYMPTOM</a:t>
            </a:r>
            <a:endParaRPr lang="en-US" sz="950" dirty="0"/>
          </a:p>
        </p:txBody>
      </p:sp>
      <p:sp>
        <p:nvSpPr>
          <p:cNvPr id="6" name="Shape 4"/>
          <p:cNvSpPr/>
          <p:nvPr/>
        </p:nvSpPr>
        <p:spPr>
          <a:xfrm>
            <a:off x="2679192" y="1554480"/>
            <a:ext cx="4279392" cy="384048"/>
          </a:xfrm>
          <a:prstGeom prst="rect">
            <a:avLst/>
          </a:prstGeom>
          <a:solidFill>
            <a:srgbClr val="12304A"/>
          </a:solidFill>
          <a:ln w="6350">
            <a:solidFill>
              <a:srgbClr val="D5DEE8"/>
            </a:solidFill>
            <a:prstDash val="solid"/>
          </a:ln>
        </p:spPr>
      </p:sp>
      <p:sp>
        <p:nvSpPr>
          <p:cNvPr id="7" name="Text 5"/>
          <p:cNvSpPr txBox="1"/>
          <p:nvPr/>
        </p:nvSpPr>
        <p:spPr>
          <a:xfrm>
            <a:off x="2743200" y="1591056"/>
            <a:ext cx="4151376"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LIKELY CHECK</a:t>
            </a:r>
            <a:endParaRPr lang="en-US" sz="950" dirty="0"/>
          </a:p>
        </p:txBody>
      </p:sp>
      <p:sp>
        <p:nvSpPr>
          <p:cNvPr id="8" name="Shape 6"/>
          <p:cNvSpPr/>
          <p:nvPr/>
        </p:nvSpPr>
        <p:spPr>
          <a:xfrm>
            <a:off x="6958584" y="1554480"/>
            <a:ext cx="4608576" cy="384048"/>
          </a:xfrm>
          <a:prstGeom prst="rect">
            <a:avLst/>
          </a:prstGeom>
          <a:solidFill>
            <a:srgbClr val="12304A"/>
          </a:solidFill>
          <a:ln w="6350">
            <a:solidFill>
              <a:srgbClr val="D5DEE8"/>
            </a:solidFill>
            <a:prstDash val="solid"/>
          </a:ln>
        </p:spPr>
      </p:sp>
      <p:sp>
        <p:nvSpPr>
          <p:cNvPr id="9" name="Text 7"/>
          <p:cNvSpPr txBox="1"/>
          <p:nvPr/>
        </p:nvSpPr>
        <p:spPr>
          <a:xfrm>
            <a:off x="7022592" y="1591056"/>
            <a:ext cx="4480560"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SAFE RESPONSE</a:t>
            </a:r>
            <a:endParaRPr lang="en-US" sz="950" dirty="0"/>
          </a:p>
        </p:txBody>
      </p:sp>
      <p:sp>
        <p:nvSpPr>
          <p:cNvPr id="10" name="Shape 8"/>
          <p:cNvSpPr/>
          <p:nvPr/>
        </p:nvSpPr>
        <p:spPr>
          <a:xfrm>
            <a:off x="594360" y="1938528"/>
            <a:ext cx="2084832" cy="644652"/>
          </a:xfrm>
          <a:prstGeom prst="rect">
            <a:avLst/>
          </a:prstGeom>
          <a:solidFill>
            <a:srgbClr val="FFFFFF"/>
          </a:solidFill>
          <a:ln w="6350">
            <a:solidFill>
              <a:srgbClr val="D5DEE8"/>
            </a:solidFill>
            <a:prstDash val="solid"/>
          </a:ln>
        </p:spPr>
      </p:sp>
      <p:sp>
        <p:nvSpPr>
          <p:cNvPr id="11" name="Text 9"/>
          <p:cNvSpPr txBox="1"/>
          <p:nvPr/>
        </p:nvSpPr>
        <p:spPr>
          <a:xfrm>
            <a:off x="658368" y="1975104"/>
            <a:ext cx="195681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409 AlreadyExists</a:t>
            </a:r>
            <a:endParaRPr lang="en-US" sz="920" dirty="0"/>
          </a:p>
        </p:txBody>
      </p:sp>
      <p:sp>
        <p:nvSpPr>
          <p:cNvPr id="12" name="Shape 10"/>
          <p:cNvSpPr/>
          <p:nvPr/>
        </p:nvSpPr>
        <p:spPr>
          <a:xfrm>
            <a:off x="2679192" y="1938528"/>
            <a:ext cx="4279392" cy="644652"/>
          </a:xfrm>
          <a:prstGeom prst="rect">
            <a:avLst/>
          </a:prstGeom>
          <a:solidFill>
            <a:srgbClr val="FFFFFF"/>
          </a:solidFill>
          <a:ln w="6350">
            <a:solidFill>
              <a:srgbClr val="D5DEE8"/>
            </a:solidFill>
            <a:prstDash val="solid"/>
          </a:ln>
        </p:spPr>
      </p:sp>
      <p:sp>
        <p:nvSpPr>
          <p:cNvPr id="13" name="Text 11"/>
          <p:cNvSpPr txBox="1"/>
          <p:nvPr/>
        </p:nvSpPr>
        <p:spPr>
          <a:xfrm>
            <a:off x="2743200" y="1975104"/>
            <a:ext cx="415137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Remote resource exists but current state does not track it.</a:t>
            </a:r>
            <a:endParaRPr lang="en-US" sz="920" dirty="0"/>
          </a:p>
        </p:txBody>
      </p:sp>
      <p:sp>
        <p:nvSpPr>
          <p:cNvPr id="14" name="Shape 12"/>
          <p:cNvSpPr/>
          <p:nvPr/>
        </p:nvSpPr>
        <p:spPr>
          <a:xfrm>
            <a:off x="6958584" y="1938528"/>
            <a:ext cx="4608576" cy="644652"/>
          </a:xfrm>
          <a:prstGeom prst="rect">
            <a:avLst/>
          </a:prstGeom>
          <a:solidFill>
            <a:srgbClr val="FFFFFF"/>
          </a:solidFill>
          <a:ln w="6350">
            <a:solidFill>
              <a:srgbClr val="D5DEE8"/>
            </a:solidFill>
            <a:prstDash val="solid"/>
          </a:ln>
        </p:spPr>
      </p:sp>
      <p:sp>
        <p:nvSpPr>
          <p:cNvPr id="15" name="Text 13"/>
          <p:cNvSpPr txBox="1"/>
          <p:nvPr/>
        </p:nvSpPr>
        <p:spPr>
          <a:xfrm>
            <a:off x="7022592" y="1975104"/>
            <a:ext cx="4480560"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Stop; back up state; verify exact ID/address; import only after review.</a:t>
            </a:r>
            <a:endParaRPr lang="en-US" sz="920" dirty="0"/>
          </a:p>
        </p:txBody>
      </p:sp>
      <p:sp>
        <p:nvSpPr>
          <p:cNvPr id="16" name="Shape 14"/>
          <p:cNvSpPr/>
          <p:nvPr/>
        </p:nvSpPr>
        <p:spPr>
          <a:xfrm>
            <a:off x="594360" y="2583180"/>
            <a:ext cx="2084832" cy="644652"/>
          </a:xfrm>
          <a:prstGeom prst="rect">
            <a:avLst/>
          </a:prstGeom>
          <a:solidFill>
            <a:srgbClr val="F1F5F9"/>
          </a:solidFill>
          <a:ln w="6350">
            <a:solidFill>
              <a:srgbClr val="D5DEE8"/>
            </a:solidFill>
            <a:prstDash val="solid"/>
          </a:ln>
        </p:spPr>
      </p:sp>
      <p:sp>
        <p:nvSpPr>
          <p:cNvPr id="17" name="Text 15"/>
          <p:cNvSpPr txBox="1"/>
          <p:nvPr/>
        </p:nvSpPr>
        <p:spPr>
          <a:xfrm>
            <a:off x="658368" y="2619756"/>
            <a:ext cx="195681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IAP SSH fails</a:t>
            </a:r>
            <a:endParaRPr lang="en-US" sz="920" dirty="0"/>
          </a:p>
        </p:txBody>
      </p:sp>
      <p:sp>
        <p:nvSpPr>
          <p:cNvPr id="18" name="Shape 16"/>
          <p:cNvSpPr/>
          <p:nvPr/>
        </p:nvSpPr>
        <p:spPr>
          <a:xfrm>
            <a:off x="2679192" y="2583180"/>
            <a:ext cx="4279392" cy="644652"/>
          </a:xfrm>
          <a:prstGeom prst="rect">
            <a:avLst/>
          </a:prstGeom>
          <a:solidFill>
            <a:srgbClr val="F1F5F9"/>
          </a:solidFill>
          <a:ln w="6350">
            <a:solidFill>
              <a:srgbClr val="D5DEE8"/>
            </a:solidFill>
            <a:prstDash val="solid"/>
          </a:ln>
        </p:spPr>
      </p:sp>
      <p:sp>
        <p:nvSpPr>
          <p:cNvPr id="19" name="Text 17"/>
          <p:cNvSpPr txBox="1"/>
          <p:nvPr/>
        </p:nvSpPr>
        <p:spPr>
          <a:xfrm>
            <a:off x="2743200" y="2619756"/>
            <a:ext cx="415137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IAP IAM, OS Login, firewall source range, target tag, VM state.</a:t>
            </a:r>
            <a:endParaRPr lang="en-US" sz="920" dirty="0"/>
          </a:p>
        </p:txBody>
      </p:sp>
      <p:sp>
        <p:nvSpPr>
          <p:cNvPr id="20" name="Shape 18"/>
          <p:cNvSpPr/>
          <p:nvPr/>
        </p:nvSpPr>
        <p:spPr>
          <a:xfrm>
            <a:off x="6958584" y="2583180"/>
            <a:ext cx="4608576" cy="644652"/>
          </a:xfrm>
          <a:prstGeom prst="rect">
            <a:avLst/>
          </a:prstGeom>
          <a:solidFill>
            <a:srgbClr val="F1F5F9"/>
          </a:solidFill>
          <a:ln w="6350">
            <a:solidFill>
              <a:srgbClr val="D5DEE8"/>
            </a:solidFill>
            <a:prstDash val="solid"/>
          </a:ln>
        </p:spPr>
      </p:sp>
      <p:sp>
        <p:nvSpPr>
          <p:cNvPr id="21" name="Text 19"/>
          <p:cNvSpPr txBox="1"/>
          <p:nvPr/>
        </p:nvSpPr>
        <p:spPr>
          <a:xfrm>
            <a:off x="7022592" y="2619756"/>
            <a:ext cx="4480560"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Fix the missing permission / targeting; do not disable OS Login.</a:t>
            </a:r>
            <a:endParaRPr lang="en-US" sz="920" dirty="0"/>
          </a:p>
        </p:txBody>
      </p:sp>
      <p:sp>
        <p:nvSpPr>
          <p:cNvPr id="22" name="Shape 20"/>
          <p:cNvSpPr/>
          <p:nvPr/>
        </p:nvSpPr>
        <p:spPr>
          <a:xfrm>
            <a:off x="594360" y="3227832"/>
            <a:ext cx="2084832" cy="644652"/>
          </a:xfrm>
          <a:prstGeom prst="rect">
            <a:avLst/>
          </a:prstGeom>
          <a:solidFill>
            <a:srgbClr val="FFFFFF"/>
          </a:solidFill>
          <a:ln w="6350">
            <a:solidFill>
              <a:srgbClr val="D5DEE8"/>
            </a:solidFill>
            <a:prstDash val="solid"/>
          </a:ln>
        </p:spPr>
      </p:sp>
      <p:sp>
        <p:nvSpPr>
          <p:cNvPr id="23" name="Text 21"/>
          <p:cNvSpPr txBox="1"/>
          <p:nvPr/>
        </p:nvSpPr>
        <p:spPr>
          <a:xfrm>
            <a:off x="658368" y="3264408"/>
            <a:ext cx="195681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Disk resize did not free space</a:t>
            </a:r>
            <a:endParaRPr lang="en-US" sz="920" dirty="0"/>
          </a:p>
        </p:txBody>
      </p:sp>
      <p:sp>
        <p:nvSpPr>
          <p:cNvPr id="24" name="Shape 22"/>
          <p:cNvSpPr/>
          <p:nvPr/>
        </p:nvSpPr>
        <p:spPr>
          <a:xfrm>
            <a:off x="2679192" y="3227832"/>
            <a:ext cx="4279392" cy="644652"/>
          </a:xfrm>
          <a:prstGeom prst="rect">
            <a:avLst/>
          </a:prstGeom>
          <a:solidFill>
            <a:srgbClr val="FFFFFF"/>
          </a:solidFill>
          <a:ln w="6350">
            <a:solidFill>
              <a:srgbClr val="D5DEE8"/>
            </a:solidFill>
            <a:prstDash val="solid"/>
          </a:ln>
        </p:spPr>
      </p:sp>
      <p:sp>
        <p:nvSpPr>
          <p:cNvPr id="25" name="Text 23"/>
          <p:cNvSpPr txBox="1"/>
          <p:nvPr/>
        </p:nvSpPr>
        <p:spPr>
          <a:xfrm>
            <a:off x="2743200" y="3264408"/>
            <a:ext cx="415137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Cloud disk size vs guest block device vs filesystem.</a:t>
            </a:r>
            <a:endParaRPr lang="en-US" sz="920" dirty="0"/>
          </a:p>
        </p:txBody>
      </p:sp>
      <p:sp>
        <p:nvSpPr>
          <p:cNvPr id="26" name="Shape 24"/>
          <p:cNvSpPr/>
          <p:nvPr/>
        </p:nvSpPr>
        <p:spPr>
          <a:xfrm>
            <a:off x="6958584" y="3227832"/>
            <a:ext cx="4608576" cy="644652"/>
          </a:xfrm>
          <a:prstGeom prst="rect">
            <a:avLst/>
          </a:prstGeom>
          <a:solidFill>
            <a:srgbClr val="FFFFFF"/>
          </a:solidFill>
          <a:ln w="6350">
            <a:solidFill>
              <a:srgbClr val="D5DEE8"/>
            </a:solidFill>
            <a:prstDash val="solid"/>
          </a:ln>
        </p:spPr>
      </p:sp>
      <p:sp>
        <p:nvSpPr>
          <p:cNvPr id="27" name="Text 25"/>
          <p:cNvSpPr txBox="1"/>
          <p:nvPr/>
        </p:nvSpPr>
        <p:spPr>
          <a:xfrm>
            <a:off x="7022592" y="3264408"/>
            <a:ext cx="4480560"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Confirm block resize; then grow partition/filesystem as applicable.</a:t>
            </a:r>
            <a:endParaRPr lang="en-US" sz="920" dirty="0"/>
          </a:p>
        </p:txBody>
      </p:sp>
      <p:sp>
        <p:nvSpPr>
          <p:cNvPr id="28" name="Shape 26"/>
          <p:cNvSpPr/>
          <p:nvPr/>
        </p:nvSpPr>
        <p:spPr>
          <a:xfrm>
            <a:off x="594360" y="3872484"/>
            <a:ext cx="2084832" cy="644652"/>
          </a:xfrm>
          <a:prstGeom prst="rect">
            <a:avLst/>
          </a:prstGeom>
          <a:solidFill>
            <a:srgbClr val="F1F5F9"/>
          </a:solidFill>
          <a:ln w="6350">
            <a:solidFill>
              <a:srgbClr val="D5DEE8"/>
            </a:solidFill>
            <a:prstDash val="solid"/>
          </a:ln>
        </p:spPr>
      </p:sp>
      <p:sp>
        <p:nvSpPr>
          <p:cNvPr id="29" name="Text 27"/>
          <p:cNvSpPr txBox="1"/>
          <p:nvPr/>
        </p:nvSpPr>
        <p:spPr>
          <a:xfrm>
            <a:off x="658368" y="3909060"/>
            <a:ext cx="195681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Bucket public binding rejected</a:t>
            </a:r>
            <a:endParaRPr lang="en-US" sz="920" dirty="0"/>
          </a:p>
        </p:txBody>
      </p:sp>
      <p:sp>
        <p:nvSpPr>
          <p:cNvPr id="30" name="Shape 28"/>
          <p:cNvSpPr/>
          <p:nvPr/>
        </p:nvSpPr>
        <p:spPr>
          <a:xfrm>
            <a:off x="2679192" y="3872484"/>
            <a:ext cx="4279392" cy="644652"/>
          </a:xfrm>
          <a:prstGeom prst="rect">
            <a:avLst/>
          </a:prstGeom>
          <a:solidFill>
            <a:srgbClr val="F1F5F9"/>
          </a:solidFill>
          <a:ln w="6350">
            <a:solidFill>
              <a:srgbClr val="D5DEE8"/>
            </a:solidFill>
            <a:prstDash val="solid"/>
          </a:ln>
        </p:spPr>
      </p:sp>
      <p:sp>
        <p:nvSpPr>
          <p:cNvPr id="31" name="Text 29"/>
          <p:cNvSpPr txBox="1"/>
          <p:nvPr/>
        </p:nvSpPr>
        <p:spPr>
          <a:xfrm>
            <a:off x="2743200" y="3909060"/>
            <a:ext cx="415137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Public Access Prevention / organization policy.</a:t>
            </a:r>
            <a:endParaRPr lang="en-US" sz="920" dirty="0"/>
          </a:p>
        </p:txBody>
      </p:sp>
      <p:sp>
        <p:nvSpPr>
          <p:cNvPr id="32" name="Shape 30"/>
          <p:cNvSpPr/>
          <p:nvPr/>
        </p:nvSpPr>
        <p:spPr>
          <a:xfrm>
            <a:off x="6958584" y="3872484"/>
            <a:ext cx="4608576" cy="644652"/>
          </a:xfrm>
          <a:prstGeom prst="rect">
            <a:avLst/>
          </a:prstGeom>
          <a:solidFill>
            <a:srgbClr val="F1F5F9"/>
          </a:solidFill>
          <a:ln w="6350">
            <a:solidFill>
              <a:srgbClr val="D5DEE8"/>
            </a:solidFill>
            <a:prstDash val="solid"/>
          </a:ln>
        </p:spPr>
      </p:sp>
      <p:sp>
        <p:nvSpPr>
          <p:cNvPr id="33" name="Text 31"/>
          <p:cNvSpPr txBox="1"/>
          <p:nvPr/>
        </p:nvSpPr>
        <p:spPr>
          <a:xfrm>
            <a:off x="7022592" y="3909060"/>
            <a:ext cx="4480560"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Do not bypass; capture the policy-enforced result.</a:t>
            </a:r>
            <a:endParaRPr lang="en-US" sz="920" dirty="0"/>
          </a:p>
        </p:txBody>
      </p:sp>
      <p:sp>
        <p:nvSpPr>
          <p:cNvPr id="34" name="Shape 32"/>
          <p:cNvSpPr/>
          <p:nvPr/>
        </p:nvSpPr>
        <p:spPr>
          <a:xfrm>
            <a:off x="594360" y="4517136"/>
            <a:ext cx="2084832" cy="644652"/>
          </a:xfrm>
          <a:prstGeom prst="rect">
            <a:avLst/>
          </a:prstGeom>
          <a:solidFill>
            <a:srgbClr val="FFFFFF"/>
          </a:solidFill>
          <a:ln w="6350">
            <a:solidFill>
              <a:srgbClr val="D5DEE8"/>
            </a:solidFill>
            <a:prstDash val="solid"/>
          </a:ln>
        </p:spPr>
      </p:sp>
      <p:sp>
        <p:nvSpPr>
          <p:cNvPr id="35" name="Text 33"/>
          <p:cNvSpPr txBox="1"/>
          <p:nvPr/>
        </p:nvSpPr>
        <p:spPr>
          <a:xfrm>
            <a:off x="658368" y="4553712"/>
            <a:ext cx="195681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CMEK upload fails</a:t>
            </a:r>
            <a:endParaRPr lang="en-US" sz="920" dirty="0"/>
          </a:p>
        </p:txBody>
      </p:sp>
      <p:sp>
        <p:nvSpPr>
          <p:cNvPr id="36" name="Shape 34"/>
          <p:cNvSpPr/>
          <p:nvPr/>
        </p:nvSpPr>
        <p:spPr>
          <a:xfrm>
            <a:off x="2679192" y="4517136"/>
            <a:ext cx="4279392" cy="644652"/>
          </a:xfrm>
          <a:prstGeom prst="rect">
            <a:avLst/>
          </a:prstGeom>
          <a:solidFill>
            <a:srgbClr val="FFFFFF"/>
          </a:solidFill>
          <a:ln w="6350">
            <a:solidFill>
              <a:srgbClr val="D5DEE8"/>
            </a:solidFill>
            <a:prstDash val="solid"/>
          </a:ln>
        </p:spPr>
      </p:sp>
      <p:sp>
        <p:nvSpPr>
          <p:cNvPr id="37" name="Text 35"/>
          <p:cNvSpPr txBox="1"/>
          <p:nvPr/>
        </p:nvSpPr>
        <p:spPr>
          <a:xfrm>
            <a:off x="2743200" y="4553712"/>
            <a:ext cx="415137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Bucket/key location, service agent, key IAM permission.</a:t>
            </a:r>
            <a:endParaRPr lang="en-US" sz="920" dirty="0"/>
          </a:p>
        </p:txBody>
      </p:sp>
      <p:sp>
        <p:nvSpPr>
          <p:cNvPr id="38" name="Shape 36"/>
          <p:cNvSpPr/>
          <p:nvPr/>
        </p:nvSpPr>
        <p:spPr>
          <a:xfrm>
            <a:off x="6958584" y="4517136"/>
            <a:ext cx="4608576" cy="644652"/>
          </a:xfrm>
          <a:prstGeom prst="rect">
            <a:avLst/>
          </a:prstGeom>
          <a:solidFill>
            <a:srgbClr val="FFFFFF"/>
          </a:solidFill>
          <a:ln w="6350">
            <a:solidFill>
              <a:srgbClr val="D5DEE8"/>
            </a:solidFill>
            <a:prstDash val="solid"/>
          </a:ln>
        </p:spPr>
      </p:sp>
      <p:sp>
        <p:nvSpPr>
          <p:cNvPr id="39" name="Text 37"/>
          <p:cNvSpPr txBox="1"/>
          <p:nvPr/>
        </p:nvSpPr>
        <p:spPr>
          <a:xfrm>
            <a:off x="7022592" y="4553712"/>
            <a:ext cx="4480560"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Inspect key and service-agent grant; use new synthetic object.</a:t>
            </a:r>
            <a:endParaRPr lang="en-US" sz="920" dirty="0"/>
          </a:p>
        </p:txBody>
      </p:sp>
      <p:sp>
        <p:nvSpPr>
          <p:cNvPr id="40" name="Shape 38"/>
          <p:cNvSpPr/>
          <p:nvPr/>
        </p:nvSpPr>
        <p:spPr>
          <a:xfrm>
            <a:off x="594360" y="5161788"/>
            <a:ext cx="2084832" cy="644652"/>
          </a:xfrm>
          <a:prstGeom prst="rect">
            <a:avLst/>
          </a:prstGeom>
          <a:solidFill>
            <a:srgbClr val="F1F5F9"/>
          </a:solidFill>
          <a:ln w="6350">
            <a:solidFill>
              <a:srgbClr val="D5DEE8"/>
            </a:solidFill>
            <a:prstDash val="solid"/>
          </a:ln>
        </p:spPr>
      </p:sp>
      <p:sp>
        <p:nvSpPr>
          <p:cNvPr id="41" name="Text 39"/>
          <p:cNvSpPr txBox="1"/>
          <p:nvPr/>
        </p:nvSpPr>
        <p:spPr>
          <a:xfrm>
            <a:off x="658368" y="5198364"/>
            <a:ext cx="195681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Alert did not fire</a:t>
            </a:r>
            <a:endParaRPr lang="en-US" sz="920" dirty="0"/>
          </a:p>
        </p:txBody>
      </p:sp>
      <p:sp>
        <p:nvSpPr>
          <p:cNvPr id="42" name="Shape 40"/>
          <p:cNvSpPr/>
          <p:nvPr/>
        </p:nvSpPr>
        <p:spPr>
          <a:xfrm>
            <a:off x="2679192" y="5161788"/>
            <a:ext cx="4279392" cy="644652"/>
          </a:xfrm>
          <a:prstGeom prst="rect">
            <a:avLst/>
          </a:prstGeom>
          <a:solidFill>
            <a:srgbClr val="F1F5F9"/>
          </a:solidFill>
          <a:ln w="6350">
            <a:solidFill>
              <a:srgbClr val="D5DEE8"/>
            </a:solidFill>
            <a:prstDash val="solid"/>
          </a:ln>
        </p:spPr>
      </p:sp>
      <p:sp>
        <p:nvSpPr>
          <p:cNvPr id="43" name="Text 41"/>
          <p:cNvSpPr txBox="1"/>
          <p:nvPr/>
        </p:nvSpPr>
        <p:spPr>
          <a:xfrm>
            <a:off x="2743200" y="5198364"/>
            <a:ext cx="4151376"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Metric delay, condition duration, channel verification.</a:t>
            </a:r>
            <a:endParaRPr lang="en-US" sz="920" dirty="0"/>
          </a:p>
        </p:txBody>
      </p:sp>
      <p:sp>
        <p:nvSpPr>
          <p:cNvPr id="44" name="Shape 42"/>
          <p:cNvSpPr/>
          <p:nvPr/>
        </p:nvSpPr>
        <p:spPr>
          <a:xfrm>
            <a:off x="6958584" y="5161788"/>
            <a:ext cx="4608576" cy="644652"/>
          </a:xfrm>
          <a:prstGeom prst="rect">
            <a:avLst/>
          </a:prstGeom>
          <a:solidFill>
            <a:srgbClr val="F1F5F9"/>
          </a:solidFill>
          <a:ln w="6350">
            <a:solidFill>
              <a:srgbClr val="D5DEE8"/>
            </a:solidFill>
            <a:prstDash val="solid"/>
          </a:ln>
        </p:spPr>
      </p:sp>
      <p:sp>
        <p:nvSpPr>
          <p:cNvPr id="45" name="Text 43"/>
          <p:cNvSpPr txBox="1"/>
          <p:nvPr/>
        </p:nvSpPr>
        <p:spPr>
          <a:xfrm>
            <a:off x="7022592" y="5198364"/>
            <a:ext cx="4480560" cy="571500"/>
          </a:xfrm>
          <a:prstGeom prst="rect">
            <a:avLst/>
          </a:prstGeom>
          <a:noFill/>
          <a:ln/>
        </p:spPr>
        <p:txBody>
          <a:bodyPr wrap="square" lIns="0" tIns="0" rIns="0" bIns="0" rtlCol="0" anchor="ctr">
            <a:normAutofit/>
          </a:bodyPr>
          <a:lstStyle/>
          <a:p>
            <a:pPr algn="l" indent="0" marL="0">
              <a:lnSpc>
                <a:spcPct val="95000"/>
              </a:lnSpc>
              <a:buNone/>
            </a:pPr>
            <a:r>
              <a:rPr lang="en-US" sz="920" dirty="0">
                <a:solidFill>
                  <a:srgbClr val="203040"/>
                </a:solidFill>
                <a:latin typeface="Carlito" pitchFamily="34" charset="0"/>
                <a:ea typeface="Carlito" pitchFamily="34" charset="-122"/>
                <a:cs typeface="Carlito" pitchFamily="34" charset="-120"/>
              </a:rPr>
              <a:t>Inspect metric chart and policy; wait for ingestion before changing rule.</a:t>
            </a:r>
            <a:endParaRPr lang="en-US" sz="920" dirty="0"/>
          </a:p>
        </p:txBody>
      </p:sp>
      <p:sp>
        <p:nvSpPr>
          <p:cNvPr id="46" name="Shape 44"/>
          <p:cNvSpPr/>
          <p:nvPr/>
        </p:nvSpPr>
        <p:spPr>
          <a:xfrm>
            <a:off x="777240" y="5989320"/>
            <a:ext cx="10698480" cy="320040"/>
          </a:xfrm>
          <a:prstGeom prst="roundRect">
            <a:avLst>
              <a:gd name="adj" fmla="val 22857"/>
            </a:avLst>
          </a:prstGeom>
          <a:solidFill>
            <a:srgbClr val="E9F7F0"/>
          </a:solidFill>
          <a:ln w="10160">
            <a:solidFill>
              <a:srgbClr val="E9F7F0"/>
            </a:solidFill>
            <a:prstDash val="solid"/>
          </a:ln>
        </p:spPr>
      </p:sp>
      <p:sp>
        <p:nvSpPr>
          <p:cNvPr id="47" name="Text 45"/>
          <p:cNvSpPr txBox="1"/>
          <p:nvPr/>
        </p:nvSpPr>
        <p:spPr>
          <a:xfrm>
            <a:off x="923544" y="6062472"/>
            <a:ext cx="10405872" cy="173736"/>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The best first response is diagnostic, not destructive. Capture the exact error, check the active project and scope, and change one cause at a time.</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CAPSTONE REFERENCE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Full equivalence matrix: Day 6 platform services</a:t>
            </a:r>
            <a:endParaRPr lang="en-US" sz="2500" dirty="0"/>
          </a:p>
        </p:txBody>
      </p:sp>
      <p:sp>
        <p:nvSpPr>
          <p:cNvPr id="4" name="Shape 2"/>
          <p:cNvSpPr/>
          <p:nvPr/>
        </p:nvSpPr>
        <p:spPr>
          <a:xfrm>
            <a:off x="530352" y="1508760"/>
            <a:ext cx="2110892" cy="384048"/>
          </a:xfrm>
          <a:prstGeom prst="rect">
            <a:avLst/>
          </a:prstGeom>
          <a:solidFill>
            <a:srgbClr val="12304A"/>
          </a:solidFill>
          <a:ln w="6350">
            <a:solidFill>
              <a:srgbClr val="D5DEE8"/>
            </a:solidFill>
            <a:prstDash val="solid"/>
          </a:ln>
        </p:spPr>
      </p:sp>
      <p:sp>
        <p:nvSpPr>
          <p:cNvPr id="5" name="Text 3"/>
          <p:cNvSpPr txBox="1"/>
          <p:nvPr/>
        </p:nvSpPr>
        <p:spPr>
          <a:xfrm>
            <a:off x="594360" y="1545336"/>
            <a:ext cx="1982876" cy="310896"/>
          </a:xfrm>
          <a:prstGeom prst="rect">
            <a:avLst/>
          </a:prstGeom>
          <a:noFill/>
          <a:ln/>
        </p:spPr>
        <p:txBody>
          <a:bodyPr wrap="square" lIns="0" tIns="0" rIns="0" bIns="0" rtlCol="0" anchor="ctr">
            <a:normAutofit/>
          </a:bodyPr>
          <a:lstStyle/>
          <a:p>
            <a:pPr algn="l" indent="0" marL="0">
              <a:lnSpc>
                <a:spcPct val="95000"/>
              </a:lnSpc>
              <a:buNone/>
            </a:pPr>
            <a:r>
              <a:rPr lang="en-US" sz="910" b="1" dirty="0">
                <a:solidFill>
                  <a:srgbClr val="FFFFFF"/>
                </a:solidFill>
                <a:latin typeface="Carlito" pitchFamily="34" charset="0"/>
                <a:ea typeface="Carlito" pitchFamily="34" charset="-122"/>
                <a:cs typeface="Carlito" pitchFamily="34" charset="-120"/>
              </a:rPr>
              <a:t>LAYER</a:t>
            </a:r>
            <a:endParaRPr lang="en-US" sz="910" dirty="0"/>
          </a:p>
        </p:txBody>
      </p:sp>
      <p:sp>
        <p:nvSpPr>
          <p:cNvPr id="6" name="Shape 4"/>
          <p:cNvSpPr/>
          <p:nvPr/>
        </p:nvSpPr>
        <p:spPr>
          <a:xfrm>
            <a:off x="2641244" y="1508760"/>
            <a:ext cx="2999689" cy="384048"/>
          </a:xfrm>
          <a:prstGeom prst="rect">
            <a:avLst/>
          </a:prstGeom>
          <a:solidFill>
            <a:srgbClr val="12304A"/>
          </a:solidFill>
          <a:ln w="6350">
            <a:solidFill>
              <a:srgbClr val="D5DEE8"/>
            </a:solidFill>
            <a:prstDash val="solid"/>
          </a:ln>
        </p:spPr>
      </p:sp>
      <p:sp>
        <p:nvSpPr>
          <p:cNvPr id="7" name="Text 5"/>
          <p:cNvSpPr txBox="1"/>
          <p:nvPr/>
        </p:nvSpPr>
        <p:spPr>
          <a:xfrm>
            <a:off x="2705252" y="1545336"/>
            <a:ext cx="2871673" cy="310896"/>
          </a:xfrm>
          <a:prstGeom prst="rect">
            <a:avLst/>
          </a:prstGeom>
          <a:noFill/>
          <a:ln/>
        </p:spPr>
        <p:txBody>
          <a:bodyPr wrap="square" lIns="0" tIns="0" rIns="0" bIns="0" rtlCol="0" anchor="ctr">
            <a:normAutofit/>
          </a:bodyPr>
          <a:lstStyle/>
          <a:p>
            <a:pPr algn="l" indent="0" marL="0">
              <a:lnSpc>
                <a:spcPct val="95000"/>
              </a:lnSpc>
              <a:buNone/>
            </a:pPr>
            <a:r>
              <a:rPr lang="en-US" sz="910" b="1" dirty="0">
                <a:solidFill>
                  <a:srgbClr val="FFFFFF"/>
                </a:solidFill>
                <a:latin typeface="Carlito" pitchFamily="34" charset="0"/>
                <a:ea typeface="Carlito" pitchFamily="34" charset="-122"/>
                <a:cs typeface="Carlito" pitchFamily="34" charset="-120"/>
              </a:rPr>
              <a:t>AZURE</a:t>
            </a:r>
            <a:endParaRPr lang="en-US" sz="910" dirty="0"/>
          </a:p>
        </p:txBody>
      </p:sp>
      <p:sp>
        <p:nvSpPr>
          <p:cNvPr id="8" name="Shape 6"/>
          <p:cNvSpPr/>
          <p:nvPr/>
        </p:nvSpPr>
        <p:spPr>
          <a:xfrm>
            <a:off x="5640934" y="1508760"/>
            <a:ext cx="2999689" cy="384048"/>
          </a:xfrm>
          <a:prstGeom prst="rect">
            <a:avLst/>
          </a:prstGeom>
          <a:solidFill>
            <a:srgbClr val="12304A"/>
          </a:solidFill>
          <a:ln w="6350">
            <a:solidFill>
              <a:srgbClr val="D5DEE8"/>
            </a:solidFill>
            <a:prstDash val="solid"/>
          </a:ln>
        </p:spPr>
      </p:sp>
      <p:sp>
        <p:nvSpPr>
          <p:cNvPr id="9" name="Text 7"/>
          <p:cNvSpPr txBox="1"/>
          <p:nvPr/>
        </p:nvSpPr>
        <p:spPr>
          <a:xfrm>
            <a:off x="5704942" y="1545336"/>
            <a:ext cx="2871673" cy="310896"/>
          </a:xfrm>
          <a:prstGeom prst="rect">
            <a:avLst/>
          </a:prstGeom>
          <a:noFill/>
          <a:ln/>
        </p:spPr>
        <p:txBody>
          <a:bodyPr wrap="square" lIns="0" tIns="0" rIns="0" bIns="0" rtlCol="0" anchor="ctr">
            <a:normAutofit/>
          </a:bodyPr>
          <a:lstStyle/>
          <a:p>
            <a:pPr algn="l" indent="0" marL="0">
              <a:lnSpc>
                <a:spcPct val="95000"/>
              </a:lnSpc>
              <a:buNone/>
            </a:pPr>
            <a:r>
              <a:rPr lang="en-US" sz="910" b="1" dirty="0">
                <a:solidFill>
                  <a:srgbClr val="FFFFFF"/>
                </a:solidFill>
                <a:latin typeface="Carlito" pitchFamily="34" charset="0"/>
                <a:ea typeface="Carlito" pitchFamily="34" charset="-122"/>
                <a:cs typeface="Carlito" pitchFamily="34" charset="-120"/>
              </a:rPr>
              <a:t>AWS</a:t>
            </a:r>
            <a:endParaRPr lang="en-US" sz="910" dirty="0"/>
          </a:p>
        </p:txBody>
      </p:sp>
      <p:sp>
        <p:nvSpPr>
          <p:cNvPr id="10" name="Shape 8"/>
          <p:cNvSpPr/>
          <p:nvPr/>
        </p:nvSpPr>
        <p:spPr>
          <a:xfrm>
            <a:off x="8640623" y="1508760"/>
            <a:ext cx="2999689" cy="384048"/>
          </a:xfrm>
          <a:prstGeom prst="rect">
            <a:avLst/>
          </a:prstGeom>
          <a:solidFill>
            <a:srgbClr val="12304A"/>
          </a:solidFill>
          <a:ln w="6350">
            <a:solidFill>
              <a:srgbClr val="D5DEE8"/>
            </a:solidFill>
            <a:prstDash val="solid"/>
          </a:ln>
        </p:spPr>
      </p:sp>
      <p:sp>
        <p:nvSpPr>
          <p:cNvPr id="11" name="Text 9"/>
          <p:cNvSpPr txBox="1"/>
          <p:nvPr/>
        </p:nvSpPr>
        <p:spPr>
          <a:xfrm>
            <a:off x="8704631" y="1545336"/>
            <a:ext cx="2871673" cy="310896"/>
          </a:xfrm>
          <a:prstGeom prst="rect">
            <a:avLst/>
          </a:prstGeom>
          <a:noFill/>
          <a:ln/>
        </p:spPr>
        <p:txBody>
          <a:bodyPr wrap="square" lIns="0" tIns="0" rIns="0" bIns="0" rtlCol="0" anchor="ctr">
            <a:normAutofit/>
          </a:bodyPr>
          <a:lstStyle/>
          <a:p>
            <a:pPr algn="l" indent="0" marL="0">
              <a:lnSpc>
                <a:spcPct val="95000"/>
              </a:lnSpc>
              <a:buNone/>
            </a:pPr>
            <a:r>
              <a:rPr lang="en-US" sz="910" b="1" dirty="0">
                <a:solidFill>
                  <a:srgbClr val="FFFFFF"/>
                </a:solidFill>
                <a:latin typeface="Carlito" pitchFamily="34" charset="0"/>
                <a:ea typeface="Carlito" pitchFamily="34" charset="-122"/>
                <a:cs typeface="Carlito" pitchFamily="34" charset="-120"/>
              </a:rPr>
              <a:t>GCP</a:t>
            </a:r>
            <a:endParaRPr lang="en-US" sz="910" dirty="0"/>
          </a:p>
        </p:txBody>
      </p:sp>
      <p:sp>
        <p:nvSpPr>
          <p:cNvPr id="12" name="Shape 10"/>
          <p:cNvSpPr/>
          <p:nvPr/>
        </p:nvSpPr>
        <p:spPr>
          <a:xfrm>
            <a:off x="530352" y="1892808"/>
            <a:ext cx="2110892" cy="455168"/>
          </a:xfrm>
          <a:prstGeom prst="rect">
            <a:avLst/>
          </a:prstGeom>
          <a:solidFill>
            <a:srgbClr val="FFFFFF"/>
          </a:solidFill>
          <a:ln w="6350">
            <a:solidFill>
              <a:srgbClr val="D5DEE8"/>
            </a:solidFill>
            <a:prstDash val="solid"/>
          </a:ln>
        </p:spPr>
      </p:sp>
      <p:sp>
        <p:nvSpPr>
          <p:cNvPr id="13" name="Text 11"/>
          <p:cNvSpPr txBox="1"/>
          <p:nvPr/>
        </p:nvSpPr>
        <p:spPr>
          <a:xfrm>
            <a:off x="594360" y="1929384"/>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VM compute</a:t>
            </a:r>
            <a:endParaRPr lang="en-US" sz="865" dirty="0"/>
          </a:p>
        </p:txBody>
      </p:sp>
      <p:sp>
        <p:nvSpPr>
          <p:cNvPr id="14" name="Shape 12"/>
          <p:cNvSpPr/>
          <p:nvPr/>
        </p:nvSpPr>
        <p:spPr>
          <a:xfrm>
            <a:off x="2641244" y="1892808"/>
            <a:ext cx="2999689" cy="455168"/>
          </a:xfrm>
          <a:prstGeom prst="rect">
            <a:avLst/>
          </a:prstGeom>
          <a:solidFill>
            <a:srgbClr val="FFFFFF"/>
          </a:solidFill>
          <a:ln w="6350">
            <a:solidFill>
              <a:srgbClr val="D5DEE8"/>
            </a:solidFill>
            <a:prstDash val="solid"/>
          </a:ln>
        </p:spPr>
      </p:sp>
      <p:sp>
        <p:nvSpPr>
          <p:cNvPr id="15" name="Text 13"/>
          <p:cNvSpPr txBox="1"/>
          <p:nvPr/>
        </p:nvSpPr>
        <p:spPr>
          <a:xfrm>
            <a:off x="2705252" y="1929384"/>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Virtual Machines</a:t>
            </a:r>
            <a:endParaRPr lang="en-US" sz="865" dirty="0"/>
          </a:p>
        </p:txBody>
      </p:sp>
      <p:sp>
        <p:nvSpPr>
          <p:cNvPr id="16" name="Shape 14"/>
          <p:cNvSpPr/>
          <p:nvPr/>
        </p:nvSpPr>
        <p:spPr>
          <a:xfrm>
            <a:off x="5640934" y="1892808"/>
            <a:ext cx="2999689" cy="455168"/>
          </a:xfrm>
          <a:prstGeom prst="rect">
            <a:avLst/>
          </a:prstGeom>
          <a:solidFill>
            <a:srgbClr val="FFFFFF"/>
          </a:solidFill>
          <a:ln w="6350">
            <a:solidFill>
              <a:srgbClr val="D5DEE8"/>
            </a:solidFill>
            <a:prstDash val="solid"/>
          </a:ln>
        </p:spPr>
      </p:sp>
      <p:sp>
        <p:nvSpPr>
          <p:cNvPr id="17" name="Text 15"/>
          <p:cNvSpPr txBox="1"/>
          <p:nvPr/>
        </p:nvSpPr>
        <p:spPr>
          <a:xfrm>
            <a:off x="5704942" y="1929384"/>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Amazon EC2</a:t>
            </a:r>
            <a:endParaRPr lang="en-US" sz="865" dirty="0"/>
          </a:p>
        </p:txBody>
      </p:sp>
      <p:sp>
        <p:nvSpPr>
          <p:cNvPr id="18" name="Shape 16"/>
          <p:cNvSpPr/>
          <p:nvPr/>
        </p:nvSpPr>
        <p:spPr>
          <a:xfrm>
            <a:off x="8640623" y="1892808"/>
            <a:ext cx="2999689" cy="455168"/>
          </a:xfrm>
          <a:prstGeom prst="rect">
            <a:avLst/>
          </a:prstGeom>
          <a:solidFill>
            <a:srgbClr val="FFFFFF"/>
          </a:solidFill>
          <a:ln w="6350">
            <a:solidFill>
              <a:srgbClr val="D5DEE8"/>
            </a:solidFill>
            <a:prstDash val="solid"/>
          </a:ln>
        </p:spPr>
      </p:sp>
      <p:sp>
        <p:nvSpPr>
          <p:cNvPr id="19" name="Text 17"/>
          <p:cNvSpPr txBox="1"/>
          <p:nvPr/>
        </p:nvSpPr>
        <p:spPr>
          <a:xfrm>
            <a:off x="8704631" y="1929384"/>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Compute Engine</a:t>
            </a:r>
            <a:endParaRPr lang="en-US" sz="865" dirty="0"/>
          </a:p>
        </p:txBody>
      </p:sp>
      <p:sp>
        <p:nvSpPr>
          <p:cNvPr id="20" name="Shape 18"/>
          <p:cNvSpPr/>
          <p:nvPr/>
        </p:nvSpPr>
        <p:spPr>
          <a:xfrm>
            <a:off x="530352" y="2347976"/>
            <a:ext cx="2110892" cy="455168"/>
          </a:xfrm>
          <a:prstGeom prst="rect">
            <a:avLst/>
          </a:prstGeom>
          <a:solidFill>
            <a:srgbClr val="F1F5F9"/>
          </a:solidFill>
          <a:ln w="6350">
            <a:solidFill>
              <a:srgbClr val="D5DEE8"/>
            </a:solidFill>
            <a:prstDash val="solid"/>
          </a:ln>
        </p:spPr>
      </p:sp>
      <p:sp>
        <p:nvSpPr>
          <p:cNvPr id="21" name="Text 19"/>
          <p:cNvSpPr txBox="1"/>
          <p:nvPr/>
        </p:nvSpPr>
        <p:spPr>
          <a:xfrm>
            <a:off x="594360" y="2384552"/>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Scale-out</a:t>
            </a:r>
            <a:endParaRPr lang="en-US" sz="865" dirty="0"/>
          </a:p>
        </p:txBody>
      </p:sp>
      <p:sp>
        <p:nvSpPr>
          <p:cNvPr id="22" name="Shape 20"/>
          <p:cNvSpPr/>
          <p:nvPr/>
        </p:nvSpPr>
        <p:spPr>
          <a:xfrm>
            <a:off x="2641244" y="2347976"/>
            <a:ext cx="2999689" cy="455168"/>
          </a:xfrm>
          <a:prstGeom prst="rect">
            <a:avLst/>
          </a:prstGeom>
          <a:solidFill>
            <a:srgbClr val="F1F5F9"/>
          </a:solidFill>
          <a:ln w="6350">
            <a:solidFill>
              <a:srgbClr val="D5DEE8"/>
            </a:solidFill>
            <a:prstDash val="solid"/>
          </a:ln>
        </p:spPr>
      </p:sp>
      <p:sp>
        <p:nvSpPr>
          <p:cNvPr id="23" name="Text 21"/>
          <p:cNvSpPr txBox="1"/>
          <p:nvPr/>
        </p:nvSpPr>
        <p:spPr>
          <a:xfrm>
            <a:off x="2705252" y="2384552"/>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Virtual Machine Scale Sets</a:t>
            </a:r>
            <a:endParaRPr lang="en-US" sz="865" dirty="0"/>
          </a:p>
        </p:txBody>
      </p:sp>
      <p:sp>
        <p:nvSpPr>
          <p:cNvPr id="24" name="Shape 22"/>
          <p:cNvSpPr/>
          <p:nvPr/>
        </p:nvSpPr>
        <p:spPr>
          <a:xfrm>
            <a:off x="5640934" y="2347976"/>
            <a:ext cx="2999689" cy="455168"/>
          </a:xfrm>
          <a:prstGeom prst="rect">
            <a:avLst/>
          </a:prstGeom>
          <a:solidFill>
            <a:srgbClr val="F1F5F9"/>
          </a:solidFill>
          <a:ln w="6350">
            <a:solidFill>
              <a:srgbClr val="D5DEE8"/>
            </a:solidFill>
            <a:prstDash val="solid"/>
          </a:ln>
        </p:spPr>
      </p:sp>
      <p:sp>
        <p:nvSpPr>
          <p:cNvPr id="25" name="Text 23"/>
          <p:cNvSpPr txBox="1"/>
          <p:nvPr/>
        </p:nvSpPr>
        <p:spPr>
          <a:xfrm>
            <a:off x="5704942" y="2384552"/>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EC2 Auto Scaling Groups</a:t>
            </a:r>
            <a:endParaRPr lang="en-US" sz="865" dirty="0"/>
          </a:p>
        </p:txBody>
      </p:sp>
      <p:sp>
        <p:nvSpPr>
          <p:cNvPr id="26" name="Shape 24"/>
          <p:cNvSpPr/>
          <p:nvPr/>
        </p:nvSpPr>
        <p:spPr>
          <a:xfrm>
            <a:off x="8640623" y="2347976"/>
            <a:ext cx="2999689" cy="455168"/>
          </a:xfrm>
          <a:prstGeom prst="rect">
            <a:avLst/>
          </a:prstGeom>
          <a:solidFill>
            <a:srgbClr val="F1F5F9"/>
          </a:solidFill>
          <a:ln w="6350">
            <a:solidFill>
              <a:srgbClr val="D5DEE8"/>
            </a:solidFill>
            <a:prstDash val="solid"/>
          </a:ln>
        </p:spPr>
      </p:sp>
      <p:sp>
        <p:nvSpPr>
          <p:cNvPr id="27" name="Text 25"/>
          <p:cNvSpPr txBox="1"/>
          <p:nvPr/>
        </p:nvSpPr>
        <p:spPr>
          <a:xfrm>
            <a:off x="8704631" y="2384552"/>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Managed Instance Groups</a:t>
            </a:r>
            <a:endParaRPr lang="en-US" sz="865" dirty="0"/>
          </a:p>
        </p:txBody>
      </p:sp>
      <p:sp>
        <p:nvSpPr>
          <p:cNvPr id="28" name="Shape 26"/>
          <p:cNvSpPr/>
          <p:nvPr/>
        </p:nvSpPr>
        <p:spPr>
          <a:xfrm>
            <a:off x="530352" y="2803144"/>
            <a:ext cx="2110892" cy="455168"/>
          </a:xfrm>
          <a:prstGeom prst="rect">
            <a:avLst/>
          </a:prstGeom>
          <a:solidFill>
            <a:srgbClr val="FFFFFF"/>
          </a:solidFill>
          <a:ln w="6350">
            <a:solidFill>
              <a:srgbClr val="D5DEE8"/>
            </a:solidFill>
            <a:prstDash val="solid"/>
          </a:ln>
        </p:spPr>
      </p:sp>
      <p:sp>
        <p:nvSpPr>
          <p:cNvPr id="29" name="Text 27"/>
          <p:cNvSpPr txBox="1"/>
          <p:nvPr/>
        </p:nvSpPr>
        <p:spPr>
          <a:xfrm>
            <a:off x="594360" y="2839720"/>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Admin access</a:t>
            </a:r>
            <a:endParaRPr lang="en-US" sz="865" dirty="0"/>
          </a:p>
        </p:txBody>
      </p:sp>
      <p:sp>
        <p:nvSpPr>
          <p:cNvPr id="30" name="Shape 28"/>
          <p:cNvSpPr/>
          <p:nvPr/>
        </p:nvSpPr>
        <p:spPr>
          <a:xfrm>
            <a:off x="2641244" y="2803144"/>
            <a:ext cx="2999689" cy="455168"/>
          </a:xfrm>
          <a:prstGeom prst="rect">
            <a:avLst/>
          </a:prstGeom>
          <a:solidFill>
            <a:srgbClr val="FFFFFF"/>
          </a:solidFill>
          <a:ln w="6350">
            <a:solidFill>
              <a:srgbClr val="D5DEE8"/>
            </a:solidFill>
            <a:prstDash val="solid"/>
          </a:ln>
        </p:spPr>
      </p:sp>
      <p:sp>
        <p:nvSpPr>
          <p:cNvPr id="31" name="Text 29"/>
          <p:cNvSpPr txBox="1"/>
          <p:nvPr/>
        </p:nvSpPr>
        <p:spPr>
          <a:xfrm>
            <a:off x="2705252" y="2839720"/>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Bastion / JIT / SSH + NSG</a:t>
            </a:r>
            <a:endParaRPr lang="en-US" sz="865" dirty="0"/>
          </a:p>
        </p:txBody>
      </p:sp>
      <p:sp>
        <p:nvSpPr>
          <p:cNvPr id="32" name="Shape 30"/>
          <p:cNvSpPr/>
          <p:nvPr/>
        </p:nvSpPr>
        <p:spPr>
          <a:xfrm>
            <a:off x="5640934" y="2803144"/>
            <a:ext cx="2999689" cy="455168"/>
          </a:xfrm>
          <a:prstGeom prst="rect">
            <a:avLst/>
          </a:prstGeom>
          <a:solidFill>
            <a:srgbClr val="FFFFFF"/>
          </a:solidFill>
          <a:ln w="6350">
            <a:solidFill>
              <a:srgbClr val="D5DEE8"/>
            </a:solidFill>
            <a:prstDash val="solid"/>
          </a:ln>
        </p:spPr>
      </p:sp>
      <p:sp>
        <p:nvSpPr>
          <p:cNvPr id="33" name="Text 31"/>
          <p:cNvSpPr txBox="1"/>
          <p:nvPr/>
        </p:nvSpPr>
        <p:spPr>
          <a:xfrm>
            <a:off x="5704942" y="2839720"/>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SSM Session Manager / EC2 Instance Connect / SG</a:t>
            </a:r>
            <a:endParaRPr lang="en-US" sz="865" dirty="0"/>
          </a:p>
        </p:txBody>
      </p:sp>
      <p:sp>
        <p:nvSpPr>
          <p:cNvPr id="34" name="Shape 32"/>
          <p:cNvSpPr/>
          <p:nvPr/>
        </p:nvSpPr>
        <p:spPr>
          <a:xfrm>
            <a:off x="8640623" y="2803144"/>
            <a:ext cx="2999689" cy="455168"/>
          </a:xfrm>
          <a:prstGeom prst="rect">
            <a:avLst/>
          </a:prstGeom>
          <a:solidFill>
            <a:srgbClr val="FFFFFF"/>
          </a:solidFill>
          <a:ln w="6350">
            <a:solidFill>
              <a:srgbClr val="D5DEE8"/>
            </a:solidFill>
            <a:prstDash val="solid"/>
          </a:ln>
        </p:spPr>
      </p:sp>
      <p:sp>
        <p:nvSpPr>
          <p:cNvPr id="35" name="Text 33"/>
          <p:cNvSpPr txBox="1"/>
          <p:nvPr/>
        </p:nvSpPr>
        <p:spPr>
          <a:xfrm>
            <a:off x="8704631" y="2839720"/>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IAP TCP forwarding + OS Login + VPC firewall</a:t>
            </a:r>
            <a:endParaRPr lang="en-US" sz="865" dirty="0"/>
          </a:p>
        </p:txBody>
      </p:sp>
      <p:sp>
        <p:nvSpPr>
          <p:cNvPr id="36" name="Shape 34"/>
          <p:cNvSpPr/>
          <p:nvPr/>
        </p:nvSpPr>
        <p:spPr>
          <a:xfrm>
            <a:off x="530352" y="3258312"/>
            <a:ext cx="2110892" cy="455168"/>
          </a:xfrm>
          <a:prstGeom prst="rect">
            <a:avLst/>
          </a:prstGeom>
          <a:solidFill>
            <a:srgbClr val="F1F5F9"/>
          </a:solidFill>
          <a:ln w="6350">
            <a:solidFill>
              <a:srgbClr val="D5DEE8"/>
            </a:solidFill>
            <a:prstDash val="solid"/>
          </a:ln>
        </p:spPr>
      </p:sp>
      <p:sp>
        <p:nvSpPr>
          <p:cNvPr id="37" name="Text 35"/>
          <p:cNvSpPr txBox="1"/>
          <p:nvPr/>
        </p:nvSpPr>
        <p:spPr>
          <a:xfrm>
            <a:off x="594360" y="3294888"/>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Block storage</a:t>
            </a:r>
            <a:endParaRPr lang="en-US" sz="865" dirty="0"/>
          </a:p>
        </p:txBody>
      </p:sp>
      <p:sp>
        <p:nvSpPr>
          <p:cNvPr id="38" name="Shape 36"/>
          <p:cNvSpPr/>
          <p:nvPr/>
        </p:nvSpPr>
        <p:spPr>
          <a:xfrm>
            <a:off x="2641244" y="3258312"/>
            <a:ext cx="2999689" cy="455168"/>
          </a:xfrm>
          <a:prstGeom prst="rect">
            <a:avLst/>
          </a:prstGeom>
          <a:solidFill>
            <a:srgbClr val="F1F5F9"/>
          </a:solidFill>
          <a:ln w="6350">
            <a:solidFill>
              <a:srgbClr val="D5DEE8"/>
            </a:solidFill>
            <a:prstDash val="solid"/>
          </a:ln>
        </p:spPr>
      </p:sp>
      <p:sp>
        <p:nvSpPr>
          <p:cNvPr id="39" name="Text 37"/>
          <p:cNvSpPr txBox="1"/>
          <p:nvPr/>
        </p:nvSpPr>
        <p:spPr>
          <a:xfrm>
            <a:off x="2705252" y="3294888"/>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Managed Disks</a:t>
            </a:r>
            <a:endParaRPr lang="en-US" sz="865" dirty="0"/>
          </a:p>
        </p:txBody>
      </p:sp>
      <p:sp>
        <p:nvSpPr>
          <p:cNvPr id="40" name="Shape 38"/>
          <p:cNvSpPr/>
          <p:nvPr/>
        </p:nvSpPr>
        <p:spPr>
          <a:xfrm>
            <a:off x="5640934" y="3258312"/>
            <a:ext cx="2999689" cy="455168"/>
          </a:xfrm>
          <a:prstGeom prst="rect">
            <a:avLst/>
          </a:prstGeom>
          <a:solidFill>
            <a:srgbClr val="F1F5F9"/>
          </a:solidFill>
          <a:ln w="6350">
            <a:solidFill>
              <a:srgbClr val="D5DEE8"/>
            </a:solidFill>
            <a:prstDash val="solid"/>
          </a:ln>
        </p:spPr>
      </p:sp>
      <p:sp>
        <p:nvSpPr>
          <p:cNvPr id="41" name="Text 39"/>
          <p:cNvSpPr txBox="1"/>
          <p:nvPr/>
        </p:nvSpPr>
        <p:spPr>
          <a:xfrm>
            <a:off x="5704942" y="3294888"/>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Amazon EBS</a:t>
            </a:r>
            <a:endParaRPr lang="en-US" sz="865" dirty="0"/>
          </a:p>
        </p:txBody>
      </p:sp>
      <p:sp>
        <p:nvSpPr>
          <p:cNvPr id="42" name="Shape 40"/>
          <p:cNvSpPr/>
          <p:nvPr/>
        </p:nvSpPr>
        <p:spPr>
          <a:xfrm>
            <a:off x="8640623" y="3258312"/>
            <a:ext cx="2999689" cy="455168"/>
          </a:xfrm>
          <a:prstGeom prst="rect">
            <a:avLst/>
          </a:prstGeom>
          <a:solidFill>
            <a:srgbClr val="F1F5F9"/>
          </a:solidFill>
          <a:ln w="6350">
            <a:solidFill>
              <a:srgbClr val="D5DEE8"/>
            </a:solidFill>
            <a:prstDash val="solid"/>
          </a:ln>
        </p:spPr>
      </p:sp>
      <p:sp>
        <p:nvSpPr>
          <p:cNvPr id="43" name="Text 41"/>
          <p:cNvSpPr txBox="1"/>
          <p:nvPr/>
        </p:nvSpPr>
        <p:spPr>
          <a:xfrm>
            <a:off x="8704631" y="3294888"/>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Persistent Disk</a:t>
            </a:r>
            <a:endParaRPr lang="en-US" sz="865" dirty="0"/>
          </a:p>
        </p:txBody>
      </p:sp>
      <p:sp>
        <p:nvSpPr>
          <p:cNvPr id="44" name="Shape 42"/>
          <p:cNvSpPr/>
          <p:nvPr/>
        </p:nvSpPr>
        <p:spPr>
          <a:xfrm>
            <a:off x="530352" y="3713480"/>
            <a:ext cx="2110892" cy="455168"/>
          </a:xfrm>
          <a:prstGeom prst="rect">
            <a:avLst/>
          </a:prstGeom>
          <a:solidFill>
            <a:srgbClr val="FFFFFF"/>
          </a:solidFill>
          <a:ln w="6350">
            <a:solidFill>
              <a:srgbClr val="D5DEE8"/>
            </a:solidFill>
            <a:prstDash val="solid"/>
          </a:ln>
        </p:spPr>
      </p:sp>
      <p:sp>
        <p:nvSpPr>
          <p:cNvPr id="45" name="Text 43"/>
          <p:cNvSpPr txBox="1"/>
          <p:nvPr/>
        </p:nvSpPr>
        <p:spPr>
          <a:xfrm>
            <a:off x="594360" y="3750056"/>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Object storage</a:t>
            </a:r>
            <a:endParaRPr lang="en-US" sz="865" dirty="0"/>
          </a:p>
        </p:txBody>
      </p:sp>
      <p:sp>
        <p:nvSpPr>
          <p:cNvPr id="46" name="Shape 44"/>
          <p:cNvSpPr/>
          <p:nvPr/>
        </p:nvSpPr>
        <p:spPr>
          <a:xfrm>
            <a:off x="2641244" y="3713480"/>
            <a:ext cx="2999689" cy="455168"/>
          </a:xfrm>
          <a:prstGeom prst="rect">
            <a:avLst/>
          </a:prstGeom>
          <a:solidFill>
            <a:srgbClr val="FFFFFF"/>
          </a:solidFill>
          <a:ln w="6350">
            <a:solidFill>
              <a:srgbClr val="D5DEE8"/>
            </a:solidFill>
            <a:prstDash val="solid"/>
          </a:ln>
        </p:spPr>
      </p:sp>
      <p:sp>
        <p:nvSpPr>
          <p:cNvPr id="47" name="Text 45"/>
          <p:cNvSpPr txBox="1"/>
          <p:nvPr/>
        </p:nvSpPr>
        <p:spPr>
          <a:xfrm>
            <a:off x="2705252" y="3750056"/>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Blob Storage</a:t>
            </a:r>
            <a:endParaRPr lang="en-US" sz="865" dirty="0"/>
          </a:p>
        </p:txBody>
      </p:sp>
      <p:sp>
        <p:nvSpPr>
          <p:cNvPr id="48" name="Shape 46"/>
          <p:cNvSpPr/>
          <p:nvPr/>
        </p:nvSpPr>
        <p:spPr>
          <a:xfrm>
            <a:off x="5640934" y="3713480"/>
            <a:ext cx="2999689" cy="455168"/>
          </a:xfrm>
          <a:prstGeom prst="rect">
            <a:avLst/>
          </a:prstGeom>
          <a:solidFill>
            <a:srgbClr val="FFFFFF"/>
          </a:solidFill>
          <a:ln w="6350">
            <a:solidFill>
              <a:srgbClr val="D5DEE8"/>
            </a:solidFill>
            <a:prstDash val="solid"/>
          </a:ln>
        </p:spPr>
      </p:sp>
      <p:sp>
        <p:nvSpPr>
          <p:cNvPr id="49" name="Text 47"/>
          <p:cNvSpPr txBox="1"/>
          <p:nvPr/>
        </p:nvSpPr>
        <p:spPr>
          <a:xfrm>
            <a:off x="5704942" y="3750056"/>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Amazon S3</a:t>
            </a:r>
            <a:endParaRPr lang="en-US" sz="865" dirty="0"/>
          </a:p>
        </p:txBody>
      </p:sp>
      <p:sp>
        <p:nvSpPr>
          <p:cNvPr id="50" name="Shape 48"/>
          <p:cNvSpPr/>
          <p:nvPr/>
        </p:nvSpPr>
        <p:spPr>
          <a:xfrm>
            <a:off x="8640623" y="3713480"/>
            <a:ext cx="2999689" cy="455168"/>
          </a:xfrm>
          <a:prstGeom prst="rect">
            <a:avLst/>
          </a:prstGeom>
          <a:solidFill>
            <a:srgbClr val="FFFFFF"/>
          </a:solidFill>
          <a:ln w="6350">
            <a:solidFill>
              <a:srgbClr val="D5DEE8"/>
            </a:solidFill>
            <a:prstDash val="solid"/>
          </a:ln>
        </p:spPr>
      </p:sp>
      <p:sp>
        <p:nvSpPr>
          <p:cNvPr id="51" name="Text 49"/>
          <p:cNvSpPr txBox="1"/>
          <p:nvPr/>
        </p:nvSpPr>
        <p:spPr>
          <a:xfrm>
            <a:off x="8704631" y="3750056"/>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Cloud Storage</a:t>
            </a:r>
            <a:endParaRPr lang="en-US" sz="865" dirty="0"/>
          </a:p>
        </p:txBody>
      </p:sp>
      <p:sp>
        <p:nvSpPr>
          <p:cNvPr id="52" name="Shape 50"/>
          <p:cNvSpPr/>
          <p:nvPr/>
        </p:nvSpPr>
        <p:spPr>
          <a:xfrm>
            <a:off x="530352" y="4168648"/>
            <a:ext cx="2110892" cy="455168"/>
          </a:xfrm>
          <a:prstGeom prst="rect">
            <a:avLst/>
          </a:prstGeom>
          <a:solidFill>
            <a:srgbClr val="F1F5F9"/>
          </a:solidFill>
          <a:ln w="6350">
            <a:solidFill>
              <a:srgbClr val="D5DEE8"/>
            </a:solidFill>
            <a:prstDash val="solid"/>
          </a:ln>
        </p:spPr>
      </p:sp>
      <p:sp>
        <p:nvSpPr>
          <p:cNvPr id="53" name="Text 51"/>
          <p:cNvSpPr txBox="1"/>
          <p:nvPr/>
        </p:nvSpPr>
        <p:spPr>
          <a:xfrm>
            <a:off x="594360" y="4205224"/>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Private egress</a:t>
            </a:r>
            <a:endParaRPr lang="en-US" sz="865" dirty="0"/>
          </a:p>
        </p:txBody>
      </p:sp>
      <p:sp>
        <p:nvSpPr>
          <p:cNvPr id="54" name="Shape 52"/>
          <p:cNvSpPr/>
          <p:nvPr/>
        </p:nvSpPr>
        <p:spPr>
          <a:xfrm>
            <a:off x="2641244" y="4168648"/>
            <a:ext cx="2999689" cy="455168"/>
          </a:xfrm>
          <a:prstGeom prst="rect">
            <a:avLst/>
          </a:prstGeom>
          <a:solidFill>
            <a:srgbClr val="F1F5F9"/>
          </a:solidFill>
          <a:ln w="6350">
            <a:solidFill>
              <a:srgbClr val="D5DEE8"/>
            </a:solidFill>
            <a:prstDash val="solid"/>
          </a:ln>
        </p:spPr>
      </p:sp>
      <p:sp>
        <p:nvSpPr>
          <p:cNvPr id="55" name="Text 53"/>
          <p:cNvSpPr txBox="1"/>
          <p:nvPr/>
        </p:nvSpPr>
        <p:spPr>
          <a:xfrm>
            <a:off x="2705252" y="4205224"/>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NAT Gateway</a:t>
            </a:r>
            <a:endParaRPr lang="en-US" sz="865" dirty="0"/>
          </a:p>
        </p:txBody>
      </p:sp>
      <p:sp>
        <p:nvSpPr>
          <p:cNvPr id="56" name="Shape 54"/>
          <p:cNvSpPr/>
          <p:nvPr/>
        </p:nvSpPr>
        <p:spPr>
          <a:xfrm>
            <a:off x="5640934" y="4168648"/>
            <a:ext cx="2999689" cy="455168"/>
          </a:xfrm>
          <a:prstGeom prst="rect">
            <a:avLst/>
          </a:prstGeom>
          <a:solidFill>
            <a:srgbClr val="F1F5F9"/>
          </a:solidFill>
          <a:ln w="6350">
            <a:solidFill>
              <a:srgbClr val="D5DEE8"/>
            </a:solidFill>
            <a:prstDash val="solid"/>
          </a:ln>
        </p:spPr>
      </p:sp>
      <p:sp>
        <p:nvSpPr>
          <p:cNvPr id="57" name="Text 55"/>
          <p:cNvSpPr txBox="1"/>
          <p:nvPr/>
        </p:nvSpPr>
        <p:spPr>
          <a:xfrm>
            <a:off x="5704942" y="4205224"/>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NAT Gateway</a:t>
            </a:r>
            <a:endParaRPr lang="en-US" sz="865" dirty="0"/>
          </a:p>
        </p:txBody>
      </p:sp>
      <p:sp>
        <p:nvSpPr>
          <p:cNvPr id="58" name="Shape 56"/>
          <p:cNvSpPr/>
          <p:nvPr/>
        </p:nvSpPr>
        <p:spPr>
          <a:xfrm>
            <a:off x="8640623" y="4168648"/>
            <a:ext cx="2999689" cy="455168"/>
          </a:xfrm>
          <a:prstGeom prst="rect">
            <a:avLst/>
          </a:prstGeom>
          <a:solidFill>
            <a:srgbClr val="F1F5F9"/>
          </a:solidFill>
          <a:ln w="6350">
            <a:solidFill>
              <a:srgbClr val="D5DEE8"/>
            </a:solidFill>
            <a:prstDash val="solid"/>
          </a:ln>
        </p:spPr>
      </p:sp>
      <p:sp>
        <p:nvSpPr>
          <p:cNvPr id="59" name="Text 57"/>
          <p:cNvSpPr txBox="1"/>
          <p:nvPr/>
        </p:nvSpPr>
        <p:spPr>
          <a:xfrm>
            <a:off x="8704631" y="4205224"/>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Cloud NAT + Cloud Router</a:t>
            </a:r>
            <a:endParaRPr lang="en-US" sz="865" dirty="0"/>
          </a:p>
        </p:txBody>
      </p:sp>
      <p:sp>
        <p:nvSpPr>
          <p:cNvPr id="60" name="Shape 58"/>
          <p:cNvSpPr/>
          <p:nvPr/>
        </p:nvSpPr>
        <p:spPr>
          <a:xfrm>
            <a:off x="530352" y="4623816"/>
            <a:ext cx="2110892" cy="455168"/>
          </a:xfrm>
          <a:prstGeom prst="rect">
            <a:avLst/>
          </a:prstGeom>
          <a:solidFill>
            <a:srgbClr val="FFFFFF"/>
          </a:solidFill>
          <a:ln w="6350">
            <a:solidFill>
              <a:srgbClr val="D5DEE8"/>
            </a:solidFill>
            <a:prstDash val="solid"/>
          </a:ln>
        </p:spPr>
      </p:sp>
      <p:sp>
        <p:nvSpPr>
          <p:cNvPr id="61" name="Text 59"/>
          <p:cNvSpPr txBox="1"/>
          <p:nvPr/>
        </p:nvSpPr>
        <p:spPr>
          <a:xfrm>
            <a:off x="594360" y="4660392"/>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Key management</a:t>
            </a:r>
            <a:endParaRPr lang="en-US" sz="865" dirty="0"/>
          </a:p>
        </p:txBody>
      </p:sp>
      <p:sp>
        <p:nvSpPr>
          <p:cNvPr id="62" name="Shape 60"/>
          <p:cNvSpPr/>
          <p:nvPr/>
        </p:nvSpPr>
        <p:spPr>
          <a:xfrm>
            <a:off x="2641244" y="4623816"/>
            <a:ext cx="2999689" cy="455168"/>
          </a:xfrm>
          <a:prstGeom prst="rect">
            <a:avLst/>
          </a:prstGeom>
          <a:solidFill>
            <a:srgbClr val="FFFFFF"/>
          </a:solidFill>
          <a:ln w="6350">
            <a:solidFill>
              <a:srgbClr val="D5DEE8"/>
            </a:solidFill>
            <a:prstDash val="solid"/>
          </a:ln>
        </p:spPr>
      </p:sp>
      <p:sp>
        <p:nvSpPr>
          <p:cNvPr id="63" name="Text 61"/>
          <p:cNvSpPr txBox="1"/>
          <p:nvPr/>
        </p:nvSpPr>
        <p:spPr>
          <a:xfrm>
            <a:off x="2705252" y="4660392"/>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Key Vault / Managed HSM</a:t>
            </a:r>
            <a:endParaRPr lang="en-US" sz="865" dirty="0"/>
          </a:p>
        </p:txBody>
      </p:sp>
      <p:sp>
        <p:nvSpPr>
          <p:cNvPr id="64" name="Shape 62"/>
          <p:cNvSpPr/>
          <p:nvPr/>
        </p:nvSpPr>
        <p:spPr>
          <a:xfrm>
            <a:off x="5640934" y="4623816"/>
            <a:ext cx="2999689" cy="455168"/>
          </a:xfrm>
          <a:prstGeom prst="rect">
            <a:avLst/>
          </a:prstGeom>
          <a:solidFill>
            <a:srgbClr val="FFFFFF"/>
          </a:solidFill>
          <a:ln w="6350">
            <a:solidFill>
              <a:srgbClr val="D5DEE8"/>
            </a:solidFill>
            <a:prstDash val="solid"/>
          </a:ln>
        </p:spPr>
      </p:sp>
      <p:sp>
        <p:nvSpPr>
          <p:cNvPr id="65" name="Text 63"/>
          <p:cNvSpPr txBox="1"/>
          <p:nvPr/>
        </p:nvSpPr>
        <p:spPr>
          <a:xfrm>
            <a:off x="5704942" y="4660392"/>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AWS KMS</a:t>
            </a:r>
            <a:endParaRPr lang="en-US" sz="865" dirty="0"/>
          </a:p>
        </p:txBody>
      </p:sp>
      <p:sp>
        <p:nvSpPr>
          <p:cNvPr id="66" name="Shape 64"/>
          <p:cNvSpPr/>
          <p:nvPr/>
        </p:nvSpPr>
        <p:spPr>
          <a:xfrm>
            <a:off x="8640623" y="4623816"/>
            <a:ext cx="2999689" cy="455168"/>
          </a:xfrm>
          <a:prstGeom prst="rect">
            <a:avLst/>
          </a:prstGeom>
          <a:solidFill>
            <a:srgbClr val="FFFFFF"/>
          </a:solidFill>
          <a:ln w="6350">
            <a:solidFill>
              <a:srgbClr val="D5DEE8"/>
            </a:solidFill>
            <a:prstDash val="solid"/>
          </a:ln>
        </p:spPr>
      </p:sp>
      <p:sp>
        <p:nvSpPr>
          <p:cNvPr id="67" name="Text 65"/>
          <p:cNvSpPr txBox="1"/>
          <p:nvPr/>
        </p:nvSpPr>
        <p:spPr>
          <a:xfrm>
            <a:off x="8704631" y="4660392"/>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Cloud KMS</a:t>
            </a:r>
            <a:endParaRPr lang="en-US" sz="865" dirty="0"/>
          </a:p>
        </p:txBody>
      </p:sp>
      <p:sp>
        <p:nvSpPr>
          <p:cNvPr id="68" name="Shape 66"/>
          <p:cNvSpPr/>
          <p:nvPr/>
        </p:nvSpPr>
        <p:spPr>
          <a:xfrm>
            <a:off x="530352" y="5078984"/>
            <a:ext cx="2110892" cy="455168"/>
          </a:xfrm>
          <a:prstGeom prst="rect">
            <a:avLst/>
          </a:prstGeom>
          <a:solidFill>
            <a:srgbClr val="F1F5F9"/>
          </a:solidFill>
          <a:ln w="6350">
            <a:solidFill>
              <a:srgbClr val="D5DEE8"/>
            </a:solidFill>
            <a:prstDash val="solid"/>
          </a:ln>
        </p:spPr>
      </p:sp>
      <p:sp>
        <p:nvSpPr>
          <p:cNvPr id="69" name="Text 67"/>
          <p:cNvSpPr txBox="1"/>
          <p:nvPr/>
        </p:nvSpPr>
        <p:spPr>
          <a:xfrm>
            <a:off x="594360" y="5115560"/>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Secrets</a:t>
            </a:r>
            <a:endParaRPr lang="en-US" sz="865" dirty="0"/>
          </a:p>
        </p:txBody>
      </p:sp>
      <p:sp>
        <p:nvSpPr>
          <p:cNvPr id="70" name="Shape 68"/>
          <p:cNvSpPr/>
          <p:nvPr/>
        </p:nvSpPr>
        <p:spPr>
          <a:xfrm>
            <a:off x="2641244" y="5078984"/>
            <a:ext cx="2999689" cy="455168"/>
          </a:xfrm>
          <a:prstGeom prst="rect">
            <a:avLst/>
          </a:prstGeom>
          <a:solidFill>
            <a:srgbClr val="F1F5F9"/>
          </a:solidFill>
          <a:ln w="6350">
            <a:solidFill>
              <a:srgbClr val="D5DEE8"/>
            </a:solidFill>
            <a:prstDash val="solid"/>
          </a:ln>
        </p:spPr>
      </p:sp>
      <p:sp>
        <p:nvSpPr>
          <p:cNvPr id="71" name="Text 69"/>
          <p:cNvSpPr txBox="1"/>
          <p:nvPr/>
        </p:nvSpPr>
        <p:spPr>
          <a:xfrm>
            <a:off x="2705252" y="5115560"/>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Key Vault</a:t>
            </a:r>
            <a:endParaRPr lang="en-US" sz="865" dirty="0"/>
          </a:p>
        </p:txBody>
      </p:sp>
      <p:sp>
        <p:nvSpPr>
          <p:cNvPr id="72" name="Shape 70"/>
          <p:cNvSpPr/>
          <p:nvPr/>
        </p:nvSpPr>
        <p:spPr>
          <a:xfrm>
            <a:off x="5640934" y="5078984"/>
            <a:ext cx="2999689" cy="455168"/>
          </a:xfrm>
          <a:prstGeom prst="rect">
            <a:avLst/>
          </a:prstGeom>
          <a:solidFill>
            <a:srgbClr val="F1F5F9"/>
          </a:solidFill>
          <a:ln w="6350">
            <a:solidFill>
              <a:srgbClr val="D5DEE8"/>
            </a:solidFill>
            <a:prstDash val="solid"/>
          </a:ln>
        </p:spPr>
      </p:sp>
      <p:sp>
        <p:nvSpPr>
          <p:cNvPr id="73" name="Text 71"/>
          <p:cNvSpPr txBox="1"/>
          <p:nvPr/>
        </p:nvSpPr>
        <p:spPr>
          <a:xfrm>
            <a:off x="5704942" y="5115560"/>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AWS Secrets Manager</a:t>
            </a:r>
            <a:endParaRPr lang="en-US" sz="865" dirty="0"/>
          </a:p>
        </p:txBody>
      </p:sp>
      <p:sp>
        <p:nvSpPr>
          <p:cNvPr id="74" name="Shape 72"/>
          <p:cNvSpPr/>
          <p:nvPr/>
        </p:nvSpPr>
        <p:spPr>
          <a:xfrm>
            <a:off x="8640623" y="5078984"/>
            <a:ext cx="2999689" cy="455168"/>
          </a:xfrm>
          <a:prstGeom prst="rect">
            <a:avLst/>
          </a:prstGeom>
          <a:solidFill>
            <a:srgbClr val="F1F5F9"/>
          </a:solidFill>
          <a:ln w="6350">
            <a:solidFill>
              <a:srgbClr val="D5DEE8"/>
            </a:solidFill>
            <a:prstDash val="solid"/>
          </a:ln>
        </p:spPr>
      </p:sp>
      <p:sp>
        <p:nvSpPr>
          <p:cNvPr id="75" name="Text 73"/>
          <p:cNvSpPr txBox="1"/>
          <p:nvPr/>
        </p:nvSpPr>
        <p:spPr>
          <a:xfrm>
            <a:off x="8704631" y="5115560"/>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Secret Manager</a:t>
            </a:r>
            <a:endParaRPr lang="en-US" sz="865" dirty="0"/>
          </a:p>
        </p:txBody>
      </p:sp>
      <p:sp>
        <p:nvSpPr>
          <p:cNvPr id="76" name="Shape 74"/>
          <p:cNvSpPr/>
          <p:nvPr/>
        </p:nvSpPr>
        <p:spPr>
          <a:xfrm>
            <a:off x="530352" y="5534152"/>
            <a:ext cx="2110892" cy="455168"/>
          </a:xfrm>
          <a:prstGeom prst="rect">
            <a:avLst/>
          </a:prstGeom>
          <a:solidFill>
            <a:srgbClr val="FFFFFF"/>
          </a:solidFill>
          <a:ln w="6350">
            <a:solidFill>
              <a:srgbClr val="D5DEE8"/>
            </a:solidFill>
            <a:prstDash val="solid"/>
          </a:ln>
        </p:spPr>
      </p:sp>
      <p:sp>
        <p:nvSpPr>
          <p:cNvPr id="77" name="Text 75"/>
          <p:cNvSpPr txBox="1"/>
          <p:nvPr/>
        </p:nvSpPr>
        <p:spPr>
          <a:xfrm>
            <a:off x="594360" y="5570728"/>
            <a:ext cx="1982876"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Monitoring</a:t>
            </a:r>
            <a:endParaRPr lang="en-US" sz="865" dirty="0"/>
          </a:p>
        </p:txBody>
      </p:sp>
      <p:sp>
        <p:nvSpPr>
          <p:cNvPr id="78" name="Shape 76"/>
          <p:cNvSpPr/>
          <p:nvPr/>
        </p:nvSpPr>
        <p:spPr>
          <a:xfrm>
            <a:off x="2641244" y="5534152"/>
            <a:ext cx="2999689" cy="455168"/>
          </a:xfrm>
          <a:prstGeom prst="rect">
            <a:avLst/>
          </a:prstGeom>
          <a:solidFill>
            <a:srgbClr val="FFFFFF"/>
          </a:solidFill>
          <a:ln w="6350">
            <a:solidFill>
              <a:srgbClr val="D5DEE8"/>
            </a:solidFill>
            <a:prstDash val="solid"/>
          </a:ln>
        </p:spPr>
      </p:sp>
      <p:sp>
        <p:nvSpPr>
          <p:cNvPr id="79" name="Text 77"/>
          <p:cNvSpPr txBox="1"/>
          <p:nvPr/>
        </p:nvSpPr>
        <p:spPr>
          <a:xfrm>
            <a:off x="2705252" y="5570728"/>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Azure Monitor</a:t>
            </a:r>
            <a:endParaRPr lang="en-US" sz="865" dirty="0"/>
          </a:p>
        </p:txBody>
      </p:sp>
      <p:sp>
        <p:nvSpPr>
          <p:cNvPr id="80" name="Shape 78"/>
          <p:cNvSpPr/>
          <p:nvPr/>
        </p:nvSpPr>
        <p:spPr>
          <a:xfrm>
            <a:off x="5640934" y="5534152"/>
            <a:ext cx="2999689" cy="455168"/>
          </a:xfrm>
          <a:prstGeom prst="rect">
            <a:avLst/>
          </a:prstGeom>
          <a:solidFill>
            <a:srgbClr val="FFFFFF"/>
          </a:solidFill>
          <a:ln w="6350">
            <a:solidFill>
              <a:srgbClr val="D5DEE8"/>
            </a:solidFill>
            <a:prstDash val="solid"/>
          </a:ln>
        </p:spPr>
      </p:sp>
      <p:sp>
        <p:nvSpPr>
          <p:cNvPr id="81" name="Text 79"/>
          <p:cNvSpPr txBox="1"/>
          <p:nvPr/>
        </p:nvSpPr>
        <p:spPr>
          <a:xfrm>
            <a:off x="5704942" y="5570728"/>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CloudWatch</a:t>
            </a:r>
            <a:endParaRPr lang="en-US" sz="865" dirty="0"/>
          </a:p>
        </p:txBody>
      </p:sp>
      <p:sp>
        <p:nvSpPr>
          <p:cNvPr id="82" name="Shape 80"/>
          <p:cNvSpPr/>
          <p:nvPr/>
        </p:nvSpPr>
        <p:spPr>
          <a:xfrm>
            <a:off x="8640623" y="5534152"/>
            <a:ext cx="2999689" cy="455168"/>
          </a:xfrm>
          <a:prstGeom prst="rect">
            <a:avLst/>
          </a:prstGeom>
          <a:solidFill>
            <a:srgbClr val="FFFFFF"/>
          </a:solidFill>
          <a:ln w="6350">
            <a:solidFill>
              <a:srgbClr val="D5DEE8"/>
            </a:solidFill>
            <a:prstDash val="solid"/>
          </a:ln>
        </p:spPr>
      </p:sp>
      <p:sp>
        <p:nvSpPr>
          <p:cNvPr id="83" name="Text 81"/>
          <p:cNvSpPr txBox="1"/>
          <p:nvPr/>
        </p:nvSpPr>
        <p:spPr>
          <a:xfrm>
            <a:off x="8704631" y="5570728"/>
            <a:ext cx="2871673" cy="382016"/>
          </a:xfrm>
          <a:prstGeom prst="rect">
            <a:avLst/>
          </a:prstGeom>
          <a:noFill/>
          <a:ln/>
        </p:spPr>
        <p:txBody>
          <a:bodyPr wrap="square" lIns="0" tIns="0" rIns="0" bIns="0" rtlCol="0" anchor="ctr">
            <a:normAutofit/>
          </a:bodyPr>
          <a:lstStyle/>
          <a:p>
            <a:pPr algn="l" indent="0" marL="0">
              <a:lnSpc>
                <a:spcPct val="95000"/>
              </a:lnSpc>
              <a:buNone/>
            </a:pPr>
            <a:r>
              <a:rPr lang="en-US" sz="865" dirty="0">
                <a:solidFill>
                  <a:srgbClr val="203040"/>
                </a:solidFill>
                <a:latin typeface="Carlito" pitchFamily="34" charset="0"/>
                <a:ea typeface="Carlito" pitchFamily="34" charset="-122"/>
                <a:cs typeface="Carlito" pitchFamily="34" charset="-120"/>
              </a:rPr>
              <a:t>Cloud Monitoring</a:t>
            </a:r>
            <a:endParaRPr lang="en-US" sz="865" dirty="0"/>
          </a:p>
        </p:txBody>
      </p:sp>
      <p:sp>
        <p:nvSpPr>
          <p:cNvPr id="84" name="Shape 82"/>
          <p:cNvSpPr/>
          <p:nvPr/>
        </p:nvSpPr>
        <p:spPr>
          <a:xfrm>
            <a:off x="731520" y="6080760"/>
            <a:ext cx="10789920" cy="292608"/>
          </a:xfrm>
          <a:prstGeom prst="roundRect">
            <a:avLst>
              <a:gd name="adj" fmla="val 25000"/>
            </a:avLst>
          </a:prstGeom>
          <a:solidFill>
            <a:srgbClr val="EAF3FC"/>
          </a:solidFill>
          <a:ln w="10160">
            <a:solidFill>
              <a:srgbClr val="EAF3FC"/>
            </a:solidFill>
            <a:prstDash val="solid"/>
          </a:ln>
        </p:spPr>
      </p:sp>
      <p:sp>
        <p:nvSpPr>
          <p:cNvPr id="85" name="Text 83"/>
          <p:cNvSpPr txBox="1"/>
          <p:nvPr/>
        </p:nvSpPr>
        <p:spPr>
          <a:xfrm>
            <a:off x="877824" y="6153912"/>
            <a:ext cx="10497312" cy="14630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The matrix is a starting point. Architecture is not portable by renaming services. Students should explain one material difference in identity, networking, availability, lifecycle or operations.</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KNOWLEDGE CHECK</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Test your understanding before starting the lab</a:t>
            </a:r>
            <a:endParaRPr lang="en-US" sz="2500" dirty="0"/>
          </a:p>
        </p:txBody>
      </p:sp>
      <p:sp>
        <p:nvSpPr>
          <p:cNvPr id="4" name="Text 2"/>
          <p:cNvSpPr txBox="1"/>
          <p:nvPr/>
        </p:nvSpPr>
        <p:spPr>
          <a:xfrm>
            <a:off x="868680" y="1691640"/>
            <a:ext cx="10378440" cy="3520440"/>
          </a:xfrm>
          <a:prstGeom prst="rect">
            <a:avLst/>
          </a:prstGeom>
          <a:noFill/>
          <a:ln/>
        </p:spPr>
        <p:txBody>
          <a:bodyPr wrap="square" lIns="254" tIns="254" rIns="254" bIns="254" rtlCol="0" anchor="t">
            <a:normAutofit/>
          </a:bodyPr>
          <a:lstStyle/>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1. Why can a VM have no external IP and still allow SSH through IAP?</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2. What is the difference between a block disk size and filesystem size?</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3. Why might allUsers Object Viewer not make a bucket publicly readable?</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4. Does enabling a bucket default CMEK automatically re-encrypt existing objects?</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5. What does Cloud NAT allow, and what does it not allow?</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6. Why should Day 5 and Day 6 use separate Terraform state?</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7. Does a manual MIG resize prove autoscaling is configured?</a:t>
            </a:r>
            <a:endParaRPr lang="en-US" sz="1400" dirty="0"/>
          </a:p>
          <a:p>
            <a:pPr algn="l" indent="0" marL="0">
              <a:lnSpc>
                <a:spcPct val="95000"/>
              </a:lnSpc>
              <a:buNone/>
            </a:pPr>
            <a:r>
              <a:rPr lang="en-US" sz="1400" dirty="0">
                <a:solidFill>
                  <a:srgbClr val="203040"/>
                </a:solidFill>
                <a:latin typeface="Carlito" pitchFamily="34" charset="0"/>
                <a:ea typeface="Carlito" pitchFamily="34" charset="-122"/>
                <a:cs typeface="Carlito" pitchFamily="34" charset="-120"/>
              </a:rPr>
              <a:t>•  8. What evidence proves an alert actually worked?</a:t>
            </a:r>
            <a:endParaRPr lang="en-US" sz="1400" dirty="0"/>
          </a:p>
        </p:txBody>
      </p:sp>
      <p:sp>
        <p:nvSpPr>
          <p:cNvPr id="5" name="Shape 3"/>
          <p:cNvSpPr/>
          <p:nvPr/>
        </p:nvSpPr>
        <p:spPr>
          <a:xfrm>
            <a:off x="822960" y="5577840"/>
            <a:ext cx="10515600" cy="475488"/>
          </a:xfrm>
          <a:prstGeom prst="roundRect">
            <a:avLst>
              <a:gd name="adj" fmla="val 15385"/>
            </a:avLst>
          </a:prstGeom>
          <a:solidFill>
            <a:srgbClr val="FFF5E6"/>
          </a:solidFill>
          <a:ln w="10160">
            <a:solidFill>
              <a:srgbClr val="FFF5E6"/>
            </a:solidFill>
            <a:prstDash val="solid"/>
          </a:ln>
        </p:spPr>
      </p:sp>
      <p:sp>
        <p:nvSpPr>
          <p:cNvPr id="6" name="Text 4"/>
          <p:cNvSpPr txBox="1"/>
          <p:nvPr/>
        </p:nvSpPr>
        <p:spPr>
          <a:xfrm>
            <a:off x="969264" y="5650992"/>
            <a:ext cx="10222992" cy="329184"/>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D97706"/>
                </a:solidFill>
                <a:latin typeface="Carlito" pitchFamily="34" charset="0"/>
                <a:ea typeface="Carlito" pitchFamily="34" charset="-122"/>
                <a:cs typeface="Carlito" pitchFamily="34" charset="-120"/>
              </a:rPr>
              <a:t>Try to answer verbally. The answer key is on the next slide. For the capstone, be able to justify the recovery order - not just memorize it.</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KNOWLEDGE CHECK</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Answer key</a:t>
            </a:r>
            <a:endParaRPr lang="en-US" sz="2500" dirty="0"/>
          </a:p>
        </p:txBody>
      </p:sp>
      <p:sp>
        <p:nvSpPr>
          <p:cNvPr id="4" name="Text 2"/>
          <p:cNvSpPr txBox="1"/>
          <p:nvPr/>
        </p:nvSpPr>
        <p:spPr>
          <a:xfrm>
            <a:off x="822960" y="1691640"/>
            <a:ext cx="10515600" cy="4160520"/>
          </a:xfrm>
          <a:prstGeom prst="rect">
            <a:avLst/>
          </a:prstGeom>
          <a:noFill/>
          <a:ln/>
        </p:spPr>
        <p:txBody>
          <a:bodyPr wrap="square" lIns="254" tIns="254" rIns="254" bIns="254" rtlCol="0" anchor="t">
            <a:normAutofit/>
          </a:bodyPr>
          <a:lstStyle/>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1. IAP provides an authenticated encrypted TCP tunnel to the VM internal IP; firewall and IAM still must allow it.</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2. The disk is the cloud block device; the Linux filesystem is a separate layer that must be grown after the disk.</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3. Public Access Prevention or an organization policy can override or reject public IAM grants.</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4. No. Existing object encryption is unchanged; write or rewrite objects to use the new key.</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5. It allows private resources to initiate outbound connections; it does not allow unsolicited inbound connections.</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6. State maps configuration to remote objects; mixing states can cause accidental deletion, drift or duplicate creation.</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7. No. The lab manually resizes; an autoscaler policy must be separately configured and tested.</a:t>
            </a:r>
            <a:endParaRPr lang="en-US" sz="1170" dirty="0"/>
          </a:p>
          <a:p>
            <a:pPr algn="l" indent="0" marL="0">
              <a:lnSpc>
                <a:spcPct val="95000"/>
              </a:lnSpc>
              <a:buNone/>
            </a:pPr>
            <a:r>
              <a:rPr lang="en-US" sz="1170" dirty="0">
                <a:solidFill>
                  <a:srgbClr val="203040"/>
                </a:solidFill>
                <a:latin typeface="Carlito" pitchFamily="34" charset="0"/>
                <a:ea typeface="Carlito" pitchFamily="34" charset="-122"/>
                <a:cs typeface="Carlito" pitchFamily="34" charset="-120"/>
              </a:rPr>
              <a:t>•  8. Policy, verified channel, metric condition, open incident, received notification, and recovery/closure proof.</a:t>
            </a:r>
            <a:endParaRPr lang="en-US" sz="117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QUICK REFERENCE</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Glossary: the words you will use in this lab</a:t>
            </a:r>
            <a:endParaRPr lang="en-US" sz="2500" dirty="0"/>
          </a:p>
        </p:txBody>
      </p:sp>
      <p:sp>
        <p:nvSpPr>
          <p:cNvPr id="4" name="Shape 2"/>
          <p:cNvSpPr/>
          <p:nvPr/>
        </p:nvSpPr>
        <p:spPr>
          <a:xfrm>
            <a:off x="685800" y="1508760"/>
            <a:ext cx="2492197" cy="384048"/>
          </a:xfrm>
          <a:prstGeom prst="rect">
            <a:avLst/>
          </a:prstGeom>
          <a:solidFill>
            <a:srgbClr val="12304A"/>
          </a:solidFill>
          <a:ln w="6350">
            <a:solidFill>
              <a:srgbClr val="D5DEE8"/>
            </a:solidFill>
            <a:prstDash val="solid"/>
          </a:ln>
        </p:spPr>
      </p:sp>
      <p:sp>
        <p:nvSpPr>
          <p:cNvPr id="5" name="Text 3"/>
          <p:cNvSpPr txBox="1"/>
          <p:nvPr/>
        </p:nvSpPr>
        <p:spPr>
          <a:xfrm>
            <a:off x="749808" y="1545336"/>
            <a:ext cx="2364181"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TERM</a:t>
            </a:r>
            <a:endParaRPr lang="en-US" sz="950" dirty="0"/>
          </a:p>
        </p:txBody>
      </p:sp>
      <p:sp>
        <p:nvSpPr>
          <p:cNvPr id="6" name="Shape 4"/>
          <p:cNvSpPr/>
          <p:nvPr/>
        </p:nvSpPr>
        <p:spPr>
          <a:xfrm>
            <a:off x="3177997" y="1508760"/>
            <a:ext cx="8343443" cy="384048"/>
          </a:xfrm>
          <a:prstGeom prst="rect">
            <a:avLst/>
          </a:prstGeom>
          <a:solidFill>
            <a:srgbClr val="12304A"/>
          </a:solidFill>
          <a:ln w="6350">
            <a:solidFill>
              <a:srgbClr val="D5DEE8"/>
            </a:solidFill>
            <a:prstDash val="solid"/>
          </a:ln>
        </p:spPr>
      </p:sp>
      <p:sp>
        <p:nvSpPr>
          <p:cNvPr id="7" name="Text 5"/>
          <p:cNvSpPr txBox="1"/>
          <p:nvPr/>
        </p:nvSpPr>
        <p:spPr>
          <a:xfrm>
            <a:off x="3242005" y="1545336"/>
            <a:ext cx="8215427" cy="310896"/>
          </a:xfrm>
          <a:prstGeom prst="rect">
            <a:avLst/>
          </a:prstGeom>
          <a:noFill/>
          <a:ln/>
        </p:spPr>
        <p:txBody>
          <a:bodyPr wrap="square" lIns="0" tIns="0" rIns="0" bIns="0" rtlCol="0" anchor="ctr">
            <a:normAutofit/>
          </a:bodyPr>
          <a:lstStyle/>
          <a:p>
            <a:pPr algn="l" indent="0" marL="0">
              <a:lnSpc>
                <a:spcPct val="95000"/>
              </a:lnSpc>
              <a:buNone/>
            </a:pPr>
            <a:r>
              <a:rPr lang="en-US" sz="950" b="1" dirty="0">
                <a:solidFill>
                  <a:srgbClr val="FFFFFF"/>
                </a:solidFill>
                <a:latin typeface="Carlito" pitchFamily="34" charset="0"/>
                <a:ea typeface="Carlito" pitchFamily="34" charset="-122"/>
                <a:cs typeface="Carlito" pitchFamily="34" charset="-120"/>
              </a:rPr>
              <a:t>MEANING</a:t>
            </a:r>
            <a:endParaRPr lang="en-US" sz="950" dirty="0"/>
          </a:p>
        </p:txBody>
      </p:sp>
      <p:sp>
        <p:nvSpPr>
          <p:cNvPr id="8" name="Shape 6"/>
          <p:cNvSpPr/>
          <p:nvPr/>
        </p:nvSpPr>
        <p:spPr>
          <a:xfrm>
            <a:off x="685800" y="1892808"/>
            <a:ext cx="2492197" cy="414223"/>
          </a:xfrm>
          <a:prstGeom prst="rect">
            <a:avLst/>
          </a:prstGeom>
          <a:solidFill>
            <a:srgbClr val="FFFFFF"/>
          </a:solidFill>
          <a:ln w="6350">
            <a:solidFill>
              <a:srgbClr val="D5DEE8"/>
            </a:solidFill>
            <a:prstDash val="solid"/>
          </a:ln>
        </p:spPr>
      </p:sp>
      <p:sp>
        <p:nvSpPr>
          <p:cNvPr id="9" name="Text 7"/>
          <p:cNvSpPr txBox="1"/>
          <p:nvPr/>
        </p:nvSpPr>
        <p:spPr>
          <a:xfrm>
            <a:off x="749808" y="1929384"/>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IAP</a:t>
            </a:r>
            <a:endParaRPr lang="en-US" sz="945" dirty="0"/>
          </a:p>
        </p:txBody>
      </p:sp>
      <p:sp>
        <p:nvSpPr>
          <p:cNvPr id="10" name="Shape 8"/>
          <p:cNvSpPr/>
          <p:nvPr/>
        </p:nvSpPr>
        <p:spPr>
          <a:xfrm>
            <a:off x="3177997" y="1892808"/>
            <a:ext cx="8343443" cy="414223"/>
          </a:xfrm>
          <a:prstGeom prst="rect">
            <a:avLst/>
          </a:prstGeom>
          <a:solidFill>
            <a:srgbClr val="FFFFFF"/>
          </a:solidFill>
          <a:ln w="6350">
            <a:solidFill>
              <a:srgbClr val="D5DEE8"/>
            </a:solidFill>
            <a:prstDash val="solid"/>
          </a:ln>
        </p:spPr>
      </p:sp>
      <p:sp>
        <p:nvSpPr>
          <p:cNvPr id="11" name="Text 9"/>
          <p:cNvSpPr txBox="1"/>
          <p:nvPr/>
        </p:nvSpPr>
        <p:spPr>
          <a:xfrm>
            <a:off x="3242005" y="1929384"/>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Identity-Aware Proxy; authenticated TCP tunnel to a private VM.</a:t>
            </a:r>
            <a:endParaRPr lang="en-US" sz="945" dirty="0"/>
          </a:p>
        </p:txBody>
      </p:sp>
      <p:sp>
        <p:nvSpPr>
          <p:cNvPr id="12" name="Shape 10"/>
          <p:cNvSpPr/>
          <p:nvPr/>
        </p:nvSpPr>
        <p:spPr>
          <a:xfrm>
            <a:off x="685800" y="2307031"/>
            <a:ext cx="2492197" cy="414223"/>
          </a:xfrm>
          <a:prstGeom prst="rect">
            <a:avLst/>
          </a:prstGeom>
          <a:solidFill>
            <a:srgbClr val="F1F5F9"/>
          </a:solidFill>
          <a:ln w="6350">
            <a:solidFill>
              <a:srgbClr val="D5DEE8"/>
            </a:solidFill>
            <a:prstDash val="solid"/>
          </a:ln>
        </p:spPr>
      </p:sp>
      <p:sp>
        <p:nvSpPr>
          <p:cNvPr id="13" name="Text 11"/>
          <p:cNvSpPr txBox="1"/>
          <p:nvPr/>
        </p:nvSpPr>
        <p:spPr>
          <a:xfrm>
            <a:off x="749808" y="2343607"/>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OS Login</a:t>
            </a:r>
            <a:endParaRPr lang="en-US" sz="945" dirty="0"/>
          </a:p>
        </p:txBody>
      </p:sp>
      <p:sp>
        <p:nvSpPr>
          <p:cNvPr id="14" name="Shape 12"/>
          <p:cNvSpPr/>
          <p:nvPr/>
        </p:nvSpPr>
        <p:spPr>
          <a:xfrm>
            <a:off x="3177997" y="2307031"/>
            <a:ext cx="8343443" cy="414223"/>
          </a:xfrm>
          <a:prstGeom prst="rect">
            <a:avLst/>
          </a:prstGeom>
          <a:solidFill>
            <a:srgbClr val="F1F5F9"/>
          </a:solidFill>
          <a:ln w="6350">
            <a:solidFill>
              <a:srgbClr val="D5DEE8"/>
            </a:solidFill>
            <a:prstDash val="solid"/>
          </a:ln>
        </p:spPr>
      </p:sp>
      <p:sp>
        <p:nvSpPr>
          <p:cNvPr id="15" name="Text 13"/>
          <p:cNvSpPr txBox="1"/>
          <p:nvPr/>
        </p:nvSpPr>
        <p:spPr>
          <a:xfrm>
            <a:off x="3242005" y="2343607"/>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IAM-based management of Linux SSH access to Compute Engine VMs.</a:t>
            </a:r>
            <a:endParaRPr lang="en-US" sz="945" dirty="0"/>
          </a:p>
        </p:txBody>
      </p:sp>
      <p:sp>
        <p:nvSpPr>
          <p:cNvPr id="16" name="Shape 14"/>
          <p:cNvSpPr/>
          <p:nvPr/>
        </p:nvSpPr>
        <p:spPr>
          <a:xfrm>
            <a:off x="685800" y="2721254"/>
            <a:ext cx="2492197" cy="414223"/>
          </a:xfrm>
          <a:prstGeom prst="rect">
            <a:avLst/>
          </a:prstGeom>
          <a:solidFill>
            <a:srgbClr val="FFFFFF"/>
          </a:solidFill>
          <a:ln w="6350">
            <a:solidFill>
              <a:srgbClr val="D5DEE8"/>
            </a:solidFill>
            <a:prstDash val="solid"/>
          </a:ln>
        </p:spPr>
      </p:sp>
      <p:sp>
        <p:nvSpPr>
          <p:cNvPr id="17" name="Text 15"/>
          <p:cNvSpPr txBox="1"/>
          <p:nvPr/>
        </p:nvSpPr>
        <p:spPr>
          <a:xfrm>
            <a:off x="749808" y="2757830"/>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MIG</a:t>
            </a:r>
            <a:endParaRPr lang="en-US" sz="945" dirty="0"/>
          </a:p>
        </p:txBody>
      </p:sp>
      <p:sp>
        <p:nvSpPr>
          <p:cNvPr id="18" name="Shape 16"/>
          <p:cNvSpPr/>
          <p:nvPr/>
        </p:nvSpPr>
        <p:spPr>
          <a:xfrm>
            <a:off x="3177997" y="2721254"/>
            <a:ext cx="8343443" cy="414223"/>
          </a:xfrm>
          <a:prstGeom prst="rect">
            <a:avLst/>
          </a:prstGeom>
          <a:solidFill>
            <a:srgbClr val="FFFFFF"/>
          </a:solidFill>
          <a:ln w="6350">
            <a:solidFill>
              <a:srgbClr val="D5DEE8"/>
            </a:solidFill>
            <a:prstDash val="solid"/>
          </a:ln>
        </p:spPr>
      </p:sp>
      <p:sp>
        <p:nvSpPr>
          <p:cNvPr id="19" name="Text 17"/>
          <p:cNvSpPr txBox="1"/>
          <p:nvPr/>
        </p:nvSpPr>
        <p:spPr>
          <a:xfrm>
            <a:off x="3242005" y="2757830"/>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Managed Instance Group; fleet of VMs created from an instance template.</a:t>
            </a:r>
            <a:endParaRPr lang="en-US" sz="945" dirty="0"/>
          </a:p>
        </p:txBody>
      </p:sp>
      <p:sp>
        <p:nvSpPr>
          <p:cNvPr id="20" name="Shape 18"/>
          <p:cNvSpPr/>
          <p:nvPr/>
        </p:nvSpPr>
        <p:spPr>
          <a:xfrm>
            <a:off x="685800" y="3135478"/>
            <a:ext cx="2492197" cy="414223"/>
          </a:xfrm>
          <a:prstGeom prst="rect">
            <a:avLst/>
          </a:prstGeom>
          <a:solidFill>
            <a:srgbClr val="F1F5F9"/>
          </a:solidFill>
          <a:ln w="6350">
            <a:solidFill>
              <a:srgbClr val="D5DEE8"/>
            </a:solidFill>
            <a:prstDash val="solid"/>
          </a:ln>
        </p:spPr>
      </p:sp>
      <p:sp>
        <p:nvSpPr>
          <p:cNvPr id="21" name="Text 19"/>
          <p:cNvSpPr txBox="1"/>
          <p:nvPr/>
        </p:nvSpPr>
        <p:spPr>
          <a:xfrm>
            <a:off x="749808" y="3172054"/>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Persistent Disk</a:t>
            </a:r>
            <a:endParaRPr lang="en-US" sz="945" dirty="0"/>
          </a:p>
        </p:txBody>
      </p:sp>
      <p:sp>
        <p:nvSpPr>
          <p:cNvPr id="22" name="Shape 20"/>
          <p:cNvSpPr/>
          <p:nvPr/>
        </p:nvSpPr>
        <p:spPr>
          <a:xfrm>
            <a:off x="3177997" y="3135478"/>
            <a:ext cx="8343443" cy="414223"/>
          </a:xfrm>
          <a:prstGeom prst="rect">
            <a:avLst/>
          </a:prstGeom>
          <a:solidFill>
            <a:srgbClr val="F1F5F9"/>
          </a:solidFill>
          <a:ln w="6350">
            <a:solidFill>
              <a:srgbClr val="D5DEE8"/>
            </a:solidFill>
            <a:prstDash val="solid"/>
          </a:ln>
        </p:spPr>
      </p:sp>
      <p:sp>
        <p:nvSpPr>
          <p:cNvPr id="23" name="Text 21"/>
          <p:cNvSpPr txBox="1"/>
          <p:nvPr/>
        </p:nvSpPr>
        <p:spPr>
          <a:xfrm>
            <a:off x="3242005" y="3172054"/>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Network-attached block storage for Compute Engine.</a:t>
            </a:r>
            <a:endParaRPr lang="en-US" sz="945" dirty="0"/>
          </a:p>
        </p:txBody>
      </p:sp>
      <p:sp>
        <p:nvSpPr>
          <p:cNvPr id="24" name="Shape 22"/>
          <p:cNvSpPr/>
          <p:nvPr/>
        </p:nvSpPr>
        <p:spPr>
          <a:xfrm>
            <a:off x="685800" y="3549701"/>
            <a:ext cx="2492197" cy="414223"/>
          </a:xfrm>
          <a:prstGeom prst="rect">
            <a:avLst/>
          </a:prstGeom>
          <a:solidFill>
            <a:srgbClr val="FFFFFF"/>
          </a:solidFill>
          <a:ln w="6350">
            <a:solidFill>
              <a:srgbClr val="D5DEE8"/>
            </a:solidFill>
            <a:prstDash val="solid"/>
          </a:ln>
        </p:spPr>
      </p:sp>
      <p:sp>
        <p:nvSpPr>
          <p:cNvPr id="25" name="Text 23"/>
          <p:cNvSpPr txBox="1"/>
          <p:nvPr/>
        </p:nvSpPr>
        <p:spPr>
          <a:xfrm>
            <a:off x="749808" y="3586277"/>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Filesystem</a:t>
            </a:r>
            <a:endParaRPr lang="en-US" sz="945" dirty="0"/>
          </a:p>
        </p:txBody>
      </p:sp>
      <p:sp>
        <p:nvSpPr>
          <p:cNvPr id="26" name="Shape 24"/>
          <p:cNvSpPr/>
          <p:nvPr/>
        </p:nvSpPr>
        <p:spPr>
          <a:xfrm>
            <a:off x="3177997" y="3549701"/>
            <a:ext cx="8343443" cy="414223"/>
          </a:xfrm>
          <a:prstGeom prst="rect">
            <a:avLst/>
          </a:prstGeom>
          <a:solidFill>
            <a:srgbClr val="FFFFFF"/>
          </a:solidFill>
          <a:ln w="6350">
            <a:solidFill>
              <a:srgbClr val="D5DEE8"/>
            </a:solidFill>
            <a:prstDash val="solid"/>
          </a:ln>
        </p:spPr>
      </p:sp>
      <p:sp>
        <p:nvSpPr>
          <p:cNvPr id="27" name="Text 25"/>
          <p:cNvSpPr txBox="1"/>
          <p:nvPr/>
        </p:nvSpPr>
        <p:spPr>
          <a:xfrm>
            <a:off x="3242005" y="3586277"/>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In-guest structure such as ext4 that organizes files on a block device.</a:t>
            </a:r>
            <a:endParaRPr lang="en-US" sz="945" dirty="0"/>
          </a:p>
        </p:txBody>
      </p:sp>
      <p:sp>
        <p:nvSpPr>
          <p:cNvPr id="28" name="Shape 26"/>
          <p:cNvSpPr/>
          <p:nvPr/>
        </p:nvSpPr>
        <p:spPr>
          <a:xfrm>
            <a:off x="685800" y="3963924"/>
            <a:ext cx="2492197" cy="414223"/>
          </a:xfrm>
          <a:prstGeom prst="rect">
            <a:avLst/>
          </a:prstGeom>
          <a:solidFill>
            <a:srgbClr val="F1F5F9"/>
          </a:solidFill>
          <a:ln w="6350">
            <a:solidFill>
              <a:srgbClr val="D5DEE8"/>
            </a:solidFill>
            <a:prstDash val="solid"/>
          </a:ln>
        </p:spPr>
      </p:sp>
      <p:sp>
        <p:nvSpPr>
          <p:cNvPr id="29" name="Text 27"/>
          <p:cNvSpPr txBox="1"/>
          <p:nvPr/>
        </p:nvSpPr>
        <p:spPr>
          <a:xfrm>
            <a:off x="749808" y="4000500"/>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CMEK</a:t>
            </a:r>
            <a:endParaRPr lang="en-US" sz="945" dirty="0"/>
          </a:p>
        </p:txBody>
      </p:sp>
      <p:sp>
        <p:nvSpPr>
          <p:cNvPr id="30" name="Shape 28"/>
          <p:cNvSpPr/>
          <p:nvPr/>
        </p:nvSpPr>
        <p:spPr>
          <a:xfrm>
            <a:off x="3177997" y="3963924"/>
            <a:ext cx="8343443" cy="414223"/>
          </a:xfrm>
          <a:prstGeom prst="rect">
            <a:avLst/>
          </a:prstGeom>
          <a:solidFill>
            <a:srgbClr val="F1F5F9"/>
          </a:solidFill>
          <a:ln w="6350">
            <a:solidFill>
              <a:srgbClr val="D5DEE8"/>
            </a:solidFill>
            <a:prstDash val="solid"/>
          </a:ln>
        </p:spPr>
      </p:sp>
      <p:sp>
        <p:nvSpPr>
          <p:cNvPr id="31" name="Text 29"/>
          <p:cNvSpPr txBox="1"/>
          <p:nvPr/>
        </p:nvSpPr>
        <p:spPr>
          <a:xfrm>
            <a:off x="3242005" y="4000500"/>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Customer-managed encryption key managed through Cloud KMS.</a:t>
            </a:r>
            <a:endParaRPr lang="en-US" sz="945" dirty="0"/>
          </a:p>
        </p:txBody>
      </p:sp>
      <p:sp>
        <p:nvSpPr>
          <p:cNvPr id="32" name="Shape 30"/>
          <p:cNvSpPr/>
          <p:nvPr/>
        </p:nvSpPr>
        <p:spPr>
          <a:xfrm>
            <a:off x="685800" y="4378147"/>
            <a:ext cx="2492197" cy="414223"/>
          </a:xfrm>
          <a:prstGeom prst="rect">
            <a:avLst/>
          </a:prstGeom>
          <a:solidFill>
            <a:srgbClr val="FFFFFF"/>
          </a:solidFill>
          <a:ln w="6350">
            <a:solidFill>
              <a:srgbClr val="D5DEE8"/>
            </a:solidFill>
            <a:prstDash val="solid"/>
          </a:ln>
        </p:spPr>
      </p:sp>
      <p:sp>
        <p:nvSpPr>
          <p:cNvPr id="33" name="Text 31"/>
          <p:cNvSpPr txBox="1"/>
          <p:nvPr/>
        </p:nvSpPr>
        <p:spPr>
          <a:xfrm>
            <a:off x="749808" y="4414723"/>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Secret version</a:t>
            </a:r>
            <a:endParaRPr lang="en-US" sz="945" dirty="0"/>
          </a:p>
        </p:txBody>
      </p:sp>
      <p:sp>
        <p:nvSpPr>
          <p:cNvPr id="34" name="Shape 32"/>
          <p:cNvSpPr/>
          <p:nvPr/>
        </p:nvSpPr>
        <p:spPr>
          <a:xfrm>
            <a:off x="3177997" y="4378147"/>
            <a:ext cx="8343443" cy="414223"/>
          </a:xfrm>
          <a:prstGeom prst="rect">
            <a:avLst/>
          </a:prstGeom>
          <a:solidFill>
            <a:srgbClr val="FFFFFF"/>
          </a:solidFill>
          <a:ln w="6350">
            <a:solidFill>
              <a:srgbClr val="D5DEE8"/>
            </a:solidFill>
            <a:prstDash val="solid"/>
          </a:ln>
        </p:spPr>
      </p:sp>
      <p:sp>
        <p:nvSpPr>
          <p:cNvPr id="35" name="Text 33"/>
          <p:cNvSpPr txBox="1"/>
          <p:nvPr/>
        </p:nvSpPr>
        <p:spPr>
          <a:xfrm>
            <a:off x="3242005" y="4414723"/>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Versioned secret payload stored inside Secret Manager.</a:t>
            </a:r>
            <a:endParaRPr lang="en-US" sz="945" dirty="0"/>
          </a:p>
        </p:txBody>
      </p:sp>
      <p:sp>
        <p:nvSpPr>
          <p:cNvPr id="36" name="Shape 34"/>
          <p:cNvSpPr/>
          <p:nvPr/>
        </p:nvSpPr>
        <p:spPr>
          <a:xfrm>
            <a:off x="685800" y="4792370"/>
            <a:ext cx="2492197" cy="414223"/>
          </a:xfrm>
          <a:prstGeom prst="rect">
            <a:avLst/>
          </a:prstGeom>
          <a:solidFill>
            <a:srgbClr val="F1F5F9"/>
          </a:solidFill>
          <a:ln w="6350">
            <a:solidFill>
              <a:srgbClr val="D5DEE8"/>
            </a:solidFill>
            <a:prstDash val="solid"/>
          </a:ln>
        </p:spPr>
      </p:sp>
      <p:sp>
        <p:nvSpPr>
          <p:cNvPr id="37" name="Text 35"/>
          <p:cNvSpPr txBox="1"/>
          <p:nvPr/>
        </p:nvSpPr>
        <p:spPr>
          <a:xfrm>
            <a:off x="749808" y="4828946"/>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Cloud NAT</a:t>
            </a:r>
            <a:endParaRPr lang="en-US" sz="945" dirty="0"/>
          </a:p>
        </p:txBody>
      </p:sp>
      <p:sp>
        <p:nvSpPr>
          <p:cNvPr id="38" name="Shape 36"/>
          <p:cNvSpPr/>
          <p:nvPr/>
        </p:nvSpPr>
        <p:spPr>
          <a:xfrm>
            <a:off x="3177997" y="4792370"/>
            <a:ext cx="8343443" cy="414223"/>
          </a:xfrm>
          <a:prstGeom prst="rect">
            <a:avLst/>
          </a:prstGeom>
          <a:solidFill>
            <a:srgbClr val="F1F5F9"/>
          </a:solidFill>
          <a:ln w="6350">
            <a:solidFill>
              <a:srgbClr val="D5DEE8"/>
            </a:solidFill>
            <a:prstDash val="solid"/>
          </a:ln>
        </p:spPr>
      </p:sp>
      <p:sp>
        <p:nvSpPr>
          <p:cNvPr id="39" name="Text 37"/>
          <p:cNvSpPr txBox="1"/>
          <p:nvPr/>
        </p:nvSpPr>
        <p:spPr>
          <a:xfrm>
            <a:off x="3242005" y="4828946"/>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Managed source NAT for outbound connectivity from private resources.</a:t>
            </a:r>
            <a:endParaRPr lang="en-US" sz="945" dirty="0"/>
          </a:p>
        </p:txBody>
      </p:sp>
      <p:sp>
        <p:nvSpPr>
          <p:cNvPr id="40" name="Shape 38"/>
          <p:cNvSpPr/>
          <p:nvPr/>
        </p:nvSpPr>
        <p:spPr>
          <a:xfrm>
            <a:off x="685800" y="5206594"/>
            <a:ext cx="2492197" cy="414223"/>
          </a:xfrm>
          <a:prstGeom prst="rect">
            <a:avLst/>
          </a:prstGeom>
          <a:solidFill>
            <a:srgbClr val="FFFFFF"/>
          </a:solidFill>
          <a:ln w="6350">
            <a:solidFill>
              <a:srgbClr val="D5DEE8"/>
            </a:solidFill>
            <a:prstDash val="solid"/>
          </a:ln>
        </p:spPr>
      </p:sp>
      <p:sp>
        <p:nvSpPr>
          <p:cNvPr id="41" name="Text 39"/>
          <p:cNvSpPr txBox="1"/>
          <p:nvPr/>
        </p:nvSpPr>
        <p:spPr>
          <a:xfrm>
            <a:off x="749808" y="5243170"/>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Terraform state</a:t>
            </a:r>
            <a:endParaRPr lang="en-US" sz="945" dirty="0"/>
          </a:p>
        </p:txBody>
      </p:sp>
      <p:sp>
        <p:nvSpPr>
          <p:cNvPr id="42" name="Shape 40"/>
          <p:cNvSpPr/>
          <p:nvPr/>
        </p:nvSpPr>
        <p:spPr>
          <a:xfrm>
            <a:off x="3177997" y="5206594"/>
            <a:ext cx="8343443" cy="414223"/>
          </a:xfrm>
          <a:prstGeom prst="rect">
            <a:avLst/>
          </a:prstGeom>
          <a:solidFill>
            <a:srgbClr val="FFFFFF"/>
          </a:solidFill>
          <a:ln w="6350">
            <a:solidFill>
              <a:srgbClr val="D5DEE8"/>
            </a:solidFill>
            <a:prstDash val="solid"/>
          </a:ln>
        </p:spPr>
      </p:sp>
      <p:sp>
        <p:nvSpPr>
          <p:cNvPr id="43" name="Text 41"/>
          <p:cNvSpPr txBox="1"/>
          <p:nvPr/>
        </p:nvSpPr>
        <p:spPr>
          <a:xfrm>
            <a:off x="3242005" y="5243170"/>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Mapping between Terraform resource addresses and real cloud objects.</a:t>
            </a:r>
            <a:endParaRPr lang="en-US" sz="945" dirty="0"/>
          </a:p>
        </p:txBody>
      </p:sp>
      <p:sp>
        <p:nvSpPr>
          <p:cNvPr id="44" name="Shape 42"/>
          <p:cNvSpPr/>
          <p:nvPr/>
        </p:nvSpPr>
        <p:spPr>
          <a:xfrm>
            <a:off x="685800" y="5620817"/>
            <a:ext cx="2492197" cy="414223"/>
          </a:xfrm>
          <a:prstGeom prst="rect">
            <a:avLst/>
          </a:prstGeom>
          <a:solidFill>
            <a:srgbClr val="F1F5F9"/>
          </a:solidFill>
          <a:ln w="6350">
            <a:solidFill>
              <a:srgbClr val="D5DEE8"/>
            </a:solidFill>
            <a:prstDash val="solid"/>
          </a:ln>
        </p:spPr>
      </p:sp>
      <p:sp>
        <p:nvSpPr>
          <p:cNvPr id="45" name="Text 43"/>
          <p:cNvSpPr txBox="1"/>
          <p:nvPr/>
        </p:nvSpPr>
        <p:spPr>
          <a:xfrm>
            <a:off x="749808" y="5657393"/>
            <a:ext cx="2364181"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PIR</a:t>
            </a:r>
            <a:endParaRPr lang="en-US" sz="945" dirty="0"/>
          </a:p>
        </p:txBody>
      </p:sp>
      <p:sp>
        <p:nvSpPr>
          <p:cNvPr id="46" name="Shape 44"/>
          <p:cNvSpPr/>
          <p:nvPr/>
        </p:nvSpPr>
        <p:spPr>
          <a:xfrm>
            <a:off x="3177997" y="5620817"/>
            <a:ext cx="8343443" cy="414223"/>
          </a:xfrm>
          <a:prstGeom prst="rect">
            <a:avLst/>
          </a:prstGeom>
          <a:solidFill>
            <a:srgbClr val="F1F5F9"/>
          </a:solidFill>
          <a:ln w="6350">
            <a:solidFill>
              <a:srgbClr val="D5DEE8"/>
            </a:solidFill>
            <a:prstDash val="solid"/>
          </a:ln>
        </p:spPr>
      </p:sp>
      <p:sp>
        <p:nvSpPr>
          <p:cNvPr id="47" name="Text 45"/>
          <p:cNvSpPr txBox="1"/>
          <p:nvPr/>
        </p:nvSpPr>
        <p:spPr>
          <a:xfrm>
            <a:off x="3242005" y="5657393"/>
            <a:ext cx="8215427" cy="341071"/>
          </a:xfrm>
          <a:prstGeom prst="rect">
            <a:avLst/>
          </a:prstGeom>
          <a:noFill/>
          <a:ln/>
        </p:spPr>
        <p:txBody>
          <a:bodyPr wrap="square" lIns="0" tIns="0" rIns="0" bIns="0" rtlCol="0" anchor="ctr">
            <a:normAutofit/>
          </a:bodyPr>
          <a:lstStyle/>
          <a:p>
            <a:pPr algn="l" indent="0" marL="0">
              <a:lnSpc>
                <a:spcPct val="95000"/>
              </a:lnSpc>
              <a:buNone/>
            </a:pPr>
            <a:r>
              <a:rPr lang="en-US" sz="945" dirty="0">
                <a:solidFill>
                  <a:srgbClr val="203040"/>
                </a:solidFill>
                <a:latin typeface="Carlito" pitchFamily="34" charset="0"/>
                <a:ea typeface="Carlito" pitchFamily="34" charset="-122"/>
                <a:cs typeface="Carlito" pitchFamily="34" charset="-120"/>
              </a:rPr>
              <a:t>Post-Incident Review; root cause, actions, prevention and owners.</a:t>
            </a:r>
            <a:endParaRPr lang="en-US" sz="945"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OFFICIAL REFERENCES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Google Cloud documentation used for the concepts</a:t>
            </a:r>
            <a:endParaRPr lang="en-US" sz="2500" dirty="0"/>
          </a:p>
        </p:txBody>
      </p:sp>
      <p:sp>
        <p:nvSpPr>
          <p:cNvPr id="4" name="Text 2"/>
          <p:cNvSpPr txBox="1"/>
          <p:nvPr/>
        </p:nvSpPr>
        <p:spPr>
          <a:xfrm>
            <a:off x="822960" y="1572768"/>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Resource Manager hierarchy</a:t>
            </a:r>
            <a:endParaRPr lang="en-US" sz="1120" dirty="0"/>
          </a:p>
        </p:txBody>
      </p:sp>
      <p:sp>
        <p:nvSpPr>
          <p:cNvPr id="5" name="Text 3">
            <a:hlinkClick r:id="rId1" tooltip=""/>
          </p:cNvPr>
          <p:cNvSpPr txBox="1"/>
          <p:nvPr/>
        </p:nvSpPr>
        <p:spPr>
          <a:xfrm>
            <a:off x="4251960" y="1572768"/>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https://docs.cloud.google.com/resource-manager/docs/resource-manager-overview</a:t>
            </a:r>
            <a:endParaRPr lang="en-US" sz="920" dirty="0"/>
          </a:p>
        </p:txBody>
      </p:sp>
      <p:sp>
        <p:nvSpPr>
          <p:cNvPr id="6" name="Text 4"/>
          <p:cNvSpPr txBox="1"/>
          <p:nvPr/>
        </p:nvSpPr>
        <p:spPr>
          <a:xfrm>
            <a:off x="822960" y="2103120"/>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Regions and zones</a:t>
            </a:r>
            <a:endParaRPr lang="en-US" sz="1120" dirty="0"/>
          </a:p>
        </p:txBody>
      </p:sp>
      <p:sp>
        <p:nvSpPr>
          <p:cNvPr id="7" name="Text 5">
            <a:hlinkClick r:id="rId2" tooltip=""/>
          </p:cNvPr>
          <p:cNvSpPr txBox="1"/>
          <p:nvPr/>
        </p:nvSpPr>
        <p:spPr>
          <a:xfrm>
            <a:off x="4251960" y="2103120"/>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https://docs.cloud.google.com/compute/docs/regions-zones</a:t>
            </a:r>
            <a:endParaRPr lang="en-US" sz="920" dirty="0"/>
          </a:p>
        </p:txBody>
      </p:sp>
      <p:sp>
        <p:nvSpPr>
          <p:cNvPr id="8" name="Text 6"/>
          <p:cNvSpPr txBox="1"/>
          <p:nvPr/>
        </p:nvSpPr>
        <p:spPr>
          <a:xfrm>
            <a:off x="822960" y="2633472"/>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Compute Engine lifecycle</a:t>
            </a:r>
            <a:endParaRPr lang="en-US" sz="1120" dirty="0"/>
          </a:p>
        </p:txBody>
      </p:sp>
      <p:sp>
        <p:nvSpPr>
          <p:cNvPr id="9" name="Text 7">
            <a:hlinkClick r:id="rId3" tooltip=""/>
          </p:cNvPr>
          <p:cNvSpPr txBox="1"/>
          <p:nvPr/>
        </p:nvSpPr>
        <p:spPr>
          <a:xfrm>
            <a:off x="4251960" y="2633472"/>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https://docs.cloud.google.com/compute/docs/instances/instance-lifecycle</a:t>
            </a:r>
            <a:endParaRPr lang="en-US" sz="920" dirty="0"/>
          </a:p>
        </p:txBody>
      </p:sp>
      <p:sp>
        <p:nvSpPr>
          <p:cNvPr id="10" name="Text 8"/>
          <p:cNvSpPr txBox="1"/>
          <p:nvPr/>
        </p:nvSpPr>
        <p:spPr>
          <a:xfrm>
            <a:off x="822960" y="3163824"/>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IAP TCP forwarding</a:t>
            </a:r>
            <a:endParaRPr lang="en-US" sz="1120" dirty="0"/>
          </a:p>
        </p:txBody>
      </p:sp>
      <p:sp>
        <p:nvSpPr>
          <p:cNvPr id="11" name="Text 9">
            <a:hlinkClick r:id="rId4" tooltip=""/>
          </p:cNvPr>
          <p:cNvSpPr txBox="1"/>
          <p:nvPr/>
        </p:nvSpPr>
        <p:spPr>
          <a:xfrm>
            <a:off x="4251960" y="3163824"/>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https://docs.cloud.google.com/iap/docs/using-tcp-forwarding</a:t>
            </a:r>
            <a:endParaRPr lang="en-US" sz="920" dirty="0"/>
          </a:p>
        </p:txBody>
      </p:sp>
      <p:sp>
        <p:nvSpPr>
          <p:cNvPr id="12" name="Text 10"/>
          <p:cNvSpPr txBox="1"/>
          <p:nvPr/>
        </p:nvSpPr>
        <p:spPr>
          <a:xfrm>
            <a:off x="822960" y="3694176"/>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Managed Instance Groups</a:t>
            </a:r>
            <a:endParaRPr lang="en-US" sz="1120" dirty="0"/>
          </a:p>
        </p:txBody>
      </p:sp>
      <p:sp>
        <p:nvSpPr>
          <p:cNvPr id="13" name="Text 11">
            <a:hlinkClick r:id="rId5" tooltip=""/>
          </p:cNvPr>
          <p:cNvSpPr txBox="1"/>
          <p:nvPr/>
        </p:nvSpPr>
        <p:spPr>
          <a:xfrm>
            <a:off x="4251960" y="3694176"/>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https://docs.cloud.google.com/compute/docs/instance-groups</a:t>
            </a:r>
            <a:endParaRPr lang="en-US" sz="920" dirty="0"/>
          </a:p>
        </p:txBody>
      </p:sp>
      <p:sp>
        <p:nvSpPr>
          <p:cNvPr id="14" name="Text 12"/>
          <p:cNvSpPr txBox="1"/>
          <p:nvPr/>
        </p:nvSpPr>
        <p:spPr>
          <a:xfrm>
            <a:off x="822960" y="4224528"/>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Resize Persistent Disk</a:t>
            </a:r>
            <a:endParaRPr lang="en-US" sz="1120" dirty="0"/>
          </a:p>
        </p:txBody>
      </p:sp>
      <p:sp>
        <p:nvSpPr>
          <p:cNvPr id="15" name="Text 13">
            <a:hlinkClick r:id="rId6" tooltip=""/>
          </p:cNvPr>
          <p:cNvSpPr txBox="1"/>
          <p:nvPr/>
        </p:nvSpPr>
        <p:spPr>
          <a:xfrm>
            <a:off x="4251960" y="4224528"/>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https://docs.cloud.google.com/compute/docs/disks/resize-persistent-disk</a:t>
            </a:r>
            <a:endParaRPr lang="en-US" sz="920" dirty="0"/>
          </a:p>
        </p:txBody>
      </p:sp>
      <p:sp>
        <p:nvSpPr>
          <p:cNvPr id="16" name="Text 14"/>
          <p:cNvSpPr txBox="1"/>
          <p:nvPr/>
        </p:nvSpPr>
        <p:spPr>
          <a:xfrm>
            <a:off x="822960" y="4754880"/>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Cloud Storage Public Access Prevention</a:t>
            </a:r>
            <a:endParaRPr lang="en-US" sz="1120" dirty="0"/>
          </a:p>
        </p:txBody>
      </p:sp>
      <p:sp>
        <p:nvSpPr>
          <p:cNvPr id="17" name="Text 15">
            <a:hlinkClick r:id="rId7" tooltip=""/>
          </p:cNvPr>
          <p:cNvSpPr txBox="1"/>
          <p:nvPr/>
        </p:nvSpPr>
        <p:spPr>
          <a:xfrm>
            <a:off x="4251960" y="4754880"/>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https://docs.cloud.google.com/storage/docs/using-public-access-prevention</a:t>
            </a:r>
            <a:endParaRPr lang="en-US" sz="920" dirty="0"/>
          </a:p>
        </p:txBody>
      </p:sp>
      <p:sp>
        <p:nvSpPr>
          <p:cNvPr id="18" name="Text 16"/>
          <p:cNvSpPr txBox="1"/>
          <p:nvPr/>
        </p:nvSpPr>
        <p:spPr>
          <a:xfrm>
            <a:off x="822960" y="5285232"/>
            <a:ext cx="3383280" cy="219456"/>
          </a:xfrm>
          <a:prstGeom prst="rect">
            <a:avLst/>
          </a:prstGeom>
          <a:noFill/>
          <a:ln/>
        </p:spPr>
        <p:txBody>
          <a:bodyPr wrap="square" lIns="0" tIns="0" rIns="0" bIns="0" rtlCol="0" anchor="ctr">
            <a:normAutofit/>
          </a:bodyPr>
          <a:lstStyle/>
          <a:p>
            <a:pPr algn="l" indent="0" marL="0">
              <a:lnSpc>
                <a:spcPct val="95000"/>
              </a:lnSpc>
              <a:buNone/>
            </a:pPr>
            <a:r>
              <a:rPr lang="en-US" sz="1120" b="1" dirty="0">
                <a:solidFill>
                  <a:srgbClr val="12304A"/>
                </a:solidFill>
                <a:latin typeface="Carlito" pitchFamily="34" charset="0"/>
                <a:ea typeface="Carlito" pitchFamily="34" charset="-122"/>
                <a:cs typeface="Carlito" pitchFamily="34" charset="-120"/>
              </a:rPr>
              <a:t>Cloud NAT overview</a:t>
            </a:r>
            <a:endParaRPr lang="en-US" sz="1120" dirty="0"/>
          </a:p>
        </p:txBody>
      </p:sp>
      <p:sp>
        <p:nvSpPr>
          <p:cNvPr id="19" name="Text 17">
            <a:hlinkClick r:id="rId8" tooltip=""/>
          </p:cNvPr>
          <p:cNvSpPr txBox="1"/>
          <p:nvPr/>
        </p:nvSpPr>
        <p:spPr>
          <a:xfrm>
            <a:off x="4251960" y="5285232"/>
            <a:ext cx="6858000" cy="228600"/>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https://docs.cloud.google.com/nat/docs/overview</a:t>
            </a:r>
            <a:endParaRPr lang="en-US" sz="920" dirty="0"/>
          </a:p>
        </p:txBody>
      </p:sp>
      <p:sp>
        <p:nvSpPr>
          <p:cNvPr id="20" name="Shape 18"/>
          <p:cNvSpPr/>
          <p:nvPr/>
        </p:nvSpPr>
        <p:spPr>
          <a:xfrm>
            <a:off x="822960" y="5989320"/>
            <a:ext cx="10515600" cy="347472"/>
          </a:xfrm>
          <a:prstGeom prst="roundRect">
            <a:avLst>
              <a:gd name="adj" fmla="val 21053"/>
            </a:avLst>
          </a:prstGeom>
          <a:solidFill>
            <a:srgbClr val="EAF3FC"/>
          </a:solidFill>
          <a:ln w="10160">
            <a:solidFill>
              <a:srgbClr val="EAF3FC"/>
            </a:solidFill>
            <a:prstDash val="solid"/>
          </a:ln>
        </p:spPr>
      </p:sp>
      <p:sp>
        <p:nvSpPr>
          <p:cNvPr id="21" name="Text 19"/>
          <p:cNvSpPr txBox="1"/>
          <p:nvPr/>
        </p:nvSpPr>
        <p:spPr>
          <a:xfrm>
            <a:off x="969264" y="6062472"/>
            <a:ext cx="10222992" cy="20116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2878C8"/>
                </a:solidFill>
                <a:latin typeface="Carlito" pitchFamily="34" charset="0"/>
                <a:ea typeface="Carlito" pitchFamily="34" charset="-122"/>
                <a:cs typeface="Carlito" pitchFamily="34" charset="-120"/>
              </a:rPr>
              <a:t>Always confirm current product behavior, supported regions, IAM requirements and quotas in the official documentation before running the lab.</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OFFICIAL REFERENCES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Google Cloud security, secrets and monitoring references</a:t>
            </a:r>
            <a:endParaRPr lang="en-US" sz="2500" dirty="0"/>
          </a:p>
        </p:txBody>
      </p:sp>
      <p:sp>
        <p:nvSpPr>
          <p:cNvPr id="4" name="Text 2"/>
          <p:cNvSpPr txBox="1"/>
          <p:nvPr/>
        </p:nvSpPr>
        <p:spPr>
          <a:xfrm>
            <a:off x="822960" y="1645920"/>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Cloud Storage CMEK</a:t>
            </a:r>
            <a:endParaRPr lang="en-US" sz="1110" dirty="0"/>
          </a:p>
        </p:txBody>
      </p:sp>
      <p:sp>
        <p:nvSpPr>
          <p:cNvPr id="5" name="Text 3">
            <a:hlinkClick r:id="rId1" tooltip=""/>
          </p:cNvPr>
          <p:cNvSpPr txBox="1"/>
          <p:nvPr/>
        </p:nvSpPr>
        <p:spPr>
          <a:xfrm>
            <a:off x="4343400" y="1645920"/>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https://docs.cloud.google.com/storage/docs/encryption/customer-managed-keys</a:t>
            </a:r>
            <a:endParaRPr lang="en-US" sz="920" dirty="0"/>
          </a:p>
        </p:txBody>
      </p:sp>
      <p:sp>
        <p:nvSpPr>
          <p:cNvPr id="6" name="Text 4"/>
          <p:cNvSpPr txBox="1"/>
          <p:nvPr/>
        </p:nvSpPr>
        <p:spPr>
          <a:xfrm>
            <a:off x="822960" y="2221992"/>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Use customer-managed keys</a:t>
            </a:r>
            <a:endParaRPr lang="en-US" sz="1110" dirty="0"/>
          </a:p>
        </p:txBody>
      </p:sp>
      <p:sp>
        <p:nvSpPr>
          <p:cNvPr id="7" name="Text 5">
            <a:hlinkClick r:id="rId2" tooltip=""/>
          </p:cNvPr>
          <p:cNvSpPr txBox="1"/>
          <p:nvPr/>
        </p:nvSpPr>
        <p:spPr>
          <a:xfrm>
            <a:off x="4343400" y="2221992"/>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https://docs.cloud.google.com/storage/docs/encryption/using-customer-managed-keys</a:t>
            </a:r>
            <a:endParaRPr lang="en-US" sz="920" dirty="0"/>
          </a:p>
        </p:txBody>
      </p:sp>
      <p:sp>
        <p:nvSpPr>
          <p:cNvPr id="8" name="Text 6"/>
          <p:cNvSpPr txBox="1"/>
          <p:nvPr/>
        </p:nvSpPr>
        <p:spPr>
          <a:xfrm>
            <a:off x="822960" y="2798064"/>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Secret Manager - add a version</a:t>
            </a:r>
            <a:endParaRPr lang="en-US" sz="1110" dirty="0"/>
          </a:p>
        </p:txBody>
      </p:sp>
      <p:sp>
        <p:nvSpPr>
          <p:cNvPr id="9" name="Text 7">
            <a:hlinkClick r:id="rId3" tooltip=""/>
          </p:cNvPr>
          <p:cNvSpPr txBox="1"/>
          <p:nvPr/>
        </p:nvSpPr>
        <p:spPr>
          <a:xfrm>
            <a:off x="4343400" y="2798064"/>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https://docs.cloud.google.com/secret-manager/docs/add-secret-version</a:t>
            </a:r>
            <a:endParaRPr lang="en-US" sz="920" dirty="0"/>
          </a:p>
        </p:txBody>
      </p:sp>
      <p:sp>
        <p:nvSpPr>
          <p:cNvPr id="10" name="Text 8"/>
          <p:cNvSpPr txBox="1"/>
          <p:nvPr/>
        </p:nvSpPr>
        <p:spPr>
          <a:xfrm>
            <a:off x="822960" y="3374136"/>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Secret Manager - disable a version</a:t>
            </a:r>
            <a:endParaRPr lang="en-US" sz="1110" dirty="0"/>
          </a:p>
        </p:txBody>
      </p:sp>
      <p:sp>
        <p:nvSpPr>
          <p:cNvPr id="11" name="Text 9">
            <a:hlinkClick r:id="rId4" tooltip=""/>
          </p:cNvPr>
          <p:cNvSpPr txBox="1"/>
          <p:nvPr/>
        </p:nvSpPr>
        <p:spPr>
          <a:xfrm>
            <a:off x="4343400" y="3374136"/>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https://docs.cloud.google.com/secret-manager/docs/disable-secret-version</a:t>
            </a:r>
            <a:endParaRPr lang="en-US" sz="920" dirty="0"/>
          </a:p>
        </p:txBody>
      </p:sp>
      <p:sp>
        <p:nvSpPr>
          <p:cNvPr id="12" name="Text 10"/>
          <p:cNvSpPr txBox="1"/>
          <p:nvPr/>
        </p:nvSpPr>
        <p:spPr>
          <a:xfrm>
            <a:off x="822960" y="3950208"/>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Cloud Monitoring alerting overview</a:t>
            </a:r>
            <a:endParaRPr lang="en-US" sz="1110" dirty="0"/>
          </a:p>
        </p:txBody>
      </p:sp>
      <p:sp>
        <p:nvSpPr>
          <p:cNvPr id="13" name="Text 11">
            <a:hlinkClick r:id="rId5" tooltip=""/>
          </p:cNvPr>
          <p:cNvSpPr txBox="1"/>
          <p:nvPr/>
        </p:nvSpPr>
        <p:spPr>
          <a:xfrm>
            <a:off x="4343400" y="3950208"/>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https://docs.cloud.google.com/monitoring/alerts</a:t>
            </a:r>
            <a:endParaRPr lang="en-US" sz="920" dirty="0"/>
          </a:p>
        </p:txBody>
      </p:sp>
      <p:sp>
        <p:nvSpPr>
          <p:cNvPr id="14" name="Text 12"/>
          <p:cNvSpPr txBox="1"/>
          <p:nvPr/>
        </p:nvSpPr>
        <p:spPr>
          <a:xfrm>
            <a:off x="822960" y="4526280"/>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Cloud Monitoring notification channels</a:t>
            </a:r>
            <a:endParaRPr lang="en-US" sz="1110" dirty="0"/>
          </a:p>
        </p:txBody>
      </p:sp>
      <p:sp>
        <p:nvSpPr>
          <p:cNvPr id="15" name="Text 13">
            <a:hlinkClick r:id="rId6" tooltip=""/>
          </p:cNvPr>
          <p:cNvSpPr txBox="1"/>
          <p:nvPr/>
        </p:nvSpPr>
        <p:spPr>
          <a:xfrm>
            <a:off x="4343400" y="4526280"/>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https://docs.cloud.google.com/monitoring/support/notification-options</a:t>
            </a:r>
            <a:endParaRPr lang="en-US" sz="920" dirty="0"/>
          </a:p>
        </p:txBody>
      </p:sp>
      <p:sp>
        <p:nvSpPr>
          <p:cNvPr id="16" name="Text 14"/>
          <p:cNvSpPr txBox="1"/>
          <p:nvPr/>
        </p:nvSpPr>
        <p:spPr>
          <a:xfrm>
            <a:off x="822960" y="5102352"/>
            <a:ext cx="3474720" cy="219456"/>
          </a:xfrm>
          <a:prstGeom prst="rect">
            <a:avLst/>
          </a:prstGeom>
          <a:noFill/>
          <a:ln/>
        </p:spPr>
        <p:txBody>
          <a:bodyPr wrap="square" lIns="0" tIns="0" rIns="0" bIns="0" rtlCol="0" anchor="ctr">
            <a:normAutofit/>
          </a:bodyPr>
          <a:lstStyle/>
          <a:p>
            <a:pPr algn="l" indent="0" marL="0">
              <a:lnSpc>
                <a:spcPct val="95000"/>
              </a:lnSpc>
              <a:buNone/>
            </a:pPr>
            <a:r>
              <a:rPr lang="en-US" sz="1110" b="1" dirty="0">
                <a:solidFill>
                  <a:srgbClr val="12304A"/>
                </a:solidFill>
                <a:latin typeface="Carlito" pitchFamily="34" charset="0"/>
                <a:ea typeface="Carlito" pitchFamily="34" charset="-122"/>
                <a:cs typeface="Carlito" pitchFamily="34" charset="-120"/>
              </a:rPr>
              <a:t>Compute Engine CPU metric catalog</a:t>
            </a:r>
            <a:endParaRPr lang="en-US" sz="1110" dirty="0"/>
          </a:p>
        </p:txBody>
      </p:sp>
      <p:sp>
        <p:nvSpPr>
          <p:cNvPr id="17" name="Text 15">
            <a:hlinkClick r:id="rId7" tooltip=""/>
          </p:cNvPr>
          <p:cNvSpPr txBox="1"/>
          <p:nvPr/>
        </p:nvSpPr>
        <p:spPr>
          <a:xfrm>
            <a:off x="4343400" y="5102352"/>
            <a:ext cx="6720840" cy="246888"/>
          </a:xfrm>
          <a:prstGeom prst="rect">
            <a:avLst/>
          </a:prstGeom>
          <a:noFill/>
          <a:ln/>
        </p:spPr>
        <p:txBody>
          <a:bodyPr wrap="square" lIns="0" tIns="0" rIns="0" bIns="0" rtlCol="0" anchor="ctr">
            <a:normAutofit/>
          </a:bodyPr>
          <a:lstStyle/>
          <a:p>
            <a:pPr algn="l" indent="0" marL="0">
              <a:lnSpc>
                <a:spcPct val="95000"/>
              </a:lnSpc>
              <a:buNone/>
            </a:pPr>
            <a:r>
              <a:rPr lang="en-US" sz="920" u="sng" dirty="0">
                <a:solidFill>
                  <a:srgbClr val="2878C8"/>
                </a:solidFill>
                <a:latin typeface="Carlito" pitchFamily="34" charset="0"/>
                <a:ea typeface="Carlito" pitchFamily="34" charset="-122"/>
                <a:cs typeface="Carlit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https://docs.cloud.google.com/monitoring/api/metrics_gcp_c</a:t>
            </a:r>
            <a:endParaRPr lang="en-US" sz="92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30352" y="475488"/>
            <a:ext cx="4114800" cy="201168"/>
          </a:xfrm>
          <a:prstGeom prst="rect">
            <a:avLst/>
          </a:prstGeom>
          <a:noFill/>
          <a:ln/>
        </p:spPr>
        <p:txBody>
          <a:bodyPr wrap="square" lIns="0" tIns="0" rIns="0" bIns="0" rtlCol="0" anchor="ctr">
            <a:normAutofit/>
          </a:bodyPr>
          <a:lstStyle/>
          <a:p>
            <a:pPr algn="l" indent="0" marL="0">
              <a:lnSpc>
                <a:spcPct val="95000"/>
              </a:lnSpc>
              <a:buNone/>
            </a:pPr>
            <a:r>
              <a:rPr lang="en-US" sz="900" b="1" spc="120" kern="0" dirty="0">
                <a:solidFill>
                  <a:srgbClr val="2878C8"/>
                </a:solidFill>
                <a:latin typeface="Carlito" pitchFamily="34" charset="0"/>
                <a:ea typeface="Carlito" pitchFamily="34" charset="-122"/>
                <a:cs typeface="Carlito" pitchFamily="34" charset="-120"/>
              </a:rPr>
              <a:t>OFFICIAL REFERENCES</a:t>
            </a:r>
            <a:endParaRPr lang="en-US" sz="900" dirty="0"/>
          </a:p>
        </p:txBody>
      </p:sp>
      <p:sp>
        <p:nvSpPr>
          <p:cNvPr id="3" name="Text 1"/>
          <p:cNvSpPr txBox="1"/>
          <p:nvPr/>
        </p:nvSpPr>
        <p:spPr>
          <a:xfrm>
            <a:off x="530352" y="713232"/>
            <a:ext cx="11064240" cy="457200"/>
          </a:xfrm>
          <a:prstGeom prst="rect">
            <a:avLst/>
          </a:prstGeom>
          <a:noFill/>
          <a:ln/>
        </p:spPr>
        <p:txBody>
          <a:bodyPr wrap="square" lIns="0" tIns="0" rIns="0" bIns="0" rtlCol="0" anchor="ctr">
            <a:normAutofit/>
          </a:bodyPr>
          <a:lstStyle/>
          <a:p>
            <a:pPr algn="l" indent="0" marL="0">
              <a:lnSpc>
                <a:spcPct val="95000"/>
              </a:lnSpc>
              <a:buNone/>
            </a:pPr>
            <a:r>
              <a:rPr lang="en-US" sz="2500" b="1" dirty="0">
                <a:solidFill>
                  <a:srgbClr val="12304A"/>
                </a:solidFill>
                <a:latin typeface="Carlito" pitchFamily="34" charset="0"/>
                <a:ea typeface="Carlito" pitchFamily="34" charset="-122"/>
                <a:cs typeface="Carlito" pitchFamily="34" charset="-120"/>
              </a:rPr>
              <a:t>AWS, Azure and Terraform references</a:t>
            </a:r>
            <a:endParaRPr lang="en-US" sz="2500" dirty="0"/>
          </a:p>
        </p:txBody>
      </p:sp>
      <p:sp>
        <p:nvSpPr>
          <p:cNvPr id="4" name="Text 2"/>
          <p:cNvSpPr txBox="1"/>
          <p:nvPr/>
        </p:nvSpPr>
        <p:spPr>
          <a:xfrm>
            <a:off x="822960" y="1417320"/>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AWS EC2 Auto Scaling</a:t>
            </a:r>
            <a:endParaRPr lang="en-US" sz="1010" dirty="0"/>
          </a:p>
        </p:txBody>
      </p:sp>
      <p:sp>
        <p:nvSpPr>
          <p:cNvPr id="5" name="Text 3">
            <a:hlinkClick r:id="rId1" tooltip=""/>
          </p:cNvPr>
          <p:cNvSpPr txBox="1"/>
          <p:nvPr/>
        </p:nvSpPr>
        <p:spPr>
          <a:xfrm>
            <a:off x="4389120" y="1417320"/>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https://docs.aws.amazon.com/autoscaling/ec2/userguide/</a:t>
            </a:r>
            <a:endParaRPr lang="en-US" sz="860" dirty="0"/>
          </a:p>
        </p:txBody>
      </p:sp>
      <p:sp>
        <p:nvSpPr>
          <p:cNvPr id="6" name="Text 4"/>
          <p:cNvSpPr txBox="1"/>
          <p:nvPr/>
        </p:nvSpPr>
        <p:spPr>
          <a:xfrm>
            <a:off x="822960" y="1847088"/>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AWS NAT devices / NAT Gateway</a:t>
            </a:r>
            <a:endParaRPr lang="en-US" sz="1010" dirty="0"/>
          </a:p>
        </p:txBody>
      </p:sp>
      <p:sp>
        <p:nvSpPr>
          <p:cNvPr id="7" name="Text 5">
            <a:hlinkClick r:id="rId2" tooltip=""/>
          </p:cNvPr>
          <p:cNvSpPr txBox="1"/>
          <p:nvPr/>
        </p:nvSpPr>
        <p:spPr>
          <a:xfrm>
            <a:off x="4389120" y="1847088"/>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https://docs.aws.amazon.com/vpc/latest/userguide/vpc-nat.html</a:t>
            </a:r>
            <a:endParaRPr lang="en-US" sz="860" dirty="0"/>
          </a:p>
        </p:txBody>
      </p:sp>
      <p:sp>
        <p:nvSpPr>
          <p:cNvPr id="8" name="Text 6"/>
          <p:cNvSpPr txBox="1"/>
          <p:nvPr/>
        </p:nvSpPr>
        <p:spPr>
          <a:xfrm>
            <a:off x="822960" y="2276856"/>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S3 Block Public Access</a:t>
            </a:r>
            <a:endParaRPr lang="en-US" sz="1010" dirty="0"/>
          </a:p>
        </p:txBody>
      </p:sp>
      <p:sp>
        <p:nvSpPr>
          <p:cNvPr id="9" name="Text 7">
            <a:hlinkClick r:id="rId3" tooltip=""/>
          </p:cNvPr>
          <p:cNvSpPr txBox="1"/>
          <p:nvPr/>
        </p:nvSpPr>
        <p:spPr>
          <a:xfrm>
            <a:off x="4389120" y="2276856"/>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https://docs.aws.amazon.com/AmazonS3/latest/userguide/access-control-block-public-access.html</a:t>
            </a:r>
            <a:endParaRPr lang="en-US" sz="860" dirty="0"/>
          </a:p>
        </p:txBody>
      </p:sp>
      <p:sp>
        <p:nvSpPr>
          <p:cNvPr id="10" name="Text 8"/>
          <p:cNvSpPr txBox="1"/>
          <p:nvPr/>
        </p:nvSpPr>
        <p:spPr>
          <a:xfrm>
            <a:off x="822960" y="2706624"/>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AWS KMS key concepts</a:t>
            </a:r>
            <a:endParaRPr lang="en-US" sz="1010" dirty="0"/>
          </a:p>
        </p:txBody>
      </p:sp>
      <p:sp>
        <p:nvSpPr>
          <p:cNvPr id="11" name="Text 9">
            <a:hlinkClick r:id="rId4" tooltip=""/>
          </p:cNvPr>
          <p:cNvSpPr txBox="1"/>
          <p:nvPr/>
        </p:nvSpPr>
        <p:spPr>
          <a:xfrm>
            <a:off x="4389120" y="2706624"/>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https://docs.aws.amazon.com/kms/latest/developerguide/concepts.html</a:t>
            </a:r>
            <a:endParaRPr lang="en-US" sz="860" dirty="0"/>
          </a:p>
        </p:txBody>
      </p:sp>
      <p:sp>
        <p:nvSpPr>
          <p:cNvPr id="12" name="Text 10"/>
          <p:cNvSpPr txBox="1"/>
          <p:nvPr/>
        </p:nvSpPr>
        <p:spPr>
          <a:xfrm>
            <a:off x="822960" y="3136392"/>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AWS Secrets Manager rotation</a:t>
            </a:r>
            <a:endParaRPr lang="en-US" sz="1010" dirty="0"/>
          </a:p>
        </p:txBody>
      </p:sp>
      <p:sp>
        <p:nvSpPr>
          <p:cNvPr id="13" name="Text 11">
            <a:hlinkClick r:id="rId5" tooltip=""/>
          </p:cNvPr>
          <p:cNvSpPr txBox="1"/>
          <p:nvPr/>
        </p:nvSpPr>
        <p:spPr>
          <a:xfrm>
            <a:off x="4389120" y="3136392"/>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https://docs.aws.amazon.com/secretsmanager/latest/userguide/rotating-secrets.html</a:t>
            </a:r>
            <a:endParaRPr lang="en-US" sz="860" dirty="0"/>
          </a:p>
        </p:txBody>
      </p:sp>
      <p:sp>
        <p:nvSpPr>
          <p:cNvPr id="14" name="Text 12"/>
          <p:cNvSpPr txBox="1"/>
          <p:nvPr/>
        </p:nvSpPr>
        <p:spPr>
          <a:xfrm>
            <a:off x="822960" y="3566160"/>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Azure VM Scale Sets autoscale</a:t>
            </a:r>
            <a:endParaRPr lang="en-US" sz="1010" dirty="0"/>
          </a:p>
        </p:txBody>
      </p:sp>
      <p:sp>
        <p:nvSpPr>
          <p:cNvPr id="15" name="Text 13">
            <a:hlinkClick r:id="rId6" tooltip=""/>
          </p:cNvPr>
          <p:cNvSpPr txBox="1"/>
          <p:nvPr/>
        </p:nvSpPr>
        <p:spPr>
          <a:xfrm>
            <a:off x="4389120" y="3566160"/>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https://learn.microsoft.com/en-us/azure/virtual-machine-scale-sets/virtual-machine-scale-sets-autoscale-overview</a:t>
            </a:r>
            <a:endParaRPr lang="en-US" sz="860" dirty="0"/>
          </a:p>
        </p:txBody>
      </p:sp>
      <p:sp>
        <p:nvSpPr>
          <p:cNvPr id="16" name="Text 14"/>
          <p:cNvSpPr txBox="1"/>
          <p:nvPr/>
        </p:nvSpPr>
        <p:spPr>
          <a:xfrm>
            <a:off x="822960" y="3995928"/>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Azure NAT Gateway</a:t>
            </a:r>
            <a:endParaRPr lang="en-US" sz="1010" dirty="0"/>
          </a:p>
        </p:txBody>
      </p:sp>
      <p:sp>
        <p:nvSpPr>
          <p:cNvPr id="17" name="Text 15">
            <a:hlinkClick r:id="rId7" tooltip=""/>
          </p:cNvPr>
          <p:cNvSpPr txBox="1"/>
          <p:nvPr/>
        </p:nvSpPr>
        <p:spPr>
          <a:xfrm>
            <a:off x="4389120" y="3995928"/>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https://learn.microsoft.com/en-us/azure/nat-gateway/nat-overview</a:t>
            </a:r>
            <a:endParaRPr lang="en-US" sz="860" dirty="0"/>
          </a:p>
        </p:txBody>
      </p:sp>
      <p:sp>
        <p:nvSpPr>
          <p:cNvPr id="18" name="Text 16"/>
          <p:cNvSpPr txBox="1"/>
          <p:nvPr/>
        </p:nvSpPr>
        <p:spPr>
          <a:xfrm>
            <a:off x="822960" y="4425696"/>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Azure Storage public access</a:t>
            </a:r>
            <a:endParaRPr lang="en-US" sz="1010" dirty="0"/>
          </a:p>
        </p:txBody>
      </p:sp>
      <p:sp>
        <p:nvSpPr>
          <p:cNvPr id="19" name="Text 17">
            <a:hlinkClick r:id="rId8" tooltip=""/>
          </p:cNvPr>
          <p:cNvSpPr txBox="1"/>
          <p:nvPr/>
        </p:nvSpPr>
        <p:spPr>
          <a:xfrm>
            <a:off x="4389120" y="4425696"/>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https://learn.microsoft.com/en-us/azure/storage/blobs/anonymous-read-access-prevent</a:t>
            </a:r>
            <a:endParaRPr lang="en-US" sz="860" dirty="0"/>
          </a:p>
        </p:txBody>
      </p:sp>
      <p:sp>
        <p:nvSpPr>
          <p:cNvPr id="20" name="Text 18"/>
          <p:cNvSpPr txBox="1"/>
          <p:nvPr/>
        </p:nvSpPr>
        <p:spPr>
          <a:xfrm>
            <a:off x="822960" y="4855464"/>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Azure Storage CMK</a:t>
            </a:r>
            <a:endParaRPr lang="en-US" sz="1010" dirty="0"/>
          </a:p>
        </p:txBody>
      </p:sp>
      <p:sp>
        <p:nvSpPr>
          <p:cNvPr id="21" name="Text 19">
            <a:hlinkClick r:id="rId9" tooltip=""/>
          </p:cNvPr>
          <p:cNvSpPr txBox="1"/>
          <p:nvPr/>
        </p:nvSpPr>
        <p:spPr>
          <a:xfrm>
            <a:off x="4389120" y="4855464"/>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https://learn.microsoft.com/en-us/azure/storage/common/customer-managed-keys-overview</a:t>
            </a:r>
            <a:endParaRPr lang="en-US" sz="860" dirty="0"/>
          </a:p>
        </p:txBody>
      </p:sp>
      <p:sp>
        <p:nvSpPr>
          <p:cNvPr id="22" name="Text 20"/>
          <p:cNvSpPr txBox="1"/>
          <p:nvPr/>
        </p:nvSpPr>
        <p:spPr>
          <a:xfrm>
            <a:off x="822960" y="5285232"/>
            <a:ext cx="3520440" cy="201168"/>
          </a:xfrm>
          <a:prstGeom prst="rect">
            <a:avLst/>
          </a:prstGeom>
          <a:noFill/>
          <a:ln/>
        </p:spPr>
        <p:txBody>
          <a:bodyPr wrap="square" lIns="0" tIns="0" rIns="0" bIns="0" rtlCol="0" anchor="ctr">
            <a:normAutofit/>
          </a:bodyPr>
          <a:lstStyle/>
          <a:p>
            <a:pPr algn="l" indent="0" marL="0">
              <a:lnSpc>
                <a:spcPct val="95000"/>
              </a:lnSpc>
              <a:buNone/>
            </a:pPr>
            <a:r>
              <a:rPr lang="en-US" sz="1010" b="1" dirty="0">
                <a:solidFill>
                  <a:srgbClr val="12304A"/>
                </a:solidFill>
                <a:latin typeface="Carlito" pitchFamily="34" charset="0"/>
                <a:ea typeface="Carlito" pitchFamily="34" charset="-122"/>
                <a:cs typeface="Carlito" pitchFamily="34" charset="-120"/>
              </a:rPr>
              <a:t>Terraform state</a:t>
            </a:r>
            <a:endParaRPr lang="en-US" sz="1010" dirty="0"/>
          </a:p>
        </p:txBody>
      </p:sp>
      <p:sp>
        <p:nvSpPr>
          <p:cNvPr id="23" name="Text 21">
            <a:hlinkClick r:id="rId10" tooltip=""/>
          </p:cNvPr>
          <p:cNvSpPr txBox="1"/>
          <p:nvPr/>
        </p:nvSpPr>
        <p:spPr>
          <a:xfrm>
            <a:off x="4389120" y="5285232"/>
            <a:ext cx="6812280" cy="219456"/>
          </a:xfrm>
          <a:prstGeom prst="rect">
            <a:avLst/>
          </a:prstGeom>
          <a:noFill/>
          <a:ln/>
        </p:spPr>
        <p:txBody>
          <a:bodyPr wrap="square" lIns="0" tIns="0" rIns="0" bIns="0" rtlCol="0" anchor="ctr">
            <a:normAutofit/>
          </a:bodyPr>
          <a:lstStyle/>
          <a:p>
            <a:pPr algn="l" indent="0" marL="0">
              <a:lnSpc>
                <a:spcPct val="95000"/>
              </a:lnSpc>
              <a:buNone/>
            </a:pPr>
            <a:r>
              <a:rPr lang="en-US" sz="860" u="sng" dirty="0">
                <a:solidFill>
                  <a:srgbClr val="2878C8"/>
                </a:solidFill>
                <a:latin typeface="Carlito" pitchFamily="34" charset="0"/>
                <a:ea typeface="Carlito" pitchFamily="34" charset="-122"/>
                <a:cs typeface="Carlit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https://developer.hashicorp.com/terraform/language/state</a:t>
            </a:r>
            <a:endParaRPr lang="en-US" sz="860" dirty="0"/>
          </a:p>
        </p:txBody>
      </p:sp>
      <p:sp>
        <p:nvSpPr>
          <p:cNvPr id="24" name="Shape 22"/>
          <p:cNvSpPr/>
          <p:nvPr/>
        </p:nvSpPr>
        <p:spPr>
          <a:xfrm>
            <a:off x="822960" y="5989320"/>
            <a:ext cx="10515600" cy="347472"/>
          </a:xfrm>
          <a:prstGeom prst="roundRect">
            <a:avLst>
              <a:gd name="adj" fmla="val 21053"/>
            </a:avLst>
          </a:prstGeom>
          <a:solidFill>
            <a:srgbClr val="E9F7F0"/>
          </a:solidFill>
          <a:ln w="10160">
            <a:solidFill>
              <a:srgbClr val="E9F7F0"/>
            </a:solidFill>
            <a:prstDash val="solid"/>
          </a:ln>
        </p:spPr>
      </p:sp>
      <p:sp>
        <p:nvSpPr>
          <p:cNvPr id="25" name="Text 23"/>
          <p:cNvSpPr txBox="1"/>
          <p:nvPr/>
        </p:nvSpPr>
        <p:spPr>
          <a:xfrm>
            <a:off x="969264" y="6062472"/>
            <a:ext cx="10222992" cy="201168"/>
          </a:xfrm>
          <a:prstGeom prst="rect">
            <a:avLst/>
          </a:prstGeom>
          <a:noFill/>
          <a:ln/>
        </p:spPr>
        <p:txBody>
          <a:bodyPr wrap="square" lIns="0" tIns="0" rIns="0" bIns="0" rtlCol="0" anchor="ctr">
            <a:normAutofit/>
          </a:bodyPr>
          <a:lstStyle/>
          <a:p>
            <a:pPr algn="l" indent="0" marL="0">
              <a:lnSpc>
                <a:spcPct val="95000"/>
              </a:lnSpc>
              <a:buNone/>
            </a:pPr>
            <a:r>
              <a:rPr lang="en-US" sz="1040" b="1" dirty="0">
                <a:solidFill>
                  <a:srgbClr val="16A36A"/>
                </a:solidFill>
                <a:latin typeface="Carlito" pitchFamily="34" charset="0"/>
                <a:ea typeface="Carlito" pitchFamily="34" charset="-122"/>
                <a:cs typeface="Carlito" pitchFamily="34" charset="-120"/>
              </a:rPr>
              <a:t>These references supplement, but do not replace, the Day 6 Student Execution Guide for exact Terraform variable names and step-by-step lab commands.</a:t>
            </a:r>
            <a:endParaRPr lang="en-US" sz="1040" dirty="0"/>
          </a:p>
        </p:txBody>
      </p:sp>
      <p:sp>
        <p:nvSpPr>
          <p:cNvPr id="25" name="Slide Number Placeholder 0"/>
          <p:cNvSpPr>
            <a:spLocks noGrp="1"/>
          </p:cNvSpPr>
          <p:nvPr>
            <p:ph type="sldNum" sz="quarter" idx="4294967295"/>
          </p:nvPr>
        </p:nvSpPr>
        <p:spPr>
          <a:xfrm>
            <a:off x="11201400" y="6556248"/>
            <a:ext cx="457200" cy="164592"/>
          </a:xfrm>
          <a:prstGeom prst="rect">
            <a:avLst/>
          </a:prstGeom>
          <a:extLst>
            <a:ext uri="{C572A759-6A51-4108-AA02-DFA0A04FC94B}">
              <ma14:wrappingTextBoxFlag xmlns:ma14="http://schemas.microsoft.com/office/mac/drawingml/2011/main" val="0"/>
            </a:ext>
          </a:extLst>
        </p:spPr>
        <p:txBody>
          <a:bodyPr/>
          <a:lstStyle>
            <a:lvl1pPr>
              <a:defRPr sz="800">
                <a:solidFill>
                  <a:srgbClr val="718096"/>
                </a:solidFill>
                <a:latin typeface="Carlito"/>
                <a:ea typeface="Carlito"/>
                <a:cs typeface="Carlito"/>
              </a:defRPr>
            </a:lvl1pPr>
          </a:lstStyle>
          <a:p>
            <a:pPr algn="r"/>
            <a:fld id="{F7021451-1387-4CA6-816F-3879F97B5CBC}" type="slidenum">
              <a:rPr b="0"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Multi-Cloud Foundations Bootcamp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GCP Day 6 - Theory and Multi-Cloud Concepts</dc:title>
  <dc:subject>GCP Day 6 Theory Student Reference</dc:subject>
  <dc:creator>OpenAI</dc:creator>
  <cp:lastModifiedBy>OpenAI</cp:lastModifiedBy>
  <cp:revision>1</cp:revision>
  <dcterms:created xsi:type="dcterms:W3CDTF">2026-10-26T11:31:22Z</dcterms:created>
  <dcterms:modified xsi:type="dcterms:W3CDTF">2026-10-26T11:31:22Z</dcterms:modified>
</cp:coreProperties>
</file>