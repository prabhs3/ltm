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ocs.aws.amazon.com/AWSEC2/latest/UserGuide/ec2-instance-lifecycle.html" TargetMode="External"/><Relationship Id="rId3" Type="http://schemas.openxmlformats.org/officeDocument/2006/relationships/hyperlink" Target="https://docs.aws.amazon.com/AWSEC2/latest/UserGuide/Stop_Start.html" TargetMode="External"/><Relationship Id="rId4" Type="http://schemas.openxmlformats.org/officeDocument/2006/relationships/hyperlink" Target="https://docs.aws.amazon.com/autoscaling/ec2/userguide/" TargetMode="External"/><Relationship Id="rId5" Type="http://schemas.openxmlformats.org/officeDocument/2006/relationships/hyperlink" Target="https://docs.aws.amazon.com/autoscaling/ec2/userguide/ec2-auto-scaling-health-checks.html" TargetMode="External"/><Relationship Id="rId6" Type="http://schemas.openxmlformats.org/officeDocument/2006/relationships/hyperlink" Target="https://docs.aws.amazon.com/vpc/latest/userguide/how-it-works.html" TargetMode="External"/><Relationship Id="rId7" Type="http://schemas.openxmlformats.org/officeDocument/2006/relationships/hyperlink" Target="https://docs.aws.amazon.com/vpc/latest/userguide/VPC_Route_Tables.html" TargetMode="External"/><Relationship Id="rId8" Type="http://schemas.openxmlformats.org/officeDocument/2006/relationships/hyperlink" Target="https://docs.aws.amazon.com/vpc/latest/userguide/working-with-igw.html" TargetMode="External"/><Relationship Id="rId9" Type="http://schemas.openxmlformats.org/officeDocument/2006/relationships/hyperlink" Target="https://docs.aws.amazon.com/vpc/latest/userguide/vpc-nat.html" TargetMode="External"/><Relationship Id="rId10" Type="http://schemas.openxmlformats.org/officeDocument/2006/relationships/hyperlink" Target="https://docs.aws.amazon.com/elasticloadbalancing/latest/application/application-load-balancers.html" TargetMode="Externa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ocs.aws.amazon.com/ebs/latest/userguide/ebs-modify-volume.html" TargetMode="External"/><Relationship Id="rId3" Type="http://schemas.openxmlformats.org/officeDocument/2006/relationships/hyperlink" Target="https://docs.aws.amazon.com/ebs/latest/userguide/recognize-expanded-volume-linux.html" TargetMode="External"/><Relationship Id="rId4" Type="http://schemas.openxmlformats.org/officeDocument/2006/relationships/hyperlink" Target="https://docs.aws.amazon.com/ebs/latest/userguide/ebs-snapshots.html" TargetMode="External"/><Relationship Id="rId5" Type="http://schemas.openxmlformats.org/officeDocument/2006/relationships/hyperlink" Target="https://aws.amazon.com/s3/features/block-public-access/" TargetMode="External"/><Relationship Id="rId6" Type="http://schemas.openxmlformats.org/officeDocument/2006/relationships/hyperlink" Target="https://docs.aws.amazon.com/AmazonS3/latest/userguide/Versioning.html" TargetMode="External"/><Relationship Id="rId7" Type="http://schemas.openxmlformats.org/officeDocument/2006/relationships/hyperlink" Target="https://docs.aws.amazon.com/AmazonS3/latest/userguide/RestoringPreviousVersions.html" TargetMode="External"/><Relationship Id="rId8" Type="http://schemas.openxmlformats.org/officeDocument/2006/relationships/hyperlink" Target="https://docs.aws.amazon.com/AmazonS3/latest/userguide/UsingKMSEncryption.html" TargetMode="External"/><Relationship Id="rId9" Type="http://schemas.openxmlformats.org/officeDocument/2006/relationships/hyperlink" Target="https://docs.aws.amazon.com/secretsmanager/latest/userguide/rotating-secrets.html" TargetMode="External"/><Relationship Id="rId10" Type="http://schemas.openxmlformats.org/officeDocument/2006/relationships/hyperlink" Target="https://docs.aws.amazon.com/AmazonCloudWatch/latest/monitoring/AlarmThatSendsEmail.html" TargetMode="External"/><Relationship Id="rId11" Type="http://schemas.openxmlformats.org/officeDocument/2006/relationships/hyperlink" Target="https://docs.aws.amazon.com/cost-management/latest/userguide/ce-what-is.html" TargetMode="Externa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earn.microsoft.com/en-us/azure/virtual-machines/states-billing" TargetMode="External"/><Relationship Id="rId3" Type="http://schemas.openxmlformats.org/officeDocument/2006/relationships/hyperlink" Target="https://learn.microsoft.com/en-us/azure/virtual-machine-scale-sets/overview" TargetMode="External"/><Relationship Id="rId4" Type="http://schemas.openxmlformats.org/officeDocument/2006/relationships/hyperlink" Target="https://learn.microsoft.com/en-us/azure/nat-gateway/nat-overview" TargetMode="External"/><Relationship Id="rId5" Type="http://schemas.openxmlformats.org/officeDocument/2006/relationships/hyperlink" Target="https://learn.microsoft.com/en-us/azure/virtual-machines/linux/expand-disks" TargetMode="External"/><Relationship Id="rId6" Type="http://schemas.openxmlformats.org/officeDocument/2006/relationships/hyperlink" Target="https://learn.microsoft.com/en-us/azure/storage/blobs/anonymous-read-access-prevent" TargetMode="External"/><Relationship Id="rId7" Type="http://schemas.openxmlformats.org/officeDocument/2006/relationships/hyperlink" Target="https://learn.microsoft.com/en-us/azure/key-vault/general/about-keys-secrets-certificates" TargetMode="External"/><Relationship Id="rId8" Type="http://schemas.openxmlformats.org/officeDocument/2006/relationships/hyperlink" Target="https://learn.microsoft.com/en-us/azure/azure-monitor/alerts/alerts-metric-overview" TargetMode="External"/><Relationship Id="rId9" Type="http://schemas.openxmlformats.org/officeDocument/2006/relationships/hyperlink" Target="https://learn.microsoft.com/en-us/azure/cost-management-billing/costs/quick-acm-cost-analysis" TargetMode="Externa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kodekloud.com/courses/amazon-elastic-compute-cloud-ec2/" TargetMode="External"/><Relationship Id="rId3" Type="http://schemas.openxmlformats.org/officeDocument/2006/relationships/hyperlink" Target="https://kodekloud.com/courses/aws-iam/" TargetMode="External"/><Relationship Id="rId4" Type="http://schemas.openxmlformats.org/officeDocument/2006/relationships/hyperlink" Target="https://kodekloud.com/courses/aws-cloudwatch" TargetMode="External"/><Relationship Id="rId5" Type="http://schemas.openxmlformats.org/officeDocument/2006/relationships/hyperlink" Target="https://kodekloud.com/learning-path/aws" TargetMode="External"/><Relationship Id="rId6" Type="http://schemas.openxmlformats.org/officeDocument/2006/relationships/hyperlink" Target="https://kodekloud.com/courses/aws-certified-developer-associate" TargetMode="External"/><Relationship Id="rId7" Type="http://schemas.openxmlformats.org/officeDocument/2006/relationships/hyperlink" Target="https://kodekloud.com/courses/aws-solutions-architect-associate-certification" TargetMode="Externa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C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732520" y="0"/>
            <a:ext cx="3456432" cy="6858000"/>
          </a:xfrm>
          <a:prstGeom prst="rect">
            <a:avLst/>
          </a:prstGeom>
          <a:solidFill>
            <a:srgbClr val="1A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098280" y="786384"/>
            <a:ext cx="2468880" cy="658368"/>
          </a:xfrm>
          <a:prstGeom prst="roundRect">
            <a:avLst>
              <a:gd name="adj" fmla="val 8000"/>
            </a:avLst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35440" y="905256"/>
            <a:ext cx="2194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  <a:defRPr sz="1800" b="1" i="0">
                <a:solidFill>
                  <a:srgbClr val="FFFFFF"/>
                </a:solidFill>
                <a:latin typeface="Aptos"/>
              </a:defRPr>
            </a:pPr>
            <a:r>
              <a:t>EC2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098280" y="1810512"/>
            <a:ext cx="2468880" cy="658368"/>
          </a:xfrm>
          <a:prstGeom prst="roundRect">
            <a:avLst>
              <a:gd name="adj" fmla="val 8000"/>
            </a:avLst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235440" y="1929384"/>
            <a:ext cx="2194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  <a:defRPr sz="1800" b="1" i="0">
                <a:solidFill>
                  <a:srgbClr val="FFFFFF"/>
                </a:solidFill>
                <a:latin typeface="Aptos"/>
              </a:defRPr>
            </a:pPr>
            <a:r>
              <a:t>VPC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98280" y="2834640"/>
            <a:ext cx="2468880" cy="658368"/>
          </a:xfrm>
          <a:prstGeom prst="roundRect">
            <a:avLst>
              <a:gd name="adj" fmla="val 8000"/>
            </a:avLst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0" y="2953512"/>
            <a:ext cx="2194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  <a:defRPr sz="1800" b="1" i="0">
                <a:solidFill>
                  <a:srgbClr val="FFFFFF"/>
                </a:solidFill>
                <a:latin typeface="Aptos"/>
              </a:defRPr>
            </a:pPr>
            <a:r>
              <a:t>EBS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98280" y="3858768"/>
            <a:ext cx="2468880" cy="658368"/>
          </a:xfrm>
          <a:prstGeom prst="roundRect">
            <a:avLst>
              <a:gd name="adj" fmla="val 8000"/>
            </a:avLst>
          </a:prstGeom>
          <a:solidFill>
            <a:srgbClr val="6741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0" y="3977640"/>
            <a:ext cx="2194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  <a:defRPr sz="1800" b="1" i="0">
                <a:solidFill>
                  <a:srgbClr val="FFFFFF"/>
                </a:solidFill>
                <a:latin typeface="Aptos"/>
              </a:defRPr>
            </a:pPr>
            <a:r>
              <a:t>S3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98280" y="4882896"/>
            <a:ext cx="2468880" cy="658368"/>
          </a:xfrm>
          <a:prstGeom prst="roundRect">
            <a:avLst>
              <a:gd name="adj" fmla="val 8000"/>
            </a:avLst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0" y="5001768"/>
            <a:ext cx="2194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  <a:defRPr sz="1800" b="1" i="0">
                <a:solidFill>
                  <a:srgbClr val="FFFFFF"/>
                </a:solidFill>
                <a:latin typeface="Aptos"/>
              </a:defRPr>
            </a:pPr>
            <a:r>
              <a:t>CloudWatch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685800"/>
            <a:ext cx="2331720" cy="274320"/>
          </a:xfrm>
          <a:prstGeom prst="roundRect">
            <a:avLst>
              <a:gd name="adj" fmla="val 8000"/>
            </a:avLst>
          </a:prstGeom>
          <a:solidFill>
            <a:srgbClr val="303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" y="704088"/>
            <a:ext cx="225856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  <a:defRPr sz="1000" b="1" i="0">
                <a:solidFill>
                  <a:srgbClr val="FFD28A"/>
                </a:solidFill>
                <a:latin typeface="Aptos"/>
              </a:defRPr>
            </a:pPr>
            <a:r>
              <a:t>STUDENT THEORY • DAY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1325880"/>
            <a:ext cx="75895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3800" b="1" i="0">
                <a:solidFill>
                  <a:srgbClr val="FFFFFF"/>
                </a:solidFill>
                <a:latin typeface="Aptos"/>
              </a:defRPr>
            </a:pPr>
            <a:r>
              <a:t>AWS Operations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2240280"/>
            <a:ext cx="7543800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2200" b="0" i="0">
                <a:solidFill>
                  <a:srgbClr val="D7E2EF"/>
                </a:solidFill>
                <a:latin typeface="Aptos"/>
              </a:defRPr>
            </a:pPr>
            <a:r>
              <a:t>Cost-safe lifecycle, connectivity triage, EBS storage &amp; cloud governance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13232" y="3337560"/>
            <a:ext cx="6510528" cy="0"/>
          </a:xfrm>
          <a:prstGeom prst="line">
            <a:avLst/>
          </a:prstGeom>
          <a:ln w="40640">
            <a:solidFill>
              <a:srgbClr val="FF9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13232" y="3611880"/>
            <a:ext cx="7040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1700" b="0" i="0">
                <a:solidFill>
                  <a:srgbClr val="FFFFFF"/>
                </a:solidFill>
                <a:latin typeface="Aptos"/>
              </a:defRPr>
            </a:pPr>
            <a:r>
              <a:t>A beginner-friendly bridge from Azure concepts to AWS operations labs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5440680"/>
            <a:ext cx="7315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B6C5D8"/>
                </a:solidFill>
                <a:latin typeface="Aptos"/>
              </a:defRPr>
            </a:pPr>
            <a:r>
              <a:t>Four scenario groups • Architecture diagrams • Azure/AWS comparisons • Evidence-first troubleshooting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6089904"/>
            <a:ext cx="7223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1000" b="0" i="0">
                <a:solidFill>
                  <a:srgbClr val="91A3BA"/>
                </a:solidFill>
                <a:latin typeface="Aptos"/>
              </a:defRPr>
            </a:pPr>
            <a:r>
              <a:t>Theory companion to the Day 4 student lab setup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329184"/>
            <a:ext cx="64008" cy="26517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20040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919" b="1" i="0">
                <a:solidFill>
                  <a:srgbClr val="FF9900"/>
                </a:solidFill>
                <a:latin typeface="Aptos"/>
              </a:defRPr>
            </a:pPr>
            <a:r>
              <a:t>START 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21792"/>
            <a:ext cx="113842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2600" b="1" i="0">
                <a:solidFill>
                  <a:srgbClr val="121C2F"/>
                </a:solidFill>
                <a:latin typeface="Aptos"/>
              </a:defRPr>
            </a:pPr>
            <a:r>
              <a:t>How Day 4 builds on your Azure 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1133856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1230" b="0" i="0">
                <a:solidFill>
                  <a:srgbClr val="536278"/>
                </a:solidFill>
                <a:latin typeface="Aptos"/>
              </a:defRPr>
            </a:pPr>
            <a:r>
              <a:t>You already know the cloud patterns. Today you learn AWS names, controls and operating habits.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8912" y="6473952"/>
            <a:ext cx="11311128" cy="0"/>
          </a:xfrm>
          <a:prstGeom prst="line">
            <a:avLst/>
          </a:prstGeom>
          <a:ln w="7620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10528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750" b="0" i="0">
                <a:solidFill>
                  <a:srgbClr val="6D7B8F"/>
                </a:solidFill>
                <a:latin typeface="Aptos"/>
              </a:defRPr>
            </a:pPr>
            <a:r>
              <a:t>REFERENCE: AWS EC2/VPC docs; Azure VMSS/NAT docs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501384"/>
            <a:ext cx="4754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300"/>
              </a:spcAft>
              <a:defRPr sz="900" b="1" i="0">
                <a:solidFill>
                  <a:srgbClr val="6D7B8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64208"/>
            <a:ext cx="3520440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664208"/>
            <a:ext cx="68580" cy="36118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819656"/>
            <a:ext cx="3145536" cy="32918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600" b="1" i="0">
                <a:solidFill>
                  <a:srgbClr val="121C2F"/>
                </a:solidFill>
                <a:latin typeface="Aptos"/>
              </a:defRPr>
            </a:pPr>
            <a:r>
              <a:t>You already learned in Azure</a:t>
            </a:r>
          </a:p>
        </p:txBody>
      </p:sp>
      <p:sp>
        <p:nvSpPr>
          <p:cNvPr id="12" name="Oval 11"/>
          <p:cNvSpPr/>
          <p:nvPr/>
        </p:nvSpPr>
        <p:spPr>
          <a:xfrm>
            <a:off x="740664" y="2404872"/>
            <a:ext cx="91440" cy="9144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2286000"/>
            <a:ext cx="2898648" cy="70180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400" b="0" i="0">
                <a:solidFill>
                  <a:srgbClr val="243247"/>
                </a:solidFill>
                <a:latin typeface="Aptos"/>
              </a:defRPr>
            </a:pPr>
            <a:r>
              <a:t>VM states and cost control</a:t>
            </a:r>
          </a:p>
        </p:txBody>
      </p:sp>
      <p:sp>
        <p:nvSpPr>
          <p:cNvPr id="14" name="Oval 13"/>
          <p:cNvSpPr/>
          <p:nvPr/>
        </p:nvSpPr>
        <p:spPr>
          <a:xfrm>
            <a:off x="740664" y="3124962"/>
            <a:ext cx="91440" cy="9144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3006090"/>
            <a:ext cx="2898648" cy="70180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400" b="0" i="0">
                <a:solidFill>
                  <a:srgbClr val="243247"/>
                </a:solidFill>
                <a:latin typeface="Aptos"/>
              </a:defRPr>
            </a:pPr>
            <a:r>
              <a:t>VNets, subnets, NSGs and routing</a:t>
            </a:r>
          </a:p>
        </p:txBody>
      </p:sp>
      <p:sp>
        <p:nvSpPr>
          <p:cNvPr id="16" name="Oval 15"/>
          <p:cNvSpPr/>
          <p:nvPr/>
        </p:nvSpPr>
        <p:spPr>
          <a:xfrm>
            <a:off x="740664" y="3845052"/>
            <a:ext cx="91440" cy="9144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3726180"/>
            <a:ext cx="2898648" cy="70180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400" b="0" i="0">
                <a:solidFill>
                  <a:srgbClr val="243247"/>
                </a:solidFill>
                <a:latin typeface="Aptos"/>
              </a:defRPr>
            </a:pPr>
            <a:r>
              <a:t>Managed disks and filesystem expansion</a:t>
            </a:r>
          </a:p>
        </p:txBody>
      </p:sp>
      <p:sp>
        <p:nvSpPr>
          <p:cNvPr id="18" name="Oval 17"/>
          <p:cNvSpPr/>
          <p:nvPr/>
        </p:nvSpPr>
        <p:spPr>
          <a:xfrm>
            <a:off x="740664" y="4565142"/>
            <a:ext cx="91440" cy="9144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" y="4446270"/>
            <a:ext cx="2898648" cy="70180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400" b="0" i="0">
                <a:solidFill>
                  <a:srgbClr val="243247"/>
                </a:solidFill>
                <a:latin typeface="Aptos"/>
              </a:defRPr>
            </a:pPr>
            <a:r>
              <a:t>Blob access, Key Vault and alerts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3400" y="1664208"/>
            <a:ext cx="3520440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43400" y="1664208"/>
            <a:ext cx="68580" cy="361188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53712" y="1819656"/>
            <a:ext cx="3145535" cy="32918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600" b="1" i="0">
                <a:solidFill>
                  <a:srgbClr val="121C2F"/>
                </a:solidFill>
                <a:latin typeface="Aptos"/>
              </a:defRPr>
            </a:pPr>
            <a:r>
              <a:t>Today in AWS</a:t>
            </a:r>
          </a:p>
        </p:txBody>
      </p:sp>
      <p:sp>
        <p:nvSpPr>
          <p:cNvPr id="23" name="Oval 22"/>
          <p:cNvSpPr/>
          <p:nvPr/>
        </p:nvSpPr>
        <p:spPr>
          <a:xfrm>
            <a:off x="4581144" y="2404872"/>
            <a:ext cx="91440" cy="9144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82312" y="2286000"/>
            <a:ext cx="2898648" cy="70180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400" b="0" i="0">
                <a:solidFill>
                  <a:srgbClr val="243247"/>
                </a:solidFill>
                <a:latin typeface="Aptos"/>
              </a:defRPr>
            </a:pPr>
            <a:r>
              <a:t>EC2 lifecycle and Auto Scaling</a:t>
            </a:r>
          </a:p>
        </p:txBody>
      </p:sp>
      <p:sp>
        <p:nvSpPr>
          <p:cNvPr id="25" name="Oval 24"/>
          <p:cNvSpPr/>
          <p:nvPr/>
        </p:nvSpPr>
        <p:spPr>
          <a:xfrm>
            <a:off x="4581144" y="3124962"/>
            <a:ext cx="91440" cy="9144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82312" y="3006090"/>
            <a:ext cx="2898648" cy="70180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400" b="0" i="0">
                <a:solidFill>
                  <a:srgbClr val="243247"/>
                </a:solidFill>
                <a:latin typeface="Aptos"/>
              </a:defRPr>
            </a:pPr>
            <a:r>
              <a:t>VPC, route tables, IGW and NAT</a:t>
            </a:r>
          </a:p>
        </p:txBody>
      </p:sp>
      <p:sp>
        <p:nvSpPr>
          <p:cNvPr id="27" name="Oval 26"/>
          <p:cNvSpPr/>
          <p:nvPr/>
        </p:nvSpPr>
        <p:spPr>
          <a:xfrm>
            <a:off x="4581144" y="3845052"/>
            <a:ext cx="91440" cy="9144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82312" y="3726180"/>
            <a:ext cx="2898648" cy="70180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400" b="0" i="0">
                <a:solidFill>
                  <a:srgbClr val="243247"/>
                </a:solidFill>
                <a:latin typeface="Aptos"/>
              </a:defRPr>
            </a:pPr>
            <a:r>
              <a:t>EBS volumes and snapshots</a:t>
            </a:r>
          </a:p>
        </p:txBody>
      </p:sp>
      <p:sp>
        <p:nvSpPr>
          <p:cNvPr id="29" name="Oval 28"/>
          <p:cNvSpPr/>
          <p:nvPr/>
        </p:nvSpPr>
        <p:spPr>
          <a:xfrm>
            <a:off x="4581144" y="4565142"/>
            <a:ext cx="91440" cy="9144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82312" y="4446270"/>
            <a:ext cx="2898648" cy="70180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400" b="0" i="0">
                <a:solidFill>
                  <a:srgbClr val="243247"/>
                </a:solidFill>
                <a:latin typeface="Aptos"/>
              </a:defRPr>
            </a:pPr>
            <a:r>
              <a:t>S3, KMS, Secrets Manager and CloudWatch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83879" y="1664208"/>
            <a:ext cx="3493008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83879" y="1664208"/>
            <a:ext cx="68580" cy="3611880"/>
          </a:xfrm>
          <a:prstGeom prst="rect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94192" y="1819656"/>
            <a:ext cx="3118103" cy="32918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600" b="1" i="0">
                <a:solidFill>
                  <a:srgbClr val="121C2F"/>
                </a:solidFill>
                <a:latin typeface="Aptos"/>
              </a:defRPr>
            </a:pPr>
            <a:r>
              <a:t>Transfer the thinking</a:t>
            </a:r>
          </a:p>
        </p:txBody>
      </p:sp>
      <p:sp>
        <p:nvSpPr>
          <p:cNvPr id="34" name="Oval 33"/>
          <p:cNvSpPr/>
          <p:nvPr/>
        </p:nvSpPr>
        <p:spPr>
          <a:xfrm>
            <a:off x="8421624" y="2404872"/>
            <a:ext cx="91440" cy="91440"/>
          </a:xfrm>
          <a:prstGeom prst="ellipse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22792" y="2286000"/>
            <a:ext cx="2871215" cy="70180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400" b="0" i="0">
                <a:solidFill>
                  <a:srgbClr val="243247"/>
                </a:solidFill>
                <a:latin typeface="Aptos"/>
              </a:defRPr>
            </a:pPr>
            <a:r>
              <a:t>Diagnose before changing</a:t>
            </a:r>
          </a:p>
        </p:txBody>
      </p:sp>
      <p:sp>
        <p:nvSpPr>
          <p:cNvPr id="36" name="Oval 35"/>
          <p:cNvSpPr/>
          <p:nvPr/>
        </p:nvSpPr>
        <p:spPr>
          <a:xfrm>
            <a:off x="8421624" y="3124962"/>
            <a:ext cx="91440" cy="91440"/>
          </a:xfrm>
          <a:prstGeom prst="ellipse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22792" y="3006090"/>
            <a:ext cx="2871215" cy="70180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400" b="0" i="0">
                <a:solidFill>
                  <a:srgbClr val="243247"/>
                </a:solidFill>
                <a:latin typeface="Aptos"/>
              </a:defRPr>
            </a:pPr>
            <a:r>
              <a:t>Change the smallest control possible</a:t>
            </a:r>
          </a:p>
        </p:txBody>
      </p:sp>
      <p:sp>
        <p:nvSpPr>
          <p:cNvPr id="38" name="Oval 37"/>
          <p:cNvSpPr/>
          <p:nvPr/>
        </p:nvSpPr>
        <p:spPr>
          <a:xfrm>
            <a:off x="8421624" y="3845052"/>
            <a:ext cx="91440" cy="91440"/>
          </a:xfrm>
          <a:prstGeom prst="ellipse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22792" y="3726180"/>
            <a:ext cx="2871215" cy="70180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400" b="0" i="0">
                <a:solidFill>
                  <a:srgbClr val="243247"/>
                </a:solidFill>
                <a:latin typeface="Aptos"/>
              </a:defRPr>
            </a:pPr>
            <a:r>
              <a:t>Prove outcome with evidence</a:t>
            </a:r>
          </a:p>
        </p:txBody>
      </p:sp>
      <p:sp>
        <p:nvSpPr>
          <p:cNvPr id="40" name="Oval 39"/>
          <p:cNvSpPr/>
          <p:nvPr/>
        </p:nvSpPr>
        <p:spPr>
          <a:xfrm>
            <a:off x="8421624" y="4565142"/>
            <a:ext cx="91440" cy="91440"/>
          </a:xfrm>
          <a:prstGeom prst="ellipse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22792" y="4446270"/>
            <a:ext cx="2871215" cy="70180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400" b="0" i="0">
                <a:solidFill>
                  <a:srgbClr val="243247"/>
                </a:solidFill>
                <a:latin typeface="Aptos"/>
              </a:defRPr>
            </a:pPr>
            <a:r>
              <a:t>Clean up temporary resources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" y="5650992"/>
            <a:ext cx="1097280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1700" b="1" i="0">
                <a:solidFill>
                  <a:srgbClr val="121C2F"/>
                </a:solidFill>
                <a:latin typeface="Aptos"/>
              </a:defRPr>
            </a:pPr>
            <a:r>
              <a:t>Cloud-provider names differ; the operations mindset is the reusable skill.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329184"/>
            <a:ext cx="64008" cy="26517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20040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919" b="1" i="0">
                <a:solidFill>
                  <a:srgbClr val="FF9900"/>
                </a:solidFill>
                <a:latin typeface="Aptos"/>
              </a:defRPr>
            </a:pPr>
            <a:r>
              <a:t>START 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21792"/>
            <a:ext cx="113842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2600" b="1" i="0">
                <a:solidFill>
                  <a:srgbClr val="121C2F"/>
                </a:solidFill>
                <a:latin typeface="Aptos"/>
              </a:defRPr>
            </a:pPr>
            <a:r>
              <a:t>Learning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1133856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1230" b="0" i="0">
                <a:solidFill>
                  <a:srgbClr val="536278"/>
                </a:solidFill>
                <a:latin typeface="Aptos"/>
              </a:defRPr>
            </a:pPr>
            <a:r>
              <a:t>By the end of the theory session, you should be able to explain the why before following the how.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8912" y="6473952"/>
            <a:ext cx="11311128" cy="0"/>
          </a:xfrm>
          <a:prstGeom prst="line">
            <a:avLst/>
          </a:prstGeom>
          <a:ln w="7620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10528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750" b="0" i="0">
                <a:solidFill>
                  <a:srgbClr val="6D7B8F"/>
                </a:solidFill>
                <a:latin typeface="Aptos"/>
              </a:defRPr>
            </a:pPr>
            <a:r>
              <a:t>REFERENCE: AWS EC2, VPC, EBS, S3, CloudWatch docs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501384"/>
            <a:ext cx="4754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300"/>
              </a:spcAft>
              <a:defRPr sz="900" b="1" i="0">
                <a:solidFill>
                  <a:srgbClr val="6D7B8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27632"/>
            <a:ext cx="3602736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627632"/>
            <a:ext cx="68580" cy="169164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13232" y="1792224"/>
            <a:ext cx="384048" cy="384048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801368"/>
            <a:ext cx="384048" cy="33832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300"/>
              </a:spcAft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1783080"/>
            <a:ext cx="2724912" cy="32918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121C2F"/>
                </a:solidFill>
                <a:latin typeface="Aptos"/>
              </a:defRPr>
            </a:pPr>
            <a:r>
              <a:t>Control cost safely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240280"/>
            <a:ext cx="3191256" cy="9418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  <a:defRPr sz="1250" b="0" i="0">
                <a:solidFill>
                  <a:srgbClr val="243247"/>
                </a:solidFill>
                <a:latin typeface="Aptos"/>
              </a:defRPr>
            </a:pPr>
            <a:r>
              <a:t>Distinguish Stop from Terminate; identify costs that remain.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61688" y="1627632"/>
            <a:ext cx="3602736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61688" y="1627632"/>
            <a:ext cx="68580" cy="16916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72000" y="1792224"/>
            <a:ext cx="384048" cy="384048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1801368"/>
            <a:ext cx="384048" cy="33832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300"/>
              </a:spcAft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4920" y="1783080"/>
            <a:ext cx="2724911" cy="32918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121C2F"/>
                </a:solidFill>
                <a:latin typeface="Aptos"/>
              </a:defRPr>
            </a:pPr>
            <a:r>
              <a:t>Scale a web tier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0288" y="2240280"/>
            <a:ext cx="3191256" cy="9418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  <a:defRPr sz="1250" b="0" i="0">
                <a:solidFill>
                  <a:srgbClr val="243247"/>
                </a:solidFill>
                <a:latin typeface="Aptos"/>
              </a:defRPr>
            </a:pPr>
            <a:r>
              <a:t>Explain desired capacity, launch templates, health checks and load balancing.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0456" y="1627632"/>
            <a:ext cx="3602736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0456" y="1627632"/>
            <a:ext cx="68580" cy="1691640"/>
          </a:xfrm>
          <a:prstGeom prst="rect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430768" y="1792224"/>
            <a:ext cx="384048" cy="384048"/>
          </a:xfrm>
          <a:prstGeom prst="ellipse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30768" y="1801368"/>
            <a:ext cx="384048" cy="33832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300"/>
              </a:spcAft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33688" y="1783080"/>
            <a:ext cx="2724911" cy="32918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121C2F"/>
                </a:solidFill>
                <a:latin typeface="Aptos"/>
              </a:defRPr>
            </a:pPr>
            <a:r>
              <a:t>Trace network paths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49056" y="2240280"/>
            <a:ext cx="3191256" cy="9418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  <a:defRPr sz="1250" b="0" i="0">
                <a:solidFill>
                  <a:srgbClr val="243247"/>
                </a:solidFill>
                <a:latin typeface="Aptos"/>
              </a:defRPr>
            </a:pPr>
            <a:r>
              <a:t>Troubleshoot SSH and outbound traffic using routes and security controls.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3639312"/>
            <a:ext cx="3602736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2920" y="3639312"/>
            <a:ext cx="68580" cy="1691640"/>
          </a:xfrm>
          <a:prstGeom prst="rect">
            <a:avLst/>
          </a:prstGeom>
          <a:solidFill>
            <a:srgbClr val="6741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13232" y="3803904"/>
            <a:ext cx="384048" cy="384048"/>
          </a:xfrm>
          <a:prstGeom prst="ellipse">
            <a:avLst/>
          </a:prstGeom>
          <a:solidFill>
            <a:srgbClr val="6741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3232" y="3813048"/>
            <a:ext cx="384048" cy="33832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300"/>
              </a:spcAft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6152" y="3794760"/>
            <a:ext cx="2724912" cy="32918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121C2F"/>
                </a:solidFill>
                <a:latin typeface="Aptos"/>
              </a:defRPr>
            </a:pPr>
            <a:r>
              <a:t>Expand storage safely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4251960"/>
            <a:ext cx="3191256" cy="9418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  <a:defRPr sz="1250" b="0" i="0">
                <a:solidFill>
                  <a:srgbClr val="243247"/>
                </a:solidFill>
                <a:latin typeface="Aptos"/>
              </a:defRPr>
            </a:pPr>
            <a:r>
              <a:t>Separate EBS size, partition size and filesystem size.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61688" y="3639312"/>
            <a:ext cx="3602736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361688" y="3639312"/>
            <a:ext cx="68580" cy="1691640"/>
          </a:xfrm>
          <a:prstGeom prst="rect">
            <a:avLst/>
          </a:prstGeom>
          <a:solidFill>
            <a:srgbClr val="C43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572000" y="3803904"/>
            <a:ext cx="384048" cy="384048"/>
          </a:xfrm>
          <a:prstGeom prst="ellipse">
            <a:avLst/>
          </a:prstGeom>
          <a:solidFill>
            <a:srgbClr val="C43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0" y="3813048"/>
            <a:ext cx="384048" cy="33832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300"/>
              </a:spcAft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74920" y="3794760"/>
            <a:ext cx="2724911" cy="32918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121C2F"/>
                </a:solidFill>
                <a:latin typeface="Aptos"/>
              </a:defRPr>
            </a:pPr>
            <a:r>
              <a:t>Secure data and secrets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90288" y="4251960"/>
            <a:ext cx="3191256" cy="9418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  <a:defRPr sz="1250" b="0" i="0">
                <a:solidFill>
                  <a:srgbClr val="243247"/>
                </a:solidFill>
                <a:latin typeface="Aptos"/>
              </a:defRPr>
            </a:pPr>
            <a:r>
              <a:t>Apply S3 public access controls, KMS and real secret rotation.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20456" y="3639312"/>
            <a:ext cx="3602736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220456" y="3639312"/>
            <a:ext cx="68580" cy="1691640"/>
          </a:xfrm>
          <a:prstGeom prst="rect">
            <a:avLst/>
          </a:prstGeom>
          <a:solidFill>
            <a:srgbClr val="258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430768" y="3803904"/>
            <a:ext cx="384048" cy="384048"/>
          </a:xfrm>
          <a:prstGeom prst="ellipse">
            <a:avLst/>
          </a:prstGeom>
          <a:solidFill>
            <a:srgbClr val="258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30768" y="3813048"/>
            <a:ext cx="384048" cy="33832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300"/>
              </a:spcAft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33688" y="3794760"/>
            <a:ext cx="2724911" cy="32918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121C2F"/>
                </a:solidFill>
                <a:latin typeface="Aptos"/>
              </a:defRPr>
            </a:pPr>
            <a:r>
              <a:t>Prove service health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49056" y="4251960"/>
            <a:ext cx="3191256" cy="9418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  <a:defRPr sz="1250" b="0" i="0">
                <a:solidFill>
                  <a:srgbClr val="243247"/>
                </a:solidFill>
                <a:latin typeface="Aptos"/>
              </a:defRPr>
            </a:pPr>
            <a:r>
              <a:t>Use metrics, alarms and evidence to verify resolution.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329184"/>
            <a:ext cx="64008" cy="26517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20040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919" b="1" i="0">
                <a:solidFill>
                  <a:srgbClr val="FF9900"/>
                </a:solidFill>
                <a:latin typeface="Aptos"/>
              </a:defRPr>
            </a:pPr>
            <a:r>
              <a:t>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21792"/>
            <a:ext cx="113842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2600" b="1" i="0">
                <a:solidFill>
                  <a:srgbClr val="121C2F"/>
                </a:solidFill>
                <a:latin typeface="Aptos"/>
              </a:defRPr>
            </a:pPr>
            <a:r>
              <a:t>Four incident groups - one repeatable 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1133856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1230" b="0" i="0">
                <a:solidFill>
                  <a:srgbClr val="536278"/>
                </a:solidFill>
                <a:latin typeface="Aptos"/>
              </a:defRPr>
            </a:pPr>
            <a:r>
              <a:t>Every ticket follows the same evidence-first sequence.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8912" y="6473952"/>
            <a:ext cx="11311128" cy="0"/>
          </a:xfrm>
          <a:prstGeom prst="line">
            <a:avLst/>
          </a:prstGeom>
          <a:ln w="7620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10528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750" b="0" i="0">
                <a:solidFill>
                  <a:srgbClr val="6D7B8F"/>
                </a:solidFill>
                <a:latin typeface="Aptos"/>
              </a:defRPr>
            </a:pPr>
            <a:r>
              <a:t>REFERENCE: Lab guide: D4-1 to D4-4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501384"/>
            <a:ext cx="4754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300"/>
              </a:spcAft>
              <a:defRPr sz="900" b="1" i="0">
                <a:solidFill>
                  <a:srgbClr val="6D7B8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011680"/>
            <a:ext cx="207203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2011680"/>
            <a:ext cx="2072030" cy="82296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2194560"/>
            <a:ext cx="185257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1400" b="1" i="0">
                <a:solidFill>
                  <a:srgbClr val="121C2F"/>
                </a:solidFill>
                <a:latin typeface="Aptos"/>
              </a:defRPr>
            </a:pPr>
            <a:r>
              <a:t>Observe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2651760"/>
            <a:ext cx="1852574" cy="126187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300"/>
              </a:spcAft>
              <a:defRPr sz="1300" b="0" i="0">
                <a:solidFill>
                  <a:srgbClr val="536278"/>
                </a:solidFill>
                <a:latin typeface="Aptos"/>
              </a:defRPr>
            </a:pPr>
            <a:r>
              <a:t>What is failing?</a:t>
            </a:r>
          </a:p>
          <a:p>
            <a:pPr algn="ctr">
              <a:spcAft>
                <a:spcPts val="300"/>
              </a:spcAft>
              <a:defRPr sz="1300" b="0" i="0">
                <a:solidFill>
                  <a:srgbClr val="536278"/>
                </a:solidFill>
                <a:latin typeface="Aptos"/>
              </a:defRPr>
            </a:pPr>
            <a:r>
              <a:t>What evidence exists?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48102" y="2834640"/>
            <a:ext cx="1463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2400" b="1" i="0">
                <a:solidFill>
                  <a:srgbClr val="FF9900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03550" y="2011680"/>
            <a:ext cx="207203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03550" y="2011680"/>
            <a:ext cx="2072030" cy="82296"/>
          </a:xfrm>
          <a:prstGeom prst="rect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13278" y="2194560"/>
            <a:ext cx="185257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1400" b="1" i="0">
                <a:solidFill>
                  <a:srgbClr val="121C2F"/>
                </a:solidFill>
                <a:latin typeface="Aptos"/>
              </a:defRPr>
            </a:pPr>
            <a:r>
              <a:t>Isolate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13278" y="2651760"/>
            <a:ext cx="1852574" cy="126187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300"/>
              </a:spcAft>
              <a:defRPr sz="1300" b="0" i="0">
                <a:solidFill>
                  <a:srgbClr val="536278"/>
                </a:solidFill>
                <a:latin typeface="Aptos"/>
              </a:defRPr>
            </a:pPr>
            <a:r>
              <a:t>Compute, network,</a:t>
            </a:r>
          </a:p>
          <a:p>
            <a:pPr algn="ctr">
              <a:spcAft>
                <a:spcPts val="300"/>
              </a:spcAft>
              <a:defRPr sz="1300" b="0" i="0">
                <a:solidFill>
                  <a:srgbClr val="536278"/>
                </a:solidFill>
                <a:latin typeface="Aptos"/>
              </a:defRPr>
            </a:pPr>
            <a:r>
              <a:t>storage or access?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84724" y="2834640"/>
            <a:ext cx="1463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2400" b="1" i="0">
                <a:solidFill>
                  <a:srgbClr val="FF9900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40172" y="2011680"/>
            <a:ext cx="207203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40172" y="2011680"/>
            <a:ext cx="2072030" cy="8229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49900" y="2194560"/>
            <a:ext cx="185257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1400" b="1" i="0">
                <a:solidFill>
                  <a:srgbClr val="121C2F"/>
                </a:solidFill>
                <a:latin typeface="Aptos"/>
              </a:defRPr>
            </a:pPr>
            <a:r>
              <a:t>Remediate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9900" y="2651760"/>
            <a:ext cx="1852574" cy="126187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300"/>
              </a:spcAft>
              <a:defRPr sz="1300" b="0" i="0">
                <a:solidFill>
                  <a:srgbClr val="536278"/>
                </a:solidFill>
                <a:latin typeface="Aptos"/>
              </a:defRPr>
            </a:pPr>
            <a:r>
              <a:t>Small, scoped change</a:t>
            </a:r>
          </a:p>
          <a:p>
            <a:pPr algn="ctr">
              <a:spcAft>
                <a:spcPts val="300"/>
              </a:spcAft>
              <a:defRPr sz="1300" b="0" i="0">
                <a:solidFill>
                  <a:srgbClr val="536278"/>
                </a:solidFill>
                <a:latin typeface="Aptos"/>
              </a:defRPr>
            </a:pPr>
            <a:r>
              <a:t>in a sandbox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21347" y="2834640"/>
            <a:ext cx="1463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2400" b="1" i="0">
                <a:solidFill>
                  <a:srgbClr val="FF9900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76795" y="2011680"/>
            <a:ext cx="207203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76795" y="2011680"/>
            <a:ext cx="2072030" cy="82296"/>
          </a:xfrm>
          <a:prstGeom prst="rect">
            <a:avLst/>
          </a:prstGeom>
          <a:solidFill>
            <a:srgbClr val="6741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86523" y="2194560"/>
            <a:ext cx="185257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1400" b="1" i="0">
                <a:solidFill>
                  <a:srgbClr val="121C2F"/>
                </a:solidFill>
                <a:latin typeface="Aptos"/>
              </a:defRPr>
            </a:pPr>
            <a:r>
              <a:t>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86523" y="2651760"/>
            <a:ext cx="1852574" cy="126187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300"/>
              </a:spcAft>
              <a:defRPr sz="1300" b="0" i="0">
                <a:solidFill>
                  <a:srgbClr val="536278"/>
                </a:solidFill>
                <a:latin typeface="Aptos"/>
              </a:defRPr>
            </a:pPr>
            <a:r>
              <a:t>Retest symptom,</a:t>
            </a:r>
          </a:p>
          <a:p>
            <a:pPr algn="ctr">
              <a:spcAft>
                <a:spcPts val="300"/>
              </a:spcAft>
              <a:defRPr sz="1300" b="0" i="0">
                <a:solidFill>
                  <a:srgbClr val="536278"/>
                </a:solidFill>
                <a:latin typeface="Aptos"/>
              </a:defRPr>
            </a:pPr>
            <a:r>
              <a:t>not just command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57969" y="2834640"/>
            <a:ext cx="1463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2400" b="1" i="0">
                <a:solidFill>
                  <a:srgbClr val="FF9900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13417" y="2011680"/>
            <a:ext cx="207203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513417" y="2011680"/>
            <a:ext cx="2072030" cy="82296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23145" y="2194560"/>
            <a:ext cx="185257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1400" b="1" i="0">
                <a:solidFill>
                  <a:srgbClr val="121C2F"/>
                </a:solidFill>
                <a:latin typeface="Aptos"/>
              </a:defRPr>
            </a:pPr>
            <a:r>
              <a:t>Record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23145" y="2651760"/>
            <a:ext cx="1852574" cy="126187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300"/>
              </a:spcAft>
              <a:defRPr sz="1300" b="0" i="0">
                <a:solidFill>
                  <a:srgbClr val="536278"/>
                </a:solidFill>
                <a:latin typeface="Aptos"/>
              </a:defRPr>
            </a:pPr>
            <a:r>
              <a:t>Capture output,</a:t>
            </a:r>
          </a:p>
          <a:p>
            <a:pPr algn="ctr">
              <a:spcAft>
                <a:spcPts val="300"/>
              </a:spcAft>
              <a:defRPr sz="1300" b="0" i="0">
                <a:solidFill>
                  <a:srgbClr val="536278"/>
                </a:solidFill>
                <a:latin typeface="Aptos"/>
              </a:defRPr>
            </a:pPr>
            <a:r>
              <a:t>close ticket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4400" y="4617720"/>
            <a:ext cx="4846320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400" y="4617720"/>
            <a:ext cx="68580" cy="102412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24712" y="4709159"/>
            <a:ext cx="4471416" cy="23774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340" b="1" i="0">
                <a:solidFill>
                  <a:srgbClr val="121C2F"/>
                </a:solidFill>
                <a:latin typeface="Aptos"/>
              </a:defRPr>
            </a:pPr>
            <a:r>
              <a:t>Golden rule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3000" y="4983480"/>
            <a:ext cx="4434840" cy="59436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130" b="0" i="0">
                <a:solidFill>
                  <a:srgbClr val="243247"/>
                </a:solidFill>
                <a:latin typeface="Aptos"/>
              </a:defRPr>
            </a:pPr>
            <a:r>
              <a:t>A successful command is not the same as a resolved incident.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09360" y="4617720"/>
            <a:ext cx="4846320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09360" y="4617720"/>
            <a:ext cx="68580" cy="1024128"/>
          </a:xfrm>
          <a:prstGeom prst="rect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19672" y="4709159"/>
            <a:ext cx="4471416" cy="23774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340" b="1" i="0">
                <a:solidFill>
                  <a:srgbClr val="121C2F"/>
                </a:solidFill>
                <a:latin typeface="Aptos"/>
              </a:defRPr>
            </a:pPr>
            <a:r>
              <a:t>Evidence standard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37960" y="4983480"/>
            <a:ext cx="4434840" cy="59436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130" b="0" i="0">
                <a:solidFill>
                  <a:srgbClr val="243247"/>
                </a:solidFill>
                <a:latin typeface="Aptos"/>
              </a:defRPr>
            </a:pPr>
            <a:r>
              <a:t>Before state + change + after state + user symptom.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329184"/>
            <a:ext cx="64008" cy="26517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20040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919" b="1" i="0">
                <a:solidFill>
                  <a:srgbClr val="FF9900"/>
                </a:solidFill>
                <a:latin typeface="Aptos"/>
              </a:defRPr>
            </a:pPr>
            <a:r>
              <a:t>AZURE → AWS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21792"/>
            <a:ext cx="113842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2600" b="1" i="0">
                <a:solidFill>
                  <a:srgbClr val="121C2F"/>
                </a:solidFill>
                <a:latin typeface="Aptos"/>
              </a:defRPr>
            </a:pPr>
            <a:r>
              <a:t>Azure-to-AWS service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1133856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1230" b="0" i="0">
                <a:solidFill>
                  <a:srgbClr val="536278"/>
                </a:solidFill>
                <a:latin typeface="Aptos"/>
              </a:defRPr>
            </a:pPr>
            <a:r>
              <a:t>Use the nearest functional equivalent, but confirm the feature set and operating model.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8912" y="6473952"/>
            <a:ext cx="11311128" cy="0"/>
          </a:xfrm>
          <a:prstGeom prst="line">
            <a:avLst/>
          </a:prstGeom>
          <a:ln w="7620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10528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750" b="0" i="0">
                <a:solidFill>
                  <a:srgbClr val="6D7B8F"/>
                </a:solidFill>
                <a:latin typeface="Aptos"/>
              </a:defRPr>
            </a:pPr>
            <a:r>
              <a:t>REFERENCE: AWS / Azure official docs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501384"/>
            <a:ext cx="4754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300"/>
              </a:spcAft>
              <a:defRPr sz="900" b="1" i="0">
                <a:solidFill>
                  <a:srgbClr val="6D7B8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645920"/>
            <a:ext cx="2377439" cy="487680"/>
          </a:xfrm>
          <a:prstGeom prst="rect">
            <a:avLst/>
          </a:prstGeom>
          <a:solidFill>
            <a:srgbClr val="1A2A43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1673352"/>
            <a:ext cx="2231135" cy="4328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80359" y="1645920"/>
            <a:ext cx="4023359" cy="487680"/>
          </a:xfrm>
          <a:prstGeom prst="rect">
            <a:avLst/>
          </a:prstGeom>
          <a:solidFill>
            <a:srgbClr val="1A2A43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53511" y="1673352"/>
            <a:ext cx="3877055" cy="4328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t>Azure (Day 2)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03719" y="1645920"/>
            <a:ext cx="4754879" cy="487680"/>
          </a:xfrm>
          <a:prstGeom prst="rect">
            <a:avLst/>
          </a:prstGeom>
          <a:solidFill>
            <a:srgbClr val="1A2A43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76871" y="1673352"/>
            <a:ext cx="4608575" cy="4328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t>AWS (Day 4)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133600"/>
            <a:ext cx="2377439" cy="487680"/>
          </a:xfrm>
          <a:prstGeom prst="rect">
            <a:avLst/>
          </a:prstGeom>
          <a:solidFill>
            <a:srgbClr val="FFFFFF"/>
          </a:solidFill>
          <a:ln w="5715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2161032"/>
            <a:ext cx="2249423" cy="4328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243247"/>
                </a:solidFill>
                <a:latin typeface="Aptos"/>
              </a:defRPr>
            </a:pPr>
            <a:r>
              <a:t>Virtual machine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80359" y="2133600"/>
            <a:ext cx="4023359" cy="487680"/>
          </a:xfrm>
          <a:prstGeom prst="rect">
            <a:avLst/>
          </a:prstGeom>
          <a:solidFill>
            <a:srgbClr val="FFFFFF"/>
          </a:solidFill>
          <a:ln w="5715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44367" y="2161032"/>
            <a:ext cx="3895344" cy="4328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243247"/>
                </a:solidFill>
                <a:latin typeface="Aptos"/>
              </a:defRPr>
            </a:pPr>
            <a:r>
              <a:t>Azure Virtual Machines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03719" y="2133600"/>
            <a:ext cx="4754879" cy="487680"/>
          </a:xfrm>
          <a:prstGeom prst="rect">
            <a:avLst/>
          </a:prstGeom>
          <a:solidFill>
            <a:srgbClr val="FFFFFF"/>
          </a:solidFill>
          <a:ln w="5715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67727" y="2161032"/>
            <a:ext cx="4626864" cy="4328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243247"/>
                </a:solidFill>
                <a:latin typeface="Aptos"/>
              </a:defRPr>
            </a:pPr>
            <a:r>
              <a:t>Amazon EC2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2621280"/>
            <a:ext cx="2377439" cy="487680"/>
          </a:xfrm>
          <a:prstGeom prst="rect">
            <a:avLst/>
          </a:prstGeom>
          <a:solidFill>
            <a:srgbClr val="F0F4F8"/>
          </a:solidFill>
          <a:ln w="5715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2648712"/>
            <a:ext cx="2249423" cy="4328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243247"/>
                </a:solidFill>
                <a:latin typeface="Aptos"/>
              </a:defRPr>
            </a:pPr>
            <a:r>
              <a:t>Fleet scaling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80359" y="2621280"/>
            <a:ext cx="4023359" cy="487680"/>
          </a:xfrm>
          <a:prstGeom prst="rect">
            <a:avLst/>
          </a:prstGeom>
          <a:solidFill>
            <a:srgbClr val="F0F4F8"/>
          </a:solidFill>
          <a:ln w="5715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44367" y="2648712"/>
            <a:ext cx="3895344" cy="4328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243247"/>
                </a:solidFill>
                <a:latin typeface="Aptos"/>
              </a:defRPr>
            </a:pPr>
            <a:r>
              <a:t>Virtual Machine Scale Sets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03719" y="2621280"/>
            <a:ext cx="4754879" cy="487680"/>
          </a:xfrm>
          <a:prstGeom prst="rect">
            <a:avLst/>
          </a:prstGeom>
          <a:solidFill>
            <a:srgbClr val="F0F4F8"/>
          </a:solidFill>
          <a:ln w="5715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67727" y="2648712"/>
            <a:ext cx="4626864" cy="4328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243247"/>
                </a:solidFill>
                <a:latin typeface="Aptos"/>
              </a:defRPr>
            </a:pPr>
            <a:r>
              <a:t>EC2 Auto Scaling Group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3108960"/>
            <a:ext cx="2377439" cy="487680"/>
          </a:xfrm>
          <a:prstGeom prst="rect">
            <a:avLst/>
          </a:prstGeom>
          <a:solidFill>
            <a:srgbClr val="FFFFFF"/>
          </a:solidFill>
          <a:ln w="5715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3136392"/>
            <a:ext cx="2249423" cy="4328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243247"/>
                </a:solidFill>
                <a:latin typeface="Aptos"/>
              </a:defRPr>
            </a:pPr>
            <a:r>
              <a:t>Virtual network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80359" y="3108960"/>
            <a:ext cx="4023359" cy="487680"/>
          </a:xfrm>
          <a:prstGeom prst="rect">
            <a:avLst/>
          </a:prstGeom>
          <a:solidFill>
            <a:srgbClr val="FFFFFF"/>
          </a:solidFill>
          <a:ln w="5715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944367" y="3136392"/>
            <a:ext cx="3895344" cy="4328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243247"/>
                </a:solidFill>
                <a:latin typeface="Aptos"/>
              </a:defRPr>
            </a:pPr>
            <a:r>
              <a:t>VNet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03719" y="3108960"/>
            <a:ext cx="4754879" cy="487680"/>
          </a:xfrm>
          <a:prstGeom prst="rect">
            <a:avLst/>
          </a:prstGeom>
          <a:solidFill>
            <a:srgbClr val="FFFFFF"/>
          </a:solidFill>
          <a:ln w="5715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67727" y="3136392"/>
            <a:ext cx="4626864" cy="4328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243247"/>
                </a:solidFill>
                <a:latin typeface="Aptos"/>
              </a:defRPr>
            </a:pPr>
            <a:r>
              <a:t>Amazon VPC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3596640"/>
            <a:ext cx="2377439" cy="487680"/>
          </a:xfrm>
          <a:prstGeom prst="rect">
            <a:avLst/>
          </a:prstGeom>
          <a:solidFill>
            <a:srgbClr val="F0F4F8"/>
          </a:solidFill>
          <a:ln w="5715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6928" y="3624072"/>
            <a:ext cx="2249423" cy="4328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243247"/>
                </a:solidFill>
                <a:latin typeface="Aptos"/>
              </a:defRPr>
            </a:pPr>
            <a:r>
              <a:t>Network access rules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880359" y="3596640"/>
            <a:ext cx="4023359" cy="487680"/>
          </a:xfrm>
          <a:prstGeom prst="rect">
            <a:avLst/>
          </a:prstGeom>
          <a:solidFill>
            <a:srgbClr val="F0F4F8"/>
          </a:solidFill>
          <a:ln w="5715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944367" y="3624072"/>
            <a:ext cx="3895344" cy="4328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243247"/>
                </a:solidFill>
                <a:latin typeface="Aptos"/>
              </a:defRPr>
            </a:pPr>
            <a:r>
              <a:t>NSG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903719" y="3596640"/>
            <a:ext cx="4754879" cy="487680"/>
          </a:xfrm>
          <a:prstGeom prst="rect">
            <a:avLst/>
          </a:prstGeom>
          <a:solidFill>
            <a:srgbClr val="F0F4F8"/>
          </a:solidFill>
          <a:ln w="5715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67727" y="3624072"/>
            <a:ext cx="4626864" cy="4328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243247"/>
                </a:solidFill>
                <a:latin typeface="Aptos"/>
              </a:defRPr>
            </a:pPr>
            <a:r>
              <a:t>Security Group (plus NACL for subnet layer)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4084320"/>
            <a:ext cx="2377439" cy="487680"/>
          </a:xfrm>
          <a:prstGeom prst="rect">
            <a:avLst/>
          </a:prstGeom>
          <a:solidFill>
            <a:srgbClr val="FFFFFF"/>
          </a:solidFill>
          <a:ln w="5715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6928" y="4111752"/>
            <a:ext cx="2249423" cy="4328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243247"/>
                </a:solidFill>
                <a:latin typeface="Aptos"/>
              </a:defRPr>
            </a:pPr>
            <a:r>
              <a:t>Managed block disk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880359" y="4084320"/>
            <a:ext cx="4023359" cy="487680"/>
          </a:xfrm>
          <a:prstGeom prst="rect">
            <a:avLst/>
          </a:prstGeom>
          <a:solidFill>
            <a:srgbClr val="FFFFFF"/>
          </a:solidFill>
          <a:ln w="5715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944367" y="4111752"/>
            <a:ext cx="3895344" cy="4328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243247"/>
                </a:solidFill>
                <a:latin typeface="Aptos"/>
              </a:defRPr>
            </a:pPr>
            <a:r>
              <a:t>Azure Managed Disk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03719" y="4084320"/>
            <a:ext cx="4754879" cy="487680"/>
          </a:xfrm>
          <a:prstGeom prst="rect">
            <a:avLst/>
          </a:prstGeom>
          <a:solidFill>
            <a:srgbClr val="FFFFFF"/>
          </a:solidFill>
          <a:ln w="5715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67727" y="4111752"/>
            <a:ext cx="4626864" cy="4328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243247"/>
                </a:solidFill>
                <a:latin typeface="Aptos"/>
              </a:defRPr>
            </a:pPr>
            <a:r>
              <a:t>Amazon EBS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4572000"/>
            <a:ext cx="2377439" cy="487680"/>
          </a:xfrm>
          <a:prstGeom prst="rect">
            <a:avLst/>
          </a:prstGeom>
          <a:solidFill>
            <a:srgbClr val="F0F4F8"/>
          </a:solidFill>
          <a:ln w="5715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66928" y="4599432"/>
            <a:ext cx="2249423" cy="4328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243247"/>
                </a:solidFill>
                <a:latin typeface="Aptos"/>
              </a:defRPr>
            </a:pPr>
            <a:r>
              <a:t>Object storage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880359" y="4572000"/>
            <a:ext cx="4023359" cy="487680"/>
          </a:xfrm>
          <a:prstGeom prst="rect">
            <a:avLst/>
          </a:prstGeom>
          <a:solidFill>
            <a:srgbClr val="F0F4F8"/>
          </a:solidFill>
          <a:ln w="5715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944367" y="4599432"/>
            <a:ext cx="3895344" cy="4328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243247"/>
                </a:solidFill>
                <a:latin typeface="Aptos"/>
              </a:defRPr>
            </a:pPr>
            <a:r>
              <a:t>Azure Blob Storage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903719" y="4572000"/>
            <a:ext cx="4754879" cy="487680"/>
          </a:xfrm>
          <a:prstGeom prst="rect">
            <a:avLst/>
          </a:prstGeom>
          <a:solidFill>
            <a:srgbClr val="F0F4F8"/>
          </a:solidFill>
          <a:ln w="5715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967727" y="4599432"/>
            <a:ext cx="4626864" cy="4328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243247"/>
                </a:solidFill>
                <a:latin typeface="Aptos"/>
              </a:defRPr>
            </a:pPr>
            <a:r>
              <a:t>Amazon S3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02920" y="5059680"/>
            <a:ext cx="2377439" cy="487680"/>
          </a:xfrm>
          <a:prstGeom prst="rect">
            <a:avLst/>
          </a:prstGeom>
          <a:solidFill>
            <a:srgbClr val="FFFFFF"/>
          </a:solidFill>
          <a:ln w="5715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66928" y="5087112"/>
            <a:ext cx="2249423" cy="4328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243247"/>
                </a:solidFill>
                <a:latin typeface="Aptos"/>
              </a:defRPr>
            </a:pPr>
            <a:r>
              <a:t>Secrets / keys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880359" y="5059680"/>
            <a:ext cx="4023359" cy="487680"/>
          </a:xfrm>
          <a:prstGeom prst="rect">
            <a:avLst/>
          </a:prstGeom>
          <a:solidFill>
            <a:srgbClr val="FFFFFF"/>
          </a:solidFill>
          <a:ln w="5715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944367" y="5087112"/>
            <a:ext cx="3895344" cy="4328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243247"/>
                </a:solidFill>
                <a:latin typeface="Aptos"/>
              </a:defRPr>
            </a:pPr>
            <a:r>
              <a:t>Azure Key Vault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903719" y="5059680"/>
            <a:ext cx="4754879" cy="487680"/>
          </a:xfrm>
          <a:prstGeom prst="rect">
            <a:avLst/>
          </a:prstGeom>
          <a:solidFill>
            <a:srgbClr val="FFFFFF"/>
          </a:solidFill>
          <a:ln w="5715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967727" y="5087112"/>
            <a:ext cx="4626864" cy="4328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243247"/>
                </a:solidFill>
                <a:latin typeface="Aptos"/>
              </a:defRPr>
            </a:pPr>
            <a:r>
              <a:t>Secrets Manager for secrets; KMS for keys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02920" y="5547360"/>
            <a:ext cx="2377439" cy="487680"/>
          </a:xfrm>
          <a:prstGeom prst="rect">
            <a:avLst/>
          </a:prstGeom>
          <a:solidFill>
            <a:srgbClr val="F0F4F8"/>
          </a:solidFill>
          <a:ln w="5715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66928" y="5574792"/>
            <a:ext cx="2249423" cy="4328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243247"/>
                </a:solidFill>
                <a:latin typeface="Aptos"/>
              </a:defRPr>
            </a:pPr>
            <a:r>
              <a:t>Monitoring / costs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880359" y="5547360"/>
            <a:ext cx="4023359" cy="487680"/>
          </a:xfrm>
          <a:prstGeom prst="rect">
            <a:avLst/>
          </a:prstGeom>
          <a:solidFill>
            <a:srgbClr val="F0F4F8"/>
          </a:solidFill>
          <a:ln w="5715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944367" y="5574792"/>
            <a:ext cx="3895344" cy="4328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243247"/>
                </a:solidFill>
                <a:latin typeface="Aptos"/>
              </a:defRPr>
            </a:pPr>
            <a:r>
              <a:t>Azure Monitor / Cost Management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903719" y="5547360"/>
            <a:ext cx="4754879" cy="487680"/>
          </a:xfrm>
          <a:prstGeom prst="rect">
            <a:avLst/>
          </a:prstGeom>
          <a:solidFill>
            <a:srgbClr val="F0F4F8"/>
          </a:solidFill>
          <a:ln w="5715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967727" y="5574792"/>
            <a:ext cx="4626864" cy="4328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243247"/>
                </a:solidFill>
                <a:latin typeface="Aptos"/>
              </a:defRPr>
            </a:pPr>
            <a:r>
              <a:t>CloudWatch / Cost Explorer + Budgets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329184"/>
            <a:ext cx="64008" cy="26517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20040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919" b="1" i="0">
                <a:solidFill>
                  <a:srgbClr val="FF9900"/>
                </a:solidFill>
                <a:latin typeface="Aptos"/>
              </a:defRPr>
            </a:pPr>
            <a:r>
              <a:t>COMPUTE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21792"/>
            <a:ext cx="113842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2150" b="1" i="0">
                <a:solidFill>
                  <a:srgbClr val="121C2F"/>
                </a:solidFill>
                <a:latin typeface="Aptos"/>
              </a:defRPr>
            </a:pPr>
            <a:r>
              <a:t>EC2: think of it as a virtual server plus attached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1133856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1230" b="0" i="0">
                <a:solidFill>
                  <a:srgbClr val="536278"/>
                </a:solidFill>
                <a:latin typeface="Aptos"/>
              </a:defRPr>
            </a:pPr>
            <a:r>
              <a:t>An EC2 instance is not a whole application architecture by itself.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8912" y="6473952"/>
            <a:ext cx="11311128" cy="0"/>
          </a:xfrm>
          <a:prstGeom prst="line">
            <a:avLst/>
          </a:prstGeom>
          <a:ln w="7620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10528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750" b="0" i="0">
                <a:solidFill>
                  <a:srgbClr val="6D7B8F"/>
                </a:solidFill>
                <a:latin typeface="Aptos"/>
              </a:defRPr>
            </a:pPr>
            <a:r>
              <a:t>REFERENCE: AWS EC2 course / docs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501384"/>
            <a:ext cx="4754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300"/>
              </a:spcAft>
              <a:defRPr sz="900" b="1" i="0">
                <a:solidFill>
                  <a:srgbClr val="6D7B8F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2148840"/>
            <a:ext cx="2834640" cy="2011680"/>
          </a:xfrm>
          <a:prstGeom prst="roundRect">
            <a:avLst>
              <a:gd name="adj" fmla="val 8000"/>
            </a:avLst>
          </a:prstGeom>
          <a:solidFill>
            <a:srgbClr val="1A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2587752"/>
            <a:ext cx="23774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  <a:defRPr sz="2200" b="1" i="0">
                <a:solidFill>
                  <a:srgbClr val="FFFFFF"/>
                </a:solidFill>
                <a:latin typeface="Aptos"/>
              </a:defRPr>
            </a:pPr>
            <a:r>
              <a:t>Amazon EC2</a:t>
            </a:r>
          </a:p>
          <a:p>
            <a:pPr algn="ctr">
              <a:spcAft>
                <a:spcPts val="300"/>
              </a:spcAft>
              <a:defRPr sz="2200" b="1" i="0">
                <a:solidFill>
                  <a:srgbClr val="FFFFFF"/>
                </a:solidFill>
                <a:latin typeface="Aptos"/>
              </a:defRPr>
            </a:pPr>
            <a:r>
              <a:t>Instance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37360"/>
            <a:ext cx="25603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1856231"/>
            <a:ext cx="234086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1400" b="1" i="0">
                <a:solidFill>
                  <a:srgbClr val="FF9900"/>
                </a:solidFill>
                <a:latin typeface="Aptos"/>
              </a:defRPr>
            </a:pPr>
            <a:r>
              <a:t>AMI / image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176272"/>
            <a:ext cx="237743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1150" b="0" i="0">
                <a:solidFill>
                  <a:srgbClr val="536278"/>
                </a:solidFill>
                <a:latin typeface="Aptos"/>
              </a:defRPr>
            </a:pPr>
            <a:r>
              <a:t>OS + boot software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840480"/>
            <a:ext cx="25603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" y="3959352"/>
            <a:ext cx="234086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1400" b="1" i="0">
                <a:solidFill>
                  <a:srgbClr val="0078D4"/>
                </a:solidFill>
                <a:latin typeface="Aptos"/>
              </a:defRPr>
            </a:pPr>
            <a:r>
              <a:t>Instance type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279392"/>
            <a:ext cx="237743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1150" b="0" i="0">
                <a:solidFill>
                  <a:srgbClr val="536278"/>
                </a:solidFill>
                <a:latin typeface="Aptos"/>
              </a:defRPr>
            </a:pPr>
            <a:r>
              <a:t>CPU, memory, network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23960" y="1737360"/>
            <a:ext cx="25603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33688" y="1856231"/>
            <a:ext cx="234086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1400" b="1" i="0">
                <a:solidFill>
                  <a:srgbClr val="0F9D8A"/>
                </a:solidFill>
                <a:latin typeface="Aptos"/>
              </a:defRPr>
            </a:pPr>
            <a:r>
              <a:t>ENI + subnet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2176272"/>
            <a:ext cx="237743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1150" b="0" i="0">
                <a:solidFill>
                  <a:srgbClr val="536278"/>
                </a:solidFill>
                <a:latin typeface="Aptos"/>
              </a:defRPr>
            </a:pPr>
            <a:r>
              <a:t>Private IP and VPC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23960" y="3840480"/>
            <a:ext cx="25603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33688" y="3959352"/>
            <a:ext cx="234086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1400" b="1" i="0">
                <a:solidFill>
                  <a:srgbClr val="6741A5"/>
                </a:solidFill>
                <a:latin typeface="Aptos"/>
              </a:defRPr>
            </a:pPr>
            <a:r>
              <a:t>EBS volumes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400" y="4279392"/>
            <a:ext cx="237743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1150" b="0" i="0">
                <a:solidFill>
                  <a:srgbClr val="536278"/>
                </a:solidFill>
                <a:latin typeface="Aptos"/>
              </a:defRPr>
            </a:pPr>
            <a:r>
              <a:t>Persistent block storage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80560" y="4800600"/>
            <a:ext cx="246888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90288" y="4919472"/>
            <a:ext cx="22494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1400" b="1" i="0">
                <a:solidFill>
                  <a:srgbClr val="C43D4B"/>
                </a:solidFill>
                <a:latin typeface="Aptos"/>
              </a:defRPr>
            </a:pPr>
            <a:r>
              <a:t>Security Group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523951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1150" b="0" i="0">
                <a:solidFill>
                  <a:srgbClr val="536278"/>
                </a:solidFill>
                <a:latin typeface="Aptos"/>
              </a:defRPr>
            </a:pPr>
            <a:r>
              <a:t>Virtual firewall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246120" y="2194560"/>
            <a:ext cx="1051560" cy="411480"/>
          </a:xfrm>
          <a:prstGeom prst="line">
            <a:avLst/>
          </a:prstGeom>
          <a:ln w="22860">
            <a:solidFill>
              <a:srgbClr val="FF9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3246120" y="3611880"/>
            <a:ext cx="1051560" cy="548640"/>
          </a:xfrm>
          <a:prstGeom prst="line">
            <a:avLst/>
          </a:prstGeom>
          <a:ln w="2286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7132320" y="2240280"/>
            <a:ext cx="1691640" cy="411480"/>
          </a:xfrm>
          <a:prstGeom prst="line">
            <a:avLst/>
          </a:prstGeom>
          <a:ln w="22860">
            <a:solidFill>
              <a:srgbClr val="0F9D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 flipV="1">
            <a:off x="7132320" y="3657600"/>
            <a:ext cx="1691640" cy="502920"/>
          </a:xfrm>
          <a:prstGeom prst="line">
            <a:avLst/>
          </a:prstGeom>
          <a:ln w="22860">
            <a:solidFill>
              <a:srgbClr val="6741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5715000" y="4160520"/>
            <a:ext cx="0" cy="640080"/>
          </a:xfrm>
          <a:prstGeom prst="line">
            <a:avLst/>
          </a:prstGeom>
          <a:ln w="22860">
            <a:solidFill>
              <a:srgbClr val="C43D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329184"/>
            <a:ext cx="64008" cy="26517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20040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919" b="1" i="0">
                <a:solidFill>
                  <a:srgbClr val="FF9900"/>
                </a:solidFill>
                <a:latin typeface="Aptos"/>
              </a:defRPr>
            </a:pPr>
            <a:r>
              <a:t>COST &amp;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21792"/>
            <a:ext cx="113842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2600" b="1" i="0">
                <a:solidFill>
                  <a:srgbClr val="121C2F"/>
                </a:solidFill>
                <a:latin typeface="Aptos"/>
              </a:defRPr>
            </a:pPr>
            <a:r>
              <a:t>EC2 lifecycle: Stop is not Terminate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1133856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1230" b="0" i="0">
                <a:solidFill>
                  <a:srgbClr val="536278"/>
                </a:solidFill>
                <a:latin typeface="Aptos"/>
              </a:defRPr>
            </a:pPr>
            <a:r>
              <a:t>Use the action that matches the business intent: pause compute or delete the instance.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8912" y="6473952"/>
            <a:ext cx="11311128" cy="0"/>
          </a:xfrm>
          <a:prstGeom prst="line">
            <a:avLst/>
          </a:prstGeom>
          <a:ln w="7620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10528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750" b="0" i="0">
                <a:solidFill>
                  <a:srgbClr val="6D7B8F"/>
                </a:solidFill>
                <a:latin typeface="Aptos"/>
              </a:defRPr>
            </a:pPr>
            <a:r>
              <a:t>REFERENCE: AWS EC2 instance lifecycle; Azure VM states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501384"/>
            <a:ext cx="4754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300"/>
              </a:spcAft>
              <a:defRPr sz="900" b="1" i="0">
                <a:solidFill>
                  <a:srgbClr val="6D7B8F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691640"/>
            <a:ext cx="3429000" cy="342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691640"/>
            <a:ext cx="68580" cy="3429000"/>
          </a:xfrm>
          <a:prstGeom prst="rect">
            <a:avLst/>
          </a:prstGeom>
          <a:solidFill>
            <a:srgbClr val="258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1847088"/>
            <a:ext cx="3054096" cy="32918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600" b="1" i="0">
                <a:solidFill>
                  <a:srgbClr val="121C2F"/>
                </a:solidFill>
                <a:latin typeface="Aptos"/>
              </a:defRPr>
            </a:pPr>
            <a:r>
              <a:t>RUNNING</a:t>
            </a:r>
          </a:p>
        </p:txBody>
      </p:sp>
      <p:sp>
        <p:nvSpPr>
          <p:cNvPr id="12" name="Oval 11"/>
          <p:cNvSpPr/>
          <p:nvPr/>
        </p:nvSpPr>
        <p:spPr>
          <a:xfrm>
            <a:off x="832104" y="2432304"/>
            <a:ext cx="91440" cy="91440"/>
          </a:xfrm>
          <a:prstGeom prst="ellipse">
            <a:avLst/>
          </a:prstGeom>
          <a:solidFill>
            <a:srgbClr val="258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3272" y="2313432"/>
            <a:ext cx="2807208" cy="88087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400" b="0" i="0">
                <a:solidFill>
                  <a:srgbClr val="243247"/>
                </a:solidFill>
                <a:latin typeface="Aptos"/>
              </a:defRPr>
            </a:pPr>
            <a:r>
              <a:t>Compute usage is billed</a:t>
            </a:r>
          </a:p>
        </p:txBody>
      </p:sp>
      <p:sp>
        <p:nvSpPr>
          <p:cNvPr id="14" name="Oval 13"/>
          <p:cNvSpPr/>
          <p:nvPr/>
        </p:nvSpPr>
        <p:spPr>
          <a:xfrm>
            <a:off x="832104" y="3331464"/>
            <a:ext cx="91440" cy="91440"/>
          </a:xfrm>
          <a:prstGeom prst="ellipse">
            <a:avLst/>
          </a:prstGeom>
          <a:solidFill>
            <a:srgbClr val="258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3212592"/>
            <a:ext cx="2807208" cy="88087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400" b="0" i="0">
                <a:solidFill>
                  <a:srgbClr val="243247"/>
                </a:solidFill>
                <a:latin typeface="Aptos"/>
              </a:defRPr>
            </a:pPr>
            <a:r>
              <a:t>OS and applications active</a:t>
            </a:r>
          </a:p>
        </p:txBody>
      </p:sp>
      <p:sp>
        <p:nvSpPr>
          <p:cNvPr id="16" name="Oval 15"/>
          <p:cNvSpPr/>
          <p:nvPr/>
        </p:nvSpPr>
        <p:spPr>
          <a:xfrm>
            <a:off x="832104" y="4230624"/>
            <a:ext cx="91440" cy="91440"/>
          </a:xfrm>
          <a:prstGeom prst="ellipse">
            <a:avLst/>
          </a:prstGeom>
          <a:solidFill>
            <a:srgbClr val="258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3272" y="4111752"/>
            <a:ext cx="2807208" cy="88087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400" b="0" i="0">
                <a:solidFill>
                  <a:srgbClr val="243247"/>
                </a:solidFill>
                <a:latin typeface="Aptos"/>
              </a:defRPr>
            </a:pPr>
            <a:r>
              <a:t>EBS volumes incur storage cost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1691640"/>
            <a:ext cx="3429000" cy="342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89120" y="1691640"/>
            <a:ext cx="68580" cy="34290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99432" y="1847088"/>
            <a:ext cx="3054095" cy="32918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600" b="1" i="0">
                <a:solidFill>
                  <a:srgbClr val="121C2F"/>
                </a:solidFill>
                <a:latin typeface="Aptos"/>
              </a:defRPr>
            </a:pPr>
            <a:r>
              <a:t>STOPPED</a:t>
            </a:r>
          </a:p>
        </p:txBody>
      </p:sp>
      <p:sp>
        <p:nvSpPr>
          <p:cNvPr id="21" name="Oval 20"/>
          <p:cNvSpPr/>
          <p:nvPr/>
        </p:nvSpPr>
        <p:spPr>
          <a:xfrm>
            <a:off x="4626864" y="2432304"/>
            <a:ext cx="91440" cy="9144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28031" y="2313432"/>
            <a:ext cx="2807208" cy="65608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350" b="0" i="0">
                <a:solidFill>
                  <a:srgbClr val="243247"/>
                </a:solidFill>
                <a:latin typeface="Aptos"/>
              </a:defRPr>
            </a:pPr>
            <a:r>
              <a:t>Instance is retained</a:t>
            </a:r>
          </a:p>
        </p:txBody>
      </p:sp>
      <p:sp>
        <p:nvSpPr>
          <p:cNvPr id="23" name="Oval 22"/>
          <p:cNvSpPr/>
          <p:nvPr/>
        </p:nvSpPr>
        <p:spPr>
          <a:xfrm>
            <a:off x="4626864" y="3106674"/>
            <a:ext cx="91440" cy="9144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28031" y="2987802"/>
            <a:ext cx="2807208" cy="65608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350" b="0" i="0">
                <a:solidFill>
                  <a:srgbClr val="243247"/>
                </a:solidFill>
                <a:latin typeface="Aptos"/>
              </a:defRPr>
            </a:pPr>
            <a:r>
              <a:t>Instance usage billing stops</a:t>
            </a:r>
          </a:p>
        </p:txBody>
      </p:sp>
      <p:sp>
        <p:nvSpPr>
          <p:cNvPr id="25" name="Oval 24"/>
          <p:cNvSpPr/>
          <p:nvPr/>
        </p:nvSpPr>
        <p:spPr>
          <a:xfrm>
            <a:off x="4626864" y="3781044"/>
            <a:ext cx="91440" cy="9144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28031" y="3662172"/>
            <a:ext cx="2807208" cy="65608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350" b="0" i="0">
                <a:solidFill>
                  <a:srgbClr val="243247"/>
                </a:solidFill>
                <a:latin typeface="Aptos"/>
              </a:defRPr>
            </a:pPr>
            <a:r>
              <a:t>EBS storage remains billable</a:t>
            </a:r>
          </a:p>
        </p:txBody>
      </p:sp>
      <p:sp>
        <p:nvSpPr>
          <p:cNvPr id="27" name="Oval 26"/>
          <p:cNvSpPr/>
          <p:nvPr/>
        </p:nvSpPr>
        <p:spPr>
          <a:xfrm>
            <a:off x="4626864" y="4455414"/>
            <a:ext cx="91440" cy="9144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28031" y="4336542"/>
            <a:ext cx="2807208" cy="65608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350" b="0" i="0">
                <a:solidFill>
                  <a:srgbClr val="243247"/>
                </a:solidFill>
                <a:latin typeface="Aptos"/>
              </a:defRPr>
            </a:pPr>
            <a:r>
              <a:t>Public IPv4 / other resources may still cost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83879" y="1691640"/>
            <a:ext cx="3429000" cy="342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83879" y="1691640"/>
            <a:ext cx="68580" cy="3429000"/>
          </a:xfrm>
          <a:prstGeom prst="rect">
            <a:avLst/>
          </a:prstGeom>
          <a:solidFill>
            <a:srgbClr val="C43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94192" y="1847088"/>
            <a:ext cx="3054095" cy="32918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600" b="1" i="0">
                <a:solidFill>
                  <a:srgbClr val="121C2F"/>
                </a:solidFill>
                <a:latin typeface="Aptos"/>
              </a:defRPr>
            </a:pPr>
            <a:r>
              <a:t>TERMINATED</a:t>
            </a:r>
          </a:p>
        </p:txBody>
      </p:sp>
      <p:sp>
        <p:nvSpPr>
          <p:cNvPr id="32" name="Oval 31"/>
          <p:cNvSpPr/>
          <p:nvPr/>
        </p:nvSpPr>
        <p:spPr>
          <a:xfrm>
            <a:off x="8421624" y="2432304"/>
            <a:ext cx="91440" cy="91440"/>
          </a:xfrm>
          <a:prstGeom prst="ellipse">
            <a:avLst/>
          </a:prstGeom>
          <a:solidFill>
            <a:srgbClr val="C43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22792" y="2313432"/>
            <a:ext cx="2807208" cy="65608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310" b="0" i="0">
                <a:solidFill>
                  <a:srgbClr val="243247"/>
                </a:solidFill>
                <a:latin typeface="Aptos"/>
              </a:defRPr>
            </a:pPr>
            <a:r>
              <a:t>Instance cannot be restarted</a:t>
            </a:r>
          </a:p>
        </p:txBody>
      </p:sp>
      <p:sp>
        <p:nvSpPr>
          <p:cNvPr id="34" name="Oval 33"/>
          <p:cNvSpPr/>
          <p:nvPr/>
        </p:nvSpPr>
        <p:spPr>
          <a:xfrm>
            <a:off x="8421624" y="3106674"/>
            <a:ext cx="91440" cy="91440"/>
          </a:xfrm>
          <a:prstGeom prst="ellipse">
            <a:avLst/>
          </a:prstGeom>
          <a:solidFill>
            <a:srgbClr val="C43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22792" y="2987802"/>
            <a:ext cx="2807208" cy="65608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310" b="0" i="0">
                <a:solidFill>
                  <a:srgbClr val="243247"/>
                </a:solidFill>
                <a:latin typeface="Aptos"/>
              </a:defRPr>
            </a:pPr>
            <a:r>
              <a:t>Instance usage stops</a:t>
            </a:r>
          </a:p>
        </p:txBody>
      </p:sp>
      <p:sp>
        <p:nvSpPr>
          <p:cNvPr id="36" name="Oval 35"/>
          <p:cNvSpPr/>
          <p:nvPr/>
        </p:nvSpPr>
        <p:spPr>
          <a:xfrm>
            <a:off x="8421624" y="3781044"/>
            <a:ext cx="91440" cy="91440"/>
          </a:xfrm>
          <a:prstGeom prst="ellipse">
            <a:avLst/>
          </a:prstGeom>
          <a:solidFill>
            <a:srgbClr val="C43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22792" y="3662172"/>
            <a:ext cx="2807208" cy="65608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310" b="0" i="0">
                <a:solidFill>
                  <a:srgbClr val="243247"/>
                </a:solidFill>
                <a:latin typeface="Aptos"/>
              </a:defRPr>
            </a:pPr>
            <a:r>
              <a:t>Root EBS deletion depends on DeleteOnTermination</a:t>
            </a:r>
          </a:p>
        </p:txBody>
      </p:sp>
      <p:sp>
        <p:nvSpPr>
          <p:cNvPr id="38" name="Oval 37"/>
          <p:cNvSpPr/>
          <p:nvPr/>
        </p:nvSpPr>
        <p:spPr>
          <a:xfrm>
            <a:off x="8421624" y="4455414"/>
            <a:ext cx="91440" cy="91440"/>
          </a:xfrm>
          <a:prstGeom prst="ellipse">
            <a:avLst/>
          </a:prstGeom>
          <a:solidFill>
            <a:srgbClr val="C43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22792" y="4336542"/>
            <a:ext cx="2807208" cy="65608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310" b="0" i="0">
                <a:solidFill>
                  <a:srgbClr val="243247"/>
                </a:solidFill>
                <a:latin typeface="Aptos"/>
              </a:defRPr>
            </a:pPr>
            <a:r>
              <a:t>Check extra volumes and snapshots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54406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1400" b="1" i="0">
                <a:solidFill>
                  <a:srgbClr val="121C2F"/>
                </a:solidFill>
                <a:latin typeface="Aptos"/>
              </a:defRPr>
            </a:pPr>
            <a:r>
              <a:t>Azure comparison: Deallocate is the closest cost-intent analogy to EC2 Stop; Azure Delete is closer to EC2 Terminate.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329184"/>
            <a:ext cx="64008" cy="26517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20040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919" b="1" i="0">
                <a:solidFill>
                  <a:srgbClr val="FF9900"/>
                </a:solidFill>
                <a:latin typeface="Aptos"/>
              </a:defRPr>
            </a:pPr>
            <a:r>
              <a:t>COST &amp;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21792"/>
            <a:ext cx="113842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2600" b="1" i="0">
                <a:solidFill>
                  <a:srgbClr val="121C2F"/>
                </a:solidFill>
                <a:latin typeface="Aptos"/>
              </a:defRPr>
            </a:pPr>
            <a:r>
              <a:t>Cloud cost continues beyond the VM state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1133856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1230" b="0" i="0">
                <a:solidFill>
                  <a:srgbClr val="536278"/>
                </a:solidFill>
                <a:latin typeface="Aptos"/>
              </a:defRPr>
            </a:pPr>
            <a:r>
              <a:t>A stopped instance may still leave billable resources behind.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8912" y="6473952"/>
            <a:ext cx="11311128" cy="0"/>
          </a:xfrm>
          <a:prstGeom prst="line">
            <a:avLst/>
          </a:prstGeom>
          <a:ln w="7620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10528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750" b="0" i="0">
                <a:solidFill>
                  <a:srgbClr val="6D7B8F"/>
                </a:solidFill>
                <a:latin typeface="Aptos"/>
              </a:defRPr>
            </a:pPr>
            <a:r>
              <a:t>REFERENCE: AWS EC2 lifecycle; EBS snapshots; NAT; Cost Explorer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501384"/>
            <a:ext cx="4754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300"/>
              </a:spcAft>
              <a:defRPr sz="900" b="1" i="0">
                <a:solidFill>
                  <a:srgbClr val="6D7B8F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737360"/>
            <a:ext cx="3502152" cy="13533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737360"/>
            <a:ext cx="68580" cy="135331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1892807"/>
            <a:ext cx="3127248" cy="32918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121C2F"/>
                </a:solidFill>
                <a:latin typeface="Aptos"/>
              </a:defRPr>
            </a:pPr>
            <a:r>
              <a:t>Compute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350008"/>
            <a:ext cx="3090672" cy="6035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  <a:defRPr sz="1250" b="0" i="0">
                <a:solidFill>
                  <a:srgbClr val="243247"/>
                </a:solidFill>
                <a:latin typeface="Aptos"/>
              </a:defRPr>
            </a:pPr>
            <a:r>
              <a:t>EC2 running time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6552" y="1737360"/>
            <a:ext cx="3502152" cy="13533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6552" y="1737360"/>
            <a:ext cx="68580" cy="135331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26864" y="1892807"/>
            <a:ext cx="3127247" cy="32918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121C2F"/>
                </a:solidFill>
                <a:latin typeface="Aptos"/>
              </a:defRPr>
            </a:pPr>
            <a:r>
              <a:t>Block storage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5152" y="2350008"/>
            <a:ext cx="3090672" cy="6035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  <a:defRPr sz="1250" b="0" i="0">
                <a:solidFill>
                  <a:srgbClr val="243247"/>
                </a:solidFill>
                <a:latin typeface="Aptos"/>
              </a:defRPr>
            </a:pPr>
            <a:r>
              <a:t>EBS volumes attached or detached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38744" y="1737360"/>
            <a:ext cx="3502152" cy="13533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38744" y="1737360"/>
            <a:ext cx="68580" cy="1353312"/>
          </a:xfrm>
          <a:prstGeom prst="rect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49056" y="1892807"/>
            <a:ext cx="3127247" cy="32918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121C2F"/>
                </a:solidFill>
                <a:latin typeface="Aptos"/>
              </a:defRPr>
            </a:pPr>
            <a:r>
              <a:t>Addresses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67344" y="2350008"/>
            <a:ext cx="3090672" cy="6035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  <a:defRPr sz="1250" b="0" i="0">
                <a:solidFill>
                  <a:srgbClr val="243247"/>
                </a:solidFill>
                <a:latin typeface="Aptos"/>
              </a:defRPr>
            </a:pPr>
            <a:r>
              <a:t>Public IPv4 / Elastic IP rules apply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3401568"/>
            <a:ext cx="3502152" cy="13533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4360" y="3401568"/>
            <a:ext cx="68580" cy="1353312"/>
          </a:xfrm>
          <a:prstGeom prst="rect">
            <a:avLst/>
          </a:prstGeom>
          <a:solidFill>
            <a:srgbClr val="6741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3557015"/>
            <a:ext cx="3127248" cy="32918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121C2F"/>
                </a:solidFill>
                <a:latin typeface="Aptos"/>
              </a:defRPr>
            </a:pPr>
            <a:r>
              <a:t>Network appliances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014215"/>
            <a:ext cx="3090672" cy="6035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  <a:defRPr sz="1250" b="0" i="0">
                <a:solidFill>
                  <a:srgbClr val="243247"/>
                </a:solidFill>
                <a:latin typeface="Aptos"/>
              </a:defRPr>
            </a:pPr>
            <a:r>
              <a:t>NAT Gateway and load balancer hours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16552" y="3401568"/>
            <a:ext cx="3502152" cy="13533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16552" y="3401568"/>
            <a:ext cx="68580" cy="1353312"/>
          </a:xfrm>
          <a:prstGeom prst="rect">
            <a:avLst/>
          </a:prstGeom>
          <a:solidFill>
            <a:srgbClr val="C43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26864" y="3557015"/>
            <a:ext cx="3127247" cy="32918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121C2F"/>
                </a:solidFill>
                <a:latin typeface="Aptos"/>
              </a:defRPr>
            </a:pPr>
            <a:r>
              <a:t>Backups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45152" y="4014215"/>
            <a:ext cx="3090672" cy="6035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  <a:defRPr sz="1250" b="0" i="0">
                <a:solidFill>
                  <a:srgbClr val="243247"/>
                </a:solidFill>
                <a:latin typeface="Aptos"/>
              </a:defRPr>
            </a:pPr>
            <a:r>
              <a:t>EBS snapshots and retained data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38744" y="3401568"/>
            <a:ext cx="3502152" cy="13533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38744" y="3401568"/>
            <a:ext cx="68580" cy="1353312"/>
          </a:xfrm>
          <a:prstGeom prst="rect">
            <a:avLst/>
          </a:prstGeom>
          <a:solidFill>
            <a:srgbClr val="258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49056" y="3557015"/>
            <a:ext cx="3127247" cy="32918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121C2F"/>
                </a:solidFill>
                <a:latin typeface="Aptos"/>
              </a:defRPr>
            </a:pPr>
            <a:r>
              <a:t>Observability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67344" y="4014215"/>
            <a:ext cx="3090672" cy="6035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  <a:defRPr sz="1250" b="0" i="0">
                <a:solidFill>
                  <a:srgbClr val="243247"/>
                </a:solidFill>
                <a:latin typeface="Aptos"/>
              </a:defRPr>
            </a:pPr>
            <a:r>
              <a:t>Metrics, logs, alarms and data volume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97280" y="5349240"/>
            <a:ext cx="9966960" cy="502920"/>
          </a:xfrm>
          <a:prstGeom prst="roundRect">
            <a:avLst>
              <a:gd name="adj" fmla="val 8000"/>
            </a:avLst>
          </a:prstGeom>
          <a:solidFill>
            <a:srgbClr val="FFF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34440" y="5477256"/>
            <a:ext cx="9692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1200" b="1" i="0">
                <a:solidFill>
                  <a:srgbClr val="121C2F"/>
                </a:solidFill>
                <a:latin typeface="Aptos"/>
              </a:defRPr>
            </a:pPr>
            <a:r>
              <a:t>Cleanup checklist: EC2 • EBS • Elastic IP • NAT Gateway • ALB • snapshots • S3 versions • secret versions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329184"/>
            <a:ext cx="64008" cy="26517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20040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919" b="1" i="0">
                <a:solidFill>
                  <a:srgbClr val="FF9900"/>
                </a:solidFill>
                <a:latin typeface="Aptos"/>
              </a:defRPr>
            </a:pPr>
            <a:r>
              <a:t>COST &amp;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21792"/>
            <a:ext cx="113842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2600" b="1" i="0">
                <a:solidFill>
                  <a:srgbClr val="121C2F"/>
                </a:solidFill>
                <a:latin typeface="Aptos"/>
              </a:defRPr>
            </a:pPr>
            <a:r>
              <a:t>Scenario D4-1: the cost-safe incident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1133856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1230" b="0" i="0">
                <a:solidFill>
                  <a:srgbClr val="536278"/>
                </a:solidFill>
                <a:latin typeface="Aptos"/>
              </a:defRPr>
            </a:pPr>
            <a:r>
              <a:t>First stop the cost leak safely; then validate the capacity fix separately.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8912" y="6473952"/>
            <a:ext cx="11311128" cy="0"/>
          </a:xfrm>
          <a:prstGeom prst="line">
            <a:avLst/>
          </a:prstGeom>
          <a:ln w="7620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10528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750" b="0" i="0">
                <a:solidFill>
                  <a:srgbClr val="6D7B8F"/>
                </a:solidFill>
                <a:latin typeface="Aptos"/>
              </a:defRPr>
            </a:pPr>
            <a:r>
              <a:t>REFERENCE: AWS EC2 lifecycle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501384"/>
            <a:ext cx="4754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300"/>
              </a:spcAft>
              <a:defRPr sz="900" b="1" i="0">
                <a:solidFill>
                  <a:srgbClr val="6D7B8F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72" y="1920240"/>
            <a:ext cx="2062886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6072" y="1920240"/>
            <a:ext cx="2062886" cy="82296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103120"/>
            <a:ext cx="184343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1400" b="1" i="0">
                <a:solidFill>
                  <a:srgbClr val="121C2F"/>
                </a:solidFill>
                <a:latin typeface="Aptos"/>
              </a:defRPr>
            </a:pPr>
            <a:r>
              <a:t>Find idle VM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60320"/>
            <a:ext cx="1843430" cy="117043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300"/>
              </a:spcAft>
              <a:defRPr sz="1230" b="0" i="0">
                <a:solidFill>
                  <a:srgbClr val="536278"/>
                </a:solidFill>
                <a:latin typeface="Aptos"/>
              </a:defRPr>
            </a:pPr>
            <a:r>
              <a:t>Filter by Name tag;</a:t>
            </a:r>
          </a:p>
          <a:p>
            <a:pPr algn="ctr">
              <a:spcAft>
                <a:spcPts val="300"/>
              </a:spcAft>
              <a:defRPr sz="1230" b="0" i="0">
                <a:solidFill>
                  <a:srgbClr val="536278"/>
                </a:solidFill>
                <a:latin typeface="Aptos"/>
              </a:defRPr>
            </a:pPr>
            <a:r>
              <a:t>record instance 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48102" y="2697480"/>
            <a:ext cx="1463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2400" b="1" i="0">
                <a:solidFill>
                  <a:srgbClr val="FF9900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03550" y="1920240"/>
            <a:ext cx="2062886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03550" y="1920240"/>
            <a:ext cx="2062886" cy="82296"/>
          </a:xfrm>
          <a:prstGeom prst="rect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13278" y="2103120"/>
            <a:ext cx="184343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1400" b="1" i="0">
                <a:solidFill>
                  <a:srgbClr val="121C2F"/>
                </a:solidFill>
                <a:latin typeface="Aptos"/>
              </a:defRPr>
            </a:pPr>
            <a:r>
              <a:t>Inspect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13278" y="2560320"/>
            <a:ext cx="1843430" cy="117043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300"/>
              </a:spcAft>
              <a:defRPr sz="1230" b="0" i="0">
                <a:solidFill>
                  <a:srgbClr val="536278"/>
                </a:solidFill>
                <a:latin typeface="Aptos"/>
              </a:defRPr>
            </a:pPr>
            <a:r>
              <a:t>Confirm owner,</a:t>
            </a:r>
          </a:p>
          <a:p>
            <a:pPr algn="ctr">
              <a:spcAft>
                <a:spcPts val="300"/>
              </a:spcAft>
              <a:defRPr sz="1230" b="0" i="0">
                <a:solidFill>
                  <a:srgbClr val="536278"/>
                </a:solidFill>
                <a:latin typeface="Aptos"/>
              </a:defRPr>
            </a:pPr>
            <a:r>
              <a:t>EBS and data need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75580" y="2697480"/>
            <a:ext cx="1463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2400" b="1" i="0">
                <a:solidFill>
                  <a:srgbClr val="FF9900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31028" y="1920240"/>
            <a:ext cx="2062886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31028" y="1920240"/>
            <a:ext cx="2062886" cy="8229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40756" y="2103120"/>
            <a:ext cx="184343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1400" b="1" i="0">
                <a:solidFill>
                  <a:srgbClr val="121C2F"/>
                </a:solidFill>
                <a:latin typeface="Aptos"/>
              </a:defRPr>
            </a:pPr>
            <a:r>
              <a:t>Stop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756" y="2560320"/>
            <a:ext cx="1843430" cy="117043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300"/>
              </a:spcAft>
              <a:defRPr sz="1230" b="0" i="0">
                <a:solidFill>
                  <a:srgbClr val="536278"/>
                </a:solidFill>
                <a:latin typeface="Aptos"/>
              </a:defRPr>
            </a:pPr>
            <a:r>
              <a:t>Stop instance;</a:t>
            </a:r>
          </a:p>
          <a:p>
            <a:pPr algn="ctr">
              <a:spcAft>
                <a:spcPts val="300"/>
              </a:spcAft>
              <a:defRPr sz="1230" b="0" i="0">
                <a:solidFill>
                  <a:srgbClr val="536278"/>
                </a:solidFill>
                <a:latin typeface="Aptos"/>
              </a:defRPr>
            </a:pPr>
            <a:r>
              <a:t>wait until stopped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03059" y="2697480"/>
            <a:ext cx="1463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2400" b="1" i="0">
                <a:solidFill>
                  <a:srgbClr val="FF9900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58507" y="1920240"/>
            <a:ext cx="2062886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58507" y="1920240"/>
            <a:ext cx="2062886" cy="82296"/>
          </a:xfrm>
          <a:prstGeom prst="rect">
            <a:avLst/>
          </a:prstGeom>
          <a:solidFill>
            <a:srgbClr val="6741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68235" y="2103120"/>
            <a:ext cx="184343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1400" b="1" i="0">
                <a:solidFill>
                  <a:srgbClr val="121C2F"/>
                </a:solidFill>
                <a:latin typeface="Aptos"/>
              </a:defRPr>
            </a:pPr>
            <a:r>
              <a:t>Verify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68235" y="2560320"/>
            <a:ext cx="1843430" cy="117043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300"/>
              </a:spcAft>
              <a:defRPr sz="1230" b="0" i="0">
                <a:solidFill>
                  <a:srgbClr val="536278"/>
                </a:solidFill>
                <a:latin typeface="Aptos"/>
              </a:defRPr>
            </a:pPr>
            <a:r>
              <a:t>State = stopped;</a:t>
            </a:r>
          </a:p>
          <a:p>
            <a:pPr algn="ctr">
              <a:spcAft>
                <a:spcPts val="300"/>
              </a:spcAft>
              <a:defRPr sz="1230" b="0" i="0">
                <a:solidFill>
                  <a:srgbClr val="536278"/>
                </a:solidFill>
                <a:latin typeface="Aptos"/>
              </a:defRPr>
            </a:pPr>
            <a:r>
              <a:t>compute usage halted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30537" y="2697480"/>
            <a:ext cx="1463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2400" b="1" i="0">
                <a:solidFill>
                  <a:srgbClr val="FF9900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85985" y="1920240"/>
            <a:ext cx="2062886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485985" y="1920240"/>
            <a:ext cx="2062886" cy="82296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95713" y="2103120"/>
            <a:ext cx="184343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1400" b="1" i="0">
                <a:solidFill>
                  <a:srgbClr val="121C2F"/>
                </a:solidFill>
                <a:latin typeface="Aptos"/>
              </a:defRPr>
            </a:pPr>
            <a:r>
              <a:t>Right-size / close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95713" y="2560320"/>
            <a:ext cx="1843430" cy="117043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300"/>
              </a:spcAft>
              <a:defRPr sz="1230" b="0" i="0">
                <a:solidFill>
                  <a:srgbClr val="536278"/>
                </a:solidFill>
                <a:latin typeface="Aptos"/>
              </a:defRPr>
            </a:pPr>
            <a:r>
              <a:t>Record next action;</a:t>
            </a:r>
          </a:p>
          <a:p>
            <a:pPr algn="ctr">
              <a:spcAft>
                <a:spcPts val="300"/>
              </a:spcAft>
              <a:defRPr sz="1230" b="0" i="0">
                <a:solidFill>
                  <a:srgbClr val="536278"/>
                </a:solidFill>
                <a:latin typeface="Aptos"/>
              </a:defRPr>
            </a:pPr>
            <a:r>
              <a:t>check residual costs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4480560"/>
            <a:ext cx="50749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31520" y="4480560"/>
            <a:ext cx="68580" cy="1143000"/>
          </a:xfrm>
          <a:prstGeom prst="rect">
            <a:avLst/>
          </a:prstGeom>
          <a:solidFill>
            <a:srgbClr val="C43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1832" y="4572000"/>
            <a:ext cx="4700016" cy="23774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340" b="1" i="0">
                <a:solidFill>
                  <a:srgbClr val="121C2F"/>
                </a:solidFill>
                <a:latin typeface="Aptos"/>
              </a:defRPr>
            </a:pPr>
            <a:r>
              <a:t>Do not confuse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" y="4846320"/>
            <a:ext cx="4663440" cy="71323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130" b="0" i="0">
                <a:solidFill>
                  <a:srgbClr val="243247"/>
                </a:solidFill>
                <a:latin typeface="Aptos"/>
              </a:defRPr>
            </a:pPr>
            <a:r>
              <a:t>Stop preserves the instance. Terminate destroys it.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55080" y="4480560"/>
            <a:ext cx="50749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55080" y="4480560"/>
            <a:ext cx="68580" cy="1143000"/>
          </a:xfrm>
          <a:prstGeom prst="rect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65392" y="4572000"/>
            <a:ext cx="4700016" cy="23774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340" b="1" i="0">
                <a:solidFill>
                  <a:srgbClr val="121C2F"/>
                </a:solidFill>
                <a:latin typeface="Aptos"/>
              </a:defRPr>
            </a:pPr>
            <a:r>
              <a:t>Learner evidence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0" y="4846320"/>
            <a:ext cx="4663440" cy="71323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130" b="0" i="0">
                <a:solidFill>
                  <a:srgbClr val="243247"/>
                </a:solidFill>
                <a:latin typeface="Aptos"/>
              </a:defRPr>
            </a:pPr>
            <a:r>
              <a:t>Instance ID, before/after state, attached volume review and cost note.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329184"/>
            <a:ext cx="64008" cy="26517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20040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919" b="1" i="0">
                <a:solidFill>
                  <a:srgbClr val="FF9900"/>
                </a:solidFill>
                <a:latin typeface="Aptos"/>
              </a:defRPr>
            </a:pPr>
            <a:r>
              <a:t>COMPUTE &amp; AVAILABILITY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21792"/>
            <a:ext cx="113842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2600" b="1" i="0">
                <a:solidFill>
                  <a:srgbClr val="121C2F"/>
                </a:solidFill>
                <a:latin typeface="Aptos"/>
              </a:defRPr>
            </a:pPr>
            <a:r>
              <a:t>Scaling: bigger machine or more machines?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1133856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1230" b="0" i="0">
                <a:solidFill>
                  <a:srgbClr val="536278"/>
                </a:solidFill>
                <a:latin typeface="Aptos"/>
              </a:defRPr>
            </a:pPr>
            <a:r>
              <a:t>Day 4 scenario needs horizontal scaling from 2 to 4 EC2 instances.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8912" y="6473952"/>
            <a:ext cx="11311128" cy="0"/>
          </a:xfrm>
          <a:prstGeom prst="line">
            <a:avLst/>
          </a:prstGeom>
          <a:ln w="7620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10528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750" b="0" i="0">
                <a:solidFill>
                  <a:srgbClr val="6D7B8F"/>
                </a:solidFill>
                <a:latin typeface="Aptos"/>
              </a:defRPr>
            </a:pPr>
            <a:r>
              <a:t>REFERENCE: AWS EC2 Auto Scaling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501384"/>
            <a:ext cx="4754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300"/>
              </a:spcAft>
              <a:defRPr sz="900" b="1" i="0">
                <a:solidFill>
                  <a:srgbClr val="6D7B8F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691640"/>
            <a:ext cx="5349240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691640"/>
            <a:ext cx="68580" cy="36118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1847088"/>
            <a:ext cx="4974336" cy="32918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600" b="1" i="0">
                <a:solidFill>
                  <a:srgbClr val="121C2F"/>
                </a:solidFill>
                <a:latin typeface="Aptos"/>
              </a:defRPr>
            </a:pPr>
            <a:r>
              <a:t>Vertical scaling (scale up)</a:t>
            </a:r>
          </a:p>
        </p:txBody>
      </p:sp>
      <p:sp>
        <p:nvSpPr>
          <p:cNvPr id="12" name="Oval 11"/>
          <p:cNvSpPr/>
          <p:nvPr/>
        </p:nvSpPr>
        <p:spPr>
          <a:xfrm>
            <a:off x="832104" y="2432304"/>
            <a:ext cx="91440" cy="9144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3272" y="2313432"/>
            <a:ext cx="4727448" cy="70180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400" b="0" i="0">
                <a:solidFill>
                  <a:srgbClr val="243247"/>
                </a:solidFill>
                <a:latin typeface="Aptos"/>
              </a:defRPr>
            </a:pPr>
            <a:r>
              <a:t>Change instance size, e.g., more CPU/RAM</a:t>
            </a:r>
          </a:p>
        </p:txBody>
      </p:sp>
      <p:sp>
        <p:nvSpPr>
          <p:cNvPr id="14" name="Oval 13"/>
          <p:cNvSpPr/>
          <p:nvPr/>
        </p:nvSpPr>
        <p:spPr>
          <a:xfrm>
            <a:off x="832104" y="3152394"/>
            <a:ext cx="91440" cy="9144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3033522"/>
            <a:ext cx="4727448" cy="70180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400" b="0" i="0">
                <a:solidFill>
                  <a:srgbClr val="243247"/>
                </a:solidFill>
                <a:latin typeface="Aptos"/>
              </a:defRPr>
            </a:pPr>
            <a:r>
              <a:t>May require restart or replacement depending on change</a:t>
            </a:r>
          </a:p>
        </p:txBody>
      </p:sp>
      <p:sp>
        <p:nvSpPr>
          <p:cNvPr id="16" name="Oval 15"/>
          <p:cNvSpPr/>
          <p:nvPr/>
        </p:nvSpPr>
        <p:spPr>
          <a:xfrm>
            <a:off x="832104" y="3872484"/>
            <a:ext cx="91440" cy="9144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3272" y="3753612"/>
            <a:ext cx="4727448" cy="70180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400" b="0" i="0">
                <a:solidFill>
                  <a:srgbClr val="243247"/>
                </a:solidFill>
                <a:latin typeface="Aptos"/>
              </a:defRPr>
            </a:pPr>
            <a:r>
              <a:t>Useful for a single workload that needs more capacity</a:t>
            </a:r>
          </a:p>
        </p:txBody>
      </p:sp>
      <p:sp>
        <p:nvSpPr>
          <p:cNvPr id="18" name="Oval 17"/>
          <p:cNvSpPr/>
          <p:nvPr/>
        </p:nvSpPr>
        <p:spPr>
          <a:xfrm>
            <a:off x="832104" y="4592574"/>
            <a:ext cx="91440" cy="9144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4473702"/>
            <a:ext cx="4727448" cy="70180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400" b="0" i="0">
                <a:solidFill>
                  <a:srgbClr val="243247"/>
                </a:solidFill>
                <a:latin typeface="Aptos"/>
              </a:defRPr>
            </a:pPr>
            <a:r>
              <a:t>Does not create additional failure domains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1691640"/>
            <a:ext cx="5349240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1691640"/>
            <a:ext cx="68580" cy="361188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3952" y="1847088"/>
            <a:ext cx="4974336" cy="32918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600" b="1" i="0">
                <a:solidFill>
                  <a:srgbClr val="121C2F"/>
                </a:solidFill>
                <a:latin typeface="Aptos"/>
              </a:defRPr>
            </a:pPr>
            <a:r>
              <a:t>Horizontal scaling (scale out)</a:t>
            </a:r>
          </a:p>
        </p:txBody>
      </p:sp>
      <p:sp>
        <p:nvSpPr>
          <p:cNvPr id="23" name="Oval 22"/>
          <p:cNvSpPr/>
          <p:nvPr/>
        </p:nvSpPr>
        <p:spPr>
          <a:xfrm>
            <a:off x="6501383" y="2432304"/>
            <a:ext cx="91440" cy="9144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02551" y="2313432"/>
            <a:ext cx="4727448" cy="70180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400" b="0" i="0">
                <a:solidFill>
                  <a:srgbClr val="243247"/>
                </a:solidFill>
                <a:latin typeface="Aptos"/>
              </a:defRPr>
            </a:pPr>
            <a:r>
              <a:t>Add more instances behind a load balancer</a:t>
            </a:r>
          </a:p>
        </p:txBody>
      </p:sp>
      <p:sp>
        <p:nvSpPr>
          <p:cNvPr id="25" name="Oval 24"/>
          <p:cNvSpPr/>
          <p:nvPr/>
        </p:nvSpPr>
        <p:spPr>
          <a:xfrm>
            <a:off x="6501383" y="3152394"/>
            <a:ext cx="91440" cy="9144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02551" y="3033522"/>
            <a:ext cx="4727448" cy="70180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400" b="0" i="0">
                <a:solidFill>
                  <a:srgbClr val="243247"/>
                </a:solidFill>
                <a:latin typeface="Aptos"/>
              </a:defRPr>
            </a:pPr>
            <a:r>
              <a:t>Distributes requests and increases aggregate capacity</a:t>
            </a:r>
          </a:p>
        </p:txBody>
      </p:sp>
      <p:sp>
        <p:nvSpPr>
          <p:cNvPr id="27" name="Oval 26"/>
          <p:cNvSpPr/>
          <p:nvPr/>
        </p:nvSpPr>
        <p:spPr>
          <a:xfrm>
            <a:off x="6501383" y="3872484"/>
            <a:ext cx="91440" cy="9144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02551" y="3753612"/>
            <a:ext cx="4727448" cy="70180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400" b="0" i="0">
                <a:solidFill>
                  <a:srgbClr val="243247"/>
                </a:solidFill>
                <a:latin typeface="Aptos"/>
              </a:defRPr>
            </a:pPr>
            <a:r>
              <a:t>Can improve resilience if spread across AZs</a:t>
            </a:r>
          </a:p>
        </p:txBody>
      </p:sp>
      <p:sp>
        <p:nvSpPr>
          <p:cNvPr id="29" name="Oval 28"/>
          <p:cNvSpPr/>
          <p:nvPr/>
        </p:nvSpPr>
        <p:spPr>
          <a:xfrm>
            <a:off x="6501383" y="4592574"/>
            <a:ext cx="91440" cy="9144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02551" y="4473702"/>
            <a:ext cx="4727448" cy="70180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400" b="0" i="0">
                <a:solidFill>
                  <a:srgbClr val="243247"/>
                </a:solidFill>
                <a:latin typeface="Aptos"/>
              </a:defRPr>
            </a:pPr>
            <a:r>
              <a:t>Needs stateless/shared-session design for many web apps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557784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1400" b="1" i="0">
                <a:solidFill>
                  <a:srgbClr val="121C2F"/>
                </a:solidFill>
                <a:latin typeface="Aptos"/>
              </a:defRPr>
            </a:pPr>
            <a:r>
              <a:t>Azure comparison: VM Scale Set (VMSS) is the closest common pattern to an EC2 Auto Scaling Group (ASG).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329184"/>
            <a:ext cx="64008" cy="26517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20040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919" b="1" i="0">
                <a:solidFill>
                  <a:srgbClr val="FF9900"/>
                </a:solidFill>
                <a:latin typeface="Aptos"/>
              </a:defRPr>
            </a:pPr>
            <a:r>
              <a:t>COMPUTE &amp; AVAILABILITY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21792"/>
            <a:ext cx="113842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2600" b="1" i="0">
                <a:solidFill>
                  <a:srgbClr val="121C2F"/>
                </a:solidFill>
                <a:latin typeface="Aptos"/>
              </a:defRPr>
            </a:pPr>
            <a:r>
              <a:t>Auto Scaling Group: the capacity controller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1133856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1230" b="0" i="0">
                <a:solidFill>
                  <a:srgbClr val="536278"/>
                </a:solidFill>
                <a:latin typeface="Aptos"/>
              </a:defRPr>
            </a:pPr>
            <a:r>
              <a:t>An ASG manages a fleet as one logical unit.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8912" y="6473952"/>
            <a:ext cx="11311128" cy="0"/>
          </a:xfrm>
          <a:prstGeom prst="line">
            <a:avLst/>
          </a:prstGeom>
          <a:ln w="7620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10528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750" b="0" i="0">
                <a:solidFill>
                  <a:srgbClr val="6D7B8F"/>
                </a:solidFill>
                <a:latin typeface="Aptos"/>
              </a:defRPr>
            </a:pPr>
            <a:r>
              <a:t>REFERENCE: AWS EC2 Auto Scaling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501384"/>
            <a:ext cx="4754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300"/>
              </a:spcAft>
              <a:defRPr sz="900" b="1" i="0">
                <a:solidFill>
                  <a:srgbClr val="6D7B8F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28800"/>
            <a:ext cx="2081174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2081174" cy="82296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011680"/>
            <a:ext cx="186171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1400" b="1" i="0">
                <a:solidFill>
                  <a:srgbClr val="121C2F"/>
                </a:solidFill>
                <a:latin typeface="Aptos"/>
              </a:defRPr>
            </a:pPr>
            <a:r>
              <a:t>Launch Template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468880"/>
            <a:ext cx="1861718" cy="130759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300"/>
              </a:spcAft>
              <a:defRPr sz="1220" b="0" i="0">
                <a:solidFill>
                  <a:srgbClr val="536278"/>
                </a:solidFill>
                <a:latin typeface="Aptos"/>
              </a:defRPr>
            </a:pPr>
            <a:r>
              <a:t>AMI, instance type,</a:t>
            </a:r>
          </a:p>
          <a:p>
            <a:pPr algn="ctr">
              <a:spcAft>
                <a:spcPts val="300"/>
              </a:spcAft>
              <a:defRPr sz="1220" b="0" i="0">
                <a:solidFill>
                  <a:srgbClr val="536278"/>
                </a:solidFill>
                <a:latin typeface="Aptos"/>
              </a:defRPr>
            </a:pPr>
            <a:r>
              <a:t>network and user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38958" y="2674620"/>
            <a:ext cx="1463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2400" b="1" i="0">
                <a:solidFill>
                  <a:srgbClr val="FF9900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94406" y="1828800"/>
            <a:ext cx="2081174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94406" y="1828800"/>
            <a:ext cx="2081174" cy="82296"/>
          </a:xfrm>
          <a:prstGeom prst="rect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04134" y="2011680"/>
            <a:ext cx="186171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1400" b="1" i="0">
                <a:solidFill>
                  <a:srgbClr val="121C2F"/>
                </a:solidFill>
                <a:latin typeface="Aptos"/>
              </a:defRPr>
            </a:pPr>
            <a:r>
              <a:t>Auto Scaling Group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04134" y="2468880"/>
            <a:ext cx="1861718" cy="130759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300"/>
              </a:spcAft>
              <a:defRPr sz="1220" b="0" i="0">
                <a:solidFill>
                  <a:srgbClr val="536278"/>
                </a:solidFill>
                <a:latin typeface="Aptos"/>
              </a:defRPr>
            </a:pPr>
            <a:r>
              <a:t>Min / desired / max</a:t>
            </a:r>
          </a:p>
          <a:p>
            <a:pPr algn="ctr">
              <a:spcAft>
                <a:spcPts val="300"/>
              </a:spcAft>
              <a:defRPr sz="1220" b="0" i="0">
                <a:solidFill>
                  <a:srgbClr val="536278"/>
                </a:solidFill>
                <a:latin typeface="Aptos"/>
              </a:defRPr>
            </a:pPr>
            <a:r>
              <a:t>capacity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84724" y="2674620"/>
            <a:ext cx="1463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2400" b="1" i="0">
                <a:solidFill>
                  <a:srgbClr val="FF9900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40172" y="1828800"/>
            <a:ext cx="2081174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40172" y="1828800"/>
            <a:ext cx="2081174" cy="8229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49900" y="2011680"/>
            <a:ext cx="186171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1400" b="1" i="0">
                <a:solidFill>
                  <a:srgbClr val="121C2F"/>
                </a:solidFill>
                <a:latin typeface="Aptos"/>
              </a:defRPr>
            </a:pPr>
            <a:r>
              <a:t>EC2 fleet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9900" y="2468880"/>
            <a:ext cx="1861718" cy="130759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300"/>
              </a:spcAft>
              <a:defRPr sz="1220" b="0" i="0">
                <a:solidFill>
                  <a:srgbClr val="536278"/>
                </a:solidFill>
                <a:latin typeface="Aptos"/>
              </a:defRPr>
            </a:pPr>
            <a:r>
              <a:t>Instances created</a:t>
            </a:r>
          </a:p>
          <a:p>
            <a:pPr algn="ctr">
              <a:spcAft>
                <a:spcPts val="300"/>
              </a:spcAft>
              <a:defRPr sz="1220" b="0" i="0">
                <a:solidFill>
                  <a:srgbClr val="536278"/>
                </a:solidFill>
                <a:latin typeface="Aptos"/>
              </a:defRPr>
            </a:pPr>
            <a:r>
              <a:t>from template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0491" y="2674620"/>
            <a:ext cx="1463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2400" b="1" i="0">
                <a:solidFill>
                  <a:srgbClr val="FF9900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85939" y="1828800"/>
            <a:ext cx="2081174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85939" y="1828800"/>
            <a:ext cx="2081174" cy="82296"/>
          </a:xfrm>
          <a:prstGeom prst="rect">
            <a:avLst/>
          </a:prstGeom>
          <a:solidFill>
            <a:srgbClr val="6741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95667" y="2011680"/>
            <a:ext cx="186171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1400" b="1" i="0">
                <a:solidFill>
                  <a:srgbClr val="121C2F"/>
                </a:solidFill>
                <a:latin typeface="Aptos"/>
              </a:defRPr>
            </a:pPr>
            <a:r>
              <a:t>Health checks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95667" y="2468880"/>
            <a:ext cx="1861718" cy="130759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300"/>
              </a:spcAft>
              <a:defRPr sz="1220" b="0" i="0">
                <a:solidFill>
                  <a:srgbClr val="536278"/>
                </a:solidFill>
                <a:latin typeface="Aptos"/>
              </a:defRPr>
            </a:pPr>
            <a:r>
              <a:t>Replace unhealthy</a:t>
            </a:r>
          </a:p>
          <a:p>
            <a:pPr algn="ctr">
              <a:spcAft>
                <a:spcPts val="300"/>
              </a:spcAft>
              <a:defRPr sz="1220" b="0" i="0">
                <a:solidFill>
                  <a:srgbClr val="536278"/>
                </a:solidFill>
                <a:latin typeface="Aptos"/>
              </a:defRPr>
            </a:pPr>
            <a:r>
              <a:t>instances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76257" y="2674620"/>
            <a:ext cx="1463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2400" b="1" i="0">
                <a:solidFill>
                  <a:srgbClr val="FF9900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31705" y="1828800"/>
            <a:ext cx="2081174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531705" y="1828800"/>
            <a:ext cx="2081174" cy="82296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41433" y="2011680"/>
            <a:ext cx="186171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1400" b="1" i="0">
                <a:solidFill>
                  <a:srgbClr val="121C2F"/>
                </a:solidFill>
                <a:latin typeface="Aptos"/>
              </a:defRPr>
            </a:pPr>
            <a:r>
              <a:t>Load balancer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41433" y="2468880"/>
            <a:ext cx="1861718" cy="130759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300"/>
              </a:spcAft>
              <a:defRPr sz="1220" b="0" i="0">
                <a:solidFill>
                  <a:srgbClr val="536278"/>
                </a:solidFill>
                <a:latin typeface="Aptos"/>
              </a:defRPr>
            </a:pPr>
            <a:r>
              <a:t>Route to healthy</a:t>
            </a:r>
          </a:p>
          <a:p>
            <a:pPr algn="ctr">
              <a:spcAft>
                <a:spcPts val="300"/>
              </a:spcAft>
              <a:defRPr sz="1220" b="0" i="0">
                <a:solidFill>
                  <a:srgbClr val="536278"/>
                </a:solidFill>
                <a:latin typeface="Aptos"/>
              </a:defRPr>
            </a:pPr>
            <a:r>
              <a:t>targets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80160" y="4434840"/>
            <a:ext cx="2087217" cy="308610"/>
          </a:xfrm>
          <a:prstGeom prst="rect">
            <a:avLst/>
          </a:prstGeom>
          <a:solidFill>
            <a:srgbClr val="1A2A43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53312" y="4462272"/>
            <a:ext cx="1940913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t>Setting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367377" y="4434840"/>
            <a:ext cx="5426765" cy="308610"/>
          </a:xfrm>
          <a:prstGeom prst="rect">
            <a:avLst/>
          </a:prstGeom>
          <a:solidFill>
            <a:srgbClr val="1A2A43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440529" y="4462272"/>
            <a:ext cx="5280461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t>Meaning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94142" y="4434840"/>
            <a:ext cx="2087217" cy="308610"/>
          </a:xfrm>
          <a:prstGeom prst="rect">
            <a:avLst/>
          </a:prstGeom>
          <a:solidFill>
            <a:srgbClr val="1A2A43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867294" y="4462272"/>
            <a:ext cx="1940913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t>Lab value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280160" y="4743450"/>
            <a:ext cx="2087217" cy="308610"/>
          </a:xfrm>
          <a:prstGeom prst="rect">
            <a:avLst/>
          </a:prstGeom>
          <a:solidFill>
            <a:srgbClr val="FFFFFF"/>
          </a:solidFill>
          <a:ln w="5715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344168" y="4770882"/>
            <a:ext cx="1959201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243247"/>
                </a:solidFill>
                <a:latin typeface="Aptos"/>
              </a:defRPr>
            </a:pPr>
            <a:r>
              <a:t>Minimum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367377" y="4743450"/>
            <a:ext cx="5426765" cy="308610"/>
          </a:xfrm>
          <a:prstGeom prst="rect">
            <a:avLst/>
          </a:prstGeom>
          <a:solidFill>
            <a:srgbClr val="FFFFFF"/>
          </a:solidFill>
          <a:ln w="5715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431385" y="4770882"/>
            <a:ext cx="529874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243247"/>
                </a:solidFill>
                <a:latin typeface="Aptos"/>
              </a:defRPr>
            </a:pPr>
            <a:r>
              <a:t>Never scale below this target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794142" y="4743450"/>
            <a:ext cx="2087217" cy="308610"/>
          </a:xfrm>
          <a:prstGeom prst="rect">
            <a:avLst/>
          </a:prstGeom>
          <a:solidFill>
            <a:srgbClr val="FFFFFF"/>
          </a:solidFill>
          <a:ln w="5715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858150" y="4770882"/>
            <a:ext cx="1959201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243247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280160" y="5052059"/>
            <a:ext cx="2087217" cy="308610"/>
          </a:xfrm>
          <a:prstGeom prst="rect">
            <a:avLst/>
          </a:prstGeom>
          <a:solidFill>
            <a:srgbClr val="F0F4F8"/>
          </a:solidFill>
          <a:ln w="5715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344168" y="5079492"/>
            <a:ext cx="1959201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243247"/>
                </a:solidFill>
                <a:latin typeface="Aptos"/>
              </a:defRPr>
            </a:pPr>
            <a:r>
              <a:t>Desired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367377" y="5052059"/>
            <a:ext cx="5426765" cy="308610"/>
          </a:xfrm>
          <a:prstGeom prst="rect">
            <a:avLst/>
          </a:prstGeom>
          <a:solidFill>
            <a:srgbClr val="F0F4F8"/>
          </a:solidFill>
          <a:ln w="5715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431385" y="5079492"/>
            <a:ext cx="529874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243247"/>
                </a:solidFill>
                <a:latin typeface="Aptos"/>
              </a:defRPr>
            </a:pPr>
            <a:r>
              <a:t>Target number now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794142" y="5052059"/>
            <a:ext cx="2087217" cy="308610"/>
          </a:xfrm>
          <a:prstGeom prst="rect">
            <a:avLst/>
          </a:prstGeom>
          <a:solidFill>
            <a:srgbClr val="F0F4F8"/>
          </a:solidFill>
          <a:ln w="5715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858150" y="5079492"/>
            <a:ext cx="1959201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243247"/>
                </a:solidFill>
                <a:latin typeface="Aptos"/>
              </a:defRPr>
            </a:pPr>
            <a:r>
              <a:t>2 initially; then 4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280160" y="5360670"/>
            <a:ext cx="2087217" cy="308610"/>
          </a:xfrm>
          <a:prstGeom prst="rect">
            <a:avLst/>
          </a:prstGeom>
          <a:solidFill>
            <a:srgbClr val="FFFFFF"/>
          </a:solidFill>
          <a:ln w="5715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344168" y="5388102"/>
            <a:ext cx="1959201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243247"/>
                </a:solidFill>
                <a:latin typeface="Aptos"/>
              </a:defRPr>
            </a:pPr>
            <a:r>
              <a:t>Maximum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367377" y="5360670"/>
            <a:ext cx="5426765" cy="308610"/>
          </a:xfrm>
          <a:prstGeom prst="rect">
            <a:avLst/>
          </a:prstGeom>
          <a:solidFill>
            <a:srgbClr val="FFFFFF"/>
          </a:solidFill>
          <a:ln w="5715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431385" y="5388102"/>
            <a:ext cx="529874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243247"/>
                </a:solidFill>
                <a:latin typeface="Aptos"/>
              </a:defRPr>
            </a:pPr>
            <a:r>
              <a:t>Upper limit permitted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794142" y="5360670"/>
            <a:ext cx="2087217" cy="308610"/>
          </a:xfrm>
          <a:prstGeom prst="rect">
            <a:avLst/>
          </a:prstGeom>
          <a:solidFill>
            <a:srgbClr val="FFFFFF"/>
          </a:solidFill>
          <a:ln w="5715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858150" y="5388102"/>
            <a:ext cx="1959201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243247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329184"/>
            <a:ext cx="64008" cy="26517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20040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919" b="1" i="0">
                <a:solidFill>
                  <a:srgbClr val="FF9900"/>
                </a:solidFill>
                <a:latin typeface="Aptos"/>
              </a:defRPr>
            </a:pPr>
            <a:r>
              <a:t>COMPUTE &amp; AVAILABILITY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21792"/>
            <a:ext cx="113842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2600" b="1" i="0">
                <a:solidFill>
                  <a:srgbClr val="121C2F"/>
                </a:solidFill>
                <a:latin typeface="Aptos"/>
              </a:defRPr>
            </a:pPr>
            <a:r>
              <a:t>How a web fleet becomes a working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1133856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1230" b="0" i="0">
                <a:solidFill>
                  <a:srgbClr val="536278"/>
                </a:solidFill>
                <a:latin typeface="Aptos"/>
              </a:defRPr>
            </a:pPr>
            <a:r>
              <a:t>Scaling only helps if every new instance starts the right software and passes health checks.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8912" y="6473952"/>
            <a:ext cx="11311128" cy="0"/>
          </a:xfrm>
          <a:prstGeom prst="line">
            <a:avLst/>
          </a:prstGeom>
          <a:ln w="7620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10528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750" b="0" i="0">
                <a:solidFill>
                  <a:srgbClr val="6D7B8F"/>
                </a:solidFill>
                <a:latin typeface="Aptos"/>
              </a:defRPr>
            </a:pPr>
            <a:r>
              <a:t>REFERENCE: AWS ASG; ALB official docs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501384"/>
            <a:ext cx="4754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300"/>
              </a:spcAft>
              <a:defRPr sz="900" b="1" i="0">
                <a:solidFill>
                  <a:srgbClr val="6D7B8F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874519"/>
            <a:ext cx="2062886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874519"/>
            <a:ext cx="2062886" cy="82296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057400"/>
            <a:ext cx="184343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1400" b="1" i="0">
                <a:solidFill>
                  <a:srgbClr val="121C2F"/>
                </a:solidFill>
                <a:latin typeface="Aptos"/>
              </a:defRPr>
            </a:pPr>
            <a:r>
              <a:t>AMI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514600"/>
            <a:ext cx="1843430" cy="153619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300"/>
              </a:spcAft>
              <a:defRPr sz="1200" b="0" i="0">
                <a:solidFill>
                  <a:srgbClr val="536278"/>
                </a:solidFill>
                <a:latin typeface="Aptos"/>
              </a:defRPr>
            </a:pPr>
            <a:r>
              <a:t>OS baseline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66390" y="2834639"/>
            <a:ext cx="1463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2400" b="1" i="0">
                <a:solidFill>
                  <a:srgbClr val="FF9900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21838" y="1874519"/>
            <a:ext cx="2062886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21838" y="1874519"/>
            <a:ext cx="2062886" cy="82296"/>
          </a:xfrm>
          <a:prstGeom prst="rect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31566" y="2057400"/>
            <a:ext cx="184343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1400" b="1" i="0">
                <a:solidFill>
                  <a:srgbClr val="121C2F"/>
                </a:solidFill>
                <a:latin typeface="Aptos"/>
              </a:defRPr>
            </a:pPr>
            <a:r>
              <a:t>Launch template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31566" y="2514600"/>
            <a:ext cx="1843430" cy="153619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300"/>
              </a:spcAft>
              <a:defRPr sz="1200" b="0" i="0">
                <a:solidFill>
                  <a:srgbClr val="536278"/>
                </a:solidFill>
                <a:latin typeface="Aptos"/>
              </a:defRPr>
            </a:pPr>
            <a:r>
              <a:t>AMI + type + SG +</a:t>
            </a:r>
          </a:p>
          <a:p>
            <a:pPr algn="ctr">
              <a:spcAft>
                <a:spcPts val="300"/>
              </a:spcAft>
              <a:defRPr sz="1200" b="0" i="0">
                <a:solidFill>
                  <a:srgbClr val="536278"/>
                </a:solidFill>
                <a:latin typeface="Aptos"/>
              </a:defRPr>
            </a:pPr>
            <a:r>
              <a:t>user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3868" y="2834639"/>
            <a:ext cx="1463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2400" b="1" i="0">
                <a:solidFill>
                  <a:srgbClr val="FF9900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49316" y="1874519"/>
            <a:ext cx="2062886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49316" y="1874519"/>
            <a:ext cx="2062886" cy="8229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59044" y="2057400"/>
            <a:ext cx="184343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1400" b="1" i="0">
                <a:solidFill>
                  <a:srgbClr val="121C2F"/>
                </a:solidFill>
                <a:latin typeface="Aptos"/>
              </a:defRPr>
            </a:pPr>
            <a:r>
              <a:t>EC2 targets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59044" y="2514600"/>
            <a:ext cx="1843430" cy="153619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300"/>
              </a:spcAft>
              <a:defRPr sz="1200" b="0" i="0">
                <a:solidFill>
                  <a:srgbClr val="536278"/>
                </a:solidFill>
                <a:latin typeface="Aptos"/>
              </a:defRPr>
            </a:pPr>
            <a:r>
              <a:t>Start web server</a:t>
            </a:r>
          </a:p>
          <a:p>
            <a:pPr algn="ctr">
              <a:spcAft>
                <a:spcPts val="300"/>
              </a:spcAft>
              <a:defRPr sz="1200" b="0" i="0">
                <a:solidFill>
                  <a:srgbClr val="536278"/>
                </a:solidFill>
                <a:latin typeface="Aptos"/>
              </a:defRPr>
            </a:pPr>
            <a:r>
              <a:t>port 80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21347" y="2834639"/>
            <a:ext cx="1463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2400" b="1" i="0">
                <a:solidFill>
                  <a:srgbClr val="FF9900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76795" y="1874519"/>
            <a:ext cx="2062886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76795" y="1874519"/>
            <a:ext cx="2062886" cy="82296"/>
          </a:xfrm>
          <a:prstGeom prst="rect">
            <a:avLst/>
          </a:prstGeom>
          <a:solidFill>
            <a:srgbClr val="6741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86523" y="2057400"/>
            <a:ext cx="184343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1400" b="1" i="0">
                <a:solidFill>
                  <a:srgbClr val="121C2F"/>
                </a:solidFill>
                <a:latin typeface="Aptos"/>
              </a:defRPr>
            </a:pPr>
            <a:r>
              <a:t>Target group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86523" y="2514600"/>
            <a:ext cx="1843430" cy="153619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300"/>
              </a:spcAft>
              <a:defRPr sz="1200" b="0" i="0">
                <a:solidFill>
                  <a:srgbClr val="536278"/>
                </a:solidFill>
                <a:latin typeface="Aptos"/>
              </a:defRPr>
            </a:pPr>
            <a:r>
              <a:t>Health check</a:t>
            </a:r>
          </a:p>
          <a:p>
            <a:pPr algn="ctr">
              <a:spcAft>
                <a:spcPts val="300"/>
              </a:spcAft>
              <a:defRPr sz="1200" b="0" i="0">
                <a:solidFill>
                  <a:srgbClr val="536278"/>
                </a:solidFill>
                <a:latin typeface="Aptos"/>
              </a:defRPr>
            </a:pPr>
            <a:r>
              <a:t>path /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48825" y="2834639"/>
            <a:ext cx="1463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2400" b="1" i="0">
                <a:solidFill>
                  <a:srgbClr val="FF9900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04273" y="1874519"/>
            <a:ext cx="2062886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504273" y="1874519"/>
            <a:ext cx="2062886" cy="82296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14001" y="2057400"/>
            <a:ext cx="184343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1400" b="1" i="0">
                <a:solidFill>
                  <a:srgbClr val="121C2F"/>
                </a:solidFill>
                <a:latin typeface="Aptos"/>
              </a:defRPr>
            </a:pPr>
            <a:r>
              <a:t>ALB listener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14001" y="2514600"/>
            <a:ext cx="1843430" cy="153619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300"/>
              </a:spcAft>
              <a:defRPr sz="1200" b="0" i="0">
                <a:solidFill>
                  <a:srgbClr val="536278"/>
                </a:solidFill>
                <a:latin typeface="Aptos"/>
              </a:defRPr>
            </a:pPr>
            <a:r>
              <a:t>HTTP :80 routes</a:t>
            </a:r>
          </a:p>
          <a:p>
            <a:pPr algn="ctr">
              <a:spcAft>
                <a:spcPts val="300"/>
              </a:spcAft>
              <a:defRPr sz="1200" b="0" i="0">
                <a:solidFill>
                  <a:srgbClr val="536278"/>
                </a:solidFill>
                <a:latin typeface="Aptos"/>
              </a:defRPr>
            </a:pPr>
            <a:r>
              <a:t>to healthy targets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60" y="4754880"/>
            <a:ext cx="10561320" cy="868680"/>
          </a:xfrm>
          <a:prstGeom prst="roundRect">
            <a:avLst>
              <a:gd name="adj" fmla="val 8000"/>
            </a:avLst>
          </a:prstGeom>
          <a:solidFill>
            <a:srgbClr val="FCEB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5840" y="4956048"/>
            <a:ext cx="101955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1300" b="1" i="0">
                <a:solidFill>
                  <a:srgbClr val="C43D4B"/>
                </a:solidFill>
                <a:latin typeface="Aptos"/>
              </a:defRPr>
            </a:pPr>
            <a:r>
              <a:t>Common lab gotcha: creating the ASG and target group is not enough. A listener, target health path, app installation and instance Security Group rules must line up.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329184"/>
            <a:ext cx="64008" cy="26517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20040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919" b="1" i="0">
                <a:solidFill>
                  <a:srgbClr val="FF9900"/>
                </a:solidFill>
                <a:latin typeface="Aptos"/>
              </a:defRPr>
            </a:pPr>
            <a:r>
              <a:t>COMPUTE &amp; AVAILABILITY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21792"/>
            <a:ext cx="113842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2400" b="1" i="0">
                <a:solidFill>
                  <a:srgbClr val="121C2F"/>
                </a:solidFill>
                <a:latin typeface="Aptos"/>
              </a:defRPr>
            </a:pPr>
            <a:r>
              <a:t>Availability Zones: why the load balancer needs two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1133856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1230" b="0" i="0">
                <a:solidFill>
                  <a:srgbClr val="536278"/>
                </a:solidFill>
                <a:latin typeface="Aptos"/>
              </a:defRPr>
            </a:pPr>
            <a:r>
              <a:t>An Application Load Balancer requires subnets in at least two different Availability Zones.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8912" y="6473952"/>
            <a:ext cx="11311128" cy="0"/>
          </a:xfrm>
          <a:prstGeom prst="line">
            <a:avLst/>
          </a:prstGeom>
          <a:ln w="7620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10528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750" b="0" i="0">
                <a:solidFill>
                  <a:srgbClr val="6D7B8F"/>
                </a:solidFill>
                <a:latin typeface="Aptos"/>
              </a:defRPr>
            </a:pPr>
            <a:r>
              <a:t>REFERENCE: AWS ALB subnets docs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501384"/>
            <a:ext cx="4754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300"/>
              </a:spcAft>
              <a:defRPr sz="900" b="1" i="0">
                <a:solidFill>
                  <a:srgbClr val="6D7B8F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4983480" cy="3108960"/>
          </a:xfrm>
          <a:prstGeom prst="roundRect">
            <a:avLst>
              <a:gd name="adj" fmla="val 8000"/>
            </a:avLst>
          </a:prstGeom>
          <a:solidFill>
            <a:srgbClr val="EAF4FF"/>
          </a:solidFill>
          <a:ln w="10160">
            <a:solidFill>
              <a:srgbClr val="BDDD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0116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1700" b="1" i="0">
                <a:solidFill>
                  <a:srgbClr val="0078D4"/>
                </a:solidFill>
                <a:latin typeface="Aptos"/>
              </a:defRPr>
            </a:pPr>
            <a:r>
              <a:t>AZ us-east-1a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828800"/>
            <a:ext cx="4983480" cy="3108960"/>
          </a:xfrm>
          <a:prstGeom prst="roundRect">
            <a:avLst>
              <a:gd name="adj" fmla="val 8000"/>
            </a:avLst>
          </a:prstGeom>
          <a:solidFill>
            <a:srgbClr val="E4F7F3"/>
          </a:solidFill>
          <a:ln w="10160">
            <a:solidFill>
              <a:srgbClr val="B8E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0116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1700" b="1" i="0">
                <a:solidFill>
                  <a:srgbClr val="0F9D8A"/>
                </a:solidFill>
                <a:latin typeface="Aptos"/>
              </a:defRPr>
            </a:pPr>
            <a:r>
              <a:t>AZ us-east-1b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0" y="2697480"/>
            <a:ext cx="38404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BDDD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2880360"/>
            <a:ext cx="3566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1400" b="1" i="0">
                <a:solidFill>
                  <a:srgbClr val="121C2F"/>
                </a:solidFill>
                <a:latin typeface="Aptos"/>
              </a:defRPr>
            </a:pPr>
            <a:r>
              <a:t>Public subnet 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95160" y="2697480"/>
            <a:ext cx="38404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B8E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0" y="2880360"/>
            <a:ext cx="3566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1400" b="1" i="0">
                <a:solidFill>
                  <a:srgbClr val="121C2F"/>
                </a:solidFill>
                <a:latin typeface="Aptos"/>
              </a:defRPr>
            </a:pPr>
            <a:r>
              <a:t>Public subnet 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60520" y="3749039"/>
            <a:ext cx="3840480" cy="731520"/>
          </a:xfrm>
          <a:prstGeom prst="roundRect">
            <a:avLst>
              <a:gd name="adj" fmla="val 8000"/>
            </a:avLst>
          </a:prstGeom>
          <a:solidFill>
            <a:srgbClr val="1A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0" y="3950208"/>
            <a:ext cx="3566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1400" b="1" i="0">
                <a:solidFill>
                  <a:srgbClr val="FFFFFF"/>
                </a:solidFill>
                <a:latin typeface="Aptos"/>
              </a:defRPr>
            </a:pPr>
            <a:r>
              <a:t>Application Load Balancer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200400" y="3383280"/>
            <a:ext cx="1463040" cy="365759"/>
          </a:xfrm>
          <a:prstGeom prst="line">
            <a:avLst/>
          </a:prstGeom>
          <a:ln w="2286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7498079" y="3383280"/>
            <a:ext cx="1417321" cy="365759"/>
          </a:xfrm>
          <a:prstGeom prst="line">
            <a:avLst/>
          </a:prstGeom>
          <a:ln w="22860">
            <a:solidFill>
              <a:srgbClr val="0F9D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22960" y="5303520"/>
            <a:ext cx="10607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1300" b="1" i="0">
                <a:solidFill>
                  <a:srgbClr val="121C2F"/>
                </a:solidFill>
                <a:latin typeface="Aptos"/>
              </a:defRPr>
            </a:pPr>
            <a:r>
              <a:t>Lab alignment check: the ALB spans two AZs, and the ASG should also target subnets in both AZs. Avoid a single-subnet ASG when teaching Multi-AZ availability.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329184"/>
            <a:ext cx="64008" cy="26517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20040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919" b="1" i="0">
                <a:solidFill>
                  <a:srgbClr val="FF9900"/>
                </a:solidFill>
                <a:latin typeface="Aptos"/>
              </a:defRPr>
            </a:pPr>
            <a:r>
              <a:t>AZURE → AWS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21792"/>
            <a:ext cx="113842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2150" b="1" i="0">
                <a:solidFill>
                  <a:srgbClr val="121C2F"/>
                </a:solidFill>
                <a:latin typeface="Aptos"/>
              </a:defRPr>
            </a:pPr>
            <a:r>
              <a:t>Azure VMSS and AWS Auto Scaling: similar goal, different vocabulary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1133856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1230" b="0" i="0">
                <a:solidFill>
                  <a:srgbClr val="536278"/>
                </a:solidFill>
                <a:latin typeface="Aptos"/>
              </a:defRPr>
            </a:pPr>
            <a:r>
              <a:t>Do not assume all features or defaults are identical.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8912" y="6473952"/>
            <a:ext cx="11311128" cy="0"/>
          </a:xfrm>
          <a:prstGeom prst="line">
            <a:avLst/>
          </a:prstGeom>
          <a:ln w="7620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10528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750" b="0" i="0">
                <a:solidFill>
                  <a:srgbClr val="6D7B8F"/>
                </a:solidFill>
                <a:latin typeface="Aptos"/>
              </a:defRPr>
            </a:pPr>
            <a:r>
              <a:t>REFERENCE: Azure VMSS; AWS EC2 Auto Scaling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501384"/>
            <a:ext cx="4754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300"/>
              </a:spcAft>
              <a:defRPr sz="900" b="1" i="0">
                <a:solidFill>
                  <a:srgbClr val="6D7B8F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691640"/>
            <a:ext cx="2286000" cy="586740"/>
          </a:xfrm>
          <a:prstGeom prst="rect">
            <a:avLst/>
          </a:prstGeom>
          <a:solidFill>
            <a:srgbClr val="1A2A43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1719072"/>
            <a:ext cx="2139696" cy="531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t>Question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80360" y="1691640"/>
            <a:ext cx="4023360" cy="586740"/>
          </a:xfrm>
          <a:prstGeom prst="rect">
            <a:avLst/>
          </a:prstGeom>
          <a:solidFill>
            <a:srgbClr val="1A2A43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53512" y="1719072"/>
            <a:ext cx="3877056" cy="531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t>Azure VMSS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03720" y="1691640"/>
            <a:ext cx="4663440" cy="586740"/>
          </a:xfrm>
          <a:prstGeom prst="rect">
            <a:avLst/>
          </a:prstGeom>
          <a:solidFill>
            <a:srgbClr val="1A2A43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76872" y="1719072"/>
            <a:ext cx="4517136" cy="531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t>AWS Auto Scaling Group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2278380"/>
            <a:ext cx="2286000" cy="586740"/>
          </a:xfrm>
          <a:prstGeom prst="rect">
            <a:avLst/>
          </a:prstGeom>
          <a:solidFill>
            <a:srgbClr val="FFFFFF"/>
          </a:solidFill>
          <a:ln w="5715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305812"/>
            <a:ext cx="2157984" cy="531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243247"/>
                </a:solidFill>
                <a:latin typeface="Aptos"/>
              </a:defRPr>
            </a:pPr>
            <a:r>
              <a:t>What is managed?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80360" y="2278380"/>
            <a:ext cx="4023360" cy="586740"/>
          </a:xfrm>
          <a:prstGeom prst="rect">
            <a:avLst/>
          </a:prstGeom>
          <a:solidFill>
            <a:srgbClr val="FFFFFF"/>
          </a:solidFill>
          <a:ln w="5715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44368" y="2305812"/>
            <a:ext cx="3895344" cy="531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243247"/>
                </a:solidFill>
                <a:latin typeface="Aptos"/>
              </a:defRPr>
            </a:pPr>
            <a:r>
              <a:t>A set of VM instances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03720" y="2278380"/>
            <a:ext cx="4663440" cy="586740"/>
          </a:xfrm>
          <a:prstGeom prst="rect">
            <a:avLst/>
          </a:prstGeom>
          <a:solidFill>
            <a:srgbClr val="FFFFFF"/>
          </a:solidFill>
          <a:ln w="5715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67728" y="2305812"/>
            <a:ext cx="4535424" cy="531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243247"/>
                </a:solidFill>
                <a:latin typeface="Aptos"/>
              </a:defRPr>
            </a:pPr>
            <a:r>
              <a:t>A set of EC2 instances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2865120"/>
            <a:ext cx="2286000" cy="586740"/>
          </a:xfrm>
          <a:prstGeom prst="rect">
            <a:avLst/>
          </a:prstGeom>
          <a:solidFill>
            <a:srgbClr val="F0F4F8"/>
          </a:solidFill>
          <a:ln w="5715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2892552"/>
            <a:ext cx="2157984" cy="531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243247"/>
                </a:solidFill>
                <a:latin typeface="Aptos"/>
              </a:defRPr>
            </a:pPr>
            <a:r>
              <a:t>Instance blueprint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80360" y="2865120"/>
            <a:ext cx="4023360" cy="586740"/>
          </a:xfrm>
          <a:prstGeom prst="rect">
            <a:avLst/>
          </a:prstGeom>
          <a:solidFill>
            <a:srgbClr val="F0F4F8"/>
          </a:solidFill>
          <a:ln w="5715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44368" y="2892552"/>
            <a:ext cx="3895344" cy="531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243247"/>
                </a:solidFill>
                <a:latin typeface="Aptos"/>
              </a:defRPr>
            </a:pPr>
            <a:r>
              <a:t>VM image + VMSS model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03720" y="2865120"/>
            <a:ext cx="4663440" cy="586740"/>
          </a:xfrm>
          <a:prstGeom prst="rect">
            <a:avLst/>
          </a:prstGeom>
          <a:solidFill>
            <a:srgbClr val="F0F4F8"/>
          </a:solidFill>
          <a:ln w="5715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67728" y="2892552"/>
            <a:ext cx="4535424" cy="531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243247"/>
                </a:solidFill>
                <a:latin typeface="Aptos"/>
              </a:defRPr>
            </a:pPr>
            <a:r>
              <a:t>AMI + launch template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3451860"/>
            <a:ext cx="2286000" cy="586740"/>
          </a:xfrm>
          <a:prstGeom prst="rect">
            <a:avLst/>
          </a:prstGeom>
          <a:solidFill>
            <a:srgbClr val="FFFFFF"/>
          </a:solidFill>
          <a:ln w="5715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3479292"/>
            <a:ext cx="2157984" cy="531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243247"/>
                </a:solidFill>
                <a:latin typeface="Aptos"/>
              </a:defRPr>
            </a:pPr>
            <a:r>
              <a:t>Scale target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80360" y="3451860"/>
            <a:ext cx="4023360" cy="586740"/>
          </a:xfrm>
          <a:prstGeom prst="rect">
            <a:avLst/>
          </a:prstGeom>
          <a:solidFill>
            <a:srgbClr val="FFFFFF"/>
          </a:solidFill>
          <a:ln w="5715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944368" y="3479292"/>
            <a:ext cx="3895344" cy="531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243247"/>
                </a:solidFill>
                <a:latin typeface="Aptos"/>
              </a:defRPr>
            </a:pPr>
            <a:r>
              <a:t>Capacity / instance count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03720" y="3451860"/>
            <a:ext cx="4663440" cy="586740"/>
          </a:xfrm>
          <a:prstGeom prst="rect">
            <a:avLst/>
          </a:prstGeom>
          <a:solidFill>
            <a:srgbClr val="FFFFFF"/>
          </a:solidFill>
          <a:ln w="5715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67728" y="3479292"/>
            <a:ext cx="4535424" cy="531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243247"/>
                </a:solidFill>
                <a:latin typeface="Aptos"/>
              </a:defRPr>
            </a:pPr>
            <a:r>
              <a:t>Min / desired / max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" y="4038600"/>
            <a:ext cx="2286000" cy="586740"/>
          </a:xfrm>
          <a:prstGeom prst="rect">
            <a:avLst/>
          </a:prstGeom>
          <a:solidFill>
            <a:srgbClr val="F0F4F8"/>
          </a:solidFill>
          <a:ln w="5715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" y="4066032"/>
            <a:ext cx="2157984" cy="531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243247"/>
                </a:solidFill>
                <a:latin typeface="Aptos"/>
              </a:defRPr>
            </a:pPr>
            <a:r>
              <a:t>Traffic distribution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880360" y="4038600"/>
            <a:ext cx="4023360" cy="586740"/>
          </a:xfrm>
          <a:prstGeom prst="rect">
            <a:avLst/>
          </a:prstGeom>
          <a:solidFill>
            <a:srgbClr val="F0F4F8"/>
          </a:solidFill>
          <a:ln w="5715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944368" y="4066032"/>
            <a:ext cx="3895344" cy="531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243247"/>
                </a:solidFill>
                <a:latin typeface="Aptos"/>
              </a:defRPr>
            </a:pPr>
            <a:r>
              <a:t>Load Balancer / App Gateway options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903720" y="4038600"/>
            <a:ext cx="4663440" cy="586740"/>
          </a:xfrm>
          <a:prstGeom prst="rect">
            <a:avLst/>
          </a:prstGeom>
          <a:solidFill>
            <a:srgbClr val="F0F4F8"/>
          </a:solidFill>
          <a:ln w="5715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67728" y="4066032"/>
            <a:ext cx="4535424" cy="531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243247"/>
                </a:solidFill>
                <a:latin typeface="Aptos"/>
              </a:defRPr>
            </a:pPr>
            <a:r>
              <a:t>ELB target group / ALB options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4360" y="4625340"/>
            <a:ext cx="2286000" cy="586740"/>
          </a:xfrm>
          <a:prstGeom prst="rect">
            <a:avLst/>
          </a:prstGeom>
          <a:solidFill>
            <a:srgbClr val="FFFFFF"/>
          </a:solidFill>
          <a:ln w="5715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368" y="4652772"/>
            <a:ext cx="2157984" cy="531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243247"/>
                </a:solidFill>
                <a:latin typeface="Aptos"/>
              </a:defRPr>
            </a:pPr>
            <a:r>
              <a:t>Health response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880360" y="4625340"/>
            <a:ext cx="4023360" cy="586740"/>
          </a:xfrm>
          <a:prstGeom prst="rect">
            <a:avLst/>
          </a:prstGeom>
          <a:solidFill>
            <a:srgbClr val="FFFFFF"/>
          </a:solidFill>
          <a:ln w="5715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944368" y="4652772"/>
            <a:ext cx="3895344" cy="531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243247"/>
                </a:solidFill>
                <a:latin typeface="Aptos"/>
              </a:defRPr>
            </a:pPr>
            <a:r>
              <a:t>Health extension / platform checks and policy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03720" y="4625340"/>
            <a:ext cx="4663440" cy="586740"/>
          </a:xfrm>
          <a:prstGeom prst="rect">
            <a:avLst/>
          </a:prstGeom>
          <a:solidFill>
            <a:srgbClr val="FFFFFF"/>
          </a:solidFill>
          <a:ln w="5715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67728" y="4652772"/>
            <a:ext cx="4535424" cy="531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243247"/>
                </a:solidFill>
                <a:latin typeface="Aptos"/>
              </a:defRPr>
            </a:pPr>
            <a:r>
              <a:t>EC2 checks; optional ELB/custom checks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14400" y="5422392"/>
            <a:ext cx="1033272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14400" y="5422392"/>
            <a:ext cx="68580" cy="54864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15568" y="5513832"/>
            <a:ext cx="2057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1080" b="1" i="0">
                <a:solidFill>
                  <a:srgbClr val="FF9900"/>
                </a:solidFill>
                <a:latin typeface="Aptos"/>
              </a:defRPr>
            </a:pPr>
            <a:r>
              <a:t>OPERATIONAL TAKEAWAY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00400" y="5513832"/>
            <a:ext cx="7680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1150" b="1" i="0">
                <a:solidFill>
                  <a:srgbClr val="121C2F"/>
                </a:solidFill>
                <a:latin typeface="Aptos"/>
              </a:defRPr>
            </a:pPr>
            <a:r>
              <a:t>Scale-out is successful only after new instances are healthy and the user-facing symptom improves.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329184"/>
            <a:ext cx="64008" cy="26517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20040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919" b="1" i="0">
                <a:solidFill>
                  <a:srgbClr val="FF9900"/>
                </a:solidFill>
                <a:latin typeface="Aptos"/>
              </a:defRPr>
            </a:pPr>
            <a:r>
              <a:t>NETWORKING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21792"/>
            <a:ext cx="113842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2600" b="1" i="0">
                <a:solidFill>
                  <a:srgbClr val="121C2F"/>
                </a:solidFill>
                <a:latin typeface="Aptos"/>
              </a:defRPr>
            </a:pPr>
            <a:r>
              <a:t>AWS networking: five pieces to remember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1133856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1230" b="0" i="0">
                <a:solidFill>
                  <a:srgbClr val="536278"/>
                </a:solidFill>
                <a:latin typeface="Aptos"/>
              </a:defRPr>
            </a:pPr>
            <a:r>
              <a:t>VPC is the network boundary; subnet routing and security rules determine the traffic path.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8912" y="6473952"/>
            <a:ext cx="11311128" cy="0"/>
          </a:xfrm>
          <a:prstGeom prst="line">
            <a:avLst/>
          </a:prstGeom>
          <a:ln w="7620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10528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750" b="0" i="0">
                <a:solidFill>
                  <a:srgbClr val="6D7B8F"/>
                </a:solidFill>
                <a:latin typeface="Aptos"/>
              </a:defRPr>
            </a:pPr>
            <a:r>
              <a:t>REFERENCE: AWS VPC basics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501384"/>
            <a:ext cx="4754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300"/>
              </a:spcAft>
              <a:defRPr sz="900" b="1" i="0">
                <a:solidFill>
                  <a:srgbClr val="6D7B8F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91640"/>
            <a:ext cx="10835640" cy="411480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 w="10160">
            <a:solidFill>
              <a:srgbClr val="C9D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74519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1700" b="1" i="0">
                <a:solidFill>
                  <a:srgbClr val="121C2F"/>
                </a:solidFill>
                <a:latin typeface="Aptos"/>
              </a:defRPr>
            </a:pPr>
            <a:r>
              <a:t>VPC 10.40.0.0/16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2514600"/>
            <a:ext cx="3886200" cy="2011680"/>
          </a:xfrm>
          <a:prstGeom prst="roundRect">
            <a:avLst>
              <a:gd name="adj" fmla="val 8000"/>
            </a:avLst>
          </a:prstGeom>
          <a:solidFill>
            <a:srgbClr val="EAF4FF"/>
          </a:solidFill>
          <a:ln w="10160">
            <a:solidFill>
              <a:srgbClr val="B7D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269748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1500" b="1" i="0">
                <a:solidFill>
                  <a:srgbClr val="0078D4"/>
                </a:solidFill>
                <a:latin typeface="Aptos"/>
              </a:defRPr>
            </a:pPr>
            <a:r>
              <a:t>Public subnet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63040" y="3246120"/>
            <a:ext cx="306324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B7D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72768" y="3456432"/>
            <a:ext cx="2834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1250" b="0" i="0">
                <a:solidFill>
                  <a:srgbClr val="243247"/>
                </a:solidFill>
                <a:latin typeface="Aptos"/>
              </a:defRPr>
            </a:pPr>
            <a:r>
              <a:t>ALB / bastion / public host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78040" y="2514600"/>
            <a:ext cx="3886200" cy="2011680"/>
          </a:xfrm>
          <a:prstGeom prst="roundRect">
            <a:avLst>
              <a:gd name="adj" fmla="val 8000"/>
            </a:avLst>
          </a:prstGeom>
          <a:solidFill>
            <a:srgbClr val="E4F7F3"/>
          </a:solidFill>
          <a:ln w="10160">
            <a:solidFill>
              <a:srgbClr val="B4E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0" y="269748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1500" b="1" i="0">
                <a:solidFill>
                  <a:srgbClr val="0F9D8A"/>
                </a:solidFill>
                <a:latin typeface="Aptos"/>
              </a:defRPr>
            </a:pPr>
            <a:r>
              <a:t>Private subnet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20" y="3246120"/>
            <a:ext cx="306324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B4E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99248" y="3456432"/>
            <a:ext cx="2834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1250" b="0" i="0">
                <a:solidFill>
                  <a:srgbClr val="243247"/>
                </a:solidFill>
                <a:latin typeface="Aptos"/>
              </a:defRPr>
            </a:pPr>
            <a:r>
              <a:t>Application / database host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4920" y="2743200"/>
            <a:ext cx="18745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1300" b="1" i="0">
                <a:solidFill>
                  <a:srgbClr val="6741A5"/>
                </a:solidFill>
                <a:latin typeface="Aptos"/>
              </a:defRPr>
            </a:pPr>
            <a:r>
              <a:t>Route tables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937760" y="3520440"/>
            <a:ext cx="2240280" cy="0"/>
          </a:xfrm>
          <a:prstGeom prst="line">
            <a:avLst/>
          </a:prstGeom>
          <a:ln w="25400">
            <a:solidFill>
              <a:srgbClr val="6741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914400" y="498348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1250" b="1" i="0">
                <a:solidFill>
                  <a:srgbClr val="121C2F"/>
                </a:solidFill>
                <a:latin typeface="Aptos"/>
              </a:defRPr>
            </a:pPr>
            <a:r>
              <a:t>Security Groups = resource/ENI firewall • NACL = subnet-level stateless filter • Route table = destination-to-target decision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329184"/>
            <a:ext cx="64008" cy="26517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20040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919" b="1" i="0">
                <a:solidFill>
                  <a:srgbClr val="FF9900"/>
                </a:solidFill>
                <a:latin typeface="Aptos"/>
              </a:defRPr>
            </a:pPr>
            <a:r>
              <a:t>NETWORKING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21792"/>
            <a:ext cx="113842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2400" b="1" i="0">
                <a:solidFill>
                  <a:srgbClr val="121C2F"/>
                </a:solidFill>
                <a:latin typeface="Aptos"/>
              </a:defRPr>
            </a:pPr>
            <a:r>
              <a:t>Public vs private subnet: follow the route, not the name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1133856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1230" b="0" i="0">
                <a:solidFill>
                  <a:srgbClr val="536278"/>
                </a:solidFill>
                <a:latin typeface="Aptos"/>
              </a:defRPr>
            </a:pPr>
            <a:r>
              <a:t>A subnet is considered public when its route table provides a route to an Internet Gateway.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8912" y="6473952"/>
            <a:ext cx="11311128" cy="0"/>
          </a:xfrm>
          <a:prstGeom prst="line">
            <a:avLst/>
          </a:prstGeom>
          <a:ln w="7620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10528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750" b="0" i="0">
                <a:solidFill>
                  <a:srgbClr val="6D7B8F"/>
                </a:solidFill>
                <a:latin typeface="Aptos"/>
              </a:defRPr>
            </a:pPr>
            <a:r>
              <a:t>REFERENCE: AWS VPC and route table docs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501384"/>
            <a:ext cx="4754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300"/>
              </a:spcAft>
              <a:defRPr sz="900" b="1" i="0">
                <a:solidFill>
                  <a:srgbClr val="6D7B8F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37360"/>
            <a:ext cx="5257800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737360"/>
            <a:ext cx="68580" cy="35661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1892807"/>
            <a:ext cx="4882896" cy="32918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600" b="1" i="0">
                <a:solidFill>
                  <a:srgbClr val="121C2F"/>
                </a:solidFill>
                <a:latin typeface="Aptos"/>
              </a:defRPr>
            </a:pPr>
            <a:r>
              <a:t>Public subnet</a:t>
            </a:r>
          </a:p>
        </p:txBody>
      </p:sp>
      <p:sp>
        <p:nvSpPr>
          <p:cNvPr id="12" name="Oval 11"/>
          <p:cNvSpPr/>
          <p:nvPr/>
        </p:nvSpPr>
        <p:spPr>
          <a:xfrm>
            <a:off x="877824" y="2478024"/>
            <a:ext cx="91440" cy="9144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2359152"/>
            <a:ext cx="4636008" cy="690371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350" b="0" i="0">
                <a:solidFill>
                  <a:srgbClr val="243247"/>
                </a:solidFill>
                <a:latin typeface="Aptos"/>
              </a:defRPr>
            </a:pPr>
            <a:r>
              <a:t>Route table includes 0.0.0.0/0 → Internet Gateway</a:t>
            </a:r>
          </a:p>
        </p:txBody>
      </p:sp>
      <p:sp>
        <p:nvSpPr>
          <p:cNvPr id="14" name="Oval 13"/>
          <p:cNvSpPr/>
          <p:nvPr/>
        </p:nvSpPr>
        <p:spPr>
          <a:xfrm>
            <a:off x="877824" y="3186684"/>
            <a:ext cx="91440" cy="9144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3067812"/>
            <a:ext cx="4636008" cy="690371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350" b="0" i="0">
                <a:solidFill>
                  <a:srgbClr val="243247"/>
                </a:solidFill>
                <a:latin typeface="Aptos"/>
              </a:defRPr>
            </a:pPr>
            <a:r>
              <a:t>Instance typically needs a public IP / Elastic IP for IPv4 internet reachability</a:t>
            </a:r>
          </a:p>
        </p:txBody>
      </p:sp>
      <p:sp>
        <p:nvSpPr>
          <p:cNvPr id="16" name="Oval 15"/>
          <p:cNvSpPr/>
          <p:nvPr/>
        </p:nvSpPr>
        <p:spPr>
          <a:xfrm>
            <a:off x="877824" y="3895344"/>
            <a:ext cx="91440" cy="9144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3776472"/>
            <a:ext cx="4636008" cy="690371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350" b="0" i="0">
                <a:solidFill>
                  <a:srgbClr val="243247"/>
                </a:solidFill>
                <a:latin typeface="Aptos"/>
              </a:defRPr>
            </a:pPr>
            <a:r>
              <a:t>Security Group must still permit the traffic</a:t>
            </a:r>
          </a:p>
        </p:txBody>
      </p:sp>
      <p:sp>
        <p:nvSpPr>
          <p:cNvPr id="18" name="Oval 17"/>
          <p:cNvSpPr/>
          <p:nvPr/>
        </p:nvSpPr>
        <p:spPr>
          <a:xfrm>
            <a:off x="877824" y="4604003"/>
            <a:ext cx="91440" cy="9144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4485131"/>
            <a:ext cx="4636008" cy="690371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350" b="0" i="0">
                <a:solidFill>
                  <a:srgbClr val="243247"/>
                </a:solidFill>
                <a:latin typeface="Aptos"/>
              </a:defRPr>
            </a:pPr>
            <a:r>
              <a:t>Used for internet-facing ALB, not necessarily every web server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1737360"/>
            <a:ext cx="5257800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1737360"/>
            <a:ext cx="68580" cy="3566160"/>
          </a:xfrm>
          <a:prstGeom prst="rect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3952" y="1892807"/>
            <a:ext cx="4882896" cy="32918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600" b="1" i="0">
                <a:solidFill>
                  <a:srgbClr val="121C2F"/>
                </a:solidFill>
                <a:latin typeface="Aptos"/>
              </a:defRPr>
            </a:pPr>
            <a:r>
              <a:t>Private subnet</a:t>
            </a:r>
          </a:p>
        </p:txBody>
      </p:sp>
      <p:sp>
        <p:nvSpPr>
          <p:cNvPr id="23" name="Oval 22"/>
          <p:cNvSpPr/>
          <p:nvPr/>
        </p:nvSpPr>
        <p:spPr>
          <a:xfrm>
            <a:off x="6501383" y="2478024"/>
            <a:ext cx="91440" cy="91440"/>
          </a:xfrm>
          <a:prstGeom prst="ellipse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02551" y="2359152"/>
            <a:ext cx="4636008" cy="690371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350" b="0" i="0">
                <a:solidFill>
                  <a:srgbClr val="243247"/>
                </a:solidFill>
                <a:latin typeface="Aptos"/>
              </a:defRPr>
            </a:pPr>
            <a:r>
              <a:t>No direct Internet Gateway route for general egress</a:t>
            </a:r>
          </a:p>
        </p:txBody>
      </p:sp>
      <p:sp>
        <p:nvSpPr>
          <p:cNvPr id="25" name="Oval 24"/>
          <p:cNvSpPr/>
          <p:nvPr/>
        </p:nvSpPr>
        <p:spPr>
          <a:xfrm>
            <a:off x="6501383" y="3186684"/>
            <a:ext cx="91440" cy="91440"/>
          </a:xfrm>
          <a:prstGeom prst="ellipse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02551" y="3067812"/>
            <a:ext cx="4636008" cy="690371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350" b="0" i="0">
                <a:solidFill>
                  <a:srgbClr val="243247"/>
                </a:solidFill>
                <a:latin typeface="Aptos"/>
              </a:defRPr>
            </a:pPr>
            <a:r>
              <a:t>Outbound access may use NAT Gateway or private endpoints</a:t>
            </a:r>
          </a:p>
        </p:txBody>
      </p:sp>
      <p:sp>
        <p:nvSpPr>
          <p:cNvPr id="27" name="Oval 26"/>
          <p:cNvSpPr/>
          <p:nvPr/>
        </p:nvSpPr>
        <p:spPr>
          <a:xfrm>
            <a:off x="6501383" y="3895344"/>
            <a:ext cx="91440" cy="91440"/>
          </a:xfrm>
          <a:prstGeom prst="ellipse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02551" y="3776472"/>
            <a:ext cx="4636008" cy="690371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350" b="0" i="0">
                <a:solidFill>
                  <a:srgbClr val="243247"/>
                </a:solidFill>
                <a:latin typeface="Aptos"/>
              </a:defRPr>
            </a:pPr>
            <a:r>
              <a:t>No unsolicited inbound connection through public NAT</a:t>
            </a:r>
          </a:p>
        </p:txBody>
      </p:sp>
      <p:sp>
        <p:nvSpPr>
          <p:cNvPr id="29" name="Oval 28"/>
          <p:cNvSpPr/>
          <p:nvPr/>
        </p:nvSpPr>
        <p:spPr>
          <a:xfrm>
            <a:off x="6501383" y="4604003"/>
            <a:ext cx="91440" cy="91440"/>
          </a:xfrm>
          <a:prstGeom prst="ellipse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02551" y="4485131"/>
            <a:ext cx="4636008" cy="690371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350" b="0" i="0">
                <a:solidFill>
                  <a:srgbClr val="243247"/>
                </a:solidFill>
                <a:latin typeface="Aptos"/>
              </a:defRPr>
            </a:pPr>
            <a:r>
              <a:t>Good default for app/data tiers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577840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1300" b="1" i="0">
                <a:solidFill>
                  <a:srgbClr val="121C2F"/>
                </a:solidFill>
                <a:latin typeface="Aptos"/>
              </a:defRPr>
            </a:pPr>
            <a:r>
              <a:t>Azure comparison: VNet subnets plus user-defined routes / NAT Gateway. In both platforms, address ranges alone do not create internet connectivity.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329184"/>
            <a:ext cx="64008" cy="26517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20040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919" b="1" i="0">
                <a:solidFill>
                  <a:srgbClr val="FF9900"/>
                </a:solidFill>
                <a:latin typeface="Aptos"/>
              </a:defRPr>
            </a:pPr>
            <a:r>
              <a:t>NETWORKING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21792"/>
            <a:ext cx="113842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2600" b="1" i="0">
                <a:solidFill>
                  <a:srgbClr val="121C2F"/>
                </a:solidFill>
                <a:latin typeface="Aptos"/>
              </a:defRPr>
            </a:pPr>
            <a:r>
              <a:t>Internet Gateway vs NAT Gateway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1133856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1230" b="0" i="0">
                <a:solidFill>
                  <a:srgbClr val="536278"/>
                </a:solidFill>
                <a:latin typeface="Aptos"/>
              </a:defRPr>
            </a:pPr>
            <a:r>
              <a:t>These components solve different traffic-direction problems.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8912" y="6473952"/>
            <a:ext cx="11311128" cy="0"/>
          </a:xfrm>
          <a:prstGeom prst="line">
            <a:avLst/>
          </a:prstGeom>
          <a:ln w="7620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10528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750" b="0" i="0">
                <a:solidFill>
                  <a:srgbClr val="6D7B8F"/>
                </a:solidFill>
                <a:latin typeface="Aptos"/>
              </a:defRPr>
            </a:pPr>
            <a:r>
              <a:t>REFERENCE: AWS Internet Gateway; NAT Gateway; Azure NAT Gateway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501384"/>
            <a:ext cx="4754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300"/>
              </a:spcAft>
              <a:defRPr sz="900" b="1" i="0">
                <a:solidFill>
                  <a:srgbClr val="6D7B8F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525780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783080"/>
            <a:ext cx="68580" cy="32461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1938528"/>
            <a:ext cx="4882896" cy="32918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600" b="1" i="0">
                <a:solidFill>
                  <a:srgbClr val="121C2F"/>
                </a:solidFill>
                <a:latin typeface="Aptos"/>
              </a:defRPr>
            </a:pPr>
            <a:r>
              <a:t>Internet Gateway (IGW)</a:t>
            </a:r>
          </a:p>
        </p:txBody>
      </p:sp>
      <p:sp>
        <p:nvSpPr>
          <p:cNvPr id="12" name="Oval 11"/>
          <p:cNvSpPr/>
          <p:nvPr/>
        </p:nvSpPr>
        <p:spPr>
          <a:xfrm>
            <a:off x="877824" y="2523744"/>
            <a:ext cx="91440" cy="9144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2404872"/>
            <a:ext cx="4636008" cy="61036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400" b="0" i="0">
                <a:solidFill>
                  <a:srgbClr val="243247"/>
                </a:solidFill>
                <a:latin typeface="Aptos"/>
              </a:defRPr>
            </a:pPr>
            <a:r>
              <a:t>Attached to a VPC</a:t>
            </a:r>
          </a:p>
        </p:txBody>
      </p:sp>
      <p:sp>
        <p:nvSpPr>
          <p:cNvPr id="14" name="Oval 13"/>
          <p:cNvSpPr/>
          <p:nvPr/>
        </p:nvSpPr>
        <p:spPr>
          <a:xfrm>
            <a:off x="877824" y="3152394"/>
            <a:ext cx="91440" cy="9144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3033522"/>
            <a:ext cx="4636008" cy="61036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400" b="0" i="0">
                <a:solidFill>
                  <a:srgbClr val="243247"/>
                </a:solidFill>
                <a:latin typeface="Aptos"/>
              </a:defRPr>
            </a:pPr>
            <a:r>
              <a:t>Supports public-subnet internet routing</a:t>
            </a:r>
          </a:p>
        </p:txBody>
      </p:sp>
      <p:sp>
        <p:nvSpPr>
          <p:cNvPr id="16" name="Oval 15"/>
          <p:cNvSpPr/>
          <p:nvPr/>
        </p:nvSpPr>
        <p:spPr>
          <a:xfrm>
            <a:off x="877824" y="3781044"/>
            <a:ext cx="91440" cy="9144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3662172"/>
            <a:ext cx="4636008" cy="61036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400" b="0" i="0">
                <a:solidFill>
                  <a:srgbClr val="243247"/>
                </a:solidFill>
                <a:latin typeface="Aptos"/>
              </a:defRPr>
            </a:pPr>
            <a:r>
              <a:t>Instance still needs addressing and security rules</a:t>
            </a:r>
          </a:p>
        </p:txBody>
      </p:sp>
      <p:sp>
        <p:nvSpPr>
          <p:cNvPr id="18" name="Oval 17"/>
          <p:cNvSpPr/>
          <p:nvPr/>
        </p:nvSpPr>
        <p:spPr>
          <a:xfrm>
            <a:off x="877824" y="4409694"/>
            <a:ext cx="91440" cy="9144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4290822"/>
            <a:ext cx="4636008" cy="61036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400" b="0" i="0">
                <a:solidFill>
                  <a:srgbClr val="243247"/>
                </a:solidFill>
                <a:latin typeface="Aptos"/>
              </a:defRPr>
            </a:pPr>
            <a:r>
              <a:t>Can support inbound and outbound paths when configured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1783080"/>
            <a:ext cx="525780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1783080"/>
            <a:ext cx="68580" cy="32461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3952" y="1938528"/>
            <a:ext cx="4882896" cy="32918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600" b="1" i="0">
                <a:solidFill>
                  <a:srgbClr val="121C2F"/>
                </a:solidFill>
                <a:latin typeface="Aptos"/>
              </a:defRPr>
            </a:pPr>
            <a:r>
              <a:t>NAT Gateway</a:t>
            </a:r>
          </a:p>
        </p:txBody>
      </p:sp>
      <p:sp>
        <p:nvSpPr>
          <p:cNvPr id="23" name="Oval 22"/>
          <p:cNvSpPr/>
          <p:nvPr/>
        </p:nvSpPr>
        <p:spPr>
          <a:xfrm>
            <a:off x="6501383" y="2523744"/>
            <a:ext cx="91440" cy="9144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02551" y="2404872"/>
            <a:ext cx="4636008" cy="61036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400" b="0" i="0">
                <a:solidFill>
                  <a:srgbClr val="243247"/>
                </a:solidFill>
                <a:latin typeface="Aptos"/>
              </a:defRPr>
            </a:pPr>
            <a:r>
              <a:t>Placed in a public subnet for public NAT</a:t>
            </a:r>
          </a:p>
        </p:txBody>
      </p:sp>
      <p:sp>
        <p:nvSpPr>
          <p:cNvPr id="25" name="Oval 24"/>
          <p:cNvSpPr/>
          <p:nvPr/>
        </p:nvSpPr>
        <p:spPr>
          <a:xfrm>
            <a:off x="6501383" y="3152394"/>
            <a:ext cx="91440" cy="9144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02551" y="3033522"/>
            <a:ext cx="4636008" cy="61036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400" b="0" i="0">
                <a:solidFill>
                  <a:srgbClr val="243247"/>
                </a:solidFill>
                <a:latin typeface="Aptos"/>
              </a:defRPr>
            </a:pPr>
            <a:r>
              <a:t>Private instances initiate outbound connections</a:t>
            </a:r>
          </a:p>
        </p:txBody>
      </p:sp>
      <p:sp>
        <p:nvSpPr>
          <p:cNvPr id="27" name="Oval 26"/>
          <p:cNvSpPr/>
          <p:nvPr/>
        </p:nvSpPr>
        <p:spPr>
          <a:xfrm>
            <a:off x="6501383" y="3781044"/>
            <a:ext cx="91440" cy="9144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02551" y="3662172"/>
            <a:ext cx="4636008" cy="61036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400" b="0" i="0">
                <a:solidFill>
                  <a:srgbClr val="243247"/>
                </a:solidFill>
                <a:latin typeface="Aptos"/>
              </a:defRPr>
            </a:pPr>
            <a:r>
              <a:t>Return traffic is mapped back to the private source</a:t>
            </a:r>
          </a:p>
        </p:txBody>
      </p:sp>
      <p:sp>
        <p:nvSpPr>
          <p:cNvPr id="29" name="Oval 28"/>
          <p:cNvSpPr/>
          <p:nvPr/>
        </p:nvSpPr>
        <p:spPr>
          <a:xfrm>
            <a:off x="6501383" y="4409694"/>
            <a:ext cx="91440" cy="9144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02551" y="4290822"/>
            <a:ext cx="4636008" cy="61036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400" b="0" i="0">
                <a:solidFill>
                  <a:srgbClr val="243247"/>
                </a:solidFill>
                <a:latin typeface="Aptos"/>
              </a:defRPr>
            </a:pPr>
            <a:r>
              <a:t>Does not accept unsolicited inbound sessions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" y="5303520"/>
            <a:ext cx="10332720" cy="566928"/>
          </a:xfrm>
          <a:prstGeom prst="roundRect">
            <a:avLst>
              <a:gd name="adj" fmla="val 8000"/>
            </a:avLst>
          </a:prstGeom>
          <a:solidFill>
            <a:srgbClr val="FFF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15568" y="5431536"/>
            <a:ext cx="9921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1230" b="1" i="0">
                <a:solidFill>
                  <a:srgbClr val="121C2F"/>
                </a:solidFill>
                <a:latin typeface="Aptos"/>
              </a:defRPr>
            </a:pPr>
            <a:r>
              <a:t>Azure equivalent: Azure NAT Gateway provides outbound connectivity for private subnet resources; AWS requires route tables to direct private-subnet traffic to the NAT Gateway.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329184"/>
            <a:ext cx="64008" cy="26517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20040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919" b="1" i="0">
                <a:solidFill>
                  <a:srgbClr val="FF9900"/>
                </a:solidFill>
                <a:latin typeface="Aptos"/>
              </a:defRPr>
            </a:pPr>
            <a:r>
              <a:t>NETWORKING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21792"/>
            <a:ext cx="113842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2600" b="1" i="0">
                <a:solidFill>
                  <a:srgbClr val="121C2F"/>
                </a:solidFill>
                <a:latin typeface="Aptos"/>
              </a:defRPr>
            </a:pPr>
            <a:r>
              <a:t>Private egress: the NAT Gateway traffic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1133856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1230" b="0" i="0">
                <a:solidFill>
                  <a:srgbClr val="536278"/>
                </a:solidFill>
                <a:latin typeface="Aptos"/>
              </a:defRPr>
            </a:pPr>
            <a:r>
              <a:t>The route table is the part that tells the private subnet where to send internet-bound traffic.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8912" y="6473952"/>
            <a:ext cx="11311128" cy="0"/>
          </a:xfrm>
          <a:prstGeom prst="line">
            <a:avLst/>
          </a:prstGeom>
          <a:ln w="7620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10528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750" b="0" i="0">
                <a:solidFill>
                  <a:srgbClr val="6D7B8F"/>
                </a:solidFill>
                <a:latin typeface="Aptos"/>
              </a:defRPr>
            </a:pPr>
            <a:r>
              <a:t>REFERENCE: AWS NAT Gateway and route-table docs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501384"/>
            <a:ext cx="4754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300"/>
              </a:spcAft>
              <a:defRPr sz="900" b="1" i="0">
                <a:solidFill>
                  <a:srgbClr val="6D7B8F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" y="1828800"/>
            <a:ext cx="2099462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12064" y="1828800"/>
            <a:ext cx="2099462" cy="82296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2011680"/>
            <a:ext cx="188000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1400" b="1" i="0">
                <a:solidFill>
                  <a:srgbClr val="121C2F"/>
                </a:solidFill>
                <a:latin typeface="Aptos"/>
              </a:defRPr>
            </a:pPr>
            <a:r>
              <a:t>Private EC2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468880"/>
            <a:ext cx="1880006" cy="153619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300"/>
              </a:spcAft>
              <a:defRPr sz="1200" b="0" i="0">
                <a:solidFill>
                  <a:srgbClr val="536278"/>
                </a:solidFill>
                <a:latin typeface="Aptos"/>
              </a:defRPr>
            </a:pPr>
            <a:r>
              <a:t>No public 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20670" y="2788920"/>
            <a:ext cx="1463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2400" b="1" i="0">
                <a:solidFill>
                  <a:srgbClr val="FF9900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76118" y="1828800"/>
            <a:ext cx="2099462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76118" y="1828800"/>
            <a:ext cx="2099462" cy="82296"/>
          </a:xfrm>
          <a:prstGeom prst="rect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85846" y="2011680"/>
            <a:ext cx="188000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1400" b="1" i="0">
                <a:solidFill>
                  <a:srgbClr val="121C2F"/>
                </a:solidFill>
                <a:latin typeface="Aptos"/>
              </a:defRPr>
            </a:pPr>
            <a:r>
              <a:t>Private route table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5846" y="2468880"/>
            <a:ext cx="1880006" cy="153619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300"/>
              </a:spcAft>
              <a:defRPr sz="1200" b="0" i="0">
                <a:solidFill>
                  <a:srgbClr val="536278"/>
                </a:solidFill>
                <a:latin typeface="Aptos"/>
              </a:defRPr>
            </a:pPr>
            <a:r>
              <a:t>0.0.0.0/0 → NAT GW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84724" y="2788920"/>
            <a:ext cx="1463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2400" b="1" i="0">
                <a:solidFill>
                  <a:srgbClr val="FF9900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40172" y="1828800"/>
            <a:ext cx="2099462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40172" y="1828800"/>
            <a:ext cx="2099462" cy="8229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49900" y="2011680"/>
            <a:ext cx="188000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1400" b="1" i="0">
                <a:solidFill>
                  <a:srgbClr val="121C2F"/>
                </a:solidFill>
                <a:latin typeface="Aptos"/>
              </a:defRPr>
            </a:pPr>
            <a:r>
              <a:t>NAT Gateway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9900" y="2468880"/>
            <a:ext cx="1880006" cy="153619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300"/>
              </a:spcAft>
              <a:defRPr sz="1200" b="0" i="0">
                <a:solidFill>
                  <a:srgbClr val="536278"/>
                </a:solidFill>
                <a:latin typeface="Aptos"/>
              </a:defRPr>
            </a:pPr>
            <a:r>
              <a:t>In public subnet</a:t>
            </a:r>
          </a:p>
          <a:p>
            <a:pPr algn="ctr">
              <a:spcAft>
                <a:spcPts val="300"/>
              </a:spcAft>
              <a:defRPr sz="1200" b="0" i="0">
                <a:solidFill>
                  <a:srgbClr val="536278"/>
                </a:solidFill>
                <a:latin typeface="Aptos"/>
              </a:defRPr>
            </a:pPr>
            <a:r>
              <a:t>with Elastic IP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48779" y="2788920"/>
            <a:ext cx="1463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2400" b="1" i="0">
                <a:solidFill>
                  <a:srgbClr val="FF9900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04227" y="1828800"/>
            <a:ext cx="2099462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04227" y="1828800"/>
            <a:ext cx="2099462" cy="82296"/>
          </a:xfrm>
          <a:prstGeom prst="rect">
            <a:avLst/>
          </a:prstGeom>
          <a:solidFill>
            <a:srgbClr val="6741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13955" y="2011680"/>
            <a:ext cx="188000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1400" b="1" i="0">
                <a:solidFill>
                  <a:srgbClr val="121C2F"/>
                </a:solidFill>
                <a:latin typeface="Aptos"/>
              </a:defRPr>
            </a:pPr>
            <a:r>
              <a:t>Public route table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13955" y="2468880"/>
            <a:ext cx="1880006" cy="153619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300"/>
              </a:spcAft>
              <a:defRPr sz="1200" b="0" i="0">
                <a:solidFill>
                  <a:srgbClr val="536278"/>
                </a:solidFill>
                <a:latin typeface="Aptos"/>
              </a:defRPr>
            </a:pPr>
            <a:r>
              <a:t>0.0.0.0/0 → IGW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2833" y="2788920"/>
            <a:ext cx="1463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2400" b="1" i="0">
                <a:solidFill>
                  <a:srgbClr val="FF9900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68281" y="1828800"/>
            <a:ext cx="2099462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568281" y="1828800"/>
            <a:ext cx="2099462" cy="82296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78009" y="2011680"/>
            <a:ext cx="188000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1400" b="1" i="0">
                <a:solidFill>
                  <a:srgbClr val="121C2F"/>
                </a:solidFill>
                <a:latin typeface="Aptos"/>
              </a:defRPr>
            </a:pPr>
            <a:r>
              <a:t>Internet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78009" y="2468880"/>
            <a:ext cx="1880006" cy="153619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300"/>
              </a:spcAft>
              <a:defRPr sz="1200" b="0" i="0">
                <a:solidFill>
                  <a:srgbClr val="536278"/>
                </a:solidFill>
                <a:latin typeface="Aptos"/>
              </a:defRPr>
            </a:pPr>
            <a:r>
              <a:t>Outbound request</a:t>
            </a:r>
          </a:p>
          <a:p>
            <a:pPr algn="ctr">
              <a:spcAft>
                <a:spcPts val="300"/>
              </a:spcAft>
              <a:defRPr sz="1200" b="0" i="0">
                <a:solidFill>
                  <a:srgbClr val="536278"/>
                </a:solidFill>
                <a:latin typeface="Aptos"/>
              </a:defRPr>
            </a:pPr>
            <a:r>
              <a:t>response returns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60" y="4572000"/>
            <a:ext cx="50749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2960" y="4572000"/>
            <a:ext cx="68580" cy="960120"/>
          </a:xfrm>
          <a:prstGeom prst="rect">
            <a:avLst/>
          </a:prstGeom>
          <a:solidFill>
            <a:srgbClr val="C43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33272" y="4663440"/>
            <a:ext cx="4700016" cy="23774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340" b="1" i="0">
                <a:solidFill>
                  <a:srgbClr val="121C2F"/>
                </a:solidFill>
                <a:latin typeface="Aptos"/>
              </a:defRPr>
            </a:pPr>
            <a:r>
              <a:t>Do not do this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" y="4937760"/>
            <a:ext cx="4663440" cy="53035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130" b="0" i="0">
                <a:solidFill>
                  <a:srgbClr val="243247"/>
                </a:solidFill>
                <a:latin typeface="Aptos"/>
              </a:defRPr>
            </a:pPr>
            <a:r>
              <a:t>Do not assign a public IP just to bypass private-subnet egress failure.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63640" y="4572000"/>
            <a:ext cx="50749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63640" y="4572000"/>
            <a:ext cx="68580" cy="9601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73952" y="4663440"/>
            <a:ext cx="4700016" cy="23774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340" b="1" i="0">
                <a:solidFill>
                  <a:srgbClr val="121C2F"/>
                </a:solidFill>
                <a:latin typeface="Aptos"/>
              </a:defRPr>
            </a:pPr>
            <a:r>
              <a:t>Cost note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40" y="4937760"/>
            <a:ext cx="4663440" cy="53035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130" b="0" i="0">
                <a:solidFill>
                  <a:srgbClr val="243247"/>
                </a:solidFill>
                <a:latin typeface="Aptos"/>
              </a:defRPr>
            </a:pPr>
            <a:r>
              <a:t>NAT Gateway has hourly and data-processing costs. Create for the lab window; then delete it.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329184"/>
            <a:ext cx="64008" cy="26517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20040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919" b="1" i="0">
                <a:solidFill>
                  <a:srgbClr val="FF9900"/>
                </a:solidFill>
                <a:latin typeface="Aptos"/>
              </a:defRPr>
            </a:pPr>
            <a:r>
              <a:t>NETWORKING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21792"/>
            <a:ext cx="113842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2600" b="1" i="0">
                <a:solidFill>
                  <a:srgbClr val="121C2F"/>
                </a:solidFill>
                <a:latin typeface="Aptos"/>
              </a:defRPr>
            </a:pPr>
            <a:r>
              <a:t>Security Group vs Network ACL vs Azure NSG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1133856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1230" b="0" i="0">
                <a:solidFill>
                  <a:srgbClr val="536278"/>
                </a:solidFill>
                <a:latin typeface="Aptos"/>
              </a:defRPr>
            </a:pPr>
            <a:r>
              <a:t>Firewall rule evaluation is only one part of reachability; routing and addressing must also work.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8912" y="6473952"/>
            <a:ext cx="11311128" cy="0"/>
          </a:xfrm>
          <a:prstGeom prst="line">
            <a:avLst/>
          </a:prstGeom>
          <a:ln w="7620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10528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750" b="0" i="0">
                <a:solidFill>
                  <a:srgbClr val="6D7B8F"/>
                </a:solidFill>
                <a:latin typeface="Aptos"/>
              </a:defRPr>
            </a:pPr>
            <a:r>
              <a:t>REFERENCE: AWS Security Groups / NACL docs; Azure NSG docs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501384"/>
            <a:ext cx="4754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300"/>
              </a:spcAft>
              <a:defRPr sz="900" b="1" i="0">
                <a:solidFill>
                  <a:srgbClr val="6D7B8F"/>
                </a:solidFill>
                <a:latin typeface="Aptos"/>
              </a:defRPr>
            </a:pPr>
            <a:r>
              <a:t>19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737360"/>
            <a:ext cx="2194560" cy="640080"/>
          </a:xfrm>
          <a:prstGeom prst="rect">
            <a:avLst/>
          </a:prstGeom>
          <a:solidFill>
            <a:srgbClr val="1A2A43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1" y="1764792"/>
            <a:ext cx="2048255" cy="5852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1250" b="1" i="0">
                <a:solidFill>
                  <a:srgbClr val="FFFFFF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34639" y="1737360"/>
            <a:ext cx="2286000" cy="640080"/>
          </a:xfrm>
          <a:prstGeom prst="rect">
            <a:avLst/>
          </a:prstGeom>
          <a:solidFill>
            <a:srgbClr val="1A2A43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07791" y="1764792"/>
            <a:ext cx="2139696" cy="5852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1250" b="1" i="0">
                <a:solidFill>
                  <a:srgbClr val="FFFFFF"/>
                </a:solidFill>
                <a:latin typeface="Aptos"/>
              </a:defRPr>
            </a:pPr>
            <a:r>
              <a:t>Scope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0" y="1737360"/>
            <a:ext cx="1280160" cy="640080"/>
          </a:xfrm>
          <a:prstGeom prst="rect">
            <a:avLst/>
          </a:prstGeom>
          <a:solidFill>
            <a:srgbClr val="1A2A43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93792" y="1764792"/>
            <a:ext cx="1133856" cy="5852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1250" b="1" i="0">
                <a:solidFill>
                  <a:srgbClr val="FFFFFF"/>
                </a:solidFill>
                <a:latin typeface="Aptos"/>
              </a:defRPr>
            </a:pPr>
            <a:r>
              <a:t>Stateful?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1737360"/>
            <a:ext cx="5166360" cy="640080"/>
          </a:xfrm>
          <a:prstGeom prst="rect">
            <a:avLst/>
          </a:prstGeom>
          <a:solidFill>
            <a:srgbClr val="1A2A43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2" y="1764792"/>
            <a:ext cx="5020056" cy="5852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1250" b="1" i="0">
                <a:solidFill>
                  <a:srgbClr val="FFFFFF"/>
                </a:solidFill>
                <a:latin typeface="Aptos"/>
              </a:defRPr>
            </a:pPr>
            <a:r>
              <a:t>Useful mental model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377439"/>
            <a:ext cx="2194560" cy="640080"/>
          </a:xfrm>
          <a:prstGeom prst="rect">
            <a:avLst/>
          </a:prstGeom>
          <a:solidFill>
            <a:srgbClr val="FFFFFF"/>
          </a:solidFill>
          <a:ln w="5715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" y="2404871"/>
            <a:ext cx="2066543" cy="5852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1250" b="0" i="0">
                <a:solidFill>
                  <a:srgbClr val="243247"/>
                </a:solidFill>
                <a:latin typeface="Aptos"/>
              </a:defRPr>
            </a:pPr>
            <a:r>
              <a:t>AWS Security Group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34639" y="2377439"/>
            <a:ext cx="2286000" cy="640080"/>
          </a:xfrm>
          <a:prstGeom prst="rect">
            <a:avLst/>
          </a:prstGeom>
          <a:solidFill>
            <a:srgbClr val="FFFFFF"/>
          </a:solidFill>
          <a:ln w="5715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98647" y="2404871"/>
            <a:ext cx="2157984" cy="5852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1250" b="0" i="0">
                <a:solidFill>
                  <a:srgbClr val="243247"/>
                </a:solidFill>
                <a:latin typeface="Aptos"/>
              </a:defRPr>
            </a:pPr>
            <a:r>
              <a:t>ENI / resource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20640" y="2377439"/>
            <a:ext cx="1280160" cy="640080"/>
          </a:xfrm>
          <a:prstGeom prst="rect">
            <a:avLst/>
          </a:prstGeom>
          <a:solidFill>
            <a:srgbClr val="FFFFFF"/>
          </a:solidFill>
          <a:ln w="5715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84648" y="2404871"/>
            <a:ext cx="1152143" cy="5852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1250" b="0" i="0">
                <a:solidFill>
                  <a:srgbClr val="243247"/>
                </a:solidFill>
                <a:latin typeface="Aptos"/>
              </a:defRPr>
            </a:pPr>
            <a:r>
              <a:t>Yes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2377439"/>
            <a:ext cx="5166360" cy="640080"/>
          </a:xfrm>
          <a:prstGeom prst="rect">
            <a:avLst/>
          </a:prstGeom>
          <a:solidFill>
            <a:srgbClr val="FFFFFF"/>
          </a:solidFill>
          <a:ln w="5715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64808" y="2404871"/>
            <a:ext cx="5038344" cy="5852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1250" b="0" i="0">
                <a:solidFill>
                  <a:srgbClr val="243247"/>
                </a:solidFill>
                <a:latin typeface="Aptos"/>
              </a:defRPr>
            </a:pPr>
            <a:r>
              <a:t>Allow-list firewall close to workload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3017520"/>
            <a:ext cx="2194560" cy="640080"/>
          </a:xfrm>
          <a:prstGeom prst="rect">
            <a:avLst/>
          </a:prstGeom>
          <a:solidFill>
            <a:srgbClr val="F0F4F8"/>
          </a:solidFill>
          <a:ln w="5715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4088" y="3044951"/>
            <a:ext cx="2066543" cy="5852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1250" b="0" i="0">
                <a:solidFill>
                  <a:srgbClr val="243247"/>
                </a:solidFill>
                <a:latin typeface="Aptos"/>
              </a:defRPr>
            </a:pPr>
            <a:r>
              <a:t>AWS Network ACL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34639" y="3017520"/>
            <a:ext cx="2286000" cy="640080"/>
          </a:xfrm>
          <a:prstGeom prst="rect">
            <a:avLst/>
          </a:prstGeom>
          <a:solidFill>
            <a:srgbClr val="F0F4F8"/>
          </a:solidFill>
          <a:ln w="5715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898647" y="3044951"/>
            <a:ext cx="2157984" cy="5852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1250" b="0" i="0">
                <a:solidFill>
                  <a:srgbClr val="243247"/>
                </a:solidFill>
                <a:latin typeface="Aptos"/>
              </a:defRPr>
            </a:pPr>
            <a:r>
              <a:t>Subnet boundary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120640" y="3017520"/>
            <a:ext cx="1280160" cy="640080"/>
          </a:xfrm>
          <a:prstGeom prst="rect">
            <a:avLst/>
          </a:prstGeom>
          <a:solidFill>
            <a:srgbClr val="F0F4F8"/>
          </a:solidFill>
          <a:ln w="5715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84648" y="3044951"/>
            <a:ext cx="1152143" cy="5852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1250" b="0" i="0">
                <a:solidFill>
                  <a:srgbClr val="243247"/>
                </a:solidFill>
                <a:latin typeface="Aptos"/>
              </a:defRPr>
            </a:pPr>
            <a:r>
              <a:t>No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3017520"/>
            <a:ext cx="5166360" cy="640080"/>
          </a:xfrm>
          <a:prstGeom prst="rect">
            <a:avLst/>
          </a:prstGeom>
          <a:solidFill>
            <a:srgbClr val="F0F4F8"/>
          </a:solidFill>
          <a:ln w="5715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64808" y="3044951"/>
            <a:ext cx="5038344" cy="5852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1250" b="0" i="0">
                <a:solidFill>
                  <a:srgbClr val="243247"/>
                </a:solidFill>
                <a:latin typeface="Aptos"/>
              </a:defRPr>
            </a:pPr>
            <a:r>
              <a:t>Stateless subnet filter; return traffic needs rules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3657599"/>
            <a:ext cx="2194560" cy="640080"/>
          </a:xfrm>
          <a:prstGeom prst="rect">
            <a:avLst/>
          </a:prstGeom>
          <a:solidFill>
            <a:srgbClr val="FFFFFF"/>
          </a:solidFill>
          <a:ln w="5715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4088" y="3685031"/>
            <a:ext cx="2066543" cy="5852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1250" b="0" i="0">
                <a:solidFill>
                  <a:srgbClr val="243247"/>
                </a:solidFill>
                <a:latin typeface="Aptos"/>
              </a:defRPr>
            </a:pPr>
            <a:r>
              <a:t>Azure NSG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834639" y="3657599"/>
            <a:ext cx="2286000" cy="640080"/>
          </a:xfrm>
          <a:prstGeom prst="rect">
            <a:avLst/>
          </a:prstGeom>
          <a:solidFill>
            <a:srgbClr val="FFFFFF"/>
          </a:solidFill>
          <a:ln w="5715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898647" y="3685031"/>
            <a:ext cx="2157984" cy="5852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1250" b="0" i="0">
                <a:solidFill>
                  <a:srgbClr val="243247"/>
                </a:solidFill>
                <a:latin typeface="Aptos"/>
              </a:defRPr>
            </a:pPr>
            <a:r>
              <a:t>NIC and/or subnet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120640" y="3657599"/>
            <a:ext cx="1280160" cy="640080"/>
          </a:xfrm>
          <a:prstGeom prst="rect">
            <a:avLst/>
          </a:prstGeom>
          <a:solidFill>
            <a:srgbClr val="FFFFFF"/>
          </a:solidFill>
          <a:ln w="5715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184648" y="3685031"/>
            <a:ext cx="1152143" cy="5852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1250" b="0" i="0">
                <a:solidFill>
                  <a:srgbClr val="243247"/>
                </a:solidFill>
                <a:latin typeface="Aptos"/>
              </a:defRPr>
            </a:pPr>
            <a:r>
              <a:t>Yes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0" y="3657599"/>
            <a:ext cx="5166360" cy="640080"/>
          </a:xfrm>
          <a:prstGeom prst="rect">
            <a:avLst/>
          </a:prstGeom>
          <a:solidFill>
            <a:srgbClr val="FFFFFF"/>
          </a:solidFill>
          <a:ln w="5715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64808" y="3685031"/>
            <a:ext cx="5038344" cy="5852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1250" b="0" i="0">
                <a:solidFill>
                  <a:srgbClr val="243247"/>
                </a:solidFill>
                <a:latin typeface="Aptos"/>
              </a:defRPr>
            </a:pPr>
            <a:r>
              <a:t>Stateful allow/deny rules at network interface/subnet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14400" y="4754880"/>
            <a:ext cx="10332720" cy="777240"/>
          </a:xfrm>
          <a:prstGeom prst="roundRect">
            <a:avLst>
              <a:gd name="adj" fmla="val 8000"/>
            </a:avLst>
          </a:prstGeom>
          <a:solidFill>
            <a:srgbClr val="E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15568" y="4956048"/>
            <a:ext cx="99212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1400" b="1" i="0">
                <a:solidFill>
                  <a:srgbClr val="121C2F"/>
                </a:solidFill>
                <a:latin typeface="Aptos"/>
              </a:defRPr>
            </a:pPr>
            <a:r>
              <a:t>For SSH: allow TCP/22 only from a known administrator IP (/32) or use Systems Manager Session Manager. Never open SSH to 0.0.0.0/0 for convenience.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329184"/>
            <a:ext cx="64008" cy="26517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20040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919" b="1" i="0">
                <a:solidFill>
                  <a:srgbClr val="FF9900"/>
                </a:solidFill>
                <a:latin typeface="Aptos"/>
              </a:defRPr>
            </a:pPr>
            <a:r>
              <a:t>NETWORKING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21792"/>
            <a:ext cx="113842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2600" b="1" i="0">
                <a:solidFill>
                  <a:srgbClr val="121C2F"/>
                </a:solidFill>
                <a:latin typeface="Aptos"/>
              </a:defRPr>
            </a:pPr>
            <a:r>
              <a:t>SSH troubleshooting: diagnose in the right order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1133856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1230" b="0" i="0">
                <a:solidFill>
                  <a:srgbClr val="536278"/>
                </a:solidFill>
                <a:latin typeface="Aptos"/>
              </a:defRPr>
            </a:pPr>
            <a:r>
              <a:t>A timeout usually means the connection path is blocked or unreachable; a refusal suggests a host/port response exists.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8912" y="6473952"/>
            <a:ext cx="11311128" cy="0"/>
          </a:xfrm>
          <a:prstGeom prst="line">
            <a:avLst/>
          </a:prstGeom>
          <a:ln w="7620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10528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750" b="0" i="0">
                <a:solidFill>
                  <a:srgbClr val="6D7B8F"/>
                </a:solidFill>
                <a:latin typeface="Aptos"/>
              </a:defRPr>
            </a:pPr>
            <a:r>
              <a:t>REFERENCE: AWS VPC and EC2 connectivity docs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501384"/>
            <a:ext cx="4754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300"/>
              </a:spcAft>
              <a:defRPr sz="900" b="1" i="0">
                <a:solidFill>
                  <a:srgbClr val="6D7B8F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74519"/>
            <a:ext cx="2081174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874519"/>
            <a:ext cx="2081174" cy="82296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057400"/>
            <a:ext cx="186171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1400" b="1" i="0">
                <a:solidFill>
                  <a:srgbClr val="121C2F"/>
                </a:solidFill>
                <a:latin typeface="Aptos"/>
              </a:defRPr>
            </a:pPr>
            <a:r>
              <a:t>Address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514600"/>
            <a:ext cx="1861718" cy="149047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300"/>
              </a:spcAft>
              <a:defRPr sz="1230" b="0" i="0">
                <a:solidFill>
                  <a:srgbClr val="536278"/>
                </a:solidFill>
                <a:latin typeface="Aptos"/>
              </a:defRPr>
            </a:pPr>
            <a:r>
              <a:t>Correct public IP</a:t>
            </a:r>
          </a:p>
          <a:p>
            <a:pPr algn="ctr">
              <a:spcAft>
                <a:spcPts val="300"/>
              </a:spcAft>
              <a:defRPr sz="1230" b="0" i="0">
                <a:solidFill>
                  <a:srgbClr val="536278"/>
                </a:solidFill>
                <a:latin typeface="Aptos"/>
              </a:defRPr>
            </a:pPr>
            <a:r>
              <a:t>or private path?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38958" y="2811779"/>
            <a:ext cx="1463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2400" b="1" i="0">
                <a:solidFill>
                  <a:srgbClr val="FF9900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94406" y="1874519"/>
            <a:ext cx="2081174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94406" y="1874519"/>
            <a:ext cx="2081174" cy="82296"/>
          </a:xfrm>
          <a:prstGeom prst="rect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04134" y="2057400"/>
            <a:ext cx="186171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1400" b="1" i="0">
                <a:solidFill>
                  <a:srgbClr val="121C2F"/>
                </a:solidFill>
                <a:latin typeface="Aptos"/>
              </a:defRPr>
            </a:pPr>
            <a:r>
              <a:t>Route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04134" y="2514600"/>
            <a:ext cx="1861718" cy="149047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300"/>
              </a:spcAft>
              <a:defRPr sz="1230" b="0" i="0">
                <a:solidFill>
                  <a:srgbClr val="536278"/>
                </a:solidFill>
                <a:latin typeface="Aptos"/>
              </a:defRPr>
            </a:pPr>
            <a:r>
              <a:t>Public route to IGW?</a:t>
            </a:r>
          </a:p>
          <a:p>
            <a:pPr algn="ctr">
              <a:spcAft>
                <a:spcPts val="300"/>
              </a:spcAft>
              <a:defRPr sz="1230" b="0" i="0">
                <a:solidFill>
                  <a:srgbClr val="536278"/>
                </a:solidFill>
                <a:latin typeface="Aptos"/>
              </a:defRPr>
            </a:pPr>
            <a:r>
              <a:t>Subnet association?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84724" y="2811779"/>
            <a:ext cx="1463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2400" b="1" i="0">
                <a:solidFill>
                  <a:srgbClr val="FF9900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40172" y="1874519"/>
            <a:ext cx="2081174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40172" y="1874519"/>
            <a:ext cx="2081174" cy="8229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49900" y="2057400"/>
            <a:ext cx="186171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1400" b="1" i="0">
                <a:solidFill>
                  <a:srgbClr val="121C2F"/>
                </a:solidFill>
                <a:latin typeface="Aptos"/>
              </a:defRPr>
            </a:pPr>
            <a:r>
              <a:t>Security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9900" y="2514600"/>
            <a:ext cx="1861718" cy="149047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300"/>
              </a:spcAft>
              <a:defRPr sz="1230" b="0" i="0">
                <a:solidFill>
                  <a:srgbClr val="536278"/>
                </a:solidFill>
                <a:latin typeface="Aptos"/>
              </a:defRPr>
            </a:pPr>
            <a:r>
              <a:t>SG inbound TCP/22</a:t>
            </a:r>
          </a:p>
          <a:p>
            <a:pPr algn="ctr">
              <a:spcAft>
                <a:spcPts val="300"/>
              </a:spcAft>
              <a:defRPr sz="1230" b="0" i="0">
                <a:solidFill>
                  <a:srgbClr val="536278"/>
                </a:solidFill>
                <a:latin typeface="Aptos"/>
              </a:defRPr>
            </a:pPr>
            <a:r>
              <a:t>from your /32?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0491" y="2811779"/>
            <a:ext cx="1463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2400" b="1" i="0">
                <a:solidFill>
                  <a:srgbClr val="FF9900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85939" y="1874519"/>
            <a:ext cx="2081174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85939" y="1874519"/>
            <a:ext cx="2081174" cy="82296"/>
          </a:xfrm>
          <a:prstGeom prst="rect">
            <a:avLst/>
          </a:prstGeom>
          <a:solidFill>
            <a:srgbClr val="6741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95667" y="2057400"/>
            <a:ext cx="186171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1400" b="1" i="0">
                <a:solidFill>
                  <a:srgbClr val="121C2F"/>
                </a:solidFill>
                <a:latin typeface="Aptos"/>
              </a:defRPr>
            </a:pPr>
            <a:r>
              <a:t>Subnet / 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95667" y="2514600"/>
            <a:ext cx="1861718" cy="149047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300"/>
              </a:spcAft>
              <a:defRPr sz="1230" b="0" i="0">
                <a:solidFill>
                  <a:srgbClr val="536278"/>
                </a:solidFill>
                <a:latin typeface="Aptos"/>
              </a:defRPr>
            </a:pPr>
            <a:r>
              <a:t>NACL return rules?</a:t>
            </a:r>
          </a:p>
          <a:p>
            <a:pPr algn="ctr">
              <a:spcAft>
                <a:spcPts val="300"/>
              </a:spcAft>
              <a:defRPr sz="1230" b="0" i="0">
                <a:solidFill>
                  <a:srgbClr val="536278"/>
                </a:solidFill>
                <a:latin typeface="Aptos"/>
              </a:defRPr>
            </a:pPr>
            <a:r>
              <a:t>sshd + host firewall?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76257" y="2811779"/>
            <a:ext cx="1463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2400" b="1" i="0">
                <a:solidFill>
                  <a:srgbClr val="FF9900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31705" y="1874519"/>
            <a:ext cx="2081174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531705" y="1874519"/>
            <a:ext cx="2081174" cy="82296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41433" y="2057400"/>
            <a:ext cx="186171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1400" b="1" i="0">
                <a:solidFill>
                  <a:srgbClr val="121C2F"/>
                </a:solidFill>
                <a:latin typeface="Aptos"/>
              </a:defRPr>
            </a:pPr>
            <a:r>
              <a:t>Identity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41433" y="2514600"/>
            <a:ext cx="1861718" cy="149047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300"/>
              </a:spcAft>
              <a:defRPr sz="1230" b="0" i="0">
                <a:solidFill>
                  <a:srgbClr val="536278"/>
                </a:solidFill>
                <a:latin typeface="Aptos"/>
              </a:defRPr>
            </a:pPr>
            <a:r>
              <a:t>Right user/key?</a:t>
            </a:r>
          </a:p>
          <a:p>
            <a:pPr algn="ctr">
              <a:spcAft>
                <a:spcPts val="300"/>
              </a:spcAft>
              <a:defRPr sz="1230" b="0" i="0">
                <a:solidFill>
                  <a:srgbClr val="536278"/>
                </a:solidFill>
                <a:latin typeface="Aptos"/>
              </a:defRPr>
            </a:pPr>
            <a:r>
              <a:t>SSM available?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68680" y="4709160"/>
            <a:ext cx="1033272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68680" y="4709160"/>
            <a:ext cx="68580" cy="731520"/>
          </a:xfrm>
          <a:prstGeom prst="rect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78992" y="4800600"/>
            <a:ext cx="9957816" cy="23774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240" b="1" i="0">
                <a:solidFill>
                  <a:srgbClr val="121C2F"/>
                </a:solidFill>
                <a:latin typeface="Aptos"/>
              </a:defRPr>
            </a:pPr>
            <a:r>
              <a:t>Evidence to capture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" y="5074920"/>
            <a:ext cx="9921240" cy="30175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050" b="0" i="0">
                <a:solidFill>
                  <a:srgbClr val="243247"/>
                </a:solidFill>
                <a:latin typeface="Aptos"/>
              </a:defRPr>
            </a:pPr>
            <a:r>
              <a:t>Instance ID • VPC/subnet • public IP • SG ID and inbound rule • route table • exact SSH error text.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329184"/>
            <a:ext cx="64008" cy="26517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20040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919" b="1" i="0">
                <a:solidFill>
                  <a:srgbClr val="FF9900"/>
                </a:solidFill>
                <a:latin typeface="Aptos"/>
              </a:defRPr>
            </a:pPr>
            <a:r>
              <a:t>STORAGE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21792"/>
            <a:ext cx="113842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2600" b="1" i="0">
                <a:solidFill>
                  <a:srgbClr val="121C2F"/>
                </a:solidFill>
                <a:latin typeface="Aptos"/>
              </a:defRPr>
            </a:pPr>
            <a:r>
              <a:t>Amazon EBS: persistent block storage for EC2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1133856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1230" b="0" i="0">
                <a:solidFill>
                  <a:srgbClr val="536278"/>
                </a:solidFill>
                <a:latin typeface="Aptos"/>
              </a:defRPr>
            </a:pPr>
            <a:r>
              <a:t>EBS behaves like a disk attached to a server; it is not the same as object storage.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8912" y="6473952"/>
            <a:ext cx="11311128" cy="0"/>
          </a:xfrm>
          <a:prstGeom prst="line">
            <a:avLst/>
          </a:prstGeom>
          <a:ln w="7620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10528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750" b="0" i="0">
                <a:solidFill>
                  <a:srgbClr val="6D7B8F"/>
                </a:solidFill>
                <a:latin typeface="Aptos"/>
              </a:defRPr>
            </a:pPr>
            <a:r>
              <a:t>REFERENCE: AWS EBS docs; Azure Managed Disks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501384"/>
            <a:ext cx="4754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300"/>
              </a:spcAft>
              <a:defRPr sz="900" b="1" i="0">
                <a:solidFill>
                  <a:srgbClr val="6D7B8F"/>
                </a:solidFill>
                <a:latin typeface="Aptos"/>
              </a:defRPr>
            </a:pPr>
            <a:r>
              <a:t>21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920240"/>
            <a:ext cx="2062886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920240"/>
            <a:ext cx="2062886" cy="82296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2103120"/>
            <a:ext cx="184343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1400" b="1" i="0">
                <a:solidFill>
                  <a:srgbClr val="121C2F"/>
                </a:solidFill>
                <a:latin typeface="Aptos"/>
              </a:defRPr>
            </a:pPr>
            <a:r>
              <a:t>EC2 instance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2560320"/>
            <a:ext cx="1843430" cy="158191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300"/>
              </a:spcAft>
              <a:defRPr sz="1230" b="0" i="0">
                <a:solidFill>
                  <a:srgbClr val="536278"/>
                </a:solidFill>
                <a:latin typeface="Aptos"/>
              </a:defRPr>
            </a:pPr>
            <a:r>
              <a:t>Compute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38958" y="2903220"/>
            <a:ext cx="1463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2400" b="1" i="0">
                <a:solidFill>
                  <a:srgbClr val="FF9900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94406" y="1920240"/>
            <a:ext cx="2062886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94406" y="1920240"/>
            <a:ext cx="2062886" cy="82296"/>
          </a:xfrm>
          <a:prstGeom prst="rect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04134" y="2103120"/>
            <a:ext cx="184343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1400" b="1" i="0">
                <a:solidFill>
                  <a:srgbClr val="121C2F"/>
                </a:solidFill>
                <a:latin typeface="Aptos"/>
              </a:defRPr>
            </a:pPr>
            <a:r>
              <a:t>EBS volume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04134" y="2560320"/>
            <a:ext cx="1843430" cy="158191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300"/>
              </a:spcAft>
              <a:defRPr sz="1230" b="0" i="0">
                <a:solidFill>
                  <a:srgbClr val="536278"/>
                </a:solidFill>
                <a:latin typeface="Aptos"/>
              </a:defRPr>
            </a:pPr>
            <a:r>
              <a:t>Block device</a:t>
            </a:r>
          </a:p>
          <a:p>
            <a:pPr algn="ctr">
              <a:spcAft>
                <a:spcPts val="300"/>
              </a:spcAft>
              <a:defRPr sz="1230" b="0" i="0">
                <a:solidFill>
                  <a:srgbClr val="536278"/>
                </a:solidFill>
                <a:latin typeface="Aptos"/>
              </a:defRPr>
            </a:pPr>
            <a:r>
              <a:t>within one AZ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66436" y="2903220"/>
            <a:ext cx="1463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2400" b="1" i="0">
                <a:solidFill>
                  <a:srgbClr val="FF9900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1884" y="1920240"/>
            <a:ext cx="2062886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1884" y="1920240"/>
            <a:ext cx="2062886" cy="8229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31612" y="2103120"/>
            <a:ext cx="184343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1400" b="1" i="0">
                <a:solidFill>
                  <a:srgbClr val="121C2F"/>
                </a:solidFill>
                <a:latin typeface="Aptos"/>
              </a:defRPr>
            </a:pPr>
            <a:r>
              <a:t>Partition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31612" y="2560320"/>
            <a:ext cx="1843430" cy="158191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300"/>
              </a:spcAft>
              <a:defRPr sz="1230" b="0" i="0">
                <a:solidFill>
                  <a:srgbClr val="536278"/>
                </a:solidFill>
                <a:latin typeface="Aptos"/>
              </a:defRPr>
            </a:pPr>
            <a:r>
              <a:t>Optional layout</a:t>
            </a:r>
          </a:p>
          <a:p>
            <a:pPr algn="ctr">
              <a:spcAft>
                <a:spcPts val="300"/>
              </a:spcAft>
              <a:defRPr sz="1230" b="0" i="0">
                <a:solidFill>
                  <a:srgbClr val="536278"/>
                </a:solidFill>
                <a:latin typeface="Aptos"/>
              </a:defRPr>
            </a:pPr>
            <a:r>
              <a:t>inside the disk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93915" y="2903220"/>
            <a:ext cx="1463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2400" b="1" i="0">
                <a:solidFill>
                  <a:srgbClr val="FF9900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49363" y="1920240"/>
            <a:ext cx="2062886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49363" y="1920240"/>
            <a:ext cx="2062886" cy="82296"/>
          </a:xfrm>
          <a:prstGeom prst="rect">
            <a:avLst/>
          </a:prstGeom>
          <a:solidFill>
            <a:srgbClr val="6741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59091" y="2103120"/>
            <a:ext cx="184343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1400" b="1" i="0">
                <a:solidFill>
                  <a:srgbClr val="121C2F"/>
                </a:solidFill>
                <a:latin typeface="Aptos"/>
              </a:defRPr>
            </a:pPr>
            <a:r>
              <a:t>Filesystem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59091" y="2560320"/>
            <a:ext cx="1843430" cy="158191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300"/>
              </a:spcAft>
              <a:defRPr sz="1230" b="0" i="0">
                <a:solidFill>
                  <a:srgbClr val="536278"/>
                </a:solidFill>
                <a:latin typeface="Aptos"/>
              </a:defRPr>
            </a:pPr>
            <a:r>
              <a:t>ext4 / XFS</a:t>
            </a:r>
          </a:p>
          <a:p>
            <a:pPr algn="ctr">
              <a:spcAft>
                <a:spcPts val="300"/>
              </a:spcAft>
              <a:defRPr sz="1230" b="0" i="0">
                <a:solidFill>
                  <a:srgbClr val="536278"/>
                </a:solidFill>
                <a:latin typeface="Aptos"/>
              </a:defRPr>
            </a:pPr>
            <a:r>
              <a:t>formats blocks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1393" y="2903220"/>
            <a:ext cx="1463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2400" b="1" i="0">
                <a:solidFill>
                  <a:srgbClr val="FF9900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76841" y="1920240"/>
            <a:ext cx="2062886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476841" y="1920240"/>
            <a:ext cx="2062886" cy="82296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86569" y="2103120"/>
            <a:ext cx="184343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1400" b="1" i="0">
                <a:solidFill>
                  <a:srgbClr val="121C2F"/>
                </a:solidFill>
                <a:latin typeface="Aptos"/>
              </a:defRPr>
            </a:pPr>
            <a:r>
              <a:t>Mount point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86569" y="2560320"/>
            <a:ext cx="1843430" cy="158191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300"/>
              </a:spcAft>
              <a:defRPr sz="1230" b="0" i="0">
                <a:solidFill>
                  <a:srgbClr val="536278"/>
                </a:solidFill>
                <a:latin typeface="Aptos"/>
              </a:defRPr>
            </a:pPr>
            <a:r>
              <a:t>/data directory</a:t>
            </a:r>
          </a:p>
          <a:p>
            <a:pPr algn="ctr">
              <a:spcAft>
                <a:spcPts val="300"/>
              </a:spcAft>
              <a:defRPr sz="1230" b="0" i="0">
                <a:solidFill>
                  <a:srgbClr val="536278"/>
                </a:solidFill>
                <a:latin typeface="Aptos"/>
              </a:defRPr>
            </a:pPr>
            <a:r>
              <a:t>used by app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4754880"/>
            <a:ext cx="507492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31520" y="4754880"/>
            <a:ext cx="68580" cy="7772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1832" y="4846320"/>
            <a:ext cx="4700016" cy="23774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240" b="1" i="0">
                <a:solidFill>
                  <a:srgbClr val="121C2F"/>
                </a:solidFill>
                <a:latin typeface="Aptos"/>
              </a:defRPr>
            </a:pPr>
            <a:r>
              <a:t>Azure equivalent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" y="5120640"/>
            <a:ext cx="4663440" cy="34747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050" b="0" i="0">
                <a:solidFill>
                  <a:srgbClr val="243247"/>
                </a:solidFill>
                <a:latin typeface="Aptos"/>
              </a:defRPr>
            </a:pPr>
            <a:r>
              <a:t>Azure Managed Disk is the closest conceptual match.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55080" y="4754880"/>
            <a:ext cx="507492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55080" y="4754880"/>
            <a:ext cx="68580" cy="77724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65392" y="4846320"/>
            <a:ext cx="4700016" cy="23774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240" b="1" i="0">
                <a:solidFill>
                  <a:srgbClr val="121C2F"/>
                </a:solidFill>
                <a:latin typeface="Aptos"/>
              </a:defRPr>
            </a:pPr>
            <a:r>
              <a:t>Key rule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0" y="5120640"/>
            <a:ext cx="4663440" cy="34747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050" b="0" i="0">
                <a:solidFill>
                  <a:srgbClr val="243247"/>
                </a:solidFill>
                <a:latin typeface="Aptos"/>
              </a:defRPr>
            </a:pPr>
            <a:r>
              <a:t>An EBS volume can attach only to an instance in the same AZ.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329184"/>
            <a:ext cx="64008" cy="26517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20040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919" b="1" i="0">
                <a:solidFill>
                  <a:srgbClr val="FF9900"/>
                </a:solidFill>
                <a:latin typeface="Aptos"/>
              </a:defRPr>
            </a:pPr>
            <a:r>
              <a:t>STORAGE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21792"/>
            <a:ext cx="113842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2600" b="1" i="0">
                <a:solidFill>
                  <a:srgbClr val="121C2F"/>
                </a:solidFill>
                <a:latin typeface="Aptos"/>
              </a:defRPr>
            </a:pPr>
            <a:r>
              <a:t>Disk resize has two layers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1133856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1230" b="0" i="0">
                <a:solidFill>
                  <a:srgbClr val="536278"/>
                </a:solidFill>
                <a:latin typeface="Aptos"/>
              </a:defRPr>
            </a:pPr>
            <a:r>
              <a:t>Changing the cloud volume size does not automatically guarantee the guest filesystem uses the extra capacity.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8912" y="6473952"/>
            <a:ext cx="11311128" cy="0"/>
          </a:xfrm>
          <a:prstGeom prst="line">
            <a:avLst/>
          </a:prstGeom>
          <a:ln w="7620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10528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750" b="0" i="0">
                <a:solidFill>
                  <a:srgbClr val="6D7B8F"/>
                </a:solidFill>
                <a:latin typeface="Aptos"/>
              </a:defRPr>
            </a:pPr>
            <a:r>
              <a:t>REFERENCE: AWS EBS modify volume / grow filesystem; Azure disk expansion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501384"/>
            <a:ext cx="4754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300"/>
              </a:spcAft>
              <a:defRPr sz="900" b="1" i="0">
                <a:solidFill>
                  <a:srgbClr val="6D7B8F"/>
                </a:solidFill>
                <a:latin typeface="Aptos"/>
              </a:defRPr>
            </a:pPr>
            <a:r>
              <a:t>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828800"/>
            <a:ext cx="2090318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0352" y="1828800"/>
            <a:ext cx="2090318" cy="82296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011680"/>
            <a:ext cx="187086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1400" b="1" i="0">
                <a:solidFill>
                  <a:srgbClr val="121C2F"/>
                </a:solidFill>
                <a:latin typeface="Aptos"/>
              </a:defRPr>
            </a:pPr>
            <a:r>
              <a:t>1. Snapshot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468880"/>
            <a:ext cx="1870862" cy="153619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300"/>
              </a:spcAft>
              <a:defRPr sz="1220" b="0" i="0">
                <a:solidFill>
                  <a:srgbClr val="536278"/>
                </a:solidFill>
                <a:latin typeface="Aptos"/>
              </a:defRPr>
            </a:pPr>
            <a:r>
              <a:t>Create a safety</a:t>
            </a:r>
          </a:p>
          <a:p>
            <a:pPr algn="ctr">
              <a:spcAft>
                <a:spcPts val="300"/>
              </a:spcAft>
              <a:defRPr sz="1220" b="0" i="0">
                <a:solidFill>
                  <a:srgbClr val="536278"/>
                </a:solidFill>
                <a:latin typeface="Aptos"/>
              </a:defRPr>
            </a:pPr>
            <a:r>
              <a:t>point if appropriate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29814" y="2788920"/>
            <a:ext cx="1463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2400" b="1" i="0">
                <a:solidFill>
                  <a:srgbClr val="FF9900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85262" y="1828800"/>
            <a:ext cx="2090318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85262" y="1828800"/>
            <a:ext cx="2090318" cy="82296"/>
          </a:xfrm>
          <a:prstGeom prst="rect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94990" y="2011680"/>
            <a:ext cx="187086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1400" b="1" i="0">
                <a:solidFill>
                  <a:srgbClr val="121C2F"/>
                </a:solidFill>
                <a:latin typeface="Aptos"/>
              </a:defRPr>
            </a:pPr>
            <a:r>
              <a:t>2. Provider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94990" y="2468880"/>
            <a:ext cx="1870862" cy="153619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300"/>
              </a:spcAft>
              <a:defRPr sz="1220" b="0" i="0">
                <a:solidFill>
                  <a:srgbClr val="536278"/>
                </a:solidFill>
                <a:latin typeface="Aptos"/>
              </a:defRPr>
            </a:pPr>
            <a:r>
              <a:t>Resize EBS</a:t>
            </a:r>
          </a:p>
          <a:p>
            <a:pPr algn="ctr">
              <a:spcAft>
                <a:spcPts val="300"/>
              </a:spcAft>
              <a:defRPr sz="1220" b="0" i="0">
                <a:solidFill>
                  <a:srgbClr val="536278"/>
                </a:solidFill>
                <a:latin typeface="Aptos"/>
              </a:defRPr>
            </a:pPr>
            <a:r>
              <a:t>40 → 80 GiB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84724" y="2788920"/>
            <a:ext cx="1463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2400" b="1" i="0">
                <a:solidFill>
                  <a:srgbClr val="FF9900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40172" y="1828800"/>
            <a:ext cx="2090318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40172" y="1828800"/>
            <a:ext cx="2090318" cy="8229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49900" y="2011680"/>
            <a:ext cx="187086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1400" b="1" i="0">
                <a:solidFill>
                  <a:srgbClr val="121C2F"/>
                </a:solidFill>
                <a:latin typeface="Aptos"/>
              </a:defRPr>
            </a:pPr>
            <a:r>
              <a:t>3. Guest disk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9900" y="2468880"/>
            <a:ext cx="1870862" cy="153619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300"/>
              </a:spcAft>
              <a:defRPr sz="1220" b="0" i="0">
                <a:solidFill>
                  <a:srgbClr val="536278"/>
                </a:solidFill>
                <a:latin typeface="Aptos"/>
              </a:defRPr>
            </a:pPr>
            <a:r>
              <a:t>Inspect with lsblk</a:t>
            </a:r>
          </a:p>
          <a:p>
            <a:pPr algn="ctr">
              <a:spcAft>
                <a:spcPts val="300"/>
              </a:spcAft>
              <a:defRPr sz="1220" b="0" i="0">
                <a:solidFill>
                  <a:srgbClr val="536278"/>
                </a:solidFill>
                <a:latin typeface="Aptos"/>
              </a:defRPr>
            </a:pPr>
            <a:r>
              <a:t>and blkid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9635" y="2788920"/>
            <a:ext cx="1463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2400" b="1" i="0">
                <a:solidFill>
                  <a:srgbClr val="FF9900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95083" y="1828800"/>
            <a:ext cx="2090318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95083" y="1828800"/>
            <a:ext cx="2090318" cy="82296"/>
          </a:xfrm>
          <a:prstGeom prst="rect">
            <a:avLst/>
          </a:prstGeom>
          <a:solidFill>
            <a:srgbClr val="6741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4811" y="2011680"/>
            <a:ext cx="187086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1400" b="1" i="0">
                <a:solidFill>
                  <a:srgbClr val="121C2F"/>
                </a:solidFill>
                <a:latin typeface="Aptos"/>
              </a:defRPr>
            </a:pPr>
            <a:r>
              <a:t>4. Partition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4811" y="2468880"/>
            <a:ext cx="1870862" cy="153619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300"/>
              </a:spcAft>
              <a:defRPr sz="1220" b="0" i="0">
                <a:solidFill>
                  <a:srgbClr val="536278"/>
                </a:solidFill>
                <a:latin typeface="Aptos"/>
              </a:defRPr>
            </a:pPr>
            <a:r>
              <a:t>Grow partition only</a:t>
            </a:r>
          </a:p>
          <a:p>
            <a:pPr algn="ctr">
              <a:spcAft>
                <a:spcPts val="300"/>
              </a:spcAft>
              <a:defRPr sz="1220" b="0" i="0">
                <a:solidFill>
                  <a:srgbClr val="536278"/>
                </a:solidFill>
                <a:latin typeface="Aptos"/>
              </a:defRPr>
            </a:pPr>
            <a:r>
              <a:t>if one exists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94545" y="2788920"/>
            <a:ext cx="1463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2400" b="1" i="0">
                <a:solidFill>
                  <a:srgbClr val="FF9900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49993" y="1828800"/>
            <a:ext cx="2090318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549993" y="1828800"/>
            <a:ext cx="2090318" cy="82296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59721" y="2011680"/>
            <a:ext cx="187086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1400" b="1" i="0">
                <a:solidFill>
                  <a:srgbClr val="121C2F"/>
                </a:solidFill>
                <a:latin typeface="Aptos"/>
              </a:defRPr>
            </a:pPr>
            <a:r>
              <a:t>5. Filesystem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59721" y="2468880"/>
            <a:ext cx="1870862" cy="153619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300"/>
              </a:spcAft>
              <a:defRPr sz="1220" b="0" i="0">
                <a:solidFill>
                  <a:srgbClr val="536278"/>
                </a:solidFill>
                <a:latin typeface="Aptos"/>
              </a:defRPr>
            </a:pPr>
            <a:r>
              <a:t>Grow ext4 or XFS</a:t>
            </a:r>
          </a:p>
          <a:p>
            <a:pPr algn="ctr">
              <a:spcAft>
                <a:spcPts val="300"/>
              </a:spcAft>
              <a:defRPr sz="1220" b="0" i="0">
                <a:solidFill>
                  <a:srgbClr val="536278"/>
                </a:solidFill>
                <a:latin typeface="Aptos"/>
              </a:defRPr>
            </a:pPr>
            <a:r>
              <a:t>then verify df -h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60" y="4617720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FCEB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5840" y="4828032"/>
            <a:ext cx="101498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1320" b="1" i="0">
                <a:solidFill>
                  <a:srgbClr val="C43D4B"/>
                </a:solidFill>
                <a:latin typeface="Aptos"/>
              </a:defRPr>
            </a:pPr>
            <a:r>
              <a:t>Never blindly run growpart or mkfs against /dev/xvda1 or a guessed NVMe path. Identify the attached data volume and filesystem first.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329184"/>
            <a:ext cx="64008" cy="26517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20040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919" b="1" i="0">
                <a:solidFill>
                  <a:srgbClr val="FF9900"/>
                </a:solidFill>
                <a:latin typeface="Aptos"/>
              </a:defRPr>
            </a:pPr>
            <a:r>
              <a:t>STORAGE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21792"/>
            <a:ext cx="113842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2400" b="1" i="0">
                <a:solidFill>
                  <a:srgbClr val="121C2F"/>
                </a:solidFill>
                <a:latin typeface="Aptos"/>
              </a:defRPr>
            </a:pPr>
            <a:r>
              <a:t>Safe Linux disk operations: identify before changing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1133856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1230" b="0" i="0">
                <a:solidFill>
                  <a:srgbClr val="536278"/>
                </a:solidFill>
                <a:latin typeface="Aptos"/>
              </a:defRPr>
            </a:pPr>
            <a:r>
              <a:t>The device name in AWS may differ from the name shown inside Linux.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8912" y="6473952"/>
            <a:ext cx="11311128" cy="0"/>
          </a:xfrm>
          <a:prstGeom prst="line">
            <a:avLst/>
          </a:prstGeom>
          <a:ln w="7620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10528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750" b="0" i="0">
                <a:solidFill>
                  <a:srgbClr val="6D7B8F"/>
                </a:solidFill>
                <a:latin typeface="Aptos"/>
              </a:defRPr>
            </a:pPr>
            <a:r>
              <a:t>REFERENCE: AWS EBS filesystem expansion docs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501384"/>
            <a:ext cx="4754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300"/>
              </a:spcAft>
              <a:defRPr sz="900" b="1" i="0">
                <a:solidFill>
                  <a:srgbClr val="6D7B8F"/>
                </a:solidFill>
                <a:latin typeface="Aptos"/>
              </a:defRPr>
            </a:pPr>
            <a:r>
              <a:t>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545336"/>
            <a:ext cx="4800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1000" b="1" i="0">
                <a:solidFill>
                  <a:srgbClr val="FF9900"/>
                </a:solidFill>
                <a:latin typeface="Aptos"/>
              </a:defRPr>
            </a:pPr>
            <a:r>
              <a:t>READ-ONLY DISCOVERY COMMANDS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783080"/>
            <a:ext cx="4800600" cy="2148840"/>
          </a:xfrm>
          <a:prstGeom prst="roundRect">
            <a:avLst>
              <a:gd name="adj" fmla="val 8000"/>
            </a:avLst>
          </a:prstGeom>
          <a:solidFill>
            <a:srgbClr val="0D1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1892807"/>
            <a:ext cx="4507992" cy="1947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1500" b="0" i="0">
                <a:solidFill>
                  <a:srgbClr val="EAF0F8"/>
                </a:solidFill>
                <a:latin typeface="Cascadia Code"/>
              </a:defRPr>
            </a:pPr>
            <a:r>
              <a:t>lsblk -f</a:t>
            </a:r>
          </a:p>
          <a:p>
            <a:pPr algn="l">
              <a:spcAft>
                <a:spcPts val="300"/>
              </a:spcAft>
              <a:defRPr sz="1500" b="0" i="0">
                <a:solidFill>
                  <a:srgbClr val="EAF0F8"/>
                </a:solidFill>
                <a:latin typeface="Cascadia Code"/>
              </a:defRPr>
            </a:pPr>
            <a:r>
              <a:t>sudo blkid</a:t>
            </a:r>
          </a:p>
          <a:p>
            <a:pPr algn="l">
              <a:spcAft>
                <a:spcPts val="300"/>
              </a:spcAft>
              <a:defRPr sz="1500" b="0" i="0">
                <a:solidFill>
                  <a:srgbClr val="EAF0F8"/>
                </a:solidFill>
                <a:latin typeface="Cascadia Code"/>
              </a:defRPr>
            </a:pPr>
            <a:r>
              <a:t>df -hT</a:t>
            </a:r>
          </a:p>
          <a:p>
            <a:pPr algn="l">
              <a:spcAft>
                <a:spcPts val="300"/>
              </a:spcAft>
              <a:defRPr sz="1500" b="0" i="0">
                <a:solidFill>
                  <a:srgbClr val="EAF0F8"/>
                </a:solidFill>
                <a:latin typeface="Cascadia Code"/>
              </a:defRPr>
            </a:pPr>
            <a:r>
              <a:t>findmnt /data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97880" y="1755648"/>
            <a:ext cx="539496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97880" y="1755648"/>
            <a:ext cx="68580" cy="2148840"/>
          </a:xfrm>
          <a:prstGeom prst="rect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08192" y="1911095"/>
            <a:ext cx="5020056" cy="32918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600" b="1" i="0">
                <a:solidFill>
                  <a:srgbClr val="121C2F"/>
                </a:solidFill>
                <a:latin typeface="Aptos"/>
              </a:defRPr>
            </a:pPr>
            <a:r>
              <a:t>What to confirm first</a:t>
            </a:r>
          </a:p>
        </p:txBody>
      </p:sp>
      <p:sp>
        <p:nvSpPr>
          <p:cNvPr id="15" name="Oval 14"/>
          <p:cNvSpPr/>
          <p:nvPr/>
        </p:nvSpPr>
        <p:spPr>
          <a:xfrm>
            <a:off x="6135624" y="2496312"/>
            <a:ext cx="91440" cy="91440"/>
          </a:xfrm>
          <a:prstGeom prst="ellipse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792" y="2377440"/>
            <a:ext cx="4773168" cy="33604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300" b="0" i="0">
                <a:solidFill>
                  <a:srgbClr val="243247"/>
                </a:solidFill>
                <a:latin typeface="Aptos"/>
              </a:defRPr>
            </a:pPr>
            <a:r>
              <a:t>Volume size and attachment mapping</a:t>
            </a:r>
          </a:p>
        </p:txBody>
      </p:sp>
      <p:sp>
        <p:nvSpPr>
          <p:cNvPr id="17" name="Oval 16"/>
          <p:cNvSpPr/>
          <p:nvPr/>
        </p:nvSpPr>
        <p:spPr>
          <a:xfrm>
            <a:off x="6135624" y="2850642"/>
            <a:ext cx="91440" cy="91440"/>
          </a:xfrm>
          <a:prstGeom prst="ellipse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36792" y="2731770"/>
            <a:ext cx="4773168" cy="33604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300" b="0" i="0">
                <a:solidFill>
                  <a:srgbClr val="243247"/>
                </a:solidFill>
                <a:latin typeface="Aptos"/>
              </a:defRPr>
            </a:pPr>
            <a:r>
              <a:t>Whether a partition exists</a:t>
            </a:r>
          </a:p>
        </p:txBody>
      </p:sp>
      <p:sp>
        <p:nvSpPr>
          <p:cNvPr id="19" name="Oval 18"/>
          <p:cNvSpPr/>
          <p:nvPr/>
        </p:nvSpPr>
        <p:spPr>
          <a:xfrm>
            <a:off x="6135624" y="3204972"/>
            <a:ext cx="91440" cy="91440"/>
          </a:xfrm>
          <a:prstGeom prst="ellipse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086100"/>
            <a:ext cx="4773168" cy="33604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300" b="0" i="0">
                <a:solidFill>
                  <a:srgbClr val="243247"/>
                </a:solidFill>
                <a:latin typeface="Aptos"/>
              </a:defRPr>
            </a:pPr>
            <a:r>
              <a:t>Filesystem type: ext4 or XFS</a:t>
            </a:r>
          </a:p>
        </p:txBody>
      </p:sp>
      <p:sp>
        <p:nvSpPr>
          <p:cNvPr id="21" name="Oval 20"/>
          <p:cNvSpPr/>
          <p:nvPr/>
        </p:nvSpPr>
        <p:spPr>
          <a:xfrm>
            <a:off x="6135624" y="3559302"/>
            <a:ext cx="91440" cy="91440"/>
          </a:xfrm>
          <a:prstGeom prst="ellipse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36792" y="3440430"/>
            <a:ext cx="4773168" cy="33604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300" b="0" i="0">
                <a:solidFill>
                  <a:srgbClr val="243247"/>
                </a:solidFill>
                <a:latin typeface="Aptos"/>
              </a:defRPr>
            </a:pPr>
            <a:r>
              <a:t>Current mount point and data contents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4389120"/>
            <a:ext cx="49834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" y="4389120"/>
            <a:ext cx="68580" cy="1143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4480559"/>
            <a:ext cx="4608576" cy="23774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340" b="1" i="0">
                <a:solidFill>
                  <a:srgbClr val="121C2F"/>
                </a:solidFill>
                <a:latin typeface="Aptos"/>
              </a:defRPr>
            </a:pPr>
            <a:r>
              <a:t>If partitioned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4754880"/>
            <a:ext cx="4572000" cy="71323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130" b="0" i="0">
                <a:solidFill>
                  <a:srgbClr val="243247"/>
                </a:solidFill>
                <a:latin typeface="Aptos"/>
              </a:defRPr>
            </a:pPr>
            <a:r>
              <a:t>Grow the confirmed partition, then grow that partition’s filesystem.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4389120"/>
            <a:ext cx="49834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63640" y="4389120"/>
            <a:ext cx="68580" cy="11430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73952" y="4480559"/>
            <a:ext cx="4608576" cy="23774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340" b="1" i="0">
                <a:solidFill>
                  <a:srgbClr val="121C2F"/>
                </a:solidFill>
                <a:latin typeface="Aptos"/>
              </a:defRPr>
            </a:pPr>
            <a:r>
              <a:t>If filesystem is directly on disk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4754880"/>
            <a:ext cx="4572000" cy="71323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130" b="0" i="0">
                <a:solidFill>
                  <a:srgbClr val="243247"/>
                </a:solidFill>
                <a:latin typeface="Aptos"/>
              </a:defRPr>
            </a:pPr>
            <a:r>
              <a:t>Do not invent a partition step; use the procedure that matches the actual layout.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329184"/>
            <a:ext cx="64008" cy="26517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20040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919" b="1" i="0">
                <a:solidFill>
                  <a:srgbClr val="FF9900"/>
                </a:solidFill>
                <a:latin typeface="Aptos"/>
              </a:defRPr>
            </a:pPr>
            <a:r>
              <a:t>STORAGE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21792"/>
            <a:ext cx="113842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2400" b="1" i="0">
                <a:solidFill>
                  <a:srgbClr val="121C2F"/>
                </a:solidFill>
                <a:latin typeface="Aptos"/>
              </a:defRPr>
            </a:pPr>
            <a:r>
              <a:t>EBS snapshots: a recovery point, not a full restore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1133856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1230" b="0" i="0">
                <a:solidFill>
                  <a:srgbClr val="536278"/>
                </a:solidFill>
                <a:latin typeface="Aptos"/>
              </a:defRPr>
            </a:pPr>
            <a:r>
              <a:t>Snapshots are point-in-time, incremental backups of EBS volume blocks.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8912" y="6473952"/>
            <a:ext cx="11311128" cy="0"/>
          </a:xfrm>
          <a:prstGeom prst="line">
            <a:avLst/>
          </a:prstGeom>
          <a:ln w="7620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10528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750" b="0" i="0">
                <a:solidFill>
                  <a:srgbClr val="6D7B8F"/>
                </a:solidFill>
                <a:latin typeface="Aptos"/>
              </a:defRPr>
            </a:pPr>
            <a:r>
              <a:t>REFERENCE: AWS EBS snapshots docs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501384"/>
            <a:ext cx="4754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300"/>
              </a:spcAft>
              <a:defRPr sz="900" b="1" i="0">
                <a:solidFill>
                  <a:srgbClr val="6D7B8F"/>
                </a:solidFill>
                <a:latin typeface="Aptos"/>
              </a:defRPr>
            </a:pPr>
            <a:r>
              <a:t>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342900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783080"/>
            <a:ext cx="68580" cy="30175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1938528"/>
            <a:ext cx="3054096" cy="32918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600" b="1" i="0">
                <a:solidFill>
                  <a:srgbClr val="121C2F"/>
                </a:solidFill>
                <a:latin typeface="Aptos"/>
              </a:defRPr>
            </a:pPr>
            <a:r>
              <a:t>Create</a:t>
            </a:r>
          </a:p>
        </p:txBody>
      </p:sp>
      <p:sp>
        <p:nvSpPr>
          <p:cNvPr id="12" name="Oval 11"/>
          <p:cNvSpPr/>
          <p:nvPr/>
        </p:nvSpPr>
        <p:spPr>
          <a:xfrm>
            <a:off x="877824" y="2523744"/>
            <a:ext cx="91440" cy="9144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2404872"/>
            <a:ext cx="2807208" cy="74371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350" b="0" i="0">
                <a:solidFill>
                  <a:srgbClr val="243247"/>
                </a:solidFill>
                <a:latin typeface="Aptos"/>
              </a:defRPr>
            </a:pPr>
            <a:r>
              <a:t>Snapshot the correct volume</a:t>
            </a:r>
          </a:p>
        </p:txBody>
      </p:sp>
      <p:sp>
        <p:nvSpPr>
          <p:cNvPr id="14" name="Oval 13"/>
          <p:cNvSpPr/>
          <p:nvPr/>
        </p:nvSpPr>
        <p:spPr>
          <a:xfrm>
            <a:off x="877824" y="3285744"/>
            <a:ext cx="91440" cy="9144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3166872"/>
            <a:ext cx="2807208" cy="74371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350" b="0" i="0">
                <a:solidFill>
                  <a:srgbClr val="243247"/>
                </a:solidFill>
                <a:latin typeface="Aptos"/>
              </a:defRPr>
            </a:pPr>
            <a:r>
              <a:t>Wait for snapshot completion</a:t>
            </a:r>
          </a:p>
        </p:txBody>
      </p:sp>
      <p:sp>
        <p:nvSpPr>
          <p:cNvPr id="16" name="Oval 15"/>
          <p:cNvSpPr/>
          <p:nvPr/>
        </p:nvSpPr>
        <p:spPr>
          <a:xfrm>
            <a:off x="877824" y="4047744"/>
            <a:ext cx="91440" cy="9144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3928872"/>
            <a:ext cx="2807208" cy="74371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350" b="0" i="0">
                <a:solidFill>
                  <a:srgbClr val="243247"/>
                </a:solidFill>
                <a:latin typeface="Aptos"/>
              </a:defRPr>
            </a:pPr>
            <a:r>
              <a:t>Record snapshot ID and source volume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1783080"/>
            <a:ext cx="342900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89120" y="1783080"/>
            <a:ext cx="68580" cy="3017520"/>
          </a:xfrm>
          <a:prstGeom prst="rect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99432" y="1938528"/>
            <a:ext cx="3054095" cy="32918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600" b="1" i="0">
                <a:solidFill>
                  <a:srgbClr val="121C2F"/>
                </a:solidFill>
                <a:latin typeface="Aptos"/>
              </a:defRPr>
            </a:pPr>
            <a:r>
              <a:t>Restore</a:t>
            </a:r>
          </a:p>
        </p:txBody>
      </p:sp>
      <p:sp>
        <p:nvSpPr>
          <p:cNvPr id="21" name="Oval 20"/>
          <p:cNvSpPr/>
          <p:nvPr/>
        </p:nvSpPr>
        <p:spPr>
          <a:xfrm>
            <a:off x="4626864" y="2523744"/>
            <a:ext cx="91440" cy="91440"/>
          </a:xfrm>
          <a:prstGeom prst="ellipse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28031" y="2404872"/>
            <a:ext cx="2807208" cy="74371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350" b="0" i="0">
                <a:solidFill>
                  <a:srgbClr val="243247"/>
                </a:solidFill>
                <a:latin typeface="Aptos"/>
              </a:defRPr>
            </a:pPr>
            <a:r>
              <a:t>Create a new volume from snapshot</a:t>
            </a:r>
          </a:p>
        </p:txBody>
      </p:sp>
      <p:sp>
        <p:nvSpPr>
          <p:cNvPr id="23" name="Oval 22"/>
          <p:cNvSpPr/>
          <p:nvPr/>
        </p:nvSpPr>
        <p:spPr>
          <a:xfrm>
            <a:off x="4626864" y="3285744"/>
            <a:ext cx="91440" cy="91440"/>
          </a:xfrm>
          <a:prstGeom prst="ellipse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28031" y="3166872"/>
            <a:ext cx="2807208" cy="74371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350" b="0" i="0">
                <a:solidFill>
                  <a:srgbClr val="243247"/>
                </a:solidFill>
                <a:latin typeface="Aptos"/>
              </a:defRPr>
            </a:pPr>
            <a:r>
              <a:t>Choose compatible AZ</a:t>
            </a:r>
          </a:p>
        </p:txBody>
      </p:sp>
      <p:sp>
        <p:nvSpPr>
          <p:cNvPr id="25" name="Oval 24"/>
          <p:cNvSpPr/>
          <p:nvPr/>
        </p:nvSpPr>
        <p:spPr>
          <a:xfrm>
            <a:off x="4626864" y="4047744"/>
            <a:ext cx="91440" cy="91440"/>
          </a:xfrm>
          <a:prstGeom prst="ellipse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28031" y="3928872"/>
            <a:ext cx="2807208" cy="74371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350" b="0" i="0">
                <a:solidFill>
                  <a:srgbClr val="243247"/>
                </a:solidFill>
                <a:latin typeface="Aptos"/>
              </a:defRPr>
            </a:pPr>
            <a:r>
              <a:t>Attach to a test instance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60" y="1783080"/>
            <a:ext cx="342900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38160" y="1783080"/>
            <a:ext cx="68580" cy="3017520"/>
          </a:xfrm>
          <a:prstGeom prst="rect">
            <a:avLst/>
          </a:prstGeom>
          <a:solidFill>
            <a:srgbClr val="6741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48472" y="1938528"/>
            <a:ext cx="3054095" cy="32918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600" b="1" i="0">
                <a:solidFill>
                  <a:srgbClr val="121C2F"/>
                </a:solidFill>
                <a:latin typeface="Aptos"/>
              </a:defRPr>
            </a:pPr>
            <a:r>
              <a:t>Validate</a:t>
            </a:r>
          </a:p>
        </p:txBody>
      </p:sp>
      <p:sp>
        <p:nvSpPr>
          <p:cNvPr id="30" name="Oval 29"/>
          <p:cNvSpPr/>
          <p:nvPr/>
        </p:nvSpPr>
        <p:spPr>
          <a:xfrm>
            <a:off x="8375904" y="2523744"/>
            <a:ext cx="91440" cy="91440"/>
          </a:xfrm>
          <a:prstGeom prst="ellipse">
            <a:avLst/>
          </a:prstGeom>
          <a:solidFill>
            <a:srgbClr val="6741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77072" y="2404872"/>
            <a:ext cx="2807208" cy="74371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350" b="0" i="0">
                <a:solidFill>
                  <a:srgbClr val="243247"/>
                </a:solidFill>
                <a:latin typeface="Aptos"/>
              </a:defRPr>
            </a:pPr>
            <a:r>
              <a:t>Mount read-only where practical</a:t>
            </a:r>
          </a:p>
        </p:txBody>
      </p:sp>
      <p:sp>
        <p:nvSpPr>
          <p:cNvPr id="32" name="Oval 31"/>
          <p:cNvSpPr/>
          <p:nvPr/>
        </p:nvSpPr>
        <p:spPr>
          <a:xfrm>
            <a:off x="8375904" y="3285744"/>
            <a:ext cx="91440" cy="91440"/>
          </a:xfrm>
          <a:prstGeom prst="ellipse">
            <a:avLst/>
          </a:prstGeom>
          <a:solidFill>
            <a:srgbClr val="6741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77072" y="3166872"/>
            <a:ext cx="2807208" cy="74371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350" b="0" i="0">
                <a:solidFill>
                  <a:srgbClr val="243247"/>
                </a:solidFill>
                <a:latin typeface="Aptos"/>
              </a:defRPr>
            </a:pPr>
            <a:r>
              <a:t>Compare known sample files / hashes</a:t>
            </a:r>
          </a:p>
        </p:txBody>
      </p:sp>
      <p:sp>
        <p:nvSpPr>
          <p:cNvPr id="34" name="Oval 33"/>
          <p:cNvSpPr/>
          <p:nvPr/>
        </p:nvSpPr>
        <p:spPr>
          <a:xfrm>
            <a:off x="8375904" y="4047744"/>
            <a:ext cx="91440" cy="91440"/>
          </a:xfrm>
          <a:prstGeom prst="ellipse">
            <a:avLst/>
          </a:prstGeom>
          <a:solidFill>
            <a:srgbClr val="6741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77072" y="3928872"/>
            <a:ext cx="2807208" cy="74371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350" b="0" i="0">
                <a:solidFill>
                  <a:srgbClr val="243247"/>
                </a:solidFill>
                <a:latin typeface="Aptos"/>
              </a:defRPr>
            </a:pPr>
            <a:r>
              <a:t>Record outcome and cleanup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521208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1500" b="1" i="0">
                <a:solidFill>
                  <a:srgbClr val="121C2F"/>
                </a:solidFill>
                <a:latin typeface="Aptos"/>
              </a:defRPr>
            </a:pPr>
            <a:r>
              <a:t>A successful snapshot status does not prove the application can recover. Test restore and data integrity separately.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329184"/>
            <a:ext cx="64008" cy="26517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20040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919" b="1" i="0">
                <a:solidFill>
                  <a:srgbClr val="FF9900"/>
                </a:solidFill>
                <a:latin typeface="Aptos"/>
              </a:defRPr>
            </a:pPr>
            <a:r>
              <a:t>STORAGE &amp; DATA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21792"/>
            <a:ext cx="113842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2600" b="1" i="0">
                <a:solidFill>
                  <a:srgbClr val="121C2F"/>
                </a:solidFill>
                <a:latin typeface="Aptos"/>
              </a:defRPr>
            </a:pPr>
            <a:r>
              <a:t>Amazon S3: object storage, not a mounted disk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1133856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1230" b="0" i="0">
                <a:solidFill>
                  <a:srgbClr val="536278"/>
                </a:solidFill>
                <a:latin typeface="Aptos"/>
              </a:defRPr>
            </a:pPr>
            <a:r>
              <a:t>S3 stores objects in buckets; use EBS for block-device/filesystem scenarios.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8912" y="6473952"/>
            <a:ext cx="11311128" cy="0"/>
          </a:xfrm>
          <a:prstGeom prst="line">
            <a:avLst/>
          </a:prstGeom>
          <a:ln w="7620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10528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750" b="0" i="0">
                <a:solidFill>
                  <a:srgbClr val="6D7B8F"/>
                </a:solidFill>
                <a:latin typeface="Aptos"/>
              </a:defRPr>
            </a:pPr>
            <a:r>
              <a:t>REFERENCE: AWS S3 docs; Azure Blob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501384"/>
            <a:ext cx="4754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300"/>
              </a:spcAft>
              <a:defRPr sz="900" b="1" i="0">
                <a:solidFill>
                  <a:srgbClr val="6D7B8F"/>
                </a:solidFill>
                <a:latin typeface="Aptos"/>
              </a:defRPr>
            </a:pPr>
            <a:r>
              <a:t>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5120640" cy="3154680"/>
          </a:xfrm>
          <a:prstGeom prst="roundRect">
            <a:avLst>
              <a:gd name="adj" fmla="val 8000"/>
            </a:avLst>
          </a:prstGeom>
          <a:solidFill>
            <a:srgbClr val="EAF4FF"/>
          </a:solidFill>
          <a:ln w="10160">
            <a:solidFill>
              <a:srgbClr val="C7E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96596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2200" b="1" i="0">
                <a:solidFill>
                  <a:srgbClr val="0078D4"/>
                </a:solidFill>
                <a:latin typeface="Aptos"/>
              </a:defRPr>
            </a:pPr>
            <a:r>
              <a:t>Amazon S3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2606040"/>
            <a:ext cx="4297680" cy="5120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C7E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2715768"/>
            <a:ext cx="12344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1250" b="1" i="0">
                <a:solidFill>
                  <a:srgbClr val="121C2F"/>
                </a:solidFill>
                <a:latin typeface="Aptos"/>
              </a:defRPr>
            </a:pPr>
            <a:r>
              <a:t>Bucket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271576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1100" b="0" i="0">
                <a:solidFill>
                  <a:srgbClr val="536278"/>
                </a:solidFill>
                <a:latin typeface="Aptos"/>
              </a:defRPr>
            </a:pPr>
            <a:r>
              <a:t>Container and policy boundary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264408"/>
            <a:ext cx="4297680" cy="5120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C7E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0" y="3374136"/>
            <a:ext cx="12344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1250" b="1" i="0">
                <a:solidFill>
                  <a:srgbClr val="121C2F"/>
                </a:solidFill>
                <a:latin typeface="Aptos"/>
              </a:defRPr>
            </a:pPr>
            <a:r>
              <a:t>Object key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4600" y="3374136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1100" b="0" i="0">
                <a:solidFill>
                  <a:srgbClr val="536278"/>
                </a:solidFill>
                <a:latin typeface="Aptos"/>
              </a:defRPr>
            </a:pPr>
            <a:r>
              <a:t>Name/path-like identifier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43000" y="3922776"/>
            <a:ext cx="4297680" cy="5120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C7E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4032504"/>
            <a:ext cx="12344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1250" b="1" i="0">
                <a:solidFill>
                  <a:srgbClr val="121C2F"/>
                </a:solidFill>
                <a:latin typeface="Aptos"/>
              </a:defRPr>
            </a:pPr>
            <a:r>
              <a:t>Version 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14600" y="403250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1100" b="0" i="0">
                <a:solidFill>
                  <a:srgbClr val="536278"/>
                </a:solidFill>
                <a:latin typeface="Aptos"/>
              </a:defRPr>
            </a:pPr>
            <a:r>
              <a:t>Older copy of an object when versioning is enabled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1737360"/>
            <a:ext cx="5074920" cy="3154680"/>
          </a:xfrm>
          <a:prstGeom prst="roundRect">
            <a:avLst>
              <a:gd name="adj" fmla="val 8000"/>
            </a:avLst>
          </a:prstGeom>
          <a:solidFill>
            <a:srgbClr val="E4F7F3"/>
          </a:solidFill>
          <a:ln w="10160">
            <a:solidFill>
              <a:srgbClr val="B7E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1965960"/>
            <a:ext cx="4617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2200" b="1" i="0">
                <a:solidFill>
                  <a:srgbClr val="0F9D8A"/>
                </a:solidFill>
                <a:latin typeface="Aptos"/>
              </a:defRPr>
            </a:pPr>
            <a:r>
              <a:t>Azure Blob Storage</a:t>
            </a:r>
          </a:p>
        </p:txBody>
      </p:sp>
      <p:sp>
        <p:nvSpPr>
          <p:cNvPr id="22" name="Oval 21"/>
          <p:cNvSpPr/>
          <p:nvPr/>
        </p:nvSpPr>
        <p:spPr>
          <a:xfrm>
            <a:off x="6812280" y="2724912"/>
            <a:ext cx="91440" cy="91440"/>
          </a:xfrm>
          <a:prstGeom prst="ellipse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13448" y="2606040"/>
            <a:ext cx="4050792" cy="46177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300" b="0" i="0">
                <a:solidFill>
                  <a:srgbClr val="243247"/>
                </a:solidFill>
                <a:latin typeface="Aptos"/>
              </a:defRPr>
            </a:pPr>
            <a:r>
              <a:t>Storage account and containers</a:t>
            </a:r>
          </a:p>
        </p:txBody>
      </p:sp>
      <p:sp>
        <p:nvSpPr>
          <p:cNvPr id="24" name="Oval 23"/>
          <p:cNvSpPr/>
          <p:nvPr/>
        </p:nvSpPr>
        <p:spPr>
          <a:xfrm>
            <a:off x="6812280" y="3204972"/>
            <a:ext cx="91440" cy="91440"/>
          </a:xfrm>
          <a:prstGeom prst="ellipse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13448" y="3086100"/>
            <a:ext cx="4050792" cy="46177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300" b="0" i="0">
                <a:solidFill>
                  <a:srgbClr val="243247"/>
                </a:solidFill>
                <a:latin typeface="Aptos"/>
              </a:defRPr>
            </a:pPr>
            <a:r>
              <a:t>Blob names / prefixes organize objects</a:t>
            </a:r>
          </a:p>
        </p:txBody>
      </p:sp>
      <p:sp>
        <p:nvSpPr>
          <p:cNvPr id="26" name="Oval 25"/>
          <p:cNvSpPr/>
          <p:nvPr/>
        </p:nvSpPr>
        <p:spPr>
          <a:xfrm>
            <a:off x="6812280" y="3685032"/>
            <a:ext cx="91440" cy="91440"/>
          </a:xfrm>
          <a:prstGeom prst="ellipse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13448" y="3566160"/>
            <a:ext cx="4050792" cy="46177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300" b="0" i="0">
                <a:solidFill>
                  <a:srgbClr val="243247"/>
                </a:solidFill>
                <a:latin typeface="Aptos"/>
              </a:defRPr>
            </a:pPr>
            <a:r>
              <a:t>Blob versioning and lifecycle policies support recovery and cost controls</a:t>
            </a:r>
          </a:p>
        </p:txBody>
      </p:sp>
      <p:sp>
        <p:nvSpPr>
          <p:cNvPr id="28" name="Oval 27"/>
          <p:cNvSpPr/>
          <p:nvPr/>
        </p:nvSpPr>
        <p:spPr>
          <a:xfrm>
            <a:off x="6812280" y="4165092"/>
            <a:ext cx="91440" cy="91440"/>
          </a:xfrm>
          <a:prstGeom prst="ellipse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13448" y="4046220"/>
            <a:ext cx="4050792" cy="46177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300" b="0" i="0">
                <a:solidFill>
                  <a:srgbClr val="243247"/>
                </a:solidFill>
                <a:latin typeface="Aptos"/>
              </a:defRPr>
            </a:pPr>
            <a:r>
              <a:t>Both are object stores; APIs and security models differ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5257800"/>
            <a:ext cx="10287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1300" b="1" i="0">
                <a:solidFill>
                  <a:srgbClr val="121C2F"/>
                </a:solidFill>
                <a:latin typeface="Aptos"/>
              </a:defRPr>
            </a:pPr>
            <a:r>
              <a:t>S3 path-style URLs can look folder-like, but prefixes do not make S3 a POSIX filesystem.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329184"/>
            <a:ext cx="64008" cy="26517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20040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919" b="1" i="0">
                <a:solidFill>
                  <a:srgbClr val="FF9900"/>
                </a:solidFill>
                <a:latin typeface="Aptos"/>
              </a:defRPr>
            </a:pPr>
            <a:r>
              <a:t>STORAGE &amp; DATA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21792"/>
            <a:ext cx="113842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2150" b="1" i="0">
                <a:solidFill>
                  <a:srgbClr val="121C2F"/>
                </a:solidFill>
                <a:latin typeface="Aptos"/>
              </a:defRPr>
            </a:pPr>
            <a:r>
              <a:t>S3 Block Public Access: prevent unintended anonymous exposure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1133856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1230" b="0" i="0">
                <a:solidFill>
                  <a:srgbClr val="536278"/>
                </a:solidFill>
                <a:latin typeface="Aptos"/>
              </a:defRPr>
            </a:pPr>
            <a:r>
              <a:t>The lab’s goal is a control plus proof—not merely changing a checkbox.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8912" y="6473952"/>
            <a:ext cx="11311128" cy="0"/>
          </a:xfrm>
          <a:prstGeom prst="line">
            <a:avLst/>
          </a:prstGeom>
          <a:ln w="7620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10528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750" b="0" i="0">
                <a:solidFill>
                  <a:srgbClr val="6D7B8F"/>
                </a:solidFill>
                <a:latin typeface="Aptos"/>
              </a:defRPr>
            </a:pPr>
            <a:r>
              <a:t>REFERENCE: AWS S3 Block Public Access; Azure Blob anonymous access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501384"/>
            <a:ext cx="4754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300"/>
              </a:spcAft>
              <a:defRPr sz="900" b="1" i="0">
                <a:solidFill>
                  <a:srgbClr val="6D7B8F"/>
                </a:solidFill>
                <a:latin typeface="Aptos"/>
              </a:defRPr>
            </a:pPr>
            <a:r>
              <a:t>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828800"/>
            <a:ext cx="2090318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0352" y="1828800"/>
            <a:ext cx="2090318" cy="82296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011680"/>
            <a:ext cx="187086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1400" b="1" i="0">
                <a:solidFill>
                  <a:srgbClr val="121C2F"/>
                </a:solidFill>
                <a:latin typeface="Aptos"/>
              </a:defRPr>
            </a:pPr>
            <a:r>
              <a:t>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468880"/>
            <a:ext cx="1870862" cy="153619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300"/>
              </a:spcAft>
              <a:defRPr sz="1200" b="0" i="0">
                <a:solidFill>
                  <a:srgbClr val="536278"/>
                </a:solidFill>
                <a:latin typeface="Aptos"/>
              </a:defRPr>
            </a:pPr>
            <a:r>
              <a:t>Inspect bucket-level</a:t>
            </a:r>
          </a:p>
          <a:p>
            <a:pPr algn="ctr">
              <a:spcAft>
                <a:spcPts val="300"/>
              </a:spcAft>
              <a:defRPr sz="1200" b="0" i="0">
                <a:solidFill>
                  <a:srgbClr val="536278"/>
                </a:solidFill>
                <a:latin typeface="Aptos"/>
              </a:defRPr>
            </a:pPr>
            <a:r>
              <a:t>and account controls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29814" y="2788920"/>
            <a:ext cx="1463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2400" b="1" i="0">
                <a:solidFill>
                  <a:srgbClr val="FF9900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85262" y="1828800"/>
            <a:ext cx="2090318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85262" y="1828800"/>
            <a:ext cx="2090318" cy="82296"/>
          </a:xfrm>
          <a:prstGeom prst="rect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94990" y="2011680"/>
            <a:ext cx="187086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1400" b="1" i="0">
                <a:solidFill>
                  <a:srgbClr val="121C2F"/>
                </a:solidFill>
                <a:latin typeface="Aptos"/>
              </a:defRPr>
            </a:pPr>
            <a:r>
              <a:t>Enforce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94990" y="2468880"/>
            <a:ext cx="1870862" cy="153619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300"/>
              </a:spcAft>
              <a:defRPr sz="1200" b="0" i="0">
                <a:solidFill>
                  <a:srgbClr val="536278"/>
                </a:solidFill>
                <a:latin typeface="Aptos"/>
              </a:defRPr>
            </a:pPr>
            <a:r>
              <a:t>Enable all four Block</a:t>
            </a:r>
          </a:p>
          <a:p>
            <a:pPr algn="ctr">
              <a:spcAft>
                <a:spcPts val="300"/>
              </a:spcAft>
              <a:defRPr sz="1200" b="0" i="0">
                <a:solidFill>
                  <a:srgbClr val="536278"/>
                </a:solidFill>
                <a:latin typeface="Aptos"/>
              </a:defRPr>
            </a:pPr>
            <a:r>
              <a:t>Public Access settings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84724" y="2788920"/>
            <a:ext cx="1463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2400" b="1" i="0">
                <a:solidFill>
                  <a:srgbClr val="FF9900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40172" y="1828800"/>
            <a:ext cx="2090318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40172" y="1828800"/>
            <a:ext cx="2090318" cy="8229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49900" y="2011680"/>
            <a:ext cx="187086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1400" b="1" i="0">
                <a:solidFill>
                  <a:srgbClr val="121C2F"/>
                </a:solidFill>
                <a:latin typeface="Aptos"/>
              </a:defRPr>
            </a:pPr>
            <a:r>
              <a:t>Verify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9900" y="2468880"/>
            <a:ext cx="1870862" cy="153619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300"/>
              </a:spcAft>
              <a:defRPr sz="1200" b="0" i="0">
                <a:solidFill>
                  <a:srgbClr val="536278"/>
                </a:solidFill>
                <a:latin typeface="Aptos"/>
              </a:defRPr>
            </a:pPr>
            <a:r>
              <a:t>Read settings with CLI</a:t>
            </a:r>
          </a:p>
          <a:p>
            <a:pPr algn="ctr">
              <a:spcAft>
                <a:spcPts val="300"/>
              </a:spcAft>
              <a:defRPr sz="1200" b="0" i="0">
                <a:solidFill>
                  <a:srgbClr val="536278"/>
                </a:solidFill>
                <a:latin typeface="Aptos"/>
              </a:defRPr>
            </a:pPr>
            <a:r>
              <a:t>and inspect Console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9635" y="2788920"/>
            <a:ext cx="1463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2400" b="1" i="0">
                <a:solidFill>
                  <a:srgbClr val="FF9900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95083" y="1828800"/>
            <a:ext cx="2090318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95083" y="1828800"/>
            <a:ext cx="2090318" cy="82296"/>
          </a:xfrm>
          <a:prstGeom prst="rect">
            <a:avLst/>
          </a:prstGeom>
          <a:solidFill>
            <a:srgbClr val="6741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4811" y="2011680"/>
            <a:ext cx="187086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1400" b="1" i="0">
                <a:solidFill>
                  <a:srgbClr val="121C2F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4811" y="2468880"/>
            <a:ext cx="1870862" cy="153619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300"/>
              </a:spcAft>
              <a:defRPr sz="1200" b="0" i="0">
                <a:solidFill>
                  <a:srgbClr val="536278"/>
                </a:solidFill>
                <a:latin typeface="Aptos"/>
              </a:defRPr>
            </a:pPr>
            <a:r>
              <a:t>Request the actual</a:t>
            </a:r>
          </a:p>
          <a:p>
            <a:pPr algn="ctr">
              <a:spcAft>
                <a:spcPts val="300"/>
              </a:spcAft>
              <a:defRPr sz="1200" b="0" i="0">
                <a:solidFill>
                  <a:srgbClr val="536278"/>
                </a:solidFill>
                <a:latin typeface="Aptos"/>
              </a:defRPr>
            </a:pPr>
            <a:r>
              <a:t>existing object URL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94545" y="2788920"/>
            <a:ext cx="1463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2400" b="1" i="0">
                <a:solidFill>
                  <a:srgbClr val="FF9900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49993" y="1828800"/>
            <a:ext cx="2090318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549993" y="1828800"/>
            <a:ext cx="2090318" cy="82296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59721" y="2011680"/>
            <a:ext cx="187086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1400" b="1" i="0">
                <a:solidFill>
                  <a:srgbClr val="121C2F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59721" y="2468880"/>
            <a:ext cx="1870862" cy="153619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300"/>
              </a:spcAft>
              <a:defRPr sz="1200" b="0" i="0">
                <a:solidFill>
                  <a:srgbClr val="536278"/>
                </a:solidFill>
                <a:latin typeface="Aptos"/>
              </a:defRPr>
            </a:pPr>
            <a:r>
              <a:t>Capture AccessDenied</a:t>
            </a:r>
          </a:p>
          <a:p>
            <a:pPr algn="ctr">
              <a:spcAft>
                <a:spcPts val="300"/>
              </a:spcAft>
              <a:defRPr sz="1200" b="0" i="0">
                <a:solidFill>
                  <a:srgbClr val="536278"/>
                </a:solidFill>
                <a:latin typeface="Aptos"/>
              </a:defRPr>
            </a:pPr>
            <a:r>
              <a:t>/ usually HTTP 403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60" y="4709160"/>
            <a:ext cx="10561320" cy="841248"/>
          </a:xfrm>
          <a:prstGeom prst="roundRect">
            <a:avLst>
              <a:gd name="adj" fmla="val 8000"/>
            </a:avLst>
          </a:prstGeom>
          <a:solidFill>
            <a:srgbClr val="FFF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5840" y="4892040"/>
            <a:ext cx="10195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1230" b="1" i="0">
                <a:solidFill>
                  <a:srgbClr val="121C2F"/>
                </a:solidFill>
                <a:latin typeface="Aptos"/>
              </a:defRPr>
            </a:pPr>
            <a:r>
              <a:t>Modern AWS note: new buckets have Block Public Access controls enabled by default. Do not disable account-wide protections merely to create a “before” state; use a pre-seeded lab or simulated initial finding.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329184"/>
            <a:ext cx="64008" cy="26517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20040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919" b="1" i="0">
                <a:solidFill>
                  <a:srgbClr val="FF9900"/>
                </a:solidFill>
                <a:latin typeface="Aptos"/>
              </a:defRPr>
            </a:pPr>
            <a:r>
              <a:t>STORAGE &amp; DATA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21792"/>
            <a:ext cx="113842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2150" b="1" i="0">
                <a:solidFill>
                  <a:srgbClr val="121C2F"/>
                </a:solidFill>
                <a:latin typeface="Aptos"/>
              </a:defRPr>
            </a:pPr>
            <a:r>
              <a:t>S3 Versioning and Lifecycle: recover first, optimize storage second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1133856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1230" b="0" i="0">
                <a:solidFill>
                  <a:srgbClr val="536278"/>
                </a:solidFill>
                <a:latin typeface="Aptos"/>
              </a:defRPr>
            </a:pPr>
            <a:r>
              <a:t>Versioning helps recover overwritten objects; lifecycle automates transitions or expirations.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8912" y="6473952"/>
            <a:ext cx="11311128" cy="0"/>
          </a:xfrm>
          <a:prstGeom prst="line">
            <a:avLst/>
          </a:prstGeom>
          <a:ln w="7620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10528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750" b="0" i="0">
                <a:solidFill>
                  <a:srgbClr val="6D7B8F"/>
                </a:solidFill>
                <a:latin typeface="Aptos"/>
              </a:defRPr>
            </a:pPr>
            <a:r>
              <a:t>REFERENCE: AWS S3 Versioning and Restore docs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501384"/>
            <a:ext cx="4754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300"/>
              </a:spcAft>
              <a:defRPr sz="900" b="1" i="0">
                <a:solidFill>
                  <a:srgbClr val="6D7B8F"/>
                </a:solidFill>
                <a:latin typeface="Aptos"/>
              </a:defRPr>
            </a:pPr>
            <a:r>
              <a:t>27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55648"/>
            <a:ext cx="525780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755648"/>
            <a:ext cx="68580" cy="32461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1911095"/>
            <a:ext cx="4882896" cy="32918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600" b="1" i="0">
                <a:solidFill>
                  <a:srgbClr val="121C2F"/>
                </a:solidFill>
                <a:latin typeface="Aptos"/>
              </a:defRPr>
            </a:pPr>
            <a:r>
              <a:t>Versioning</a:t>
            </a:r>
          </a:p>
        </p:txBody>
      </p:sp>
      <p:sp>
        <p:nvSpPr>
          <p:cNvPr id="12" name="Oval 11"/>
          <p:cNvSpPr/>
          <p:nvPr/>
        </p:nvSpPr>
        <p:spPr>
          <a:xfrm>
            <a:off x="877824" y="2496312"/>
            <a:ext cx="91440" cy="9144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2377440"/>
            <a:ext cx="4636008" cy="61036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350" b="0" i="0">
                <a:solidFill>
                  <a:srgbClr val="243247"/>
                </a:solidFill>
                <a:latin typeface="Aptos"/>
              </a:defRPr>
            </a:pPr>
            <a:r>
              <a:t>Enable before the overwrite exercise</a:t>
            </a:r>
          </a:p>
        </p:txBody>
      </p:sp>
      <p:sp>
        <p:nvSpPr>
          <p:cNvPr id="14" name="Oval 13"/>
          <p:cNvSpPr/>
          <p:nvPr/>
        </p:nvSpPr>
        <p:spPr>
          <a:xfrm>
            <a:off x="877824" y="3124962"/>
            <a:ext cx="91440" cy="9144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3006090"/>
            <a:ext cx="4636008" cy="61036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350" b="0" i="0">
                <a:solidFill>
                  <a:srgbClr val="243247"/>
                </a:solidFill>
                <a:latin typeface="Aptos"/>
              </a:defRPr>
            </a:pPr>
            <a:r>
              <a:t>Each new write gets a version ID</a:t>
            </a:r>
          </a:p>
        </p:txBody>
      </p:sp>
      <p:sp>
        <p:nvSpPr>
          <p:cNvPr id="16" name="Oval 15"/>
          <p:cNvSpPr/>
          <p:nvPr/>
        </p:nvSpPr>
        <p:spPr>
          <a:xfrm>
            <a:off x="877824" y="3753612"/>
            <a:ext cx="91440" cy="9144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3634740"/>
            <a:ext cx="4636008" cy="61036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350" b="0" i="0">
                <a:solidFill>
                  <a:srgbClr val="243247"/>
                </a:solidFill>
                <a:latin typeface="Aptos"/>
              </a:defRPr>
            </a:pPr>
            <a:r>
              <a:t>Retrieve a prior version to prove recovery</a:t>
            </a:r>
          </a:p>
        </p:txBody>
      </p:sp>
      <p:sp>
        <p:nvSpPr>
          <p:cNvPr id="18" name="Oval 17"/>
          <p:cNvSpPr/>
          <p:nvPr/>
        </p:nvSpPr>
        <p:spPr>
          <a:xfrm>
            <a:off x="877824" y="4382262"/>
            <a:ext cx="91440" cy="9144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4263390"/>
            <a:ext cx="4636008" cy="61036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350" b="0" i="0">
                <a:solidFill>
                  <a:srgbClr val="243247"/>
                </a:solidFill>
                <a:latin typeface="Aptos"/>
              </a:defRPr>
            </a:pPr>
            <a:r>
              <a:t>Every retained version consumes storage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1755648"/>
            <a:ext cx="525780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1755648"/>
            <a:ext cx="68580" cy="3246120"/>
          </a:xfrm>
          <a:prstGeom prst="rect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3952" y="1911095"/>
            <a:ext cx="4882896" cy="32918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600" b="1" i="0">
                <a:solidFill>
                  <a:srgbClr val="121C2F"/>
                </a:solidFill>
                <a:latin typeface="Aptos"/>
              </a:defRPr>
            </a:pPr>
            <a:r>
              <a:t>Lifecycle policy</a:t>
            </a:r>
          </a:p>
        </p:txBody>
      </p:sp>
      <p:sp>
        <p:nvSpPr>
          <p:cNvPr id="23" name="Oval 22"/>
          <p:cNvSpPr/>
          <p:nvPr/>
        </p:nvSpPr>
        <p:spPr>
          <a:xfrm>
            <a:off x="6501383" y="2496312"/>
            <a:ext cx="91440" cy="91440"/>
          </a:xfrm>
          <a:prstGeom prst="ellipse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02551" y="2377440"/>
            <a:ext cx="4636008" cy="61036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350" b="0" i="0">
                <a:solidFill>
                  <a:srgbClr val="243247"/>
                </a:solidFill>
                <a:latin typeface="Aptos"/>
              </a:defRPr>
            </a:pPr>
            <a:r>
              <a:t>Filter by prefix / tags</a:t>
            </a:r>
          </a:p>
        </p:txBody>
      </p:sp>
      <p:sp>
        <p:nvSpPr>
          <p:cNvPr id="25" name="Oval 24"/>
          <p:cNvSpPr/>
          <p:nvPr/>
        </p:nvSpPr>
        <p:spPr>
          <a:xfrm>
            <a:off x="6501383" y="3124962"/>
            <a:ext cx="91440" cy="91440"/>
          </a:xfrm>
          <a:prstGeom prst="ellipse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02551" y="3006090"/>
            <a:ext cx="4636008" cy="61036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350" b="0" i="0">
                <a:solidFill>
                  <a:srgbClr val="243247"/>
                </a:solidFill>
                <a:latin typeface="Aptos"/>
              </a:defRPr>
            </a:pPr>
            <a:r>
              <a:t>Transition eligible objects to a cheaper class</a:t>
            </a:r>
          </a:p>
        </p:txBody>
      </p:sp>
      <p:sp>
        <p:nvSpPr>
          <p:cNvPr id="27" name="Oval 26"/>
          <p:cNvSpPr/>
          <p:nvPr/>
        </p:nvSpPr>
        <p:spPr>
          <a:xfrm>
            <a:off x="6501383" y="3753612"/>
            <a:ext cx="91440" cy="91440"/>
          </a:xfrm>
          <a:prstGeom prst="ellipse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02551" y="3634740"/>
            <a:ext cx="4636008" cy="61036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350" b="0" i="0">
                <a:solidFill>
                  <a:srgbClr val="243247"/>
                </a:solidFill>
                <a:latin typeface="Aptos"/>
              </a:defRPr>
            </a:pPr>
            <a:r>
              <a:t>Set expiration only when approved</a:t>
            </a:r>
          </a:p>
        </p:txBody>
      </p:sp>
      <p:sp>
        <p:nvSpPr>
          <p:cNvPr id="29" name="Oval 28"/>
          <p:cNvSpPr/>
          <p:nvPr/>
        </p:nvSpPr>
        <p:spPr>
          <a:xfrm>
            <a:off x="6501383" y="4382262"/>
            <a:ext cx="91440" cy="91440"/>
          </a:xfrm>
          <a:prstGeom prst="ellipse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02551" y="4263390"/>
            <a:ext cx="4636008" cy="61036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350" b="0" i="0">
                <a:solidFill>
                  <a:srgbClr val="243247"/>
                </a:solidFill>
                <a:latin typeface="Aptos"/>
              </a:defRPr>
            </a:pPr>
            <a:r>
              <a:t>Configured rule does not mean immediate transition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303520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1300" b="1" i="0">
                <a:solidFill>
                  <a:srgbClr val="121C2F"/>
                </a:solidFill>
                <a:latin typeface="Aptos"/>
              </a:defRPr>
            </a:pPr>
            <a:r>
              <a:t>Azure comparison: Blob versioning and lifecycle management are similar concepts, but rules, tiers, minimum storage duration and billing differ.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329184"/>
            <a:ext cx="64008" cy="26517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20040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919" b="1" i="0">
                <a:solidFill>
                  <a:srgbClr val="FF9900"/>
                </a:solidFill>
                <a:latin typeface="Aptos"/>
              </a:defRPr>
            </a:pPr>
            <a:r>
              <a:t>STORAGE &amp; DATA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21792"/>
            <a:ext cx="113842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2400" b="1" i="0">
                <a:solidFill>
                  <a:srgbClr val="121C2F"/>
                </a:solidFill>
                <a:latin typeface="Aptos"/>
              </a:defRPr>
            </a:pPr>
            <a:r>
              <a:t>S3 encryption: default encryption vs customer-managed keys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1133856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1230" b="0" i="0">
                <a:solidFill>
                  <a:srgbClr val="536278"/>
                </a:solidFill>
                <a:latin typeface="Aptos"/>
              </a:defRPr>
            </a:pPr>
            <a:r>
              <a:t>Do not teach “S3 is unencrypted by default” as a current general rule.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8912" y="6473952"/>
            <a:ext cx="11311128" cy="0"/>
          </a:xfrm>
          <a:prstGeom prst="line">
            <a:avLst/>
          </a:prstGeom>
          <a:ln w="7620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10528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750" b="0" i="0">
                <a:solidFill>
                  <a:srgbClr val="6D7B8F"/>
                </a:solidFill>
                <a:latin typeface="Aptos"/>
              </a:defRPr>
            </a:pPr>
            <a:r>
              <a:t>REFERENCE: AWS SSE-S3 and SSE-KMS docs; Azure Key Vault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501384"/>
            <a:ext cx="4754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300"/>
              </a:spcAft>
              <a:defRPr sz="900" b="1" i="0">
                <a:solidFill>
                  <a:srgbClr val="6D7B8F"/>
                </a:solidFill>
                <a:latin typeface="Aptos"/>
              </a:defRPr>
            </a:pPr>
            <a:r>
              <a:t>28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3429000" cy="3337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691640"/>
            <a:ext cx="68580" cy="3337560"/>
          </a:xfrm>
          <a:prstGeom prst="rect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1847088"/>
            <a:ext cx="3054096" cy="32918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600" b="1" i="0">
                <a:solidFill>
                  <a:srgbClr val="121C2F"/>
                </a:solidFill>
                <a:latin typeface="Aptos"/>
              </a:defRPr>
            </a:pPr>
            <a:r>
              <a:t>SSE-S3</a:t>
            </a:r>
          </a:p>
        </p:txBody>
      </p:sp>
      <p:sp>
        <p:nvSpPr>
          <p:cNvPr id="12" name="Oval 11"/>
          <p:cNvSpPr/>
          <p:nvPr/>
        </p:nvSpPr>
        <p:spPr>
          <a:xfrm>
            <a:off x="877824" y="2432304"/>
            <a:ext cx="91440" cy="91440"/>
          </a:xfrm>
          <a:prstGeom prst="ellipse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2313432"/>
            <a:ext cx="2807208" cy="850391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310" b="0" i="0">
                <a:solidFill>
                  <a:srgbClr val="243247"/>
                </a:solidFill>
                <a:latin typeface="Aptos"/>
              </a:defRPr>
            </a:pPr>
            <a:r>
              <a:t>S3-managed keys</a:t>
            </a:r>
          </a:p>
        </p:txBody>
      </p:sp>
      <p:sp>
        <p:nvSpPr>
          <p:cNvPr id="14" name="Oval 13"/>
          <p:cNvSpPr/>
          <p:nvPr/>
        </p:nvSpPr>
        <p:spPr>
          <a:xfrm>
            <a:off x="877824" y="3300984"/>
            <a:ext cx="91440" cy="91440"/>
          </a:xfrm>
          <a:prstGeom prst="ellipse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3182112"/>
            <a:ext cx="2807208" cy="850391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310" b="0" i="0">
                <a:solidFill>
                  <a:srgbClr val="243247"/>
                </a:solidFill>
                <a:latin typeface="Aptos"/>
              </a:defRPr>
            </a:pPr>
            <a:r>
              <a:t>New object uploads are encrypted at rest by default</a:t>
            </a:r>
          </a:p>
        </p:txBody>
      </p:sp>
      <p:sp>
        <p:nvSpPr>
          <p:cNvPr id="16" name="Oval 15"/>
          <p:cNvSpPr/>
          <p:nvPr/>
        </p:nvSpPr>
        <p:spPr>
          <a:xfrm>
            <a:off x="877824" y="4169663"/>
            <a:ext cx="91440" cy="91440"/>
          </a:xfrm>
          <a:prstGeom prst="ellipse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4050791"/>
            <a:ext cx="2807208" cy="850391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310" b="0" i="0">
                <a:solidFill>
                  <a:srgbClr val="243247"/>
                </a:solidFill>
                <a:latin typeface="Aptos"/>
              </a:defRPr>
            </a:pPr>
            <a:r>
              <a:t>Low operational overhead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1691640"/>
            <a:ext cx="3429000" cy="3337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89120" y="1691640"/>
            <a:ext cx="68580" cy="3337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99432" y="1847088"/>
            <a:ext cx="3054095" cy="32918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600" b="1" i="0">
                <a:solidFill>
                  <a:srgbClr val="121C2F"/>
                </a:solidFill>
                <a:latin typeface="Aptos"/>
              </a:defRPr>
            </a:pPr>
            <a:r>
              <a:t>SSE-KMS</a:t>
            </a:r>
          </a:p>
        </p:txBody>
      </p:sp>
      <p:sp>
        <p:nvSpPr>
          <p:cNvPr id="21" name="Oval 20"/>
          <p:cNvSpPr/>
          <p:nvPr/>
        </p:nvSpPr>
        <p:spPr>
          <a:xfrm>
            <a:off x="4626864" y="2432304"/>
            <a:ext cx="91440" cy="9144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28031" y="2313432"/>
            <a:ext cx="2807208" cy="850391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280" b="0" i="0">
                <a:solidFill>
                  <a:srgbClr val="243247"/>
                </a:solidFill>
                <a:latin typeface="Aptos"/>
              </a:defRPr>
            </a:pPr>
            <a:r>
              <a:t>Uses AWS KMS key</a:t>
            </a:r>
          </a:p>
        </p:txBody>
      </p:sp>
      <p:sp>
        <p:nvSpPr>
          <p:cNvPr id="23" name="Oval 22"/>
          <p:cNvSpPr/>
          <p:nvPr/>
        </p:nvSpPr>
        <p:spPr>
          <a:xfrm>
            <a:off x="4626864" y="3300984"/>
            <a:ext cx="91440" cy="9144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28031" y="3182112"/>
            <a:ext cx="2807208" cy="850391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280" b="0" i="0">
                <a:solidFill>
                  <a:srgbClr val="243247"/>
                </a:solidFill>
                <a:latin typeface="Aptos"/>
              </a:defRPr>
            </a:pPr>
            <a:r>
              <a:t>Fine-grained key permissions and auditability</a:t>
            </a:r>
          </a:p>
        </p:txBody>
      </p:sp>
      <p:sp>
        <p:nvSpPr>
          <p:cNvPr id="25" name="Oval 24"/>
          <p:cNvSpPr/>
          <p:nvPr/>
        </p:nvSpPr>
        <p:spPr>
          <a:xfrm>
            <a:off x="4626864" y="4169663"/>
            <a:ext cx="91440" cy="9144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28031" y="4050791"/>
            <a:ext cx="2807208" cy="850391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280" b="0" i="0">
                <a:solidFill>
                  <a:srgbClr val="243247"/>
                </a:solidFill>
                <a:latin typeface="Aptos"/>
              </a:defRPr>
            </a:pPr>
            <a:r>
              <a:t>Can use AWS-managed or customer-managed KMS key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60" y="1691640"/>
            <a:ext cx="3429000" cy="3337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38160" y="1691640"/>
            <a:ext cx="68580" cy="333756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48472" y="1847088"/>
            <a:ext cx="3054095" cy="32918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600" b="1" i="0">
                <a:solidFill>
                  <a:srgbClr val="121C2F"/>
                </a:solidFill>
                <a:latin typeface="Aptos"/>
              </a:defRPr>
            </a:pPr>
            <a:r>
              <a:t>CMK governance goal</a:t>
            </a:r>
          </a:p>
        </p:txBody>
      </p:sp>
      <p:sp>
        <p:nvSpPr>
          <p:cNvPr id="30" name="Oval 29"/>
          <p:cNvSpPr/>
          <p:nvPr/>
        </p:nvSpPr>
        <p:spPr>
          <a:xfrm>
            <a:off x="8375904" y="2432304"/>
            <a:ext cx="91440" cy="9144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77072" y="2313432"/>
            <a:ext cx="2807208" cy="850391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240" b="0" i="0">
                <a:solidFill>
                  <a:srgbClr val="243247"/>
                </a:solidFill>
                <a:latin typeface="Aptos"/>
              </a:defRPr>
            </a:pPr>
            <a:r>
              <a:t>Use when policy requires customer key control, audit or key lifecycle management</a:t>
            </a:r>
          </a:p>
        </p:txBody>
      </p:sp>
      <p:sp>
        <p:nvSpPr>
          <p:cNvPr id="32" name="Oval 31"/>
          <p:cNvSpPr/>
          <p:nvPr/>
        </p:nvSpPr>
        <p:spPr>
          <a:xfrm>
            <a:off x="8375904" y="3300984"/>
            <a:ext cx="91440" cy="9144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77072" y="3182112"/>
            <a:ext cx="2807208" cy="850391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240" b="0" i="0">
                <a:solidFill>
                  <a:srgbClr val="243247"/>
                </a:solidFill>
                <a:latin typeface="Aptos"/>
              </a:defRPr>
            </a:pPr>
            <a:r>
              <a:t>Key policy / IAM permissions must permit use</a:t>
            </a:r>
          </a:p>
        </p:txBody>
      </p:sp>
      <p:sp>
        <p:nvSpPr>
          <p:cNvPr id="34" name="Oval 33"/>
          <p:cNvSpPr/>
          <p:nvPr/>
        </p:nvSpPr>
        <p:spPr>
          <a:xfrm>
            <a:off x="8375904" y="4169663"/>
            <a:ext cx="91440" cy="9144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77072" y="4050791"/>
            <a:ext cx="2807208" cy="850391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240" b="0" i="0">
                <a:solidFill>
                  <a:srgbClr val="243247"/>
                </a:solidFill>
                <a:latin typeface="Aptos"/>
              </a:defRPr>
            </a:pPr>
            <a:r>
              <a:t>KMS requests and key management can add cost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" y="5349240"/>
            <a:ext cx="10287000" cy="566928"/>
          </a:xfrm>
          <a:prstGeom prst="roundRect">
            <a:avLst>
              <a:gd name="adj" fmla="val 8000"/>
            </a:avLst>
          </a:prstGeom>
          <a:solidFill>
            <a:srgbClr val="E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51560" y="5486400"/>
            <a:ext cx="10012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1270" b="1" i="0">
                <a:solidFill>
                  <a:srgbClr val="121C2F"/>
                </a:solidFill>
                <a:latin typeface="Aptos"/>
              </a:defRPr>
            </a:pPr>
            <a:r>
              <a:t>Azure comparison: Key Vault manages keys/secrets/certificates. AWS uses KMS for encryption keys and Secrets Manager for application secrets.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329184"/>
            <a:ext cx="64008" cy="26517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20040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919" b="1" i="0">
                <a:solidFill>
                  <a:srgbClr val="FF9900"/>
                </a:solidFill>
                <a:latin typeface="Aptos"/>
              </a:defRPr>
            </a:pPr>
            <a:r>
              <a:t>STORAGE &amp; DATA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21792"/>
            <a:ext cx="113842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2150" b="1" i="0">
                <a:solidFill>
                  <a:srgbClr val="121C2F"/>
                </a:solidFill>
                <a:latin typeface="Aptos"/>
              </a:defRPr>
            </a:pPr>
            <a:r>
              <a:t>Secret rotation: change both the stored secret and the real credential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1133856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1230" b="0" i="0">
                <a:solidFill>
                  <a:srgbClr val="536278"/>
                </a:solidFill>
                <a:latin typeface="Aptos"/>
              </a:defRPr>
            </a:pPr>
            <a:r>
              <a:t>Updating a secret value alone is not a complete database credential rotation.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8912" y="6473952"/>
            <a:ext cx="11311128" cy="0"/>
          </a:xfrm>
          <a:prstGeom prst="line">
            <a:avLst/>
          </a:prstGeom>
          <a:ln w="7620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10528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750" b="0" i="0">
                <a:solidFill>
                  <a:srgbClr val="6D7B8F"/>
                </a:solidFill>
                <a:latin typeface="Aptos"/>
              </a:defRPr>
            </a:pPr>
            <a:r>
              <a:t>REFERENCE: AWS Secrets Manager rotation docs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501384"/>
            <a:ext cx="4754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300"/>
              </a:spcAft>
              <a:defRPr sz="900" b="1" i="0">
                <a:solidFill>
                  <a:srgbClr val="6D7B8F"/>
                </a:solidFill>
                <a:latin typeface="Aptos"/>
              </a:defRPr>
            </a:pPr>
            <a:r>
              <a:t>29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" y="1828800"/>
            <a:ext cx="2099462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12064" y="1828800"/>
            <a:ext cx="2099462" cy="82296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2011680"/>
            <a:ext cx="188000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1400" b="1" i="0">
                <a:solidFill>
                  <a:srgbClr val="121C2F"/>
                </a:solidFill>
                <a:latin typeface="Aptos"/>
              </a:defRPr>
            </a:pPr>
            <a:r>
              <a:t>Detect exposure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468880"/>
            <a:ext cx="1880006" cy="153619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300"/>
              </a:spcAft>
              <a:defRPr sz="1210" b="0" i="0">
                <a:solidFill>
                  <a:srgbClr val="536278"/>
                </a:solidFill>
                <a:latin typeface="Aptos"/>
              </a:defRPr>
            </a:pPr>
            <a:r>
              <a:t>Treat the original</a:t>
            </a:r>
          </a:p>
          <a:p>
            <a:pPr algn="ctr">
              <a:spcAft>
                <a:spcPts val="300"/>
              </a:spcAft>
              <a:defRPr sz="1210" b="0" i="0">
                <a:solidFill>
                  <a:srgbClr val="536278"/>
                </a:solidFill>
                <a:latin typeface="Aptos"/>
              </a:defRPr>
            </a:pPr>
            <a:r>
              <a:t>credential as burned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20670" y="2788920"/>
            <a:ext cx="1463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2400" b="1" i="0">
                <a:solidFill>
                  <a:srgbClr val="FF9900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76118" y="1828800"/>
            <a:ext cx="2099462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76118" y="1828800"/>
            <a:ext cx="2099462" cy="82296"/>
          </a:xfrm>
          <a:prstGeom prst="rect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85846" y="2011680"/>
            <a:ext cx="188000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1400" b="1" i="0">
                <a:solidFill>
                  <a:srgbClr val="121C2F"/>
                </a:solidFill>
                <a:latin typeface="Aptos"/>
              </a:defRPr>
            </a:pPr>
            <a:r>
              <a:t>Change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5846" y="2468880"/>
            <a:ext cx="1880006" cy="153619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300"/>
              </a:spcAft>
              <a:defRPr sz="1210" b="0" i="0">
                <a:solidFill>
                  <a:srgbClr val="536278"/>
                </a:solidFill>
                <a:latin typeface="Aptos"/>
              </a:defRPr>
            </a:pPr>
            <a:r>
              <a:t>Update database or</a:t>
            </a:r>
          </a:p>
          <a:p>
            <a:pPr algn="ctr">
              <a:spcAft>
                <a:spcPts val="300"/>
              </a:spcAft>
              <a:defRPr sz="1210" b="0" i="0">
                <a:solidFill>
                  <a:srgbClr val="536278"/>
                </a:solidFill>
                <a:latin typeface="Aptos"/>
              </a:defRPr>
            </a:pPr>
            <a:r>
              <a:t>service credential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84724" y="2788920"/>
            <a:ext cx="1463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2400" b="1" i="0">
                <a:solidFill>
                  <a:srgbClr val="FF9900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40172" y="1828800"/>
            <a:ext cx="2099462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40172" y="1828800"/>
            <a:ext cx="2099462" cy="8229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49900" y="2011680"/>
            <a:ext cx="188000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1400" b="1" i="0">
                <a:solidFill>
                  <a:srgbClr val="121C2F"/>
                </a:solidFill>
                <a:latin typeface="Aptos"/>
              </a:defRPr>
            </a:pPr>
            <a:r>
              <a:t>Update secret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9900" y="2468880"/>
            <a:ext cx="1880006" cy="153619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300"/>
              </a:spcAft>
              <a:defRPr sz="1210" b="0" i="0">
                <a:solidFill>
                  <a:srgbClr val="536278"/>
                </a:solidFill>
                <a:latin typeface="Aptos"/>
              </a:defRPr>
            </a:pPr>
            <a:r>
              <a:t>Store new credential</a:t>
            </a:r>
          </a:p>
          <a:p>
            <a:pPr algn="ctr">
              <a:spcAft>
                <a:spcPts val="300"/>
              </a:spcAft>
              <a:defRPr sz="1210" b="0" i="0">
                <a:solidFill>
                  <a:srgbClr val="536278"/>
                </a:solidFill>
                <a:latin typeface="Aptos"/>
              </a:defRPr>
            </a:pPr>
            <a:r>
              <a:t>in Secrets Manager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48779" y="2788920"/>
            <a:ext cx="1463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2400" b="1" i="0">
                <a:solidFill>
                  <a:srgbClr val="FF9900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04227" y="1828800"/>
            <a:ext cx="2099462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04227" y="1828800"/>
            <a:ext cx="2099462" cy="82296"/>
          </a:xfrm>
          <a:prstGeom prst="rect">
            <a:avLst/>
          </a:prstGeom>
          <a:solidFill>
            <a:srgbClr val="6741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13955" y="2011680"/>
            <a:ext cx="188000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1400" b="1" i="0">
                <a:solidFill>
                  <a:srgbClr val="121C2F"/>
                </a:solidFill>
                <a:latin typeface="Aptos"/>
              </a:defRPr>
            </a:pPr>
            <a:r>
              <a:t>Update consumer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13955" y="2468880"/>
            <a:ext cx="1880006" cy="153619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300"/>
              </a:spcAft>
              <a:defRPr sz="1210" b="0" i="0">
                <a:solidFill>
                  <a:srgbClr val="536278"/>
                </a:solidFill>
                <a:latin typeface="Aptos"/>
              </a:defRPr>
            </a:pPr>
            <a:r>
              <a:t>Refresh/reload app</a:t>
            </a:r>
          </a:p>
          <a:p>
            <a:pPr algn="ctr">
              <a:spcAft>
                <a:spcPts val="300"/>
              </a:spcAft>
              <a:defRPr sz="1210" b="0" i="0">
                <a:solidFill>
                  <a:srgbClr val="536278"/>
                </a:solidFill>
                <a:latin typeface="Aptos"/>
              </a:defRPr>
            </a:pPr>
            <a:r>
              <a:t>credential if needed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2833" y="2788920"/>
            <a:ext cx="1463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2400" b="1" i="0">
                <a:solidFill>
                  <a:srgbClr val="FF9900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68281" y="1828800"/>
            <a:ext cx="2099462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568281" y="1828800"/>
            <a:ext cx="2099462" cy="82296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78009" y="2011680"/>
            <a:ext cx="188000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1400" b="1" i="0">
                <a:solidFill>
                  <a:srgbClr val="121C2F"/>
                </a:solidFill>
                <a:latin typeface="Aptos"/>
              </a:defRPr>
            </a:pPr>
            <a:r>
              <a:t>Test + audit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78009" y="2468880"/>
            <a:ext cx="1880006" cy="153619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300"/>
              </a:spcAft>
              <a:defRPr sz="1210" b="0" i="0">
                <a:solidFill>
                  <a:srgbClr val="536278"/>
                </a:solidFill>
                <a:latin typeface="Aptos"/>
              </a:defRPr>
            </a:pPr>
            <a:r>
              <a:t>Prove new login works;</a:t>
            </a:r>
          </a:p>
          <a:p>
            <a:pPr algn="ctr">
              <a:spcAft>
                <a:spcPts val="300"/>
              </a:spcAft>
              <a:defRPr sz="1210" b="0" i="0">
                <a:solidFill>
                  <a:srgbClr val="536278"/>
                </a:solidFill>
                <a:latin typeface="Aptos"/>
              </a:defRPr>
            </a:pPr>
            <a:r>
              <a:t>old credential fails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68680" y="4663440"/>
            <a:ext cx="10469880" cy="822960"/>
          </a:xfrm>
          <a:prstGeom prst="roundRect">
            <a:avLst>
              <a:gd name="adj" fmla="val 8000"/>
            </a:avLst>
          </a:prstGeom>
          <a:solidFill>
            <a:srgbClr val="FCEB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51560" y="4864608"/>
            <a:ext cx="10104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1250" b="1" i="0">
                <a:solidFill>
                  <a:srgbClr val="C43D4B"/>
                </a:solidFill>
                <a:latin typeface="Aptos"/>
              </a:defRPr>
            </a:pPr>
            <a:r>
              <a:t>Lab distinction: if you only run put-secret-value with a new dummy string, label it a “secret value update” simulation—not end-to-end DB password rotation.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329184"/>
            <a:ext cx="64008" cy="26517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20040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919" b="1" i="0">
                <a:solidFill>
                  <a:srgbClr val="FF9900"/>
                </a:solidFill>
                <a:latin typeface="Aptos"/>
              </a:defRPr>
            </a:pPr>
            <a:r>
              <a:t>AZURE → AWS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21792"/>
            <a:ext cx="113842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2600" b="1" i="0">
                <a:solidFill>
                  <a:srgbClr val="121C2F"/>
                </a:solidFill>
                <a:latin typeface="Aptos"/>
              </a:defRPr>
            </a:pPr>
            <a:r>
              <a:t>Azure Key Vault vs AWS Secrets Manager and KMS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1133856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1230" b="0" i="0">
                <a:solidFill>
                  <a:srgbClr val="536278"/>
                </a:solidFill>
                <a:latin typeface="Aptos"/>
              </a:defRPr>
            </a:pPr>
            <a:r>
              <a:t>The services overlap by purpose, but the boundaries differ.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8912" y="6473952"/>
            <a:ext cx="11311128" cy="0"/>
          </a:xfrm>
          <a:prstGeom prst="line">
            <a:avLst/>
          </a:prstGeom>
          <a:ln w="7620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10528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750" b="0" i="0">
                <a:solidFill>
                  <a:srgbClr val="6D7B8F"/>
                </a:solidFill>
                <a:latin typeface="Aptos"/>
              </a:defRPr>
            </a:pPr>
            <a:r>
              <a:t>REFERENCE: AWS Secrets Manager/KMS; Azure Key Vault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501384"/>
            <a:ext cx="4754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300"/>
              </a:spcAft>
              <a:defRPr sz="900" b="1" i="0">
                <a:solidFill>
                  <a:srgbClr val="6D7B8F"/>
                </a:solidFill>
                <a:latin typeface="Aptos"/>
              </a:defRPr>
            </a:pPr>
            <a:r>
              <a:t>30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645920"/>
            <a:ext cx="2743200" cy="624839"/>
          </a:xfrm>
          <a:prstGeom prst="rect">
            <a:avLst/>
          </a:prstGeom>
          <a:solidFill>
            <a:srgbClr val="1A2A43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1673352"/>
            <a:ext cx="2596896" cy="569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1160" b="1" i="0">
                <a:solidFill>
                  <a:srgbClr val="FFFFFF"/>
                </a:solidFill>
                <a:latin typeface="Aptos"/>
              </a:defRPr>
            </a:pPr>
            <a:r>
              <a:t>Need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1645920"/>
            <a:ext cx="3977639" cy="624839"/>
          </a:xfrm>
          <a:prstGeom prst="rect">
            <a:avLst/>
          </a:prstGeom>
          <a:solidFill>
            <a:srgbClr val="1A2A43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10712" y="1673352"/>
            <a:ext cx="3831335" cy="569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1160" b="1" i="0">
                <a:solidFill>
                  <a:srgbClr val="FFFFFF"/>
                </a:solidFill>
                <a:latin typeface="Aptos"/>
              </a:defRPr>
            </a:pPr>
            <a:r>
              <a:t>Azure pattern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0" y="1645920"/>
            <a:ext cx="4251960" cy="624839"/>
          </a:xfrm>
          <a:prstGeom prst="rect">
            <a:avLst/>
          </a:prstGeom>
          <a:solidFill>
            <a:srgbClr val="1A2A43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88352" y="1673352"/>
            <a:ext cx="4105656" cy="569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1160" b="1" i="0">
                <a:solidFill>
                  <a:srgbClr val="FFFFFF"/>
                </a:solidFill>
                <a:latin typeface="Aptos"/>
              </a:defRPr>
            </a:pPr>
            <a:r>
              <a:t>AWS pattern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2270760"/>
            <a:ext cx="2743200" cy="624839"/>
          </a:xfrm>
          <a:prstGeom prst="rect">
            <a:avLst/>
          </a:prstGeom>
          <a:solidFill>
            <a:srgbClr val="FFFFFF"/>
          </a:solidFill>
          <a:ln w="5715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298192"/>
            <a:ext cx="2615184" cy="569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1160" b="0" i="0">
                <a:solidFill>
                  <a:srgbClr val="243247"/>
                </a:solidFill>
                <a:latin typeface="Aptos"/>
              </a:defRPr>
            </a:pPr>
            <a:r>
              <a:t>Store DB password / API secret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37560" y="2270760"/>
            <a:ext cx="3977639" cy="624839"/>
          </a:xfrm>
          <a:prstGeom prst="rect">
            <a:avLst/>
          </a:prstGeom>
          <a:solidFill>
            <a:srgbClr val="FFFFFF"/>
          </a:solidFill>
          <a:ln w="5715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01568" y="2298192"/>
            <a:ext cx="3849624" cy="569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1160" b="0" i="0">
                <a:solidFill>
                  <a:srgbClr val="243247"/>
                </a:solidFill>
                <a:latin typeface="Aptos"/>
              </a:defRPr>
            </a:pPr>
            <a:r>
              <a:t>Key Vault secret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0" y="2270760"/>
            <a:ext cx="4251960" cy="624839"/>
          </a:xfrm>
          <a:prstGeom prst="rect">
            <a:avLst/>
          </a:prstGeom>
          <a:solidFill>
            <a:srgbClr val="FFFFFF"/>
          </a:solidFill>
          <a:ln w="5715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79208" y="2298192"/>
            <a:ext cx="4123944" cy="569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1160" b="0" i="0">
                <a:solidFill>
                  <a:srgbClr val="243247"/>
                </a:solidFill>
                <a:latin typeface="Aptos"/>
              </a:defRPr>
            </a:pPr>
            <a:r>
              <a:t>Secrets Manager secret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2895600"/>
            <a:ext cx="2743200" cy="624839"/>
          </a:xfrm>
          <a:prstGeom prst="rect">
            <a:avLst/>
          </a:prstGeom>
          <a:solidFill>
            <a:srgbClr val="F0F4F8"/>
          </a:solidFill>
          <a:ln w="5715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2923031"/>
            <a:ext cx="2615184" cy="569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1160" b="0" i="0">
                <a:solidFill>
                  <a:srgbClr val="243247"/>
                </a:solidFill>
                <a:latin typeface="Aptos"/>
              </a:defRPr>
            </a:pPr>
            <a:r>
              <a:t>Create / govern encryption key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37560" y="2895600"/>
            <a:ext cx="3977639" cy="624839"/>
          </a:xfrm>
          <a:prstGeom prst="rect">
            <a:avLst/>
          </a:prstGeom>
          <a:solidFill>
            <a:srgbClr val="F0F4F8"/>
          </a:solidFill>
          <a:ln w="5715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01568" y="2923031"/>
            <a:ext cx="3849624" cy="569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1160" b="0" i="0">
                <a:solidFill>
                  <a:srgbClr val="243247"/>
                </a:solidFill>
                <a:latin typeface="Aptos"/>
              </a:defRPr>
            </a:pPr>
            <a:r>
              <a:t>Key Vault key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0" y="2895600"/>
            <a:ext cx="4251960" cy="624839"/>
          </a:xfrm>
          <a:prstGeom prst="rect">
            <a:avLst/>
          </a:prstGeom>
          <a:solidFill>
            <a:srgbClr val="F0F4F8"/>
          </a:solidFill>
          <a:ln w="5715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79208" y="2923031"/>
            <a:ext cx="4123944" cy="569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1160" b="0" i="0">
                <a:solidFill>
                  <a:srgbClr val="243247"/>
                </a:solidFill>
                <a:latin typeface="Aptos"/>
              </a:defRPr>
            </a:pPr>
            <a:r>
              <a:t>AWS KMS key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3520439"/>
            <a:ext cx="2743200" cy="624839"/>
          </a:xfrm>
          <a:prstGeom prst="rect">
            <a:avLst/>
          </a:prstGeom>
          <a:solidFill>
            <a:srgbClr val="FFFFFF"/>
          </a:solidFill>
          <a:ln w="5715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3547871"/>
            <a:ext cx="2615184" cy="569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1160" b="0" i="0">
                <a:solidFill>
                  <a:srgbClr val="243247"/>
                </a:solidFill>
                <a:latin typeface="Aptos"/>
              </a:defRPr>
            </a:pPr>
            <a:r>
              <a:t>Store certificates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37560" y="3520439"/>
            <a:ext cx="3977639" cy="624839"/>
          </a:xfrm>
          <a:prstGeom prst="rect">
            <a:avLst/>
          </a:prstGeom>
          <a:solidFill>
            <a:srgbClr val="FFFFFF"/>
          </a:solidFill>
          <a:ln w="5715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01568" y="3547871"/>
            <a:ext cx="3849624" cy="569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1160" b="0" i="0">
                <a:solidFill>
                  <a:srgbClr val="243247"/>
                </a:solidFill>
                <a:latin typeface="Aptos"/>
              </a:defRPr>
            </a:pPr>
            <a:r>
              <a:t>Key Vault certificate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0" y="3520439"/>
            <a:ext cx="4251960" cy="624839"/>
          </a:xfrm>
          <a:prstGeom prst="rect">
            <a:avLst/>
          </a:prstGeom>
          <a:solidFill>
            <a:srgbClr val="FFFFFF"/>
          </a:solidFill>
          <a:ln w="5715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79208" y="3547871"/>
            <a:ext cx="4123944" cy="569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1160" b="0" i="0">
                <a:solidFill>
                  <a:srgbClr val="243247"/>
                </a:solidFill>
                <a:latin typeface="Aptos"/>
              </a:defRPr>
            </a:pPr>
            <a:r>
              <a:t>ACM for many TLS certificates; other services for specific uses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" y="4145280"/>
            <a:ext cx="2743200" cy="624839"/>
          </a:xfrm>
          <a:prstGeom prst="rect">
            <a:avLst/>
          </a:prstGeom>
          <a:solidFill>
            <a:srgbClr val="F0F4F8"/>
          </a:solidFill>
          <a:ln w="5715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" y="4172712"/>
            <a:ext cx="2615184" cy="569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1160" b="0" i="0">
                <a:solidFill>
                  <a:srgbClr val="243247"/>
                </a:solidFill>
                <a:latin typeface="Aptos"/>
              </a:defRPr>
            </a:pPr>
            <a:r>
              <a:t>Automatic DB secret rotation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337560" y="4145280"/>
            <a:ext cx="3977639" cy="624839"/>
          </a:xfrm>
          <a:prstGeom prst="rect">
            <a:avLst/>
          </a:prstGeom>
          <a:solidFill>
            <a:srgbClr val="F0F4F8"/>
          </a:solidFill>
          <a:ln w="5715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401568" y="4172712"/>
            <a:ext cx="3849624" cy="569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1160" b="0" i="0">
                <a:solidFill>
                  <a:srgbClr val="243247"/>
                </a:solidFill>
                <a:latin typeface="Aptos"/>
              </a:defRPr>
            </a:pPr>
            <a:r>
              <a:t>Rotation integrated with Key Vault workflows and target-specific automation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0" y="4145280"/>
            <a:ext cx="4251960" cy="624839"/>
          </a:xfrm>
          <a:prstGeom prst="rect">
            <a:avLst/>
          </a:prstGeom>
          <a:solidFill>
            <a:srgbClr val="F0F4F8"/>
          </a:solidFill>
          <a:ln w="5715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79208" y="4172712"/>
            <a:ext cx="4123944" cy="569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1160" b="0" i="0">
                <a:solidFill>
                  <a:srgbClr val="243247"/>
                </a:solidFill>
                <a:latin typeface="Aptos"/>
              </a:defRPr>
            </a:pPr>
            <a:r>
              <a:t>Secrets Manager rotation workflow, often Lambda for supported targets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4360" y="4770119"/>
            <a:ext cx="2743200" cy="624839"/>
          </a:xfrm>
          <a:prstGeom prst="rect">
            <a:avLst/>
          </a:prstGeom>
          <a:solidFill>
            <a:srgbClr val="FFFFFF"/>
          </a:solidFill>
          <a:ln w="5715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368" y="4797551"/>
            <a:ext cx="2615184" cy="569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1160" b="0" i="0">
                <a:solidFill>
                  <a:srgbClr val="243247"/>
                </a:solidFill>
                <a:latin typeface="Aptos"/>
              </a:defRPr>
            </a:pPr>
            <a:r>
              <a:t>Use key to encrypt S3 objects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337560" y="4770119"/>
            <a:ext cx="3977639" cy="624839"/>
          </a:xfrm>
          <a:prstGeom prst="rect">
            <a:avLst/>
          </a:prstGeom>
          <a:solidFill>
            <a:srgbClr val="FFFFFF"/>
          </a:solidFill>
          <a:ln w="5715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401568" y="4797551"/>
            <a:ext cx="3849624" cy="569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1160" b="0" i="0">
                <a:solidFill>
                  <a:srgbClr val="243247"/>
                </a:solidFill>
                <a:latin typeface="Aptos"/>
              </a:defRPr>
            </a:pPr>
            <a:r>
              <a:t>Storage CMK configured via Key Vault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315200" y="4770119"/>
            <a:ext cx="4251960" cy="624839"/>
          </a:xfrm>
          <a:prstGeom prst="rect">
            <a:avLst/>
          </a:prstGeom>
          <a:solidFill>
            <a:srgbClr val="FFFFFF"/>
          </a:solidFill>
          <a:ln w="5715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79208" y="4797551"/>
            <a:ext cx="4123944" cy="569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1160" b="0" i="0">
                <a:solidFill>
                  <a:srgbClr val="243247"/>
                </a:solidFill>
                <a:latin typeface="Aptos"/>
              </a:defRPr>
            </a:pPr>
            <a:r>
              <a:t>S3 SSE-KMS configured with KMS key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329184"/>
            <a:ext cx="64008" cy="26517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20040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919" b="1" i="0">
                <a:solidFill>
                  <a:srgbClr val="FF9900"/>
                </a:solidFill>
                <a:latin typeface="Aptos"/>
              </a:defRPr>
            </a:pPr>
            <a:r>
              <a:t>OBSERVABILITY &amp; 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21792"/>
            <a:ext cx="113842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2600" b="1" i="0">
                <a:solidFill>
                  <a:srgbClr val="121C2F"/>
                </a:solidFill>
                <a:latin typeface="Aptos"/>
              </a:defRPr>
            </a:pPr>
            <a:r>
              <a:t>CloudWatch: the operations feedback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1133856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1230" b="0" i="0">
                <a:solidFill>
                  <a:srgbClr val="536278"/>
                </a:solidFill>
                <a:latin typeface="Aptos"/>
              </a:defRPr>
            </a:pPr>
            <a:r>
              <a:t>Metrics tell you how a resource behaves; logs help explain why.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8912" y="6473952"/>
            <a:ext cx="11311128" cy="0"/>
          </a:xfrm>
          <a:prstGeom prst="line">
            <a:avLst/>
          </a:prstGeom>
          <a:ln w="7620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10528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750" b="0" i="0">
                <a:solidFill>
                  <a:srgbClr val="6D7B8F"/>
                </a:solidFill>
                <a:latin typeface="Aptos"/>
              </a:defRPr>
            </a:pPr>
            <a:r>
              <a:t>REFERENCE: AWS CloudWatch and EC2 monitoring docs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501384"/>
            <a:ext cx="4754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300"/>
              </a:spcAft>
              <a:defRPr sz="900" b="1" i="0">
                <a:solidFill>
                  <a:srgbClr val="6D7B8F"/>
                </a:solidFill>
                <a:latin typeface="Aptos"/>
              </a:defRPr>
            </a:pPr>
            <a:r>
              <a:t>31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28800"/>
            <a:ext cx="2081174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2081174" cy="82296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011680"/>
            <a:ext cx="186171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1400" b="1" i="0">
                <a:solidFill>
                  <a:srgbClr val="121C2F"/>
                </a:solidFill>
                <a:latin typeface="Aptos"/>
              </a:defRPr>
            </a:pPr>
            <a:r>
              <a:t>Collect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468880"/>
            <a:ext cx="1861718" cy="149047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300"/>
              </a:spcAft>
              <a:defRPr sz="1220" b="0" i="0">
                <a:solidFill>
                  <a:srgbClr val="536278"/>
                </a:solidFill>
                <a:latin typeface="Aptos"/>
              </a:defRPr>
            </a:pPr>
            <a:r>
              <a:t>EC2 metrics, agent</a:t>
            </a:r>
          </a:p>
          <a:p>
            <a:pPr algn="ctr">
              <a:spcAft>
                <a:spcPts val="300"/>
              </a:spcAft>
              <a:defRPr sz="1220" b="0" i="0">
                <a:solidFill>
                  <a:srgbClr val="536278"/>
                </a:solidFill>
                <a:latin typeface="Aptos"/>
              </a:defRPr>
            </a:pPr>
            <a:r>
              <a:t>metrics, logs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38958" y="2766060"/>
            <a:ext cx="1463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2400" b="1" i="0">
                <a:solidFill>
                  <a:srgbClr val="FF9900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94406" y="1828800"/>
            <a:ext cx="2081174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94406" y="1828800"/>
            <a:ext cx="2081174" cy="82296"/>
          </a:xfrm>
          <a:prstGeom prst="rect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04134" y="2011680"/>
            <a:ext cx="186171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1400" b="1" i="0">
                <a:solidFill>
                  <a:srgbClr val="121C2F"/>
                </a:solidFill>
                <a:latin typeface="Aptos"/>
              </a:defRPr>
            </a:pPr>
            <a:r>
              <a:t>Observe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04134" y="2468880"/>
            <a:ext cx="1861718" cy="149047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300"/>
              </a:spcAft>
              <a:defRPr sz="1220" b="0" i="0">
                <a:solidFill>
                  <a:srgbClr val="536278"/>
                </a:solidFill>
                <a:latin typeface="Aptos"/>
              </a:defRPr>
            </a:pPr>
            <a:r>
              <a:t>Metrics, log groups,</a:t>
            </a:r>
          </a:p>
          <a:p>
            <a:pPr algn="ctr">
              <a:spcAft>
                <a:spcPts val="300"/>
              </a:spcAft>
              <a:defRPr sz="1220" b="0" i="0">
                <a:solidFill>
                  <a:srgbClr val="536278"/>
                </a:solidFill>
                <a:latin typeface="Aptos"/>
              </a:defRPr>
            </a:pPr>
            <a:r>
              <a:t>dashboards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84724" y="2766060"/>
            <a:ext cx="1463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2400" b="1" i="0">
                <a:solidFill>
                  <a:srgbClr val="FF9900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40172" y="1828800"/>
            <a:ext cx="2081174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40172" y="1828800"/>
            <a:ext cx="2081174" cy="8229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49900" y="2011680"/>
            <a:ext cx="186171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1400" b="1" i="0">
                <a:solidFill>
                  <a:srgbClr val="121C2F"/>
                </a:solidFill>
                <a:latin typeface="Aptos"/>
              </a:defRPr>
            </a:pPr>
            <a:r>
              <a:t>Evaluate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9900" y="2468880"/>
            <a:ext cx="1861718" cy="149047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300"/>
              </a:spcAft>
              <a:defRPr sz="1220" b="0" i="0">
                <a:solidFill>
                  <a:srgbClr val="536278"/>
                </a:solidFill>
                <a:latin typeface="Aptos"/>
              </a:defRPr>
            </a:pPr>
            <a:r>
              <a:t>Alarm threshold +</a:t>
            </a:r>
          </a:p>
          <a:p>
            <a:pPr algn="ctr">
              <a:spcAft>
                <a:spcPts val="300"/>
              </a:spcAft>
              <a:defRPr sz="1220" b="0" i="0">
                <a:solidFill>
                  <a:srgbClr val="536278"/>
                </a:solidFill>
                <a:latin typeface="Aptos"/>
              </a:defRPr>
            </a:pPr>
            <a:r>
              <a:t>period + datapoints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0491" y="2766060"/>
            <a:ext cx="1463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2400" b="1" i="0">
                <a:solidFill>
                  <a:srgbClr val="FF9900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85939" y="1828800"/>
            <a:ext cx="2081174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85939" y="1828800"/>
            <a:ext cx="2081174" cy="82296"/>
          </a:xfrm>
          <a:prstGeom prst="rect">
            <a:avLst/>
          </a:prstGeom>
          <a:solidFill>
            <a:srgbClr val="6741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95667" y="2011680"/>
            <a:ext cx="186171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1400" b="1" i="0">
                <a:solidFill>
                  <a:srgbClr val="121C2F"/>
                </a:solidFill>
                <a:latin typeface="Aptos"/>
              </a:defRPr>
            </a:pPr>
            <a:r>
              <a:t>Notify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95667" y="2468880"/>
            <a:ext cx="1861718" cy="149047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300"/>
              </a:spcAft>
              <a:defRPr sz="1220" b="0" i="0">
                <a:solidFill>
                  <a:srgbClr val="536278"/>
                </a:solidFill>
                <a:latin typeface="Aptos"/>
              </a:defRPr>
            </a:pPr>
            <a:r>
              <a:t>SNS or other</a:t>
            </a:r>
          </a:p>
          <a:p>
            <a:pPr algn="ctr">
              <a:spcAft>
                <a:spcPts val="300"/>
              </a:spcAft>
              <a:defRPr sz="1220" b="0" i="0">
                <a:solidFill>
                  <a:srgbClr val="536278"/>
                </a:solidFill>
                <a:latin typeface="Aptos"/>
              </a:defRPr>
            </a:pPr>
            <a:r>
              <a:t>action destination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76257" y="2766060"/>
            <a:ext cx="1463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2400" b="1" i="0">
                <a:solidFill>
                  <a:srgbClr val="FF9900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31705" y="1828800"/>
            <a:ext cx="2081174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531705" y="1828800"/>
            <a:ext cx="2081174" cy="82296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41433" y="2011680"/>
            <a:ext cx="186171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1400" b="1" i="0">
                <a:solidFill>
                  <a:srgbClr val="121C2F"/>
                </a:solidFill>
                <a:latin typeface="Aptos"/>
              </a:defRPr>
            </a:pPr>
            <a:r>
              <a:t>Respond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41433" y="2468880"/>
            <a:ext cx="1861718" cy="149047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300"/>
              </a:spcAft>
              <a:defRPr sz="1220" b="0" i="0">
                <a:solidFill>
                  <a:srgbClr val="536278"/>
                </a:solidFill>
                <a:latin typeface="Aptos"/>
              </a:defRPr>
            </a:pPr>
            <a:r>
              <a:t>Investigate, mitigate,</a:t>
            </a:r>
          </a:p>
          <a:p>
            <a:pPr algn="ctr">
              <a:spcAft>
                <a:spcPts val="300"/>
              </a:spcAft>
              <a:defRPr sz="1220" b="0" i="0">
                <a:solidFill>
                  <a:srgbClr val="536278"/>
                </a:solidFill>
                <a:latin typeface="Aptos"/>
              </a:defRPr>
            </a:pPr>
            <a:r>
              <a:t>validate and record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" y="4617720"/>
            <a:ext cx="502920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77240" y="4617720"/>
            <a:ext cx="68580" cy="8229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7552" y="4709159"/>
            <a:ext cx="4654296" cy="23774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240" b="1" i="0">
                <a:solidFill>
                  <a:srgbClr val="121C2F"/>
                </a:solidFill>
                <a:latin typeface="Aptos"/>
              </a:defRPr>
            </a:pPr>
            <a:r>
              <a:t>Azure equivalent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" y="4983480"/>
            <a:ext cx="4617720" cy="39319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050" b="0" i="0">
                <a:solidFill>
                  <a:srgbClr val="243247"/>
                </a:solidFill>
                <a:latin typeface="Aptos"/>
              </a:defRPr>
            </a:pPr>
            <a:r>
              <a:t>Azure Monitor metrics, Logs, Alerts and Action Groups.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55080" y="4617720"/>
            <a:ext cx="502920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55080" y="4617720"/>
            <a:ext cx="68580" cy="82296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65392" y="4709159"/>
            <a:ext cx="4654296" cy="23774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240" b="1" i="0">
                <a:solidFill>
                  <a:srgbClr val="121C2F"/>
                </a:solidFill>
                <a:latin typeface="Aptos"/>
              </a:defRPr>
            </a:pPr>
            <a:r>
              <a:t>Important distinction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0" y="4983480"/>
            <a:ext cx="4617720" cy="39319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050" b="0" i="0">
                <a:solidFill>
                  <a:srgbClr val="243247"/>
                </a:solidFill>
                <a:latin typeface="Aptos"/>
              </a:defRPr>
            </a:pPr>
            <a:r>
              <a:t>CloudWatch is not the same as a complete application APM solution.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329184"/>
            <a:ext cx="64008" cy="26517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20040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919" b="1" i="0">
                <a:solidFill>
                  <a:srgbClr val="FF9900"/>
                </a:solidFill>
                <a:latin typeface="Aptos"/>
              </a:defRPr>
            </a:pPr>
            <a:r>
              <a:t>OBSERVABILITY &amp; 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21792"/>
            <a:ext cx="113842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2400" b="1" i="0">
                <a:solidFill>
                  <a:srgbClr val="121C2F"/>
                </a:solidFill>
                <a:latin typeface="Aptos"/>
              </a:defRPr>
            </a:pPr>
            <a:r>
              <a:t>CPU is built in; guest memory usually needs an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1133856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1230" b="0" i="0">
                <a:solidFill>
                  <a:srgbClr val="536278"/>
                </a:solidFill>
                <a:latin typeface="Aptos"/>
              </a:defRPr>
            </a:pPr>
            <a:r>
              <a:t>Do not assume every OS metric appears automatically in CloudWatch.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8912" y="6473952"/>
            <a:ext cx="11311128" cy="0"/>
          </a:xfrm>
          <a:prstGeom prst="line">
            <a:avLst/>
          </a:prstGeom>
          <a:ln w="7620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10528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750" b="0" i="0">
                <a:solidFill>
                  <a:srgbClr val="6D7B8F"/>
                </a:solidFill>
                <a:latin typeface="Aptos"/>
              </a:defRPr>
            </a:pPr>
            <a:r>
              <a:t>REFERENCE: AWS EC2 monitoring / CloudWatch Agent docs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501384"/>
            <a:ext cx="4754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300"/>
              </a:spcAft>
              <a:defRPr sz="900" b="1" i="0">
                <a:solidFill>
                  <a:srgbClr val="6D7B8F"/>
                </a:solidFill>
                <a:latin typeface="Aptos"/>
              </a:defRPr>
            </a:pPr>
            <a:r>
              <a:t>32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521208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68580" cy="30175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1911095"/>
            <a:ext cx="4837176" cy="32918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600" b="1" i="0">
                <a:solidFill>
                  <a:srgbClr val="121C2F"/>
                </a:solidFill>
                <a:latin typeface="Aptos"/>
              </a:defRPr>
            </a:pPr>
            <a:r>
              <a:t>EC2 standard metrics</a:t>
            </a:r>
          </a:p>
        </p:txBody>
      </p:sp>
      <p:sp>
        <p:nvSpPr>
          <p:cNvPr id="12" name="Oval 11"/>
          <p:cNvSpPr/>
          <p:nvPr/>
        </p:nvSpPr>
        <p:spPr>
          <a:xfrm>
            <a:off x="923544" y="2496312"/>
            <a:ext cx="91440" cy="9144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24712" y="2377440"/>
            <a:ext cx="4590288" cy="74371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320" b="0" i="0">
                <a:solidFill>
                  <a:srgbClr val="243247"/>
                </a:solidFill>
                <a:latin typeface="Aptos"/>
              </a:defRPr>
            </a:pPr>
            <a:r>
              <a:t>CPUUtilization is a standard EC2 metric</a:t>
            </a:r>
          </a:p>
        </p:txBody>
      </p:sp>
      <p:sp>
        <p:nvSpPr>
          <p:cNvPr id="14" name="Oval 13"/>
          <p:cNvSpPr/>
          <p:nvPr/>
        </p:nvSpPr>
        <p:spPr>
          <a:xfrm>
            <a:off x="923544" y="3258312"/>
            <a:ext cx="91440" cy="9144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24712" y="3139440"/>
            <a:ext cx="4590288" cy="74371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320" b="0" i="0">
                <a:solidFill>
                  <a:srgbClr val="243247"/>
                </a:solidFill>
                <a:latin typeface="Aptos"/>
              </a:defRPr>
            </a:pPr>
            <a:r>
              <a:t>Network and disk I/O metrics are available at platform level</a:t>
            </a:r>
          </a:p>
        </p:txBody>
      </p:sp>
      <p:sp>
        <p:nvSpPr>
          <p:cNvPr id="16" name="Oval 15"/>
          <p:cNvSpPr/>
          <p:nvPr/>
        </p:nvSpPr>
        <p:spPr>
          <a:xfrm>
            <a:off x="923544" y="4020312"/>
            <a:ext cx="91440" cy="9144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24712" y="3901440"/>
            <a:ext cx="4590288" cy="74371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320" b="0" i="0">
                <a:solidFill>
                  <a:srgbClr val="243247"/>
                </a:solidFill>
                <a:latin typeface="Aptos"/>
              </a:defRPr>
            </a:pPr>
            <a:r>
              <a:t>Basic monitoring has a default reporting interval; detailed monitoring changes granularity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1755648"/>
            <a:ext cx="521208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1755648"/>
            <a:ext cx="68580" cy="3017520"/>
          </a:xfrm>
          <a:prstGeom prst="rect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73952" y="1911095"/>
            <a:ext cx="4837176" cy="32918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600" b="1" i="0">
                <a:solidFill>
                  <a:srgbClr val="121C2F"/>
                </a:solidFill>
                <a:latin typeface="Aptos"/>
              </a:defRPr>
            </a:pPr>
            <a:r>
              <a:t>Guest metrics and logs</a:t>
            </a:r>
          </a:p>
        </p:txBody>
      </p:sp>
      <p:sp>
        <p:nvSpPr>
          <p:cNvPr id="21" name="Oval 20"/>
          <p:cNvSpPr/>
          <p:nvPr/>
        </p:nvSpPr>
        <p:spPr>
          <a:xfrm>
            <a:off x="6501383" y="2496312"/>
            <a:ext cx="91440" cy="91440"/>
          </a:xfrm>
          <a:prstGeom prst="ellipse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02551" y="2377440"/>
            <a:ext cx="4590288" cy="55321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320" b="0" i="0">
                <a:solidFill>
                  <a:srgbClr val="243247"/>
                </a:solidFill>
                <a:latin typeface="Aptos"/>
              </a:defRPr>
            </a:pPr>
            <a:r>
              <a:t>Memory utilization is collected from inside the guest OS</a:t>
            </a:r>
          </a:p>
        </p:txBody>
      </p:sp>
      <p:sp>
        <p:nvSpPr>
          <p:cNvPr id="23" name="Oval 22"/>
          <p:cNvSpPr/>
          <p:nvPr/>
        </p:nvSpPr>
        <p:spPr>
          <a:xfrm>
            <a:off x="6501383" y="3067812"/>
            <a:ext cx="91440" cy="91440"/>
          </a:xfrm>
          <a:prstGeom prst="ellipse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02551" y="2948940"/>
            <a:ext cx="4590288" cy="55321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320" b="0" i="0">
                <a:solidFill>
                  <a:srgbClr val="243247"/>
                </a:solidFill>
                <a:latin typeface="Aptos"/>
              </a:defRPr>
            </a:pPr>
            <a:r>
              <a:t>CloudWatch Agent + permissions + config are required</a:t>
            </a:r>
          </a:p>
        </p:txBody>
      </p:sp>
      <p:sp>
        <p:nvSpPr>
          <p:cNvPr id="25" name="Oval 24"/>
          <p:cNvSpPr/>
          <p:nvPr/>
        </p:nvSpPr>
        <p:spPr>
          <a:xfrm>
            <a:off x="6501383" y="3639312"/>
            <a:ext cx="91440" cy="91440"/>
          </a:xfrm>
          <a:prstGeom prst="ellipse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02551" y="3520440"/>
            <a:ext cx="4590288" cy="55321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320" b="0" i="0">
                <a:solidFill>
                  <a:srgbClr val="243247"/>
                </a:solidFill>
                <a:latin typeface="Aptos"/>
              </a:defRPr>
            </a:pPr>
            <a:r>
              <a:t>Validate metric namespace, instance ID and timestamps</a:t>
            </a:r>
          </a:p>
        </p:txBody>
      </p:sp>
      <p:sp>
        <p:nvSpPr>
          <p:cNvPr id="27" name="Oval 26"/>
          <p:cNvSpPr/>
          <p:nvPr/>
        </p:nvSpPr>
        <p:spPr>
          <a:xfrm>
            <a:off x="6501383" y="4210812"/>
            <a:ext cx="91440" cy="91440"/>
          </a:xfrm>
          <a:prstGeom prst="ellipse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02551" y="4091939"/>
            <a:ext cx="4590288" cy="55321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320" b="0" i="0">
                <a:solidFill>
                  <a:srgbClr val="243247"/>
                </a:solidFill>
                <a:latin typeface="Aptos"/>
              </a:defRPr>
            </a:pPr>
            <a:r>
              <a:t>Use top / free / journal or application logs to find process-level cause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212080"/>
            <a:ext cx="10607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1300" b="1" i="0">
                <a:solidFill>
                  <a:srgbClr val="121C2F"/>
                </a:solidFill>
                <a:latin typeface="Aptos"/>
              </a:defRPr>
            </a:pPr>
            <a:r>
              <a:t>Azure parallel: platform metrics and guest telemetry are different layers; Azure Monitor Agent / Data Collection Rules play a comparable role.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329184"/>
            <a:ext cx="64008" cy="26517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20040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919" b="1" i="0">
                <a:solidFill>
                  <a:srgbClr val="FF9900"/>
                </a:solidFill>
                <a:latin typeface="Aptos"/>
              </a:defRPr>
            </a:pPr>
            <a:r>
              <a:t>OBSERVABILITY &amp; 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21792"/>
            <a:ext cx="113842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2400" b="1" i="0">
                <a:solidFill>
                  <a:srgbClr val="121C2F"/>
                </a:solidFill>
                <a:latin typeface="Aptos"/>
              </a:defRPr>
            </a:pPr>
            <a:r>
              <a:t>A useful alarm must deliver a tested notification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1133856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1230" b="0" i="0">
                <a:solidFill>
                  <a:srgbClr val="536278"/>
                </a:solidFill>
                <a:latin typeface="Aptos"/>
              </a:defRPr>
            </a:pPr>
            <a:r>
              <a:t>A rule that exists but never pages anyone is not a working operational control.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8912" y="6473952"/>
            <a:ext cx="11311128" cy="0"/>
          </a:xfrm>
          <a:prstGeom prst="line">
            <a:avLst/>
          </a:prstGeom>
          <a:ln w="7620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10528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750" b="0" i="0">
                <a:solidFill>
                  <a:srgbClr val="6D7B8F"/>
                </a:solidFill>
                <a:latin typeface="Aptos"/>
              </a:defRPr>
            </a:pPr>
            <a:r>
              <a:t>REFERENCE: AWS CloudWatch Alarm docs; KodeKloud CloudWatch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501384"/>
            <a:ext cx="4754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300"/>
              </a:spcAft>
              <a:defRPr sz="900" b="1" i="0">
                <a:solidFill>
                  <a:srgbClr val="6D7B8F"/>
                </a:solidFill>
                <a:latin typeface="Aptos"/>
              </a:defRPr>
            </a:pPr>
            <a:r>
              <a:t>33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920240"/>
            <a:ext cx="2081174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920240"/>
            <a:ext cx="2081174" cy="82296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103120"/>
            <a:ext cx="186171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1400" b="1" i="0">
                <a:solidFill>
                  <a:srgbClr val="121C2F"/>
                </a:solidFill>
                <a:latin typeface="Aptos"/>
              </a:defRPr>
            </a:pPr>
            <a:r>
              <a:t>Metric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560320"/>
            <a:ext cx="1861718" cy="139903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300"/>
              </a:spcAft>
              <a:defRPr sz="1220" b="0" i="0">
                <a:solidFill>
                  <a:srgbClr val="536278"/>
                </a:solidFill>
                <a:latin typeface="Aptos"/>
              </a:defRPr>
            </a:pPr>
            <a:r>
              <a:t>CPUUtilization</a:t>
            </a:r>
          </a:p>
          <a:p>
            <a:pPr algn="ctr">
              <a:spcAft>
                <a:spcPts val="300"/>
              </a:spcAft>
              <a:defRPr sz="1220" b="0" i="0">
                <a:solidFill>
                  <a:srgbClr val="536278"/>
                </a:solidFill>
                <a:latin typeface="Aptos"/>
              </a:defRPr>
            </a:pPr>
            <a:r>
              <a:t>namespace/dimension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38958" y="2811780"/>
            <a:ext cx="1463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2400" b="1" i="0">
                <a:solidFill>
                  <a:srgbClr val="FF9900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94406" y="1920240"/>
            <a:ext cx="2081174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94406" y="1920240"/>
            <a:ext cx="2081174" cy="82296"/>
          </a:xfrm>
          <a:prstGeom prst="rect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04134" y="2103120"/>
            <a:ext cx="186171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1400" b="1" i="0">
                <a:solidFill>
                  <a:srgbClr val="121C2F"/>
                </a:solidFill>
                <a:latin typeface="Aptos"/>
              </a:defRPr>
            </a:pPr>
            <a:r>
              <a:t>Threshold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04134" y="2560320"/>
            <a:ext cx="1861718" cy="139903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300"/>
              </a:spcAft>
              <a:defRPr sz="1220" b="0" i="0">
                <a:solidFill>
                  <a:srgbClr val="536278"/>
                </a:solidFill>
                <a:latin typeface="Aptos"/>
              </a:defRPr>
            </a:pPr>
            <a:r>
              <a:t>Example: average &gt; 80%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84724" y="2811780"/>
            <a:ext cx="1463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2400" b="1" i="0">
                <a:solidFill>
                  <a:srgbClr val="FF9900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40172" y="1920240"/>
            <a:ext cx="2081174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40172" y="1920240"/>
            <a:ext cx="2081174" cy="8229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49900" y="2103120"/>
            <a:ext cx="186171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1400" b="1" i="0">
                <a:solidFill>
                  <a:srgbClr val="121C2F"/>
                </a:solidFill>
                <a:latin typeface="Aptos"/>
              </a:defRPr>
            </a:pPr>
            <a:r>
              <a:t>Window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9900" y="2560320"/>
            <a:ext cx="1861718" cy="139903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300"/>
              </a:spcAft>
              <a:defRPr sz="1220" b="0" i="0">
                <a:solidFill>
                  <a:srgbClr val="536278"/>
                </a:solidFill>
                <a:latin typeface="Aptos"/>
              </a:defRPr>
            </a:pPr>
            <a:r>
              <a:t>Period + datapoints</a:t>
            </a:r>
          </a:p>
          <a:p>
            <a:pPr algn="ctr">
              <a:spcAft>
                <a:spcPts val="300"/>
              </a:spcAft>
              <a:defRPr sz="1220" b="0" i="0">
                <a:solidFill>
                  <a:srgbClr val="536278"/>
                </a:solidFill>
                <a:latin typeface="Aptos"/>
              </a:defRPr>
            </a:pPr>
            <a:r>
              <a:t>to alarm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0491" y="2811780"/>
            <a:ext cx="1463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2400" b="1" i="0">
                <a:solidFill>
                  <a:srgbClr val="FF9900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85939" y="1920240"/>
            <a:ext cx="2081174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85939" y="1920240"/>
            <a:ext cx="2081174" cy="82296"/>
          </a:xfrm>
          <a:prstGeom prst="rect">
            <a:avLst/>
          </a:prstGeom>
          <a:solidFill>
            <a:srgbClr val="6741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95667" y="2103120"/>
            <a:ext cx="186171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1400" b="1" i="0">
                <a:solidFill>
                  <a:srgbClr val="121C2F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95667" y="2560320"/>
            <a:ext cx="1861718" cy="139903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300"/>
              </a:spcAft>
              <a:defRPr sz="1220" b="0" i="0">
                <a:solidFill>
                  <a:srgbClr val="536278"/>
                </a:solidFill>
                <a:latin typeface="Aptos"/>
              </a:defRPr>
            </a:pPr>
            <a:r>
              <a:t>SNS topic / target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76257" y="2811780"/>
            <a:ext cx="1463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2400" b="1" i="0">
                <a:solidFill>
                  <a:srgbClr val="FF9900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31705" y="1920240"/>
            <a:ext cx="2081174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531705" y="1920240"/>
            <a:ext cx="2081174" cy="82296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41433" y="2103120"/>
            <a:ext cx="186171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1400" b="1" i="0">
                <a:solidFill>
                  <a:srgbClr val="121C2F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41433" y="2560320"/>
            <a:ext cx="1861718" cy="139903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300"/>
              </a:spcAft>
              <a:defRPr sz="1220" b="0" i="0">
                <a:solidFill>
                  <a:srgbClr val="536278"/>
                </a:solidFill>
                <a:latin typeface="Aptos"/>
              </a:defRPr>
            </a:pPr>
            <a:r>
              <a:t>Trigger safely; confirm</a:t>
            </a:r>
          </a:p>
          <a:p>
            <a:pPr algn="ctr">
              <a:spcAft>
                <a:spcPts val="300"/>
              </a:spcAft>
              <a:defRPr sz="1220" b="0" i="0">
                <a:solidFill>
                  <a:srgbClr val="536278"/>
                </a:solidFill>
                <a:latin typeface="Aptos"/>
              </a:defRPr>
            </a:pPr>
            <a:r>
              <a:t>subscription receives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60" y="4572000"/>
            <a:ext cx="104241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2960" y="4572000"/>
            <a:ext cx="68580" cy="86868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33272" y="4663440"/>
            <a:ext cx="10049256" cy="23774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340" b="1" i="0">
                <a:solidFill>
                  <a:srgbClr val="121C2F"/>
                </a:solidFill>
                <a:latin typeface="Aptos"/>
              </a:defRPr>
            </a:pPr>
            <a:r>
              <a:t>Validate these items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" y="4937760"/>
            <a:ext cx="10012680" cy="43891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050" b="0" i="0">
                <a:solidFill>
                  <a:srgbClr val="243247"/>
                </a:solidFill>
                <a:latin typeface="Aptos"/>
              </a:defRPr>
            </a:pPr>
            <a:r>
              <a:t>Correct Region • correct resource ID • metric available • sensible threshold • action attached • SNS subscription confirmed • alarm state / notification evidence.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329184"/>
            <a:ext cx="64008" cy="26517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20040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919" b="1" i="0">
                <a:solidFill>
                  <a:srgbClr val="FF9900"/>
                </a:solidFill>
                <a:latin typeface="Aptos"/>
              </a:defRPr>
            </a:pPr>
            <a:r>
              <a:t>OBSERVABILITY &amp; 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21792"/>
            <a:ext cx="113842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2600" b="1" i="0">
                <a:solidFill>
                  <a:srgbClr val="121C2F"/>
                </a:solidFill>
                <a:latin typeface="Aptos"/>
              </a:defRPr>
            </a:pPr>
            <a:r>
              <a:t>Find the cost driver: estimate vs actual spend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1133856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1230" b="0" i="0">
                <a:solidFill>
                  <a:srgbClr val="536278"/>
                </a:solidFill>
                <a:latin typeface="Aptos"/>
              </a:defRPr>
            </a:pPr>
            <a:r>
              <a:t>Budgets warn; cost analysis explains which service or resource drove spend.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8912" y="6473952"/>
            <a:ext cx="11311128" cy="0"/>
          </a:xfrm>
          <a:prstGeom prst="line">
            <a:avLst/>
          </a:prstGeom>
          <a:ln w="7620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10528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750" b="0" i="0">
                <a:solidFill>
                  <a:srgbClr val="6D7B8F"/>
                </a:solidFill>
                <a:latin typeface="Aptos"/>
              </a:defRPr>
            </a:pPr>
            <a:r>
              <a:t>REFERENCE: AWS Cost Explorer; Azure Cost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501384"/>
            <a:ext cx="4754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300"/>
              </a:spcAft>
              <a:defRPr sz="900" b="1" i="0">
                <a:solidFill>
                  <a:srgbClr val="6D7B8F"/>
                </a:solidFill>
                <a:latin typeface="Aptos"/>
              </a:defRPr>
            </a:pPr>
            <a:r>
              <a:t>34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37360"/>
            <a:ext cx="5257800" cy="3154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737360"/>
            <a:ext cx="68580" cy="315468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1892807"/>
            <a:ext cx="4882896" cy="32918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600" b="1" i="0">
                <a:solidFill>
                  <a:srgbClr val="121C2F"/>
                </a:solidFill>
                <a:latin typeface="Aptos"/>
              </a:defRPr>
            </a:pPr>
            <a:r>
              <a:t>AWS cost workflow</a:t>
            </a:r>
          </a:p>
        </p:txBody>
      </p:sp>
      <p:sp>
        <p:nvSpPr>
          <p:cNvPr id="12" name="Oval 11"/>
          <p:cNvSpPr/>
          <p:nvPr/>
        </p:nvSpPr>
        <p:spPr>
          <a:xfrm>
            <a:off x="877824" y="2478024"/>
            <a:ext cx="91440" cy="9144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2359152"/>
            <a:ext cx="4636008" cy="58750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300" b="0" i="0">
                <a:solidFill>
                  <a:srgbClr val="243247"/>
                </a:solidFill>
                <a:latin typeface="Aptos"/>
              </a:defRPr>
            </a:pPr>
            <a:r>
              <a:t>AWS Budgets: thresholds and notifications</a:t>
            </a:r>
          </a:p>
        </p:txBody>
      </p:sp>
      <p:sp>
        <p:nvSpPr>
          <p:cNvPr id="14" name="Oval 13"/>
          <p:cNvSpPr/>
          <p:nvPr/>
        </p:nvSpPr>
        <p:spPr>
          <a:xfrm>
            <a:off x="877824" y="3083814"/>
            <a:ext cx="91440" cy="9144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2964942"/>
            <a:ext cx="4636008" cy="58750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300" b="0" i="0">
                <a:solidFill>
                  <a:srgbClr val="243247"/>
                </a:solidFill>
                <a:latin typeface="Aptos"/>
              </a:defRPr>
            </a:pPr>
            <a:r>
              <a:t>Cost Explorer: group by service, Region, usage type or tag</a:t>
            </a:r>
          </a:p>
        </p:txBody>
      </p:sp>
      <p:sp>
        <p:nvSpPr>
          <p:cNvPr id="16" name="Oval 15"/>
          <p:cNvSpPr/>
          <p:nvPr/>
        </p:nvSpPr>
        <p:spPr>
          <a:xfrm>
            <a:off x="877824" y="3689604"/>
            <a:ext cx="91440" cy="9144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3570732"/>
            <a:ext cx="4636008" cy="58750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300" b="0" i="0">
                <a:solidFill>
                  <a:srgbClr val="243247"/>
                </a:solidFill>
                <a:latin typeface="Aptos"/>
              </a:defRPr>
            </a:pPr>
            <a:r>
              <a:t>Check EC2, EBS, NAT, ALB, public IPv4 and snapshots</a:t>
            </a:r>
          </a:p>
        </p:txBody>
      </p:sp>
      <p:sp>
        <p:nvSpPr>
          <p:cNvPr id="18" name="Oval 17"/>
          <p:cNvSpPr/>
          <p:nvPr/>
        </p:nvSpPr>
        <p:spPr>
          <a:xfrm>
            <a:off x="877824" y="4295394"/>
            <a:ext cx="91440" cy="9144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4176522"/>
            <a:ext cx="4636008" cy="58750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300" b="0" i="0">
                <a:solidFill>
                  <a:srgbClr val="243247"/>
                </a:solidFill>
                <a:latin typeface="Aptos"/>
              </a:defRPr>
            </a:pPr>
            <a:r>
              <a:t>Allow for cost-data delay and aggregation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1737360"/>
            <a:ext cx="5257800" cy="3154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1737360"/>
            <a:ext cx="68580" cy="31546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3952" y="1892807"/>
            <a:ext cx="4882896" cy="32918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600" b="1" i="0">
                <a:solidFill>
                  <a:srgbClr val="121C2F"/>
                </a:solidFill>
                <a:latin typeface="Aptos"/>
              </a:defRPr>
            </a:pPr>
            <a:r>
              <a:t>Azure comparison</a:t>
            </a:r>
          </a:p>
        </p:txBody>
      </p:sp>
      <p:sp>
        <p:nvSpPr>
          <p:cNvPr id="23" name="Oval 22"/>
          <p:cNvSpPr/>
          <p:nvPr/>
        </p:nvSpPr>
        <p:spPr>
          <a:xfrm>
            <a:off x="6501383" y="2478024"/>
            <a:ext cx="91440" cy="9144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02551" y="2359152"/>
            <a:ext cx="4636008" cy="58750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300" b="0" i="0">
                <a:solidFill>
                  <a:srgbClr val="243247"/>
                </a:solidFill>
                <a:latin typeface="Aptos"/>
              </a:defRPr>
            </a:pPr>
            <a:r>
              <a:t>Azure budgets: spending thresholds and alerts</a:t>
            </a:r>
          </a:p>
        </p:txBody>
      </p:sp>
      <p:sp>
        <p:nvSpPr>
          <p:cNvPr id="25" name="Oval 24"/>
          <p:cNvSpPr/>
          <p:nvPr/>
        </p:nvSpPr>
        <p:spPr>
          <a:xfrm>
            <a:off x="6501383" y="3083814"/>
            <a:ext cx="91440" cy="9144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02551" y="2964942"/>
            <a:ext cx="4636008" cy="58750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300" b="0" i="0">
                <a:solidFill>
                  <a:srgbClr val="243247"/>
                </a:solidFill>
                <a:latin typeface="Aptos"/>
              </a:defRPr>
            </a:pPr>
            <a:r>
              <a:t>Cost Analysis: group by service/resource/tag</a:t>
            </a:r>
          </a:p>
        </p:txBody>
      </p:sp>
      <p:sp>
        <p:nvSpPr>
          <p:cNvPr id="27" name="Oval 26"/>
          <p:cNvSpPr/>
          <p:nvPr/>
        </p:nvSpPr>
        <p:spPr>
          <a:xfrm>
            <a:off x="6501383" y="3689604"/>
            <a:ext cx="91440" cy="9144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02551" y="3570732"/>
            <a:ext cx="4636008" cy="58750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300" b="0" i="0">
                <a:solidFill>
                  <a:srgbClr val="243247"/>
                </a:solidFill>
                <a:latin typeface="Aptos"/>
              </a:defRPr>
            </a:pPr>
            <a:r>
              <a:t>Inspect VM compute, disks, public IP, NAT Gateway, backup and monitoring</a:t>
            </a:r>
          </a:p>
        </p:txBody>
      </p:sp>
      <p:sp>
        <p:nvSpPr>
          <p:cNvPr id="29" name="Oval 28"/>
          <p:cNvSpPr/>
          <p:nvPr/>
        </p:nvSpPr>
        <p:spPr>
          <a:xfrm>
            <a:off x="6501383" y="4295394"/>
            <a:ext cx="91440" cy="9144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02551" y="4176522"/>
            <a:ext cx="4636008" cy="58750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300" b="0" i="0">
                <a:solidFill>
                  <a:srgbClr val="243247"/>
                </a:solidFill>
                <a:latin typeface="Aptos"/>
              </a:defRPr>
            </a:pPr>
            <a:r>
              <a:t>Usage views may be delayed as well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5303520"/>
            <a:ext cx="105156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1400" b="1" i="0">
                <a:solidFill>
                  <a:srgbClr val="C43D4B"/>
                </a:solidFill>
                <a:latin typeface="Aptos"/>
              </a:defRPr>
            </a:pPr>
            <a:r>
              <a:t>Budget alert ≠ spending cap. Use lifecycle controls and teardown to prevent unintended ongoing usage.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329184"/>
            <a:ext cx="64008" cy="26517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20040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919" b="1" i="0">
                <a:solidFill>
                  <a:srgbClr val="FF9900"/>
                </a:solidFill>
                <a:latin typeface="Aptos"/>
              </a:defRPr>
            </a:pPr>
            <a:r>
              <a:t>SCENARIO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21792"/>
            <a:ext cx="113842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2600" b="1" i="0">
                <a:solidFill>
                  <a:srgbClr val="121C2F"/>
                </a:solidFill>
                <a:latin typeface="Aptos"/>
              </a:defRPr>
            </a:pPr>
            <a:r>
              <a:t>Lab walkthrough D4-1: cost control + scale-out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1133856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1230" b="0" i="0">
                <a:solidFill>
                  <a:srgbClr val="536278"/>
                </a:solidFill>
                <a:latin typeface="Aptos"/>
              </a:defRPr>
            </a:pPr>
            <a:r>
              <a:t>Treat the two halves as separate tickets with separate proof.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8912" y="6473952"/>
            <a:ext cx="11311128" cy="0"/>
          </a:xfrm>
          <a:prstGeom prst="line">
            <a:avLst/>
          </a:prstGeom>
          <a:ln w="7620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10528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750" b="0" i="0">
                <a:solidFill>
                  <a:srgbClr val="6D7B8F"/>
                </a:solidFill>
                <a:latin typeface="Aptos"/>
              </a:defRPr>
            </a:pPr>
            <a:r>
              <a:t>REFERENCE: AWS EC2 lifecycle / Auto Scaling docs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501384"/>
            <a:ext cx="4754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300"/>
              </a:spcAft>
              <a:defRPr sz="900" b="1" i="0">
                <a:solidFill>
                  <a:srgbClr val="6D7B8F"/>
                </a:solidFill>
                <a:latin typeface="Aptos"/>
              </a:defRPr>
            </a:pPr>
            <a:r>
              <a:t>35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64208"/>
            <a:ext cx="5257800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664208"/>
            <a:ext cx="68580" cy="356616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1819656"/>
            <a:ext cx="4882896" cy="32918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600" b="1" i="0">
                <a:solidFill>
                  <a:srgbClr val="121C2F"/>
                </a:solidFill>
                <a:latin typeface="Aptos"/>
              </a:defRPr>
            </a:pPr>
            <a:r>
              <a:t>Part A - Idle instance</a:t>
            </a:r>
          </a:p>
        </p:txBody>
      </p:sp>
      <p:sp>
        <p:nvSpPr>
          <p:cNvPr id="12" name="Oval 11"/>
          <p:cNvSpPr/>
          <p:nvPr/>
        </p:nvSpPr>
        <p:spPr>
          <a:xfrm>
            <a:off x="877824" y="2404872"/>
            <a:ext cx="91440" cy="9144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2286000"/>
            <a:ext cx="4636008" cy="690371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300" b="0" i="0">
                <a:solidFill>
                  <a:srgbClr val="243247"/>
                </a:solidFill>
                <a:latin typeface="Aptos"/>
              </a:defRPr>
            </a:pPr>
            <a:r>
              <a:t>Filter EC2 by Name tag and record Instance ID</a:t>
            </a:r>
          </a:p>
        </p:txBody>
      </p:sp>
      <p:sp>
        <p:nvSpPr>
          <p:cNvPr id="14" name="Oval 13"/>
          <p:cNvSpPr/>
          <p:nvPr/>
        </p:nvSpPr>
        <p:spPr>
          <a:xfrm>
            <a:off x="877824" y="3113532"/>
            <a:ext cx="91440" cy="9144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2994660"/>
            <a:ext cx="4636008" cy="690371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300" b="0" i="0">
                <a:solidFill>
                  <a:srgbClr val="243247"/>
                </a:solidFill>
                <a:latin typeface="Aptos"/>
              </a:defRPr>
            </a:pPr>
            <a:r>
              <a:t>Check state, instance type, attached EBS and public IPv4</a:t>
            </a:r>
          </a:p>
        </p:txBody>
      </p:sp>
      <p:sp>
        <p:nvSpPr>
          <p:cNvPr id="16" name="Oval 15"/>
          <p:cNvSpPr/>
          <p:nvPr/>
        </p:nvSpPr>
        <p:spPr>
          <a:xfrm>
            <a:off x="877824" y="3822191"/>
            <a:ext cx="91440" cy="9144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3703320"/>
            <a:ext cx="4636008" cy="690371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300" b="0" i="0">
                <a:solidFill>
                  <a:srgbClr val="243247"/>
                </a:solidFill>
                <a:latin typeface="Aptos"/>
              </a:defRPr>
            </a:pPr>
            <a:r>
              <a:t>Stop the lab instance; wait until it is stopped</a:t>
            </a:r>
          </a:p>
        </p:txBody>
      </p:sp>
      <p:sp>
        <p:nvSpPr>
          <p:cNvPr id="18" name="Oval 17"/>
          <p:cNvSpPr/>
          <p:nvPr/>
        </p:nvSpPr>
        <p:spPr>
          <a:xfrm>
            <a:off x="877824" y="4530851"/>
            <a:ext cx="91440" cy="9144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4411979"/>
            <a:ext cx="4636008" cy="690371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300" b="0" i="0">
                <a:solidFill>
                  <a:srgbClr val="243247"/>
                </a:solidFill>
                <a:latin typeface="Aptos"/>
              </a:defRPr>
            </a:pPr>
            <a:r>
              <a:t>Capture before/after state; note storage/network costs that remain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1664208"/>
            <a:ext cx="5257800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1664208"/>
            <a:ext cx="68580" cy="3566160"/>
          </a:xfrm>
          <a:prstGeom prst="rect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3952" y="1819656"/>
            <a:ext cx="4882896" cy="32918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600" b="1" i="0">
                <a:solidFill>
                  <a:srgbClr val="121C2F"/>
                </a:solidFill>
                <a:latin typeface="Aptos"/>
              </a:defRPr>
            </a:pPr>
            <a:r>
              <a:t>Part B - Auto Scaling Group</a:t>
            </a:r>
          </a:p>
        </p:txBody>
      </p:sp>
      <p:sp>
        <p:nvSpPr>
          <p:cNvPr id="23" name="Oval 22"/>
          <p:cNvSpPr/>
          <p:nvPr/>
        </p:nvSpPr>
        <p:spPr>
          <a:xfrm>
            <a:off x="6501383" y="2404872"/>
            <a:ext cx="91440" cy="91440"/>
          </a:xfrm>
          <a:prstGeom prst="ellipse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02551" y="2286000"/>
            <a:ext cx="4636008" cy="548639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280" b="0" i="0">
                <a:solidFill>
                  <a:srgbClr val="243247"/>
                </a:solidFill>
                <a:latin typeface="Aptos"/>
              </a:defRPr>
            </a:pPr>
            <a:r>
              <a:t>Confirm desired=2, min=2, max=4</a:t>
            </a:r>
          </a:p>
        </p:txBody>
      </p:sp>
      <p:sp>
        <p:nvSpPr>
          <p:cNvPr id="25" name="Oval 24"/>
          <p:cNvSpPr/>
          <p:nvPr/>
        </p:nvSpPr>
        <p:spPr>
          <a:xfrm>
            <a:off x="6501383" y="2971800"/>
            <a:ext cx="91440" cy="91440"/>
          </a:xfrm>
          <a:prstGeom prst="ellipse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02551" y="2852928"/>
            <a:ext cx="4636008" cy="548639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280" b="0" i="0">
                <a:solidFill>
                  <a:srgbClr val="243247"/>
                </a:solidFill>
                <a:latin typeface="Aptos"/>
              </a:defRPr>
            </a:pPr>
            <a:r>
              <a:t>Validate launch template, subnet/AZ placement and app user data</a:t>
            </a:r>
          </a:p>
        </p:txBody>
      </p:sp>
      <p:sp>
        <p:nvSpPr>
          <p:cNvPr id="27" name="Oval 26"/>
          <p:cNvSpPr/>
          <p:nvPr/>
        </p:nvSpPr>
        <p:spPr>
          <a:xfrm>
            <a:off x="6501383" y="3538727"/>
            <a:ext cx="91440" cy="91440"/>
          </a:xfrm>
          <a:prstGeom prst="ellipse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02551" y="3419856"/>
            <a:ext cx="4636008" cy="548639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280" b="0" i="0">
                <a:solidFill>
                  <a:srgbClr val="243247"/>
                </a:solidFill>
                <a:latin typeface="Aptos"/>
              </a:defRPr>
            </a:pPr>
            <a:r>
              <a:t>Set desired capacity to 4</a:t>
            </a:r>
          </a:p>
        </p:txBody>
      </p:sp>
      <p:sp>
        <p:nvSpPr>
          <p:cNvPr id="29" name="Oval 28"/>
          <p:cNvSpPr/>
          <p:nvPr/>
        </p:nvSpPr>
        <p:spPr>
          <a:xfrm>
            <a:off x="6501383" y="4105655"/>
            <a:ext cx="91440" cy="91440"/>
          </a:xfrm>
          <a:prstGeom prst="ellipse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02551" y="3986783"/>
            <a:ext cx="4636008" cy="548639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280" b="0" i="0">
                <a:solidFill>
                  <a:srgbClr val="243247"/>
                </a:solidFill>
                <a:latin typeface="Aptos"/>
              </a:defRPr>
            </a:pPr>
            <a:r>
              <a:t>Wait until four instances are InService / healthy</a:t>
            </a:r>
          </a:p>
        </p:txBody>
      </p:sp>
      <p:sp>
        <p:nvSpPr>
          <p:cNvPr id="31" name="Oval 30"/>
          <p:cNvSpPr/>
          <p:nvPr/>
        </p:nvSpPr>
        <p:spPr>
          <a:xfrm>
            <a:off x="6501383" y="4672583"/>
            <a:ext cx="91440" cy="91440"/>
          </a:xfrm>
          <a:prstGeom prst="ellipse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02551" y="4553712"/>
            <a:ext cx="4636008" cy="548639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280" b="0" i="0">
                <a:solidFill>
                  <a:srgbClr val="243247"/>
                </a:solidFill>
                <a:latin typeface="Aptos"/>
              </a:defRPr>
            </a:pPr>
            <a:r>
              <a:t>Verify ALB target health and HTTP response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68680" y="5440680"/>
            <a:ext cx="10424160" cy="475488"/>
          </a:xfrm>
          <a:prstGeom prst="roundRect">
            <a:avLst>
              <a:gd name="adj" fmla="val 8000"/>
            </a:avLst>
          </a:prstGeom>
          <a:solidFill>
            <a:srgbClr val="FFF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51560" y="5559552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1300" b="1" i="0">
                <a:solidFill>
                  <a:srgbClr val="121C2F"/>
                </a:solidFill>
                <a:latin typeface="Aptos"/>
              </a:defRPr>
            </a:pPr>
            <a:r>
              <a:t>Success = idle VM stopped + fleet has four healthy instances + web response works.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329184"/>
            <a:ext cx="64008" cy="26517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20040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919" b="1" i="0">
                <a:solidFill>
                  <a:srgbClr val="FF9900"/>
                </a:solidFill>
                <a:latin typeface="Aptos"/>
              </a:defRPr>
            </a:pPr>
            <a:r>
              <a:t>SCENARIO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21792"/>
            <a:ext cx="113842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2400" b="1" i="0">
                <a:solidFill>
                  <a:srgbClr val="121C2F"/>
                </a:solidFill>
                <a:latin typeface="Aptos"/>
              </a:defRPr>
            </a:pPr>
            <a:r>
              <a:t>Lab walkthrough D4-2: restore SSH and private egress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1133856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1230" b="0" i="0">
                <a:solidFill>
                  <a:srgbClr val="536278"/>
                </a:solidFill>
                <a:latin typeface="Aptos"/>
              </a:defRPr>
            </a:pPr>
            <a:r>
              <a:t>Do not solve the network problem by broadening access everywhere.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8912" y="6473952"/>
            <a:ext cx="11311128" cy="0"/>
          </a:xfrm>
          <a:prstGeom prst="line">
            <a:avLst/>
          </a:prstGeom>
          <a:ln w="7620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10528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750" b="0" i="0">
                <a:solidFill>
                  <a:srgbClr val="6D7B8F"/>
                </a:solidFill>
                <a:latin typeface="Aptos"/>
              </a:defRPr>
            </a:pPr>
            <a:r>
              <a:t>REFERENCE: AWS VPC routing / NAT docs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501384"/>
            <a:ext cx="4754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300"/>
              </a:spcAft>
              <a:defRPr sz="900" b="1" i="0">
                <a:solidFill>
                  <a:srgbClr val="6D7B8F"/>
                </a:solidFill>
                <a:latin typeface="Aptos"/>
              </a:defRPr>
            </a:pPr>
            <a:r>
              <a:t>36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" y="1874519"/>
            <a:ext cx="2099462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12064" y="1874519"/>
            <a:ext cx="2099462" cy="82296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2057400"/>
            <a:ext cx="188000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1400" b="1" i="0">
                <a:solidFill>
                  <a:srgbClr val="121C2F"/>
                </a:solidFill>
                <a:latin typeface="Aptos"/>
              </a:defRPr>
            </a:pPr>
            <a:r>
              <a:t>SSH failure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514600"/>
            <a:ext cx="1880006" cy="149047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300"/>
              </a:spcAft>
              <a:defRPr sz="1200" b="0" i="0">
                <a:solidFill>
                  <a:srgbClr val="536278"/>
                </a:solidFill>
                <a:latin typeface="Aptos"/>
              </a:defRPr>
            </a:pPr>
            <a:r>
              <a:t>Confirm public IP,</a:t>
            </a:r>
          </a:p>
          <a:p>
            <a:pPr algn="ctr">
              <a:spcAft>
                <a:spcPts val="300"/>
              </a:spcAft>
              <a:defRPr sz="1200" b="0" i="0">
                <a:solidFill>
                  <a:srgbClr val="536278"/>
                </a:solidFill>
                <a:latin typeface="Aptos"/>
              </a:defRPr>
            </a:pPr>
            <a:r>
              <a:t>subnet, SG, route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20670" y="2811779"/>
            <a:ext cx="1463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2400" b="1" i="0">
                <a:solidFill>
                  <a:srgbClr val="FF9900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76118" y="1874519"/>
            <a:ext cx="2099462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76118" y="1874519"/>
            <a:ext cx="2099462" cy="82296"/>
          </a:xfrm>
          <a:prstGeom prst="rect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85846" y="2057400"/>
            <a:ext cx="188000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1400" b="1" i="0">
                <a:solidFill>
                  <a:srgbClr val="121C2F"/>
                </a:solidFill>
                <a:latin typeface="Aptos"/>
              </a:defRPr>
            </a:pPr>
            <a:r>
              <a:t>Fix ingress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5846" y="2514600"/>
            <a:ext cx="1880006" cy="149047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300"/>
              </a:spcAft>
              <a:defRPr sz="1200" b="0" i="0">
                <a:solidFill>
                  <a:srgbClr val="536278"/>
                </a:solidFill>
                <a:latin typeface="Aptos"/>
              </a:defRPr>
            </a:pPr>
            <a:r>
              <a:t>TCP/22 from the</a:t>
            </a:r>
          </a:p>
          <a:p>
            <a:pPr algn="ctr">
              <a:spcAft>
                <a:spcPts val="300"/>
              </a:spcAft>
              <a:defRPr sz="1200" b="0" i="0">
                <a:solidFill>
                  <a:srgbClr val="536278"/>
                </a:solidFill>
                <a:latin typeface="Aptos"/>
              </a:defRPr>
            </a:pPr>
            <a:r>
              <a:t>workstation /32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84724" y="2811779"/>
            <a:ext cx="1463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2400" b="1" i="0">
                <a:solidFill>
                  <a:srgbClr val="FF9900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40172" y="1874519"/>
            <a:ext cx="2099462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40172" y="1874519"/>
            <a:ext cx="2099462" cy="8229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49900" y="2057400"/>
            <a:ext cx="188000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1400" b="1" i="0">
                <a:solidFill>
                  <a:srgbClr val="121C2F"/>
                </a:solidFill>
                <a:latin typeface="Aptos"/>
              </a:defRPr>
            </a:pPr>
            <a:r>
              <a:t>Private egress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9900" y="2514600"/>
            <a:ext cx="1880006" cy="149047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300"/>
              </a:spcAft>
              <a:defRPr sz="1200" b="0" i="0">
                <a:solidFill>
                  <a:srgbClr val="536278"/>
                </a:solidFill>
                <a:latin typeface="Aptos"/>
              </a:defRPr>
            </a:pPr>
            <a:r>
              <a:t>Inspect private RT;</a:t>
            </a:r>
          </a:p>
          <a:p>
            <a:pPr algn="ctr">
              <a:spcAft>
                <a:spcPts val="300"/>
              </a:spcAft>
              <a:defRPr sz="1200" b="0" i="0">
                <a:solidFill>
                  <a:srgbClr val="536278"/>
                </a:solidFill>
                <a:latin typeface="Aptos"/>
              </a:defRPr>
            </a:pPr>
            <a:r>
              <a:t>no 0.0.0.0/0 route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48779" y="2811779"/>
            <a:ext cx="1463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2400" b="1" i="0">
                <a:solidFill>
                  <a:srgbClr val="FF9900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04227" y="1874519"/>
            <a:ext cx="2099462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04227" y="1874519"/>
            <a:ext cx="2099462" cy="82296"/>
          </a:xfrm>
          <a:prstGeom prst="rect">
            <a:avLst/>
          </a:prstGeom>
          <a:solidFill>
            <a:srgbClr val="6741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13955" y="2057400"/>
            <a:ext cx="188000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1400" b="1" i="0">
                <a:solidFill>
                  <a:srgbClr val="121C2F"/>
                </a:solidFill>
                <a:latin typeface="Aptos"/>
              </a:defRPr>
            </a:pPr>
            <a:r>
              <a:t>Add NAT path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13955" y="2514600"/>
            <a:ext cx="1880006" cy="149047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300"/>
              </a:spcAft>
              <a:defRPr sz="1200" b="0" i="0">
                <a:solidFill>
                  <a:srgbClr val="536278"/>
                </a:solidFill>
                <a:latin typeface="Aptos"/>
              </a:defRPr>
            </a:pPr>
            <a:r>
              <a:t>NAT GW in public subnet;</a:t>
            </a:r>
          </a:p>
          <a:p>
            <a:pPr algn="ctr">
              <a:spcAft>
                <a:spcPts val="300"/>
              </a:spcAft>
              <a:defRPr sz="1200" b="0" i="0">
                <a:solidFill>
                  <a:srgbClr val="536278"/>
                </a:solidFill>
                <a:latin typeface="Aptos"/>
              </a:defRPr>
            </a:pPr>
            <a:r>
              <a:t>public route to IGW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2833" y="2811779"/>
            <a:ext cx="1463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2400" b="1" i="0">
                <a:solidFill>
                  <a:srgbClr val="FF9900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68281" y="1874519"/>
            <a:ext cx="2099462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568281" y="1874519"/>
            <a:ext cx="2099462" cy="82296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78009" y="2057400"/>
            <a:ext cx="188000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1400" b="1" i="0">
                <a:solidFill>
                  <a:srgbClr val="121C2F"/>
                </a:solidFill>
                <a:latin typeface="Aptos"/>
              </a:defRPr>
            </a:pPr>
            <a:r>
              <a:t>Prove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78009" y="2514600"/>
            <a:ext cx="1880006" cy="149047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300"/>
              </a:spcAft>
              <a:defRPr sz="1200" b="0" i="0">
                <a:solidFill>
                  <a:srgbClr val="536278"/>
                </a:solidFill>
                <a:latin typeface="Aptos"/>
              </a:defRPr>
            </a:pPr>
            <a:r>
              <a:t>curl from private VM;</a:t>
            </a:r>
          </a:p>
          <a:p>
            <a:pPr algn="ctr">
              <a:spcAft>
                <a:spcPts val="300"/>
              </a:spcAft>
              <a:defRPr sz="1200" b="0" i="0">
                <a:solidFill>
                  <a:srgbClr val="536278"/>
                </a:solidFill>
                <a:latin typeface="Aptos"/>
              </a:defRPr>
            </a:pPr>
            <a:r>
              <a:t>no public IP needed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60" y="4663440"/>
            <a:ext cx="507492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2960" y="4663440"/>
            <a:ext cx="68580" cy="777240"/>
          </a:xfrm>
          <a:prstGeom prst="rect">
            <a:avLst/>
          </a:prstGeom>
          <a:solidFill>
            <a:srgbClr val="C43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33272" y="4754879"/>
            <a:ext cx="4700016" cy="23774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240" b="1" i="0">
                <a:solidFill>
                  <a:srgbClr val="121C2F"/>
                </a:solidFill>
                <a:latin typeface="Aptos"/>
              </a:defRPr>
            </a:pPr>
            <a:r>
              <a:t>Do not use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" y="5029200"/>
            <a:ext cx="4663440" cy="34747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050" b="0" i="0">
                <a:solidFill>
                  <a:srgbClr val="243247"/>
                </a:solidFill>
                <a:latin typeface="Aptos"/>
              </a:defRPr>
            </a:pPr>
            <a:r>
              <a:t>Do not expose SSH to 0.0.0.0/0.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63640" y="4663440"/>
            <a:ext cx="507492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63640" y="4663440"/>
            <a:ext cx="68580" cy="77724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73952" y="4754879"/>
            <a:ext cx="4700016" cy="23774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240" b="1" i="0">
                <a:solidFill>
                  <a:srgbClr val="121C2F"/>
                </a:solidFill>
                <a:latin typeface="Aptos"/>
              </a:defRPr>
            </a:pPr>
            <a:r>
              <a:t>Remember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40" y="5029200"/>
            <a:ext cx="4663440" cy="34747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050" b="0" i="0">
                <a:solidFill>
                  <a:srgbClr val="243247"/>
                </a:solidFill>
                <a:latin typeface="Aptos"/>
              </a:defRPr>
            </a:pPr>
            <a:r>
              <a:t>NAT Gateway costs money per hour and data processed.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329184"/>
            <a:ext cx="64008" cy="26517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20040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919" b="1" i="0">
                <a:solidFill>
                  <a:srgbClr val="FF9900"/>
                </a:solidFill>
                <a:latin typeface="Aptos"/>
              </a:defRPr>
            </a:pPr>
            <a:r>
              <a:t>SCENARIO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21792"/>
            <a:ext cx="113842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2400" b="1" i="0">
                <a:solidFill>
                  <a:srgbClr val="121C2F"/>
                </a:solidFill>
                <a:latin typeface="Aptos"/>
              </a:defRPr>
            </a:pPr>
            <a:r>
              <a:t>Lab walkthrough D4-3: resize EBS from 40 GiB to 80 GiB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1133856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1230" b="0" i="0">
                <a:solidFill>
                  <a:srgbClr val="536278"/>
                </a:solidFill>
                <a:latin typeface="Aptos"/>
              </a:defRPr>
            </a:pPr>
            <a:r>
              <a:t>This lab teaches the provider layer and guest OS layer separately.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8912" y="6473952"/>
            <a:ext cx="11311128" cy="0"/>
          </a:xfrm>
          <a:prstGeom prst="line">
            <a:avLst/>
          </a:prstGeom>
          <a:ln w="7620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10528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750" b="0" i="0">
                <a:solidFill>
                  <a:srgbClr val="6D7B8F"/>
                </a:solidFill>
                <a:latin typeface="Aptos"/>
              </a:defRPr>
            </a:pPr>
            <a:r>
              <a:t>REFERENCE: AWS EBS modify volume / filesystem docs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501384"/>
            <a:ext cx="4754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300"/>
              </a:spcAft>
              <a:defRPr sz="900" b="1" i="0">
                <a:solidFill>
                  <a:srgbClr val="6D7B8F"/>
                </a:solidFill>
                <a:latin typeface="Aptos"/>
              </a:defRPr>
            </a:pPr>
            <a:r>
              <a:t>37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" y="1828800"/>
            <a:ext cx="2099462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12064" y="1828800"/>
            <a:ext cx="2099462" cy="82296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2011680"/>
            <a:ext cx="188000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1400" b="1" i="0">
                <a:solidFill>
                  <a:srgbClr val="121C2F"/>
                </a:solidFill>
                <a:latin typeface="Aptos"/>
              </a:defRPr>
            </a:pPr>
            <a:r>
              <a:t>Record baseline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468880"/>
            <a:ext cx="1880006" cy="153619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300"/>
              </a:spcAft>
              <a:defRPr sz="1210" b="0" i="0">
                <a:solidFill>
                  <a:srgbClr val="536278"/>
                </a:solidFill>
                <a:latin typeface="Aptos"/>
              </a:defRPr>
            </a:pPr>
            <a:r>
              <a:t>lsblk -f; df -hT;</a:t>
            </a:r>
          </a:p>
          <a:p>
            <a:pPr algn="ctr">
              <a:spcAft>
                <a:spcPts val="300"/>
              </a:spcAft>
              <a:defRPr sz="1210" b="0" i="0">
                <a:solidFill>
                  <a:srgbClr val="536278"/>
                </a:solidFill>
                <a:latin typeface="Aptos"/>
              </a:defRPr>
            </a:pPr>
            <a:r>
              <a:t>identify /data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20670" y="2788920"/>
            <a:ext cx="1463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2400" b="1" i="0">
                <a:solidFill>
                  <a:srgbClr val="FF9900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76118" y="1828800"/>
            <a:ext cx="2099462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76118" y="1828800"/>
            <a:ext cx="2099462" cy="82296"/>
          </a:xfrm>
          <a:prstGeom prst="rect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85846" y="2011680"/>
            <a:ext cx="188000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1400" b="1" i="0">
                <a:solidFill>
                  <a:srgbClr val="121C2F"/>
                </a:solidFill>
                <a:latin typeface="Aptos"/>
              </a:defRPr>
            </a:pPr>
            <a:r>
              <a:t>Snapshot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5846" y="2468880"/>
            <a:ext cx="1880006" cy="153619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300"/>
              </a:spcAft>
              <a:defRPr sz="1210" b="0" i="0">
                <a:solidFill>
                  <a:srgbClr val="536278"/>
                </a:solidFill>
                <a:latin typeface="Aptos"/>
              </a:defRPr>
            </a:pPr>
            <a:r>
              <a:t>Create safety point</a:t>
            </a:r>
          </a:p>
          <a:p>
            <a:pPr algn="ctr">
              <a:spcAft>
                <a:spcPts val="300"/>
              </a:spcAft>
              <a:defRPr sz="1210" b="0" i="0">
                <a:solidFill>
                  <a:srgbClr val="536278"/>
                </a:solidFill>
                <a:latin typeface="Aptos"/>
              </a:defRPr>
            </a:pPr>
            <a:r>
              <a:t>if requested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84724" y="2788920"/>
            <a:ext cx="1463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2400" b="1" i="0">
                <a:solidFill>
                  <a:srgbClr val="FF9900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40172" y="1828800"/>
            <a:ext cx="2099462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40172" y="1828800"/>
            <a:ext cx="2099462" cy="8229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49900" y="2011680"/>
            <a:ext cx="188000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1400" b="1" i="0">
                <a:solidFill>
                  <a:srgbClr val="121C2F"/>
                </a:solidFill>
                <a:latin typeface="Aptos"/>
              </a:defRPr>
            </a:pPr>
            <a:r>
              <a:t>Modify EBS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9900" y="2468880"/>
            <a:ext cx="1880006" cy="153619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300"/>
              </a:spcAft>
              <a:defRPr sz="1210" b="0" i="0">
                <a:solidFill>
                  <a:srgbClr val="536278"/>
                </a:solidFill>
                <a:latin typeface="Aptos"/>
              </a:defRPr>
            </a:pPr>
            <a:r>
              <a:t>40 → 80 GiB; wait for</a:t>
            </a:r>
          </a:p>
          <a:p>
            <a:pPr algn="ctr">
              <a:spcAft>
                <a:spcPts val="300"/>
              </a:spcAft>
              <a:defRPr sz="1210" b="0" i="0">
                <a:solidFill>
                  <a:srgbClr val="536278"/>
                </a:solidFill>
                <a:latin typeface="Aptos"/>
              </a:defRPr>
            </a:pPr>
            <a:r>
              <a:t>optimizing/completed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48779" y="2788920"/>
            <a:ext cx="1463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2400" b="1" i="0">
                <a:solidFill>
                  <a:srgbClr val="FF9900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04227" y="1828800"/>
            <a:ext cx="2099462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04227" y="1828800"/>
            <a:ext cx="2099462" cy="82296"/>
          </a:xfrm>
          <a:prstGeom prst="rect">
            <a:avLst/>
          </a:prstGeom>
          <a:solidFill>
            <a:srgbClr val="6741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13955" y="2011680"/>
            <a:ext cx="188000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1400" b="1" i="0">
                <a:solidFill>
                  <a:srgbClr val="121C2F"/>
                </a:solidFill>
                <a:latin typeface="Aptos"/>
              </a:defRPr>
            </a:pPr>
            <a:r>
              <a:t>Grow layout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13955" y="2468880"/>
            <a:ext cx="1880006" cy="153619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300"/>
              </a:spcAft>
              <a:defRPr sz="1210" b="0" i="0">
                <a:solidFill>
                  <a:srgbClr val="536278"/>
                </a:solidFill>
                <a:latin typeface="Aptos"/>
              </a:defRPr>
            </a:pPr>
            <a:r>
              <a:t>Partition if present;</a:t>
            </a:r>
          </a:p>
          <a:p>
            <a:pPr algn="ctr">
              <a:spcAft>
                <a:spcPts val="300"/>
              </a:spcAft>
              <a:defRPr sz="1210" b="0" i="0">
                <a:solidFill>
                  <a:srgbClr val="536278"/>
                </a:solidFill>
                <a:latin typeface="Aptos"/>
              </a:defRPr>
            </a:pPr>
            <a:r>
              <a:t>confirm filesystem type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2833" y="2788920"/>
            <a:ext cx="1463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2400" b="1" i="0">
                <a:solidFill>
                  <a:srgbClr val="FF9900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68281" y="1828800"/>
            <a:ext cx="2099462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568281" y="1828800"/>
            <a:ext cx="2099462" cy="82296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78009" y="2011680"/>
            <a:ext cx="188000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1400" b="1" i="0">
                <a:solidFill>
                  <a:srgbClr val="121C2F"/>
                </a:solidFill>
                <a:latin typeface="Aptos"/>
              </a:defRPr>
            </a:pPr>
            <a:r>
              <a:t>Validate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78009" y="2468880"/>
            <a:ext cx="1880006" cy="153619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300"/>
              </a:spcAft>
              <a:defRPr sz="1210" b="0" i="0">
                <a:solidFill>
                  <a:srgbClr val="536278"/>
                </a:solidFill>
                <a:latin typeface="Aptos"/>
              </a:defRPr>
            </a:pPr>
            <a:r>
              <a:t>df -hT shows larger</a:t>
            </a:r>
          </a:p>
          <a:p>
            <a:pPr algn="ctr">
              <a:spcAft>
                <a:spcPts val="300"/>
              </a:spcAft>
              <a:defRPr sz="1210" b="0" i="0">
                <a:solidFill>
                  <a:srgbClr val="536278"/>
                </a:solidFill>
                <a:latin typeface="Aptos"/>
              </a:defRPr>
            </a:pPr>
            <a:r>
              <a:t>filesystem; app writes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68680" y="4663440"/>
            <a:ext cx="10378440" cy="822960"/>
          </a:xfrm>
          <a:prstGeom prst="roundRect">
            <a:avLst>
              <a:gd name="adj" fmla="val 8000"/>
            </a:avLst>
          </a:prstGeom>
          <a:solidFill>
            <a:srgbClr val="FCEB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51560" y="4846320"/>
            <a:ext cx="100126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1250" b="1" i="0">
                <a:solidFill>
                  <a:srgbClr val="C43D4B"/>
                </a:solidFill>
                <a:latin typeface="Aptos"/>
              </a:defRPr>
            </a:pPr>
            <a:r>
              <a:t>The lab guide’s command must target the dedicated data volume, not the root disk. Device mapping varies by instance family; inspect first.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329184"/>
            <a:ext cx="64008" cy="26517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20040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919" b="1" i="0">
                <a:solidFill>
                  <a:srgbClr val="FF9900"/>
                </a:solidFill>
                <a:latin typeface="Aptos"/>
              </a:defRPr>
            </a:pPr>
            <a:r>
              <a:t>SCENARIO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21792"/>
            <a:ext cx="113842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2400" b="1" i="0">
                <a:solidFill>
                  <a:srgbClr val="121C2F"/>
                </a:solidFill>
                <a:latin typeface="Aptos"/>
              </a:defRPr>
            </a:pPr>
            <a:r>
              <a:t>Lab walkthrough D4-4: security and governance bundle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1133856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1230" b="0" i="0">
                <a:solidFill>
                  <a:srgbClr val="536278"/>
                </a:solidFill>
                <a:latin typeface="Aptos"/>
              </a:defRPr>
            </a:pPr>
            <a:r>
              <a:t>There are multiple controls in this scenario; each needs its own evidence.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8912" y="6473952"/>
            <a:ext cx="11311128" cy="0"/>
          </a:xfrm>
          <a:prstGeom prst="line">
            <a:avLst/>
          </a:prstGeom>
          <a:ln w="7620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10528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750" b="0" i="0">
                <a:solidFill>
                  <a:srgbClr val="6D7B8F"/>
                </a:solidFill>
                <a:latin typeface="Aptos"/>
              </a:defRPr>
            </a:pPr>
            <a:r>
              <a:t>REFERENCE: S3 Block Public Access, KMS, Secrets Manager, CloudWatch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501384"/>
            <a:ext cx="4754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300"/>
              </a:spcAft>
              <a:defRPr sz="900" b="1" i="0">
                <a:solidFill>
                  <a:srgbClr val="6D7B8F"/>
                </a:solidFill>
                <a:latin typeface="Aptos"/>
              </a:defRPr>
            </a:pPr>
            <a:r>
              <a:t>38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645920"/>
            <a:ext cx="1920240" cy="594360"/>
          </a:xfrm>
          <a:prstGeom prst="rect">
            <a:avLst/>
          </a:prstGeom>
          <a:solidFill>
            <a:srgbClr val="1A2A43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673352"/>
            <a:ext cx="1773936" cy="5394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1150" b="1" i="0">
                <a:solidFill>
                  <a:srgbClr val="FFFFFF"/>
                </a:solidFill>
                <a:latin typeface="Aptos"/>
              </a:defRPr>
            </a:pPr>
            <a:r>
              <a:t>Finding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87168" y="1645920"/>
            <a:ext cx="4206240" cy="594360"/>
          </a:xfrm>
          <a:prstGeom prst="rect">
            <a:avLst/>
          </a:prstGeom>
          <a:solidFill>
            <a:srgbClr val="1A2A43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1673352"/>
            <a:ext cx="4059935" cy="5394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1150" b="1" i="0">
                <a:solidFill>
                  <a:srgbClr val="FFFFFF"/>
                </a:solidFill>
                <a:latin typeface="Aptos"/>
              </a:defRPr>
            </a:pPr>
            <a:r>
              <a:t>Control / action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93408" y="1645920"/>
            <a:ext cx="4937760" cy="594360"/>
          </a:xfrm>
          <a:prstGeom prst="rect">
            <a:avLst/>
          </a:prstGeom>
          <a:solidFill>
            <a:srgbClr val="1A2A43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1673352"/>
            <a:ext cx="4791456" cy="5394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1150" b="1" i="0">
                <a:solidFill>
                  <a:srgbClr val="FFFFFF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2240280"/>
            <a:ext cx="1920240" cy="594360"/>
          </a:xfrm>
          <a:prstGeom prst="rect">
            <a:avLst/>
          </a:prstGeom>
          <a:solidFill>
            <a:srgbClr val="FFFFFF"/>
          </a:solidFill>
          <a:ln w="5715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" y="2267712"/>
            <a:ext cx="1792224" cy="5394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1150" b="0" i="0">
                <a:solidFill>
                  <a:srgbClr val="243247"/>
                </a:solidFill>
                <a:latin typeface="Aptos"/>
              </a:defRPr>
            </a:pPr>
            <a:r>
              <a:t>Public object risk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87168" y="2240280"/>
            <a:ext cx="4206240" cy="594360"/>
          </a:xfrm>
          <a:prstGeom prst="rect">
            <a:avLst/>
          </a:prstGeom>
          <a:solidFill>
            <a:srgbClr val="FFFFFF"/>
          </a:solidFill>
          <a:ln w="5715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51176" y="2267712"/>
            <a:ext cx="4078224" cy="5394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1150" b="0" i="0">
                <a:solidFill>
                  <a:srgbClr val="243247"/>
                </a:solidFill>
                <a:latin typeface="Aptos"/>
              </a:defRPr>
            </a:pPr>
            <a:r>
              <a:t>Enable S3 Block Public Access; test actual object URL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93408" y="2240280"/>
            <a:ext cx="4937760" cy="594360"/>
          </a:xfrm>
          <a:prstGeom prst="rect">
            <a:avLst/>
          </a:prstGeom>
          <a:solidFill>
            <a:srgbClr val="FFFFFF"/>
          </a:solidFill>
          <a:ln w="5715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57416" y="2267712"/>
            <a:ext cx="4809744" cy="5394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1150" b="0" i="0">
                <a:solidFill>
                  <a:srgbClr val="243247"/>
                </a:solidFill>
                <a:latin typeface="Aptos"/>
              </a:defRPr>
            </a:pPr>
            <a:r>
              <a:t>Bucket settings + public-access-block API + anonymous request result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2834640"/>
            <a:ext cx="1920240" cy="594360"/>
          </a:xfrm>
          <a:prstGeom prst="rect">
            <a:avLst/>
          </a:prstGeom>
          <a:solidFill>
            <a:srgbClr val="F0F4F8"/>
          </a:solidFill>
          <a:ln w="5715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" y="2862072"/>
            <a:ext cx="1792224" cy="5394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1150" b="0" i="0">
                <a:solidFill>
                  <a:srgbClr val="243247"/>
                </a:solidFill>
                <a:latin typeface="Aptos"/>
              </a:defRPr>
            </a:pPr>
            <a:r>
              <a:t>Encryption governance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87168" y="2834640"/>
            <a:ext cx="4206240" cy="594360"/>
          </a:xfrm>
          <a:prstGeom prst="rect">
            <a:avLst/>
          </a:prstGeom>
          <a:solidFill>
            <a:srgbClr val="F0F4F8"/>
          </a:solidFill>
          <a:ln w="5715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51176" y="2862072"/>
            <a:ext cx="4078224" cy="5394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1150" b="0" i="0">
                <a:solidFill>
                  <a:srgbClr val="243247"/>
                </a:solidFill>
                <a:latin typeface="Aptos"/>
              </a:defRPr>
            </a:pPr>
            <a:r>
              <a:t>Set SSE-KMS if customer-managed key is required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93408" y="2834640"/>
            <a:ext cx="4937760" cy="594360"/>
          </a:xfrm>
          <a:prstGeom prst="rect">
            <a:avLst/>
          </a:prstGeom>
          <a:solidFill>
            <a:srgbClr val="F0F4F8"/>
          </a:solidFill>
          <a:ln w="5715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57416" y="2862072"/>
            <a:ext cx="4809744" cy="5394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1150" b="0" i="0">
                <a:solidFill>
                  <a:srgbClr val="243247"/>
                </a:solidFill>
                <a:latin typeface="Aptos"/>
              </a:defRPr>
            </a:pPr>
            <a:r>
              <a:t>Default encryption shows aws:kms and key ID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3429000"/>
            <a:ext cx="1920240" cy="594360"/>
          </a:xfrm>
          <a:prstGeom prst="rect">
            <a:avLst/>
          </a:prstGeom>
          <a:solidFill>
            <a:srgbClr val="FFFFFF"/>
          </a:solidFill>
          <a:ln w="5715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" y="3456432"/>
            <a:ext cx="1792224" cy="5394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1150" b="0" i="0">
                <a:solidFill>
                  <a:srgbClr val="243247"/>
                </a:solidFill>
                <a:latin typeface="Aptos"/>
              </a:defRPr>
            </a:pPr>
            <a:r>
              <a:t>Exposed DB secret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87168" y="3429000"/>
            <a:ext cx="4206240" cy="594360"/>
          </a:xfrm>
          <a:prstGeom prst="rect">
            <a:avLst/>
          </a:prstGeom>
          <a:solidFill>
            <a:srgbClr val="FFFFFF"/>
          </a:solidFill>
          <a:ln w="5715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551176" y="3456432"/>
            <a:ext cx="4078224" cy="5394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1150" b="0" i="0">
                <a:solidFill>
                  <a:srgbClr val="243247"/>
                </a:solidFill>
                <a:latin typeface="Aptos"/>
              </a:defRPr>
            </a:pPr>
            <a:r>
              <a:t>Change target DB/service password and update secret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93408" y="3429000"/>
            <a:ext cx="4937760" cy="594360"/>
          </a:xfrm>
          <a:prstGeom prst="rect">
            <a:avLst/>
          </a:prstGeom>
          <a:solidFill>
            <a:srgbClr val="FFFFFF"/>
          </a:solidFill>
          <a:ln w="5715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57416" y="3456432"/>
            <a:ext cx="4809744" cy="5394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1150" b="0" i="0">
                <a:solidFill>
                  <a:srgbClr val="243247"/>
                </a:solidFill>
                <a:latin typeface="Aptos"/>
              </a:defRPr>
            </a:pPr>
            <a:r>
              <a:t>New secret version + successful login; old value fails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4023360"/>
            <a:ext cx="1920240" cy="594360"/>
          </a:xfrm>
          <a:prstGeom prst="rect">
            <a:avLst/>
          </a:prstGeom>
          <a:solidFill>
            <a:srgbClr val="F0F4F8"/>
          </a:solidFill>
          <a:ln w="5715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6" y="4050792"/>
            <a:ext cx="1792224" cy="5394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1150" b="0" i="0">
                <a:solidFill>
                  <a:srgbClr val="243247"/>
                </a:solidFill>
                <a:latin typeface="Aptos"/>
              </a:defRPr>
            </a:pPr>
            <a:r>
              <a:t>Alert did not notify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87168" y="4023360"/>
            <a:ext cx="4206240" cy="594360"/>
          </a:xfrm>
          <a:prstGeom prst="rect">
            <a:avLst/>
          </a:prstGeom>
          <a:solidFill>
            <a:srgbClr val="F0F4F8"/>
          </a:solidFill>
          <a:ln w="5715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51176" y="4050792"/>
            <a:ext cx="4078224" cy="5394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1150" b="0" i="0">
                <a:solidFill>
                  <a:srgbClr val="243247"/>
                </a:solidFill>
                <a:latin typeface="Aptos"/>
              </a:defRPr>
            </a:pPr>
            <a:r>
              <a:t>Correct alarm threshold/window/action and validate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693408" y="4023360"/>
            <a:ext cx="4937760" cy="594360"/>
          </a:xfrm>
          <a:prstGeom prst="rect">
            <a:avLst/>
          </a:prstGeom>
          <a:solidFill>
            <a:srgbClr val="F0F4F8"/>
          </a:solidFill>
          <a:ln w="5715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57416" y="4050792"/>
            <a:ext cx="4809744" cy="5394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1150" b="0" i="0">
                <a:solidFill>
                  <a:srgbClr val="243247"/>
                </a:solidFill>
                <a:latin typeface="Aptos"/>
              </a:defRPr>
            </a:pPr>
            <a:r>
              <a:t>Alarm state + confirmed SNS notification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6928" y="4617720"/>
            <a:ext cx="1920240" cy="594360"/>
          </a:xfrm>
          <a:prstGeom prst="rect">
            <a:avLst/>
          </a:prstGeom>
          <a:solidFill>
            <a:srgbClr val="FFFFFF"/>
          </a:solidFill>
          <a:ln w="5715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0936" y="4645152"/>
            <a:ext cx="1792224" cy="5394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1150" b="0" i="0">
                <a:solidFill>
                  <a:srgbClr val="243247"/>
                </a:solidFill>
                <a:latin typeface="Aptos"/>
              </a:defRPr>
            </a:pPr>
            <a:r>
              <a:t>Unexplained spend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487168" y="4617720"/>
            <a:ext cx="4206240" cy="594360"/>
          </a:xfrm>
          <a:prstGeom prst="rect">
            <a:avLst/>
          </a:prstGeom>
          <a:solidFill>
            <a:srgbClr val="FFFFFF"/>
          </a:solidFill>
          <a:ln w="5715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551176" y="4645152"/>
            <a:ext cx="4078224" cy="5394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1150" b="0" i="0">
                <a:solidFill>
                  <a:srgbClr val="243247"/>
                </a:solidFill>
                <a:latin typeface="Aptos"/>
              </a:defRPr>
            </a:pPr>
            <a:r>
              <a:t>Cost Explorer group by service / usage type / tag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693408" y="4617720"/>
            <a:ext cx="4937760" cy="594360"/>
          </a:xfrm>
          <a:prstGeom prst="rect">
            <a:avLst/>
          </a:prstGeom>
          <a:solidFill>
            <a:srgbClr val="FFFFFF"/>
          </a:solidFill>
          <a:ln w="5715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757416" y="4645152"/>
            <a:ext cx="4809744" cy="5394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1150" b="0" i="0">
                <a:solidFill>
                  <a:srgbClr val="243247"/>
                </a:solidFill>
                <a:latin typeface="Aptos"/>
              </a:defRPr>
            </a:pPr>
            <a:r>
              <a:t>Cost breakdown and identified driver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544068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1220" b="1" i="0">
                <a:solidFill>
                  <a:srgbClr val="C43D4B"/>
                </a:solidFill>
                <a:latin typeface="Aptos"/>
              </a:defRPr>
            </a:pPr>
            <a:r>
              <a:t>Safety note: do not make real lab data public to stage a finding. Pre-seed/simulate the noncompliant state where account guardrails block it.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329184"/>
            <a:ext cx="64008" cy="26517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20040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919" b="1" i="0">
                <a:solidFill>
                  <a:srgbClr val="FF9900"/>
                </a:solidFill>
                <a:latin typeface="Aptos"/>
              </a:defRPr>
            </a:pPr>
            <a:r>
              <a:t>VALIDATION &amp; HANDOFF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21792"/>
            <a:ext cx="113842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2600" b="1" i="0">
                <a:solidFill>
                  <a:srgbClr val="121C2F"/>
                </a:solidFill>
                <a:latin typeface="Aptos"/>
              </a:defRPr>
            </a:pPr>
            <a:r>
              <a:t>What evidence should a learner submit?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1133856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1230" b="0" i="0">
                <a:solidFill>
                  <a:srgbClr val="536278"/>
                </a:solidFill>
                <a:latin typeface="Aptos"/>
              </a:defRPr>
            </a:pPr>
            <a:r>
              <a:t>Use a small, repeatable evidence pack for every scenario.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8912" y="6473952"/>
            <a:ext cx="11311128" cy="0"/>
          </a:xfrm>
          <a:prstGeom prst="line">
            <a:avLst/>
          </a:prstGeom>
          <a:ln w="7620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10528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750" b="0" i="0">
                <a:solidFill>
                  <a:srgbClr val="6D7B8F"/>
                </a:solidFill>
                <a:latin typeface="Aptos"/>
              </a:defRPr>
            </a:pPr>
            <a:r>
              <a:t>REFERENCE: Based on Day 4 lab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501384"/>
            <a:ext cx="4754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300"/>
              </a:spcAft>
              <a:defRPr sz="900" b="1" i="0">
                <a:solidFill>
                  <a:srgbClr val="6D7B8F"/>
                </a:solidFill>
                <a:latin typeface="Aptos"/>
              </a:defRPr>
            </a:pPr>
            <a:r>
              <a:t>39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347472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691640"/>
            <a:ext cx="68580" cy="32004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1847088"/>
            <a:ext cx="3099815" cy="32918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600" b="1" i="0">
                <a:solidFill>
                  <a:srgbClr val="121C2F"/>
                </a:solidFill>
                <a:latin typeface="Aptos"/>
              </a:defRPr>
            </a:pPr>
            <a:r>
              <a:t>Before</a:t>
            </a:r>
          </a:p>
        </p:txBody>
      </p:sp>
      <p:sp>
        <p:nvSpPr>
          <p:cNvPr id="12" name="Oval 11"/>
          <p:cNvSpPr/>
          <p:nvPr/>
        </p:nvSpPr>
        <p:spPr>
          <a:xfrm>
            <a:off x="877824" y="2432304"/>
            <a:ext cx="91440" cy="9144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2313432"/>
            <a:ext cx="2852927" cy="59893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300" b="0" i="0">
                <a:solidFill>
                  <a:srgbClr val="243247"/>
                </a:solidFill>
                <a:latin typeface="Aptos"/>
              </a:defRPr>
            </a:pPr>
            <a:r>
              <a:t>Resource ID and Region</a:t>
            </a:r>
          </a:p>
        </p:txBody>
      </p:sp>
      <p:sp>
        <p:nvSpPr>
          <p:cNvPr id="14" name="Oval 13"/>
          <p:cNvSpPr/>
          <p:nvPr/>
        </p:nvSpPr>
        <p:spPr>
          <a:xfrm>
            <a:off x="877824" y="3049524"/>
            <a:ext cx="91440" cy="9144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2930652"/>
            <a:ext cx="2852927" cy="59893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300" b="0" i="0">
                <a:solidFill>
                  <a:srgbClr val="243247"/>
                </a:solidFill>
                <a:latin typeface="Aptos"/>
              </a:defRPr>
            </a:pPr>
            <a:r>
              <a:t>Starting state / metric</a:t>
            </a:r>
          </a:p>
        </p:txBody>
      </p:sp>
      <p:sp>
        <p:nvSpPr>
          <p:cNvPr id="16" name="Oval 15"/>
          <p:cNvSpPr/>
          <p:nvPr/>
        </p:nvSpPr>
        <p:spPr>
          <a:xfrm>
            <a:off x="877824" y="3666744"/>
            <a:ext cx="91440" cy="9144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3547872"/>
            <a:ext cx="2852927" cy="59893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300" b="0" i="0">
                <a:solidFill>
                  <a:srgbClr val="243247"/>
                </a:solidFill>
                <a:latin typeface="Aptos"/>
              </a:defRPr>
            </a:pPr>
            <a:r>
              <a:t>Relevant route, policy or config</a:t>
            </a:r>
          </a:p>
        </p:txBody>
      </p:sp>
      <p:sp>
        <p:nvSpPr>
          <p:cNvPr id="18" name="Oval 17"/>
          <p:cNvSpPr/>
          <p:nvPr/>
        </p:nvSpPr>
        <p:spPr>
          <a:xfrm>
            <a:off x="877824" y="4283964"/>
            <a:ext cx="91440" cy="9144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4165092"/>
            <a:ext cx="2852927" cy="59893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300" b="0" i="0">
                <a:solidFill>
                  <a:srgbClr val="243247"/>
                </a:solidFill>
                <a:latin typeface="Aptos"/>
              </a:defRPr>
            </a:pPr>
            <a:r>
              <a:t>Exact error or symptom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1691640"/>
            <a:ext cx="347472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89120" y="1691640"/>
            <a:ext cx="68580" cy="32004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99432" y="1847088"/>
            <a:ext cx="3099815" cy="32918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600" b="1" i="0">
                <a:solidFill>
                  <a:srgbClr val="121C2F"/>
                </a:solidFill>
                <a:latin typeface="Aptos"/>
              </a:defRPr>
            </a:pPr>
            <a:r>
              <a:t>Change</a:t>
            </a:r>
          </a:p>
        </p:txBody>
      </p:sp>
      <p:sp>
        <p:nvSpPr>
          <p:cNvPr id="23" name="Oval 22"/>
          <p:cNvSpPr/>
          <p:nvPr/>
        </p:nvSpPr>
        <p:spPr>
          <a:xfrm>
            <a:off x="4626864" y="2432304"/>
            <a:ext cx="91440" cy="9144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28031" y="2313432"/>
            <a:ext cx="2852927" cy="59893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300" b="0" i="0">
                <a:solidFill>
                  <a:srgbClr val="243247"/>
                </a:solidFill>
                <a:latin typeface="Aptos"/>
              </a:defRPr>
            </a:pPr>
            <a:r>
              <a:t>Command / Console action</a:t>
            </a:r>
          </a:p>
        </p:txBody>
      </p:sp>
      <p:sp>
        <p:nvSpPr>
          <p:cNvPr id="25" name="Oval 24"/>
          <p:cNvSpPr/>
          <p:nvPr/>
        </p:nvSpPr>
        <p:spPr>
          <a:xfrm>
            <a:off x="4626864" y="3049524"/>
            <a:ext cx="91440" cy="9144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28031" y="2930652"/>
            <a:ext cx="2852927" cy="59893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300" b="0" i="0">
                <a:solidFill>
                  <a:srgbClr val="243247"/>
                </a:solidFill>
                <a:latin typeface="Aptos"/>
              </a:defRPr>
            </a:pPr>
            <a:r>
              <a:t>Scope and source IP</a:t>
            </a:r>
          </a:p>
        </p:txBody>
      </p:sp>
      <p:sp>
        <p:nvSpPr>
          <p:cNvPr id="27" name="Oval 26"/>
          <p:cNvSpPr/>
          <p:nvPr/>
        </p:nvSpPr>
        <p:spPr>
          <a:xfrm>
            <a:off x="4626864" y="3666744"/>
            <a:ext cx="91440" cy="9144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28031" y="3547872"/>
            <a:ext cx="2852927" cy="59893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300" b="0" i="0">
                <a:solidFill>
                  <a:srgbClr val="243247"/>
                </a:solidFill>
                <a:latin typeface="Aptos"/>
              </a:defRPr>
            </a:pPr>
            <a:r>
              <a:t>Expected side effect</a:t>
            </a:r>
          </a:p>
        </p:txBody>
      </p:sp>
      <p:sp>
        <p:nvSpPr>
          <p:cNvPr id="29" name="Oval 28"/>
          <p:cNvSpPr/>
          <p:nvPr/>
        </p:nvSpPr>
        <p:spPr>
          <a:xfrm>
            <a:off x="4626864" y="4283964"/>
            <a:ext cx="91440" cy="9144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28031" y="4165092"/>
            <a:ext cx="2852927" cy="59893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300" b="0" i="0">
                <a:solidFill>
                  <a:srgbClr val="243247"/>
                </a:solidFill>
                <a:latin typeface="Aptos"/>
              </a:defRPr>
            </a:pPr>
            <a:r>
              <a:t>Approval / safety check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38160" y="1691640"/>
            <a:ext cx="347472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38160" y="1691640"/>
            <a:ext cx="68580" cy="3200400"/>
          </a:xfrm>
          <a:prstGeom prst="rect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48472" y="1847088"/>
            <a:ext cx="3099815" cy="32918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600" b="1" i="0">
                <a:solidFill>
                  <a:srgbClr val="121C2F"/>
                </a:solidFill>
                <a:latin typeface="Aptos"/>
              </a:defRPr>
            </a:pPr>
            <a:r>
              <a:t>After</a:t>
            </a:r>
          </a:p>
        </p:txBody>
      </p:sp>
      <p:sp>
        <p:nvSpPr>
          <p:cNvPr id="34" name="Oval 33"/>
          <p:cNvSpPr/>
          <p:nvPr/>
        </p:nvSpPr>
        <p:spPr>
          <a:xfrm>
            <a:off x="8375904" y="2432304"/>
            <a:ext cx="91440" cy="91440"/>
          </a:xfrm>
          <a:prstGeom prst="ellipse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77072" y="2313432"/>
            <a:ext cx="2852927" cy="59893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300" b="0" i="0">
                <a:solidFill>
                  <a:srgbClr val="243247"/>
                </a:solidFill>
                <a:latin typeface="Aptos"/>
              </a:defRPr>
            </a:pPr>
            <a:r>
              <a:t>State / output proving fix</a:t>
            </a:r>
          </a:p>
        </p:txBody>
      </p:sp>
      <p:sp>
        <p:nvSpPr>
          <p:cNvPr id="36" name="Oval 35"/>
          <p:cNvSpPr/>
          <p:nvPr/>
        </p:nvSpPr>
        <p:spPr>
          <a:xfrm>
            <a:off x="8375904" y="3049524"/>
            <a:ext cx="91440" cy="91440"/>
          </a:xfrm>
          <a:prstGeom prst="ellipse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77072" y="2930652"/>
            <a:ext cx="2852927" cy="59893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300" b="0" i="0">
                <a:solidFill>
                  <a:srgbClr val="243247"/>
                </a:solidFill>
                <a:latin typeface="Aptos"/>
              </a:defRPr>
            </a:pPr>
            <a:r>
              <a:t>Health / HTTP / disk metric</a:t>
            </a:r>
          </a:p>
        </p:txBody>
      </p:sp>
      <p:sp>
        <p:nvSpPr>
          <p:cNvPr id="38" name="Oval 37"/>
          <p:cNvSpPr/>
          <p:nvPr/>
        </p:nvSpPr>
        <p:spPr>
          <a:xfrm>
            <a:off x="8375904" y="3666744"/>
            <a:ext cx="91440" cy="91440"/>
          </a:xfrm>
          <a:prstGeom prst="ellipse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77072" y="3547872"/>
            <a:ext cx="2852927" cy="59893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300" b="0" i="0">
                <a:solidFill>
                  <a:srgbClr val="243247"/>
                </a:solidFill>
                <a:latin typeface="Aptos"/>
              </a:defRPr>
            </a:pPr>
            <a:r>
              <a:t>Screenshot or command output</a:t>
            </a:r>
          </a:p>
        </p:txBody>
      </p:sp>
      <p:sp>
        <p:nvSpPr>
          <p:cNvPr id="40" name="Oval 39"/>
          <p:cNvSpPr/>
          <p:nvPr/>
        </p:nvSpPr>
        <p:spPr>
          <a:xfrm>
            <a:off x="8375904" y="4283964"/>
            <a:ext cx="91440" cy="91440"/>
          </a:xfrm>
          <a:prstGeom prst="ellipse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77072" y="4165092"/>
            <a:ext cx="2852927" cy="59893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300" b="0" i="0">
                <a:solidFill>
                  <a:srgbClr val="243247"/>
                </a:solidFill>
                <a:latin typeface="Aptos"/>
              </a:defRPr>
            </a:pPr>
            <a:r>
              <a:t>Cleanup status / remaining cost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" y="5303520"/>
            <a:ext cx="104241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1400" b="1" i="0">
                <a:solidFill>
                  <a:srgbClr val="C43D4B"/>
                </a:solidFill>
                <a:latin typeface="Aptos"/>
              </a:defRPr>
            </a:pPr>
            <a:r>
              <a:t>Do not include credentials, private keys, tokens or real customer data in screenshots.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329184"/>
            <a:ext cx="64008" cy="26517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20040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919" b="1" i="0">
                <a:solidFill>
                  <a:srgbClr val="FF9900"/>
                </a:solidFill>
                <a:latin typeface="Aptos"/>
              </a:defRPr>
            </a:pPr>
            <a:r>
              <a:t>VALIDATION &amp; HANDOFF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21792"/>
            <a:ext cx="113842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2600" b="1" i="0">
                <a:solidFill>
                  <a:srgbClr val="121C2F"/>
                </a:solidFill>
                <a:latin typeface="Aptos"/>
              </a:defRPr>
            </a:pPr>
            <a:r>
              <a:t>CLI patterns: inspect → change → inspect again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1133856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1230" b="0" i="0">
                <a:solidFill>
                  <a:srgbClr val="536278"/>
                </a:solidFill>
                <a:latin typeface="Aptos"/>
              </a:defRPr>
            </a:pPr>
            <a:r>
              <a:t>Use narrow filters and real IDs. Never copy example IDs into your environment.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8912" y="6473952"/>
            <a:ext cx="11311128" cy="0"/>
          </a:xfrm>
          <a:prstGeom prst="line">
            <a:avLst/>
          </a:prstGeom>
          <a:ln w="7620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10528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750" b="0" i="0">
                <a:solidFill>
                  <a:srgbClr val="6D7B8F"/>
                </a:solidFill>
                <a:latin typeface="Aptos"/>
              </a:defRPr>
            </a:pPr>
            <a:r>
              <a:t>REFERENCE: AWS CLI docs; lab commands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501384"/>
            <a:ext cx="4754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300"/>
              </a:spcAft>
              <a:defRPr sz="900" b="1" i="0">
                <a:solidFill>
                  <a:srgbClr val="6D7B8F"/>
                </a:solidFill>
                <a:latin typeface="Aptos"/>
              </a:defRPr>
            </a:pPr>
            <a:r>
              <a:t>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08176"/>
            <a:ext cx="10927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1000" b="1" i="0">
                <a:solidFill>
                  <a:srgbClr val="FF9900"/>
                </a:solidFill>
                <a:latin typeface="Aptos"/>
              </a:defRPr>
            </a:pPr>
            <a:r>
              <a:t>EXAMPLE PATTERN - REPLACE PLACEHOLDERS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645920"/>
            <a:ext cx="10927080" cy="4114800"/>
          </a:xfrm>
          <a:prstGeom prst="roundRect">
            <a:avLst>
              <a:gd name="adj" fmla="val 8000"/>
            </a:avLst>
          </a:prstGeom>
          <a:solidFill>
            <a:srgbClr val="0D1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1755648"/>
            <a:ext cx="10634472" cy="3913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1210" b="0" i="0">
                <a:solidFill>
                  <a:srgbClr val="EAF0F8"/>
                </a:solidFill>
                <a:latin typeface="Cascadia Code"/>
              </a:defRPr>
            </a:pPr>
            <a:r>
              <a:t># Inspect resources first</a:t>
            </a:r>
          </a:p>
          <a:p>
            <a:pPr algn="l">
              <a:spcAft>
                <a:spcPts val="300"/>
              </a:spcAft>
              <a:defRPr sz="1210" b="0" i="0">
                <a:solidFill>
                  <a:srgbClr val="EAF0F8"/>
                </a:solidFill>
                <a:latin typeface="Cascadia Code"/>
              </a:defRPr>
            </a:pPr>
            <a:r>
              <a:t>aws sts get-caller-identity</a:t>
            </a:r>
          </a:p>
          <a:p>
            <a:pPr algn="l">
              <a:spcAft>
                <a:spcPts val="300"/>
              </a:spcAft>
              <a:defRPr sz="1210" b="0" i="0">
                <a:solidFill>
                  <a:srgbClr val="EAF0F8"/>
                </a:solidFill>
                <a:latin typeface="Cascadia Code"/>
              </a:defRPr>
            </a:pPr>
            <a:r>
              <a:t>aws ec2 describe-instances --filters "Name=tag:Name,Values=vm-oversized-idle-01" --output table</a:t>
            </a:r>
          </a:p>
          <a:p>
            <a:pPr algn="l">
              <a:spcAft>
                <a:spcPts val="300"/>
              </a:spcAft>
              <a:defRPr sz="1210" b="0" i="0">
                <a:solidFill>
                  <a:srgbClr val="EAF0F8"/>
                </a:solidFill>
                <a:latin typeface="Cascadia Code"/>
              </a:defRPr>
            </a:pPr>
          </a:p>
          <a:p>
            <a:pPr algn="l">
              <a:spcAft>
                <a:spcPts val="300"/>
              </a:spcAft>
              <a:defRPr sz="1210" b="0" i="0">
                <a:solidFill>
                  <a:srgbClr val="EAF0F8"/>
                </a:solidFill>
                <a:latin typeface="Cascadia Code"/>
              </a:defRPr>
            </a:pPr>
            <a:r>
              <a:t># Make one change only after confirming the ID</a:t>
            </a:r>
          </a:p>
          <a:p>
            <a:pPr algn="l">
              <a:spcAft>
                <a:spcPts val="300"/>
              </a:spcAft>
              <a:defRPr sz="1210" b="0" i="0">
                <a:solidFill>
                  <a:srgbClr val="EAF0F8"/>
                </a:solidFill>
                <a:latin typeface="Cascadia Code"/>
              </a:defRPr>
            </a:pPr>
            <a:r>
              <a:t>aws ec2 stop-instances --instance-ids &lt;CONFIRMED_INSTANCE_ID&gt;</a:t>
            </a:r>
          </a:p>
          <a:p>
            <a:pPr algn="l">
              <a:spcAft>
                <a:spcPts val="300"/>
              </a:spcAft>
              <a:defRPr sz="1210" b="0" i="0">
                <a:solidFill>
                  <a:srgbClr val="EAF0F8"/>
                </a:solidFill>
                <a:latin typeface="Cascadia Code"/>
              </a:defRPr>
            </a:pPr>
          </a:p>
          <a:p>
            <a:pPr algn="l">
              <a:spcAft>
                <a:spcPts val="300"/>
              </a:spcAft>
              <a:defRPr sz="1210" b="0" i="0">
                <a:solidFill>
                  <a:srgbClr val="EAF0F8"/>
                </a:solidFill>
                <a:latin typeface="Cascadia Code"/>
              </a:defRPr>
            </a:pPr>
            <a:r>
              <a:t># Validate the resulting state</a:t>
            </a:r>
          </a:p>
          <a:p>
            <a:pPr algn="l">
              <a:spcAft>
                <a:spcPts val="300"/>
              </a:spcAft>
              <a:defRPr sz="1210" b="0" i="0">
                <a:solidFill>
                  <a:srgbClr val="EAF0F8"/>
                </a:solidFill>
                <a:latin typeface="Cascadia Code"/>
              </a:defRPr>
            </a:pPr>
            <a:r>
              <a:t>aws ec2 describe-instances --instance-ids &lt;CONFIRMED_INSTANCE_ID&gt; --query "Reservations[].Instances[].[InstanceId,State.Name]" --output table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329184"/>
            <a:ext cx="64008" cy="26517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20040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919" b="1" i="0">
                <a:solidFill>
                  <a:srgbClr val="FF9900"/>
                </a:solidFill>
                <a:latin typeface="Aptos"/>
              </a:defRPr>
            </a:pPr>
            <a:r>
              <a:t>VALIDATION &amp; HANDOFF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21792"/>
            <a:ext cx="113842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2400" b="1" i="0">
                <a:solidFill>
                  <a:srgbClr val="121C2F"/>
                </a:solidFill>
                <a:latin typeface="Aptos"/>
              </a:defRPr>
            </a:pPr>
            <a:r>
              <a:t>Lab safety: deploy with a plan, destroy with a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1133856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1230" b="0" i="0">
                <a:solidFill>
                  <a:srgbClr val="536278"/>
                </a:solidFill>
                <a:latin typeface="Aptos"/>
              </a:defRPr>
            </a:pPr>
            <a:r>
              <a:t>The sandbox is disposable, but the bill and data-loss consequences are real.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8912" y="6473952"/>
            <a:ext cx="11311128" cy="0"/>
          </a:xfrm>
          <a:prstGeom prst="line">
            <a:avLst/>
          </a:prstGeom>
          <a:ln w="7620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10528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750" b="0" i="0">
                <a:solidFill>
                  <a:srgbClr val="6D7B8F"/>
                </a:solidFill>
                <a:latin typeface="Aptos"/>
              </a:defRPr>
            </a:pPr>
            <a:r>
              <a:t>REFERENCE: AWS pricing / EC2 lifecycle / EBS snapshots docs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501384"/>
            <a:ext cx="4754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300"/>
              </a:spcAft>
              <a:defRPr sz="900" b="1" i="0">
                <a:solidFill>
                  <a:srgbClr val="6D7B8F"/>
                </a:solidFill>
                <a:latin typeface="Aptos"/>
              </a:defRPr>
            </a:pPr>
            <a:r>
              <a:t>41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5257800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691640"/>
            <a:ext cx="68580" cy="35661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1847088"/>
            <a:ext cx="4882896" cy="32918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600" b="1" i="0">
                <a:solidFill>
                  <a:srgbClr val="121C2F"/>
                </a:solidFill>
                <a:latin typeface="Aptos"/>
              </a:defRPr>
            </a:pPr>
            <a:r>
              <a:t>Before deployment</a:t>
            </a:r>
          </a:p>
        </p:txBody>
      </p:sp>
      <p:sp>
        <p:nvSpPr>
          <p:cNvPr id="12" name="Oval 11"/>
          <p:cNvSpPr/>
          <p:nvPr/>
        </p:nvSpPr>
        <p:spPr>
          <a:xfrm>
            <a:off x="877824" y="2432304"/>
            <a:ext cx="91440" cy="9144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2313432"/>
            <a:ext cx="4636008" cy="548639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320" b="0" i="0">
                <a:solidFill>
                  <a:srgbClr val="243247"/>
                </a:solidFill>
                <a:latin typeface="Aptos"/>
              </a:defRPr>
            </a:pPr>
            <a:r>
              <a:t>Use the authorized sandbox account and Region</a:t>
            </a:r>
          </a:p>
        </p:txBody>
      </p:sp>
      <p:sp>
        <p:nvSpPr>
          <p:cNvPr id="14" name="Oval 13"/>
          <p:cNvSpPr/>
          <p:nvPr/>
        </p:nvSpPr>
        <p:spPr>
          <a:xfrm>
            <a:off x="877824" y="2999232"/>
            <a:ext cx="91440" cy="9144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2880360"/>
            <a:ext cx="4636008" cy="548639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320" b="0" i="0">
                <a:solidFill>
                  <a:srgbClr val="243247"/>
                </a:solidFill>
                <a:latin typeface="Aptos"/>
              </a:defRPr>
            </a:pPr>
            <a:r>
              <a:t>Inspect terraform plan; avoid auto-approve</a:t>
            </a:r>
          </a:p>
        </p:txBody>
      </p:sp>
      <p:sp>
        <p:nvSpPr>
          <p:cNvPr id="16" name="Oval 15"/>
          <p:cNvSpPr/>
          <p:nvPr/>
        </p:nvSpPr>
        <p:spPr>
          <a:xfrm>
            <a:off x="877824" y="3566160"/>
            <a:ext cx="91440" cy="9144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3447288"/>
            <a:ext cx="4636008" cy="548639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320" b="0" i="0">
                <a:solidFill>
                  <a:srgbClr val="243247"/>
                </a:solidFill>
                <a:latin typeface="Aptos"/>
              </a:defRPr>
            </a:pPr>
            <a:r>
              <a:t>Use synthetic data and temporary credentials</a:t>
            </a:r>
          </a:p>
        </p:txBody>
      </p:sp>
      <p:sp>
        <p:nvSpPr>
          <p:cNvPr id="18" name="Oval 17"/>
          <p:cNvSpPr/>
          <p:nvPr/>
        </p:nvSpPr>
        <p:spPr>
          <a:xfrm>
            <a:off x="877824" y="4133087"/>
            <a:ext cx="91440" cy="9144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4014215"/>
            <a:ext cx="4636008" cy="548639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320" b="0" i="0">
                <a:solidFill>
                  <a:srgbClr val="243247"/>
                </a:solidFill>
                <a:latin typeface="Aptos"/>
              </a:defRPr>
            </a:pPr>
            <a:r>
              <a:t>Restrict SSH to a known /32 or use SSM</a:t>
            </a:r>
          </a:p>
        </p:txBody>
      </p:sp>
      <p:sp>
        <p:nvSpPr>
          <p:cNvPr id="20" name="Oval 19"/>
          <p:cNvSpPr/>
          <p:nvPr/>
        </p:nvSpPr>
        <p:spPr>
          <a:xfrm>
            <a:off x="877824" y="4700016"/>
            <a:ext cx="91440" cy="9144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8992" y="4581144"/>
            <a:ext cx="4636008" cy="548639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320" b="0" i="0">
                <a:solidFill>
                  <a:srgbClr val="243247"/>
                </a:solidFill>
                <a:latin typeface="Aptos"/>
              </a:defRPr>
            </a:pPr>
            <a:r>
              <a:t>Check quotas, available AZs and budget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1691640"/>
            <a:ext cx="5257800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1691640"/>
            <a:ext cx="68580" cy="3566160"/>
          </a:xfrm>
          <a:prstGeom prst="rect">
            <a:avLst/>
          </a:prstGeom>
          <a:solidFill>
            <a:srgbClr val="C43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73952" y="1847088"/>
            <a:ext cx="4882896" cy="32918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600" b="1" i="0">
                <a:solidFill>
                  <a:srgbClr val="121C2F"/>
                </a:solidFill>
                <a:latin typeface="Aptos"/>
              </a:defRPr>
            </a:pPr>
            <a:r>
              <a:t>Before teardown</a:t>
            </a:r>
          </a:p>
        </p:txBody>
      </p:sp>
      <p:sp>
        <p:nvSpPr>
          <p:cNvPr id="25" name="Oval 24"/>
          <p:cNvSpPr/>
          <p:nvPr/>
        </p:nvSpPr>
        <p:spPr>
          <a:xfrm>
            <a:off x="6501383" y="2432304"/>
            <a:ext cx="91440" cy="91440"/>
          </a:xfrm>
          <a:prstGeom prst="ellipse">
            <a:avLst/>
          </a:prstGeom>
          <a:solidFill>
            <a:srgbClr val="C43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02551" y="2313432"/>
            <a:ext cx="4636008" cy="548639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280" b="0" i="0">
                <a:solidFill>
                  <a:srgbClr val="243247"/>
                </a:solidFill>
                <a:latin typeface="Aptos"/>
              </a:defRPr>
            </a:pPr>
            <a:r>
              <a:t>Confirm no required evidence/data remains</a:t>
            </a:r>
          </a:p>
        </p:txBody>
      </p:sp>
      <p:sp>
        <p:nvSpPr>
          <p:cNvPr id="27" name="Oval 26"/>
          <p:cNvSpPr/>
          <p:nvPr/>
        </p:nvSpPr>
        <p:spPr>
          <a:xfrm>
            <a:off x="6501383" y="2999232"/>
            <a:ext cx="91440" cy="91440"/>
          </a:xfrm>
          <a:prstGeom prst="ellipse">
            <a:avLst/>
          </a:prstGeom>
          <a:solidFill>
            <a:srgbClr val="C43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02551" y="2880360"/>
            <a:ext cx="4636008" cy="548639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280" b="0" i="0">
                <a:solidFill>
                  <a:srgbClr val="243247"/>
                </a:solidFill>
                <a:latin typeface="Aptos"/>
              </a:defRPr>
            </a:pPr>
            <a:r>
              <a:t>Destroy ASG and ALB; release NAT/EIPs</a:t>
            </a:r>
          </a:p>
        </p:txBody>
      </p:sp>
      <p:sp>
        <p:nvSpPr>
          <p:cNvPr id="29" name="Oval 28"/>
          <p:cNvSpPr/>
          <p:nvPr/>
        </p:nvSpPr>
        <p:spPr>
          <a:xfrm>
            <a:off x="6501383" y="3566160"/>
            <a:ext cx="91440" cy="91440"/>
          </a:xfrm>
          <a:prstGeom prst="ellipse">
            <a:avLst/>
          </a:prstGeom>
          <a:solidFill>
            <a:srgbClr val="C43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02551" y="3447288"/>
            <a:ext cx="4636008" cy="548639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280" b="0" i="0">
                <a:solidFill>
                  <a:srgbClr val="243247"/>
                </a:solidFill>
                <a:latin typeface="Aptos"/>
              </a:defRPr>
            </a:pPr>
            <a:r>
              <a:t>Delete test EC2 and unattached EBS volumes</a:t>
            </a:r>
          </a:p>
        </p:txBody>
      </p:sp>
      <p:sp>
        <p:nvSpPr>
          <p:cNvPr id="31" name="Oval 30"/>
          <p:cNvSpPr/>
          <p:nvPr/>
        </p:nvSpPr>
        <p:spPr>
          <a:xfrm>
            <a:off x="6501383" y="4133087"/>
            <a:ext cx="91440" cy="91440"/>
          </a:xfrm>
          <a:prstGeom prst="ellipse">
            <a:avLst/>
          </a:prstGeom>
          <a:solidFill>
            <a:srgbClr val="C43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02551" y="4014215"/>
            <a:ext cx="4636008" cy="548639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280" b="0" i="0">
                <a:solidFill>
                  <a:srgbClr val="243247"/>
                </a:solidFill>
                <a:latin typeface="Aptos"/>
              </a:defRPr>
            </a:pPr>
            <a:r>
              <a:t>Remove S3 objects and all versions/delete markers</a:t>
            </a:r>
          </a:p>
        </p:txBody>
      </p:sp>
      <p:sp>
        <p:nvSpPr>
          <p:cNvPr id="33" name="Oval 32"/>
          <p:cNvSpPr/>
          <p:nvPr/>
        </p:nvSpPr>
        <p:spPr>
          <a:xfrm>
            <a:off x="6501383" y="4700016"/>
            <a:ext cx="91440" cy="91440"/>
          </a:xfrm>
          <a:prstGeom prst="ellipse">
            <a:avLst/>
          </a:prstGeom>
          <a:solidFill>
            <a:srgbClr val="C43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02551" y="4581144"/>
            <a:ext cx="4636008" cy="548639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280" b="0" i="0">
                <a:solidFill>
                  <a:srgbClr val="243247"/>
                </a:solidFill>
                <a:latin typeface="Aptos"/>
              </a:defRPr>
            </a:pPr>
            <a:r>
              <a:t>Delete test secrets and scheduled resources; verify billing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" y="5532120"/>
            <a:ext cx="10241280" cy="393192"/>
          </a:xfrm>
          <a:prstGeom prst="roundRect">
            <a:avLst>
              <a:gd name="adj" fmla="val 8000"/>
            </a:avLst>
          </a:prstGeom>
          <a:solidFill>
            <a:srgbClr val="FFF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5614416"/>
            <a:ext cx="99669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1240" b="1" i="0">
                <a:solidFill>
                  <a:srgbClr val="121C2F"/>
                </a:solidFill>
                <a:latin typeface="Aptos"/>
              </a:defRPr>
            </a:pPr>
            <a:r>
              <a:t>Do not run terraform destroy until you have confirmed the workspace/state points only to the lab.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329184"/>
            <a:ext cx="64008" cy="26517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20040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919" b="1" i="0">
                <a:solidFill>
                  <a:srgbClr val="FF9900"/>
                </a:solidFill>
                <a:latin typeface="Aptos"/>
              </a:defRPr>
            </a:pPr>
            <a:r>
              <a:t>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21792"/>
            <a:ext cx="113842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2400" b="1" i="0">
                <a:solidFill>
                  <a:srgbClr val="121C2F"/>
                </a:solidFill>
                <a:latin typeface="Aptos"/>
              </a:defRPr>
            </a:pPr>
            <a:r>
              <a:t>Azure and AWS: remember the operational differences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1133856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1230" b="0" i="0">
                <a:solidFill>
                  <a:srgbClr val="536278"/>
                </a:solidFill>
                <a:latin typeface="Aptos"/>
              </a:defRPr>
            </a:pPr>
            <a:r>
              <a:t>Focus on intent and behavior, not service-name memorization.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8912" y="6473952"/>
            <a:ext cx="11311128" cy="0"/>
          </a:xfrm>
          <a:prstGeom prst="line">
            <a:avLst/>
          </a:prstGeom>
          <a:ln w="7620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10528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750" b="0" i="0">
                <a:solidFill>
                  <a:srgbClr val="6D7B8F"/>
                </a:solidFill>
                <a:latin typeface="Aptos"/>
              </a:defRPr>
            </a:pPr>
            <a:r>
              <a:t>REFERENCE: AWS and Azure documentation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501384"/>
            <a:ext cx="4754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300"/>
              </a:spcAft>
              <a:defRPr sz="900" b="1" i="0">
                <a:solidFill>
                  <a:srgbClr val="6D7B8F"/>
                </a:solidFill>
                <a:latin typeface="Aptos"/>
              </a:defRPr>
            </a:pPr>
            <a:r>
              <a:t>42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600200"/>
            <a:ext cx="1737360" cy="497840"/>
          </a:xfrm>
          <a:prstGeom prst="rect">
            <a:avLst/>
          </a:prstGeom>
          <a:solidFill>
            <a:srgbClr val="1A2A43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1627632"/>
            <a:ext cx="1591056" cy="442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1080" b="1" i="0">
                <a:solidFill>
                  <a:srgbClr val="FFFFFF"/>
                </a:solidFill>
                <a:latin typeface="Aptos"/>
              </a:defRPr>
            </a:pPr>
            <a:r>
              <a:t>Topic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40280" y="1600200"/>
            <a:ext cx="2103120" cy="497840"/>
          </a:xfrm>
          <a:prstGeom prst="rect">
            <a:avLst/>
          </a:prstGeom>
          <a:solidFill>
            <a:srgbClr val="1A2A43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13432" y="1627632"/>
            <a:ext cx="1956815" cy="442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1080" b="1" i="0">
                <a:solidFill>
                  <a:srgbClr val="FFFFFF"/>
                </a:solidFill>
                <a:latin typeface="Aptos"/>
              </a:defRPr>
            </a:pPr>
            <a:r>
              <a:t>Azure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1600200"/>
            <a:ext cx="2651760" cy="497840"/>
          </a:xfrm>
          <a:prstGeom prst="rect">
            <a:avLst/>
          </a:prstGeom>
          <a:solidFill>
            <a:srgbClr val="1A2A43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16552" y="1627632"/>
            <a:ext cx="2505456" cy="442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1080" b="1" i="0">
                <a:solidFill>
                  <a:srgbClr val="FFFFFF"/>
                </a:solidFill>
                <a:latin typeface="Aptos"/>
              </a:defRPr>
            </a:pPr>
            <a:r>
              <a:t>AWS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95160" y="1600200"/>
            <a:ext cx="4709160" cy="497840"/>
          </a:xfrm>
          <a:prstGeom prst="rect">
            <a:avLst/>
          </a:prstGeom>
          <a:solidFill>
            <a:srgbClr val="1A2A43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68312" y="1627632"/>
            <a:ext cx="4562856" cy="442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1080" b="1" i="0">
                <a:solidFill>
                  <a:srgbClr val="FFFFFF"/>
                </a:solidFill>
                <a:latin typeface="Aptos"/>
              </a:defRPr>
            </a:pPr>
            <a:r>
              <a:t>Operational reminder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098040"/>
            <a:ext cx="1737360" cy="497840"/>
          </a:xfrm>
          <a:prstGeom prst="rect">
            <a:avLst/>
          </a:prstGeom>
          <a:solidFill>
            <a:srgbClr val="FFFFFF"/>
          </a:solidFill>
          <a:ln w="5715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2125471"/>
            <a:ext cx="1609343" cy="442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1080" b="0" i="0">
                <a:solidFill>
                  <a:srgbClr val="243247"/>
                </a:solidFill>
                <a:latin typeface="Aptos"/>
              </a:defRPr>
            </a:pPr>
            <a:r>
              <a:t>Compute pause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40280" y="2098040"/>
            <a:ext cx="2103120" cy="497840"/>
          </a:xfrm>
          <a:prstGeom prst="rect">
            <a:avLst/>
          </a:prstGeom>
          <a:solidFill>
            <a:srgbClr val="FFFFFF"/>
          </a:solidFill>
          <a:ln w="5715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04288" y="2125471"/>
            <a:ext cx="1975103" cy="442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1080" b="0" i="0">
                <a:solidFill>
                  <a:srgbClr val="243247"/>
                </a:solidFill>
                <a:latin typeface="Aptos"/>
              </a:defRPr>
            </a:pPr>
            <a:r>
              <a:t>Deallocate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43400" y="2098040"/>
            <a:ext cx="2651760" cy="497840"/>
          </a:xfrm>
          <a:prstGeom prst="rect">
            <a:avLst/>
          </a:prstGeom>
          <a:solidFill>
            <a:srgbClr val="FFFFFF"/>
          </a:solidFill>
          <a:ln w="5715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07408" y="2125471"/>
            <a:ext cx="2523744" cy="442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1080" b="0" i="0">
                <a:solidFill>
                  <a:srgbClr val="243247"/>
                </a:solidFill>
                <a:latin typeface="Aptos"/>
              </a:defRPr>
            </a:pPr>
            <a:r>
              <a:t>Stop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95160" y="2098040"/>
            <a:ext cx="4709160" cy="497840"/>
          </a:xfrm>
          <a:prstGeom prst="rect">
            <a:avLst/>
          </a:prstGeom>
          <a:solidFill>
            <a:srgbClr val="FFFFFF"/>
          </a:solidFill>
          <a:ln w="5715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59168" y="2125471"/>
            <a:ext cx="4581144" cy="442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1080" b="0" i="0">
                <a:solidFill>
                  <a:srgbClr val="243247"/>
                </a:solidFill>
                <a:latin typeface="Aptos"/>
              </a:defRPr>
            </a:pPr>
            <a:r>
              <a:t>Compute stops; disks can remain billable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2595880"/>
            <a:ext cx="1737360" cy="497840"/>
          </a:xfrm>
          <a:prstGeom prst="rect">
            <a:avLst/>
          </a:prstGeom>
          <a:solidFill>
            <a:srgbClr val="F0F4F8"/>
          </a:solidFill>
          <a:ln w="5715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2623312"/>
            <a:ext cx="1609343" cy="442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1080" b="0" i="0">
                <a:solidFill>
                  <a:srgbClr val="243247"/>
                </a:solidFill>
                <a:latin typeface="Aptos"/>
              </a:defRPr>
            </a:pPr>
            <a:r>
              <a:t>Horizontal fleet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40280" y="2595880"/>
            <a:ext cx="2103120" cy="497840"/>
          </a:xfrm>
          <a:prstGeom prst="rect">
            <a:avLst/>
          </a:prstGeom>
          <a:solidFill>
            <a:srgbClr val="F0F4F8"/>
          </a:solidFill>
          <a:ln w="5715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304288" y="2623312"/>
            <a:ext cx="1975103" cy="442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1080" b="0" i="0">
                <a:solidFill>
                  <a:srgbClr val="243247"/>
                </a:solidFill>
                <a:latin typeface="Aptos"/>
              </a:defRPr>
            </a:pPr>
            <a:r>
              <a:t>VMSS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2595880"/>
            <a:ext cx="2651760" cy="497840"/>
          </a:xfrm>
          <a:prstGeom prst="rect">
            <a:avLst/>
          </a:prstGeom>
          <a:solidFill>
            <a:srgbClr val="F0F4F8"/>
          </a:solidFill>
          <a:ln w="5715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07408" y="2623312"/>
            <a:ext cx="2523744" cy="442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1080" b="0" i="0">
                <a:solidFill>
                  <a:srgbClr val="243247"/>
                </a:solidFill>
                <a:latin typeface="Aptos"/>
              </a:defRPr>
            </a:pPr>
            <a:r>
              <a:t>ASG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95160" y="2595880"/>
            <a:ext cx="4709160" cy="497840"/>
          </a:xfrm>
          <a:prstGeom prst="rect">
            <a:avLst/>
          </a:prstGeom>
          <a:solidFill>
            <a:srgbClr val="F0F4F8"/>
          </a:solidFill>
          <a:ln w="5715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59168" y="2623312"/>
            <a:ext cx="4581144" cy="442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1080" b="0" i="0">
                <a:solidFill>
                  <a:srgbClr val="243247"/>
                </a:solidFill>
                <a:latin typeface="Aptos"/>
              </a:defRPr>
            </a:pPr>
            <a:r>
              <a:t>Check desired capacity and health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3093720"/>
            <a:ext cx="1737360" cy="497840"/>
          </a:xfrm>
          <a:prstGeom prst="rect">
            <a:avLst/>
          </a:prstGeom>
          <a:solidFill>
            <a:srgbClr val="FFFFFF"/>
          </a:solidFill>
          <a:ln w="5715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6928" y="3121152"/>
            <a:ext cx="1609343" cy="442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1080" b="0" i="0">
                <a:solidFill>
                  <a:srgbClr val="243247"/>
                </a:solidFill>
                <a:latin typeface="Aptos"/>
              </a:defRPr>
            </a:pPr>
            <a:r>
              <a:t>Network perimeter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40280" y="3093720"/>
            <a:ext cx="2103120" cy="497840"/>
          </a:xfrm>
          <a:prstGeom prst="rect">
            <a:avLst/>
          </a:prstGeom>
          <a:solidFill>
            <a:srgbClr val="FFFFFF"/>
          </a:solidFill>
          <a:ln w="5715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304288" y="3121152"/>
            <a:ext cx="1975103" cy="442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1080" b="0" i="0">
                <a:solidFill>
                  <a:srgbClr val="243247"/>
                </a:solidFill>
                <a:latin typeface="Aptos"/>
              </a:defRPr>
            </a:pPr>
            <a:r>
              <a:t>VNet / NSG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43400" y="3093720"/>
            <a:ext cx="2651760" cy="497840"/>
          </a:xfrm>
          <a:prstGeom prst="rect">
            <a:avLst/>
          </a:prstGeom>
          <a:solidFill>
            <a:srgbClr val="FFFFFF"/>
          </a:solidFill>
          <a:ln w="5715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07408" y="3121152"/>
            <a:ext cx="2523744" cy="442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1080" b="0" i="0">
                <a:solidFill>
                  <a:srgbClr val="243247"/>
                </a:solidFill>
                <a:latin typeface="Aptos"/>
              </a:defRPr>
            </a:pPr>
            <a:r>
              <a:t>VPC / SG + route tables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995160" y="3093720"/>
            <a:ext cx="4709160" cy="497840"/>
          </a:xfrm>
          <a:prstGeom prst="rect">
            <a:avLst/>
          </a:prstGeom>
          <a:solidFill>
            <a:srgbClr val="FFFFFF"/>
          </a:solidFill>
          <a:ln w="5715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059168" y="3121152"/>
            <a:ext cx="4581144" cy="442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1080" b="0" i="0">
                <a:solidFill>
                  <a:srgbClr val="243247"/>
                </a:solidFill>
                <a:latin typeface="Aptos"/>
              </a:defRPr>
            </a:pPr>
            <a:r>
              <a:t>Routing and firewall are separate checks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3591560"/>
            <a:ext cx="1737360" cy="497840"/>
          </a:xfrm>
          <a:prstGeom prst="rect">
            <a:avLst/>
          </a:prstGeom>
          <a:solidFill>
            <a:srgbClr val="F0F4F8"/>
          </a:solidFill>
          <a:ln w="5715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6928" y="3618992"/>
            <a:ext cx="1609343" cy="442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1080" b="0" i="0">
                <a:solidFill>
                  <a:srgbClr val="243247"/>
                </a:solidFill>
                <a:latin typeface="Aptos"/>
              </a:defRPr>
            </a:pPr>
            <a:r>
              <a:t>Outbound NAT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240280" y="3591560"/>
            <a:ext cx="2103120" cy="497840"/>
          </a:xfrm>
          <a:prstGeom prst="rect">
            <a:avLst/>
          </a:prstGeom>
          <a:solidFill>
            <a:srgbClr val="F0F4F8"/>
          </a:solidFill>
          <a:ln w="5715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304288" y="3618992"/>
            <a:ext cx="1975103" cy="442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1080" b="0" i="0">
                <a:solidFill>
                  <a:srgbClr val="243247"/>
                </a:solidFill>
                <a:latin typeface="Aptos"/>
              </a:defRPr>
            </a:pPr>
            <a:r>
              <a:t>Azure NAT Gateway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343400" y="3591560"/>
            <a:ext cx="2651760" cy="497840"/>
          </a:xfrm>
          <a:prstGeom prst="rect">
            <a:avLst/>
          </a:prstGeom>
          <a:solidFill>
            <a:srgbClr val="F0F4F8"/>
          </a:solidFill>
          <a:ln w="5715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407408" y="3618992"/>
            <a:ext cx="2523744" cy="442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1080" b="0" i="0">
                <a:solidFill>
                  <a:srgbClr val="243247"/>
                </a:solidFill>
                <a:latin typeface="Aptos"/>
              </a:defRPr>
            </a:pPr>
            <a:r>
              <a:t>NAT Gateway + explicit private route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995160" y="3591560"/>
            <a:ext cx="4709160" cy="497840"/>
          </a:xfrm>
          <a:prstGeom prst="rect">
            <a:avLst/>
          </a:prstGeom>
          <a:solidFill>
            <a:srgbClr val="F0F4F8"/>
          </a:solidFill>
          <a:ln w="5715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059168" y="3618992"/>
            <a:ext cx="4581144" cy="442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1080" b="0" i="0">
                <a:solidFill>
                  <a:srgbClr val="243247"/>
                </a:solidFill>
                <a:latin typeface="Aptos"/>
              </a:defRPr>
            </a:pPr>
            <a:r>
              <a:t>AWS route table must target NAT GW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2920" y="4089400"/>
            <a:ext cx="1737360" cy="497840"/>
          </a:xfrm>
          <a:prstGeom prst="rect">
            <a:avLst/>
          </a:prstGeom>
          <a:solidFill>
            <a:srgbClr val="FFFFFF"/>
          </a:solidFill>
          <a:ln w="5715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66928" y="4116832"/>
            <a:ext cx="1609343" cy="442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1080" b="0" i="0">
                <a:solidFill>
                  <a:srgbClr val="243247"/>
                </a:solidFill>
                <a:latin typeface="Aptos"/>
              </a:defRPr>
            </a:pPr>
            <a:r>
              <a:t>Disk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240280" y="4089400"/>
            <a:ext cx="2103120" cy="497840"/>
          </a:xfrm>
          <a:prstGeom prst="rect">
            <a:avLst/>
          </a:prstGeom>
          <a:solidFill>
            <a:srgbClr val="FFFFFF"/>
          </a:solidFill>
          <a:ln w="5715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304288" y="4116832"/>
            <a:ext cx="1975103" cy="442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1080" b="0" i="0">
                <a:solidFill>
                  <a:srgbClr val="243247"/>
                </a:solidFill>
                <a:latin typeface="Aptos"/>
              </a:defRPr>
            </a:pPr>
            <a:r>
              <a:t>Managed Disk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343400" y="4089400"/>
            <a:ext cx="2651760" cy="497840"/>
          </a:xfrm>
          <a:prstGeom prst="rect">
            <a:avLst/>
          </a:prstGeom>
          <a:solidFill>
            <a:srgbClr val="FFFFFF"/>
          </a:solidFill>
          <a:ln w="5715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407408" y="4116832"/>
            <a:ext cx="2523744" cy="442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1080" b="0" i="0">
                <a:solidFill>
                  <a:srgbClr val="243247"/>
                </a:solidFill>
                <a:latin typeface="Aptos"/>
              </a:defRPr>
            </a:pPr>
            <a:r>
              <a:t>EBS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995160" y="4089400"/>
            <a:ext cx="4709160" cy="497840"/>
          </a:xfrm>
          <a:prstGeom prst="rect">
            <a:avLst/>
          </a:prstGeom>
          <a:solidFill>
            <a:srgbClr val="FFFFFF"/>
          </a:solidFill>
          <a:ln w="5715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059168" y="4116832"/>
            <a:ext cx="4581144" cy="442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1080" b="0" i="0">
                <a:solidFill>
                  <a:srgbClr val="243247"/>
                </a:solidFill>
                <a:latin typeface="Aptos"/>
              </a:defRPr>
            </a:pPr>
            <a:r>
              <a:t>Expand provider volume and guest filesystem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02920" y="4587240"/>
            <a:ext cx="1737360" cy="497840"/>
          </a:xfrm>
          <a:prstGeom prst="rect">
            <a:avLst/>
          </a:prstGeom>
          <a:solidFill>
            <a:srgbClr val="F0F4F8"/>
          </a:solidFill>
          <a:ln w="5715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66928" y="4614672"/>
            <a:ext cx="1609343" cy="442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1080" b="0" i="0">
                <a:solidFill>
                  <a:srgbClr val="243247"/>
                </a:solidFill>
                <a:latin typeface="Aptos"/>
              </a:defRPr>
            </a:pPr>
            <a:r>
              <a:t>Object data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240280" y="4587240"/>
            <a:ext cx="2103120" cy="497840"/>
          </a:xfrm>
          <a:prstGeom prst="rect">
            <a:avLst/>
          </a:prstGeom>
          <a:solidFill>
            <a:srgbClr val="F0F4F8"/>
          </a:solidFill>
          <a:ln w="5715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304288" y="4614672"/>
            <a:ext cx="1975103" cy="442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1080" b="0" i="0">
                <a:solidFill>
                  <a:srgbClr val="243247"/>
                </a:solidFill>
                <a:latin typeface="Aptos"/>
              </a:defRPr>
            </a:pPr>
            <a:r>
              <a:t>Blob Storage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343400" y="4587240"/>
            <a:ext cx="2651760" cy="497840"/>
          </a:xfrm>
          <a:prstGeom prst="rect">
            <a:avLst/>
          </a:prstGeom>
          <a:solidFill>
            <a:srgbClr val="F0F4F8"/>
          </a:solidFill>
          <a:ln w="5715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407408" y="4614672"/>
            <a:ext cx="2523744" cy="442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1080" b="0" i="0">
                <a:solidFill>
                  <a:srgbClr val="243247"/>
                </a:solidFill>
                <a:latin typeface="Aptos"/>
              </a:defRPr>
            </a:pPr>
            <a:r>
              <a:t>S3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995160" y="4587240"/>
            <a:ext cx="4709160" cy="497840"/>
          </a:xfrm>
          <a:prstGeom prst="rect">
            <a:avLst/>
          </a:prstGeom>
          <a:solidFill>
            <a:srgbClr val="F0F4F8"/>
          </a:solidFill>
          <a:ln w="5715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059168" y="4614672"/>
            <a:ext cx="4581144" cy="442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1080" b="0" i="0">
                <a:solidFill>
                  <a:srgbClr val="243247"/>
                </a:solidFill>
                <a:latin typeface="Aptos"/>
              </a:defRPr>
            </a:pPr>
            <a:r>
              <a:t>Block public access + version/lifecycle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02920" y="5085080"/>
            <a:ext cx="1737360" cy="497840"/>
          </a:xfrm>
          <a:prstGeom prst="rect">
            <a:avLst/>
          </a:prstGeom>
          <a:solidFill>
            <a:srgbClr val="FFFFFF"/>
          </a:solidFill>
          <a:ln w="5715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66928" y="5112512"/>
            <a:ext cx="1609343" cy="442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1080" b="0" i="0">
                <a:solidFill>
                  <a:srgbClr val="243247"/>
                </a:solidFill>
                <a:latin typeface="Aptos"/>
              </a:defRPr>
            </a:pPr>
            <a:r>
              <a:t>Secrets/keys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240280" y="5085080"/>
            <a:ext cx="2103120" cy="497840"/>
          </a:xfrm>
          <a:prstGeom prst="rect">
            <a:avLst/>
          </a:prstGeom>
          <a:solidFill>
            <a:srgbClr val="FFFFFF"/>
          </a:solidFill>
          <a:ln w="5715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304288" y="5112512"/>
            <a:ext cx="1975103" cy="442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1080" b="0" i="0">
                <a:solidFill>
                  <a:srgbClr val="243247"/>
                </a:solidFill>
                <a:latin typeface="Aptos"/>
              </a:defRPr>
            </a:pPr>
            <a:r>
              <a:t>Key Vault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343400" y="5085080"/>
            <a:ext cx="2651760" cy="497840"/>
          </a:xfrm>
          <a:prstGeom prst="rect">
            <a:avLst/>
          </a:prstGeom>
          <a:solidFill>
            <a:srgbClr val="FFFFFF"/>
          </a:solidFill>
          <a:ln w="5715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407408" y="5112512"/>
            <a:ext cx="2523744" cy="442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1080" b="0" i="0">
                <a:solidFill>
                  <a:srgbClr val="243247"/>
                </a:solidFill>
                <a:latin typeface="Aptos"/>
              </a:defRPr>
            </a:pPr>
            <a:r>
              <a:t>Secrets Manager + KMS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995160" y="5085080"/>
            <a:ext cx="4709160" cy="497840"/>
          </a:xfrm>
          <a:prstGeom prst="rect">
            <a:avLst/>
          </a:prstGeom>
          <a:solidFill>
            <a:srgbClr val="FFFFFF"/>
          </a:solidFill>
          <a:ln w="5715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059168" y="5112512"/>
            <a:ext cx="4581144" cy="442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1080" b="0" i="0">
                <a:solidFill>
                  <a:srgbClr val="243247"/>
                </a:solidFill>
                <a:latin typeface="Aptos"/>
              </a:defRPr>
            </a:pPr>
            <a:r>
              <a:t>Secret rotation must update the real target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02920" y="5582920"/>
            <a:ext cx="1737360" cy="497840"/>
          </a:xfrm>
          <a:prstGeom prst="rect">
            <a:avLst/>
          </a:prstGeom>
          <a:solidFill>
            <a:srgbClr val="F0F4F8"/>
          </a:solidFill>
          <a:ln w="5715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66928" y="5610352"/>
            <a:ext cx="1609343" cy="442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1080" b="0" i="0">
                <a:solidFill>
                  <a:srgbClr val="243247"/>
                </a:solidFill>
                <a:latin typeface="Aptos"/>
              </a:defRPr>
            </a:pPr>
            <a:r>
              <a:t>Monitoring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240280" y="5582920"/>
            <a:ext cx="2103120" cy="497840"/>
          </a:xfrm>
          <a:prstGeom prst="rect">
            <a:avLst/>
          </a:prstGeom>
          <a:solidFill>
            <a:srgbClr val="F0F4F8"/>
          </a:solidFill>
          <a:ln w="5715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304288" y="5610352"/>
            <a:ext cx="1975103" cy="442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1080" b="0" i="0">
                <a:solidFill>
                  <a:srgbClr val="243247"/>
                </a:solidFill>
                <a:latin typeface="Aptos"/>
              </a:defRPr>
            </a:pPr>
            <a:r>
              <a:t>Azure Monitor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343400" y="5582920"/>
            <a:ext cx="2651760" cy="497840"/>
          </a:xfrm>
          <a:prstGeom prst="rect">
            <a:avLst/>
          </a:prstGeom>
          <a:solidFill>
            <a:srgbClr val="F0F4F8"/>
          </a:solidFill>
          <a:ln w="5715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407408" y="5610352"/>
            <a:ext cx="2523744" cy="442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1080" b="0" i="0">
                <a:solidFill>
                  <a:srgbClr val="243247"/>
                </a:solidFill>
                <a:latin typeface="Aptos"/>
              </a:defRPr>
            </a:pPr>
            <a:r>
              <a:t>CloudWatch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995160" y="5582920"/>
            <a:ext cx="4709160" cy="497840"/>
          </a:xfrm>
          <a:prstGeom prst="rect">
            <a:avLst/>
          </a:prstGeom>
          <a:solidFill>
            <a:srgbClr val="F0F4F8"/>
          </a:solidFill>
          <a:ln w="5715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059168" y="5610352"/>
            <a:ext cx="4581144" cy="442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1080" b="0" i="0">
                <a:solidFill>
                  <a:srgbClr val="243247"/>
                </a:solidFill>
                <a:latin typeface="Aptos"/>
              </a:defRPr>
            </a:pPr>
            <a:r>
              <a:t>Metric/agent/action/notification all matter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329184"/>
            <a:ext cx="64008" cy="26517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20040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919" b="1" i="0">
                <a:solidFill>
                  <a:srgbClr val="FF9900"/>
                </a:solidFill>
                <a:latin typeface="Aptos"/>
              </a:defRPr>
            </a:pPr>
            <a:r>
              <a:t>PRACTICE &amp;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21792"/>
            <a:ext cx="113842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2600" b="1" i="0">
                <a:solidFill>
                  <a:srgbClr val="121C2F"/>
                </a:solidFill>
                <a:latin typeface="Aptos"/>
              </a:defRPr>
            </a:pPr>
            <a:r>
              <a:t>Knowledge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1133856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1230" b="0" i="0">
                <a:solidFill>
                  <a:srgbClr val="536278"/>
                </a:solidFill>
                <a:latin typeface="Aptos"/>
              </a:defRPr>
            </a:pPr>
            <a:r>
              <a:t>Answer in your own words before opening the answer key.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8912" y="6473952"/>
            <a:ext cx="11311128" cy="0"/>
          </a:xfrm>
          <a:prstGeom prst="line">
            <a:avLst/>
          </a:prstGeom>
          <a:ln w="7620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10528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750" b="0" i="0">
                <a:solidFill>
                  <a:srgbClr val="6D7B8F"/>
                </a:solidFill>
                <a:latin typeface="Aptos"/>
              </a:defRPr>
            </a:pPr>
            <a:r>
              <a:t>REFERENCE: Review the official documentation linked in the reference slides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501384"/>
            <a:ext cx="4754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300"/>
              </a:spcAft>
              <a:defRPr sz="900" b="1" i="0">
                <a:solidFill>
                  <a:srgbClr val="6D7B8F"/>
                </a:solidFill>
                <a:latin typeface="Aptos"/>
              </a:defRPr>
            </a:pPr>
            <a:r>
              <a:t>43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1810512"/>
            <a:ext cx="91440" cy="9144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691640"/>
            <a:ext cx="10543032" cy="628323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400" b="0" i="0">
                <a:solidFill>
                  <a:srgbClr val="243247"/>
                </a:solidFill>
                <a:latin typeface="Aptos"/>
              </a:defRPr>
            </a:pPr>
            <a:r>
              <a:t>1. After stopping an EC2 instance, what resources might continue to generate costs?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2457123"/>
            <a:ext cx="91440" cy="9144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338251"/>
            <a:ext cx="10543032" cy="628323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400" b="0" i="0">
                <a:solidFill>
                  <a:srgbClr val="243247"/>
                </a:solidFill>
                <a:latin typeface="Aptos"/>
              </a:defRPr>
            </a:pPr>
            <a:r>
              <a:t>2. What three conditions must be true for an ALB to route to a healthy web target?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103734"/>
            <a:ext cx="91440" cy="9144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2984862"/>
            <a:ext cx="10543032" cy="628323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400" b="0" i="0">
                <a:solidFill>
                  <a:srgbClr val="243247"/>
                </a:solidFill>
                <a:latin typeface="Aptos"/>
              </a:defRPr>
            </a:pPr>
            <a:r>
              <a:t>3. Why does a private subnet need both a NAT Gateway path and a route-table entry?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750346"/>
            <a:ext cx="91440" cy="9144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631474"/>
            <a:ext cx="10543032" cy="628323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400" b="0" i="0">
                <a:solidFill>
                  <a:srgbClr val="243247"/>
                </a:solidFill>
                <a:latin typeface="Aptos"/>
              </a:defRPr>
            </a:pPr>
            <a:r>
              <a:t>4. Why should you inspect lsblk and df before a disk resize?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396957"/>
            <a:ext cx="91440" cy="9144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4278085"/>
            <a:ext cx="10543032" cy="628323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400" b="0" i="0">
                <a:solidFill>
                  <a:srgbClr val="243247"/>
                </a:solidFill>
                <a:latin typeface="Aptos"/>
              </a:defRPr>
            </a:pPr>
            <a:r>
              <a:t>5. What is the difference between S3 Block Public Access, S3 versioning and SSE-KMS?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5043569"/>
            <a:ext cx="91440" cy="9144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4924697"/>
            <a:ext cx="10543032" cy="628323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400" b="0" i="0">
                <a:solidFill>
                  <a:srgbClr val="243247"/>
                </a:solidFill>
                <a:latin typeface="Aptos"/>
              </a:defRPr>
            </a:pPr>
            <a:r>
              <a:t>6. Why does storing a new secret value alone not prove that a database password has been rotated?</a:t>
            </a:r>
          </a:p>
        </p:txBody>
      </p:sp>
      <p:sp>
        <p:nvSpPr>
          <p:cNvPr id="21" name="Oval 20"/>
          <p:cNvSpPr/>
          <p:nvPr/>
        </p:nvSpPr>
        <p:spPr>
          <a:xfrm>
            <a:off x="731520" y="5690180"/>
            <a:ext cx="91440" cy="9144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5571308"/>
            <a:ext cx="10543032" cy="628323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400" b="0" i="0">
                <a:solidFill>
                  <a:srgbClr val="243247"/>
                </a:solidFill>
                <a:latin typeface="Aptos"/>
              </a:defRPr>
            </a:pPr>
            <a:r>
              <a:t>7. Why should the SNS email subscription be confirmed when validating a CloudWatch alarm?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329184"/>
            <a:ext cx="64008" cy="26517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20040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919" b="1" i="0">
                <a:solidFill>
                  <a:srgbClr val="FF9900"/>
                </a:solidFill>
                <a:latin typeface="Aptos"/>
              </a:defRPr>
            </a:pPr>
            <a:r>
              <a:t>PRACTICE &amp;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21792"/>
            <a:ext cx="113842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2600" b="1" i="0">
                <a:solidFill>
                  <a:srgbClr val="121C2F"/>
                </a:solidFill>
                <a:latin typeface="Aptos"/>
              </a:defRPr>
            </a:pPr>
            <a:r>
              <a:t>Knowledge check: answer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1133856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1230" b="0" i="0">
                <a:solidFill>
                  <a:srgbClr val="536278"/>
                </a:solidFill>
                <a:latin typeface="Aptos"/>
              </a:defRPr>
            </a:pPr>
            <a:r>
              <a:t>Use these to check reasoning, not as memorized definitions.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8912" y="6473952"/>
            <a:ext cx="11311128" cy="0"/>
          </a:xfrm>
          <a:prstGeom prst="line">
            <a:avLst/>
          </a:prstGeom>
          <a:ln w="7620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10528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750" b="0" i="0">
                <a:solidFill>
                  <a:srgbClr val="6D7B8F"/>
                </a:solidFill>
                <a:latin typeface="Aptos"/>
              </a:defRPr>
            </a:pPr>
            <a:r>
              <a:t>REFERENCE: Official AWS docs linked in references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501384"/>
            <a:ext cx="4754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300"/>
              </a:spcAft>
              <a:defRPr sz="900" b="1" i="0">
                <a:solidFill>
                  <a:srgbClr val="6D7B8F"/>
                </a:solidFill>
                <a:latin typeface="Aptos"/>
              </a:defRPr>
            </a:pPr>
            <a:r>
              <a:t>44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1719072"/>
            <a:ext cx="91440" cy="91440"/>
          </a:xfrm>
          <a:prstGeom prst="ellipse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600200"/>
            <a:ext cx="10543032" cy="64138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230" b="0" i="0">
                <a:solidFill>
                  <a:srgbClr val="243247"/>
                </a:solidFill>
                <a:latin typeface="Aptos"/>
              </a:defRPr>
            </a:pPr>
            <a:r>
              <a:t>1. EBS volumes, snapshots, NAT Gateway, load balancers and public IPv4 / Elastic IP charges may continue.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2378746"/>
            <a:ext cx="91440" cy="91440"/>
          </a:xfrm>
          <a:prstGeom prst="ellipse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259874"/>
            <a:ext cx="10543032" cy="64138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230" b="0" i="0">
                <a:solidFill>
                  <a:srgbClr val="243247"/>
                </a:solidFill>
                <a:latin typeface="Aptos"/>
              </a:defRPr>
            </a:pPr>
            <a:r>
              <a:t>2. Listener forwards to target group; target instance runs the app and permits ALB-to-app traffic; health check passes. ALB spans at least two AZ subnets.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038420"/>
            <a:ext cx="91440" cy="91440"/>
          </a:xfrm>
          <a:prstGeom prst="ellipse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2919548"/>
            <a:ext cx="10543032" cy="64138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230" b="0" i="0">
                <a:solidFill>
                  <a:srgbClr val="243247"/>
                </a:solidFill>
                <a:latin typeface="Aptos"/>
              </a:defRPr>
            </a:pPr>
            <a:r>
              <a:t>3. The route table directs 0.0.0.0/0 to NAT; NAT lives in a public subnet whose route table reaches the Internet Gateway.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698094"/>
            <a:ext cx="91440" cy="91440"/>
          </a:xfrm>
          <a:prstGeom prst="ellipse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579222"/>
            <a:ext cx="10543032" cy="64138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230" b="0" i="0">
                <a:solidFill>
                  <a:srgbClr val="243247"/>
                </a:solidFill>
                <a:latin typeface="Aptos"/>
              </a:defRPr>
            </a:pPr>
            <a:r>
              <a:t>4. Device paths vary, partitions may or may not exist, and formatting the wrong device destroys data.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357769"/>
            <a:ext cx="91440" cy="91440"/>
          </a:xfrm>
          <a:prstGeom prst="ellipse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4238897"/>
            <a:ext cx="10543032" cy="64138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230" b="0" i="0">
                <a:solidFill>
                  <a:srgbClr val="243247"/>
                </a:solidFill>
                <a:latin typeface="Aptos"/>
              </a:defRPr>
            </a:pPr>
            <a:r>
              <a:t>5. Block Public Access limits public access; versioning preserves prior object variants; SSE-KMS encrypts objects using a KMS key.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5017443"/>
            <a:ext cx="91440" cy="91440"/>
          </a:xfrm>
          <a:prstGeom prst="ellipse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4898571"/>
            <a:ext cx="10543032" cy="64138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230" b="0" i="0">
                <a:solidFill>
                  <a:srgbClr val="243247"/>
                </a:solidFill>
                <a:latin typeface="Aptos"/>
              </a:defRPr>
            </a:pPr>
            <a:r>
              <a:t>6. The target database/service must also accept the new credential and consumers must use it; test new and old credentials.</a:t>
            </a:r>
          </a:p>
        </p:txBody>
      </p:sp>
      <p:sp>
        <p:nvSpPr>
          <p:cNvPr id="21" name="Oval 20"/>
          <p:cNvSpPr/>
          <p:nvPr/>
        </p:nvSpPr>
        <p:spPr>
          <a:xfrm>
            <a:off x="731520" y="5677117"/>
            <a:ext cx="91440" cy="91440"/>
          </a:xfrm>
          <a:prstGeom prst="ellipse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5558245"/>
            <a:ext cx="10543032" cy="64138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300"/>
              </a:spcAft>
              <a:defRPr sz="1230" b="0" i="0">
                <a:solidFill>
                  <a:srgbClr val="243247"/>
                </a:solidFill>
                <a:latin typeface="Aptos"/>
              </a:defRPr>
            </a:pPr>
            <a:r>
              <a:t>7. An alarm can enter ALARM state without successful end-to-end notification if action/target/subscription is misconfigured.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329184"/>
            <a:ext cx="64008" cy="26517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20040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919" b="1" i="0">
                <a:solidFill>
                  <a:srgbClr val="FF9900"/>
                </a:solidFill>
                <a:latin typeface="Aptos"/>
              </a:defRPr>
            </a:pPr>
            <a: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21792"/>
            <a:ext cx="113842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2600" b="1" i="0">
                <a:solidFill>
                  <a:srgbClr val="121C2F"/>
                </a:solidFill>
                <a:latin typeface="Aptos"/>
              </a:defRPr>
            </a:pPr>
            <a:r>
              <a:t>Official AWS references (1 of 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1133856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1230" b="0" i="0">
                <a:solidFill>
                  <a:srgbClr val="536278"/>
                </a:solidFill>
                <a:latin typeface="Aptos"/>
              </a:defRPr>
            </a:pPr>
            <a:r>
              <a:t>Use these references for current behavior and console/API details.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8912" y="6473952"/>
            <a:ext cx="11311128" cy="0"/>
          </a:xfrm>
          <a:prstGeom prst="line">
            <a:avLst/>
          </a:prstGeom>
          <a:ln w="7620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10528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750" b="0" i="0">
                <a:solidFill>
                  <a:srgbClr val="6D7B8F"/>
                </a:solidFill>
                <a:latin typeface="Aptos"/>
              </a:defRPr>
            </a:pPr>
            <a:r>
              <a:t>REFERENCE: Official AWS documentation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501384"/>
            <a:ext cx="4754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300"/>
              </a:spcAft>
              <a:defRPr sz="900" b="1" i="0">
                <a:solidFill>
                  <a:srgbClr val="6D7B8F"/>
                </a:solidFill>
                <a:latin typeface="Aptos"/>
              </a:defRPr>
            </a:pPr>
            <a:r>
              <a:t>45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45920"/>
            <a:ext cx="5166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20" u="sng">
                <a:solidFill>
                  <a:srgbClr val="0078D4"/>
                </a:solidFill>
                <a:latin typeface="Aptos"/>
                <a:hlinkClick r:id="rId2"/>
              </a:rPr>
              <a:t>↗ EC2 lifecycle and billing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359152"/>
            <a:ext cx="5166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20" u="sng">
                <a:solidFill>
                  <a:srgbClr val="0078D4"/>
                </a:solidFill>
                <a:latin typeface="Aptos"/>
                <a:hlinkClick r:id="rId3"/>
              </a:rPr>
              <a:t>↗ Stop and start EC2 instances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072384"/>
            <a:ext cx="5166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20" u="sng">
                <a:solidFill>
                  <a:srgbClr val="0078D4"/>
                </a:solidFill>
                <a:latin typeface="Aptos"/>
                <a:hlinkClick r:id="rId4"/>
              </a:rPr>
              <a:t>↗ EC2 Auto Scaling overview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785615"/>
            <a:ext cx="5166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20" u="sng">
                <a:solidFill>
                  <a:srgbClr val="0078D4"/>
                </a:solidFill>
                <a:latin typeface="Aptos"/>
                <a:hlinkClick r:id="rId5"/>
              </a:rPr>
              <a:t>↗ Auto Scaling health checks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498848"/>
            <a:ext cx="5166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20" u="sng">
                <a:solidFill>
                  <a:srgbClr val="0078D4"/>
                </a:solidFill>
                <a:latin typeface="Aptos"/>
                <a:hlinkClick r:id="rId6"/>
              </a:rPr>
              <a:t>↗ VPC basics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645920"/>
            <a:ext cx="5166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20" u="sng">
                <a:solidFill>
                  <a:srgbClr val="0078D4"/>
                </a:solidFill>
                <a:latin typeface="Aptos"/>
                <a:hlinkClick r:id="rId7"/>
              </a:rPr>
              <a:t>↗ Route tables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359152"/>
            <a:ext cx="5166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20" u="sng">
                <a:solidFill>
                  <a:srgbClr val="0078D4"/>
                </a:solidFill>
                <a:latin typeface="Aptos"/>
                <a:hlinkClick r:id="rId8"/>
              </a:rPr>
              <a:t>↗ Internet Gateway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3072384"/>
            <a:ext cx="5166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20" u="sng">
                <a:solidFill>
                  <a:srgbClr val="0078D4"/>
                </a:solidFill>
                <a:latin typeface="Aptos"/>
                <a:hlinkClick r:id="rId9"/>
              </a:rPr>
              <a:t>↗ NAT devices / NAT Gateway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3785615"/>
            <a:ext cx="5166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20" u="sng">
                <a:solidFill>
                  <a:srgbClr val="0078D4"/>
                </a:solidFill>
                <a:latin typeface="Aptos"/>
                <a:hlinkClick r:id="rId10"/>
              </a:rPr>
              <a:t>↗ Application Load Balancer subnet requirements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329184"/>
            <a:ext cx="64008" cy="26517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20040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919" b="1" i="0">
                <a:solidFill>
                  <a:srgbClr val="FF9900"/>
                </a:solidFill>
                <a:latin typeface="Aptos"/>
              </a:defRPr>
            </a:pPr>
            <a: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21792"/>
            <a:ext cx="113842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2600" b="1" i="0">
                <a:solidFill>
                  <a:srgbClr val="121C2F"/>
                </a:solidFill>
                <a:latin typeface="Aptos"/>
              </a:defRPr>
            </a:pPr>
            <a:r>
              <a:t>Official AWS references (2 of 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1133856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1230" b="0" i="0">
                <a:solidFill>
                  <a:srgbClr val="536278"/>
                </a:solidFill>
                <a:latin typeface="Aptos"/>
              </a:defRPr>
            </a:pPr>
            <a:r>
              <a:t>Storage, security, monitoring and cost.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8912" y="6473952"/>
            <a:ext cx="11311128" cy="0"/>
          </a:xfrm>
          <a:prstGeom prst="line">
            <a:avLst/>
          </a:prstGeom>
          <a:ln w="7620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10528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750" b="0" i="0">
                <a:solidFill>
                  <a:srgbClr val="6D7B8F"/>
                </a:solidFill>
                <a:latin typeface="Aptos"/>
              </a:defRPr>
            </a:pPr>
            <a:r>
              <a:t>REFERENCE: Official AWS documentation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501384"/>
            <a:ext cx="4754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300"/>
              </a:spcAft>
              <a:defRPr sz="900" b="1" i="0">
                <a:solidFill>
                  <a:srgbClr val="6D7B8F"/>
                </a:solidFill>
                <a:latin typeface="Aptos"/>
              </a:defRPr>
            </a:pPr>
            <a:r>
              <a:t>46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572768"/>
            <a:ext cx="52120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80" u="sng">
                <a:solidFill>
                  <a:srgbClr val="0078D4"/>
                </a:solidFill>
                <a:latin typeface="Aptos"/>
                <a:hlinkClick r:id="rId2"/>
              </a:rPr>
              <a:t>↗ Modify EBS volume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95144"/>
            <a:ext cx="52120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80" u="sng">
                <a:solidFill>
                  <a:srgbClr val="0078D4"/>
                </a:solidFill>
                <a:latin typeface="Aptos"/>
                <a:hlinkClick r:id="rId3"/>
              </a:rPr>
              <a:t>↗ Extend Linux filesystem after resize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017520"/>
            <a:ext cx="52120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80" u="sng">
                <a:solidFill>
                  <a:srgbClr val="0078D4"/>
                </a:solidFill>
                <a:latin typeface="Aptos"/>
                <a:hlinkClick r:id="rId4"/>
              </a:rPr>
              <a:t>↗ EBS snapshots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739896"/>
            <a:ext cx="52120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80" u="sng">
                <a:solidFill>
                  <a:srgbClr val="0078D4"/>
                </a:solidFill>
                <a:latin typeface="Aptos"/>
                <a:hlinkClick r:id="rId5"/>
              </a:rPr>
              <a:t>↗ S3 Block Public Access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462272"/>
            <a:ext cx="52120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80" u="sng">
                <a:solidFill>
                  <a:srgbClr val="0078D4"/>
                </a:solidFill>
                <a:latin typeface="Aptos"/>
                <a:hlinkClick r:id="rId6"/>
              </a:rPr>
              <a:t>↗ S3 Versioning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572768"/>
            <a:ext cx="52120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80" u="sng">
                <a:solidFill>
                  <a:srgbClr val="0078D4"/>
                </a:solidFill>
                <a:latin typeface="Aptos"/>
                <a:hlinkClick r:id="rId7"/>
              </a:rPr>
              <a:t>↗ Restore previous S3 versions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295144"/>
            <a:ext cx="52120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80" u="sng">
                <a:solidFill>
                  <a:srgbClr val="0078D4"/>
                </a:solidFill>
                <a:latin typeface="Aptos"/>
                <a:hlinkClick r:id="rId8"/>
              </a:rPr>
              <a:t>↗ S3 encryption with KMS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3017520"/>
            <a:ext cx="52120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80" u="sng">
                <a:solidFill>
                  <a:srgbClr val="0078D4"/>
                </a:solidFill>
                <a:latin typeface="Aptos"/>
                <a:hlinkClick r:id="rId9"/>
              </a:rPr>
              <a:t>↗ Secrets Manager and secret rotation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3739896"/>
            <a:ext cx="52120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80" u="sng">
                <a:solidFill>
                  <a:srgbClr val="0078D4"/>
                </a:solidFill>
                <a:latin typeface="Aptos"/>
                <a:hlinkClick r:id="rId10"/>
              </a:rPr>
              <a:t>↗ CloudWatch alarms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4462272"/>
            <a:ext cx="52120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80" u="sng">
                <a:solidFill>
                  <a:srgbClr val="0078D4"/>
                </a:solidFill>
                <a:latin typeface="Aptos"/>
                <a:hlinkClick r:id="rId11"/>
              </a:rPr>
              <a:t>↗ Cost Explorer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329184"/>
            <a:ext cx="64008" cy="26517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20040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919" b="1" i="0">
                <a:solidFill>
                  <a:srgbClr val="FF9900"/>
                </a:solidFill>
                <a:latin typeface="Aptos"/>
              </a:defRPr>
            </a:pPr>
            <a: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21792"/>
            <a:ext cx="113842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2600" b="1" i="0">
                <a:solidFill>
                  <a:srgbClr val="121C2F"/>
                </a:solidFill>
                <a:latin typeface="Aptos"/>
              </a:defRPr>
            </a:pPr>
            <a:r>
              <a:t>Azure comparison 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1133856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1230" b="0" i="0">
                <a:solidFill>
                  <a:srgbClr val="536278"/>
                </a:solidFill>
                <a:latin typeface="Aptos"/>
              </a:defRPr>
            </a:pPr>
            <a:r>
              <a:t>These links recap the Azure concepts from the previous class.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8912" y="6473952"/>
            <a:ext cx="11311128" cy="0"/>
          </a:xfrm>
          <a:prstGeom prst="line">
            <a:avLst/>
          </a:prstGeom>
          <a:ln w="7620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10528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750" b="0" i="0">
                <a:solidFill>
                  <a:srgbClr val="6D7B8F"/>
                </a:solidFill>
                <a:latin typeface="Aptos"/>
              </a:defRPr>
            </a:pPr>
            <a:r>
              <a:t>REFERENCE: Official Microsoft Learn documentation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501384"/>
            <a:ext cx="4754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300"/>
              </a:spcAft>
              <a:defRPr sz="900" b="1" i="0">
                <a:solidFill>
                  <a:srgbClr val="6D7B8F"/>
                </a:solidFill>
                <a:latin typeface="Aptos"/>
              </a:defRPr>
            </a:pPr>
            <a:r>
              <a:t>47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5212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20" u="sng">
                <a:solidFill>
                  <a:srgbClr val="0078D4"/>
                </a:solidFill>
                <a:latin typeface="Aptos"/>
                <a:hlinkClick r:id="rId2"/>
              </a:rPr>
              <a:t>↗ Azure VM states and billing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51760"/>
            <a:ext cx="5212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20" u="sng">
                <a:solidFill>
                  <a:srgbClr val="0078D4"/>
                </a:solidFill>
                <a:latin typeface="Aptos"/>
                <a:hlinkClick r:id="rId3"/>
              </a:rPr>
              <a:t>↗ Azure VM Scale Sets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520439"/>
            <a:ext cx="5212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20" u="sng">
                <a:solidFill>
                  <a:srgbClr val="0078D4"/>
                </a:solidFill>
                <a:latin typeface="Aptos"/>
                <a:hlinkClick r:id="rId4"/>
              </a:rPr>
              <a:t>↗ Azure NAT Gateway overview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389120"/>
            <a:ext cx="5212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20" u="sng">
                <a:solidFill>
                  <a:srgbClr val="0078D4"/>
                </a:solidFill>
                <a:latin typeface="Aptos"/>
                <a:hlinkClick r:id="rId5"/>
              </a:rPr>
              <a:t>↗ Expand Linux VM disks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783080"/>
            <a:ext cx="5212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20" u="sng">
                <a:solidFill>
                  <a:srgbClr val="0078D4"/>
                </a:solidFill>
                <a:latin typeface="Aptos"/>
                <a:hlinkClick r:id="rId6"/>
              </a:rPr>
              <a:t>↗ Prevent anonymous Blob access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651760"/>
            <a:ext cx="5212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20" u="sng">
                <a:solidFill>
                  <a:srgbClr val="0078D4"/>
                </a:solidFill>
                <a:latin typeface="Aptos"/>
                <a:hlinkClick r:id="rId7"/>
              </a:rPr>
              <a:t>↗ Key Vault keys/secrets/certificates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3520439"/>
            <a:ext cx="5212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20" u="sng">
                <a:solidFill>
                  <a:srgbClr val="0078D4"/>
                </a:solidFill>
                <a:latin typeface="Aptos"/>
                <a:hlinkClick r:id="rId8"/>
              </a:rPr>
              <a:t>↗ Azure Monitor metric alerts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4389120"/>
            <a:ext cx="5212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20" u="sng">
                <a:solidFill>
                  <a:srgbClr val="0078D4"/>
                </a:solidFill>
                <a:latin typeface="Aptos"/>
                <a:hlinkClick r:id="rId9"/>
              </a:rPr>
              <a:t>↗ Azure Cost Analysis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329184"/>
            <a:ext cx="64008" cy="26517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20040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919" b="1" i="0">
                <a:solidFill>
                  <a:srgbClr val="FF9900"/>
                </a:solidFill>
                <a:latin typeface="Aptos"/>
              </a:defRPr>
            </a:pPr>
            <a: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21792"/>
            <a:ext cx="113842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2600" b="1" i="0">
                <a:solidFill>
                  <a:srgbClr val="121C2F"/>
                </a:solidFill>
                <a:latin typeface="Aptos"/>
              </a:defRPr>
            </a:pPr>
            <a:r>
              <a:t>KodeKloud video and lab follow-up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1133856"/>
            <a:ext cx="11109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1230" b="0" i="0">
                <a:solidFill>
                  <a:srgbClr val="536278"/>
                </a:solidFill>
                <a:latin typeface="Aptos"/>
              </a:defRPr>
            </a:pPr>
            <a:r>
              <a:t>Recommended chapters align with the concepts in this deck; access may depend on your subscription.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8912" y="6473952"/>
            <a:ext cx="11311128" cy="0"/>
          </a:xfrm>
          <a:prstGeom prst="line">
            <a:avLst/>
          </a:prstGeom>
          <a:ln w="7620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10528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750" b="0" i="0">
                <a:solidFill>
                  <a:srgbClr val="6D7B8F"/>
                </a:solidFill>
                <a:latin typeface="Aptos"/>
              </a:defRPr>
            </a:pPr>
            <a:r>
              <a:t>REFERENCE: KodeKloud course pages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501384"/>
            <a:ext cx="4754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300"/>
              </a:spcAft>
              <a:defRPr sz="900" b="1" i="0">
                <a:solidFill>
                  <a:srgbClr val="6D7B8F"/>
                </a:solidFill>
                <a:latin typeface="Aptos"/>
              </a:defRPr>
            </a:pPr>
            <a:r>
              <a:t>48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27632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20" u="sng">
                <a:solidFill>
                  <a:srgbClr val="0078D4"/>
                </a:solidFill>
                <a:latin typeface="Aptos"/>
                <a:hlinkClick r:id="rId2"/>
              </a:rPr>
              <a:t>↗ Amazon EC2 course - VPC, NAT, instance lifecycle, AMIs, ASG, ALB and CloudWatch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86000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20" u="sng">
                <a:solidFill>
                  <a:srgbClr val="0078D4"/>
                </a:solidFill>
                <a:latin typeface="Aptos"/>
                <a:hlinkClick r:id="rId3"/>
              </a:rPr>
              <a:t>↗ AWS IAM course - users, policies, roles, Organizations and CloudWatch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944368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20" u="sng">
                <a:solidFill>
                  <a:srgbClr val="0078D4"/>
                </a:solidFill>
                <a:latin typeface="Aptos"/>
                <a:hlinkClick r:id="rId4"/>
              </a:rPr>
              <a:t>↗ AWS CloudWatch course - metrics, alarms, logs, agent and dashboards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602736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20" u="sng">
                <a:solidFill>
                  <a:srgbClr val="0078D4"/>
                </a:solidFill>
                <a:latin typeface="Aptos"/>
                <a:hlinkClick r:id="rId5"/>
              </a:rPr>
              <a:t>↗ AWS Learning Path - fundamentals and S3/versioning/lifecycle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261104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20" u="sng">
                <a:solidFill>
                  <a:srgbClr val="0078D4"/>
                </a:solidFill>
                <a:latin typeface="Aptos"/>
                <a:hlinkClick r:id="rId6"/>
              </a:rPr>
              <a:t>↗ AWS Developer Associate - KMS, Secrets Manager and monitoring lessons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919472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20" u="sng">
                <a:solidFill>
                  <a:srgbClr val="0078D4"/>
                </a:solidFill>
                <a:latin typeface="Aptos"/>
                <a:hlinkClick r:id="rId7"/>
              </a:rPr>
              <a:t>↗ AWS Solutions Architect Associate - networking, S3 tiers and backup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5715000"/>
            <a:ext cx="10424160" cy="384048"/>
          </a:xfrm>
          <a:prstGeom prst="roundRect">
            <a:avLst>
              <a:gd name="adj" fmla="val 8000"/>
            </a:avLst>
          </a:prstGeom>
          <a:solidFill>
            <a:srgbClr val="E4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5779008"/>
            <a:ext cx="10149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1080" b="1" i="0">
                <a:solidFill>
                  <a:srgbClr val="121C2F"/>
                </a:solidFill>
                <a:latin typeface="Aptos"/>
              </a:defRPr>
            </a:pPr>
            <a:r>
              <a:t>Suggested order: EC2 lifecycle → VPC/NAT → Auto Scaling + ALB → EBS resize/snapshot → S3 security/versioning → Secrets Manager/KMS → CloudWatch alarms.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C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40080"/>
            <a:ext cx="73152" cy="5029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58368"/>
            <a:ext cx="10332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3000" b="1" i="0">
                <a:solidFill>
                  <a:srgbClr val="FFFFFF"/>
                </a:solidFill>
                <a:latin typeface="Aptos"/>
              </a:defRPr>
            </a:pPr>
            <a:r>
              <a:t>The habit to take into every cloud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27632"/>
            <a:ext cx="9966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2100" b="0" i="0">
                <a:solidFill>
                  <a:srgbClr val="DCE6F3"/>
                </a:solidFill>
                <a:latin typeface="Aptos"/>
              </a:defRPr>
            </a:pPr>
            <a:r>
              <a:t>Observe carefully. Change narrowly. Validate the real symptom. Record evidence. Clean up.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2697480"/>
            <a:ext cx="9966960" cy="0"/>
          </a:xfrm>
          <a:prstGeom prst="line">
            <a:avLst/>
          </a:prstGeom>
          <a:ln w="34290">
            <a:solidFill>
              <a:srgbClr val="FF9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31520" y="3246120"/>
            <a:ext cx="1965960" cy="1417320"/>
          </a:xfrm>
          <a:prstGeom prst="roundRect">
            <a:avLst>
              <a:gd name="adj" fmla="val 8000"/>
            </a:avLst>
          </a:prstGeom>
          <a:solidFill>
            <a:srgbClr val="1A2A43"/>
          </a:solidFill>
          <a:ln w="10160">
            <a:solidFill>
              <a:srgbClr val="344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3502152"/>
            <a:ext cx="174650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1400" b="1" i="0">
                <a:solidFill>
                  <a:srgbClr val="FF9900"/>
                </a:solidFill>
                <a:latin typeface="Aptos"/>
              </a:defRPr>
            </a:pPr>
            <a:r>
              <a:t>COST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3977639"/>
            <a:ext cx="1746504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1150" b="0" i="0">
                <a:solidFill>
                  <a:srgbClr val="FFFFFF"/>
                </a:solidFill>
                <a:latin typeface="Aptos"/>
              </a:defRPr>
            </a:pPr>
            <a:r>
              <a:t>Know what is billable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90088" y="3246120"/>
            <a:ext cx="1965960" cy="1417320"/>
          </a:xfrm>
          <a:prstGeom prst="roundRect">
            <a:avLst>
              <a:gd name="adj" fmla="val 8000"/>
            </a:avLst>
          </a:prstGeom>
          <a:solidFill>
            <a:srgbClr val="1A2A43"/>
          </a:solidFill>
          <a:ln w="10160">
            <a:solidFill>
              <a:srgbClr val="344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99816" y="3502152"/>
            <a:ext cx="174650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1400" b="1" i="0">
                <a:solidFill>
                  <a:srgbClr val="FF9900"/>
                </a:solidFill>
                <a:latin typeface="Aptos"/>
              </a:defRPr>
            </a:pPr>
            <a:r>
              <a:t>NETWORK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99816" y="3977639"/>
            <a:ext cx="1746504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1150" b="0" i="0">
                <a:solidFill>
                  <a:srgbClr val="FFFFFF"/>
                </a:solidFill>
                <a:latin typeface="Aptos"/>
              </a:defRPr>
            </a:pPr>
            <a:r>
              <a:t>Trace the packet path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48656" y="3246120"/>
            <a:ext cx="1965960" cy="1417320"/>
          </a:xfrm>
          <a:prstGeom prst="roundRect">
            <a:avLst>
              <a:gd name="adj" fmla="val 8000"/>
            </a:avLst>
          </a:prstGeom>
          <a:solidFill>
            <a:srgbClr val="1A2A43"/>
          </a:solidFill>
          <a:ln w="10160">
            <a:solidFill>
              <a:srgbClr val="344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58384" y="3502152"/>
            <a:ext cx="174650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1400" b="1" i="0">
                <a:solidFill>
                  <a:srgbClr val="FF9900"/>
                </a:solidFill>
                <a:latin typeface="Aptos"/>
              </a:defRPr>
            </a:pPr>
            <a:r>
              <a:t>STORAGE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58384" y="3977639"/>
            <a:ext cx="1746504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1150" b="0" i="0">
                <a:solidFill>
                  <a:srgbClr val="FFFFFF"/>
                </a:solidFill>
                <a:latin typeface="Aptos"/>
              </a:defRPr>
            </a:pPr>
            <a:r>
              <a:t>Protect the data first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07224" y="3246120"/>
            <a:ext cx="1965960" cy="1417320"/>
          </a:xfrm>
          <a:prstGeom prst="roundRect">
            <a:avLst>
              <a:gd name="adj" fmla="val 8000"/>
            </a:avLst>
          </a:prstGeom>
          <a:solidFill>
            <a:srgbClr val="1A2A43"/>
          </a:solidFill>
          <a:ln w="10160">
            <a:solidFill>
              <a:srgbClr val="344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16952" y="3502152"/>
            <a:ext cx="174650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1400" b="1" i="0">
                <a:solidFill>
                  <a:srgbClr val="FF9900"/>
                </a:solidFill>
                <a:latin typeface="Aptos"/>
              </a:defRPr>
            </a:pPr>
            <a:r>
              <a:t>SECURITY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16952" y="3977639"/>
            <a:ext cx="1746504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1150" b="0" i="0">
                <a:solidFill>
                  <a:srgbClr val="FFFFFF"/>
                </a:solidFill>
                <a:latin typeface="Aptos"/>
              </a:defRPr>
            </a:pPr>
            <a:r>
              <a:t>Prove effective controls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65792" y="3246120"/>
            <a:ext cx="1965960" cy="1417320"/>
          </a:xfrm>
          <a:prstGeom prst="roundRect">
            <a:avLst>
              <a:gd name="adj" fmla="val 8000"/>
            </a:avLst>
          </a:prstGeom>
          <a:solidFill>
            <a:srgbClr val="1A2A43"/>
          </a:solidFill>
          <a:ln w="10160">
            <a:solidFill>
              <a:srgbClr val="344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0" y="3502152"/>
            <a:ext cx="174650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1400" b="1" i="0">
                <a:solidFill>
                  <a:srgbClr val="FF9900"/>
                </a:solidFill>
                <a:latin typeface="Aptos"/>
              </a:defRPr>
            </a:pPr>
            <a:r>
              <a:t>OPERATIONS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0" y="3977639"/>
            <a:ext cx="1746504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  <a:defRPr sz="1150" b="0" i="0">
                <a:solidFill>
                  <a:srgbClr val="FFFFFF"/>
                </a:solidFill>
                <a:latin typeface="Aptos"/>
              </a:defRPr>
            </a:pPr>
            <a:r>
              <a:t>Test alert-to-action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98932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  <a:defRPr sz="1100" b="0" i="0">
                <a:solidFill>
                  <a:srgbClr val="AABBD0"/>
                </a:solidFill>
                <a:latin typeface="Aptos"/>
              </a:defRPr>
            </a:pPr>
            <a:r>
              <a:t>Day 4 • AWS Operations • Student Theory Companion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AWS Day 4 Operations - Student Theory Presentation</dc:title>
  <dc:subject>AWS operations theory linked to Day 4 lab scenarios with Azure comparisons</dc:subject>
  <dc:creator>OpenAI</dc:creator>
  <cp:keywords>AWS, EC2, Auto Scaling, VPC, NAT Gateway, EBS, S3, KMS, Secrets Manager, CloudWatch, Azure comparison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